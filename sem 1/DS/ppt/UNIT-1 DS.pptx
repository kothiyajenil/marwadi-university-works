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4"/>
  </p:notesMasterIdLst>
  <p:sldIdLst>
    <p:sldId id="256" r:id="rId3"/>
    <p:sldId id="326" r:id="rId4"/>
    <p:sldId id="350" r:id="rId5"/>
    <p:sldId id="334" r:id="rId6"/>
    <p:sldId id="336" r:id="rId7"/>
    <p:sldId id="337" r:id="rId8"/>
    <p:sldId id="338" r:id="rId9"/>
    <p:sldId id="351" r:id="rId10"/>
    <p:sldId id="352" r:id="rId11"/>
    <p:sldId id="353" r:id="rId12"/>
    <p:sldId id="354" r:id="rId13"/>
    <p:sldId id="355" r:id="rId14"/>
    <p:sldId id="356" r:id="rId15"/>
    <p:sldId id="357" r:id="rId16"/>
    <p:sldId id="373" r:id="rId17"/>
    <p:sldId id="374" r:id="rId18"/>
    <p:sldId id="375" r:id="rId19"/>
    <p:sldId id="358" r:id="rId20"/>
    <p:sldId id="359" r:id="rId21"/>
    <p:sldId id="360" r:id="rId22"/>
    <p:sldId id="362" r:id="rId23"/>
    <p:sldId id="363" r:id="rId24"/>
    <p:sldId id="364" r:id="rId25"/>
    <p:sldId id="365" r:id="rId26"/>
    <p:sldId id="366" r:id="rId27"/>
    <p:sldId id="367" r:id="rId28"/>
    <p:sldId id="368" r:id="rId29"/>
    <p:sldId id="376" r:id="rId30"/>
    <p:sldId id="369" r:id="rId31"/>
    <p:sldId id="342" r:id="rId32"/>
    <p:sldId id="344" r:id="rId33"/>
    <p:sldId id="343" r:id="rId35"/>
    <p:sldId id="345" r:id="rId36"/>
    <p:sldId id="346" r:id="rId37"/>
    <p:sldId id="348" r:id="rId38"/>
    <p:sldId id="347" r:id="rId39"/>
    <p:sldId id="377" r:id="rId40"/>
    <p:sldId id="378" r:id="rId41"/>
    <p:sldId id="381" r:id="rId42"/>
    <p:sldId id="382" r:id="rId43"/>
    <p:sldId id="383" r:id="rId44"/>
    <p:sldId id="384" r:id="rId45"/>
    <p:sldId id="385" r:id="rId46"/>
    <p:sldId id="386" r:id="rId47"/>
    <p:sldId id="388" r:id="rId48"/>
    <p:sldId id="387" r:id="rId49"/>
    <p:sldId id="325" r:id="rId5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294" autoAdjust="0"/>
    <p:restoredTop sz="94660"/>
  </p:normalViewPr>
  <p:slideViewPr>
    <p:cSldViewPr showGuides="1">
      <p:cViewPr varScale="1">
        <p:scale>
          <a:sx n="68" d="100"/>
          <a:sy n="68" d="100"/>
        </p:scale>
        <p:origin x="-1458" y="-9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3" Type="http://schemas.openxmlformats.org/officeDocument/2006/relationships/tableStyles" Target="tableStyles.xml"/><Relationship Id="rId52" Type="http://schemas.openxmlformats.org/officeDocument/2006/relationships/viewProps" Target="viewProps.xml"/><Relationship Id="rId51" Type="http://schemas.openxmlformats.org/officeDocument/2006/relationships/presProps" Target="presProps.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notesMaster" Target="notesMasters/notesMaster1.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55F2404-23A5-4CE1-B681-C56CA191580F}" type="datetimeFigureOut">
              <a:rPr lang="en-US" smtClean="0"/>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6EC0B6F-9BF7-495D-B172-86C014DC5BB2}"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6EC0B6F-9BF7-495D-B172-86C014DC5BB2}" type="slidenum">
              <a:rPr lang="en-US" smtClean="0"/>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6EC0B6F-9BF7-495D-B172-86C014DC5BB2}" type="slidenum">
              <a:rPr lang="en-US" smtClean="0"/>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6EC0B6F-9BF7-495D-B172-86C014DC5BB2}" type="slidenum">
              <a:rPr lang="en-US" smtClean="0"/>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6EC0B6F-9BF7-495D-B172-86C014DC5BB2}" type="slidenum">
              <a:rPr lang="en-US" smtClean="0"/>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6EC0B6F-9BF7-495D-B172-86C014DC5BB2}" type="slidenum">
              <a:rPr lang="en-US" smtClean="0"/>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6EC0B6F-9BF7-495D-B172-86C014DC5BB2}" type="slidenum">
              <a:rPr lang="en-US" smtClean="0"/>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609601"/>
            <a:ext cx="7772400" cy="4267200"/>
          </a:xfrm>
        </p:spPr>
        <p:txBody>
          <a:bodyPr anchor="b">
            <a:noAutofit/>
          </a:bodyPr>
          <a:lstStyle>
            <a:lvl1pPr>
              <a:lnSpc>
                <a:spcPct val="100000"/>
              </a:lnSpc>
              <a:defRPr sz="8000"/>
            </a:lvl1pPr>
          </a:lstStyle>
          <a:p>
            <a:r>
              <a:rPr lang="en-US" smtClean="0"/>
              <a:t>Click to edit Master title style</a:t>
            </a:r>
            <a:endParaRPr lang="en-US" dirty="0"/>
          </a:p>
        </p:txBody>
      </p:sp>
      <p:sp>
        <p:nvSpPr>
          <p:cNvPr id="3" name="Subtitle 2"/>
          <p:cNvSpPr>
            <a:spLocks noGrp="1"/>
          </p:cNvSpPr>
          <p:nvPr>
            <p:ph type="subTitle" idx="1"/>
          </p:nvPr>
        </p:nvSpPr>
        <p:spPr>
          <a:xfrm>
            <a:off x="1371600" y="4953000"/>
            <a:ext cx="6400800" cy="1219200"/>
          </a:xfrm>
        </p:spPr>
        <p:txBody>
          <a:bodyPr>
            <a:normAutofit/>
          </a:bodyPr>
          <a:lstStyle>
            <a:lvl1pPr marL="0" indent="0" algn="ctr">
              <a:buNone/>
              <a:defRPr sz="2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7" name="Date Placeholder 6"/>
          <p:cNvSpPr>
            <a:spLocks noGrp="1"/>
          </p:cNvSpPr>
          <p:nvPr>
            <p:ph type="dt" sz="half" idx="10"/>
          </p:nvPr>
        </p:nvSpPr>
        <p:spPr/>
        <p:txBody>
          <a:bodyPr/>
          <a:lstStyle/>
          <a:p>
            <a:fld id="{62015DB4-C0A9-4A3A-85D0-F92F39D0E4E6}" type="datetimeFigureOut">
              <a:rPr lang="en-US" smtClean="0"/>
            </a:fld>
            <a:endParaRPr lang="en-US"/>
          </a:p>
        </p:txBody>
      </p:sp>
      <p:sp>
        <p:nvSpPr>
          <p:cNvPr id="8" name="Slide Number Placeholder 7"/>
          <p:cNvSpPr>
            <a:spLocks noGrp="1"/>
          </p:cNvSpPr>
          <p:nvPr>
            <p:ph type="sldNum" sz="quarter" idx="11"/>
          </p:nvPr>
        </p:nvSpPr>
        <p:spPr/>
        <p:txBody>
          <a:bodyPr/>
          <a:lstStyle/>
          <a:p>
            <a:fld id="{479DB4B1-9568-4BEA-8A06-5660C7EB8CEC}" type="slidenum">
              <a:rPr lang="en-US" smtClean="0"/>
            </a:fld>
            <a:endParaRPr lang="en-US"/>
          </a:p>
        </p:txBody>
      </p:sp>
      <p:sp>
        <p:nvSpPr>
          <p:cNvPr id="9" name="Footer Placeholder 8"/>
          <p:cNvSpPr>
            <a:spLocks noGrp="1"/>
          </p:cNvSpPr>
          <p:nvPr>
            <p:ph type="ftr" sz="quarter" idx="12"/>
          </p:nvPr>
        </p:nvSpPr>
        <p:spPr/>
        <p:txBody>
          <a:bodyPr/>
          <a:lstStyle/>
          <a:p>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lvl5pPr>
              <a:defRPr/>
            </a:lvl5pPr>
            <a:lvl6pPr>
              <a:defRPr/>
            </a:lvl6pPr>
            <a:lvl7pPr>
              <a:defRPr/>
            </a:lvl7pPr>
            <a:lvl8pPr>
              <a:defRPr/>
            </a:lvl8pPr>
            <a:lvl9pPr>
              <a:buFont typeface="Arial" panose="020B0604020202020204" pitchFamily="34" charset="0"/>
              <a:buChar char="•"/>
              <a:defRPr/>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smtClean="0"/>
          </a:p>
        </p:txBody>
      </p:sp>
      <p:sp>
        <p:nvSpPr>
          <p:cNvPr id="4" name="Date Placeholder 3"/>
          <p:cNvSpPr>
            <a:spLocks noGrp="1"/>
          </p:cNvSpPr>
          <p:nvPr>
            <p:ph type="dt" sz="half" idx="10"/>
          </p:nvPr>
        </p:nvSpPr>
        <p:spPr/>
        <p:txBody>
          <a:bodyPr/>
          <a:lstStyle/>
          <a:p>
            <a:fld id="{62015DB4-C0A9-4A3A-85D0-F92F39D0E4E6}"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79DB4B1-9568-4BEA-8A06-5660C7EB8CEC}"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1371600"/>
            <a:ext cx="7772400" cy="2505075"/>
          </a:xfrm>
        </p:spPr>
        <p:txBody>
          <a:bodyPr anchor="b"/>
          <a:lstStyle>
            <a:lvl1pPr algn="ctr" defTabSz="914400" rtl="0" eaLnBrk="1" latinLnBrk="0" hangingPunct="1">
              <a:lnSpc>
                <a:spcPct val="100000"/>
              </a:lnSpc>
              <a:spcBef>
                <a:spcPct val="0"/>
              </a:spcBef>
              <a:buNone/>
              <a:defRPr lang="en-US" sz="4800" kern="1200" dirty="0" smtClean="0">
                <a:solidFill>
                  <a:schemeClr val="tx2"/>
                </a:solidFill>
                <a:effectLst>
                  <a:outerShdw blurRad="63500" dist="38100" dir="5400000" algn="t" rotWithShape="0">
                    <a:prstClr val="black">
                      <a:alpha val="25000"/>
                    </a:prstClr>
                  </a:outerShdw>
                </a:effectLst>
                <a:latin typeface="+mn-lt"/>
                <a:ea typeface="+mj-ea"/>
                <a:cs typeface="+mj-cs"/>
              </a:defRPr>
            </a:lvl1pPr>
          </a:lstStyle>
          <a:p>
            <a:r>
              <a:rPr lang="en-US" smtClean="0"/>
              <a:t>Click to edit Master title style</a:t>
            </a:r>
            <a:endParaRPr lang="en-US" dirty="0"/>
          </a:p>
        </p:txBody>
      </p:sp>
      <p:sp>
        <p:nvSpPr>
          <p:cNvPr id="3" name="Text Placeholder 2"/>
          <p:cNvSpPr>
            <a:spLocks noGrp="1"/>
          </p:cNvSpPr>
          <p:nvPr>
            <p:ph type="body" idx="1"/>
          </p:nvPr>
        </p:nvSpPr>
        <p:spPr>
          <a:xfrm>
            <a:off x="722313" y="4068763"/>
            <a:ext cx="7772400" cy="1131887"/>
          </a:xfrm>
        </p:spPr>
        <p:txBody>
          <a:bodyPr anchor="t"/>
          <a:lstStyle>
            <a:lvl1pPr marL="0" indent="0" algn="ctr">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62015DB4-C0A9-4A3A-85D0-F92F39D0E4E6}"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79DB4B1-9568-4BEA-8A06-5660C7EB8CEC}" type="slidenum">
              <a:rPr lang="en-US" smtClean="0"/>
            </a:fld>
            <a:endParaRPr lang="en-US"/>
          </a:p>
        </p:txBody>
      </p:sp>
      <p:sp>
        <p:nvSpPr>
          <p:cNvPr id="7" name="Oval 6"/>
          <p:cNvSpPr/>
          <p:nvPr/>
        </p:nvSpPr>
        <p:spPr>
          <a:xfrm>
            <a:off x="4495800" y="3924300"/>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4695825" y="3924300"/>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4296728" y="3924300"/>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Content Placeholder 3"/>
          <p:cNvSpPr>
            <a:spLocks noGrp="1"/>
          </p:cNvSpPr>
          <p:nvPr>
            <p:ph sz="half" idx="2"/>
          </p:nvPr>
        </p:nvSpPr>
        <p:spPr>
          <a:xfrm>
            <a:off x="4648200" y="1600200"/>
            <a:ext cx="4038600" cy="4525963"/>
          </a:xfrm>
        </p:spPr>
        <p:txBody>
          <a:bodyPr/>
          <a:lstStyle>
            <a:lvl1pPr>
              <a:defRPr sz="24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smtClean="0"/>
          </a:p>
        </p:txBody>
      </p:sp>
      <p:sp>
        <p:nvSpPr>
          <p:cNvPr id="5" name="Date Placeholder 4"/>
          <p:cNvSpPr>
            <a:spLocks noGrp="1"/>
          </p:cNvSpPr>
          <p:nvPr>
            <p:ph type="dt" sz="half" idx="10"/>
          </p:nvPr>
        </p:nvSpPr>
        <p:spPr/>
        <p:txBody>
          <a:bodyPr/>
          <a:lstStyle/>
          <a:p>
            <a:fld id="{62015DB4-C0A9-4A3A-85D0-F92F39D0E4E6}"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79DB4B1-9568-4BEA-8A06-5660C7EB8CEC}" type="slidenum">
              <a:rPr lang="en-US" smtClean="0"/>
            </a:fld>
            <a:endParaRPr lang="en-US"/>
          </a:p>
        </p:txBody>
      </p:sp>
      <p:sp>
        <p:nvSpPr>
          <p:cNvPr id="9" name="Content Placeholder 8"/>
          <p:cNvSpPr>
            <a:spLocks noGrp="1"/>
          </p:cNvSpPr>
          <p:nvPr>
            <p:ph sz="quarter" idx="13"/>
          </p:nvPr>
        </p:nvSpPr>
        <p:spPr>
          <a:xfrm>
            <a:off x="365760" y="1600200"/>
            <a:ext cx="4041648" cy="452628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600200"/>
            <a:ext cx="4040188" cy="609600"/>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5" name="Text Placeholder 4"/>
          <p:cNvSpPr>
            <a:spLocks noGrp="1"/>
          </p:cNvSpPr>
          <p:nvPr>
            <p:ph type="body" sz="quarter" idx="3"/>
          </p:nvPr>
        </p:nvSpPr>
        <p:spPr>
          <a:xfrm>
            <a:off x="4648200" y="1600200"/>
            <a:ext cx="4041775" cy="609600"/>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7" name="Date Placeholder 6"/>
          <p:cNvSpPr>
            <a:spLocks noGrp="1"/>
          </p:cNvSpPr>
          <p:nvPr>
            <p:ph type="dt" sz="half" idx="10"/>
          </p:nvPr>
        </p:nvSpPr>
        <p:spPr/>
        <p:txBody>
          <a:bodyPr/>
          <a:lstStyle/>
          <a:p>
            <a:fld id="{62015DB4-C0A9-4A3A-85D0-F92F39D0E4E6}"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79DB4B1-9568-4BEA-8A06-5660C7EB8CEC}" type="slidenum">
              <a:rPr lang="en-US" smtClean="0"/>
            </a:fld>
            <a:endParaRPr lang="en-US"/>
          </a:p>
        </p:txBody>
      </p:sp>
      <p:sp>
        <p:nvSpPr>
          <p:cNvPr id="11" name="Content Placeholder 10"/>
          <p:cNvSpPr>
            <a:spLocks noGrp="1"/>
          </p:cNvSpPr>
          <p:nvPr>
            <p:ph sz="quarter" idx="13"/>
          </p:nvPr>
        </p:nvSpPr>
        <p:spPr>
          <a:xfrm>
            <a:off x="457200" y="2212848"/>
            <a:ext cx="4041648" cy="3913632"/>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13" name="Content Placeholder 12"/>
          <p:cNvSpPr>
            <a:spLocks noGrp="1"/>
          </p:cNvSpPr>
          <p:nvPr>
            <p:ph sz="quarter" idx="14"/>
          </p:nvPr>
        </p:nvSpPr>
        <p:spPr>
          <a:xfrm>
            <a:off x="4672584" y="2212848"/>
            <a:ext cx="4041648" cy="3913187"/>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62015DB4-C0A9-4A3A-85D0-F92F39D0E4E6}"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79DB4B1-9568-4BEA-8A06-5660C7EB8CEC}"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015DB4-C0A9-4A3A-85D0-F92F39D0E4E6}"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79DB4B1-9568-4BEA-8A06-5660C7EB8CEC}"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907087" y="266700"/>
            <a:ext cx="3008313" cy="2095500"/>
          </a:xfrm>
        </p:spPr>
        <p:txBody>
          <a:bodyPr anchor="b"/>
          <a:lstStyle>
            <a:lvl1pPr algn="ctr">
              <a:lnSpc>
                <a:spcPct val="100000"/>
              </a:lnSpc>
              <a:defRPr sz="2800" b="0">
                <a:effectLst>
                  <a:outerShdw blurRad="50800" dist="25400" dir="5400000" algn="t" rotWithShape="0">
                    <a:prstClr val="black">
                      <a:alpha val="25000"/>
                    </a:prstClr>
                  </a:outerShdw>
                </a:effectLst>
              </a:defRPr>
            </a:lvl1pPr>
          </a:lstStyle>
          <a:p>
            <a:r>
              <a:rPr lang="en-US" smtClean="0"/>
              <a:t>Click to edit Master title style</a:t>
            </a:r>
            <a:endParaRPr lang="en-US" dirty="0"/>
          </a:p>
        </p:txBody>
      </p:sp>
      <p:sp>
        <p:nvSpPr>
          <p:cNvPr id="3" name="Content Placeholder 2"/>
          <p:cNvSpPr>
            <a:spLocks noGrp="1"/>
          </p:cNvSpPr>
          <p:nvPr>
            <p:ph idx="1"/>
          </p:nvPr>
        </p:nvSpPr>
        <p:spPr>
          <a:xfrm>
            <a:off x="719137" y="273050"/>
            <a:ext cx="4995863"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Text Placeholder 3"/>
          <p:cNvSpPr>
            <a:spLocks noGrp="1"/>
          </p:cNvSpPr>
          <p:nvPr>
            <p:ph type="body" sz="half" idx="2"/>
          </p:nvPr>
        </p:nvSpPr>
        <p:spPr>
          <a:xfrm>
            <a:off x="5907087" y="2438400"/>
            <a:ext cx="3008313" cy="3687763"/>
          </a:xfrm>
        </p:spPr>
        <p:txBody>
          <a:bodyPr>
            <a:normAutofit/>
          </a:bodyPr>
          <a:lstStyle>
            <a:lvl1pPr marL="0" indent="0" algn="ctr">
              <a:lnSpc>
                <a:spcPct val="125000"/>
              </a:lnSpc>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2015DB4-C0A9-4A3A-85D0-F92F39D0E4E6}"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79DB4B1-9568-4BEA-8A06-5660C7EB8CEC}"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79576" y="228600"/>
            <a:ext cx="5711824" cy="895350"/>
          </a:xfrm>
        </p:spPr>
        <p:txBody>
          <a:bodyPr anchor="b"/>
          <a:lstStyle>
            <a:lvl1pPr algn="ctr">
              <a:lnSpc>
                <a:spcPct val="100000"/>
              </a:lnSpc>
              <a:defRPr sz="2800" b="0"/>
            </a:lvl1pPr>
          </a:lstStyle>
          <a:p>
            <a:r>
              <a:rPr lang="en-US" smtClean="0"/>
              <a:t>Click to edit Master title style</a:t>
            </a:r>
            <a:endParaRPr lang="en-US" dirty="0"/>
          </a:p>
        </p:txBody>
      </p:sp>
      <p:sp>
        <p:nvSpPr>
          <p:cNvPr id="3" name="Picture Placeholder 2"/>
          <p:cNvSpPr>
            <a:spLocks noGrp="1"/>
          </p:cNvSpPr>
          <p:nvPr>
            <p:ph type="pic" idx="1"/>
          </p:nvPr>
        </p:nvSpPr>
        <p:spPr>
          <a:xfrm>
            <a:off x="1508126" y="1143000"/>
            <a:ext cx="6054724" cy="4541044"/>
          </a:xfrm>
          <a:ln w="76200">
            <a:solidFill>
              <a:schemeClr val="bg1"/>
            </a:solidFill>
          </a:ln>
          <a:effectLst>
            <a:outerShdw blurRad="88900" dist="50800" dir="5400000" algn="ctr" rotWithShape="0">
              <a:srgbClr val="000000">
                <a:alpha val="25000"/>
              </a:srgbClr>
            </a:outerShdw>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1679576" y="5810250"/>
            <a:ext cx="5711824" cy="5334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2015DB4-C0A9-4A3A-85D0-F92F39D0E4E6}"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79DB4B1-9568-4BEA-8A06-5660C7EB8CEC}"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2015DB4-C0A9-4A3A-85D0-F92F39D0E4E6}"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79DB4B1-9568-4BEA-8A06-5660C7EB8CEC}"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2015DB4-C0A9-4A3A-85D0-F92F39D0E4E6}"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79DB4B1-9568-4BEA-8A06-5660C7EB8CEC}"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0"/>
            <a:ext cx="8229600" cy="1600200"/>
          </a:xfrm>
          <a:prstGeom prst="rect">
            <a:avLst/>
          </a:prstGeom>
        </p:spPr>
        <p:txBody>
          <a:bodyPr vert="horz" lIns="91440" tIns="45720" rIns="91440" bIns="45720" rtlCol="0" anchor="b">
            <a:noAutofit/>
          </a:bodyPr>
          <a:lstStyle/>
          <a:p>
            <a:r>
              <a:rPr lang="en-US" smtClean="0"/>
              <a:t>Click to edit Master title style</a:t>
            </a:r>
            <a:endParaRPr lang="en-US"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smtClean="0"/>
          </a:p>
        </p:txBody>
      </p:sp>
      <p:sp>
        <p:nvSpPr>
          <p:cNvPr id="4" name="Date Placeholder 3"/>
          <p:cNvSpPr>
            <a:spLocks noGrp="1"/>
          </p:cNvSpPr>
          <p:nvPr>
            <p:ph type="dt" sz="half" idx="2"/>
          </p:nvPr>
        </p:nvSpPr>
        <p:spPr>
          <a:xfrm>
            <a:off x="6363347" y="6356350"/>
            <a:ext cx="2085975" cy="365125"/>
          </a:xfrm>
          <a:prstGeom prst="rect">
            <a:avLst/>
          </a:prstGeom>
        </p:spPr>
        <p:txBody>
          <a:bodyPr vert="horz" lIns="91440" tIns="45720" rIns="45720" bIns="45720" rtlCol="0" anchor="ctr"/>
          <a:lstStyle>
            <a:lvl1pPr algn="r">
              <a:defRPr sz="1200">
                <a:solidFill>
                  <a:schemeClr val="tx1">
                    <a:lumMod val="65000"/>
                    <a:lumOff val="35000"/>
                  </a:schemeClr>
                </a:solidFill>
                <a:latin typeface="Century Gothic" panose="020B0502020202020204" pitchFamily="34" charset="0"/>
              </a:defRPr>
            </a:lvl1pPr>
          </a:lstStyle>
          <a:p>
            <a:fld id="{62015DB4-C0A9-4A3A-85D0-F92F39D0E4E6}" type="datetimeFigureOut">
              <a:rPr lang="en-US" smtClean="0"/>
            </a:fld>
            <a:endParaRPr lang="en-US"/>
          </a:p>
        </p:txBody>
      </p:sp>
      <p:sp>
        <p:nvSpPr>
          <p:cNvPr id="5" name="Footer Placeholder 4"/>
          <p:cNvSpPr>
            <a:spLocks noGrp="1"/>
          </p:cNvSpPr>
          <p:nvPr>
            <p:ph type="ftr" sz="quarter" idx="3"/>
          </p:nvPr>
        </p:nvSpPr>
        <p:spPr>
          <a:xfrm>
            <a:off x="659165" y="6356350"/>
            <a:ext cx="2847975" cy="365125"/>
          </a:xfrm>
          <a:prstGeom prst="rect">
            <a:avLst/>
          </a:prstGeom>
        </p:spPr>
        <p:txBody>
          <a:bodyPr vert="horz" lIns="45720" tIns="45720" rIns="91440" bIns="45720" rtlCol="0" anchor="ctr"/>
          <a:lstStyle>
            <a:lvl1pPr algn="l">
              <a:defRPr sz="1200">
                <a:solidFill>
                  <a:schemeClr val="tx1">
                    <a:lumMod val="65000"/>
                    <a:lumOff val="35000"/>
                  </a:schemeClr>
                </a:solidFill>
                <a:latin typeface="Century Gothic" panose="020B0502020202020204" pitchFamily="34" charset="0"/>
              </a:defRPr>
            </a:lvl1pPr>
          </a:lstStyle>
          <a:p>
            <a:endParaRPr lang="en-US"/>
          </a:p>
        </p:txBody>
      </p:sp>
      <p:sp>
        <p:nvSpPr>
          <p:cNvPr id="6" name="Slide Number Placeholder 5"/>
          <p:cNvSpPr>
            <a:spLocks noGrp="1"/>
          </p:cNvSpPr>
          <p:nvPr>
            <p:ph type="sldNum" sz="quarter" idx="4"/>
          </p:nvPr>
        </p:nvSpPr>
        <p:spPr>
          <a:xfrm>
            <a:off x="8543278" y="6356350"/>
            <a:ext cx="561975" cy="365125"/>
          </a:xfrm>
          <a:prstGeom prst="rect">
            <a:avLst/>
          </a:prstGeom>
        </p:spPr>
        <p:txBody>
          <a:bodyPr vert="horz" lIns="27432" tIns="45720" rIns="45720" bIns="45720" rtlCol="0" anchor="ctr"/>
          <a:lstStyle>
            <a:lvl1pPr algn="l">
              <a:defRPr sz="1200">
                <a:solidFill>
                  <a:schemeClr val="tx1">
                    <a:lumMod val="65000"/>
                    <a:lumOff val="35000"/>
                  </a:schemeClr>
                </a:solidFill>
                <a:latin typeface="Century Gothic" panose="020B0502020202020204" pitchFamily="34" charset="0"/>
              </a:defRPr>
            </a:lvl1pPr>
          </a:lstStyle>
          <a:p>
            <a:fld id="{479DB4B1-9568-4BEA-8A06-5660C7EB8CEC}" type="slidenum">
              <a:rPr lang="en-US" smtClean="0"/>
            </a:fld>
            <a:endParaRPr lang="en-US"/>
          </a:p>
        </p:txBody>
      </p:sp>
      <p:sp>
        <p:nvSpPr>
          <p:cNvPr id="7" name="Oval 6"/>
          <p:cNvSpPr/>
          <p:nvPr/>
        </p:nvSpPr>
        <p:spPr>
          <a:xfrm>
            <a:off x="8457760" y="6499384"/>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US" sz="1800" kern="1200">
              <a:solidFill>
                <a:schemeClr val="lt1"/>
              </a:solidFill>
              <a:latin typeface="+mn-lt"/>
              <a:ea typeface="+mn-ea"/>
              <a:cs typeface="+mn-cs"/>
            </a:endParaRPr>
          </a:p>
        </p:txBody>
      </p:sp>
      <p:sp>
        <p:nvSpPr>
          <p:cNvPr id="8" name="Oval 7"/>
          <p:cNvSpPr/>
          <p:nvPr/>
        </p:nvSpPr>
        <p:spPr>
          <a:xfrm>
            <a:off x="569119" y="6499384"/>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lnSpc>
          <a:spcPts val="5800"/>
        </a:lnSpc>
        <a:spcBef>
          <a:spcPct val="0"/>
        </a:spcBef>
        <a:buNone/>
        <a:defRPr sz="5400" kern="1200">
          <a:solidFill>
            <a:schemeClr val="tx2"/>
          </a:solidFill>
          <a:effectLst>
            <a:outerShdw blurRad="63500" dist="38100" dir="5400000" algn="t" rotWithShape="0">
              <a:prstClr val="black">
                <a:alpha val="25000"/>
              </a:prstClr>
            </a:outerShdw>
          </a:effectLst>
          <a:latin typeface="+mn-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2400" kern="1200">
          <a:solidFill>
            <a:schemeClr val="tx1">
              <a:lumMod val="50000"/>
              <a:lumOff val="50000"/>
            </a:schemeClr>
          </a:solidFill>
          <a:latin typeface="+mj-lt"/>
          <a:ea typeface="+mn-ea"/>
          <a:cs typeface="+mn-cs"/>
        </a:defRPr>
      </a:lvl1pPr>
      <a:lvl2pPr marL="742950" indent="-285750" algn="l" defTabSz="914400" rtl="0" eaLnBrk="1" latinLnBrk="0" hangingPunct="1">
        <a:spcBef>
          <a:spcPct val="20000"/>
        </a:spcBef>
        <a:buFont typeface="Courier New" panose="02070309020205020404" pitchFamily="49" charset="0"/>
        <a:buChar char="o"/>
        <a:defRPr sz="1600" kern="1200">
          <a:solidFill>
            <a:schemeClr val="tx1">
              <a:lumMod val="50000"/>
              <a:lumOff val="50000"/>
            </a:schemeClr>
          </a:solidFill>
          <a:latin typeface="+mj-lt"/>
          <a:ea typeface="+mn-ea"/>
          <a:cs typeface="+mn-cs"/>
        </a:defRPr>
      </a:lvl2pPr>
      <a:lvl3pPr marL="1143000" indent="-228600" algn="l" defTabSz="914400" rtl="0" eaLnBrk="1" latinLnBrk="0" hangingPunct="1">
        <a:spcBef>
          <a:spcPct val="20000"/>
        </a:spcBef>
        <a:buFont typeface="Arial" panose="020B0604020202020204" pitchFamily="34" charset="0"/>
        <a:buChar char="•"/>
        <a:defRPr sz="1600" kern="1200">
          <a:solidFill>
            <a:schemeClr val="tx1">
              <a:lumMod val="50000"/>
              <a:lumOff val="50000"/>
            </a:schemeClr>
          </a:solidFill>
          <a:latin typeface="+mj-lt"/>
          <a:ea typeface="+mn-ea"/>
          <a:cs typeface="+mn-cs"/>
        </a:defRPr>
      </a:lvl3pPr>
      <a:lvl4pPr marL="1600200" indent="-228600" algn="l" defTabSz="914400" rtl="0" eaLnBrk="1" latinLnBrk="0" hangingPunct="1">
        <a:spcBef>
          <a:spcPct val="20000"/>
        </a:spcBef>
        <a:buFont typeface="Courier New" panose="02070309020205020404" pitchFamily="49" charset="0"/>
        <a:buChar char="o"/>
        <a:defRPr sz="1600" kern="1200">
          <a:solidFill>
            <a:schemeClr val="tx1">
              <a:lumMod val="50000"/>
              <a:lumOff val="50000"/>
            </a:schemeClr>
          </a:solidFill>
          <a:latin typeface="+mj-lt"/>
          <a:ea typeface="+mn-ea"/>
          <a:cs typeface="+mn-cs"/>
        </a:defRPr>
      </a:lvl4pPr>
      <a:lvl5pPr marL="2057400" indent="-228600" algn="l" defTabSz="914400" rtl="0" eaLnBrk="1" latinLnBrk="0" hangingPunct="1">
        <a:spcBef>
          <a:spcPct val="20000"/>
        </a:spcBef>
        <a:buFont typeface="Arial" panose="020B0604020202020204" pitchFamily="34" charset="0"/>
        <a:buChar char="•"/>
        <a:defRPr sz="1600" kern="1200">
          <a:solidFill>
            <a:schemeClr val="tx1">
              <a:lumMod val="50000"/>
              <a:lumOff val="50000"/>
            </a:schemeClr>
          </a:solidFill>
          <a:latin typeface="+mj-lt"/>
          <a:ea typeface="+mn-ea"/>
          <a:cs typeface="+mn-cs"/>
        </a:defRPr>
      </a:lvl5pPr>
      <a:lvl6pPr marL="2514600" indent="-228600" algn="l" defTabSz="914400" rtl="0" eaLnBrk="1" latinLnBrk="0" hangingPunct="1">
        <a:spcBef>
          <a:spcPct val="20000"/>
        </a:spcBef>
        <a:buFont typeface="Courier New" panose="02070309020205020404" pitchFamily="49" charset="0"/>
        <a:buChar char="o"/>
        <a:defRPr sz="1600" kern="1200">
          <a:solidFill>
            <a:schemeClr val="tx1">
              <a:lumMod val="50000"/>
              <a:lumOff val="50000"/>
            </a:schemeClr>
          </a:solidFill>
          <a:latin typeface="+mj-lt"/>
          <a:ea typeface="+mn-ea"/>
          <a:cs typeface="+mn-cs"/>
        </a:defRPr>
      </a:lvl6pPr>
      <a:lvl7pPr marL="2971800" indent="-228600" algn="l" defTabSz="914400" rtl="0" eaLnBrk="1" latinLnBrk="0" hangingPunct="1">
        <a:spcBef>
          <a:spcPct val="20000"/>
        </a:spcBef>
        <a:buFont typeface="Arial" panose="020B0604020202020204" pitchFamily="34" charset="0"/>
        <a:buChar char="•"/>
        <a:defRPr sz="1600" kern="1200">
          <a:solidFill>
            <a:schemeClr val="tx1">
              <a:lumMod val="50000"/>
              <a:lumOff val="50000"/>
            </a:schemeClr>
          </a:solidFill>
          <a:latin typeface="+mj-lt"/>
          <a:ea typeface="+mn-ea"/>
          <a:cs typeface="+mn-cs"/>
        </a:defRPr>
      </a:lvl7pPr>
      <a:lvl8pPr marL="3429000" indent="-228600" algn="l" defTabSz="914400" rtl="0" eaLnBrk="1" latinLnBrk="0" hangingPunct="1">
        <a:spcBef>
          <a:spcPct val="20000"/>
        </a:spcBef>
        <a:buFont typeface="Courier New" panose="02070309020205020404" pitchFamily="49" charset="0"/>
        <a:buChar char="o"/>
        <a:defRPr sz="1600" kern="1200">
          <a:solidFill>
            <a:schemeClr val="tx1">
              <a:lumMod val="50000"/>
              <a:lumOff val="50000"/>
            </a:schemeClr>
          </a:solidFill>
          <a:latin typeface="+mj-lt"/>
          <a:ea typeface="+mn-ea"/>
          <a:cs typeface="+mn-cs"/>
        </a:defRPr>
      </a:lvl8pPr>
      <a:lvl9pPr marL="3886200" indent="-228600" algn="l" defTabSz="914400" rtl="0" eaLnBrk="1" latinLnBrk="0" hangingPunct="1">
        <a:spcBef>
          <a:spcPct val="20000"/>
        </a:spcBef>
        <a:buFont typeface="Arial" panose="020B0604020202020204" pitchFamily="34" charset="0"/>
        <a:buChar char="•"/>
        <a:defRPr sz="1600" kern="1200">
          <a:solidFill>
            <a:schemeClr val="tx1">
              <a:lumMod val="50000"/>
              <a:lumOff val="50000"/>
            </a:schemeClr>
          </a:solidFill>
          <a:latin typeface="+mj-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chor="ctr"/>
          <a:lstStyle/>
          <a:p>
            <a:r>
              <a:rPr lang="en-US" sz="4000" i="1" u="sng" dirty="0" smtClean="0"/>
              <a:t>Unit-1</a:t>
            </a:r>
            <a:br>
              <a:rPr lang="en-US" sz="4000" dirty="0" smtClean="0"/>
            </a:br>
            <a:br>
              <a:rPr lang="en-US" sz="4000" dirty="0" smtClean="0"/>
            </a:br>
            <a:r>
              <a:rPr lang="en-US" sz="4000" dirty="0" smtClean="0"/>
              <a:t> Introduction of Data Structure</a:t>
            </a:r>
            <a:endParaRPr lang="en-US" sz="4000" dirty="0"/>
          </a:p>
        </p:txBody>
      </p:sp>
      <p:sp>
        <p:nvSpPr>
          <p:cNvPr id="5" name="Rectangle 4"/>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33400" y="76200"/>
            <a:ext cx="8229600" cy="685800"/>
          </a:xfrm>
        </p:spPr>
        <p:txBody>
          <a:bodyPr anchor="ctr"/>
          <a:lstStyle/>
          <a:p>
            <a:r>
              <a:rPr lang="en-US" sz="3000" dirty="0" smtClean="0"/>
              <a:t>Introduction of Data</a:t>
            </a:r>
            <a:endParaRPr lang="en-US" sz="3000" dirty="0"/>
          </a:p>
        </p:txBody>
      </p:sp>
      <p:sp>
        <p:nvSpPr>
          <p:cNvPr id="5" name="Content Placeholder 4"/>
          <p:cNvSpPr>
            <a:spLocks noGrp="1"/>
          </p:cNvSpPr>
          <p:nvPr>
            <p:ph idx="1"/>
          </p:nvPr>
        </p:nvSpPr>
        <p:spPr>
          <a:xfrm>
            <a:off x="381000" y="1036637"/>
            <a:ext cx="8305800" cy="5135563"/>
          </a:xfrm>
        </p:spPr>
        <p:txBody>
          <a:bodyPr>
            <a:normAutofit fontScale="92500" lnSpcReduction="20000"/>
          </a:bodyPr>
          <a:lstStyle/>
          <a:p>
            <a:pPr algn="just">
              <a:lnSpc>
                <a:spcPct val="150000"/>
              </a:lnSpc>
              <a:buFont typeface="Wingdings" panose="05000000000000000000" pitchFamily="2" charset="2"/>
              <a:buChar char="q"/>
            </a:pPr>
            <a:r>
              <a:rPr lang="en-US" sz="2200" b="1" u="sng" dirty="0" smtClean="0">
                <a:solidFill>
                  <a:schemeClr val="tx1"/>
                </a:solidFill>
              </a:rPr>
              <a:t>Data</a:t>
            </a:r>
            <a:r>
              <a:rPr lang="en-US" sz="2200" u="sng" dirty="0" smtClean="0">
                <a:solidFill>
                  <a:schemeClr val="tx1"/>
                </a:solidFill>
              </a:rPr>
              <a:t> is distinct pieces of information.</a:t>
            </a:r>
            <a:endParaRPr lang="en-US" sz="2200" u="sng" dirty="0" smtClean="0">
              <a:solidFill>
                <a:schemeClr val="tx1"/>
              </a:solidFill>
            </a:endParaRPr>
          </a:p>
          <a:p>
            <a:pPr algn="just">
              <a:lnSpc>
                <a:spcPct val="150000"/>
              </a:lnSpc>
              <a:buFont typeface="Wingdings" panose="05000000000000000000" pitchFamily="2" charset="2"/>
              <a:buChar char="q"/>
            </a:pPr>
            <a:r>
              <a:rPr lang="en-US" sz="2200" dirty="0" smtClean="0">
                <a:solidFill>
                  <a:schemeClr val="tx1"/>
                </a:solidFill>
              </a:rPr>
              <a:t>Data can exist in a variety of forms: </a:t>
            </a:r>
            <a:endParaRPr lang="en-US" sz="2200" dirty="0" smtClean="0">
              <a:solidFill>
                <a:schemeClr val="tx1"/>
              </a:solidFill>
            </a:endParaRPr>
          </a:p>
          <a:p>
            <a:pPr marL="685800" algn="just">
              <a:lnSpc>
                <a:spcPct val="150000"/>
              </a:lnSpc>
              <a:buFont typeface="Wingdings" panose="05000000000000000000" pitchFamily="2" charset="2"/>
              <a:buChar char="§"/>
            </a:pPr>
            <a:r>
              <a:rPr lang="en-US" sz="2200" dirty="0" smtClean="0">
                <a:solidFill>
                  <a:schemeClr val="tx1"/>
                </a:solidFill>
              </a:rPr>
              <a:t>Numbers or texts on pieces of paper</a:t>
            </a:r>
            <a:endParaRPr lang="en-US" sz="2200" dirty="0" smtClean="0">
              <a:solidFill>
                <a:schemeClr val="tx1"/>
              </a:solidFill>
            </a:endParaRPr>
          </a:p>
          <a:p>
            <a:pPr marL="685800" algn="just">
              <a:lnSpc>
                <a:spcPct val="150000"/>
              </a:lnSpc>
              <a:buFont typeface="Wingdings" panose="05000000000000000000" pitchFamily="2" charset="2"/>
              <a:buChar char="§"/>
            </a:pPr>
            <a:r>
              <a:rPr lang="en-US" sz="2200" dirty="0" smtClean="0">
                <a:solidFill>
                  <a:schemeClr val="tx1"/>
                </a:solidFill>
              </a:rPr>
              <a:t>Bits or bytes stored in electronic memory</a:t>
            </a:r>
            <a:endParaRPr lang="en-US" sz="2200" dirty="0" smtClean="0">
              <a:solidFill>
                <a:schemeClr val="tx1"/>
              </a:solidFill>
            </a:endParaRPr>
          </a:p>
          <a:p>
            <a:pPr marL="685800" algn="just">
              <a:lnSpc>
                <a:spcPct val="150000"/>
              </a:lnSpc>
              <a:buFont typeface="Wingdings" panose="05000000000000000000" pitchFamily="2" charset="2"/>
              <a:buChar char="§"/>
            </a:pPr>
            <a:r>
              <a:rPr lang="en-US" sz="2200" dirty="0" smtClean="0">
                <a:solidFill>
                  <a:schemeClr val="tx1"/>
                </a:solidFill>
              </a:rPr>
              <a:t>Facts stored in human’s mind</a:t>
            </a:r>
            <a:endParaRPr lang="en-US" sz="2200" b="1" dirty="0">
              <a:solidFill>
                <a:schemeClr val="tx1"/>
              </a:solidFill>
            </a:endParaRPr>
          </a:p>
          <a:p>
            <a:pPr algn="just">
              <a:lnSpc>
                <a:spcPct val="150000"/>
              </a:lnSpc>
              <a:buFont typeface="Wingdings" panose="05000000000000000000" pitchFamily="2" charset="2"/>
              <a:buChar char="q"/>
            </a:pPr>
            <a:r>
              <a:rPr lang="en-US" sz="2200" dirty="0" smtClean="0">
                <a:solidFill>
                  <a:schemeClr val="tx1"/>
                </a:solidFill>
              </a:rPr>
              <a:t>People have used the word </a:t>
            </a:r>
            <a:r>
              <a:rPr lang="en-US" sz="2200" b="1" dirty="0" smtClean="0">
                <a:solidFill>
                  <a:schemeClr val="tx1"/>
                </a:solidFill>
              </a:rPr>
              <a:t>DATA</a:t>
            </a:r>
            <a:r>
              <a:rPr lang="en-US" sz="2200" dirty="0" smtClean="0">
                <a:solidFill>
                  <a:schemeClr val="tx1"/>
                </a:solidFill>
              </a:rPr>
              <a:t> to mean </a:t>
            </a:r>
            <a:r>
              <a:rPr lang="en-US" sz="2200" u="sng" dirty="0" smtClean="0">
                <a:solidFill>
                  <a:schemeClr val="tx1"/>
                </a:solidFill>
              </a:rPr>
              <a:t>computer information that is transmitted or stored</a:t>
            </a:r>
            <a:r>
              <a:rPr lang="en-US" sz="2200" dirty="0" smtClean="0">
                <a:solidFill>
                  <a:schemeClr val="tx1"/>
                </a:solidFill>
              </a:rPr>
              <a:t>.</a:t>
            </a:r>
            <a:endParaRPr lang="en-US" sz="2200" dirty="0" smtClean="0">
              <a:solidFill>
                <a:schemeClr val="tx1"/>
              </a:solidFill>
            </a:endParaRPr>
          </a:p>
          <a:p>
            <a:pPr algn="just">
              <a:lnSpc>
                <a:spcPct val="150000"/>
              </a:lnSpc>
              <a:buFont typeface="Wingdings" panose="05000000000000000000" pitchFamily="2" charset="2"/>
              <a:buChar char="q"/>
            </a:pPr>
            <a:r>
              <a:rPr lang="en-US" sz="2200" dirty="0" smtClean="0">
                <a:solidFill>
                  <a:schemeClr val="tx1"/>
                </a:solidFill>
              </a:rPr>
              <a:t>Strictly speaking data is a </a:t>
            </a:r>
            <a:r>
              <a:rPr lang="en-US" sz="2200" b="1" dirty="0" smtClean="0">
                <a:solidFill>
                  <a:schemeClr val="tx1"/>
                </a:solidFill>
              </a:rPr>
              <a:t>plural of datum</a:t>
            </a:r>
            <a:r>
              <a:rPr lang="en-US" sz="2200" dirty="0" smtClean="0">
                <a:solidFill>
                  <a:schemeClr val="tx1"/>
                </a:solidFill>
              </a:rPr>
              <a:t>, a single piece of information</a:t>
            </a:r>
            <a:r>
              <a:rPr lang="en-US" sz="2200" b="1" dirty="0" smtClean="0">
                <a:solidFill>
                  <a:schemeClr val="tx1"/>
                </a:solidFill>
              </a:rPr>
              <a:t>.</a:t>
            </a:r>
            <a:endParaRPr lang="en-US" sz="2200" b="1" dirty="0" smtClean="0">
              <a:solidFill>
                <a:schemeClr val="tx1"/>
              </a:solidFill>
            </a:endParaRPr>
          </a:p>
          <a:p>
            <a:pPr algn="just">
              <a:lnSpc>
                <a:spcPct val="150000"/>
              </a:lnSpc>
              <a:buFont typeface="Wingdings" panose="05000000000000000000" pitchFamily="2" charset="2"/>
              <a:buChar char="q"/>
            </a:pPr>
            <a:r>
              <a:rPr lang="en-US" sz="2200" dirty="0" smtClean="0">
                <a:solidFill>
                  <a:schemeClr val="tx1"/>
                </a:solidFill>
              </a:rPr>
              <a:t>In practice, however, people use data as both the singular and plural form of the word.</a:t>
            </a:r>
            <a:endParaRPr lang="en-US" sz="2200" dirty="0" smtClean="0">
              <a:solidFill>
                <a:schemeClr val="tx1"/>
              </a:solidFill>
            </a:endParaRPr>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33400" y="76200"/>
            <a:ext cx="8229600" cy="685800"/>
          </a:xfrm>
        </p:spPr>
        <p:txBody>
          <a:bodyPr anchor="ctr"/>
          <a:lstStyle/>
          <a:p>
            <a:r>
              <a:rPr lang="en-US" sz="3000" dirty="0" smtClean="0"/>
              <a:t>Introduction of </a:t>
            </a:r>
            <a:r>
              <a:rPr lang="en-US" sz="3000" dirty="0"/>
              <a:t>D</a:t>
            </a:r>
            <a:r>
              <a:rPr lang="en-US" sz="3000" dirty="0" smtClean="0"/>
              <a:t>ata Structure</a:t>
            </a:r>
            <a:endParaRPr lang="en-US" sz="3000" dirty="0"/>
          </a:p>
        </p:txBody>
      </p:sp>
      <p:sp>
        <p:nvSpPr>
          <p:cNvPr id="5" name="Content Placeholder 4"/>
          <p:cNvSpPr>
            <a:spLocks noGrp="1"/>
          </p:cNvSpPr>
          <p:nvPr>
            <p:ph idx="1"/>
          </p:nvPr>
        </p:nvSpPr>
        <p:spPr>
          <a:xfrm>
            <a:off x="381000" y="1036637"/>
            <a:ext cx="8305800" cy="5135563"/>
          </a:xfrm>
        </p:spPr>
        <p:txBody>
          <a:bodyPr>
            <a:normAutofit/>
          </a:bodyPr>
          <a:lstStyle/>
          <a:p>
            <a:pPr algn="just">
              <a:lnSpc>
                <a:spcPct val="150000"/>
              </a:lnSpc>
              <a:buFont typeface="Wingdings" panose="05000000000000000000" pitchFamily="2" charset="2"/>
              <a:buChar char="q"/>
            </a:pPr>
            <a:r>
              <a:rPr lang="en-US" sz="2200" b="1" dirty="0" smtClean="0">
                <a:solidFill>
                  <a:schemeClr val="tx1"/>
                </a:solidFill>
              </a:rPr>
              <a:t>Data structure </a:t>
            </a:r>
            <a:r>
              <a:rPr lang="en-US" sz="2200" dirty="0" smtClean="0">
                <a:solidFill>
                  <a:schemeClr val="tx1"/>
                </a:solidFill>
              </a:rPr>
              <a:t>is a way of collecting and organizing data in such a way that we can perform operations on these data in an effective way.</a:t>
            </a:r>
            <a:endParaRPr lang="en-US" sz="2200" dirty="0" smtClean="0">
              <a:solidFill>
                <a:schemeClr val="tx1"/>
              </a:solidFill>
            </a:endParaRPr>
          </a:p>
          <a:p>
            <a:pPr marL="0" indent="0" algn="just">
              <a:lnSpc>
                <a:spcPct val="150000"/>
              </a:lnSpc>
              <a:buNone/>
            </a:pPr>
            <a:endParaRPr lang="en-US" sz="2200" dirty="0" smtClean="0">
              <a:solidFill>
                <a:schemeClr val="tx1"/>
              </a:solidFill>
            </a:endParaRPr>
          </a:p>
          <a:p>
            <a:pPr algn="just">
              <a:lnSpc>
                <a:spcPct val="150000"/>
              </a:lnSpc>
              <a:buFont typeface="Wingdings" panose="05000000000000000000" pitchFamily="2" charset="2"/>
              <a:buChar char="q"/>
            </a:pPr>
            <a:r>
              <a:rPr lang="en-US" sz="2200" dirty="0" smtClean="0">
                <a:solidFill>
                  <a:schemeClr val="tx1"/>
                </a:solidFill>
              </a:rPr>
              <a:t>Data structure is about rendering (providing) data elements in terms of some relationship, for better organization and storage.</a:t>
            </a:r>
            <a:endParaRPr lang="en-US" sz="2200" dirty="0" smtClean="0">
              <a:solidFill>
                <a:schemeClr val="tx1"/>
              </a:solidFill>
            </a:endParaRPr>
          </a:p>
          <a:p>
            <a:pPr marL="0" indent="0" algn="just">
              <a:lnSpc>
                <a:spcPct val="150000"/>
              </a:lnSpc>
              <a:buNone/>
            </a:pPr>
            <a:r>
              <a:rPr lang="en-US" sz="2200" dirty="0" smtClean="0">
                <a:solidFill>
                  <a:schemeClr val="tx1"/>
                </a:solidFill>
              </a:rPr>
              <a:t> </a:t>
            </a:r>
            <a:endParaRPr lang="en-US" sz="1900" dirty="0" smtClean="0">
              <a:solidFill>
                <a:schemeClr val="tx1"/>
              </a:solidFill>
            </a:endParaRPr>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33400" y="76200"/>
            <a:ext cx="8229600" cy="685800"/>
          </a:xfrm>
        </p:spPr>
        <p:txBody>
          <a:bodyPr anchor="ctr"/>
          <a:lstStyle/>
          <a:p>
            <a:r>
              <a:rPr lang="en-US" sz="3000" dirty="0" smtClean="0"/>
              <a:t>Introduction of </a:t>
            </a:r>
            <a:r>
              <a:rPr lang="en-US" sz="3000" dirty="0"/>
              <a:t>D</a:t>
            </a:r>
            <a:r>
              <a:rPr lang="en-US" sz="3000" dirty="0" smtClean="0"/>
              <a:t>ata Structure</a:t>
            </a:r>
            <a:endParaRPr lang="en-US" sz="3000" dirty="0"/>
          </a:p>
        </p:txBody>
      </p:sp>
      <p:sp>
        <p:nvSpPr>
          <p:cNvPr id="5" name="Content Placeholder 4"/>
          <p:cNvSpPr>
            <a:spLocks noGrp="1"/>
          </p:cNvSpPr>
          <p:nvPr>
            <p:ph idx="1"/>
          </p:nvPr>
        </p:nvSpPr>
        <p:spPr>
          <a:xfrm>
            <a:off x="381000" y="1036637"/>
            <a:ext cx="8305800" cy="5135563"/>
          </a:xfrm>
        </p:spPr>
        <p:txBody>
          <a:bodyPr>
            <a:normAutofit fontScale="92500" lnSpcReduction="20000"/>
          </a:bodyPr>
          <a:lstStyle/>
          <a:p>
            <a:pPr algn="just">
              <a:lnSpc>
                <a:spcPct val="150000"/>
              </a:lnSpc>
              <a:buFont typeface="Wingdings" panose="05000000000000000000" pitchFamily="2" charset="2"/>
              <a:buChar char="q"/>
            </a:pPr>
            <a:r>
              <a:rPr lang="en-US" sz="2200" b="1" dirty="0" smtClean="0">
                <a:solidFill>
                  <a:schemeClr val="tx1"/>
                </a:solidFill>
              </a:rPr>
              <a:t>For example, </a:t>
            </a:r>
            <a:r>
              <a:rPr lang="en-US" sz="2200" dirty="0" smtClean="0">
                <a:solidFill>
                  <a:schemeClr val="tx1"/>
                </a:solidFill>
              </a:rPr>
              <a:t>we have data player’s name “Hitesh” and age 26.</a:t>
            </a:r>
            <a:endParaRPr lang="en-US" sz="2200" dirty="0" smtClean="0">
              <a:solidFill>
                <a:schemeClr val="tx1"/>
              </a:solidFill>
            </a:endParaRPr>
          </a:p>
          <a:p>
            <a:pPr algn="just">
              <a:lnSpc>
                <a:spcPct val="150000"/>
              </a:lnSpc>
              <a:buFont typeface="Wingdings" panose="05000000000000000000" pitchFamily="2" charset="2"/>
              <a:buChar char="q"/>
            </a:pPr>
            <a:r>
              <a:rPr lang="en-US" sz="2200" dirty="0" smtClean="0">
                <a:solidFill>
                  <a:schemeClr val="tx1"/>
                </a:solidFill>
              </a:rPr>
              <a:t>Here we have two data elements:</a:t>
            </a:r>
            <a:endParaRPr lang="en-US" sz="2200" dirty="0" smtClean="0">
              <a:solidFill>
                <a:schemeClr val="tx1"/>
              </a:solidFill>
            </a:endParaRPr>
          </a:p>
          <a:p>
            <a:pPr algn="just">
              <a:lnSpc>
                <a:spcPct val="150000"/>
              </a:lnSpc>
              <a:buFont typeface="Wingdings" panose="05000000000000000000" pitchFamily="2" charset="2"/>
              <a:buChar char="§"/>
            </a:pPr>
            <a:r>
              <a:rPr lang="en-US" sz="1700" dirty="0" smtClean="0">
                <a:solidFill>
                  <a:schemeClr val="tx1"/>
                </a:solidFill>
              </a:rPr>
              <a:t>Player’s name: string datatype</a:t>
            </a:r>
            <a:endParaRPr lang="en-US" sz="1700" dirty="0" smtClean="0">
              <a:solidFill>
                <a:schemeClr val="tx1"/>
              </a:solidFill>
            </a:endParaRPr>
          </a:p>
          <a:p>
            <a:pPr algn="just">
              <a:lnSpc>
                <a:spcPct val="150000"/>
              </a:lnSpc>
              <a:buFont typeface="Wingdings" panose="05000000000000000000" pitchFamily="2" charset="2"/>
              <a:buChar char="§"/>
            </a:pPr>
            <a:r>
              <a:rPr lang="en-US" sz="1700" dirty="0" smtClean="0">
                <a:solidFill>
                  <a:schemeClr val="tx1"/>
                </a:solidFill>
              </a:rPr>
              <a:t>Player’s age: integer datatype</a:t>
            </a:r>
            <a:endParaRPr lang="en-US" sz="1700" dirty="0" smtClean="0">
              <a:solidFill>
                <a:schemeClr val="tx1"/>
              </a:solidFill>
            </a:endParaRPr>
          </a:p>
          <a:p>
            <a:pPr algn="just">
              <a:lnSpc>
                <a:spcPct val="150000"/>
              </a:lnSpc>
              <a:buFont typeface="Wingdings" panose="05000000000000000000" pitchFamily="2" charset="2"/>
              <a:buChar char="q"/>
            </a:pPr>
            <a:r>
              <a:rPr lang="en-US" sz="2200" dirty="0" smtClean="0">
                <a:solidFill>
                  <a:schemeClr val="tx1"/>
                </a:solidFill>
              </a:rPr>
              <a:t>We can organize this data as a record like Player record.</a:t>
            </a:r>
            <a:endParaRPr lang="en-US" sz="2200" dirty="0" smtClean="0">
              <a:solidFill>
                <a:schemeClr val="tx1"/>
              </a:solidFill>
            </a:endParaRPr>
          </a:p>
          <a:p>
            <a:pPr algn="just">
              <a:lnSpc>
                <a:spcPct val="150000"/>
              </a:lnSpc>
              <a:buFont typeface="Wingdings" panose="05000000000000000000" pitchFamily="2" charset="2"/>
              <a:buChar char="q"/>
            </a:pPr>
            <a:r>
              <a:rPr lang="en-US" sz="2200" dirty="0" smtClean="0">
                <a:solidFill>
                  <a:schemeClr val="tx1"/>
                </a:solidFill>
              </a:rPr>
              <a:t>Now we can collect and store Player’s records in a file or database as a data structure.</a:t>
            </a:r>
            <a:endParaRPr lang="en-US" sz="2200" dirty="0" smtClean="0">
              <a:solidFill>
                <a:schemeClr val="tx1"/>
              </a:solidFill>
            </a:endParaRPr>
          </a:p>
          <a:p>
            <a:pPr algn="just">
              <a:lnSpc>
                <a:spcPct val="150000"/>
              </a:lnSpc>
              <a:buFont typeface="Wingdings" panose="05000000000000000000" pitchFamily="2" charset="2"/>
              <a:buChar char="q"/>
            </a:pPr>
            <a:r>
              <a:rPr lang="en-US" sz="1900" dirty="0" smtClean="0">
                <a:solidFill>
                  <a:schemeClr val="tx1"/>
                </a:solidFill>
              </a:rPr>
              <a:t>For example, “Gayle” 30, “Sachin” 31, “Parth” 33. </a:t>
            </a:r>
            <a:endParaRPr lang="en-US" sz="1900" dirty="0" smtClean="0">
              <a:solidFill>
                <a:schemeClr val="tx1"/>
              </a:solidFill>
            </a:endParaRPr>
          </a:p>
          <a:p>
            <a:pPr algn="just">
              <a:lnSpc>
                <a:spcPct val="150000"/>
              </a:lnSpc>
              <a:buFont typeface="Wingdings" panose="05000000000000000000" pitchFamily="2" charset="2"/>
              <a:buChar char="q"/>
            </a:pPr>
            <a:r>
              <a:rPr lang="en-US" sz="1900" dirty="0" smtClean="0">
                <a:solidFill>
                  <a:schemeClr val="tx1"/>
                </a:solidFill>
              </a:rPr>
              <a:t>In simple language, Data structures are structures programmed to store ordered data, so that various operations can be performed easily.</a:t>
            </a:r>
            <a:endParaRPr lang="en-US" sz="1900" dirty="0" smtClean="0">
              <a:solidFill>
                <a:schemeClr val="tx1"/>
              </a:solidFill>
            </a:endParaRPr>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33400" y="76200"/>
            <a:ext cx="8229600" cy="685800"/>
          </a:xfrm>
        </p:spPr>
        <p:txBody>
          <a:bodyPr anchor="ctr"/>
          <a:lstStyle/>
          <a:p>
            <a:r>
              <a:rPr lang="en-US" sz="3000" dirty="0" smtClean="0"/>
              <a:t>Introduction of </a:t>
            </a:r>
            <a:r>
              <a:rPr lang="en-US" sz="3000" dirty="0"/>
              <a:t>D</a:t>
            </a:r>
            <a:r>
              <a:rPr lang="en-US" sz="3000" dirty="0" smtClean="0"/>
              <a:t>ata Structure</a:t>
            </a:r>
            <a:endParaRPr lang="en-US" sz="3000" dirty="0"/>
          </a:p>
        </p:txBody>
      </p:sp>
      <p:sp>
        <p:nvSpPr>
          <p:cNvPr id="5" name="Content Placeholder 4"/>
          <p:cNvSpPr>
            <a:spLocks noGrp="1"/>
          </p:cNvSpPr>
          <p:nvPr>
            <p:ph idx="1"/>
          </p:nvPr>
        </p:nvSpPr>
        <p:spPr>
          <a:xfrm>
            <a:off x="381000" y="1036637"/>
            <a:ext cx="8305800" cy="5135563"/>
          </a:xfrm>
        </p:spPr>
        <p:txBody>
          <a:bodyPr>
            <a:normAutofit/>
          </a:bodyPr>
          <a:lstStyle/>
          <a:p>
            <a:pPr algn="just">
              <a:lnSpc>
                <a:spcPct val="150000"/>
              </a:lnSpc>
              <a:buFont typeface="Wingdings" panose="05000000000000000000" pitchFamily="2" charset="2"/>
              <a:buChar char="q"/>
            </a:pPr>
            <a:r>
              <a:rPr lang="en-US" sz="1900" dirty="0" smtClean="0">
                <a:solidFill>
                  <a:schemeClr val="tx1"/>
                </a:solidFill>
              </a:rPr>
              <a:t>Anything that can store data can be called as a data structure, hence Integer, Float, Boolean, Char etc… are also called data structures.</a:t>
            </a:r>
            <a:r>
              <a:rPr lang="en-US" sz="1900" dirty="0">
                <a:solidFill>
                  <a:schemeClr val="tx1"/>
                </a:solidFill>
              </a:rPr>
              <a:t> </a:t>
            </a:r>
            <a:r>
              <a:rPr lang="en-US" sz="1900" dirty="0" smtClean="0">
                <a:solidFill>
                  <a:schemeClr val="tx1"/>
                </a:solidFill>
              </a:rPr>
              <a:t>They are also known as </a:t>
            </a:r>
            <a:r>
              <a:rPr lang="en-US" sz="1900" b="1" u="sng" dirty="0" smtClean="0">
                <a:solidFill>
                  <a:schemeClr val="tx1"/>
                </a:solidFill>
              </a:rPr>
              <a:t>Primitive Data Structures/ In-Built Data Structures</a:t>
            </a:r>
            <a:r>
              <a:rPr lang="en-US" sz="1900" dirty="0" smtClean="0">
                <a:solidFill>
                  <a:schemeClr val="tx1"/>
                </a:solidFill>
              </a:rPr>
              <a:t>.</a:t>
            </a:r>
            <a:endParaRPr lang="en-US" sz="1900" dirty="0" smtClean="0">
              <a:solidFill>
                <a:schemeClr val="tx1"/>
              </a:solidFill>
            </a:endParaRPr>
          </a:p>
          <a:p>
            <a:pPr algn="just">
              <a:lnSpc>
                <a:spcPct val="150000"/>
              </a:lnSpc>
              <a:buFont typeface="Wingdings" panose="05000000000000000000" pitchFamily="2" charset="2"/>
              <a:buChar char="q"/>
            </a:pPr>
            <a:endParaRPr lang="en-US" sz="1900" dirty="0">
              <a:solidFill>
                <a:schemeClr val="tx1"/>
              </a:solidFill>
            </a:endParaRPr>
          </a:p>
          <a:p>
            <a:pPr algn="just">
              <a:lnSpc>
                <a:spcPct val="150000"/>
              </a:lnSpc>
              <a:buFont typeface="Wingdings" panose="05000000000000000000" pitchFamily="2" charset="2"/>
              <a:buChar char="q"/>
            </a:pPr>
            <a:r>
              <a:rPr lang="en-US" sz="1900" dirty="0" smtClean="0">
                <a:solidFill>
                  <a:schemeClr val="tx1"/>
                </a:solidFill>
              </a:rPr>
              <a:t>Complex type of data structures are also available, which are used to store large and connected data. They are also known as </a:t>
            </a:r>
            <a:r>
              <a:rPr lang="en-US" sz="1900" b="1" u="sng" dirty="0" smtClean="0">
                <a:solidFill>
                  <a:schemeClr val="tx1"/>
                </a:solidFill>
              </a:rPr>
              <a:t>Non-Primitive Data Structures/ Derived Data Structures/ Abstract Data Structures</a:t>
            </a:r>
            <a:r>
              <a:rPr lang="en-US" sz="1900" u="sng" dirty="0" smtClean="0">
                <a:solidFill>
                  <a:schemeClr val="tx1"/>
                </a:solidFill>
              </a:rPr>
              <a:t>. </a:t>
            </a:r>
            <a:r>
              <a:rPr lang="en-US" sz="1900" dirty="0" smtClean="0">
                <a:solidFill>
                  <a:schemeClr val="tx1"/>
                </a:solidFill>
              </a:rPr>
              <a:t>For example, Array, Stack, Queue, Linked list, Tree, Graph etc….</a:t>
            </a:r>
            <a:endParaRPr lang="en-US" sz="1900" dirty="0" smtClean="0">
              <a:solidFill>
                <a:schemeClr val="tx1"/>
              </a:solidFill>
            </a:endParaRPr>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33400" y="76200"/>
            <a:ext cx="8229600" cy="685800"/>
          </a:xfrm>
        </p:spPr>
        <p:txBody>
          <a:bodyPr anchor="ctr"/>
          <a:lstStyle/>
          <a:p>
            <a:r>
              <a:rPr lang="en-US" sz="3000" dirty="0" smtClean="0"/>
              <a:t>Introduction of </a:t>
            </a:r>
            <a:r>
              <a:rPr lang="en-US" sz="3000" dirty="0"/>
              <a:t>D</a:t>
            </a:r>
            <a:r>
              <a:rPr lang="en-US" sz="3000" dirty="0" smtClean="0"/>
              <a:t>ata Structure</a:t>
            </a:r>
            <a:endParaRPr lang="en-US" sz="30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sp>
        <p:nvSpPr>
          <p:cNvPr id="2" name="TextBox 1"/>
          <p:cNvSpPr txBox="1"/>
          <p:nvPr/>
        </p:nvSpPr>
        <p:spPr>
          <a:xfrm>
            <a:off x="304800" y="5791200"/>
            <a:ext cx="6172200" cy="381000"/>
          </a:xfrm>
          <a:prstGeom prst="rect">
            <a:avLst/>
          </a:prstGeom>
          <a:noFill/>
        </p:spPr>
        <p:txBody>
          <a:bodyPr wrap="square" rtlCol="0">
            <a:spAutoFit/>
          </a:bodyPr>
          <a:lstStyle/>
          <a:p>
            <a:r>
              <a:rPr lang="en-US" dirty="0" smtClean="0"/>
              <a:t>Figure : Classification of Data Structures</a:t>
            </a:r>
            <a:endParaRPr lang="en-US" dirty="0"/>
          </a:p>
        </p:txBody>
      </p:sp>
      <p:pic>
        <p:nvPicPr>
          <p:cNvPr id="3" name="Picture 2"/>
          <p:cNvPicPr>
            <a:picLocks noChangeAspect="1" noChangeArrowheads="1"/>
          </p:cNvPicPr>
          <p:nvPr/>
        </p:nvPicPr>
        <p:blipFill>
          <a:blip r:embed="rId1"/>
          <a:srcRect/>
          <a:stretch>
            <a:fillRect/>
          </a:stretch>
        </p:blipFill>
        <p:spPr bwMode="auto">
          <a:xfrm>
            <a:off x="571472" y="928670"/>
            <a:ext cx="8144950" cy="4572032"/>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33400" y="76200"/>
            <a:ext cx="8229600" cy="685800"/>
          </a:xfrm>
        </p:spPr>
        <p:txBody>
          <a:bodyPr anchor="ctr"/>
          <a:lstStyle/>
          <a:p>
            <a:r>
              <a:rPr lang="en-US" sz="3000" dirty="0" smtClean="0"/>
              <a:t>Introduction of </a:t>
            </a:r>
            <a:r>
              <a:rPr lang="en-US" sz="3000" dirty="0"/>
              <a:t>D</a:t>
            </a:r>
            <a:r>
              <a:rPr lang="en-US" sz="3000" dirty="0" smtClean="0"/>
              <a:t>ata Structure</a:t>
            </a:r>
            <a:endParaRPr lang="en-US" sz="3000" dirty="0"/>
          </a:p>
        </p:txBody>
      </p:sp>
      <p:sp>
        <p:nvSpPr>
          <p:cNvPr id="5" name="Content Placeholder 4"/>
          <p:cNvSpPr>
            <a:spLocks noGrp="1"/>
          </p:cNvSpPr>
          <p:nvPr>
            <p:ph idx="1"/>
          </p:nvPr>
        </p:nvSpPr>
        <p:spPr>
          <a:xfrm>
            <a:off x="381000" y="1036637"/>
            <a:ext cx="8305800" cy="5135563"/>
          </a:xfrm>
        </p:spPr>
        <p:txBody>
          <a:bodyPr>
            <a:normAutofit/>
          </a:bodyPr>
          <a:lstStyle/>
          <a:p>
            <a:pPr algn="just">
              <a:lnSpc>
                <a:spcPct val="150000"/>
              </a:lnSpc>
              <a:buFont typeface="Wingdings" panose="05000000000000000000" pitchFamily="2" charset="2"/>
              <a:buChar char="q"/>
            </a:pPr>
            <a:r>
              <a:rPr lang="en-US" sz="1900" dirty="0" smtClean="0">
                <a:solidFill>
                  <a:schemeClr val="tx1"/>
                </a:solidFill>
              </a:rPr>
              <a:t>The data structures can also be classified on the basis of the following characteristics:</a:t>
            </a:r>
            <a:endParaRPr lang="en-US" sz="1900" dirty="0" smtClean="0">
              <a:solidFill>
                <a:schemeClr val="tx1"/>
              </a:solidFill>
            </a:endParaRPr>
          </a:p>
          <a:p>
            <a:pPr algn="just">
              <a:lnSpc>
                <a:spcPct val="150000"/>
              </a:lnSpc>
              <a:buFont typeface="Wingdings" panose="05000000000000000000" pitchFamily="2" charset="2"/>
              <a:buChar char="q"/>
            </a:pPr>
            <a:endParaRPr lang="en-US" sz="1900" dirty="0" smtClean="0">
              <a:solidFill>
                <a:schemeClr val="tx1"/>
              </a:solidFill>
            </a:endParaRPr>
          </a:p>
          <a:p>
            <a:pPr algn="just">
              <a:lnSpc>
                <a:spcPct val="150000"/>
              </a:lnSpc>
              <a:buFont typeface="Wingdings" panose="05000000000000000000" pitchFamily="2" charset="2"/>
              <a:buChar char="v"/>
            </a:pPr>
            <a:r>
              <a:rPr lang="en-US" sz="2000" b="1" dirty="0" smtClean="0">
                <a:solidFill>
                  <a:schemeClr val="tx1"/>
                </a:solidFill>
              </a:rPr>
              <a:t>Linear Data Structures:</a:t>
            </a:r>
            <a:r>
              <a:rPr lang="en-US" sz="2000" dirty="0" smtClean="0">
                <a:solidFill>
                  <a:schemeClr val="tx1"/>
                </a:solidFill>
              </a:rPr>
              <a:t> A data structure is called linear if all of its elements are arranged in the linear order. In linear data structures, the elements are stored in non-hierarchical way where each element has the successors and predecessors except the first and last element</a:t>
            </a:r>
            <a:endParaRPr lang="en-US" sz="1900" dirty="0" smtClean="0">
              <a:solidFill>
                <a:schemeClr val="tx1"/>
              </a:solidFill>
            </a:endParaRPr>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33400" y="76200"/>
            <a:ext cx="8229600" cy="685800"/>
          </a:xfrm>
        </p:spPr>
        <p:txBody>
          <a:bodyPr anchor="ctr"/>
          <a:lstStyle/>
          <a:p>
            <a:r>
              <a:rPr lang="en-US" sz="3000" dirty="0" smtClean="0"/>
              <a:t>Introduction of </a:t>
            </a:r>
            <a:r>
              <a:rPr lang="en-US" sz="3000" dirty="0"/>
              <a:t>D</a:t>
            </a:r>
            <a:r>
              <a:rPr lang="en-US" sz="3000" dirty="0" smtClean="0"/>
              <a:t>ata Structure</a:t>
            </a:r>
            <a:endParaRPr lang="en-US" sz="3000" dirty="0"/>
          </a:p>
        </p:txBody>
      </p:sp>
      <p:sp>
        <p:nvSpPr>
          <p:cNvPr id="5" name="Content Placeholder 4"/>
          <p:cNvSpPr>
            <a:spLocks noGrp="1"/>
          </p:cNvSpPr>
          <p:nvPr>
            <p:ph idx="1"/>
          </p:nvPr>
        </p:nvSpPr>
        <p:spPr>
          <a:xfrm>
            <a:off x="381000" y="1036637"/>
            <a:ext cx="8305800" cy="5135563"/>
          </a:xfrm>
        </p:spPr>
        <p:txBody>
          <a:bodyPr>
            <a:normAutofit/>
          </a:bodyPr>
          <a:lstStyle/>
          <a:p>
            <a:pPr algn="just">
              <a:buNone/>
            </a:pPr>
            <a:r>
              <a:rPr lang="en-US" sz="2000" dirty="0" smtClean="0">
                <a:solidFill>
                  <a:schemeClr val="tx1"/>
                </a:solidFill>
              </a:rPr>
              <a:t>Types of Linear Data Structures are given below:</a:t>
            </a:r>
            <a:endParaRPr lang="en-US" sz="2000" dirty="0" smtClean="0">
              <a:solidFill>
                <a:schemeClr val="tx1"/>
              </a:solidFill>
            </a:endParaRPr>
          </a:p>
          <a:p>
            <a:pPr algn="just"/>
            <a:r>
              <a:rPr lang="en-US" sz="2000" b="1" dirty="0" smtClean="0">
                <a:solidFill>
                  <a:schemeClr val="tx1"/>
                </a:solidFill>
              </a:rPr>
              <a:t>Arrays:</a:t>
            </a:r>
            <a:r>
              <a:rPr lang="en-US" sz="2000" dirty="0" smtClean="0">
                <a:solidFill>
                  <a:schemeClr val="tx1"/>
                </a:solidFill>
              </a:rPr>
              <a:t> An array is a collection of similar type of data items and each data item is called an element of the array. The data type of the element may be any valid data type like char, </a:t>
            </a:r>
            <a:r>
              <a:rPr lang="en-US" sz="2000" dirty="0" err="1" smtClean="0">
                <a:solidFill>
                  <a:schemeClr val="tx1"/>
                </a:solidFill>
              </a:rPr>
              <a:t>int</a:t>
            </a:r>
            <a:r>
              <a:rPr lang="en-US" sz="2000" dirty="0" smtClean="0">
                <a:solidFill>
                  <a:schemeClr val="tx1"/>
                </a:solidFill>
              </a:rPr>
              <a:t>, float or double.</a:t>
            </a:r>
            <a:endParaRPr lang="en-US" sz="2000" dirty="0" smtClean="0">
              <a:solidFill>
                <a:schemeClr val="tx1"/>
              </a:solidFill>
            </a:endParaRPr>
          </a:p>
          <a:p>
            <a:pPr algn="just"/>
            <a:endParaRPr lang="en-US" sz="2000" dirty="0" smtClean="0">
              <a:solidFill>
                <a:schemeClr val="tx1"/>
              </a:solidFill>
            </a:endParaRPr>
          </a:p>
          <a:p>
            <a:pPr algn="just"/>
            <a:r>
              <a:rPr lang="en-US" sz="2000" b="1" dirty="0" smtClean="0">
                <a:solidFill>
                  <a:schemeClr val="tx1"/>
                </a:solidFill>
              </a:rPr>
              <a:t>Linked List:</a:t>
            </a:r>
            <a:r>
              <a:rPr lang="en-US" sz="2000" dirty="0" smtClean="0">
                <a:solidFill>
                  <a:schemeClr val="tx1"/>
                </a:solidFill>
              </a:rPr>
              <a:t> Linked list is a linear data structure which is used to maintain a list in the memory. It can be seen as the collection of nodes stored at non-contiguous memory locations. Each node of the list contains a pointer to its adjacent node.</a:t>
            </a:r>
            <a:endParaRPr lang="en-US" sz="2000" dirty="0" smtClean="0">
              <a:solidFill>
                <a:schemeClr val="tx1"/>
              </a:solidFill>
            </a:endParaRPr>
          </a:p>
          <a:p>
            <a:pPr algn="just"/>
            <a:endParaRPr lang="en-US" sz="2000" dirty="0" smtClean="0">
              <a:solidFill>
                <a:schemeClr val="tx1"/>
              </a:solidFill>
            </a:endParaRPr>
          </a:p>
          <a:p>
            <a:pPr algn="just"/>
            <a:endParaRPr lang="en-US" sz="2000" dirty="0">
              <a:solidFill>
                <a:schemeClr val="tx1"/>
              </a:solidFill>
            </a:endParaRPr>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33400" y="76200"/>
            <a:ext cx="8229600" cy="685800"/>
          </a:xfrm>
        </p:spPr>
        <p:txBody>
          <a:bodyPr anchor="ctr"/>
          <a:lstStyle/>
          <a:p>
            <a:r>
              <a:rPr lang="en-US" sz="3000" dirty="0" smtClean="0"/>
              <a:t>Introduction of </a:t>
            </a:r>
            <a:r>
              <a:rPr lang="en-US" sz="3000" dirty="0"/>
              <a:t>D</a:t>
            </a:r>
            <a:r>
              <a:rPr lang="en-US" sz="3000" dirty="0" smtClean="0"/>
              <a:t>ata Structure</a:t>
            </a:r>
            <a:endParaRPr lang="en-US" sz="3000" dirty="0"/>
          </a:p>
        </p:txBody>
      </p:sp>
      <p:sp>
        <p:nvSpPr>
          <p:cNvPr id="5" name="Content Placeholder 4"/>
          <p:cNvSpPr>
            <a:spLocks noGrp="1"/>
          </p:cNvSpPr>
          <p:nvPr>
            <p:ph idx="1"/>
          </p:nvPr>
        </p:nvSpPr>
        <p:spPr>
          <a:xfrm>
            <a:off x="381000" y="1036637"/>
            <a:ext cx="8305800" cy="5135563"/>
          </a:xfrm>
        </p:spPr>
        <p:txBody>
          <a:bodyPr>
            <a:normAutofit/>
          </a:bodyPr>
          <a:lstStyle/>
          <a:p>
            <a:r>
              <a:rPr lang="en-US" sz="2000" b="1" dirty="0" smtClean="0">
                <a:solidFill>
                  <a:schemeClr val="tx1"/>
                </a:solidFill>
              </a:rPr>
              <a:t>Stack:</a:t>
            </a:r>
            <a:r>
              <a:rPr lang="en-US" sz="2000" dirty="0" smtClean="0">
                <a:solidFill>
                  <a:schemeClr val="tx1"/>
                </a:solidFill>
              </a:rPr>
              <a:t> Stack is a linear list in which insertion and deletions are allowed only at one end, called </a:t>
            </a:r>
            <a:r>
              <a:rPr lang="en-US" sz="2000" b="1" dirty="0" smtClean="0">
                <a:solidFill>
                  <a:schemeClr val="tx1"/>
                </a:solidFill>
              </a:rPr>
              <a:t>top</a:t>
            </a:r>
            <a:r>
              <a:rPr lang="en-US" sz="2000" dirty="0" smtClean="0">
                <a:solidFill>
                  <a:schemeClr val="tx1"/>
                </a:solidFill>
              </a:rPr>
              <a:t>. A stack is an abstract data type (ADT), can be implemented in most of the programming languages. It is named as stack because it behaves like a real-world stack, for example: - piles of plates or deck of cards etc.</a:t>
            </a:r>
            <a:endParaRPr lang="en-US" sz="2000" dirty="0" smtClean="0">
              <a:solidFill>
                <a:schemeClr val="tx1"/>
              </a:solidFill>
            </a:endParaRPr>
          </a:p>
          <a:p>
            <a:endParaRPr lang="en-US" sz="2000" b="1" dirty="0" smtClean="0">
              <a:solidFill>
                <a:schemeClr val="tx1"/>
              </a:solidFill>
            </a:endParaRPr>
          </a:p>
          <a:p>
            <a:pPr>
              <a:buNone/>
            </a:pPr>
            <a:endParaRPr lang="en-US" sz="2000" b="1" dirty="0" smtClean="0">
              <a:solidFill>
                <a:schemeClr val="tx1"/>
              </a:solidFill>
            </a:endParaRPr>
          </a:p>
          <a:p>
            <a:r>
              <a:rPr lang="en-US" sz="2000" b="1" dirty="0" smtClean="0">
                <a:solidFill>
                  <a:schemeClr val="tx1"/>
                </a:solidFill>
              </a:rPr>
              <a:t>Queue:</a:t>
            </a:r>
            <a:r>
              <a:rPr lang="en-US" sz="2000" dirty="0" smtClean="0">
                <a:solidFill>
                  <a:schemeClr val="tx1"/>
                </a:solidFill>
              </a:rPr>
              <a:t> Queue is a linear list in which elements can be inserted only at one end called </a:t>
            </a:r>
            <a:r>
              <a:rPr lang="en-US" sz="2000" b="1" dirty="0" smtClean="0">
                <a:solidFill>
                  <a:schemeClr val="tx1"/>
                </a:solidFill>
              </a:rPr>
              <a:t>rear</a:t>
            </a:r>
            <a:r>
              <a:rPr lang="en-US" sz="2000" dirty="0" smtClean="0">
                <a:solidFill>
                  <a:schemeClr val="tx1"/>
                </a:solidFill>
              </a:rPr>
              <a:t> and deleted only at the other end called </a:t>
            </a:r>
            <a:r>
              <a:rPr lang="en-US" sz="2000" b="1" dirty="0" smtClean="0">
                <a:solidFill>
                  <a:schemeClr val="tx1"/>
                </a:solidFill>
              </a:rPr>
              <a:t>front</a:t>
            </a:r>
            <a:r>
              <a:rPr lang="en-US" sz="2000" dirty="0" smtClean="0">
                <a:solidFill>
                  <a:schemeClr val="tx1"/>
                </a:solidFill>
              </a:rPr>
              <a:t>. It is an abstract data structure, similar to stack. Queue is opened at both end therefore it follows First-In-First-Out (FIFO) methodology for storing the data items.</a:t>
            </a:r>
            <a:endParaRPr lang="en-US" sz="2000" dirty="0" smtClean="0">
              <a:solidFill>
                <a:schemeClr val="tx1"/>
              </a:solidFill>
            </a:endParaRPr>
          </a:p>
          <a:p>
            <a:pPr algn="just"/>
            <a:endParaRPr lang="en-US" sz="2000" dirty="0">
              <a:solidFill>
                <a:schemeClr val="tx1"/>
              </a:solidFill>
            </a:endParaRPr>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33400" y="76200"/>
            <a:ext cx="8229600" cy="685800"/>
          </a:xfrm>
        </p:spPr>
        <p:txBody>
          <a:bodyPr anchor="ctr"/>
          <a:lstStyle/>
          <a:p>
            <a:r>
              <a:rPr lang="en-US" sz="3000" dirty="0" smtClean="0"/>
              <a:t>Introduction of </a:t>
            </a:r>
            <a:r>
              <a:rPr lang="en-US" sz="3000" dirty="0"/>
              <a:t>D</a:t>
            </a:r>
            <a:r>
              <a:rPr lang="en-US" sz="3000" dirty="0" smtClean="0"/>
              <a:t>ata Structure</a:t>
            </a:r>
            <a:endParaRPr lang="en-US" sz="3000" dirty="0"/>
          </a:p>
        </p:txBody>
      </p:sp>
      <p:sp>
        <p:nvSpPr>
          <p:cNvPr id="5" name="Content Placeholder 4"/>
          <p:cNvSpPr>
            <a:spLocks noGrp="1"/>
          </p:cNvSpPr>
          <p:nvPr>
            <p:ph idx="1"/>
          </p:nvPr>
        </p:nvSpPr>
        <p:spPr>
          <a:xfrm>
            <a:off x="381000" y="1036637"/>
            <a:ext cx="8305800" cy="5135563"/>
          </a:xfrm>
        </p:spPr>
        <p:txBody>
          <a:bodyPr>
            <a:normAutofit/>
          </a:bodyPr>
          <a:lstStyle/>
          <a:p>
            <a:pPr algn="just">
              <a:lnSpc>
                <a:spcPct val="150000"/>
              </a:lnSpc>
              <a:buFont typeface="Wingdings" panose="05000000000000000000" pitchFamily="2" charset="2"/>
              <a:buChar char="v"/>
            </a:pPr>
            <a:r>
              <a:rPr lang="en-US" sz="2000" b="1" dirty="0" smtClean="0">
                <a:solidFill>
                  <a:schemeClr val="tx1"/>
                </a:solidFill>
              </a:rPr>
              <a:t>Non Linear Data Structures:</a:t>
            </a:r>
            <a:r>
              <a:rPr lang="en-US" sz="2000" dirty="0" smtClean="0">
                <a:solidFill>
                  <a:schemeClr val="tx1"/>
                </a:solidFill>
              </a:rPr>
              <a:t> This data structure does not form a sequence i.e. each item or element is connected with two or more other items in a non-linear arrangement. The data elements are not arranged in sequential structure.</a:t>
            </a:r>
            <a:endParaRPr lang="en-US" sz="2000" dirty="0" smtClean="0">
              <a:solidFill>
                <a:schemeClr val="tx1"/>
              </a:solidFill>
            </a:endParaRPr>
          </a:p>
          <a:p>
            <a:pPr algn="just">
              <a:lnSpc>
                <a:spcPct val="150000"/>
              </a:lnSpc>
              <a:buFont typeface="Wingdings" panose="05000000000000000000" pitchFamily="2" charset="2"/>
              <a:buChar char="q"/>
            </a:pPr>
            <a:endParaRPr lang="en-US" sz="2000" dirty="0" smtClean="0">
              <a:solidFill>
                <a:schemeClr val="tx1"/>
              </a:solidFill>
            </a:endParaRPr>
          </a:p>
          <a:p>
            <a:pPr algn="just">
              <a:buNone/>
            </a:pPr>
            <a:r>
              <a:rPr lang="en-US" sz="2000" dirty="0" smtClean="0">
                <a:solidFill>
                  <a:schemeClr val="tx1"/>
                </a:solidFill>
              </a:rPr>
              <a:t>Types of Non Linear Data Structures are given below:</a:t>
            </a:r>
            <a:endParaRPr lang="en-US" sz="2000" dirty="0" smtClean="0">
              <a:solidFill>
                <a:schemeClr val="tx1"/>
              </a:solidFill>
            </a:endParaRPr>
          </a:p>
          <a:p>
            <a:pPr algn="just"/>
            <a:r>
              <a:rPr lang="en-US" sz="2000" b="1" dirty="0" smtClean="0">
                <a:solidFill>
                  <a:schemeClr val="tx1"/>
                </a:solidFill>
              </a:rPr>
              <a:t>Trees:</a:t>
            </a:r>
            <a:r>
              <a:rPr lang="en-US" sz="2000" dirty="0" smtClean="0">
                <a:solidFill>
                  <a:schemeClr val="tx1"/>
                </a:solidFill>
              </a:rPr>
              <a:t> Trees are multilevel data structures with a hierarchical relationship among its elements known as nodes. The bottommost nodes in the hierarchy are called </a:t>
            </a:r>
            <a:r>
              <a:rPr lang="en-US" sz="2000" b="1" dirty="0" smtClean="0">
                <a:solidFill>
                  <a:schemeClr val="tx1"/>
                </a:solidFill>
              </a:rPr>
              <a:t>leaf node</a:t>
            </a:r>
            <a:r>
              <a:rPr lang="en-US" sz="2000" dirty="0" smtClean="0">
                <a:solidFill>
                  <a:schemeClr val="tx1"/>
                </a:solidFill>
              </a:rPr>
              <a:t> while the topmost node is called </a:t>
            </a:r>
            <a:r>
              <a:rPr lang="en-US" sz="2000" b="1" dirty="0" smtClean="0">
                <a:solidFill>
                  <a:schemeClr val="tx1"/>
                </a:solidFill>
              </a:rPr>
              <a:t>root node</a:t>
            </a:r>
            <a:r>
              <a:rPr lang="en-US" sz="2000" dirty="0" smtClean="0">
                <a:solidFill>
                  <a:schemeClr val="tx1"/>
                </a:solidFill>
              </a:rPr>
              <a:t>. Each node contains pointers to point adjacent nodes.</a:t>
            </a:r>
            <a:endParaRPr lang="en-US" sz="2000" dirty="0" smtClean="0">
              <a:solidFill>
                <a:schemeClr val="tx1"/>
              </a:solidFill>
            </a:endParaRPr>
          </a:p>
          <a:p>
            <a:pPr algn="just">
              <a:lnSpc>
                <a:spcPct val="150000"/>
              </a:lnSpc>
              <a:buNone/>
            </a:pPr>
            <a:endParaRPr lang="en-US" sz="2000" dirty="0" smtClean="0">
              <a:solidFill>
                <a:schemeClr val="tx1"/>
              </a:solidFill>
            </a:endParaRPr>
          </a:p>
          <a:p>
            <a:pPr algn="just">
              <a:lnSpc>
                <a:spcPct val="150000"/>
              </a:lnSpc>
              <a:buFont typeface="Wingdings" panose="05000000000000000000" pitchFamily="2" charset="2"/>
              <a:buChar char="q"/>
            </a:pPr>
            <a:endParaRPr lang="en-US" sz="1900" dirty="0" smtClean="0">
              <a:solidFill>
                <a:schemeClr val="tx1"/>
              </a:solidFill>
            </a:endParaRPr>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33400" y="76200"/>
            <a:ext cx="8229600" cy="685800"/>
          </a:xfrm>
        </p:spPr>
        <p:txBody>
          <a:bodyPr anchor="ctr"/>
          <a:lstStyle/>
          <a:p>
            <a:r>
              <a:rPr lang="en-US" sz="3000" dirty="0" smtClean="0"/>
              <a:t>Introduction of </a:t>
            </a:r>
            <a:r>
              <a:rPr lang="en-US" sz="3000" dirty="0"/>
              <a:t>D</a:t>
            </a:r>
            <a:r>
              <a:rPr lang="en-US" sz="3000" dirty="0" smtClean="0"/>
              <a:t>ata Structure</a:t>
            </a:r>
            <a:endParaRPr lang="en-US" sz="3000" dirty="0"/>
          </a:p>
        </p:txBody>
      </p:sp>
      <p:sp>
        <p:nvSpPr>
          <p:cNvPr id="5" name="Content Placeholder 4"/>
          <p:cNvSpPr>
            <a:spLocks noGrp="1"/>
          </p:cNvSpPr>
          <p:nvPr>
            <p:ph idx="1"/>
          </p:nvPr>
        </p:nvSpPr>
        <p:spPr>
          <a:xfrm>
            <a:off x="381000" y="1036637"/>
            <a:ext cx="8305800" cy="5135563"/>
          </a:xfrm>
        </p:spPr>
        <p:txBody>
          <a:bodyPr>
            <a:normAutofit/>
          </a:bodyPr>
          <a:lstStyle/>
          <a:p>
            <a:pPr algn="just">
              <a:lnSpc>
                <a:spcPct val="150000"/>
              </a:lnSpc>
            </a:pPr>
            <a:r>
              <a:rPr lang="en-US" sz="2000" b="1" dirty="0" smtClean="0">
                <a:solidFill>
                  <a:schemeClr val="tx1"/>
                </a:solidFill>
              </a:rPr>
              <a:t>Graphs:</a:t>
            </a:r>
            <a:r>
              <a:rPr lang="en-US" sz="2000" dirty="0" smtClean="0">
                <a:solidFill>
                  <a:schemeClr val="tx1"/>
                </a:solidFill>
              </a:rPr>
              <a:t> Graphs can be defined as the pictorial representation of the set of elements (represented by vertices) connected by the links known as edges. A graph is different from tree in the sense that a graph can have cycle while the tree can not have the one.</a:t>
            </a:r>
            <a:endParaRPr lang="en-US" sz="2000" dirty="0" smtClean="0">
              <a:solidFill>
                <a:schemeClr val="tx1"/>
              </a:solidFill>
            </a:endParaRPr>
          </a:p>
          <a:p>
            <a:pPr algn="just">
              <a:lnSpc>
                <a:spcPct val="150000"/>
              </a:lnSpc>
              <a:buNone/>
            </a:pPr>
            <a:endParaRPr lang="en-US" sz="1900" dirty="0" smtClean="0">
              <a:solidFill>
                <a:schemeClr val="tx1"/>
              </a:solidFill>
            </a:endParaRPr>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33400" y="76200"/>
            <a:ext cx="8229600" cy="685800"/>
          </a:xfrm>
        </p:spPr>
        <p:txBody>
          <a:bodyPr anchor="ctr"/>
          <a:lstStyle/>
          <a:p>
            <a:r>
              <a:rPr lang="en-US" sz="3000" dirty="0" smtClean="0"/>
              <a:t>Operations on Data Structures</a:t>
            </a:r>
            <a:endParaRPr lang="en-US" sz="3000" dirty="0"/>
          </a:p>
        </p:txBody>
      </p:sp>
      <p:sp>
        <p:nvSpPr>
          <p:cNvPr id="5" name="Content Placeholder 4"/>
          <p:cNvSpPr>
            <a:spLocks noGrp="1"/>
          </p:cNvSpPr>
          <p:nvPr>
            <p:ph idx="1"/>
          </p:nvPr>
        </p:nvSpPr>
        <p:spPr>
          <a:xfrm>
            <a:off x="381000" y="1036637"/>
            <a:ext cx="8305800" cy="5135563"/>
          </a:xfrm>
        </p:spPr>
        <p:txBody>
          <a:bodyPr>
            <a:normAutofit lnSpcReduction="10000"/>
          </a:bodyPr>
          <a:lstStyle/>
          <a:p>
            <a:pPr algn="just">
              <a:lnSpc>
                <a:spcPct val="150000"/>
              </a:lnSpc>
              <a:buNone/>
            </a:pPr>
            <a:r>
              <a:rPr lang="en-US" sz="2000" dirty="0" smtClean="0">
                <a:solidFill>
                  <a:schemeClr val="tx1"/>
                </a:solidFill>
              </a:rPr>
              <a:t>1) </a:t>
            </a:r>
            <a:r>
              <a:rPr lang="en-US" sz="2000" b="1" dirty="0" smtClean="0">
                <a:solidFill>
                  <a:schemeClr val="tx1"/>
                </a:solidFill>
              </a:rPr>
              <a:t>Traversing:</a:t>
            </a:r>
            <a:r>
              <a:rPr lang="en-US" sz="2000" dirty="0" smtClean="0">
                <a:solidFill>
                  <a:schemeClr val="tx1"/>
                </a:solidFill>
              </a:rPr>
              <a:t> Every data structure contains the set of data elements. Traversing the data structure means visiting each element of the data structure in order to perform some specific operation like searching or sorting.</a:t>
            </a:r>
            <a:endParaRPr lang="en-US" sz="2000" dirty="0" smtClean="0">
              <a:solidFill>
                <a:schemeClr val="tx1"/>
              </a:solidFill>
            </a:endParaRPr>
          </a:p>
          <a:p>
            <a:pPr algn="just">
              <a:lnSpc>
                <a:spcPct val="150000"/>
              </a:lnSpc>
              <a:buNone/>
            </a:pPr>
            <a:endParaRPr lang="en-US" sz="2000" dirty="0" smtClean="0">
              <a:solidFill>
                <a:schemeClr val="tx1"/>
              </a:solidFill>
            </a:endParaRPr>
          </a:p>
          <a:p>
            <a:pPr algn="just">
              <a:lnSpc>
                <a:spcPct val="150000"/>
              </a:lnSpc>
              <a:buNone/>
            </a:pPr>
            <a:r>
              <a:rPr lang="en-US" sz="2000" dirty="0" smtClean="0">
                <a:solidFill>
                  <a:schemeClr val="tx1"/>
                </a:solidFill>
              </a:rPr>
              <a:t>2) </a:t>
            </a:r>
            <a:r>
              <a:rPr lang="en-US" sz="2000" b="1" dirty="0" smtClean="0">
                <a:solidFill>
                  <a:schemeClr val="tx1"/>
                </a:solidFill>
              </a:rPr>
              <a:t>Insertion:</a:t>
            </a:r>
            <a:r>
              <a:rPr lang="en-US" sz="2000" dirty="0" smtClean="0">
                <a:solidFill>
                  <a:schemeClr val="tx1"/>
                </a:solidFill>
              </a:rPr>
              <a:t> Insertion can be defined as the process of adding the elements to the data structure at any location.</a:t>
            </a:r>
            <a:endParaRPr lang="en-US" sz="2000" dirty="0" smtClean="0">
              <a:solidFill>
                <a:schemeClr val="tx1"/>
              </a:solidFill>
            </a:endParaRPr>
          </a:p>
          <a:p>
            <a:pPr algn="just">
              <a:lnSpc>
                <a:spcPct val="150000"/>
              </a:lnSpc>
              <a:buNone/>
            </a:pPr>
            <a:endParaRPr lang="en-US" sz="2000" dirty="0" smtClean="0">
              <a:solidFill>
                <a:schemeClr val="tx1"/>
              </a:solidFill>
            </a:endParaRPr>
          </a:p>
          <a:p>
            <a:pPr algn="just">
              <a:lnSpc>
                <a:spcPct val="150000"/>
              </a:lnSpc>
              <a:buNone/>
            </a:pPr>
            <a:r>
              <a:rPr lang="en-US" sz="2000" dirty="0" smtClean="0">
                <a:solidFill>
                  <a:schemeClr val="tx1"/>
                </a:solidFill>
              </a:rPr>
              <a:t>3) </a:t>
            </a:r>
            <a:r>
              <a:rPr lang="en-US" sz="2000" b="1" dirty="0" smtClean="0">
                <a:solidFill>
                  <a:schemeClr val="tx1"/>
                </a:solidFill>
              </a:rPr>
              <a:t>Deletion: </a:t>
            </a:r>
            <a:r>
              <a:rPr lang="en-US" sz="2000" dirty="0" smtClean="0">
                <a:solidFill>
                  <a:schemeClr val="tx1"/>
                </a:solidFill>
              </a:rPr>
              <a:t>The process of removing an element from the data structure is called Deletion. We can delete an element from the data structure at any random location.</a:t>
            </a:r>
            <a:endParaRPr lang="en-US" sz="1900" dirty="0" smtClean="0">
              <a:solidFill>
                <a:schemeClr val="tx1"/>
              </a:solidFill>
            </a:endParaRPr>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33400" y="76200"/>
            <a:ext cx="8229600" cy="685800"/>
          </a:xfrm>
        </p:spPr>
        <p:txBody>
          <a:bodyPr anchor="ctr"/>
          <a:lstStyle/>
          <a:p>
            <a:r>
              <a:rPr lang="en-US" sz="3000" dirty="0" smtClean="0"/>
              <a:t>Operations on Data Structures</a:t>
            </a:r>
            <a:endParaRPr lang="en-US" sz="3000" dirty="0"/>
          </a:p>
        </p:txBody>
      </p:sp>
      <p:sp>
        <p:nvSpPr>
          <p:cNvPr id="5" name="Content Placeholder 4"/>
          <p:cNvSpPr>
            <a:spLocks noGrp="1"/>
          </p:cNvSpPr>
          <p:nvPr>
            <p:ph idx="1"/>
          </p:nvPr>
        </p:nvSpPr>
        <p:spPr>
          <a:xfrm>
            <a:off x="381000" y="1036637"/>
            <a:ext cx="8305800" cy="5135563"/>
          </a:xfrm>
        </p:spPr>
        <p:txBody>
          <a:bodyPr>
            <a:normAutofit/>
          </a:bodyPr>
          <a:lstStyle/>
          <a:p>
            <a:pPr algn="just">
              <a:buNone/>
            </a:pPr>
            <a:r>
              <a:rPr lang="en-US" sz="2000" dirty="0" smtClean="0">
                <a:solidFill>
                  <a:schemeClr val="tx1"/>
                </a:solidFill>
              </a:rPr>
              <a:t>4) </a:t>
            </a:r>
            <a:r>
              <a:rPr lang="en-US" sz="2000" b="1" dirty="0" smtClean="0">
                <a:solidFill>
                  <a:schemeClr val="tx1"/>
                </a:solidFill>
              </a:rPr>
              <a:t>Searching:</a:t>
            </a:r>
            <a:r>
              <a:rPr lang="en-US" sz="2000" dirty="0" smtClean="0">
                <a:solidFill>
                  <a:schemeClr val="tx1"/>
                </a:solidFill>
              </a:rPr>
              <a:t> The process of finding the location of an element within the data structure is called Searching. There are two algorithms to perform searching, Linear Search and Binary Search. </a:t>
            </a:r>
            <a:endParaRPr lang="en-US" sz="2000" dirty="0" smtClean="0">
              <a:solidFill>
                <a:schemeClr val="tx1"/>
              </a:solidFill>
            </a:endParaRPr>
          </a:p>
          <a:p>
            <a:pPr algn="just">
              <a:buNone/>
            </a:pPr>
            <a:endParaRPr lang="en-US" sz="2000" dirty="0" smtClean="0">
              <a:solidFill>
                <a:schemeClr val="tx1"/>
              </a:solidFill>
            </a:endParaRPr>
          </a:p>
          <a:p>
            <a:pPr algn="just">
              <a:buNone/>
            </a:pPr>
            <a:r>
              <a:rPr lang="en-US" sz="2000" dirty="0" smtClean="0">
                <a:solidFill>
                  <a:schemeClr val="tx1"/>
                </a:solidFill>
              </a:rPr>
              <a:t>5) </a:t>
            </a:r>
            <a:r>
              <a:rPr lang="en-US" sz="2000" b="1" dirty="0" smtClean="0">
                <a:solidFill>
                  <a:schemeClr val="tx1"/>
                </a:solidFill>
              </a:rPr>
              <a:t>Sorting:</a:t>
            </a:r>
            <a:r>
              <a:rPr lang="en-US" sz="2000" dirty="0" smtClean="0">
                <a:solidFill>
                  <a:schemeClr val="tx1"/>
                </a:solidFill>
              </a:rPr>
              <a:t> The process of arranging the data structure in a specific order is known as Sorting. There are many algorithms that can be used to perform sorting, for example, insertion sort, selection sort, bubble sort, etc.</a:t>
            </a:r>
            <a:endParaRPr lang="en-US" sz="2000" dirty="0" smtClean="0">
              <a:solidFill>
                <a:schemeClr val="tx1"/>
              </a:solidFill>
            </a:endParaRPr>
          </a:p>
          <a:p>
            <a:pPr algn="just">
              <a:buNone/>
            </a:pPr>
            <a:endParaRPr lang="en-US" sz="2000" dirty="0" smtClean="0">
              <a:solidFill>
                <a:schemeClr val="tx1"/>
              </a:solidFill>
            </a:endParaRPr>
          </a:p>
          <a:p>
            <a:pPr algn="just">
              <a:buNone/>
            </a:pPr>
            <a:r>
              <a:rPr lang="en-US" sz="2000" dirty="0" smtClean="0">
                <a:solidFill>
                  <a:schemeClr val="tx1"/>
                </a:solidFill>
              </a:rPr>
              <a:t>6) </a:t>
            </a:r>
            <a:r>
              <a:rPr lang="en-US" sz="2000" b="1" dirty="0" smtClean="0">
                <a:solidFill>
                  <a:schemeClr val="tx1"/>
                </a:solidFill>
              </a:rPr>
              <a:t>Merging:</a:t>
            </a:r>
            <a:r>
              <a:rPr lang="en-US" sz="2000" dirty="0" smtClean="0">
                <a:solidFill>
                  <a:schemeClr val="tx1"/>
                </a:solidFill>
              </a:rPr>
              <a:t> When two lists List A and List B of size M and N respectively, of similar type of elements, clubbed or joined to produce the third list, List C of size (M+N), then this process is called merging</a:t>
            </a:r>
            <a:endParaRPr lang="en-US" sz="2000" dirty="0" smtClean="0">
              <a:solidFill>
                <a:schemeClr val="tx1"/>
              </a:solidFill>
            </a:endParaRPr>
          </a:p>
          <a:p>
            <a:pPr algn="just">
              <a:lnSpc>
                <a:spcPct val="150000"/>
              </a:lnSpc>
              <a:buNone/>
            </a:pPr>
            <a:endParaRPr lang="en-US" sz="1900" dirty="0" smtClean="0">
              <a:solidFill>
                <a:schemeClr val="tx1"/>
              </a:solidFill>
            </a:endParaRPr>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33400" y="76200"/>
            <a:ext cx="8229600" cy="685800"/>
          </a:xfrm>
        </p:spPr>
        <p:txBody>
          <a:bodyPr anchor="ctr"/>
          <a:lstStyle/>
          <a:p>
            <a:r>
              <a:rPr lang="en-US" sz="3000" dirty="0" smtClean="0"/>
              <a:t>Data Representation</a:t>
            </a:r>
            <a:endParaRPr lang="en-US" sz="30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pic>
        <p:nvPicPr>
          <p:cNvPr id="1026" name="Picture 2"/>
          <p:cNvPicPr>
            <a:picLocks noGrp="1" noChangeAspect="1" noChangeArrowheads="1"/>
          </p:cNvPicPr>
          <p:nvPr>
            <p:ph idx="1"/>
          </p:nvPr>
        </p:nvPicPr>
        <p:blipFill>
          <a:blip r:embed="rId1"/>
          <a:srcRect/>
          <a:stretch>
            <a:fillRect/>
          </a:stretch>
        </p:blipFill>
        <p:spPr bwMode="auto">
          <a:xfrm>
            <a:off x="2571736" y="785794"/>
            <a:ext cx="3929090" cy="5612986"/>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33400" y="76200"/>
            <a:ext cx="8229600" cy="685800"/>
          </a:xfrm>
        </p:spPr>
        <p:txBody>
          <a:bodyPr anchor="ctr"/>
          <a:lstStyle/>
          <a:p>
            <a:r>
              <a:rPr lang="en-US" sz="3000" dirty="0" smtClean="0"/>
              <a:t>Data Representation</a:t>
            </a:r>
            <a:endParaRPr lang="en-US" sz="30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sp>
        <p:nvSpPr>
          <p:cNvPr id="5" name="Content Placeholder 4"/>
          <p:cNvSpPr>
            <a:spLocks noGrp="1"/>
          </p:cNvSpPr>
          <p:nvPr>
            <p:ph idx="1"/>
          </p:nvPr>
        </p:nvSpPr>
        <p:spPr/>
        <p:txBody>
          <a:bodyPr/>
          <a:lstStyle/>
          <a:p>
            <a:r>
              <a:rPr lang="en-IN" dirty="0" smtClean="0">
                <a:solidFill>
                  <a:schemeClr val="tx1"/>
                </a:solidFill>
              </a:rPr>
              <a:t>Various methods are used to represent data in computers.</a:t>
            </a:r>
            <a:endParaRPr lang="en-IN" dirty="0" smtClean="0">
              <a:solidFill>
                <a:schemeClr val="tx1"/>
              </a:solidFill>
            </a:endParaRPr>
          </a:p>
          <a:p>
            <a:r>
              <a:rPr lang="en-IN" dirty="0" smtClean="0">
                <a:solidFill>
                  <a:schemeClr val="tx1"/>
                </a:solidFill>
              </a:rPr>
              <a:t>Hierarchical layers of data structure are used to make the use of data structure easy and efficient.</a:t>
            </a:r>
            <a:endParaRPr lang="en-IN" dirty="0" smtClean="0">
              <a:solidFill>
                <a:schemeClr val="tx1"/>
              </a:solidFill>
            </a:endParaRPr>
          </a:p>
          <a:p>
            <a:r>
              <a:rPr lang="en-IN" dirty="0" smtClean="0">
                <a:solidFill>
                  <a:schemeClr val="tx1"/>
                </a:solidFill>
              </a:rPr>
              <a:t>The basic unit of a data representation is a bit. The value of bit asserts one of the two mutually exclusive possibilities – 0 or 1.</a:t>
            </a:r>
            <a:endParaRPr lang="en-IN" dirty="0" smtClean="0">
              <a:solidFill>
                <a:schemeClr val="tx1"/>
              </a:solidFill>
            </a:endParaRPr>
          </a:p>
          <a:p>
            <a:r>
              <a:rPr lang="en-IN" dirty="0" smtClean="0">
                <a:solidFill>
                  <a:schemeClr val="tx1"/>
                </a:solidFill>
              </a:rPr>
              <a:t>8 bits together form one byte which represents a character and one or more than one characters are used to form a string.</a:t>
            </a:r>
            <a:endParaRPr lang="en-IN" dirty="0" smtClean="0">
              <a:solidFill>
                <a:schemeClr val="tx1"/>
              </a:solidFill>
            </a:endParaRPr>
          </a:p>
          <a:p>
            <a:endParaRPr lang="en-IN" dirty="0" smtClean="0">
              <a:solidFill>
                <a:schemeClr val="tx1"/>
              </a:solidFill>
            </a:endParaRPr>
          </a:p>
          <a:p>
            <a:endParaRPr lang="en-US" dirty="0">
              <a:solidFill>
                <a:schemeClr val="tx1"/>
              </a:solidFill>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33400" y="76200"/>
            <a:ext cx="8229600" cy="685800"/>
          </a:xfrm>
        </p:spPr>
        <p:txBody>
          <a:bodyPr anchor="ctr"/>
          <a:lstStyle/>
          <a:p>
            <a:r>
              <a:rPr lang="en-US" sz="3000" dirty="0" smtClean="0"/>
              <a:t>Data Representation</a:t>
            </a:r>
            <a:endParaRPr lang="en-US" sz="30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sp>
        <p:nvSpPr>
          <p:cNvPr id="5" name="Content Placeholder 4"/>
          <p:cNvSpPr>
            <a:spLocks noGrp="1"/>
          </p:cNvSpPr>
          <p:nvPr>
            <p:ph idx="1"/>
          </p:nvPr>
        </p:nvSpPr>
        <p:spPr/>
        <p:txBody>
          <a:bodyPr/>
          <a:lstStyle/>
          <a:p>
            <a:r>
              <a:rPr lang="en-IN" dirty="0" smtClean="0">
                <a:solidFill>
                  <a:schemeClr val="tx1"/>
                </a:solidFill>
              </a:rPr>
              <a:t>Integer Representation :</a:t>
            </a:r>
            <a:endParaRPr lang="en-IN" dirty="0" smtClean="0">
              <a:solidFill>
                <a:schemeClr val="tx1"/>
              </a:solidFill>
            </a:endParaRPr>
          </a:p>
          <a:p>
            <a:pPr lvl="1"/>
            <a:r>
              <a:rPr lang="en-IN" dirty="0" smtClean="0">
                <a:solidFill>
                  <a:schemeClr val="tx1"/>
                </a:solidFill>
              </a:rPr>
              <a:t>Integer is a basic data type which is used to store negative and non-negative values.</a:t>
            </a:r>
            <a:endParaRPr lang="en-IN" dirty="0" smtClean="0">
              <a:solidFill>
                <a:schemeClr val="tx1"/>
              </a:solidFill>
            </a:endParaRPr>
          </a:p>
          <a:p>
            <a:pPr lvl="1"/>
            <a:r>
              <a:rPr lang="en-IN" dirty="0" smtClean="0">
                <a:solidFill>
                  <a:schemeClr val="tx1"/>
                </a:solidFill>
              </a:rPr>
              <a:t>Non-negative value can be represented by binary representation.</a:t>
            </a:r>
            <a:endParaRPr lang="en-IN" dirty="0" smtClean="0">
              <a:solidFill>
                <a:schemeClr val="tx1"/>
              </a:solidFill>
            </a:endParaRPr>
          </a:p>
          <a:p>
            <a:pPr lvl="1"/>
            <a:r>
              <a:rPr lang="en-IN" dirty="0" smtClean="0">
                <a:solidFill>
                  <a:schemeClr val="tx1"/>
                </a:solidFill>
              </a:rPr>
              <a:t>For negative binary numbers the methods of representation used are one’s complement and two’s complement.</a:t>
            </a:r>
            <a:endParaRPr lang="en-IN" dirty="0" smtClean="0">
              <a:solidFill>
                <a:schemeClr val="tx1"/>
              </a:solidFill>
            </a:endParaRPr>
          </a:p>
          <a:p>
            <a:pPr lvl="1">
              <a:buNone/>
            </a:pPr>
            <a:endParaRPr lang="en-IN" dirty="0" smtClean="0">
              <a:solidFill>
                <a:schemeClr val="tx1"/>
              </a:solidFill>
            </a:endParaRPr>
          </a:p>
          <a:p>
            <a:r>
              <a:rPr lang="en-IN" dirty="0" smtClean="0">
                <a:solidFill>
                  <a:schemeClr val="tx1"/>
                </a:solidFill>
              </a:rPr>
              <a:t>Real Number Representation :</a:t>
            </a:r>
            <a:endParaRPr lang="en-IN" dirty="0" smtClean="0">
              <a:solidFill>
                <a:schemeClr val="tx1"/>
              </a:solidFill>
            </a:endParaRPr>
          </a:p>
          <a:p>
            <a:pPr lvl="1"/>
            <a:r>
              <a:rPr lang="en-IN" dirty="0" smtClean="0">
                <a:solidFill>
                  <a:schemeClr val="tx1"/>
                </a:solidFill>
              </a:rPr>
              <a:t>The method used to represent real numbers in computers is floating – point notation.</a:t>
            </a:r>
            <a:endParaRPr lang="en-IN" dirty="0" smtClean="0">
              <a:solidFill>
                <a:schemeClr val="tx1"/>
              </a:solidFill>
            </a:endParaRPr>
          </a:p>
          <a:p>
            <a:pPr lvl="1"/>
            <a:r>
              <a:rPr lang="en-IN" dirty="0" smtClean="0">
                <a:solidFill>
                  <a:schemeClr val="tx1"/>
                </a:solidFill>
              </a:rPr>
              <a:t>In this notation, the real number is represented by a number called a mantissa, times a base raised to an integer power, called an exponent.</a:t>
            </a:r>
            <a:endParaRPr lang="en-IN" dirty="0" smtClean="0">
              <a:solidFill>
                <a:schemeClr val="tx1"/>
              </a:solidFill>
            </a:endParaRPr>
          </a:p>
          <a:p>
            <a:pPr lvl="1"/>
            <a:endParaRPr lang="en-IN" dirty="0">
              <a:solidFill>
                <a:schemeClr val="tx1"/>
              </a:solidFill>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33400" y="76200"/>
            <a:ext cx="8229600" cy="685800"/>
          </a:xfrm>
        </p:spPr>
        <p:txBody>
          <a:bodyPr anchor="ctr"/>
          <a:lstStyle/>
          <a:p>
            <a:r>
              <a:rPr lang="en-US" sz="3000" dirty="0" smtClean="0"/>
              <a:t>Data Representation</a:t>
            </a:r>
            <a:endParaRPr lang="en-US" sz="30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sp>
        <p:nvSpPr>
          <p:cNvPr id="5" name="Content Placeholder 4"/>
          <p:cNvSpPr>
            <a:spLocks noGrp="1"/>
          </p:cNvSpPr>
          <p:nvPr>
            <p:ph idx="1"/>
          </p:nvPr>
        </p:nvSpPr>
        <p:spPr/>
        <p:txBody>
          <a:bodyPr>
            <a:normAutofit fontScale="77500" lnSpcReduction="20000"/>
          </a:bodyPr>
          <a:lstStyle/>
          <a:p>
            <a:r>
              <a:rPr lang="en-IN" sz="3600" dirty="0" smtClean="0">
                <a:solidFill>
                  <a:schemeClr val="tx1"/>
                </a:solidFill>
              </a:rPr>
              <a:t>Character Representation :</a:t>
            </a:r>
            <a:endParaRPr lang="en-IN" sz="3600" dirty="0" smtClean="0">
              <a:solidFill>
                <a:schemeClr val="tx1"/>
              </a:solidFill>
            </a:endParaRPr>
          </a:p>
          <a:p>
            <a:pPr lvl="1"/>
            <a:r>
              <a:rPr lang="en-IN" sz="3200" dirty="0" smtClean="0">
                <a:solidFill>
                  <a:schemeClr val="tx1"/>
                </a:solidFill>
              </a:rPr>
              <a:t>The information in computers is not always interpreted numerically.</a:t>
            </a:r>
            <a:endParaRPr lang="en-IN" sz="3200" dirty="0" smtClean="0">
              <a:solidFill>
                <a:schemeClr val="tx1"/>
              </a:solidFill>
            </a:endParaRPr>
          </a:p>
          <a:p>
            <a:pPr lvl="1"/>
            <a:r>
              <a:rPr lang="en-IN" sz="3200" dirty="0" smtClean="0">
                <a:solidFill>
                  <a:schemeClr val="tx1"/>
                </a:solidFill>
              </a:rPr>
              <a:t>For e.g. to store name of the employee which requires a different data representation that is in character string form.</a:t>
            </a:r>
            <a:endParaRPr lang="en-IN" sz="3200" dirty="0" smtClean="0">
              <a:solidFill>
                <a:schemeClr val="tx1"/>
              </a:solidFill>
            </a:endParaRPr>
          </a:p>
          <a:p>
            <a:pPr lvl="1"/>
            <a:r>
              <a:rPr lang="en-IN" sz="3200" dirty="0" smtClean="0">
                <a:solidFill>
                  <a:schemeClr val="tx1"/>
                </a:solidFill>
              </a:rPr>
              <a:t>There are different codes available to store data in character form such as BCD, EBCDIC and ASCII.</a:t>
            </a:r>
            <a:endParaRPr lang="en-IN" sz="3200" dirty="0" smtClean="0">
              <a:solidFill>
                <a:schemeClr val="tx1"/>
              </a:solidFill>
            </a:endParaRPr>
          </a:p>
          <a:p>
            <a:pPr lvl="1"/>
            <a:r>
              <a:rPr lang="en-IN" sz="3200" dirty="0" smtClean="0">
                <a:solidFill>
                  <a:schemeClr val="tx1"/>
                </a:solidFill>
              </a:rPr>
              <a:t>E.g. if 8 bits are used to represent a character, then up to 2</a:t>
            </a:r>
            <a:r>
              <a:rPr lang="en-IN" sz="3200" baseline="30000" dirty="0" smtClean="0">
                <a:solidFill>
                  <a:schemeClr val="tx1"/>
                </a:solidFill>
              </a:rPr>
              <a:t>8 </a:t>
            </a:r>
            <a:r>
              <a:rPr lang="en-IN" sz="3200" dirty="0" smtClean="0">
                <a:solidFill>
                  <a:schemeClr val="tx1"/>
                </a:solidFill>
              </a:rPr>
              <a:t>= 256 different characters can be represented as bit patterns.</a:t>
            </a:r>
            <a:endParaRPr lang="en-IN" sz="3200" dirty="0">
              <a:solidFill>
                <a:schemeClr val="tx1"/>
              </a:solidFill>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33400" y="76200"/>
            <a:ext cx="8229600" cy="685800"/>
          </a:xfrm>
        </p:spPr>
        <p:txBody>
          <a:bodyPr anchor="ctr"/>
          <a:lstStyle/>
          <a:p>
            <a:r>
              <a:rPr lang="en-US" sz="3000" dirty="0" smtClean="0"/>
              <a:t>Abstract Data Type</a:t>
            </a:r>
            <a:endParaRPr lang="en-US" sz="3000" dirty="0"/>
          </a:p>
        </p:txBody>
      </p:sp>
      <p:sp>
        <p:nvSpPr>
          <p:cNvPr id="5" name="Content Placeholder 4"/>
          <p:cNvSpPr>
            <a:spLocks noGrp="1"/>
          </p:cNvSpPr>
          <p:nvPr>
            <p:ph idx="1"/>
          </p:nvPr>
        </p:nvSpPr>
        <p:spPr>
          <a:xfrm>
            <a:off x="381000" y="1036637"/>
            <a:ext cx="8305800" cy="5135563"/>
          </a:xfrm>
        </p:spPr>
        <p:txBody>
          <a:bodyPr>
            <a:normAutofit fontScale="85000" lnSpcReduction="10000"/>
          </a:bodyPr>
          <a:lstStyle/>
          <a:p>
            <a:pPr algn="just">
              <a:lnSpc>
                <a:spcPct val="150000"/>
              </a:lnSpc>
              <a:buNone/>
            </a:pPr>
            <a:r>
              <a:rPr lang="en-US" sz="1900" dirty="0" smtClean="0">
                <a:solidFill>
                  <a:schemeClr val="tx1"/>
                </a:solidFill>
              </a:rPr>
              <a:t>ADTs are like user defined data types which defines operations on values using functions without specifying what is there inside the function and how the operations are performed.</a:t>
            </a:r>
            <a:endParaRPr lang="en-US" sz="1900" dirty="0" smtClean="0">
              <a:solidFill>
                <a:schemeClr val="tx1"/>
              </a:solidFill>
            </a:endParaRPr>
          </a:p>
          <a:p>
            <a:pPr algn="just">
              <a:lnSpc>
                <a:spcPct val="150000"/>
              </a:lnSpc>
              <a:buNone/>
            </a:pPr>
            <a:endParaRPr lang="en-US" sz="1900" dirty="0" smtClean="0">
              <a:solidFill>
                <a:schemeClr val="tx1"/>
              </a:solidFill>
            </a:endParaRPr>
          </a:p>
          <a:p>
            <a:pPr algn="just">
              <a:lnSpc>
                <a:spcPct val="150000"/>
              </a:lnSpc>
              <a:buNone/>
            </a:pPr>
            <a:r>
              <a:rPr lang="en-US" sz="1900" b="1" dirty="0" smtClean="0">
                <a:solidFill>
                  <a:schemeClr val="tx1"/>
                </a:solidFill>
              </a:rPr>
              <a:t>Abstract data type is specification of the data type which specifies the logical and mathematical model of the data type.</a:t>
            </a:r>
            <a:endParaRPr lang="en-US" sz="1900" b="1" dirty="0" smtClean="0">
              <a:solidFill>
                <a:schemeClr val="tx1"/>
              </a:solidFill>
            </a:endParaRPr>
          </a:p>
          <a:p>
            <a:pPr algn="just">
              <a:lnSpc>
                <a:spcPct val="150000"/>
              </a:lnSpc>
              <a:buNone/>
            </a:pPr>
            <a:endParaRPr lang="en-US" sz="1900" b="1" dirty="0" smtClean="0">
              <a:solidFill>
                <a:schemeClr val="tx1"/>
              </a:solidFill>
            </a:endParaRPr>
          </a:p>
          <a:p>
            <a:pPr algn="just">
              <a:lnSpc>
                <a:spcPct val="150000"/>
              </a:lnSpc>
              <a:buNone/>
            </a:pPr>
            <a:r>
              <a:rPr lang="en-US" sz="1900" b="1" dirty="0" smtClean="0">
                <a:solidFill>
                  <a:schemeClr val="tx1"/>
                </a:solidFill>
              </a:rPr>
              <a:t>An abstract data type, or ADT, specifies a set of operations (or methods) and the semantics of the operations (what they do), but it does not specify the implementation of the operations. That's what makes it abstract.</a:t>
            </a:r>
            <a:endParaRPr lang="en-US" sz="1900" b="1" dirty="0" smtClean="0">
              <a:solidFill>
                <a:schemeClr val="tx1"/>
              </a:solidFill>
            </a:endParaRPr>
          </a:p>
          <a:p>
            <a:pPr algn="just">
              <a:lnSpc>
                <a:spcPct val="150000"/>
              </a:lnSpc>
              <a:buNone/>
            </a:pPr>
            <a:endParaRPr lang="en-US" sz="1900" dirty="0" smtClean="0">
              <a:solidFill>
                <a:schemeClr val="tx1"/>
              </a:solidFill>
            </a:endParaRPr>
          </a:p>
          <a:p>
            <a:pPr algn="just">
              <a:lnSpc>
                <a:spcPct val="150000"/>
              </a:lnSpc>
              <a:buNone/>
            </a:pPr>
            <a:r>
              <a:rPr lang="en-US" sz="1900" dirty="0" smtClean="0">
                <a:solidFill>
                  <a:schemeClr val="tx1"/>
                </a:solidFill>
              </a:rPr>
              <a:t>Example:</a:t>
            </a:r>
            <a:endParaRPr lang="en-US" sz="1900" dirty="0" smtClean="0">
              <a:solidFill>
                <a:schemeClr val="tx1"/>
              </a:solidFill>
            </a:endParaRPr>
          </a:p>
          <a:p>
            <a:pPr algn="just">
              <a:lnSpc>
                <a:spcPct val="150000"/>
              </a:lnSpc>
              <a:buNone/>
            </a:pPr>
            <a:r>
              <a:rPr lang="en-US" sz="1900" b="1" dirty="0" smtClean="0">
                <a:solidFill>
                  <a:schemeClr val="tx1"/>
                </a:solidFill>
              </a:rPr>
              <a:t>Stack ADT</a:t>
            </a:r>
            <a:endParaRPr lang="en-US" sz="1900" b="1" dirty="0" smtClean="0">
              <a:solidFill>
                <a:schemeClr val="tx1"/>
              </a:solidFill>
            </a:endParaRPr>
          </a:p>
          <a:p>
            <a:pPr algn="just">
              <a:lnSpc>
                <a:spcPct val="150000"/>
              </a:lnSpc>
              <a:buNone/>
            </a:pPr>
            <a:endParaRPr lang="en-US" sz="1900" dirty="0" smtClean="0">
              <a:solidFill>
                <a:schemeClr val="tx1"/>
              </a:solidFill>
            </a:endParaRPr>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33400" y="76200"/>
            <a:ext cx="8229600" cy="685800"/>
          </a:xfrm>
        </p:spPr>
        <p:txBody>
          <a:bodyPr anchor="ctr"/>
          <a:lstStyle/>
          <a:p>
            <a:r>
              <a:rPr lang="en-US" sz="3000" dirty="0" smtClean="0"/>
              <a:t>Abstract Data Type</a:t>
            </a:r>
            <a:endParaRPr lang="en-US" sz="3000" dirty="0"/>
          </a:p>
        </p:txBody>
      </p:sp>
      <p:sp>
        <p:nvSpPr>
          <p:cNvPr id="5" name="Content Placeholder 4"/>
          <p:cNvSpPr>
            <a:spLocks noGrp="1"/>
          </p:cNvSpPr>
          <p:nvPr>
            <p:ph idx="1"/>
          </p:nvPr>
        </p:nvSpPr>
        <p:spPr>
          <a:xfrm>
            <a:off x="381000" y="1036637"/>
            <a:ext cx="8305800" cy="5135563"/>
          </a:xfrm>
        </p:spPr>
        <p:txBody>
          <a:bodyPr>
            <a:normAutofit fontScale="85000" lnSpcReduction="20000"/>
          </a:bodyPr>
          <a:lstStyle/>
          <a:p>
            <a:pPr algn="just">
              <a:lnSpc>
                <a:spcPct val="150000"/>
              </a:lnSpc>
              <a:buNone/>
            </a:pPr>
            <a:r>
              <a:rPr lang="en-US" sz="1900" b="1" dirty="0" smtClean="0">
                <a:solidFill>
                  <a:schemeClr val="tx1"/>
                </a:solidFill>
              </a:rPr>
              <a:t>Operations:</a:t>
            </a:r>
            <a:endParaRPr lang="en-US" sz="1900" b="1" dirty="0" smtClean="0">
              <a:solidFill>
                <a:schemeClr val="tx1"/>
              </a:solidFill>
            </a:endParaRPr>
          </a:p>
          <a:p>
            <a:pPr algn="just">
              <a:lnSpc>
                <a:spcPct val="150000"/>
              </a:lnSpc>
              <a:buNone/>
            </a:pPr>
            <a:r>
              <a:rPr lang="en-US" sz="1900" dirty="0" smtClean="0">
                <a:solidFill>
                  <a:schemeClr val="tx1"/>
                </a:solidFill>
              </a:rPr>
              <a:t>push() - Insert Element into stack</a:t>
            </a:r>
            <a:endParaRPr lang="en-US" sz="1900" dirty="0" smtClean="0">
              <a:solidFill>
                <a:schemeClr val="tx1"/>
              </a:solidFill>
            </a:endParaRPr>
          </a:p>
          <a:p>
            <a:pPr algn="just">
              <a:lnSpc>
                <a:spcPct val="150000"/>
              </a:lnSpc>
              <a:buNone/>
            </a:pPr>
            <a:r>
              <a:rPr lang="en-US" sz="1900" dirty="0" smtClean="0">
                <a:solidFill>
                  <a:schemeClr val="tx1"/>
                </a:solidFill>
              </a:rPr>
              <a:t>pop() - Delete Element from stack</a:t>
            </a:r>
            <a:endParaRPr lang="en-US" sz="1900" dirty="0" smtClean="0">
              <a:solidFill>
                <a:schemeClr val="tx1"/>
              </a:solidFill>
            </a:endParaRPr>
          </a:p>
          <a:p>
            <a:pPr algn="just">
              <a:lnSpc>
                <a:spcPct val="150000"/>
              </a:lnSpc>
              <a:buNone/>
            </a:pPr>
            <a:r>
              <a:rPr lang="en-US" sz="1900" dirty="0" err="1" smtClean="0">
                <a:solidFill>
                  <a:schemeClr val="tx1"/>
                </a:solidFill>
              </a:rPr>
              <a:t>isEmpty</a:t>
            </a:r>
            <a:r>
              <a:rPr lang="en-US" sz="1900" dirty="0" smtClean="0">
                <a:solidFill>
                  <a:schemeClr val="tx1"/>
                </a:solidFill>
              </a:rPr>
              <a:t>() - check if stack is empty</a:t>
            </a:r>
            <a:endParaRPr lang="en-US" sz="1900" dirty="0" smtClean="0">
              <a:solidFill>
                <a:schemeClr val="tx1"/>
              </a:solidFill>
            </a:endParaRPr>
          </a:p>
          <a:p>
            <a:pPr algn="just">
              <a:lnSpc>
                <a:spcPct val="150000"/>
              </a:lnSpc>
              <a:buNone/>
            </a:pPr>
            <a:r>
              <a:rPr lang="en-US" sz="1900" dirty="0" err="1" smtClean="0">
                <a:solidFill>
                  <a:schemeClr val="tx1"/>
                </a:solidFill>
              </a:rPr>
              <a:t>isFull</a:t>
            </a:r>
            <a:r>
              <a:rPr lang="en-US" sz="1900" dirty="0" smtClean="0">
                <a:solidFill>
                  <a:schemeClr val="tx1"/>
                </a:solidFill>
              </a:rPr>
              <a:t>() - check if stack is full</a:t>
            </a:r>
            <a:endParaRPr lang="en-US" sz="1900" dirty="0" smtClean="0">
              <a:solidFill>
                <a:schemeClr val="tx1"/>
              </a:solidFill>
            </a:endParaRPr>
          </a:p>
          <a:p>
            <a:pPr algn="just">
              <a:lnSpc>
                <a:spcPct val="150000"/>
              </a:lnSpc>
              <a:buNone/>
            </a:pPr>
            <a:endParaRPr lang="en-US" sz="1900" dirty="0" smtClean="0">
              <a:solidFill>
                <a:schemeClr val="tx1"/>
              </a:solidFill>
            </a:endParaRPr>
          </a:p>
          <a:p>
            <a:pPr algn="just">
              <a:lnSpc>
                <a:spcPct val="150000"/>
              </a:lnSpc>
            </a:pPr>
            <a:r>
              <a:rPr lang="en-US" sz="1900" dirty="0" smtClean="0">
                <a:solidFill>
                  <a:schemeClr val="tx1"/>
                </a:solidFill>
              </a:rPr>
              <a:t>Think of ADT as a black box which hides the inner structure and design of the data type from the user.</a:t>
            </a:r>
            <a:endParaRPr lang="en-US" sz="1900" dirty="0" smtClean="0">
              <a:solidFill>
                <a:schemeClr val="tx1"/>
              </a:solidFill>
            </a:endParaRPr>
          </a:p>
          <a:p>
            <a:pPr algn="just">
              <a:lnSpc>
                <a:spcPct val="150000"/>
              </a:lnSpc>
            </a:pPr>
            <a:endParaRPr lang="en-US" sz="1900" dirty="0" smtClean="0">
              <a:solidFill>
                <a:schemeClr val="tx1"/>
              </a:solidFill>
            </a:endParaRPr>
          </a:p>
          <a:p>
            <a:pPr algn="just">
              <a:lnSpc>
                <a:spcPct val="150000"/>
              </a:lnSpc>
            </a:pPr>
            <a:r>
              <a:rPr lang="en-US" sz="1900" dirty="0" smtClean="0">
                <a:solidFill>
                  <a:schemeClr val="tx1"/>
                </a:solidFill>
              </a:rPr>
              <a:t>There are multiple ways to implement an ADT.</a:t>
            </a:r>
            <a:endParaRPr lang="en-US" sz="1900" dirty="0" smtClean="0">
              <a:solidFill>
                <a:schemeClr val="tx1"/>
              </a:solidFill>
            </a:endParaRPr>
          </a:p>
          <a:p>
            <a:pPr algn="just">
              <a:lnSpc>
                <a:spcPct val="150000"/>
              </a:lnSpc>
            </a:pPr>
            <a:endParaRPr lang="en-US" sz="1900" dirty="0" smtClean="0">
              <a:solidFill>
                <a:schemeClr val="tx1"/>
              </a:solidFill>
            </a:endParaRPr>
          </a:p>
          <a:p>
            <a:pPr algn="just">
              <a:lnSpc>
                <a:spcPct val="150000"/>
              </a:lnSpc>
            </a:pPr>
            <a:r>
              <a:rPr lang="en-US" sz="1900" dirty="0" smtClean="0">
                <a:solidFill>
                  <a:schemeClr val="tx1"/>
                </a:solidFill>
              </a:rPr>
              <a:t>A Stack ADT can be implemented using arrays or linked list.</a:t>
            </a:r>
            <a:endParaRPr lang="en-US" sz="1900" dirty="0" smtClean="0">
              <a:solidFill>
                <a:schemeClr val="tx1"/>
              </a:solidFill>
            </a:endParaRPr>
          </a:p>
          <a:p>
            <a:pPr algn="just">
              <a:lnSpc>
                <a:spcPct val="150000"/>
              </a:lnSpc>
            </a:pPr>
            <a:endParaRPr lang="en-US" sz="1900" dirty="0" smtClean="0">
              <a:solidFill>
                <a:schemeClr val="tx1"/>
              </a:solidFill>
            </a:endParaRPr>
          </a:p>
          <a:p>
            <a:pPr algn="just">
              <a:lnSpc>
                <a:spcPct val="150000"/>
              </a:lnSpc>
            </a:pPr>
            <a:r>
              <a:rPr lang="en-US" sz="1900" dirty="0" smtClean="0">
                <a:solidFill>
                  <a:schemeClr val="tx1"/>
                </a:solidFill>
              </a:rPr>
              <a:t>ADT Provides Abstraction.</a:t>
            </a:r>
            <a:endParaRPr lang="en-US" sz="1900" dirty="0" smtClean="0">
              <a:solidFill>
                <a:schemeClr val="tx1"/>
              </a:solidFill>
            </a:endParaRPr>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33400" y="76200"/>
            <a:ext cx="8229600" cy="685800"/>
          </a:xfrm>
        </p:spPr>
        <p:txBody>
          <a:bodyPr anchor="ctr"/>
          <a:lstStyle/>
          <a:p>
            <a:r>
              <a:rPr lang="en-US" sz="3000" dirty="0" smtClean="0"/>
              <a:t>Introduction of Datatype</a:t>
            </a:r>
            <a:endParaRPr lang="en-US" sz="3000" dirty="0"/>
          </a:p>
        </p:txBody>
      </p:sp>
      <p:sp>
        <p:nvSpPr>
          <p:cNvPr id="5" name="Content Placeholder 4"/>
          <p:cNvSpPr>
            <a:spLocks noGrp="1"/>
          </p:cNvSpPr>
          <p:nvPr>
            <p:ph idx="1"/>
          </p:nvPr>
        </p:nvSpPr>
        <p:spPr>
          <a:xfrm>
            <a:off x="381000" y="1036637"/>
            <a:ext cx="8305800" cy="5135563"/>
          </a:xfrm>
        </p:spPr>
        <p:txBody>
          <a:bodyPr>
            <a:normAutofit/>
          </a:bodyPr>
          <a:lstStyle/>
          <a:p>
            <a:pPr algn="just">
              <a:lnSpc>
                <a:spcPct val="150000"/>
              </a:lnSpc>
              <a:buFont typeface="Wingdings" panose="05000000000000000000" pitchFamily="2" charset="2"/>
              <a:buChar char="q"/>
            </a:pPr>
            <a:r>
              <a:rPr lang="en-US" sz="2200" b="1" dirty="0" smtClean="0">
                <a:solidFill>
                  <a:schemeClr val="tx1"/>
                </a:solidFill>
              </a:rPr>
              <a:t>Data types </a:t>
            </a:r>
            <a:r>
              <a:rPr lang="en-US" sz="2200" u="sng" dirty="0" smtClean="0">
                <a:solidFill>
                  <a:schemeClr val="tx1"/>
                </a:solidFill>
              </a:rPr>
              <a:t>specify how we enter data into our programs and what type of data we enter</a:t>
            </a:r>
            <a:r>
              <a:rPr lang="en-US" sz="2200" dirty="0" smtClean="0">
                <a:solidFill>
                  <a:schemeClr val="tx1"/>
                </a:solidFill>
              </a:rPr>
              <a:t>.</a:t>
            </a:r>
            <a:endParaRPr lang="en-US" sz="2200" dirty="0" smtClean="0">
              <a:solidFill>
                <a:schemeClr val="tx1"/>
              </a:solidFill>
            </a:endParaRPr>
          </a:p>
          <a:p>
            <a:pPr algn="just">
              <a:lnSpc>
                <a:spcPct val="150000"/>
              </a:lnSpc>
              <a:buFont typeface="Wingdings" panose="05000000000000000000" pitchFamily="2" charset="2"/>
              <a:buChar char="q"/>
            </a:pPr>
            <a:r>
              <a:rPr lang="en-US" sz="2200" dirty="0" smtClean="0">
                <a:solidFill>
                  <a:schemeClr val="tx1"/>
                </a:solidFill>
              </a:rPr>
              <a:t>C language has some predefined set of data types to handle various kinds of data that we can use in our program.</a:t>
            </a:r>
            <a:endParaRPr lang="en-US" sz="2200" dirty="0" smtClean="0">
              <a:solidFill>
                <a:schemeClr val="tx1"/>
              </a:solidFill>
            </a:endParaRPr>
          </a:p>
          <a:p>
            <a:pPr algn="just">
              <a:lnSpc>
                <a:spcPct val="150000"/>
              </a:lnSpc>
              <a:buFont typeface="Wingdings" panose="05000000000000000000" pitchFamily="2" charset="2"/>
              <a:buChar char="q"/>
            </a:pPr>
            <a:r>
              <a:rPr lang="en-US" sz="2200" u="sng" dirty="0" smtClean="0">
                <a:solidFill>
                  <a:schemeClr val="tx1"/>
                </a:solidFill>
              </a:rPr>
              <a:t>C data types are used to</a:t>
            </a:r>
            <a:r>
              <a:rPr lang="en-US" sz="2200" dirty="0" smtClean="0">
                <a:solidFill>
                  <a:schemeClr val="tx1"/>
                </a:solidFill>
              </a:rPr>
              <a:t>:</a:t>
            </a:r>
            <a:endParaRPr lang="en-US" sz="2200" dirty="0" smtClean="0">
              <a:solidFill>
                <a:schemeClr val="tx1"/>
              </a:solidFill>
            </a:endParaRPr>
          </a:p>
          <a:p>
            <a:pPr algn="just">
              <a:lnSpc>
                <a:spcPct val="150000"/>
              </a:lnSpc>
              <a:buFont typeface="Wingdings" panose="05000000000000000000" pitchFamily="2" charset="2"/>
              <a:buChar char="§"/>
            </a:pPr>
            <a:r>
              <a:rPr lang="en-US" sz="1900" dirty="0" smtClean="0">
                <a:solidFill>
                  <a:schemeClr val="tx1"/>
                </a:solidFill>
              </a:rPr>
              <a:t>Identify the </a:t>
            </a:r>
            <a:r>
              <a:rPr lang="en-US" sz="1900" b="1" dirty="0" smtClean="0">
                <a:solidFill>
                  <a:schemeClr val="tx1"/>
                </a:solidFill>
              </a:rPr>
              <a:t>type of the variable </a:t>
            </a:r>
            <a:r>
              <a:rPr lang="en-US" sz="1900" dirty="0" smtClean="0">
                <a:solidFill>
                  <a:schemeClr val="tx1"/>
                </a:solidFill>
              </a:rPr>
              <a:t>when it is declared.</a:t>
            </a:r>
            <a:endParaRPr lang="en-US" sz="1900" dirty="0" smtClean="0">
              <a:solidFill>
                <a:schemeClr val="tx1"/>
              </a:solidFill>
            </a:endParaRPr>
          </a:p>
          <a:p>
            <a:pPr algn="just">
              <a:lnSpc>
                <a:spcPct val="150000"/>
              </a:lnSpc>
              <a:buFont typeface="Wingdings" panose="05000000000000000000" pitchFamily="2" charset="2"/>
              <a:buChar char="§"/>
            </a:pPr>
            <a:r>
              <a:rPr lang="en-US" sz="1900" dirty="0" smtClean="0">
                <a:solidFill>
                  <a:schemeClr val="tx1"/>
                </a:solidFill>
              </a:rPr>
              <a:t>Identify the </a:t>
            </a:r>
            <a:r>
              <a:rPr lang="en-US" sz="1900" b="1" dirty="0" smtClean="0">
                <a:solidFill>
                  <a:schemeClr val="tx1"/>
                </a:solidFill>
              </a:rPr>
              <a:t>type of the return value of a function</a:t>
            </a:r>
            <a:r>
              <a:rPr lang="en-US" sz="1900" dirty="0" smtClean="0">
                <a:solidFill>
                  <a:schemeClr val="tx1"/>
                </a:solidFill>
              </a:rPr>
              <a:t>.</a:t>
            </a:r>
            <a:endParaRPr lang="en-US" sz="1900" dirty="0" smtClean="0">
              <a:solidFill>
                <a:schemeClr val="tx1"/>
              </a:solidFill>
            </a:endParaRPr>
          </a:p>
          <a:p>
            <a:pPr algn="just">
              <a:lnSpc>
                <a:spcPct val="150000"/>
              </a:lnSpc>
              <a:buFont typeface="Wingdings" panose="05000000000000000000" pitchFamily="2" charset="2"/>
              <a:buChar char="§"/>
            </a:pPr>
            <a:r>
              <a:rPr lang="en-US" sz="1900" dirty="0" smtClean="0">
                <a:solidFill>
                  <a:schemeClr val="tx1"/>
                </a:solidFill>
              </a:rPr>
              <a:t>Identify the </a:t>
            </a:r>
            <a:r>
              <a:rPr lang="en-US" sz="1900" b="1" dirty="0" smtClean="0">
                <a:solidFill>
                  <a:schemeClr val="tx1"/>
                </a:solidFill>
              </a:rPr>
              <a:t>type of the parameter expected by a function</a:t>
            </a:r>
            <a:r>
              <a:rPr lang="en-US" sz="1900" dirty="0" smtClean="0">
                <a:solidFill>
                  <a:schemeClr val="tx1"/>
                </a:solidFill>
              </a:rPr>
              <a:t>.</a:t>
            </a:r>
            <a:endParaRPr lang="en-US" sz="1900" dirty="0" smtClean="0">
              <a:solidFill>
                <a:schemeClr val="tx1"/>
              </a:solidFill>
            </a:endParaRPr>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33400" y="76200"/>
            <a:ext cx="8229600" cy="685800"/>
          </a:xfrm>
        </p:spPr>
        <p:txBody>
          <a:bodyPr anchor="ctr"/>
          <a:lstStyle/>
          <a:p>
            <a:r>
              <a:rPr lang="en-US" sz="2500" dirty="0" smtClean="0"/>
              <a:t>Primary </a:t>
            </a:r>
            <a:r>
              <a:rPr lang="en-US" sz="2500" dirty="0" err="1" smtClean="0"/>
              <a:t>Datatype</a:t>
            </a:r>
            <a:endParaRPr lang="en-US" sz="2500" dirty="0"/>
          </a:p>
        </p:txBody>
      </p:sp>
      <p:graphicFrame>
        <p:nvGraphicFramePr>
          <p:cNvPr id="2" name="Content Placeholder 1"/>
          <p:cNvGraphicFramePr>
            <a:graphicFrameLocks noGrp="1"/>
          </p:cNvGraphicFramePr>
          <p:nvPr>
            <p:ph idx="1"/>
          </p:nvPr>
        </p:nvGraphicFramePr>
        <p:xfrm>
          <a:off x="381000" y="1255184"/>
          <a:ext cx="8305800" cy="5069416"/>
        </p:xfrm>
        <a:graphic>
          <a:graphicData uri="http://schemas.openxmlformats.org/drawingml/2006/table">
            <a:tbl>
              <a:tblPr firstRow="1" bandRow="1">
                <a:tableStyleId>{2D5ABB26-0587-4C30-8999-92F81FD0307C}</a:tableStyleId>
              </a:tblPr>
              <a:tblGrid>
                <a:gridCol w="1661160"/>
                <a:gridCol w="1661160"/>
                <a:gridCol w="1661160"/>
                <a:gridCol w="1661160"/>
                <a:gridCol w="1661160"/>
              </a:tblGrid>
              <a:tr h="715962">
                <a:tc>
                  <a:txBody>
                    <a:bodyPr/>
                    <a:lstStyle/>
                    <a:p>
                      <a:pPr algn="ctr"/>
                      <a:r>
                        <a:rPr lang="en-US" sz="2000" b="1" dirty="0" smtClean="0">
                          <a:effectLst>
                            <a:outerShdw blurRad="38100" dist="38100" dir="2700000" algn="tl">
                              <a:srgbClr val="000000">
                                <a:alpha val="43137"/>
                              </a:srgbClr>
                            </a:outerShdw>
                          </a:effectLst>
                        </a:rPr>
                        <a:t>Data</a:t>
                      </a:r>
                      <a:r>
                        <a:rPr lang="en-US" sz="2000" b="1" baseline="0" dirty="0" smtClean="0">
                          <a:effectLst>
                            <a:outerShdw blurRad="38100" dist="38100" dir="2700000" algn="tl">
                              <a:srgbClr val="000000">
                                <a:alpha val="43137"/>
                              </a:srgbClr>
                            </a:outerShdw>
                          </a:effectLst>
                        </a:rPr>
                        <a:t> Type</a:t>
                      </a:r>
                      <a:endParaRPr lang="en-US" sz="2000" b="1" dirty="0">
                        <a:effectLst>
                          <a:outerShdw blurRad="38100" dist="38100" dir="2700000" algn="tl">
                            <a:srgbClr val="000000">
                              <a:alpha val="43137"/>
                            </a:srgbClr>
                          </a:outerShdw>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000" b="1" dirty="0" smtClean="0">
                          <a:effectLst>
                            <a:outerShdw blurRad="38100" dist="38100" dir="2700000" algn="tl">
                              <a:srgbClr val="000000">
                                <a:alpha val="43137"/>
                              </a:srgbClr>
                            </a:outerShdw>
                          </a:effectLst>
                        </a:rPr>
                        <a:t>Keyword used</a:t>
                      </a:r>
                      <a:endParaRPr lang="en-US" sz="2000" b="1" dirty="0">
                        <a:effectLst>
                          <a:outerShdw blurRad="38100" dist="38100" dir="2700000" algn="tl">
                            <a:srgbClr val="000000">
                              <a:alpha val="43137"/>
                            </a:srgbClr>
                          </a:outerShdw>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000" b="1" dirty="0" smtClean="0">
                          <a:effectLst>
                            <a:outerShdw blurRad="38100" dist="38100" dir="2700000" algn="tl">
                              <a:srgbClr val="000000">
                                <a:alpha val="43137"/>
                              </a:srgbClr>
                            </a:outerShdw>
                          </a:effectLst>
                        </a:rPr>
                        <a:t>Size in bytes</a:t>
                      </a:r>
                      <a:endParaRPr lang="en-US" sz="2000" b="1" dirty="0">
                        <a:effectLst>
                          <a:outerShdw blurRad="38100" dist="38100" dir="2700000" algn="tl">
                            <a:srgbClr val="000000">
                              <a:alpha val="43137"/>
                            </a:srgbClr>
                          </a:outerShdw>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000" b="1" dirty="0" smtClean="0">
                          <a:effectLst>
                            <a:outerShdw blurRad="38100" dist="38100" dir="2700000" algn="tl">
                              <a:srgbClr val="000000">
                                <a:alpha val="43137"/>
                              </a:srgbClr>
                            </a:outerShdw>
                          </a:effectLst>
                        </a:rPr>
                        <a:t>Range </a:t>
                      </a:r>
                      <a:endParaRPr lang="en-US" sz="2000" b="1" dirty="0">
                        <a:effectLst>
                          <a:outerShdw blurRad="38100" dist="38100" dir="2700000" algn="tl">
                            <a:srgbClr val="000000">
                              <a:alpha val="43137"/>
                            </a:srgbClr>
                          </a:outerShdw>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000" b="1" dirty="0" smtClean="0">
                          <a:effectLst>
                            <a:outerShdw blurRad="38100" dist="38100" dir="2700000" algn="tl">
                              <a:srgbClr val="000000">
                                <a:alpha val="43137"/>
                              </a:srgbClr>
                            </a:outerShdw>
                          </a:effectLst>
                        </a:rPr>
                        <a:t>Use </a:t>
                      </a:r>
                      <a:endParaRPr lang="en-US" sz="2000" b="1" dirty="0">
                        <a:effectLst>
                          <a:outerShdw blurRad="38100" dist="38100" dir="2700000" algn="tl">
                            <a:srgbClr val="000000">
                              <a:alpha val="43137"/>
                            </a:srgbClr>
                          </a:outerShdw>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805127">
                <a:tc>
                  <a:txBody>
                    <a:bodyPr/>
                    <a:lstStyle/>
                    <a:p>
                      <a:r>
                        <a:rPr lang="en-US" dirty="0" smtClean="0"/>
                        <a:t>Character </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smtClean="0"/>
                        <a:t>char</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smtClean="0"/>
                        <a:t>1</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smtClean="0"/>
                        <a:t>-128 to 127</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smtClean="0"/>
                        <a:t>To store characters</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805127">
                <a:tc>
                  <a:txBody>
                    <a:bodyPr/>
                    <a:lstStyle/>
                    <a:p>
                      <a:r>
                        <a:rPr lang="en-US" dirty="0" smtClean="0"/>
                        <a:t>Integer </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smtClean="0"/>
                        <a:t>int</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smtClean="0"/>
                        <a:t>2</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smtClean="0"/>
                        <a:t>-32768 to 32767</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smtClean="0"/>
                        <a:t>To store integer numbers</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805127">
                <a:tc>
                  <a:txBody>
                    <a:bodyPr/>
                    <a:lstStyle/>
                    <a:p>
                      <a:r>
                        <a:rPr lang="en-US" dirty="0" smtClean="0"/>
                        <a:t>Floating point</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smtClean="0"/>
                        <a:t>float</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smtClean="0"/>
                        <a:t>4</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smtClean="0"/>
                        <a:t>3.4E</a:t>
                      </a:r>
                      <a:r>
                        <a:rPr lang="en-US" baseline="0" dirty="0" smtClean="0"/>
                        <a:t> -38 to 3.4E +38</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smtClean="0"/>
                        <a:t>To store floating point numbers</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805127">
                <a:tc>
                  <a:txBody>
                    <a:bodyPr/>
                    <a:lstStyle/>
                    <a:p>
                      <a:r>
                        <a:rPr lang="en-US" dirty="0" smtClean="0"/>
                        <a:t>Double </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smtClean="0"/>
                        <a:t>double</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smtClean="0"/>
                        <a:t>8</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smtClean="0"/>
                        <a:t>1.7E</a:t>
                      </a:r>
                      <a:r>
                        <a:rPr lang="en-US" baseline="0" dirty="0" smtClean="0"/>
                        <a:t> -308 to 1.7E +308</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smtClean="0"/>
                        <a:t>To store big floating</a:t>
                      </a:r>
                      <a:r>
                        <a:rPr lang="en-US" baseline="0" dirty="0" smtClean="0"/>
                        <a:t> point numbers</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805127">
                <a:tc>
                  <a:txBody>
                    <a:bodyPr/>
                    <a:lstStyle/>
                    <a:p>
                      <a:r>
                        <a:rPr lang="en-US" dirty="0" smtClean="0"/>
                        <a:t>Valueless</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smtClean="0"/>
                        <a:t>void</a:t>
                      </a:r>
                      <a:r>
                        <a:rPr lang="en-US" baseline="0" dirty="0" smtClean="0"/>
                        <a:t> </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smtClean="0"/>
                        <a:t>0</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smtClean="0"/>
                        <a:t>Valueless</a:t>
                      </a:r>
                      <a:r>
                        <a:rPr lang="en-US" baseline="0" dirty="0" smtClean="0"/>
                        <a:t> </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smtClean="0"/>
                        <a:t>-----</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sp>
        <p:nvSpPr>
          <p:cNvPr id="3" name="TextBox 2"/>
          <p:cNvSpPr txBox="1"/>
          <p:nvPr/>
        </p:nvSpPr>
        <p:spPr>
          <a:xfrm>
            <a:off x="381000" y="914400"/>
            <a:ext cx="6934200" cy="381000"/>
          </a:xfrm>
          <a:prstGeom prst="rect">
            <a:avLst/>
          </a:prstGeom>
          <a:noFill/>
        </p:spPr>
        <p:txBody>
          <a:bodyPr wrap="square" rtlCol="0">
            <a:spAutoFit/>
          </a:bodyPr>
          <a:lstStyle/>
          <a:p>
            <a:r>
              <a:rPr lang="en-US" dirty="0" smtClean="0"/>
              <a:t>Table : Primary data types in C</a:t>
            </a:r>
            <a:endParaRPr lang="en-US"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33400" y="76200"/>
            <a:ext cx="8229600" cy="685800"/>
          </a:xfrm>
        </p:spPr>
        <p:txBody>
          <a:bodyPr anchor="ctr"/>
          <a:lstStyle/>
          <a:p>
            <a:r>
              <a:rPr lang="en-US" sz="3000" dirty="0" smtClean="0"/>
              <a:t>Data Structure and Structured Type</a:t>
            </a:r>
            <a:endParaRPr lang="en-US" sz="3000" dirty="0"/>
          </a:p>
        </p:txBody>
      </p:sp>
      <p:sp>
        <p:nvSpPr>
          <p:cNvPr id="5" name="Content Placeholder 4"/>
          <p:cNvSpPr>
            <a:spLocks noGrp="1"/>
          </p:cNvSpPr>
          <p:nvPr>
            <p:ph idx="1"/>
          </p:nvPr>
        </p:nvSpPr>
        <p:spPr>
          <a:xfrm>
            <a:off x="381000" y="1036637"/>
            <a:ext cx="8305800" cy="5135563"/>
          </a:xfrm>
        </p:spPr>
        <p:txBody>
          <a:bodyPr>
            <a:normAutofit fontScale="90000"/>
          </a:bodyPr>
          <a:lstStyle/>
          <a:p>
            <a:pPr algn="just">
              <a:lnSpc>
                <a:spcPct val="150000"/>
              </a:lnSpc>
              <a:buNone/>
            </a:pPr>
            <a:r>
              <a:rPr lang="en-US" sz="1900" dirty="0" smtClean="0">
                <a:solidFill>
                  <a:schemeClr val="tx1"/>
                </a:solidFill>
              </a:rPr>
              <a:t>A structured type refers to a data structure which is made-up of one or more elements known as components. These elements are simpler data structure that exist in language.</a:t>
            </a:r>
            <a:endParaRPr lang="en-US" sz="1900" dirty="0" smtClean="0">
              <a:solidFill>
                <a:schemeClr val="tx1"/>
              </a:solidFill>
            </a:endParaRPr>
          </a:p>
          <a:p>
            <a:pPr algn="just">
              <a:lnSpc>
                <a:spcPct val="150000"/>
              </a:lnSpc>
              <a:buNone/>
            </a:pPr>
            <a:endParaRPr lang="en-US" sz="1900" dirty="0" smtClean="0">
              <a:solidFill>
                <a:schemeClr val="tx1"/>
              </a:solidFill>
            </a:endParaRPr>
          </a:p>
          <a:p>
            <a:pPr algn="just">
              <a:lnSpc>
                <a:spcPct val="150000"/>
              </a:lnSpc>
              <a:buNone/>
            </a:pPr>
            <a:r>
              <a:rPr lang="en-US" sz="1900" dirty="0" smtClean="0">
                <a:solidFill>
                  <a:schemeClr val="tx1"/>
                </a:solidFill>
              </a:rPr>
              <a:t>The components of structured data type are grouped together according to a set of rules. for example the representation of </a:t>
            </a:r>
            <a:r>
              <a:rPr lang="en-US" altLang="en-US" sz="1900" dirty="0" smtClean="0">
                <a:solidFill>
                  <a:schemeClr val="tx1"/>
                </a:solidFill>
              </a:rPr>
              <a:t>Student’s Record</a:t>
            </a:r>
            <a:r>
              <a:rPr lang="en-US" sz="1900" dirty="0" smtClean="0">
                <a:solidFill>
                  <a:schemeClr val="tx1"/>
                </a:solidFill>
              </a:rPr>
              <a:t>.</a:t>
            </a:r>
            <a:endParaRPr lang="en-US" sz="1900" dirty="0" smtClean="0">
              <a:solidFill>
                <a:schemeClr val="tx1"/>
              </a:solidFill>
            </a:endParaRPr>
          </a:p>
          <a:p>
            <a:pPr algn="just">
              <a:lnSpc>
                <a:spcPct val="150000"/>
              </a:lnSpc>
            </a:pPr>
            <a:r>
              <a:rPr lang="en-US" altLang="en-US" sz="1900" dirty="0" smtClean="0">
                <a:solidFill>
                  <a:schemeClr val="tx1"/>
                </a:solidFill>
              </a:rPr>
              <a:t>Roll number (int)</a:t>
            </a:r>
            <a:endParaRPr lang="en-US" altLang="en-US" sz="1900" dirty="0" smtClean="0">
              <a:solidFill>
                <a:schemeClr val="tx1"/>
              </a:solidFill>
            </a:endParaRPr>
          </a:p>
          <a:p>
            <a:pPr algn="just">
              <a:lnSpc>
                <a:spcPct val="150000"/>
              </a:lnSpc>
            </a:pPr>
            <a:r>
              <a:rPr lang="en-US" altLang="en-US" sz="1900" dirty="0" smtClean="0">
                <a:solidFill>
                  <a:schemeClr val="tx1"/>
                </a:solidFill>
              </a:rPr>
              <a:t>Name (string)</a:t>
            </a:r>
            <a:endParaRPr lang="en-US" altLang="en-US" sz="1900" dirty="0" smtClean="0">
              <a:solidFill>
                <a:schemeClr val="tx1"/>
              </a:solidFill>
            </a:endParaRPr>
          </a:p>
          <a:p>
            <a:pPr algn="just">
              <a:lnSpc>
                <a:spcPct val="150000"/>
              </a:lnSpc>
            </a:pPr>
            <a:r>
              <a:rPr lang="en-US" altLang="en-US" sz="1900" dirty="0" smtClean="0">
                <a:solidFill>
                  <a:schemeClr val="tx1"/>
                </a:solidFill>
              </a:rPr>
              <a:t>Marks (float)</a:t>
            </a:r>
            <a:endParaRPr lang="en-US" altLang="en-US" sz="1900" dirty="0" smtClean="0">
              <a:solidFill>
                <a:schemeClr val="tx1"/>
              </a:solidFill>
            </a:endParaRPr>
          </a:p>
          <a:p>
            <a:pPr algn="just">
              <a:lnSpc>
                <a:spcPct val="150000"/>
              </a:lnSpc>
              <a:buNone/>
            </a:pPr>
            <a:r>
              <a:rPr lang="en-US" sz="1900" dirty="0" smtClean="0">
                <a:solidFill>
                  <a:schemeClr val="tx1"/>
                </a:solidFill>
              </a:rPr>
              <a:t>The structure type is implemented using </a:t>
            </a:r>
            <a:r>
              <a:rPr lang="en-US" sz="1900" b="1" dirty="0" smtClean="0">
                <a:solidFill>
                  <a:schemeClr val="tx1"/>
                </a:solidFill>
              </a:rPr>
              <a:t>struct</a:t>
            </a:r>
            <a:r>
              <a:rPr lang="en-US" sz="1900" dirty="0" smtClean="0">
                <a:solidFill>
                  <a:schemeClr val="tx1"/>
                </a:solidFill>
              </a:rPr>
              <a:t> keyword.</a:t>
            </a:r>
            <a:endParaRPr lang="en-US" sz="1900" dirty="0" smtClean="0">
              <a:solidFill>
                <a:schemeClr val="tx1"/>
              </a:solidFill>
            </a:endParaRPr>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33400" y="76200"/>
            <a:ext cx="8229600" cy="685800"/>
          </a:xfrm>
        </p:spPr>
        <p:txBody>
          <a:bodyPr anchor="ctr"/>
          <a:lstStyle/>
          <a:p>
            <a:r>
              <a:rPr lang="en-US" sz="3000" dirty="0" smtClean="0"/>
              <a:t>Atomic Type</a:t>
            </a:r>
            <a:endParaRPr lang="en-US" sz="3000" dirty="0"/>
          </a:p>
        </p:txBody>
      </p:sp>
      <p:sp>
        <p:nvSpPr>
          <p:cNvPr id="5" name="Content Placeholder 4"/>
          <p:cNvSpPr>
            <a:spLocks noGrp="1"/>
          </p:cNvSpPr>
          <p:nvPr>
            <p:ph idx="1"/>
          </p:nvPr>
        </p:nvSpPr>
        <p:spPr>
          <a:xfrm>
            <a:off x="381000" y="1036637"/>
            <a:ext cx="8305800" cy="5135563"/>
          </a:xfrm>
        </p:spPr>
        <p:txBody>
          <a:bodyPr>
            <a:normAutofit fontScale="77500" lnSpcReduction="20000"/>
          </a:bodyPr>
          <a:lstStyle/>
          <a:p>
            <a:pPr algn="just">
              <a:lnSpc>
                <a:spcPct val="150000"/>
              </a:lnSpc>
              <a:buNone/>
            </a:pPr>
            <a:r>
              <a:rPr lang="en-US" sz="1900" dirty="0" smtClean="0">
                <a:solidFill>
                  <a:schemeClr val="tx1"/>
                </a:solidFill>
              </a:rPr>
              <a:t>Generally, a data structure is represented by a  memory block, which has two parts</a:t>
            </a:r>
            <a:endParaRPr lang="en-US" sz="1900" dirty="0" smtClean="0">
              <a:solidFill>
                <a:schemeClr val="tx1"/>
              </a:solidFill>
            </a:endParaRPr>
          </a:p>
          <a:p>
            <a:pPr algn="just">
              <a:lnSpc>
                <a:spcPct val="150000"/>
              </a:lnSpc>
            </a:pPr>
            <a:endParaRPr lang="en-US" sz="1900" dirty="0" smtClean="0">
              <a:solidFill>
                <a:schemeClr val="tx1"/>
              </a:solidFill>
            </a:endParaRPr>
          </a:p>
          <a:p>
            <a:pPr algn="just">
              <a:lnSpc>
                <a:spcPct val="150000"/>
              </a:lnSpc>
            </a:pPr>
            <a:r>
              <a:rPr lang="en-US" sz="1900" dirty="0" smtClean="0">
                <a:solidFill>
                  <a:schemeClr val="tx1"/>
                </a:solidFill>
              </a:rPr>
              <a:t>Data Storage</a:t>
            </a:r>
            <a:endParaRPr lang="en-US" sz="1900" dirty="0" smtClean="0">
              <a:solidFill>
                <a:schemeClr val="tx1"/>
              </a:solidFill>
            </a:endParaRPr>
          </a:p>
          <a:p>
            <a:pPr algn="just">
              <a:lnSpc>
                <a:spcPct val="150000"/>
              </a:lnSpc>
            </a:pPr>
            <a:r>
              <a:rPr lang="en-US" sz="1900" dirty="0" smtClean="0">
                <a:solidFill>
                  <a:schemeClr val="tx1"/>
                </a:solidFill>
              </a:rPr>
              <a:t>Address Storage</a:t>
            </a:r>
            <a:endParaRPr lang="en-US" sz="1900" dirty="0" smtClean="0">
              <a:solidFill>
                <a:schemeClr val="tx1"/>
              </a:solidFill>
            </a:endParaRPr>
          </a:p>
          <a:p>
            <a:pPr algn="just">
              <a:lnSpc>
                <a:spcPct val="150000"/>
              </a:lnSpc>
              <a:buNone/>
            </a:pPr>
            <a:endParaRPr lang="en-US" sz="1900" dirty="0" smtClean="0">
              <a:solidFill>
                <a:schemeClr val="tx1"/>
              </a:solidFill>
            </a:endParaRPr>
          </a:p>
          <a:p>
            <a:pPr algn="just">
              <a:lnSpc>
                <a:spcPct val="150000"/>
              </a:lnSpc>
              <a:buNone/>
            </a:pPr>
            <a:endParaRPr lang="en-US" sz="1900" dirty="0" smtClean="0">
              <a:solidFill>
                <a:schemeClr val="tx1"/>
              </a:solidFill>
            </a:endParaRPr>
          </a:p>
          <a:p>
            <a:pPr algn="just">
              <a:lnSpc>
                <a:spcPct val="150000"/>
              </a:lnSpc>
              <a:buNone/>
            </a:pPr>
            <a:r>
              <a:rPr lang="en-US" sz="1900" dirty="0" smtClean="0">
                <a:solidFill>
                  <a:schemeClr val="tx1"/>
                </a:solidFill>
              </a:rPr>
              <a:t>This facilitates in storing data and relating it to some other data by means of storing pointer in the address part. data type that is indivisible or cannot be further subdivided into smaller components </a:t>
            </a:r>
            <a:endParaRPr lang="en-US" sz="1900" dirty="0" smtClean="0">
              <a:solidFill>
                <a:schemeClr val="tx1"/>
              </a:solidFill>
            </a:endParaRPr>
          </a:p>
          <a:p>
            <a:pPr algn="just">
              <a:lnSpc>
                <a:spcPct val="150000"/>
              </a:lnSpc>
              <a:buNone/>
            </a:pPr>
            <a:endParaRPr lang="en-US" sz="1900" dirty="0" smtClean="0">
              <a:solidFill>
                <a:schemeClr val="tx1"/>
              </a:solidFill>
            </a:endParaRPr>
          </a:p>
          <a:p>
            <a:pPr algn="just">
              <a:lnSpc>
                <a:spcPct val="150000"/>
              </a:lnSpc>
              <a:buNone/>
            </a:pPr>
            <a:r>
              <a:rPr lang="en-US" sz="1900" dirty="0" smtClean="0">
                <a:solidFill>
                  <a:schemeClr val="tx1"/>
                </a:solidFill>
              </a:rPr>
              <a:t>An atomic type data is data structure that contains only the data items and not the pointer. Thus, for a list of data items, several atomic type nodes may exist each with single data item corresponding to one of the legal data types. the list maintained using a list node which contains pointer to these atomic nodes and a type indicator indicating the type of atomic node to which it points.</a:t>
            </a:r>
            <a:endParaRPr lang="en-US" sz="1900" dirty="0" smtClean="0">
              <a:solidFill>
                <a:schemeClr val="tx1"/>
              </a:solidFill>
            </a:endParaRPr>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pic>
        <p:nvPicPr>
          <p:cNvPr id="1027" name="Picture 3"/>
          <p:cNvPicPr>
            <a:picLocks noChangeAspect="1" noChangeArrowheads="1"/>
          </p:cNvPicPr>
          <p:nvPr/>
        </p:nvPicPr>
        <p:blipFill>
          <a:blip r:embed="rId1"/>
          <a:srcRect/>
          <a:stretch>
            <a:fillRect/>
          </a:stretch>
        </p:blipFill>
        <p:spPr bwMode="auto">
          <a:xfrm>
            <a:off x="3000364" y="1643050"/>
            <a:ext cx="5568862" cy="1371604"/>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00034" y="357166"/>
            <a:ext cx="8229600" cy="685800"/>
          </a:xfrm>
        </p:spPr>
        <p:txBody>
          <a:bodyPr anchor="ctr"/>
          <a:lstStyle/>
          <a:p>
            <a:r>
              <a:rPr lang="en-US" sz="3000" dirty="0" smtClean="0"/>
              <a:t>Difference between Abstract Data Type, Data Types and Data Structures</a:t>
            </a:r>
            <a:endParaRPr lang="en-US" sz="3000" dirty="0"/>
          </a:p>
        </p:txBody>
      </p:sp>
      <p:sp>
        <p:nvSpPr>
          <p:cNvPr id="5" name="Content Placeholder 4"/>
          <p:cNvSpPr>
            <a:spLocks noGrp="1"/>
          </p:cNvSpPr>
          <p:nvPr>
            <p:ph idx="1"/>
          </p:nvPr>
        </p:nvSpPr>
        <p:spPr>
          <a:xfrm>
            <a:off x="357158" y="1643050"/>
            <a:ext cx="8305800" cy="4029084"/>
          </a:xfrm>
        </p:spPr>
        <p:txBody>
          <a:bodyPr>
            <a:normAutofit/>
          </a:bodyPr>
          <a:lstStyle/>
          <a:p>
            <a:pPr algn="just">
              <a:lnSpc>
                <a:spcPct val="150000"/>
              </a:lnSpc>
              <a:buNone/>
            </a:pPr>
            <a:r>
              <a:rPr lang="en-US" sz="1900" b="1" dirty="0" smtClean="0">
                <a:solidFill>
                  <a:schemeClr val="tx1"/>
                </a:solidFill>
              </a:rPr>
              <a:t>Abstract data type </a:t>
            </a:r>
            <a:r>
              <a:rPr lang="en-US" sz="1900" dirty="0" smtClean="0">
                <a:solidFill>
                  <a:schemeClr val="tx1"/>
                </a:solidFill>
              </a:rPr>
              <a:t>is specification of the data type which specifies the logical and mathematical model of the data type.</a:t>
            </a:r>
            <a:endParaRPr lang="en-US" sz="1900" dirty="0" smtClean="0">
              <a:solidFill>
                <a:schemeClr val="tx1"/>
              </a:solidFill>
            </a:endParaRPr>
          </a:p>
          <a:p>
            <a:pPr algn="just">
              <a:lnSpc>
                <a:spcPct val="150000"/>
              </a:lnSpc>
              <a:buNone/>
            </a:pPr>
            <a:endParaRPr lang="en-US" sz="1900" dirty="0" smtClean="0">
              <a:solidFill>
                <a:schemeClr val="tx1"/>
              </a:solidFill>
            </a:endParaRPr>
          </a:p>
          <a:p>
            <a:pPr algn="just">
              <a:lnSpc>
                <a:spcPct val="150000"/>
              </a:lnSpc>
              <a:buNone/>
            </a:pPr>
            <a:r>
              <a:rPr lang="en-US" sz="1900" b="1" dirty="0" smtClean="0">
                <a:solidFill>
                  <a:schemeClr val="tx1"/>
                </a:solidFill>
              </a:rPr>
              <a:t>Data type </a:t>
            </a:r>
            <a:r>
              <a:rPr lang="en-US" sz="1900" dirty="0" smtClean="0">
                <a:solidFill>
                  <a:schemeClr val="tx1"/>
                </a:solidFill>
              </a:rPr>
              <a:t>is implementation of abstract data type.</a:t>
            </a:r>
            <a:endParaRPr lang="en-US" sz="1900" dirty="0" smtClean="0">
              <a:solidFill>
                <a:schemeClr val="tx1"/>
              </a:solidFill>
            </a:endParaRPr>
          </a:p>
          <a:p>
            <a:pPr algn="just">
              <a:lnSpc>
                <a:spcPct val="150000"/>
              </a:lnSpc>
              <a:buNone/>
            </a:pPr>
            <a:endParaRPr lang="en-US" sz="1900" dirty="0" smtClean="0">
              <a:solidFill>
                <a:schemeClr val="tx1"/>
              </a:solidFill>
            </a:endParaRPr>
          </a:p>
          <a:p>
            <a:pPr algn="just">
              <a:lnSpc>
                <a:spcPct val="150000"/>
              </a:lnSpc>
              <a:buNone/>
            </a:pPr>
            <a:r>
              <a:rPr lang="en-US" sz="1900" b="1" dirty="0" smtClean="0">
                <a:solidFill>
                  <a:schemeClr val="tx1"/>
                </a:solidFill>
              </a:rPr>
              <a:t>Data Structure </a:t>
            </a:r>
            <a:r>
              <a:rPr lang="en-US" sz="1900" dirty="0" smtClean="0">
                <a:solidFill>
                  <a:schemeClr val="tx1"/>
                </a:solidFill>
              </a:rPr>
              <a:t>refers to collection of computer variables that are connected in some specific manner.</a:t>
            </a:r>
            <a:endParaRPr lang="en-US" sz="1900" dirty="0" smtClean="0">
              <a:solidFill>
                <a:schemeClr val="tx1"/>
              </a:solidFill>
            </a:endParaRPr>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00034" y="357166"/>
            <a:ext cx="8229600" cy="685800"/>
          </a:xfrm>
        </p:spPr>
        <p:txBody>
          <a:bodyPr anchor="ctr"/>
          <a:lstStyle/>
          <a:p>
            <a:r>
              <a:rPr lang="en-US" sz="3000" dirty="0" smtClean="0"/>
              <a:t>Algorithm</a:t>
            </a:r>
            <a:endParaRPr lang="en-US" sz="3000" dirty="0"/>
          </a:p>
        </p:txBody>
      </p:sp>
      <p:sp>
        <p:nvSpPr>
          <p:cNvPr id="5" name="Content Placeholder 4"/>
          <p:cNvSpPr>
            <a:spLocks noGrp="1"/>
          </p:cNvSpPr>
          <p:nvPr>
            <p:ph idx="1"/>
          </p:nvPr>
        </p:nvSpPr>
        <p:spPr>
          <a:xfrm>
            <a:off x="357158" y="1643050"/>
            <a:ext cx="8305800" cy="4029084"/>
          </a:xfrm>
        </p:spPr>
        <p:txBody>
          <a:bodyPr>
            <a:normAutofit fontScale="92500" lnSpcReduction="10000"/>
          </a:bodyPr>
          <a:lstStyle/>
          <a:p>
            <a:pPr algn="just"/>
            <a:r>
              <a:rPr lang="en-US" sz="2000" b="1" dirty="0" smtClean="0">
                <a:solidFill>
                  <a:schemeClr val="tx1"/>
                </a:solidFill>
              </a:rPr>
              <a:t>“Algorithm" </a:t>
            </a:r>
            <a:r>
              <a:rPr lang="en-US" altLang="zh-CN" sz="2000" b="1" dirty="0" smtClean="0">
                <a:solidFill>
                  <a:schemeClr val="tx1"/>
                </a:solidFill>
              </a:rPr>
              <a:t>:  It  is  a  step  by  step  descriptive    procedure  for solving a particular problem.</a:t>
            </a:r>
            <a:endParaRPr lang="en-US" sz="2000" b="1" dirty="0" smtClean="0">
              <a:solidFill>
                <a:schemeClr val="tx1"/>
              </a:solidFill>
            </a:endParaRPr>
          </a:p>
          <a:p>
            <a:pPr algn="just"/>
            <a:endParaRPr lang="en-US" sz="2000" dirty="0" smtClean="0">
              <a:solidFill>
                <a:schemeClr val="tx1"/>
              </a:solidFill>
            </a:endParaRPr>
          </a:p>
          <a:p>
            <a:pPr algn="just"/>
            <a:r>
              <a:rPr lang="en-US" sz="2000" dirty="0" smtClean="0">
                <a:solidFill>
                  <a:schemeClr val="tx1"/>
                </a:solidFill>
              </a:rPr>
              <a:t>The algorithm gives logic of the program, that is, a step-by-step description of how to arrive at a solution.</a:t>
            </a:r>
            <a:endParaRPr lang="en-US" sz="2000" dirty="0" smtClean="0">
              <a:solidFill>
                <a:schemeClr val="tx1"/>
              </a:solidFill>
            </a:endParaRPr>
          </a:p>
          <a:p>
            <a:pPr algn="just"/>
            <a:endParaRPr lang="en-US" sz="2000" dirty="0" smtClean="0">
              <a:solidFill>
                <a:schemeClr val="tx1"/>
              </a:solidFill>
            </a:endParaRPr>
          </a:p>
          <a:p>
            <a:pPr algn="just">
              <a:buNone/>
            </a:pPr>
            <a:r>
              <a:rPr lang="en-US" sz="2000" dirty="0" smtClean="0">
                <a:solidFill>
                  <a:schemeClr val="tx1"/>
                </a:solidFill>
              </a:rPr>
              <a:t>A sequence of instructions must process the following characteristics:</a:t>
            </a:r>
            <a:endParaRPr lang="en-US" sz="2000" dirty="0" smtClean="0">
              <a:solidFill>
                <a:schemeClr val="tx1"/>
              </a:solidFill>
            </a:endParaRPr>
          </a:p>
          <a:p>
            <a:pPr algn="just"/>
            <a:endParaRPr lang="en-US" sz="2000" dirty="0" smtClean="0">
              <a:solidFill>
                <a:schemeClr val="tx1"/>
              </a:solidFill>
            </a:endParaRPr>
          </a:p>
          <a:p>
            <a:pPr algn="just"/>
            <a:r>
              <a:rPr lang="en-US" sz="2000" dirty="0" smtClean="0">
                <a:solidFill>
                  <a:schemeClr val="tx1"/>
                </a:solidFill>
              </a:rPr>
              <a:t>Instructions must be clear</a:t>
            </a:r>
            <a:endParaRPr lang="en-US" sz="2000" dirty="0" smtClean="0">
              <a:solidFill>
                <a:schemeClr val="tx1"/>
              </a:solidFill>
            </a:endParaRPr>
          </a:p>
          <a:p>
            <a:pPr algn="just"/>
            <a:r>
              <a:rPr lang="en-US" sz="2000" dirty="0" smtClean="0">
                <a:solidFill>
                  <a:schemeClr val="tx1"/>
                </a:solidFill>
              </a:rPr>
              <a:t>Instructions must be effective.</a:t>
            </a:r>
            <a:endParaRPr lang="en-US" sz="2000" dirty="0" smtClean="0">
              <a:solidFill>
                <a:schemeClr val="tx1"/>
              </a:solidFill>
            </a:endParaRPr>
          </a:p>
          <a:p>
            <a:pPr algn="just"/>
            <a:r>
              <a:rPr lang="en-US" sz="2000" dirty="0" smtClean="0">
                <a:solidFill>
                  <a:schemeClr val="tx1"/>
                </a:solidFill>
              </a:rPr>
              <a:t>Not even a single instruction must not be repeated infinitely</a:t>
            </a:r>
            <a:endParaRPr lang="en-US" sz="2000" dirty="0" smtClean="0">
              <a:solidFill>
                <a:schemeClr val="tx1"/>
              </a:solidFill>
            </a:endParaRPr>
          </a:p>
          <a:p>
            <a:pPr algn="just"/>
            <a:r>
              <a:rPr lang="en-US" sz="2000" dirty="0" smtClean="0">
                <a:solidFill>
                  <a:schemeClr val="tx1"/>
                </a:solidFill>
              </a:rPr>
              <a:t>After the algorithm gets terminated, the desired result must be obtained</a:t>
            </a:r>
            <a:endParaRPr lang="en-US" sz="2000" dirty="0" smtClean="0">
              <a:solidFill>
                <a:schemeClr val="tx1"/>
              </a:solidFill>
            </a:endParaRPr>
          </a:p>
          <a:p>
            <a:pPr algn="just"/>
            <a:endParaRPr lang="en-US" sz="2000" dirty="0" smtClean="0">
              <a:solidFill>
                <a:schemeClr val="tx1"/>
              </a:solidFill>
            </a:endParaRPr>
          </a:p>
          <a:p>
            <a:pPr algn="just"/>
            <a:endParaRPr lang="en-US" sz="2000" dirty="0">
              <a:solidFill>
                <a:schemeClr val="tx1"/>
              </a:solidFill>
            </a:endParaRPr>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00034" y="357166"/>
            <a:ext cx="8229600" cy="685800"/>
          </a:xfrm>
        </p:spPr>
        <p:txBody>
          <a:bodyPr anchor="ctr"/>
          <a:lstStyle/>
          <a:p>
            <a:r>
              <a:rPr lang="en-US" sz="2800" dirty="0" smtClean="0"/>
              <a:t>Different Approaches to Designing an Algorithm</a:t>
            </a:r>
            <a:endParaRPr lang="en-US" sz="2800" dirty="0"/>
          </a:p>
        </p:txBody>
      </p:sp>
      <p:sp>
        <p:nvSpPr>
          <p:cNvPr id="5" name="Content Placeholder 4"/>
          <p:cNvSpPr>
            <a:spLocks noGrp="1"/>
          </p:cNvSpPr>
          <p:nvPr>
            <p:ph idx="1"/>
          </p:nvPr>
        </p:nvSpPr>
        <p:spPr>
          <a:xfrm>
            <a:off x="357158" y="1643050"/>
            <a:ext cx="8305800" cy="4029084"/>
          </a:xfrm>
        </p:spPr>
        <p:txBody>
          <a:bodyPr>
            <a:normAutofit lnSpcReduction="10000"/>
          </a:bodyPr>
          <a:lstStyle/>
          <a:p>
            <a:pPr marL="457200" indent="-457200" algn="just">
              <a:buFont typeface="+mj-lt"/>
              <a:buAutoNum type="arabicPeriod"/>
            </a:pPr>
            <a:r>
              <a:rPr lang="en-US" sz="2000" dirty="0" smtClean="0">
                <a:solidFill>
                  <a:schemeClr val="tx1"/>
                </a:solidFill>
              </a:rPr>
              <a:t>Top-Down Approach </a:t>
            </a:r>
            <a:endParaRPr lang="en-US" sz="2000" dirty="0" smtClean="0">
              <a:solidFill>
                <a:schemeClr val="tx1"/>
              </a:solidFill>
            </a:endParaRPr>
          </a:p>
          <a:p>
            <a:pPr marL="457200" indent="-457200" algn="just">
              <a:buFont typeface="+mj-lt"/>
              <a:buAutoNum type="arabicPeriod"/>
            </a:pPr>
            <a:r>
              <a:rPr lang="en-US" sz="2000" dirty="0" smtClean="0">
                <a:solidFill>
                  <a:schemeClr val="tx1"/>
                </a:solidFill>
              </a:rPr>
              <a:t>Bottom-Up Approach</a:t>
            </a:r>
            <a:endParaRPr lang="en-US" sz="2000" dirty="0" smtClean="0">
              <a:solidFill>
                <a:schemeClr val="tx1"/>
              </a:solidFill>
            </a:endParaRPr>
          </a:p>
          <a:p>
            <a:pPr marL="457200" indent="-457200" algn="just">
              <a:buFont typeface="+mj-lt"/>
              <a:buAutoNum type="arabicPeriod"/>
            </a:pPr>
            <a:endParaRPr lang="en-US" sz="2000" dirty="0" smtClean="0">
              <a:solidFill>
                <a:schemeClr val="tx1"/>
              </a:solidFill>
            </a:endParaRPr>
          </a:p>
          <a:p>
            <a:pPr marL="457200" indent="-457200" algn="just">
              <a:buNone/>
            </a:pPr>
            <a:endParaRPr lang="en-US" sz="2000" dirty="0" smtClean="0">
              <a:solidFill>
                <a:schemeClr val="tx1"/>
              </a:solidFill>
            </a:endParaRPr>
          </a:p>
          <a:p>
            <a:pPr algn="just">
              <a:buNone/>
            </a:pPr>
            <a:r>
              <a:rPr lang="en-US" sz="2000" b="1" dirty="0" smtClean="0">
                <a:solidFill>
                  <a:schemeClr val="tx1"/>
                </a:solidFill>
              </a:rPr>
              <a:t>Top-Down Approach </a:t>
            </a:r>
            <a:endParaRPr lang="en-US" sz="2000" b="1" dirty="0" smtClean="0">
              <a:solidFill>
                <a:schemeClr val="tx1"/>
              </a:solidFill>
            </a:endParaRPr>
          </a:p>
          <a:p>
            <a:pPr algn="just">
              <a:buNone/>
            </a:pPr>
            <a:r>
              <a:rPr lang="en-US" sz="2000" dirty="0" smtClean="0">
                <a:solidFill>
                  <a:schemeClr val="tx1"/>
                </a:solidFill>
              </a:rPr>
              <a:t>Top-Down Model is a system design approach where design starts from the system as a whole. Complete System is then divided into smaller sub-applications with more details. Each part again goes through the top-down approach till the complete system is designed with all minute details. Top Down approach is also termed as breaking the bigger problem into smaller problems and solving them individually in recursive manner.</a:t>
            </a:r>
            <a:endParaRPr lang="en-US" sz="2000" dirty="0" smtClean="0">
              <a:solidFill>
                <a:schemeClr val="tx1"/>
              </a:solidFill>
            </a:endParaRPr>
          </a:p>
          <a:p>
            <a:pPr algn="just">
              <a:buNone/>
            </a:pPr>
            <a:endParaRPr lang="en-US" sz="2000" dirty="0" smtClean="0">
              <a:solidFill>
                <a:schemeClr val="tx1"/>
              </a:solidFill>
            </a:endParaRPr>
          </a:p>
          <a:p>
            <a:pPr algn="just">
              <a:buNone/>
            </a:pPr>
            <a:endParaRPr lang="en-US" sz="2000" dirty="0" smtClean="0">
              <a:solidFill>
                <a:schemeClr val="tx1"/>
              </a:solidFill>
            </a:endParaRPr>
          </a:p>
          <a:p>
            <a:pPr algn="just">
              <a:buNone/>
            </a:pPr>
            <a:endParaRPr lang="en-US" sz="2000" dirty="0" smtClean="0">
              <a:solidFill>
                <a:schemeClr val="tx1"/>
              </a:solidFill>
            </a:endParaRPr>
          </a:p>
          <a:p>
            <a:pPr algn="just">
              <a:buNone/>
            </a:pPr>
            <a:endParaRPr lang="en-US" sz="2000" dirty="0">
              <a:solidFill>
                <a:schemeClr val="tx1"/>
              </a:solidFill>
            </a:endParaRPr>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00034" y="357166"/>
            <a:ext cx="8229600" cy="685800"/>
          </a:xfrm>
        </p:spPr>
        <p:txBody>
          <a:bodyPr anchor="ctr"/>
          <a:lstStyle/>
          <a:p>
            <a:r>
              <a:rPr lang="en-US" sz="2800" dirty="0" smtClean="0"/>
              <a:t>Different Approaches to Designing an Algorithm</a:t>
            </a:r>
            <a:endParaRPr lang="en-US" sz="2800" dirty="0"/>
          </a:p>
        </p:txBody>
      </p:sp>
      <p:sp>
        <p:nvSpPr>
          <p:cNvPr id="5" name="Content Placeholder 4"/>
          <p:cNvSpPr>
            <a:spLocks noGrp="1"/>
          </p:cNvSpPr>
          <p:nvPr>
            <p:ph idx="1"/>
          </p:nvPr>
        </p:nvSpPr>
        <p:spPr>
          <a:xfrm>
            <a:off x="357158" y="1643050"/>
            <a:ext cx="8305800" cy="4029084"/>
          </a:xfrm>
        </p:spPr>
        <p:txBody>
          <a:bodyPr>
            <a:normAutofit/>
          </a:bodyPr>
          <a:lstStyle/>
          <a:p>
            <a:pPr marL="457200" indent="-457200" algn="just">
              <a:buNone/>
            </a:pPr>
            <a:r>
              <a:rPr lang="en-US" sz="2000" b="1" dirty="0" smtClean="0">
                <a:solidFill>
                  <a:schemeClr val="tx1"/>
                </a:solidFill>
              </a:rPr>
              <a:t>Bottom-Up Approach</a:t>
            </a:r>
            <a:endParaRPr lang="en-US" sz="2000" b="1" dirty="0" smtClean="0">
              <a:solidFill>
                <a:schemeClr val="tx1"/>
              </a:solidFill>
            </a:endParaRPr>
          </a:p>
          <a:p>
            <a:pPr algn="just"/>
            <a:r>
              <a:rPr lang="en-US" sz="2000" dirty="0" smtClean="0">
                <a:solidFill>
                  <a:schemeClr val="tx1"/>
                </a:solidFill>
              </a:rPr>
              <a:t>Bottom-Up Model is a system design approach where parts of the system are defined in details. Once these parts are designed and developed, then these parts or components are linked together to prepare a bigger component. This approach is repeated until the complete system is built. Advantage of Bottom-Up Model is in making decisions at very low level and to decide the re-usability of components.</a:t>
            </a:r>
            <a:endParaRPr lang="en-US" sz="2000" dirty="0" smtClean="0">
              <a:solidFill>
                <a:schemeClr val="tx1"/>
              </a:solidFill>
            </a:endParaRPr>
          </a:p>
          <a:p>
            <a:pPr algn="just">
              <a:buNone/>
            </a:pPr>
            <a:endParaRPr lang="en-US" sz="2000" dirty="0">
              <a:solidFill>
                <a:schemeClr val="tx1"/>
              </a:solidFill>
            </a:endParaRPr>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00034" y="357166"/>
            <a:ext cx="8229600" cy="685800"/>
          </a:xfrm>
        </p:spPr>
        <p:txBody>
          <a:bodyPr anchor="ctr"/>
          <a:lstStyle/>
          <a:p>
            <a:r>
              <a:rPr lang="en-IN" sz="2800" dirty="0" smtClean="0"/>
              <a:t>Divide – and – Conquer approach </a:t>
            </a:r>
            <a:endParaRPr lang="en-US" sz="2800" dirty="0"/>
          </a:p>
        </p:txBody>
      </p:sp>
      <p:sp>
        <p:nvSpPr>
          <p:cNvPr id="5" name="Content Placeholder 4"/>
          <p:cNvSpPr>
            <a:spLocks noGrp="1"/>
          </p:cNvSpPr>
          <p:nvPr>
            <p:ph idx="1"/>
          </p:nvPr>
        </p:nvSpPr>
        <p:spPr>
          <a:xfrm>
            <a:off x="357158" y="1643050"/>
            <a:ext cx="8305800" cy="4029084"/>
          </a:xfrm>
        </p:spPr>
        <p:txBody>
          <a:bodyPr>
            <a:normAutofit/>
          </a:bodyPr>
          <a:lstStyle/>
          <a:p>
            <a:r>
              <a:rPr lang="en-US" sz="2000" dirty="0" smtClean="0">
                <a:solidFill>
                  <a:schemeClr val="tx1"/>
                </a:solidFill>
              </a:rPr>
              <a:t>The </a:t>
            </a:r>
            <a:r>
              <a:rPr lang="en-US" sz="2000" b="1" dirty="0" smtClean="0">
                <a:solidFill>
                  <a:schemeClr val="tx1"/>
                </a:solidFill>
              </a:rPr>
              <a:t>Divide and Conquer </a:t>
            </a:r>
            <a:r>
              <a:rPr lang="en-US" sz="2000" dirty="0" smtClean="0">
                <a:solidFill>
                  <a:schemeClr val="tx1"/>
                </a:solidFill>
              </a:rPr>
              <a:t>strategy involves dividing the problem into sub-problem, recursively solving them, and then recombining them for the final answer. </a:t>
            </a:r>
            <a:endParaRPr lang="en-US" sz="2000" dirty="0" smtClean="0">
              <a:solidFill>
                <a:schemeClr val="tx1"/>
              </a:solidFill>
            </a:endParaRPr>
          </a:p>
          <a:p>
            <a:r>
              <a:rPr lang="en-US" sz="2000" dirty="0" smtClean="0">
                <a:solidFill>
                  <a:schemeClr val="tx1"/>
                </a:solidFill>
              </a:rPr>
              <a:t>E.g. Merge</a:t>
            </a:r>
            <a:endParaRPr lang="en-IN" sz="2000" dirty="0">
              <a:solidFill>
                <a:schemeClr val="tx1"/>
              </a:solidFill>
            </a:endParaRPr>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00034" y="357166"/>
            <a:ext cx="8229600" cy="685800"/>
          </a:xfrm>
        </p:spPr>
        <p:txBody>
          <a:bodyPr anchor="ctr"/>
          <a:lstStyle/>
          <a:p>
            <a:r>
              <a:rPr lang="en-US" sz="2800" dirty="0" smtClean="0"/>
              <a:t>Different Approaches to Designing an Algorithm</a:t>
            </a:r>
            <a:endParaRPr lang="en-US" sz="2800" dirty="0"/>
          </a:p>
        </p:txBody>
      </p:sp>
      <p:graphicFrame>
        <p:nvGraphicFramePr>
          <p:cNvPr id="7" name="Content Placeholder 6"/>
          <p:cNvGraphicFramePr>
            <a:graphicFrameLocks noGrp="1"/>
          </p:cNvGraphicFramePr>
          <p:nvPr>
            <p:ph idx="1"/>
          </p:nvPr>
        </p:nvGraphicFramePr>
        <p:xfrm>
          <a:off x="214284" y="1151189"/>
          <a:ext cx="8715435" cy="5031785"/>
        </p:xfrm>
        <a:graphic>
          <a:graphicData uri="http://schemas.openxmlformats.org/drawingml/2006/table">
            <a:tbl>
              <a:tblPr/>
              <a:tblGrid>
                <a:gridCol w="619125"/>
                <a:gridCol w="1059995"/>
                <a:gridCol w="3678728"/>
                <a:gridCol w="3357587"/>
              </a:tblGrid>
              <a:tr h="262148">
                <a:tc>
                  <a:txBody>
                    <a:bodyPr/>
                    <a:lstStyle/>
                    <a:p>
                      <a:pPr algn="l" fontAlgn="t"/>
                      <a:r>
                        <a:rPr lang="en-US" sz="1400" b="1" dirty="0"/>
                        <a:t>Sr. No.</a:t>
                      </a:r>
                      <a:endParaRPr lang="en-US" sz="1400" b="1" dirty="0"/>
                    </a:p>
                  </a:txBody>
                  <a:tcPr marL="20768" marR="20768" marT="20768" marB="20768">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EEEEE"/>
                    </a:solidFill>
                  </a:tcPr>
                </a:tc>
                <a:tc>
                  <a:txBody>
                    <a:bodyPr/>
                    <a:lstStyle/>
                    <a:p>
                      <a:pPr algn="ctr" fontAlgn="t"/>
                      <a:r>
                        <a:rPr lang="en-US" sz="1400" b="1" dirty="0"/>
                        <a:t>Key</a:t>
                      </a:r>
                      <a:endParaRPr lang="en-US" sz="1400" b="1" dirty="0"/>
                    </a:p>
                  </a:txBody>
                  <a:tcPr marL="20768" marR="20768" marT="20768" marB="20768">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EEEEE"/>
                    </a:solidFill>
                  </a:tcPr>
                </a:tc>
                <a:tc>
                  <a:txBody>
                    <a:bodyPr/>
                    <a:lstStyle/>
                    <a:p>
                      <a:pPr algn="ctr" fontAlgn="t"/>
                      <a:r>
                        <a:rPr lang="en-US" sz="1400" b="1" dirty="0"/>
                        <a:t>Bottom-Up Model</a:t>
                      </a:r>
                      <a:endParaRPr lang="en-US" sz="1400" b="1" dirty="0"/>
                    </a:p>
                  </a:txBody>
                  <a:tcPr marL="20768" marR="20768" marT="20768" marB="20768">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EEEEE"/>
                    </a:solidFill>
                  </a:tcPr>
                </a:tc>
                <a:tc>
                  <a:txBody>
                    <a:bodyPr/>
                    <a:lstStyle/>
                    <a:p>
                      <a:pPr algn="ctr" fontAlgn="t"/>
                      <a:r>
                        <a:rPr lang="en-US" sz="1400" b="1" dirty="0"/>
                        <a:t>Top-Down Model</a:t>
                      </a:r>
                      <a:endParaRPr lang="en-US" sz="1400" b="1" dirty="0"/>
                    </a:p>
                  </a:txBody>
                  <a:tcPr marL="20768" marR="20768" marT="20768" marB="20768">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EEEEE"/>
                    </a:solidFill>
                  </a:tcPr>
                </a:tc>
              </a:tr>
              <a:tr h="1023737">
                <a:tc>
                  <a:txBody>
                    <a:bodyPr/>
                    <a:lstStyle/>
                    <a:p>
                      <a:pPr algn="ctr" fontAlgn="ctr"/>
                      <a:r>
                        <a:rPr lang="en-US" sz="1400"/>
                        <a:t>1</a:t>
                      </a:r>
                      <a:endParaRPr lang="en-US" sz="1400"/>
                    </a:p>
                  </a:txBody>
                  <a:tcPr marL="20768" marR="20768" marT="20768" marB="20768"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sz="1400" dirty="0"/>
                        <a:t>Focus</a:t>
                      </a:r>
                      <a:endParaRPr lang="en-US" sz="1400" dirty="0"/>
                    </a:p>
                  </a:txBody>
                  <a:tcPr marL="20768" marR="20768" marT="20768" marB="20768">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sz="1400" dirty="0"/>
                        <a:t>In Bottom-Up Model, the focus is on identifying and resolving smallest problems and then integrating them together to solve the bigger problem.</a:t>
                      </a:r>
                      <a:endParaRPr lang="en-US" sz="1400" dirty="0"/>
                    </a:p>
                  </a:txBody>
                  <a:tcPr marL="20768" marR="20768" marT="20768" marB="20768">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sz="1400" dirty="0"/>
                        <a:t>In Top-down Model, the focus is on breaking the bigger problem into smaller one and then repeat the process with each problem.</a:t>
                      </a:r>
                      <a:endParaRPr lang="en-US" sz="1400" dirty="0"/>
                    </a:p>
                  </a:txBody>
                  <a:tcPr marL="20768" marR="20768" marT="20768" marB="20768">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r>
              <a:tr h="707958">
                <a:tc>
                  <a:txBody>
                    <a:bodyPr/>
                    <a:lstStyle/>
                    <a:p>
                      <a:pPr algn="ctr" fontAlgn="ctr"/>
                      <a:r>
                        <a:rPr lang="en-US" sz="1400"/>
                        <a:t>2</a:t>
                      </a:r>
                      <a:endParaRPr lang="en-US" sz="1400"/>
                    </a:p>
                  </a:txBody>
                  <a:tcPr marL="20768" marR="20768" marT="20768" marB="20768"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sz="1400"/>
                        <a:t>Language</a:t>
                      </a:r>
                      <a:endParaRPr lang="en-US" sz="1400"/>
                    </a:p>
                  </a:txBody>
                  <a:tcPr marL="20768" marR="20768" marT="20768" marB="20768">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sz="1400"/>
                        <a:t>Bottom-Up Model is mainly used by object oriented programming languages like Java, C++ etc.</a:t>
                      </a:r>
                      <a:endParaRPr lang="en-US" sz="1400"/>
                    </a:p>
                  </a:txBody>
                  <a:tcPr marL="20768" marR="20768" marT="20768" marB="20768">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sz="1400"/>
                        <a:t>Top-Down Model is followed by structural programming languages like C, Fortran etc.</a:t>
                      </a:r>
                      <a:endParaRPr lang="en-US" sz="1400"/>
                    </a:p>
                  </a:txBody>
                  <a:tcPr marL="20768" marR="20768" marT="20768" marB="20768">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r>
              <a:tr h="801659">
                <a:tc>
                  <a:txBody>
                    <a:bodyPr/>
                    <a:lstStyle/>
                    <a:p>
                      <a:pPr algn="ctr" fontAlgn="ctr"/>
                      <a:r>
                        <a:rPr lang="en-US" sz="1400"/>
                        <a:t>3</a:t>
                      </a:r>
                      <a:endParaRPr lang="en-US" sz="1400"/>
                    </a:p>
                  </a:txBody>
                  <a:tcPr marL="20768" marR="20768" marT="20768" marB="20768"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sz="1400"/>
                        <a:t>Redundancy</a:t>
                      </a:r>
                      <a:endParaRPr lang="en-US" sz="1400"/>
                    </a:p>
                  </a:txBody>
                  <a:tcPr marL="20768" marR="20768" marT="20768" marB="20768">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sz="1400"/>
                        <a:t>Bottom-Up model is better suited as it ensures minimum data redundancy and focus is on re-usability.</a:t>
                      </a:r>
                      <a:endParaRPr lang="en-US" sz="1400"/>
                    </a:p>
                  </a:txBody>
                  <a:tcPr marL="20768" marR="20768" marT="20768" marB="20768">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sz="1400"/>
                        <a:t>Top-down model has high ratio of redundancy as the size of project increases.</a:t>
                      </a:r>
                      <a:endParaRPr lang="en-US" sz="1400"/>
                    </a:p>
                  </a:txBody>
                  <a:tcPr marL="20768" marR="20768" marT="20768" marB="20768">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r>
              <a:tr h="801659">
                <a:tc>
                  <a:txBody>
                    <a:bodyPr/>
                    <a:lstStyle/>
                    <a:p>
                      <a:pPr algn="ctr" fontAlgn="ctr"/>
                      <a:r>
                        <a:rPr lang="en-US" sz="1400"/>
                        <a:t>4</a:t>
                      </a:r>
                      <a:endParaRPr lang="en-US" sz="1400"/>
                    </a:p>
                  </a:txBody>
                  <a:tcPr marL="20768" marR="20768" marT="20768" marB="20768"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sz="1400"/>
                        <a:t>Interaction</a:t>
                      </a:r>
                      <a:endParaRPr lang="en-US" sz="1400"/>
                    </a:p>
                  </a:txBody>
                  <a:tcPr marL="20768" marR="20768" marT="20768" marB="20768">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sz="1400"/>
                        <a:t>Bottom-Up model have high interactivity between various modules.</a:t>
                      </a:r>
                      <a:endParaRPr lang="en-US" sz="1400"/>
                    </a:p>
                  </a:txBody>
                  <a:tcPr marL="20768" marR="20768" marT="20768" marB="20768">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sz="1400" dirty="0"/>
                        <a:t>Top-down model has tight coupling </a:t>
                      </a:r>
                      <a:r>
                        <a:rPr lang="en-US" sz="1400" dirty="0" smtClean="0"/>
                        <a:t>(dependency)issues </a:t>
                      </a:r>
                      <a:r>
                        <a:rPr lang="en-US" sz="1400" dirty="0"/>
                        <a:t>and low interactivity between various modules.</a:t>
                      </a:r>
                      <a:endParaRPr lang="en-US" sz="1400" dirty="0"/>
                    </a:p>
                  </a:txBody>
                  <a:tcPr marL="20768" marR="20768" marT="20768" marB="20768">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r>
              <a:tr h="520558">
                <a:tc>
                  <a:txBody>
                    <a:bodyPr/>
                    <a:lstStyle/>
                    <a:p>
                      <a:pPr algn="ctr" fontAlgn="ctr"/>
                      <a:r>
                        <a:rPr lang="en-US" sz="1400"/>
                        <a:t>5</a:t>
                      </a:r>
                      <a:endParaRPr lang="en-US" sz="1400"/>
                    </a:p>
                  </a:txBody>
                  <a:tcPr marL="20768" marR="20768" marT="20768" marB="20768"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sz="1400"/>
                        <a:t>Approach</a:t>
                      </a:r>
                      <a:endParaRPr lang="en-US" sz="1400"/>
                    </a:p>
                  </a:txBody>
                  <a:tcPr marL="20768" marR="20768" marT="20768" marB="20768">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sz="1400" dirty="0"/>
                        <a:t>Bottom-up model is based on composition approach.</a:t>
                      </a:r>
                      <a:endParaRPr lang="en-US" sz="1400" dirty="0"/>
                    </a:p>
                  </a:txBody>
                  <a:tcPr marL="20768" marR="20768" marT="20768" marB="20768">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sz="1400" dirty="0"/>
                        <a:t>Top-down model is based on decomposition approach.</a:t>
                      </a:r>
                      <a:endParaRPr lang="en-US" sz="1400" dirty="0"/>
                    </a:p>
                  </a:txBody>
                  <a:tcPr marL="20768" marR="20768" marT="20768" marB="20768">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r>
              <a:tr h="707958">
                <a:tc>
                  <a:txBody>
                    <a:bodyPr/>
                    <a:lstStyle/>
                    <a:p>
                      <a:pPr algn="ctr" fontAlgn="ctr"/>
                      <a:r>
                        <a:rPr lang="en-US" sz="1400"/>
                        <a:t>6</a:t>
                      </a:r>
                      <a:endParaRPr lang="en-US" sz="1400"/>
                    </a:p>
                  </a:txBody>
                  <a:tcPr marL="20768" marR="20768" marT="20768" marB="20768"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sz="1400"/>
                        <a:t>Issues</a:t>
                      </a:r>
                      <a:endParaRPr lang="en-US" sz="1400"/>
                    </a:p>
                  </a:txBody>
                  <a:tcPr marL="20768" marR="20768" marT="20768" marB="20768">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sz="1400" dirty="0"/>
                        <a:t>In Bottom-Up, some time it is difficult to identify overall functionality of system in initial stages.</a:t>
                      </a:r>
                      <a:endParaRPr lang="en-US" sz="1400" dirty="0"/>
                    </a:p>
                  </a:txBody>
                  <a:tcPr marL="20768" marR="20768" marT="20768" marB="20768">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sz="1400" dirty="0"/>
                        <a:t>In Top-Down, it may not be possible to break the problem into set of smaller problems.</a:t>
                      </a:r>
                      <a:endParaRPr lang="en-US" sz="1400" dirty="0"/>
                    </a:p>
                  </a:txBody>
                  <a:tcPr marL="20768" marR="20768" marT="20768" marB="20768">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r>
            </a:tbl>
          </a:graphicData>
        </a:graphic>
      </p:graphicFrame>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33400" y="76200"/>
            <a:ext cx="8229600" cy="685800"/>
          </a:xfrm>
        </p:spPr>
        <p:txBody>
          <a:bodyPr anchor="ctr"/>
          <a:lstStyle/>
          <a:p>
            <a:r>
              <a:rPr lang="en-US" sz="3000" dirty="0" smtClean="0"/>
              <a:t>Complexity of Data Structure</a:t>
            </a:r>
            <a:endParaRPr lang="en-US" sz="3000" dirty="0"/>
          </a:p>
        </p:txBody>
      </p:sp>
      <p:sp>
        <p:nvSpPr>
          <p:cNvPr id="5" name="Content Placeholder 4"/>
          <p:cNvSpPr>
            <a:spLocks noGrp="1"/>
          </p:cNvSpPr>
          <p:nvPr>
            <p:ph idx="1"/>
          </p:nvPr>
        </p:nvSpPr>
        <p:spPr>
          <a:xfrm>
            <a:off x="381000" y="1036637"/>
            <a:ext cx="8305800" cy="5135563"/>
          </a:xfrm>
        </p:spPr>
        <p:txBody>
          <a:bodyPr>
            <a:normAutofit/>
          </a:bodyPr>
          <a:lstStyle/>
          <a:p>
            <a:pPr marL="0" indent="0" algn="just">
              <a:lnSpc>
                <a:spcPct val="150000"/>
              </a:lnSpc>
              <a:buNone/>
            </a:pPr>
            <a:r>
              <a:rPr lang="en-GB" sz="2000" b="1" dirty="0" smtClean="0">
                <a:solidFill>
                  <a:schemeClr val="tx1"/>
                </a:solidFill>
              </a:rPr>
              <a:t>Complexity</a:t>
            </a:r>
            <a:r>
              <a:rPr lang="en-GB" sz="2000" dirty="0" smtClean="0">
                <a:solidFill>
                  <a:schemeClr val="tx1"/>
                </a:solidFill>
              </a:rPr>
              <a:t> is a rough approximation of the number of steps necessary to execute an algorithm.</a:t>
            </a:r>
            <a:endParaRPr lang="en-GB" sz="2000" dirty="0" smtClean="0">
              <a:solidFill>
                <a:schemeClr val="tx1"/>
              </a:solidFill>
            </a:endParaRPr>
          </a:p>
          <a:p>
            <a:pPr marL="0" indent="0" algn="just">
              <a:lnSpc>
                <a:spcPct val="150000"/>
              </a:lnSpc>
              <a:buNone/>
            </a:pPr>
            <a:endParaRPr lang="en-GB" sz="2000" dirty="0" smtClean="0">
              <a:solidFill>
                <a:schemeClr val="tx1"/>
              </a:solidFill>
            </a:endParaRPr>
          </a:p>
          <a:p>
            <a:pPr marL="0" indent="0" algn="just">
              <a:lnSpc>
                <a:spcPct val="150000"/>
              </a:lnSpc>
              <a:buNone/>
            </a:pPr>
            <a:r>
              <a:rPr lang="en-GB" sz="2000" dirty="0" smtClean="0">
                <a:solidFill>
                  <a:schemeClr val="tx1"/>
                </a:solidFill>
              </a:rPr>
              <a:t>Two types of Complexity of Data Structure</a:t>
            </a:r>
            <a:endParaRPr lang="en-GB" sz="2000" dirty="0" smtClean="0">
              <a:solidFill>
                <a:schemeClr val="tx1"/>
              </a:solidFill>
            </a:endParaRPr>
          </a:p>
          <a:p>
            <a:pPr marL="457200" indent="-457200" algn="just">
              <a:lnSpc>
                <a:spcPct val="150000"/>
              </a:lnSpc>
              <a:buAutoNum type="arabicPeriod"/>
            </a:pPr>
            <a:r>
              <a:rPr lang="en-GB" sz="2000" dirty="0" smtClean="0">
                <a:solidFill>
                  <a:schemeClr val="tx1"/>
                </a:solidFill>
              </a:rPr>
              <a:t>Time Complexity</a:t>
            </a:r>
            <a:endParaRPr lang="en-GB" sz="2000" dirty="0" smtClean="0">
              <a:solidFill>
                <a:schemeClr val="tx1"/>
              </a:solidFill>
            </a:endParaRPr>
          </a:p>
          <a:p>
            <a:pPr marL="457200" indent="-457200" algn="just">
              <a:lnSpc>
                <a:spcPct val="150000"/>
              </a:lnSpc>
              <a:buAutoNum type="arabicPeriod"/>
            </a:pPr>
            <a:r>
              <a:rPr lang="en-GB" sz="2000" dirty="0" smtClean="0">
                <a:solidFill>
                  <a:schemeClr val="tx1"/>
                </a:solidFill>
              </a:rPr>
              <a:t>Space Complexity</a:t>
            </a:r>
            <a:endParaRPr lang="en-GB" sz="2000" dirty="0" smtClean="0">
              <a:solidFill>
                <a:schemeClr val="tx1"/>
              </a:solidFill>
            </a:endParaRPr>
          </a:p>
          <a:p>
            <a:pPr marL="457200" indent="-457200" algn="just">
              <a:lnSpc>
                <a:spcPct val="150000"/>
              </a:lnSpc>
              <a:buNone/>
            </a:pPr>
            <a:endParaRPr lang="en-US" sz="1900" dirty="0" smtClean="0">
              <a:solidFill>
                <a:schemeClr val="tx1"/>
              </a:solidFill>
            </a:endParaRPr>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33400" y="76200"/>
            <a:ext cx="8229600" cy="685800"/>
          </a:xfrm>
        </p:spPr>
        <p:txBody>
          <a:bodyPr anchor="ctr"/>
          <a:lstStyle/>
          <a:p>
            <a:r>
              <a:rPr lang="en-US" sz="3000" dirty="0" smtClean="0"/>
              <a:t>Complexity of Data Structure</a:t>
            </a:r>
            <a:endParaRPr lang="en-US" sz="3000" dirty="0"/>
          </a:p>
        </p:txBody>
      </p:sp>
      <p:sp>
        <p:nvSpPr>
          <p:cNvPr id="5" name="Content Placeholder 4"/>
          <p:cNvSpPr>
            <a:spLocks noGrp="1"/>
          </p:cNvSpPr>
          <p:nvPr>
            <p:ph idx="1"/>
          </p:nvPr>
        </p:nvSpPr>
        <p:spPr>
          <a:xfrm>
            <a:off x="381000" y="1036637"/>
            <a:ext cx="8305800" cy="5135563"/>
          </a:xfrm>
        </p:spPr>
        <p:txBody>
          <a:bodyPr>
            <a:normAutofit fontScale="92500" lnSpcReduction="20000"/>
          </a:bodyPr>
          <a:lstStyle/>
          <a:p>
            <a:pPr marL="457200" indent="-457200" algn="just">
              <a:lnSpc>
                <a:spcPct val="150000"/>
              </a:lnSpc>
              <a:buAutoNum type="arabicPeriod"/>
            </a:pPr>
            <a:r>
              <a:rPr lang="en-GB" sz="2000" b="1" dirty="0" smtClean="0">
                <a:solidFill>
                  <a:schemeClr val="tx1"/>
                </a:solidFill>
              </a:rPr>
              <a:t>Time Complexity</a:t>
            </a:r>
            <a:endParaRPr lang="en-GB" sz="2000" b="1" dirty="0" smtClean="0">
              <a:solidFill>
                <a:schemeClr val="tx1"/>
              </a:solidFill>
            </a:endParaRPr>
          </a:p>
          <a:p>
            <a:pPr marL="0" indent="0" algn="just">
              <a:lnSpc>
                <a:spcPct val="150000"/>
              </a:lnSpc>
              <a:buNone/>
            </a:pPr>
            <a:r>
              <a:rPr lang="en-GB" sz="1900" dirty="0" smtClean="0">
                <a:solidFill>
                  <a:schemeClr val="tx1"/>
                </a:solidFill>
              </a:rPr>
              <a:t>The time complexity of an algorithm is basically the running time of a program as a function of the input size.</a:t>
            </a:r>
            <a:endParaRPr lang="en-GB" sz="1900" dirty="0" smtClean="0">
              <a:solidFill>
                <a:schemeClr val="tx1"/>
              </a:solidFill>
            </a:endParaRPr>
          </a:p>
          <a:p>
            <a:pPr marL="0" indent="0" algn="just">
              <a:lnSpc>
                <a:spcPct val="150000"/>
              </a:lnSpc>
              <a:buNone/>
            </a:pPr>
            <a:endParaRPr lang="en-GB" sz="1900" dirty="0" smtClean="0">
              <a:solidFill>
                <a:schemeClr val="tx1"/>
              </a:solidFill>
            </a:endParaRPr>
          </a:p>
          <a:p>
            <a:pPr marL="0" indent="0" algn="just">
              <a:lnSpc>
                <a:spcPct val="150000"/>
              </a:lnSpc>
              <a:buNone/>
            </a:pPr>
            <a:r>
              <a:rPr lang="en-GB" sz="1900" dirty="0" smtClean="0">
                <a:solidFill>
                  <a:schemeClr val="tx1"/>
                </a:solidFill>
              </a:rPr>
              <a:t>for(</a:t>
            </a:r>
            <a:r>
              <a:rPr lang="en-GB" sz="1900" dirty="0" err="1" smtClean="0">
                <a:solidFill>
                  <a:schemeClr val="tx1"/>
                </a:solidFill>
              </a:rPr>
              <a:t>i</a:t>
            </a:r>
            <a:r>
              <a:rPr lang="en-GB" sz="1900" dirty="0" smtClean="0">
                <a:solidFill>
                  <a:schemeClr val="tx1"/>
                </a:solidFill>
              </a:rPr>
              <a:t>=0; </a:t>
            </a:r>
            <a:r>
              <a:rPr lang="en-GB" sz="1900" dirty="0" err="1" smtClean="0">
                <a:solidFill>
                  <a:schemeClr val="tx1"/>
                </a:solidFill>
              </a:rPr>
              <a:t>i</a:t>
            </a:r>
            <a:r>
              <a:rPr lang="en-GB" sz="1900" dirty="0" smtClean="0">
                <a:solidFill>
                  <a:schemeClr val="tx1"/>
                </a:solidFill>
              </a:rPr>
              <a:t> &lt; N; </a:t>
            </a:r>
            <a:r>
              <a:rPr lang="en-GB" sz="1900" dirty="0" err="1" smtClean="0">
                <a:solidFill>
                  <a:schemeClr val="tx1"/>
                </a:solidFill>
              </a:rPr>
              <a:t>i</a:t>
            </a:r>
            <a:r>
              <a:rPr lang="en-GB" sz="1900" dirty="0" smtClean="0">
                <a:solidFill>
                  <a:schemeClr val="tx1"/>
                </a:solidFill>
              </a:rPr>
              <a:t>++)</a:t>
            </a:r>
            <a:endParaRPr lang="en-GB" sz="1900" dirty="0" smtClean="0">
              <a:solidFill>
                <a:schemeClr val="tx1"/>
              </a:solidFill>
            </a:endParaRPr>
          </a:p>
          <a:p>
            <a:pPr marL="0" indent="0" algn="just">
              <a:lnSpc>
                <a:spcPct val="150000"/>
              </a:lnSpc>
              <a:buNone/>
            </a:pPr>
            <a:r>
              <a:rPr lang="en-GB" sz="1900" dirty="0" smtClean="0">
                <a:solidFill>
                  <a:schemeClr val="tx1"/>
                </a:solidFill>
              </a:rPr>
              <a:t>{</a:t>
            </a:r>
            <a:endParaRPr lang="en-GB" sz="1900" dirty="0" smtClean="0">
              <a:solidFill>
                <a:schemeClr val="tx1"/>
              </a:solidFill>
            </a:endParaRPr>
          </a:p>
          <a:p>
            <a:pPr marL="0" indent="0" algn="just">
              <a:lnSpc>
                <a:spcPct val="150000"/>
              </a:lnSpc>
              <a:buNone/>
            </a:pPr>
            <a:r>
              <a:rPr lang="en-GB" sz="1900" dirty="0" smtClean="0">
                <a:solidFill>
                  <a:schemeClr val="tx1"/>
                </a:solidFill>
              </a:rPr>
              <a:t>    statement;</a:t>
            </a:r>
            <a:endParaRPr lang="en-GB" sz="1900" dirty="0" smtClean="0">
              <a:solidFill>
                <a:schemeClr val="tx1"/>
              </a:solidFill>
            </a:endParaRPr>
          </a:p>
          <a:p>
            <a:pPr marL="0" indent="0" algn="just">
              <a:lnSpc>
                <a:spcPct val="150000"/>
              </a:lnSpc>
              <a:buNone/>
            </a:pPr>
            <a:r>
              <a:rPr lang="en-GB" sz="1900" dirty="0" smtClean="0">
                <a:solidFill>
                  <a:schemeClr val="tx1"/>
                </a:solidFill>
              </a:rPr>
              <a:t>}</a:t>
            </a:r>
            <a:endParaRPr lang="en-GB" sz="1900" dirty="0" smtClean="0">
              <a:solidFill>
                <a:schemeClr val="tx1"/>
              </a:solidFill>
            </a:endParaRPr>
          </a:p>
          <a:p>
            <a:pPr marL="0" indent="0" algn="just">
              <a:lnSpc>
                <a:spcPct val="150000"/>
              </a:lnSpc>
              <a:buNone/>
            </a:pPr>
            <a:endParaRPr lang="en-GB" sz="1900" dirty="0" smtClean="0">
              <a:solidFill>
                <a:schemeClr val="tx1"/>
              </a:solidFill>
            </a:endParaRPr>
          </a:p>
          <a:p>
            <a:pPr marL="0" indent="0" algn="just">
              <a:lnSpc>
                <a:spcPct val="150000"/>
              </a:lnSpc>
              <a:buNone/>
            </a:pPr>
            <a:r>
              <a:rPr lang="en-GB" sz="1900" dirty="0" smtClean="0">
                <a:solidFill>
                  <a:schemeClr val="tx1"/>
                </a:solidFill>
              </a:rPr>
              <a:t>The time complexity for the above algorithm will be Linear. The running time of the loop is directly proportional to N. When N doubles, so does the running time.</a:t>
            </a:r>
            <a:endParaRPr lang="en-GB" sz="1900" dirty="0" smtClean="0">
              <a:solidFill>
                <a:schemeClr val="tx1"/>
              </a:solidFill>
            </a:endParaRPr>
          </a:p>
          <a:p>
            <a:pPr marL="0" indent="0" algn="just">
              <a:lnSpc>
                <a:spcPct val="150000"/>
              </a:lnSpc>
              <a:buNone/>
            </a:pPr>
            <a:endParaRPr lang="en-GB" sz="1900" dirty="0" smtClean="0">
              <a:solidFill>
                <a:schemeClr val="tx1"/>
              </a:solidFill>
            </a:endParaRPr>
          </a:p>
          <a:p>
            <a:pPr marL="0" indent="0" algn="just">
              <a:lnSpc>
                <a:spcPct val="150000"/>
              </a:lnSpc>
              <a:buNone/>
            </a:pPr>
            <a:endParaRPr lang="en-GB" sz="1900" dirty="0" smtClean="0">
              <a:solidFill>
                <a:schemeClr val="tx1"/>
              </a:solidFill>
            </a:endParaRPr>
          </a:p>
          <a:p>
            <a:pPr marL="0" indent="0" algn="just">
              <a:lnSpc>
                <a:spcPct val="150000"/>
              </a:lnSpc>
              <a:buNone/>
            </a:pPr>
            <a:endParaRPr lang="en-US" sz="1900" dirty="0" smtClean="0">
              <a:solidFill>
                <a:schemeClr val="tx1"/>
              </a:solidFill>
            </a:endParaRPr>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33400" y="76200"/>
            <a:ext cx="8229600" cy="685800"/>
          </a:xfrm>
        </p:spPr>
        <p:txBody>
          <a:bodyPr anchor="ctr"/>
          <a:lstStyle/>
          <a:p>
            <a:r>
              <a:rPr lang="en-US" sz="3000" dirty="0" smtClean="0"/>
              <a:t>Complexity of Data Structure</a:t>
            </a:r>
            <a:endParaRPr lang="en-US" sz="3000" dirty="0"/>
          </a:p>
        </p:txBody>
      </p:sp>
      <p:sp>
        <p:nvSpPr>
          <p:cNvPr id="5" name="Content Placeholder 4"/>
          <p:cNvSpPr>
            <a:spLocks noGrp="1"/>
          </p:cNvSpPr>
          <p:nvPr>
            <p:ph idx="1"/>
          </p:nvPr>
        </p:nvSpPr>
        <p:spPr>
          <a:xfrm>
            <a:off x="381000" y="1036637"/>
            <a:ext cx="8305800" cy="5135563"/>
          </a:xfrm>
        </p:spPr>
        <p:txBody>
          <a:bodyPr>
            <a:normAutofit/>
          </a:bodyPr>
          <a:lstStyle/>
          <a:p>
            <a:pPr marL="0" indent="0" algn="just">
              <a:lnSpc>
                <a:spcPct val="150000"/>
              </a:lnSpc>
              <a:buNone/>
            </a:pPr>
            <a:r>
              <a:rPr lang="en-GB" sz="1900" b="1" dirty="0" smtClean="0">
                <a:solidFill>
                  <a:schemeClr val="tx1"/>
                </a:solidFill>
              </a:rPr>
              <a:t>2. Space Complexity</a:t>
            </a:r>
            <a:endParaRPr lang="en-GB" sz="1900" b="1" dirty="0" smtClean="0">
              <a:solidFill>
                <a:schemeClr val="tx1"/>
              </a:solidFill>
            </a:endParaRPr>
          </a:p>
          <a:p>
            <a:r>
              <a:rPr lang="en-GB" sz="2000" dirty="0" smtClean="0">
                <a:solidFill>
                  <a:schemeClr val="tx1"/>
                </a:solidFill>
              </a:rPr>
              <a:t>Space complexity of an algorithm represents the amount of memory space needed the algorithm in its life cycle.</a:t>
            </a:r>
            <a:endParaRPr lang="en-GB" sz="2000" dirty="0" smtClean="0">
              <a:solidFill>
                <a:schemeClr val="tx1"/>
              </a:solidFill>
            </a:endParaRPr>
          </a:p>
          <a:p>
            <a:r>
              <a:rPr lang="en-GB" sz="2000" dirty="0" smtClean="0">
                <a:solidFill>
                  <a:schemeClr val="tx1"/>
                </a:solidFill>
              </a:rPr>
              <a:t>Space needed by an algorithm is equal to the sum of the following two components</a:t>
            </a:r>
            <a:endParaRPr lang="en-GB" sz="2000" dirty="0" smtClean="0">
              <a:solidFill>
                <a:schemeClr val="tx1"/>
              </a:solidFill>
            </a:endParaRPr>
          </a:p>
          <a:p>
            <a:r>
              <a:rPr lang="en-GB" sz="2000" dirty="0" smtClean="0">
                <a:solidFill>
                  <a:schemeClr val="tx1"/>
                </a:solidFill>
              </a:rPr>
              <a:t>A fixed part that is a space required to store certain data and variables (i.e. simple variables and constants, program size etc.), that are not dependent of the size of the problem.</a:t>
            </a:r>
            <a:endParaRPr lang="en-GB" sz="2000" dirty="0" smtClean="0">
              <a:solidFill>
                <a:schemeClr val="tx1"/>
              </a:solidFill>
            </a:endParaRPr>
          </a:p>
          <a:p>
            <a:r>
              <a:rPr lang="en-GB" sz="2000" dirty="0" smtClean="0">
                <a:solidFill>
                  <a:schemeClr val="tx1"/>
                </a:solidFill>
              </a:rPr>
              <a:t>A variable part is a space required by variables, whose size is totally dependent on the size of the problem. For example, recursion stack space, dynamic memory allocation etc.</a:t>
            </a:r>
            <a:endParaRPr lang="en-GB" sz="2000" dirty="0" smtClean="0">
              <a:solidFill>
                <a:schemeClr val="tx1"/>
              </a:solidFill>
            </a:endParaRPr>
          </a:p>
          <a:p>
            <a:pPr marL="0" indent="0" algn="just">
              <a:lnSpc>
                <a:spcPct val="150000"/>
              </a:lnSpc>
              <a:buNone/>
            </a:pPr>
            <a:endParaRPr lang="en-US" sz="1900" dirty="0" smtClean="0">
              <a:solidFill>
                <a:schemeClr val="tx1"/>
              </a:solidFill>
            </a:endParaRPr>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33400" y="76200"/>
            <a:ext cx="8229600" cy="685800"/>
          </a:xfrm>
        </p:spPr>
        <p:txBody>
          <a:bodyPr anchor="ctr"/>
          <a:lstStyle/>
          <a:p>
            <a:r>
              <a:rPr lang="en-US" sz="3000" dirty="0" smtClean="0"/>
              <a:t>Analysis of Algorithm</a:t>
            </a:r>
            <a:endParaRPr lang="en-US" sz="3000" dirty="0"/>
          </a:p>
        </p:txBody>
      </p:sp>
      <p:sp>
        <p:nvSpPr>
          <p:cNvPr id="5" name="Content Placeholder 4"/>
          <p:cNvSpPr>
            <a:spLocks noGrp="1"/>
          </p:cNvSpPr>
          <p:nvPr>
            <p:ph idx="1"/>
          </p:nvPr>
        </p:nvSpPr>
        <p:spPr>
          <a:xfrm>
            <a:off x="381000" y="1036637"/>
            <a:ext cx="8305800" cy="5135563"/>
          </a:xfrm>
        </p:spPr>
        <p:txBody>
          <a:bodyPr>
            <a:normAutofit/>
          </a:bodyPr>
          <a:lstStyle/>
          <a:p>
            <a:pPr marL="0" indent="0" algn="just">
              <a:lnSpc>
                <a:spcPct val="150000"/>
              </a:lnSpc>
              <a:buNone/>
            </a:pPr>
            <a:r>
              <a:rPr lang="en-IN" sz="1900" dirty="0" smtClean="0">
                <a:solidFill>
                  <a:schemeClr val="tx1"/>
                </a:solidFill>
              </a:rPr>
              <a:t>We can analyze algorithm in Three Different ways as follows.</a:t>
            </a:r>
            <a:endParaRPr lang="en-IN" sz="1900" dirty="0" smtClean="0">
              <a:solidFill>
                <a:schemeClr val="tx1"/>
              </a:solidFill>
            </a:endParaRPr>
          </a:p>
          <a:p>
            <a:pPr marL="457200" indent="-457200" algn="just">
              <a:lnSpc>
                <a:spcPct val="150000"/>
              </a:lnSpc>
              <a:buAutoNum type="arabicPeriod"/>
            </a:pPr>
            <a:r>
              <a:rPr lang="en-IN" sz="1900" dirty="0" smtClean="0">
                <a:solidFill>
                  <a:schemeClr val="tx1"/>
                </a:solidFill>
              </a:rPr>
              <a:t>Best Case</a:t>
            </a:r>
            <a:endParaRPr lang="en-IN" sz="1900" dirty="0" smtClean="0">
              <a:solidFill>
                <a:schemeClr val="tx1"/>
              </a:solidFill>
            </a:endParaRPr>
          </a:p>
          <a:p>
            <a:pPr marL="457200" indent="-457200" algn="just">
              <a:lnSpc>
                <a:spcPct val="150000"/>
              </a:lnSpc>
              <a:buAutoNum type="arabicPeriod"/>
            </a:pPr>
            <a:r>
              <a:rPr lang="en-IN" sz="1900" dirty="0" smtClean="0">
                <a:solidFill>
                  <a:schemeClr val="tx1"/>
                </a:solidFill>
              </a:rPr>
              <a:t>Worst Case </a:t>
            </a:r>
            <a:endParaRPr lang="en-IN" sz="1900" dirty="0" smtClean="0">
              <a:solidFill>
                <a:schemeClr val="tx1"/>
              </a:solidFill>
            </a:endParaRPr>
          </a:p>
          <a:p>
            <a:pPr marL="457200" indent="-457200" algn="just">
              <a:lnSpc>
                <a:spcPct val="150000"/>
              </a:lnSpc>
              <a:buAutoNum type="arabicPeriod"/>
            </a:pPr>
            <a:r>
              <a:rPr lang="en-IN" sz="1900" dirty="0" smtClean="0">
                <a:solidFill>
                  <a:schemeClr val="tx1"/>
                </a:solidFill>
              </a:rPr>
              <a:t>Average Case</a:t>
            </a:r>
            <a:endParaRPr lang="en-IN" sz="1900" dirty="0" smtClean="0">
              <a:solidFill>
                <a:schemeClr val="tx1"/>
              </a:solidFill>
            </a:endParaRPr>
          </a:p>
          <a:p>
            <a:pPr marL="457200" indent="-457200" algn="just">
              <a:lnSpc>
                <a:spcPct val="150000"/>
              </a:lnSpc>
              <a:buNone/>
            </a:pPr>
            <a:endParaRPr lang="en-IN" sz="1900" dirty="0" smtClean="0">
              <a:solidFill>
                <a:schemeClr val="tx1"/>
              </a:solidFill>
            </a:endParaRPr>
          </a:p>
          <a:p>
            <a:pPr marL="457200" indent="-457200" algn="just">
              <a:lnSpc>
                <a:spcPct val="150000"/>
              </a:lnSpc>
              <a:buNone/>
            </a:pPr>
            <a:endParaRPr lang="en-US" sz="1900" dirty="0" smtClean="0">
              <a:solidFill>
                <a:schemeClr val="tx1"/>
              </a:solidFill>
            </a:endParaRPr>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33400" y="76200"/>
            <a:ext cx="8229600" cy="685800"/>
          </a:xfrm>
        </p:spPr>
        <p:txBody>
          <a:bodyPr anchor="ctr"/>
          <a:lstStyle/>
          <a:p>
            <a:r>
              <a:rPr lang="en-US" sz="3000" dirty="0" smtClean="0"/>
              <a:t>Analysis of Algorithm</a:t>
            </a:r>
            <a:endParaRPr lang="en-US" sz="3000" dirty="0"/>
          </a:p>
        </p:txBody>
      </p:sp>
      <p:sp>
        <p:nvSpPr>
          <p:cNvPr id="5" name="Content Placeholder 4"/>
          <p:cNvSpPr>
            <a:spLocks noGrp="1"/>
          </p:cNvSpPr>
          <p:nvPr>
            <p:ph idx="1"/>
          </p:nvPr>
        </p:nvSpPr>
        <p:spPr>
          <a:xfrm>
            <a:off x="381000" y="1036637"/>
            <a:ext cx="8305800" cy="5135563"/>
          </a:xfrm>
        </p:spPr>
        <p:txBody>
          <a:bodyPr>
            <a:normAutofit/>
          </a:bodyPr>
          <a:lstStyle/>
          <a:p>
            <a:pPr marL="457200" indent="-457200" algn="just">
              <a:lnSpc>
                <a:spcPct val="150000"/>
              </a:lnSpc>
              <a:buAutoNum type="arabicPeriod"/>
            </a:pPr>
            <a:r>
              <a:rPr lang="en-IN" sz="1900" b="1" dirty="0" smtClean="0">
                <a:solidFill>
                  <a:schemeClr val="tx1"/>
                </a:solidFill>
              </a:rPr>
              <a:t>Best Case</a:t>
            </a:r>
            <a:endParaRPr lang="en-IN" sz="1900" b="1" dirty="0" smtClean="0">
              <a:solidFill>
                <a:schemeClr val="tx1"/>
              </a:solidFill>
            </a:endParaRPr>
          </a:p>
          <a:p>
            <a:pPr marL="0" indent="0" algn="just">
              <a:lnSpc>
                <a:spcPct val="150000"/>
              </a:lnSpc>
              <a:buNone/>
            </a:pPr>
            <a:r>
              <a:rPr lang="en-GB" sz="1900" dirty="0" smtClean="0">
                <a:solidFill>
                  <a:schemeClr val="tx1"/>
                </a:solidFill>
              </a:rPr>
              <a:t>The best-case complexity of the algorithm is the function defined by the minimum number of steps taken on any instance of size n. </a:t>
            </a:r>
            <a:endParaRPr lang="en-GB" sz="1900" dirty="0" smtClean="0">
              <a:solidFill>
                <a:schemeClr val="tx1"/>
              </a:solidFill>
            </a:endParaRPr>
          </a:p>
          <a:p>
            <a:pPr marL="0" indent="0" algn="just">
              <a:lnSpc>
                <a:spcPct val="150000"/>
              </a:lnSpc>
              <a:buNone/>
            </a:pPr>
            <a:endParaRPr lang="en-GB" sz="1900" dirty="0" smtClean="0">
              <a:solidFill>
                <a:schemeClr val="tx1"/>
              </a:solidFill>
            </a:endParaRPr>
          </a:p>
          <a:p>
            <a:pPr marL="0" indent="0" algn="just">
              <a:lnSpc>
                <a:spcPct val="150000"/>
              </a:lnSpc>
              <a:buNone/>
            </a:pPr>
            <a:r>
              <a:rPr lang="en-GB" sz="1900" dirty="0" smtClean="0">
                <a:solidFill>
                  <a:schemeClr val="tx1"/>
                </a:solidFill>
              </a:rPr>
              <a:t>The term ‘best-case performance’ is used to analyse an algorithm under optimal conditions.</a:t>
            </a:r>
            <a:endParaRPr lang="en-IN" sz="1900" dirty="0" smtClean="0">
              <a:solidFill>
                <a:schemeClr val="tx1"/>
              </a:solidFill>
            </a:endParaRPr>
          </a:p>
          <a:p>
            <a:pPr marL="457200" indent="-457200" algn="just">
              <a:lnSpc>
                <a:spcPct val="150000"/>
              </a:lnSpc>
              <a:buNone/>
            </a:pPr>
            <a:endParaRPr lang="en-US" sz="1900" dirty="0" smtClean="0">
              <a:solidFill>
                <a:schemeClr val="tx1"/>
              </a:solidFill>
            </a:endParaRPr>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33400" y="76200"/>
            <a:ext cx="8229600" cy="685800"/>
          </a:xfrm>
        </p:spPr>
        <p:txBody>
          <a:bodyPr anchor="ctr"/>
          <a:lstStyle/>
          <a:p>
            <a:r>
              <a:rPr lang="en-US" sz="3000" dirty="0" smtClean="0"/>
              <a:t>Analysis of Algorithm</a:t>
            </a:r>
            <a:endParaRPr lang="en-US" sz="3000" dirty="0"/>
          </a:p>
        </p:txBody>
      </p:sp>
      <p:sp>
        <p:nvSpPr>
          <p:cNvPr id="5" name="Content Placeholder 4"/>
          <p:cNvSpPr>
            <a:spLocks noGrp="1"/>
          </p:cNvSpPr>
          <p:nvPr>
            <p:ph idx="1"/>
          </p:nvPr>
        </p:nvSpPr>
        <p:spPr>
          <a:xfrm>
            <a:off x="381000" y="1036637"/>
            <a:ext cx="8305800" cy="5135563"/>
          </a:xfrm>
        </p:spPr>
        <p:txBody>
          <a:bodyPr>
            <a:normAutofit/>
          </a:bodyPr>
          <a:lstStyle/>
          <a:p>
            <a:pPr marL="0" indent="0" algn="just">
              <a:lnSpc>
                <a:spcPct val="150000"/>
              </a:lnSpc>
              <a:buFont typeface="+mj-lt"/>
              <a:buAutoNum type="arabicPeriod" startAt="2"/>
            </a:pPr>
            <a:r>
              <a:rPr lang="en-IN" sz="1900" b="1" dirty="0" smtClean="0">
                <a:solidFill>
                  <a:schemeClr val="tx1"/>
                </a:solidFill>
              </a:rPr>
              <a:t>  Worst Case </a:t>
            </a:r>
            <a:endParaRPr lang="en-IN" sz="1900" b="1" dirty="0" smtClean="0">
              <a:solidFill>
                <a:schemeClr val="tx1"/>
              </a:solidFill>
            </a:endParaRPr>
          </a:p>
          <a:p>
            <a:pPr marL="0" indent="0" algn="just">
              <a:lnSpc>
                <a:spcPct val="150000"/>
              </a:lnSpc>
              <a:buNone/>
            </a:pPr>
            <a:r>
              <a:rPr lang="en-GB" sz="1900" dirty="0" smtClean="0">
                <a:solidFill>
                  <a:schemeClr val="tx1"/>
                </a:solidFill>
              </a:rPr>
              <a:t>The worst-case complexity of the algorithm is the function defined by the maximum number of steps taken on any instance of size n.</a:t>
            </a:r>
            <a:endParaRPr lang="en-GB" sz="1900" dirty="0" smtClean="0">
              <a:solidFill>
                <a:schemeClr val="tx1"/>
              </a:solidFill>
            </a:endParaRPr>
          </a:p>
          <a:p>
            <a:pPr marL="0" indent="0" algn="just">
              <a:lnSpc>
                <a:spcPct val="150000"/>
              </a:lnSpc>
              <a:buNone/>
            </a:pPr>
            <a:endParaRPr lang="en-GB" sz="1900" dirty="0" smtClean="0">
              <a:solidFill>
                <a:schemeClr val="tx1"/>
              </a:solidFill>
            </a:endParaRPr>
          </a:p>
          <a:p>
            <a:pPr marL="0" indent="0" algn="just">
              <a:lnSpc>
                <a:spcPct val="150000"/>
              </a:lnSpc>
              <a:buNone/>
            </a:pPr>
            <a:r>
              <a:rPr lang="en-GB" sz="1900" dirty="0" smtClean="0">
                <a:solidFill>
                  <a:schemeClr val="tx1"/>
                </a:solidFill>
              </a:rPr>
              <a:t>The worst-case running time of an algorithm is an upper bound on the running time for any input. </a:t>
            </a:r>
            <a:endParaRPr lang="en-GB" sz="1900" dirty="0" smtClean="0">
              <a:solidFill>
                <a:schemeClr val="tx1"/>
              </a:solidFill>
            </a:endParaRPr>
          </a:p>
          <a:p>
            <a:pPr marL="0" indent="0" algn="just">
              <a:lnSpc>
                <a:spcPct val="150000"/>
              </a:lnSpc>
              <a:buNone/>
            </a:pPr>
            <a:endParaRPr lang="en-GB" sz="1900" dirty="0" smtClean="0">
              <a:solidFill>
                <a:schemeClr val="tx1"/>
              </a:solidFill>
            </a:endParaRPr>
          </a:p>
          <a:p>
            <a:pPr marL="0" indent="0" algn="just">
              <a:lnSpc>
                <a:spcPct val="150000"/>
              </a:lnSpc>
              <a:buNone/>
            </a:pPr>
            <a:r>
              <a:rPr lang="en-GB" sz="1900" dirty="0" smtClean="0">
                <a:solidFill>
                  <a:schemeClr val="tx1"/>
                </a:solidFill>
              </a:rPr>
              <a:t>Therefore, having the knowledge of worst-case running time gives us an assurance that the algorithm will never go beyond this time limit.</a:t>
            </a:r>
            <a:endParaRPr lang="en-IN" sz="1900" dirty="0" smtClean="0">
              <a:solidFill>
                <a:schemeClr val="tx1"/>
              </a:solidFill>
            </a:endParaRPr>
          </a:p>
          <a:p>
            <a:pPr marL="0" indent="0" algn="just">
              <a:lnSpc>
                <a:spcPct val="150000"/>
              </a:lnSpc>
              <a:buNone/>
            </a:pPr>
            <a:endParaRPr lang="en-US" sz="1900" dirty="0" smtClean="0">
              <a:solidFill>
                <a:schemeClr val="tx1"/>
              </a:solidFill>
            </a:endParaRPr>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33400" y="76200"/>
            <a:ext cx="8229600" cy="685800"/>
          </a:xfrm>
        </p:spPr>
        <p:txBody>
          <a:bodyPr anchor="ctr"/>
          <a:lstStyle/>
          <a:p>
            <a:r>
              <a:rPr lang="en-US" sz="3000" dirty="0" smtClean="0"/>
              <a:t>Analysis of Algorithm</a:t>
            </a:r>
            <a:endParaRPr lang="en-US" sz="3000" dirty="0"/>
          </a:p>
        </p:txBody>
      </p:sp>
      <p:sp>
        <p:nvSpPr>
          <p:cNvPr id="5" name="Content Placeholder 4"/>
          <p:cNvSpPr>
            <a:spLocks noGrp="1"/>
          </p:cNvSpPr>
          <p:nvPr>
            <p:ph idx="1"/>
          </p:nvPr>
        </p:nvSpPr>
        <p:spPr>
          <a:xfrm>
            <a:off x="381000" y="1036637"/>
            <a:ext cx="8305800" cy="5135563"/>
          </a:xfrm>
        </p:spPr>
        <p:txBody>
          <a:bodyPr>
            <a:normAutofit/>
          </a:bodyPr>
          <a:lstStyle/>
          <a:p>
            <a:pPr marL="0" indent="0" algn="just">
              <a:lnSpc>
                <a:spcPct val="150000"/>
              </a:lnSpc>
              <a:buNone/>
            </a:pPr>
            <a:r>
              <a:rPr lang="en-IN" sz="1900" b="1" dirty="0" smtClean="0">
                <a:solidFill>
                  <a:schemeClr val="tx1"/>
                </a:solidFill>
              </a:rPr>
              <a:t>3. Average Case</a:t>
            </a:r>
            <a:endParaRPr lang="en-IN" sz="1900" b="1" dirty="0" smtClean="0">
              <a:solidFill>
                <a:schemeClr val="tx1"/>
              </a:solidFill>
            </a:endParaRPr>
          </a:p>
          <a:p>
            <a:pPr marL="0" indent="0" algn="just">
              <a:lnSpc>
                <a:spcPct val="150000"/>
              </a:lnSpc>
              <a:buNone/>
            </a:pPr>
            <a:r>
              <a:rPr lang="en-GB" sz="1900" dirty="0" smtClean="0">
                <a:solidFill>
                  <a:schemeClr val="tx1"/>
                </a:solidFill>
              </a:rPr>
              <a:t>The average-case running time of an algorithm is an estimate of the running time for an ‘average’ input. </a:t>
            </a:r>
            <a:endParaRPr lang="en-GB" sz="1900" dirty="0" smtClean="0">
              <a:solidFill>
                <a:schemeClr val="tx1"/>
              </a:solidFill>
            </a:endParaRPr>
          </a:p>
          <a:p>
            <a:pPr marL="0" indent="0" algn="just">
              <a:lnSpc>
                <a:spcPct val="150000"/>
              </a:lnSpc>
              <a:buNone/>
            </a:pPr>
            <a:endParaRPr lang="en-GB" sz="1900" dirty="0" smtClean="0">
              <a:solidFill>
                <a:schemeClr val="tx1"/>
              </a:solidFill>
            </a:endParaRPr>
          </a:p>
          <a:p>
            <a:pPr marL="0" indent="0" algn="just">
              <a:lnSpc>
                <a:spcPct val="150000"/>
              </a:lnSpc>
              <a:buNone/>
            </a:pPr>
            <a:r>
              <a:rPr lang="en-GB" sz="1900" dirty="0" smtClean="0">
                <a:solidFill>
                  <a:schemeClr val="tx1"/>
                </a:solidFill>
              </a:rPr>
              <a:t>It specifies the expected behaviour of the algorithm when the input is randomly drawn from a given distribution.</a:t>
            </a:r>
            <a:endParaRPr lang="en-IN" sz="1900" dirty="0" smtClean="0">
              <a:solidFill>
                <a:schemeClr val="tx1"/>
              </a:solidFill>
            </a:endParaRPr>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33400" y="152400"/>
            <a:ext cx="8229600" cy="685800"/>
          </a:xfrm>
        </p:spPr>
        <p:txBody>
          <a:bodyPr anchor="ctr"/>
          <a:lstStyle/>
          <a:p>
            <a:r>
              <a:rPr lang="en-US" sz="3500" dirty="0" smtClean="0"/>
              <a:t>Asymptotic Notations</a:t>
            </a:r>
            <a:endParaRPr lang="en-US" sz="3500" dirty="0"/>
          </a:p>
        </p:txBody>
      </p:sp>
      <p:sp>
        <p:nvSpPr>
          <p:cNvPr id="5" name="Content Placeholder 4"/>
          <p:cNvSpPr>
            <a:spLocks noGrp="1"/>
          </p:cNvSpPr>
          <p:nvPr>
            <p:ph idx="1"/>
          </p:nvPr>
        </p:nvSpPr>
        <p:spPr>
          <a:xfrm>
            <a:off x="228600" y="838200"/>
            <a:ext cx="8534400" cy="5638800"/>
          </a:xfrm>
        </p:spPr>
        <p:txBody>
          <a:bodyPr>
            <a:normAutofit/>
          </a:bodyPr>
          <a:lstStyle/>
          <a:p>
            <a:pPr algn="just">
              <a:lnSpc>
                <a:spcPct val="150000"/>
              </a:lnSpc>
              <a:buFont typeface="Wingdings" panose="05000000000000000000" pitchFamily="2" charset="2"/>
              <a:buChar char="q"/>
            </a:pPr>
            <a:r>
              <a:rPr lang="en-US" dirty="0">
                <a:solidFill>
                  <a:schemeClr val="tx1"/>
                </a:solidFill>
              </a:rPr>
              <a:t>Different types of asymptotic notations are used to represent the complexity of an algorithm. </a:t>
            </a:r>
            <a:endParaRPr lang="en-US" dirty="0" smtClean="0">
              <a:solidFill>
                <a:schemeClr val="tx1"/>
              </a:solidFill>
            </a:endParaRPr>
          </a:p>
          <a:p>
            <a:pPr algn="just">
              <a:lnSpc>
                <a:spcPct val="150000"/>
              </a:lnSpc>
              <a:buFont typeface="Wingdings" panose="05000000000000000000" pitchFamily="2" charset="2"/>
              <a:buChar char="q"/>
            </a:pPr>
            <a:r>
              <a:rPr lang="en-US" dirty="0" smtClean="0">
                <a:solidFill>
                  <a:schemeClr val="tx1"/>
                </a:solidFill>
              </a:rPr>
              <a:t>Following </a:t>
            </a:r>
            <a:r>
              <a:rPr lang="en-US" dirty="0">
                <a:solidFill>
                  <a:schemeClr val="tx1"/>
                </a:solidFill>
              </a:rPr>
              <a:t>asymptotic notations are used to calculate the running time complexity of an algorithm</a:t>
            </a:r>
            <a:r>
              <a:rPr lang="en-US" dirty="0" smtClean="0">
                <a:solidFill>
                  <a:schemeClr val="tx1"/>
                </a:solidFill>
              </a:rPr>
              <a:t>.</a:t>
            </a:r>
            <a:endParaRPr lang="en-US" dirty="0" smtClean="0">
              <a:solidFill>
                <a:schemeClr val="tx1"/>
              </a:solidFill>
            </a:endParaRPr>
          </a:p>
          <a:p>
            <a:pPr>
              <a:lnSpc>
                <a:spcPct val="150000"/>
              </a:lnSpc>
            </a:pPr>
            <a:r>
              <a:rPr lang="en-US" b="1" dirty="0">
                <a:solidFill>
                  <a:schemeClr val="bg2">
                    <a:lumMod val="10000"/>
                  </a:schemeClr>
                </a:solidFill>
              </a:rPr>
              <a:t>O</a:t>
            </a:r>
            <a:r>
              <a:rPr lang="en-US" dirty="0">
                <a:solidFill>
                  <a:schemeClr val="bg2">
                    <a:lumMod val="10000"/>
                  </a:schemeClr>
                </a:solidFill>
              </a:rPr>
              <a:t> − Big </a:t>
            </a:r>
            <a:r>
              <a:rPr lang="en-US" dirty="0" smtClean="0">
                <a:solidFill>
                  <a:schemeClr val="bg2">
                    <a:lumMod val="10000"/>
                  </a:schemeClr>
                </a:solidFill>
              </a:rPr>
              <a:t>Oh (Worst Case)</a:t>
            </a:r>
            <a:endParaRPr lang="en-US" dirty="0">
              <a:solidFill>
                <a:schemeClr val="bg2">
                  <a:lumMod val="10000"/>
                </a:schemeClr>
              </a:solidFill>
            </a:endParaRPr>
          </a:p>
          <a:p>
            <a:pPr>
              <a:lnSpc>
                <a:spcPct val="150000"/>
              </a:lnSpc>
            </a:pPr>
            <a:r>
              <a:rPr lang="el-GR" b="1" dirty="0">
                <a:solidFill>
                  <a:schemeClr val="bg2">
                    <a:lumMod val="10000"/>
                  </a:schemeClr>
                </a:solidFill>
              </a:rPr>
              <a:t>Ω</a:t>
            </a:r>
            <a:r>
              <a:rPr lang="el-GR" dirty="0">
                <a:solidFill>
                  <a:schemeClr val="bg2">
                    <a:lumMod val="10000"/>
                  </a:schemeClr>
                </a:solidFill>
              </a:rPr>
              <a:t> </a:t>
            </a:r>
            <a:r>
              <a:rPr lang="el-GR" dirty="0" smtClean="0">
                <a:solidFill>
                  <a:schemeClr val="bg2">
                    <a:lumMod val="10000"/>
                  </a:schemeClr>
                </a:solidFill>
              </a:rPr>
              <a:t>−</a:t>
            </a:r>
            <a:r>
              <a:rPr lang="en-US" dirty="0" smtClean="0">
                <a:solidFill>
                  <a:schemeClr val="bg2">
                    <a:lumMod val="10000"/>
                  </a:schemeClr>
                </a:solidFill>
              </a:rPr>
              <a:t> Big omega (Best Case)</a:t>
            </a:r>
            <a:endParaRPr lang="en-US" dirty="0">
              <a:solidFill>
                <a:schemeClr val="bg2">
                  <a:lumMod val="10000"/>
                </a:schemeClr>
              </a:solidFill>
            </a:endParaRPr>
          </a:p>
          <a:p>
            <a:pPr>
              <a:lnSpc>
                <a:spcPct val="150000"/>
              </a:lnSpc>
            </a:pPr>
            <a:r>
              <a:rPr lang="el-GR" b="1" dirty="0">
                <a:solidFill>
                  <a:schemeClr val="bg2">
                    <a:lumMod val="10000"/>
                  </a:schemeClr>
                </a:solidFill>
              </a:rPr>
              <a:t>θ</a:t>
            </a:r>
            <a:r>
              <a:rPr lang="el-GR" dirty="0">
                <a:solidFill>
                  <a:schemeClr val="bg2">
                    <a:lumMod val="10000"/>
                  </a:schemeClr>
                </a:solidFill>
              </a:rPr>
              <a:t> − </a:t>
            </a:r>
            <a:r>
              <a:rPr lang="en-US" dirty="0">
                <a:solidFill>
                  <a:schemeClr val="bg2">
                    <a:lumMod val="10000"/>
                  </a:schemeClr>
                </a:solidFill>
              </a:rPr>
              <a:t>Big </a:t>
            </a:r>
            <a:r>
              <a:rPr lang="en-US" dirty="0" smtClean="0">
                <a:solidFill>
                  <a:schemeClr val="bg2">
                    <a:lumMod val="10000"/>
                  </a:schemeClr>
                </a:solidFill>
              </a:rPr>
              <a:t>theta (Average Case)</a:t>
            </a:r>
            <a:endParaRPr lang="en-US" dirty="0">
              <a:solidFill>
                <a:schemeClr val="bg2">
                  <a:lumMod val="10000"/>
                </a:schemeClr>
              </a:solidFill>
            </a:endParaRPr>
          </a:p>
          <a:p>
            <a:pPr>
              <a:lnSpc>
                <a:spcPct val="150000"/>
              </a:lnSpc>
            </a:pPr>
            <a:r>
              <a:rPr lang="en-US" b="1" dirty="0">
                <a:solidFill>
                  <a:schemeClr val="bg2">
                    <a:lumMod val="10000"/>
                  </a:schemeClr>
                </a:solidFill>
              </a:rPr>
              <a:t>o</a:t>
            </a:r>
            <a:r>
              <a:rPr lang="en-US" dirty="0">
                <a:solidFill>
                  <a:schemeClr val="bg2">
                    <a:lumMod val="10000"/>
                  </a:schemeClr>
                </a:solidFill>
              </a:rPr>
              <a:t> − </a:t>
            </a:r>
            <a:r>
              <a:rPr lang="en-US" dirty="0" smtClean="0">
                <a:solidFill>
                  <a:schemeClr val="bg2">
                    <a:lumMod val="10000"/>
                  </a:schemeClr>
                </a:solidFill>
              </a:rPr>
              <a:t> Small Oh(Not Tight Worst Case)</a:t>
            </a:r>
            <a:endParaRPr lang="en-US" dirty="0">
              <a:solidFill>
                <a:schemeClr val="bg2">
                  <a:lumMod val="10000"/>
                </a:schemeClr>
              </a:solidFill>
            </a:endParaRPr>
          </a:p>
          <a:p>
            <a:pPr>
              <a:lnSpc>
                <a:spcPct val="150000"/>
              </a:lnSpc>
            </a:pPr>
            <a:r>
              <a:rPr lang="el-GR" b="1" dirty="0">
                <a:solidFill>
                  <a:schemeClr val="bg2">
                    <a:lumMod val="10000"/>
                  </a:schemeClr>
                </a:solidFill>
              </a:rPr>
              <a:t>ω</a:t>
            </a:r>
            <a:r>
              <a:rPr lang="el-GR" dirty="0">
                <a:solidFill>
                  <a:schemeClr val="bg2">
                    <a:lumMod val="10000"/>
                  </a:schemeClr>
                </a:solidFill>
              </a:rPr>
              <a:t> − </a:t>
            </a:r>
            <a:r>
              <a:rPr lang="en-US" dirty="0" smtClean="0">
                <a:solidFill>
                  <a:schemeClr val="bg2">
                    <a:lumMod val="10000"/>
                  </a:schemeClr>
                </a:solidFill>
              </a:rPr>
              <a:t>Small omega(Not Tight  Best  Case)</a:t>
            </a:r>
            <a:endParaRPr lang="en-US" dirty="0">
              <a:solidFill>
                <a:schemeClr val="bg2">
                  <a:lumMod val="10000"/>
                </a:schemeClr>
              </a:solidFill>
            </a:endParaRPr>
          </a:p>
          <a:p>
            <a:pPr algn="just">
              <a:lnSpc>
                <a:spcPct val="150000"/>
              </a:lnSpc>
              <a:buFont typeface="Wingdings" panose="05000000000000000000" pitchFamily="2" charset="2"/>
              <a:buChar char="q"/>
            </a:pPr>
            <a:endParaRPr lang="en-US" b="1" dirty="0">
              <a:solidFill>
                <a:schemeClr val="tx1"/>
              </a:solidFill>
            </a:endParaRPr>
          </a:p>
          <a:p>
            <a:endParaRPr lang="en-US" dirty="0"/>
          </a:p>
          <a:p>
            <a:endParaRPr lang="en-US"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33400" y="152400"/>
            <a:ext cx="8229600" cy="685800"/>
          </a:xfrm>
        </p:spPr>
        <p:txBody>
          <a:bodyPr anchor="ctr"/>
          <a:lstStyle/>
          <a:p>
            <a:pPr>
              <a:lnSpc>
                <a:spcPct val="150000"/>
              </a:lnSpc>
            </a:pPr>
            <a:r>
              <a:rPr lang="en-US" sz="3600" b="1" dirty="0" smtClean="0">
                <a:solidFill>
                  <a:schemeClr val="bg2">
                    <a:lumMod val="10000"/>
                  </a:schemeClr>
                </a:solidFill>
              </a:rPr>
              <a:t>O</a:t>
            </a:r>
            <a:r>
              <a:rPr lang="en-US" sz="3600" dirty="0" smtClean="0">
                <a:solidFill>
                  <a:schemeClr val="bg2">
                    <a:lumMod val="10000"/>
                  </a:schemeClr>
                </a:solidFill>
              </a:rPr>
              <a:t> − Big Oh</a:t>
            </a:r>
            <a:endParaRPr lang="en-US" sz="3600" dirty="0">
              <a:solidFill>
                <a:schemeClr val="bg2">
                  <a:lumMod val="10000"/>
                </a:schemeClr>
              </a:solidFill>
            </a:endParaRPr>
          </a:p>
        </p:txBody>
      </p:sp>
      <p:sp>
        <p:nvSpPr>
          <p:cNvPr id="5" name="Content Placeholder 4"/>
          <p:cNvSpPr>
            <a:spLocks noGrp="1"/>
          </p:cNvSpPr>
          <p:nvPr>
            <p:ph idx="1"/>
          </p:nvPr>
        </p:nvSpPr>
        <p:spPr>
          <a:xfrm>
            <a:off x="228600" y="838200"/>
            <a:ext cx="8534400" cy="5638800"/>
          </a:xfrm>
        </p:spPr>
        <p:txBody>
          <a:bodyPr>
            <a:normAutofit/>
          </a:bodyPr>
          <a:lstStyle/>
          <a:p>
            <a:pPr>
              <a:lnSpc>
                <a:spcPct val="150000"/>
              </a:lnSpc>
              <a:buFont typeface="Wingdings" panose="05000000000000000000" pitchFamily="2" charset="2"/>
              <a:buChar char="q"/>
            </a:pPr>
            <a:r>
              <a:rPr lang="en-US" sz="2800" dirty="0" smtClean="0">
                <a:solidFill>
                  <a:schemeClr val="tx1"/>
                </a:solidFill>
                <a:latin typeface="Calibri" panose="020F0502020204030204" charset="0"/>
                <a:cs typeface="Calibri" panose="020F0502020204030204" charset="0"/>
              </a:rPr>
              <a:t> Big – Oh Notation  :</a:t>
            </a:r>
            <a:endParaRPr lang="en-US" sz="2800" dirty="0" smtClean="0">
              <a:solidFill>
                <a:schemeClr val="tx1"/>
              </a:solidFill>
              <a:latin typeface="Calibri" panose="020F0502020204030204" charset="0"/>
              <a:cs typeface="Calibri" panose="020F0502020204030204" charset="0"/>
            </a:endParaRPr>
          </a:p>
          <a:p>
            <a:pPr lvl="1">
              <a:lnSpc>
                <a:spcPct val="150000"/>
              </a:lnSpc>
              <a:buFont typeface="Wingdings" panose="05000000000000000000" pitchFamily="2" charset="2"/>
              <a:buChar char="§"/>
            </a:pPr>
            <a:r>
              <a:rPr lang="en-US" sz="2400" dirty="0" smtClean="0">
                <a:solidFill>
                  <a:schemeClr val="tx1"/>
                </a:solidFill>
                <a:latin typeface="Calibri" panose="020F0502020204030204" charset="0"/>
                <a:cs typeface="Calibri" panose="020F0502020204030204" charset="0"/>
              </a:rPr>
              <a:t> </a:t>
            </a:r>
            <a:r>
              <a:rPr lang="en-US" sz="2800" dirty="0" smtClean="0">
                <a:solidFill>
                  <a:schemeClr val="tx1"/>
                </a:solidFill>
                <a:latin typeface="Calibri" panose="020F0502020204030204" charset="0"/>
                <a:cs typeface="Calibri" panose="020F0502020204030204" charset="0"/>
              </a:rPr>
              <a:t> Big O notation is used to describe the worst-case time or space complexity of an algorithm, expressing its efficiency as the input size grows.</a:t>
            </a:r>
            <a:endParaRPr lang="en-US" sz="2800" dirty="0">
              <a:solidFill>
                <a:schemeClr val="tx1"/>
              </a:solidFill>
              <a:latin typeface="Calibri" panose="020F0502020204030204" charset="0"/>
              <a:cs typeface="Calibri" panose="020F0502020204030204" charset="0"/>
            </a:endParaRPr>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33400" y="152400"/>
            <a:ext cx="8229600" cy="685800"/>
          </a:xfrm>
        </p:spPr>
        <p:txBody>
          <a:bodyPr anchor="ctr"/>
          <a:lstStyle/>
          <a:p>
            <a:pPr>
              <a:lnSpc>
                <a:spcPct val="150000"/>
              </a:lnSpc>
            </a:pPr>
            <a:r>
              <a:rPr lang="en-US" sz="3600" b="1" dirty="0" smtClean="0">
                <a:solidFill>
                  <a:schemeClr val="bg2">
                    <a:lumMod val="10000"/>
                  </a:schemeClr>
                </a:solidFill>
              </a:rPr>
              <a:t>O</a:t>
            </a:r>
            <a:r>
              <a:rPr lang="en-US" sz="3600" dirty="0" smtClean="0">
                <a:solidFill>
                  <a:schemeClr val="bg2">
                    <a:lumMod val="10000"/>
                  </a:schemeClr>
                </a:solidFill>
              </a:rPr>
              <a:t> − Big Oh</a:t>
            </a:r>
            <a:endParaRPr lang="en-US" sz="3600" dirty="0">
              <a:solidFill>
                <a:schemeClr val="bg2">
                  <a:lumMod val="10000"/>
                </a:schemeClr>
              </a:solidFill>
            </a:endParaRPr>
          </a:p>
        </p:txBody>
      </p:sp>
      <p:sp>
        <p:nvSpPr>
          <p:cNvPr id="5" name="Content Placeholder 4"/>
          <p:cNvSpPr>
            <a:spLocks noGrp="1"/>
          </p:cNvSpPr>
          <p:nvPr>
            <p:ph idx="1"/>
          </p:nvPr>
        </p:nvSpPr>
        <p:spPr>
          <a:xfrm>
            <a:off x="228600" y="838200"/>
            <a:ext cx="8534400" cy="5638800"/>
          </a:xfrm>
        </p:spPr>
        <p:txBody>
          <a:bodyPr>
            <a:normAutofit/>
          </a:bodyPr>
          <a:lstStyle/>
          <a:p>
            <a:pPr>
              <a:lnSpc>
                <a:spcPct val="150000"/>
              </a:lnSpc>
              <a:buFont typeface="Wingdings" panose="05000000000000000000" pitchFamily="2" charset="2"/>
              <a:buChar char="q"/>
            </a:pPr>
            <a:r>
              <a:rPr lang="en-US" dirty="0" smtClean="0">
                <a:solidFill>
                  <a:schemeClr val="tx1"/>
                </a:solidFill>
                <a:latin typeface="Calibri" panose="020F0502020204030204" charset="0"/>
                <a:cs typeface="Calibri" panose="020F0502020204030204" charset="0"/>
              </a:rPr>
              <a:t> O(1) – Constant time  :</a:t>
            </a:r>
            <a:endParaRPr lang="en-US" dirty="0" smtClean="0">
              <a:solidFill>
                <a:schemeClr val="tx1"/>
              </a:solidFill>
              <a:latin typeface="Calibri" panose="020F0502020204030204" charset="0"/>
              <a:cs typeface="Calibri" panose="020F0502020204030204" charset="0"/>
            </a:endParaRPr>
          </a:p>
          <a:p>
            <a:pPr lvl="1">
              <a:lnSpc>
                <a:spcPct val="150000"/>
              </a:lnSpc>
              <a:buFont typeface="Wingdings" panose="05000000000000000000" pitchFamily="2" charset="2"/>
              <a:buChar char="§"/>
            </a:pPr>
            <a:r>
              <a:rPr lang="en-US" sz="2000" dirty="0" smtClean="0">
                <a:solidFill>
                  <a:schemeClr val="tx1"/>
                </a:solidFill>
                <a:latin typeface="Calibri" panose="020F0502020204030204" charset="0"/>
                <a:cs typeface="Calibri" panose="020F0502020204030204" charset="0"/>
              </a:rPr>
              <a:t> </a:t>
            </a:r>
            <a:r>
              <a:rPr lang="en-US" sz="2400" dirty="0" smtClean="0">
                <a:solidFill>
                  <a:schemeClr val="tx1"/>
                </a:solidFill>
                <a:latin typeface="Calibri" panose="020F0502020204030204" charset="0"/>
                <a:cs typeface="Calibri" panose="020F0502020204030204" charset="0"/>
              </a:rPr>
              <a:t> This means that the algorithm requires the same fixed no. of steps regardless of the size of the task.</a:t>
            </a:r>
            <a:endParaRPr lang="en-US" sz="2400" dirty="0" smtClean="0">
              <a:solidFill>
                <a:schemeClr val="tx1"/>
              </a:solidFill>
              <a:latin typeface="Calibri" panose="020F0502020204030204" charset="0"/>
              <a:cs typeface="Calibri" panose="020F0502020204030204" charset="0"/>
            </a:endParaRPr>
          </a:p>
          <a:p>
            <a:pPr lvl="1">
              <a:lnSpc>
                <a:spcPct val="150000"/>
              </a:lnSpc>
              <a:buFont typeface="Wingdings" panose="05000000000000000000" pitchFamily="2" charset="2"/>
              <a:buChar char="§"/>
            </a:pPr>
            <a:r>
              <a:rPr lang="en-US" sz="2400" dirty="0" err="1" smtClean="0">
                <a:solidFill>
                  <a:schemeClr val="tx1"/>
                </a:solidFill>
                <a:latin typeface="Calibri" panose="020F0502020204030204" charset="0"/>
                <a:cs typeface="Calibri" panose="020F0502020204030204" charset="0"/>
              </a:rPr>
              <a:t>E.g</a:t>
            </a:r>
            <a:r>
              <a:rPr lang="en-US" sz="2400" dirty="0" smtClean="0">
                <a:solidFill>
                  <a:schemeClr val="tx1"/>
                </a:solidFill>
                <a:latin typeface="Calibri" panose="020F0502020204030204" charset="0"/>
                <a:cs typeface="Calibri" panose="020F0502020204030204" charset="0"/>
              </a:rPr>
              <a:t> :-</a:t>
            </a:r>
            <a:endParaRPr lang="en-US" sz="2400" dirty="0" smtClean="0">
              <a:solidFill>
                <a:schemeClr val="tx1"/>
              </a:solidFill>
              <a:latin typeface="Calibri" panose="020F0502020204030204" charset="0"/>
              <a:cs typeface="Calibri" panose="020F0502020204030204" charset="0"/>
            </a:endParaRPr>
          </a:p>
          <a:p>
            <a:pPr lvl="2">
              <a:lnSpc>
                <a:spcPct val="150000"/>
              </a:lnSpc>
              <a:buFont typeface="Wingdings" panose="05000000000000000000" pitchFamily="2" charset="2"/>
              <a:buChar char="§"/>
            </a:pPr>
            <a:r>
              <a:rPr lang="en-US" sz="2400" dirty="0" smtClean="0">
                <a:solidFill>
                  <a:schemeClr val="tx1"/>
                </a:solidFill>
                <a:latin typeface="Calibri" panose="020F0502020204030204" charset="0"/>
                <a:cs typeface="Calibri" panose="020F0502020204030204" charset="0"/>
              </a:rPr>
              <a:t>Insert and Remove operations for a queue</a:t>
            </a:r>
            <a:endParaRPr lang="en-US" sz="2400" dirty="0" smtClean="0">
              <a:solidFill>
                <a:schemeClr val="tx1"/>
              </a:solidFill>
              <a:latin typeface="Calibri" panose="020F0502020204030204" charset="0"/>
              <a:cs typeface="Calibri" panose="020F0502020204030204" charset="0"/>
            </a:endParaRPr>
          </a:p>
          <a:p>
            <a:pPr lvl="2">
              <a:lnSpc>
                <a:spcPct val="150000"/>
              </a:lnSpc>
              <a:buFont typeface="Wingdings" panose="05000000000000000000" pitchFamily="2" charset="2"/>
              <a:buChar char="§"/>
            </a:pPr>
            <a:r>
              <a:rPr lang="en-US" sz="2400" dirty="0" smtClean="0">
                <a:solidFill>
                  <a:schemeClr val="tx1"/>
                </a:solidFill>
                <a:latin typeface="Calibri" panose="020F0502020204030204" charset="0"/>
                <a:cs typeface="Calibri" panose="020F0502020204030204" charset="0"/>
              </a:rPr>
              <a:t>Any Mathematical Expression i.e. sum=</a:t>
            </a:r>
            <a:r>
              <a:rPr lang="en-US" sz="2400" dirty="0" err="1" smtClean="0">
                <a:solidFill>
                  <a:schemeClr val="tx1"/>
                </a:solidFill>
                <a:latin typeface="Calibri" panose="020F0502020204030204" charset="0"/>
                <a:cs typeface="Calibri" panose="020F0502020204030204" charset="0"/>
              </a:rPr>
              <a:t>a+b</a:t>
            </a:r>
            <a:endParaRPr lang="en-US" sz="2400" dirty="0" smtClean="0">
              <a:solidFill>
                <a:schemeClr val="tx1"/>
              </a:solidFill>
              <a:latin typeface="Calibri" panose="020F0502020204030204" charset="0"/>
              <a:cs typeface="Calibri" panose="020F0502020204030204" charset="0"/>
            </a:endParaRPr>
          </a:p>
          <a:p>
            <a:pPr lvl="1">
              <a:lnSpc>
                <a:spcPct val="150000"/>
              </a:lnSpc>
            </a:pPr>
            <a:endParaRPr lang="en-US" sz="2400" dirty="0" smtClean="0">
              <a:solidFill>
                <a:schemeClr val="tx1"/>
              </a:solidFill>
              <a:latin typeface="Calibri" panose="020F0502020204030204" charset="0"/>
              <a:cs typeface="Calibri" panose="020F0502020204030204" charset="0"/>
            </a:endParaRPr>
          </a:p>
          <a:p>
            <a:pPr lvl="1">
              <a:lnSpc>
                <a:spcPct val="150000"/>
              </a:lnSpc>
            </a:pPr>
            <a:endParaRPr lang="en-US" sz="2400" dirty="0" smtClean="0">
              <a:solidFill>
                <a:schemeClr val="tx1"/>
              </a:solidFill>
              <a:latin typeface="Calibri" panose="020F0502020204030204" charset="0"/>
              <a:cs typeface="Calibri" panose="020F0502020204030204" charset="0"/>
            </a:endParaRPr>
          </a:p>
          <a:p>
            <a:pPr>
              <a:lnSpc>
                <a:spcPct val="150000"/>
              </a:lnSpc>
              <a:buFont typeface="Wingdings" panose="05000000000000000000" pitchFamily="2" charset="2"/>
              <a:buChar char="q"/>
            </a:pPr>
            <a:endParaRPr lang="en-US"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33400" y="152400"/>
            <a:ext cx="8229600" cy="685800"/>
          </a:xfrm>
        </p:spPr>
        <p:txBody>
          <a:bodyPr anchor="ctr"/>
          <a:lstStyle/>
          <a:p>
            <a:pPr>
              <a:lnSpc>
                <a:spcPct val="150000"/>
              </a:lnSpc>
            </a:pPr>
            <a:r>
              <a:rPr lang="en-US" sz="3600" b="1" dirty="0" smtClean="0">
                <a:solidFill>
                  <a:schemeClr val="bg2">
                    <a:lumMod val="10000"/>
                  </a:schemeClr>
                </a:solidFill>
              </a:rPr>
              <a:t>O</a:t>
            </a:r>
            <a:r>
              <a:rPr lang="en-US" sz="3600" dirty="0" smtClean="0">
                <a:solidFill>
                  <a:schemeClr val="bg2">
                    <a:lumMod val="10000"/>
                  </a:schemeClr>
                </a:solidFill>
              </a:rPr>
              <a:t> − Big Oh</a:t>
            </a:r>
            <a:endParaRPr lang="en-US" sz="3600" dirty="0">
              <a:solidFill>
                <a:schemeClr val="bg2">
                  <a:lumMod val="10000"/>
                </a:schemeClr>
              </a:solidFill>
            </a:endParaRPr>
          </a:p>
        </p:txBody>
      </p:sp>
      <p:sp>
        <p:nvSpPr>
          <p:cNvPr id="5" name="Content Placeholder 4"/>
          <p:cNvSpPr>
            <a:spLocks noGrp="1"/>
          </p:cNvSpPr>
          <p:nvPr>
            <p:ph idx="1"/>
          </p:nvPr>
        </p:nvSpPr>
        <p:spPr>
          <a:xfrm>
            <a:off x="228600" y="838200"/>
            <a:ext cx="8534400" cy="5638800"/>
          </a:xfrm>
        </p:spPr>
        <p:txBody>
          <a:bodyPr>
            <a:normAutofit/>
          </a:bodyPr>
          <a:lstStyle/>
          <a:p>
            <a:pPr>
              <a:lnSpc>
                <a:spcPct val="150000"/>
              </a:lnSpc>
              <a:buFont typeface="Wingdings" panose="05000000000000000000" pitchFamily="2" charset="2"/>
              <a:buChar char="q"/>
            </a:pPr>
            <a:r>
              <a:rPr lang="en-US" dirty="0" smtClean="0">
                <a:solidFill>
                  <a:schemeClr val="tx1"/>
                </a:solidFill>
                <a:latin typeface="Calibri" panose="020F0502020204030204" charset="0"/>
                <a:cs typeface="Calibri" panose="020F0502020204030204" charset="0"/>
              </a:rPr>
              <a:t> O(n) – Linear time  :</a:t>
            </a:r>
            <a:endParaRPr lang="en-US" dirty="0" smtClean="0">
              <a:solidFill>
                <a:schemeClr val="tx1"/>
              </a:solidFill>
              <a:latin typeface="Calibri" panose="020F0502020204030204" charset="0"/>
              <a:cs typeface="Calibri" panose="020F0502020204030204" charset="0"/>
            </a:endParaRPr>
          </a:p>
          <a:p>
            <a:pPr lvl="1">
              <a:lnSpc>
                <a:spcPct val="150000"/>
              </a:lnSpc>
              <a:buFont typeface="Wingdings" panose="05000000000000000000" pitchFamily="2" charset="2"/>
              <a:buChar char="§"/>
            </a:pPr>
            <a:r>
              <a:rPr lang="en-US" sz="2000" dirty="0" smtClean="0">
                <a:solidFill>
                  <a:schemeClr val="tx1"/>
                </a:solidFill>
                <a:latin typeface="Calibri" panose="020F0502020204030204" charset="0"/>
                <a:cs typeface="Calibri" panose="020F0502020204030204" charset="0"/>
              </a:rPr>
              <a:t> </a:t>
            </a:r>
            <a:r>
              <a:rPr lang="en-US" sz="2400" dirty="0" smtClean="0">
                <a:solidFill>
                  <a:schemeClr val="tx1"/>
                </a:solidFill>
                <a:latin typeface="Calibri" panose="020F0502020204030204" charset="0"/>
                <a:cs typeface="Calibri" panose="020F0502020204030204" charset="0"/>
              </a:rPr>
              <a:t> This means that the algorithm requires a no. of steps proportional to the size of task.</a:t>
            </a:r>
            <a:endParaRPr lang="en-US" sz="2400" dirty="0" smtClean="0">
              <a:solidFill>
                <a:schemeClr val="tx1"/>
              </a:solidFill>
              <a:latin typeface="Calibri" panose="020F0502020204030204" charset="0"/>
              <a:cs typeface="Calibri" panose="020F0502020204030204" charset="0"/>
            </a:endParaRPr>
          </a:p>
          <a:p>
            <a:pPr lvl="1">
              <a:lnSpc>
                <a:spcPct val="150000"/>
              </a:lnSpc>
              <a:buFont typeface="Wingdings" panose="05000000000000000000" pitchFamily="2" charset="2"/>
              <a:buChar char="§"/>
            </a:pPr>
            <a:r>
              <a:rPr lang="en-US" sz="2400" dirty="0" smtClean="0">
                <a:solidFill>
                  <a:schemeClr val="tx1"/>
                </a:solidFill>
                <a:latin typeface="Calibri" panose="020F0502020204030204" charset="0"/>
                <a:cs typeface="Calibri" panose="020F0502020204030204" charset="0"/>
              </a:rPr>
              <a:t>E.g. :-</a:t>
            </a:r>
            <a:endParaRPr lang="en-US" sz="2400" dirty="0" smtClean="0">
              <a:solidFill>
                <a:schemeClr val="tx1"/>
              </a:solidFill>
              <a:latin typeface="Calibri" panose="020F0502020204030204" charset="0"/>
              <a:cs typeface="Calibri" panose="020F0502020204030204" charset="0"/>
            </a:endParaRPr>
          </a:p>
          <a:p>
            <a:pPr lvl="2">
              <a:lnSpc>
                <a:spcPct val="150000"/>
              </a:lnSpc>
              <a:buFont typeface="Wingdings" panose="05000000000000000000" pitchFamily="2" charset="2"/>
              <a:buChar char="§"/>
            </a:pPr>
            <a:r>
              <a:rPr lang="en-US" sz="2400" dirty="0" smtClean="0">
                <a:solidFill>
                  <a:schemeClr val="tx1"/>
                </a:solidFill>
                <a:latin typeface="Calibri" panose="020F0502020204030204" charset="0"/>
                <a:cs typeface="Calibri" panose="020F0502020204030204" charset="0"/>
              </a:rPr>
              <a:t>Traversal of a list (a linked list or an array) with n elements.</a:t>
            </a:r>
            <a:endParaRPr lang="en-US" sz="2400" dirty="0" smtClean="0">
              <a:solidFill>
                <a:schemeClr val="tx1"/>
              </a:solidFill>
              <a:latin typeface="Calibri" panose="020F0502020204030204" charset="0"/>
              <a:cs typeface="Calibri" panose="020F0502020204030204" charset="0"/>
            </a:endParaRPr>
          </a:p>
          <a:p>
            <a:pPr lvl="1">
              <a:lnSpc>
                <a:spcPct val="150000"/>
              </a:lnSpc>
            </a:pPr>
            <a:endParaRPr lang="en-US" sz="2400" dirty="0" smtClean="0">
              <a:solidFill>
                <a:schemeClr val="tx1"/>
              </a:solidFill>
              <a:latin typeface="Calibri" panose="020F0502020204030204" charset="0"/>
              <a:cs typeface="Calibri" panose="020F0502020204030204" charset="0"/>
            </a:endParaRPr>
          </a:p>
          <a:p>
            <a:pPr lvl="1">
              <a:lnSpc>
                <a:spcPct val="150000"/>
              </a:lnSpc>
            </a:pPr>
            <a:endParaRPr lang="en-US" sz="2400" dirty="0">
              <a:solidFill>
                <a:schemeClr val="tx1"/>
              </a:solidFill>
              <a:latin typeface="Calibri" panose="020F0502020204030204" charset="0"/>
              <a:cs typeface="Calibri" panose="020F0502020204030204" charset="0"/>
            </a:endParaRPr>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33400" y="152400"/>
            <a:ext cx="8229600" cy="685800"/>
          </a:xfrm>
        </p:spPr>
        <p:txBody>
          <a:bodyPr anchor="ctr"/>
          <a:lstStyle/>
          <a:p>
            <a:pPr>
              <a:lnSpc>
                <a:spcPct val="150000"/>
              </a:lnSpc>
            </a:pPr>
            <a:r>
              <a:rPr lang="en-US" sz="3600" b="1" dirty="0" smtClean="0">
                <a:solidFill>
                  <a:schemeClr val="bg2">
                    <a:lumMod val="10000"/>
                  </a:schemeClr>
                </a:solidFill>
              </a:rPr>
              <a:t>O</a:t>
            </a:r>
            <a:r>
              <a:rPr lang="en-US" sz="3600" dirty="0" smtClean="0">
                <a:solidFill>
                  <a:schemeClr val="bg2">
                    <a:lumMod val="10000"/>
                  </a:schemeClr>
                </a:solidFill>
              </a:rPr>
              <a:t> − Big Oh</a:t>
            </a:r>
            <a:endParaRPr lang="en-US" sz="3600" dirty="0">
              <a:solidFill>
                <a:schemeClr val="bg2">
                  <a:lumMod val="10000"/>
                </a:schemeClr>
              </a:solidFill>
            </a:endParaRPr>
          </a:p>
        </p:txBody>
      </p:sp>
      <p:sp>
        <p:nvSpPr>
          <p:cNvPr id="5" name="Content Placeholder 4"/>
          <p:cNvSpPr>
            <a:spLocks noGrp="1"/>
          </p:cNvSpPr>
          <p:nvPr>
            <p:ph idx="1"/>
          </p:nvPr>
        </p:nvSpPr>
        <p:spPr>
          <a:xfrm>
            <a:off x="228600" y="838200"/>
            <a:ext cx="8534400" cy="5638800"/>
          </a:xfrm>
        </p:spPr>
        <p:txBody>
          <a:bodyPr>
            <a:normAutofit/>
          </a:bodyPr>
          <a:lstStyle/>
          <a:p>
            <a:pPr>
              <a:lnSpc>
                <a:spcPct val="150000"/>
              </a:lnSpc>
              <a:buFont typeface="Wingdings" panose="05000000000000000000" pitchFamily="2" charset="2"/>
              <a:buChar char="q"/>
            </a:pPr>
            <a:r>
              <a:rPr lang="en-US" sz="2800" dirty="0" smtClean="0">
                <a:solidFill>
                  <a:schemeClr val="tx1"/>
                </a:solidFill>
                <a:latin typeface="Calibri" panose="020F0502020204030204" charset="0"/>
                <a:cs typeface="Calibri" panose="020F0502020204030204" charset="0"/>
              </a:rPr>
              <a:t> O(n</a:t>
            </a:r>
            <a:r>
              <a:rPr lang="en-US" sz="2800" baseline="30000" dirty="0" smtClean="0">
                <a:solidFill>
                  <a:schemeClr val="tx1"/>
                </a:solidFill>
                <a:latin typeface="Calibri" panose="020F0502020204030204" charset="0"/>
                <a:cs typeface="Calibri" panose="020F0502020204030204" charset="0"/>
              </a:rPr>
              <a:t>2</a:t>
            </a:r>
            <a:r>
              <a:rPr lang="en-US" sz="2800" dirty="0" smtClean="0">
                <a:solidFill>
                  <a:schemeClr val="tx1"/>
                </a:solidFill>
                <a:latin typeface="Calibri" panose="020F0502020204030204" charset="0"/>
                <a:cs typeface="Calibri" panose="020F0502020204030204" charset="0"/>
              </a:rPr>
              <a:t>) – Quadratic time  :</a:t>
            </a:r>
            <a:endParaRPr lang="en-US" sz="2800" dirty="0" smtClean="0">
              <a:solidFill>
                <a:schemeClr val="tx1"/>
              </a:solidFill>
              <a:latin typeface="Calibri" panose="020F0502020204030204" charset="0"/>
              <a:cs typeface="Calibri" panose="020F0502020204030204" charset="0"/>
            </a:endParaRPr>
          </a:p>
          <a:p>
            <a:pPr lvl="1">
              <a:lnSpc>
                <a:spcPct val="150000"/>
              </a:lnSpc>
              <a:buFont typeface="Wingdings" panose="05000000000000000000" pitchFamily="2" charset="2"/>
              <a:buChar char="§"/>
            </a:pPr>
            <a:r>
              <a:rPr lang="en-US" sz="2400" dirty="0" smtClean="0">
                <a:solidFill>
                  <a:schemeClr val="tx1"/>
                </a:solidFill>
                <a:latin typeface="Calibri" panose="020F0502020204030204" charset="0"/>
                <a:cs typeface="Calibri" panose="020F0502020204030204" charset="0"/>
              </a:rPr>
              <a:t> </a:t>
            </a:r>
            <a:r>
              <a:rPr lang="en-US" sz="2800" dirty="0" smtClean="0">
                <a:solidFill>
                  <a:schemeClr val="tx1"/>
                </a:solidFill>
                <a:latin typeface="Calibri" panose="020F0502020204030204" charset="0"/>
                <a:cs typeface="Calibri" panose="020F0502020204030204" charset="0"/>
              </a:rPr>
              <a:t> The no. of operations is proportional to the size of the task squared.</a:t>
            </a:r>
            <a:endParaRPr lang="en-US" sz="2800" dirty="0" smtClean="0">
              <a:solidFill>
                <a:schemeClr val="tx1"/>
              </a:solidFill>
              <a:latin typeface="Calibri" panose="020F0502020204030204" charset="0"/>
              <a:cs typeface="Calibri" panose="020F0502020204030204" charset="0"/>
            </a:endParaRPr>
          </a:p>
          <a:p>
            <a:pPr lvl="1">
              <a:lnSpc>
                <a:spcPct val="150000"/>
              </a:lnSpc>
              <a:buFont typeface="Wingdings" panose="05000000000000000000" pitchFamily="2" charset="2"/>
              <a:buChar char="§"/>
            </a:pPr>
            <a:r>
              <a:rPr lang="en-US" sz="2800" dirty="0" smtClean="0">
                <a:solidFill>
                  <a:schemeClr val="tx1"/>
                </a:solidFill>
                <a:latin typeface="Calibri" panose="020F0502020204030204" charset="0"/>
                <a:cs typeface="Calibri" panose="020F0502020204030204" charset="0"/>
              </a:rPr>
              <a:t>E.g. :-</a:t>
            </a:r>
            <a:endParaRPr lang="en-US" sz="2800" dirty="0" smtClean="0">
              <a:solidFill>
                <a:schemeClr val="tx1"/>
              </a:solidFill>
              <a:latin typeface="Calibri" panose="020F0502020204030204" charset="0"/>
              <a:cs typeface="Calibri" panose="020F0502020204030204" charset="0"/>
            </a:endParaRPr>
          </a:p>
          <a:p>
            <a:pPr lvl="2">
              <a:lnSpc>
                <a:spcPct val="150000"/>
              </a:lnSpc>
              <a:buFont typeface="Wingdings" panose="05000000000000000000" pitchFamily="2" charset="2"/>
              <a:buChar char="§"/>
            </a:pPr>
            <a:r>
              <a:rPr lang="en-US" sz="2800" dirty="0" smtClean="0">
                <a:solidFill>
                  <a:schemeClr val="tx1"/>
                </a:solidFill>
                <a:latin typeface="Calibri" panose="020F0502020204030204" charset="0"/>
                <a:cs typeface="Calibri" panose="020F0502020204030204" charset="0"/>
              </a:rPr>
              <a:t>Comparing two 2-dimensional arrays of size n by n.</a:t>
            </a:r>
            <a:endParaRPr lang="en-US" sz="2800" dirty="0" smtClean="0">
              <a:solidFill>
                <a:schemeClr val="tx1"/>
              </a:solidFill>
              <a:latin typeface="Calibri" panose="020F0502020204030204" charset="0"/>
              <a:cs typeface="Calibri" panose="020F0502020204030204" charset="0"/>
            </a:endParaRPr>
          </a:p>
          <a:p>
            <a:pPr lvl="1">
              <a:lnSpc>
                <a:spcPct val="150000"/>
              </a:lnSpc>
              <a:buNone/>
            </a:pPr>
            <a:endParaRPr lang="en-US" sz="2800" dirty="0" smtClean="0">
              <a:solidFill>
                <a:schemeClr val="tx1"/>
              </a:solidFill>
              <a:latin typeface="Calibri" panose="020F0502020204030204" charset="0"/>
              <a:cs typeface="Calibri" panose="020F0502020204030204" charset="0"/>
            </a:endParaRPr>
          </a:p>
          <a:p>
            <a:pPr lvl="1">
              <a:lnSpc>
                <a:spcPct val="150000"/>
              </a:lnSpc>
            </a:pPr>
            <a:endParaRPr lang="en-US" sz="2800" dirty="0">
              <a:solidFill>
                <a:schemeClr val="tx1"/>
              </a:solidFill>
              <a:latin typeface="Calibri" panose="020F0502020204030204" charset="0"/>
              <a:cs typeface="Calibri" panose="020F0502020204030204" charset="0"/>
            </a:endParaRPr>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33400" y="152400"/>
            <a:ext cx="8229600" cy="685800"/>
          </a:xfrm>
        </p:spPr>
        <p:txBody>
          <a:bodyPr anchor="ctr"/>
          <a:lstStyle/>
          <a:p>
            <a:pPr>
              <a:lnSpc>
                <a:spcPct val="150000"/>
              </a:lnSpc>
            </a:pPr>
            <a:r>
              <a:rPr lang="en-US" sz="3600" b="1" dirty="0" smtClean="0">
                <a:solidFill>
                  <a:schemeClr val="bg2">
                    <a:lumMod val="10000"/>
                  </a:schemeClr>
                </a:solidFill>
              </a:rPr>
              <a:t>O</a:t>
            </a:r>
            <a:r>
              <a:rPr lang="en-US" sz="3600" dirty="0" smtClean="0">
                <a:solidFill>
                  <a:schemeClr val="bg2">
                    <a:lumMod val="10000"/>
                  </a:schemeClr>
                </a:solidFill>
              </a:rPr>
              <a:t> − Big Oh</a:t>
            </a:r>
            <a:endParaRPr lang="en-US" sz="3600" dirty="0">
              <a:solidFill>
                <a:schemeClr val="bg2">
                  <a:lumMod val="10000"/>
                </a:schemeClr>
              </a:solidFill>
            </a:endParaRPr>
          </a:p>
        </p:txBody>
      </p:sp>
      <p:sp>
        <p:nvSpPr>
          <p:cNvPr id="5" name="Content Placeholder 4"/>
          <p:cNvSpPr>
            <a:spLocks noGrp="1"/>
          </p:cNvSpPr>
          <p:nvPr>
            <p:ph idx="1"/>
          </p:nvPr>
        </p:nvSpPr>
        <p:spPr>
          <a:xfrm>
            <a:off x="228600" y="838200"/>
            <a:ext cx="8534400" cy="5638800"/>
          </a:xfrm>
        </p:spPr>
        <p:txBody>
          <a:bodyPr>
            <a:normAutofit/>
          </a:bodyPr>
          <a:lstStyle/>
          <a:p>
            <a:pPr>
              <a:lnSpc>
                <a:spcPct val="150000"/>
              </a:lnSpc>
              <a:buFont typeface="Wingdings" panose="05000000000000000000" pitchFamily="2" charset="2"/>
              <a:buChar char="q"/>
            </a:pPr>
            <a:r>
              <a:rPr lang="en-US" sz="3200" dirty="0" smtClean="0">
                <a:solidFill>
                  <a:schemeClr val="tx1"/>
                </a:solidFill>
                <a:latin typeface="Calibri" panose="020F0502020204030204" charset="0"/>
                <a:cs typeface="Calibri" panose="020F0502020204030204" charset="0"/>
              </a:rPr>
              <a:t> O(log n) – Logarithmic time  :</a:t>
            </a:r>
            <a:endParaRPr lang="en-US" sz="3200" dirty="0" smtClean="0">
              <a:solidFill>
                <a:schemeClr val="tx1"/>
              </a:solidFill>
              <a:latin typeface="Calibri" panose="020F0502020204030204" charset="0"/>
              <a:cs typeface="Calibri" panose="020F0502020204030204" charset="0"/>
            </a:endParaRPr>
          </a:p>
          <a:p>
            <a:pPr lvl="1">
              <a:lnSpc>
                <a:spcPct val="150000"/>
              </a:lnSpc>
              <a:buFont typeface="Wingdings" panose="05000000000000000000" pitchFamily="2" charset="2"/>
              <a:buChar char="§"/>
            </a:pPr>
            <a:r>
              <a:rPr lang="en-US" sz="2800" dirty="0" smtClean="0">
                <a:solidFill>
                  <a:schemeClr val="tx1"/>
                </a:solidFill>
                <a:latin typeface="Calibri" panose="020F0502020204030204" charset="0"/>
                <a:cs typeface="Calibri" panose="020F0502020204030204" charset="0"/>
              </a:rPr>
              <a:t> </a:t>
            </a:r>
            <a:r>
              <a:rPr lang="en-US" sz="3200" dirty="0" smtClean="0">
                <a:solidFill>
                  <a:schemeClr val="tx1"/>
                </a:solidFill>
                <a:latin typeface="Calibri" panose="020F0502020204030204" charset="0"/>
                <a:cs typeface="Calibri" panose="020F0502020204030204" charset="0"/>
              </a:rPr>
              <a:t> E.g. :-</a:t>
            </a:r>
            <a:endParaRPr lang="en-US" sz="3200" dirty="0" smtClean="0">
              <a:solidFill>
                <a:schemeClr val="tx1"/>
              </a:solidFill>
              <a:latin typeface="Calibri" panose="020F0502020204030204" charset="0"/>
              <a:cs typeface="Calibri" panose="020F0502020204030204" charset="0"/>
            </a:endParaRPr>
          </a:p>
          <a:p>
            <a:pPr lvl="2">
              <a:lnSpc>
                <a:spcPct val="150000"/>
              </a:lnSpc>
              <a:buFont typeface="Wingdings" panose="05000000000000000000" pitchFamily="2" charset="2"/>
              <a:buChar char="§"/>
            </a:pPr>
            <a:r>
              <a:rPr lang="en-US" sz="3200" dirty="0" smtClean="0">
                <a:solidFill>
                  <a:schemeClr val="tx1"/>
                </a:solidFill>
                <a:latin typeface="Calibri" panose="020F0502020204030204" charset="0"/>
                <a:cs typeface="Calibri" panose="020F0502020204030204" charset="0"/>
              </a:rPr>
              <a:t>Binary search in a sorted list of n elements.</a:t>
            </a:r>
            <a:endParaRPr lang="en-US" sz="3200" dirty="0" smtClean="0">
              <a:solidFill>
                <a:schemeClr val="tx1"/>
              </a:solidFill>
              <a:latin typeface="Calibri" panose="020F0502020204030204" charset="0"/>
              <a:cs typeface="Calibri" panose="020F0502020204030204" charset="0"/>
            </a:endParaRPr>
          </a:p>
          <a:p>
            <a:pPr lvl="1">
              <a:lnSpc>
                <a:spcPct val="150000"/>
              </a:lnSpc>
            </a:pPr>
            <a:endParaRPr lang="en-US" sz="3200" dirty="0">
              <a:solidFill>
                <a:schemeClr val="tx1"/>
              </a:solidFill>
              <a:latin typeface="Calibri" panose="020F0502020204030204" charset="0"/>
              <a:cs typeface="Calibri" panose="020F0502020204030204" charset="0"/>
            </a:endParaRPr>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33400" y="152400"/>
            <a:ext cx="8229600" cy="685800"/>
          </a:xfrm>
        </p:spPr>
        <p:txBody>
          <a:bodyPr anchor="ctr"/>
          <a:lstStyle/>
          <a:p>
            <a:pPr>
              <a:lnSpc>
                <a:spcPct val="150000"/>
              </a:lnSpc>
            </a:pPr>
            <a:r>
              <a:rPr lang="en-US" sz="3600" b="1" dirty="0" smtClean="0">
                <a:solidFill>
                  <a:schemeClr val="bg2">
                    <a:lumMod val="10000"/>
                  </a:schemeClr>
                </a:solidFill>
              </a:rPr>
              <a:t>O</a:t>
            </a:r>
            <a:r>
              <a:rPr lang="en-US" sz="3600" dirty="0" smtClean="0">
                <a:solidFill>
                  <a:schemeClr val="bg2">
                    <a:lumMod val="10000"/>
                  </a:schemeClr>
                </a:solidFill>
              </a:rPr>
              <a:t> − Big Oh</a:t>
            </a:r>
            <a:endParaRPr lang="en-US" sz="3600" dirty="0">
              <a:solidFill>
                <a:schemeClr val="bg2">
                  <a:lumMod val="10000"/>
                </a:schemeClr>
              </a:solidFill>
            </a:endParaRPr>
          </a:p>
        </p:txBody>
      </p:sp>
      <p:sp>
        <p:nvSpPr>
          <p:cNvPr id="5" name="Content Placeholder 4"/>
          <p:cNvSpPr>
            <a:spLocks noGrp="1"/>
          </p:cNvSpPr>
          <p:nvPr>
            <p:ph idx="1"/>
          </p:nvPr>
        </p:nvSpPr>
        <p:spPr>
          <a:xfrm>
            <a:off x="228600" y="838200"/>
            <a:ext cx="8534400" cy="5638800"/>
          </a:xfrm>
        </p:spPr>
        <p:txBody>
          <a:bodyPr>
            <a:normAutofit/>
          </a:bodyPr>
          <a:lstStyle/>
          <a:p>
            <a:pPr>
              <a:lnSpc>
                <a:spcPct val="150000"/>
              </a:lnSpc>
              <a:buFont typeface="Wingdings" panose="05000000000000000000" pitchFamily="2" charset="2"/>
              <a:buChar char="q"/>
            </a:pPr>
            <a:r>
              <a:rPr lang="en-US" sz="2800" dirty="0" smtClean="0">
                <a:solidFill>
                  <a:schemeClr val="tx1"/>
                </a:solidFill>
                <a:latin typeface="Calibri" panose="020F0502020204030204" charset="0"/>
                <a:cs typeface="Calibri" panose="020F0502020204030204" charset="0"/>
              </a:rPr>
              <a:t> O(n log n) – “n log n” time  :</a:t>
            </a:r>
            <a:endParaRPr lang="en-US" sz="2800" dirty="0" smtClean="0">
              <a:solidFill>
                <a:schemeClr val="tx1"/>
              </a:solidFill>
              <a:latin typeface="Calibri" panose="020F0502020204030204" charset="0"/>
              <a:cs typeface="Calibri" panose="020F0502020204030204" charset="0"/>
            </a:endParaRPr>
          </a:p>
          <a:p>
            <a:pPr lvl="1">
              <a:lnSpc>
                <a:spcPct val="150000"/>
              </a:lnSpc>
              <a:buFont typeface="Wingdings" panose="05000000000000000000" pitchFamily="2" charset="2"/>
              <a:buChar char="§"/>
            </a:pPr>
            <a:r>
              <a:rPr lang="en-US" sz="2800" dirty="0" smtClean="0">
                <a:solidFill>
                  <a:schemeClr val="tx1"/>
                </a:solidFill>
                <a:latin typeface="Calibri" panose="020F0502020204030204" charset="0"/>
                <a:cs typeface="Calibri" panose="020F0502020204030204" charset="0"/>
              </a:rPr>
              <a:t> E.g. :-</a:t>
            </a:r>
            <a:endParaRPr lang="en-US" sz="2800" dirty="0" smtClean="0">
              <a:solidFill>
                <a:schemeClr val="tx1"/>
              </a:solidFill>
              <a:latin typeface="Calibri" panose="020F0502020204030204" charset="0"/>
              <a:cs typeface="Calibri" panose="020F0502020204030204" charset="0"/>
            </a:endParaRPr>
          </a:p>
          <a:p>
            <a:pPr lvl="2">
              <a:lnSpc>
                <a:spcPct val="150000"/>
              </a:lnSpc>
              <a:buFont typeface="Wingdings" panose="05000000000000000000" pitchFamily="2" charset="2"/>
              <a:buChar char="§"/>
            </a:pPr>
            <a:r>
              <a:rPr lang="en-US" sz="2800" dirty="0" smtClean="0">
                <a:solidFill>
                  <a:schemeClr val="tx1"/>
                </a:solidFill>
                <a:latin typeface="Calibri" panose="020F0502020204030204" charset="0"/>
                <a:cs typeface="Calibri" panose="020F0502020204030204" charset="0"/>
              </a:rPr>
              <a:t>More advanced sorting algorithms – quick sort, merge sort.</a:t>
            </a:r>
            <a:endParaRPr lang="en-US" sz="2800" dirty="0" smtClean="0">
              <a:solidFill>
                <a:schemeClr val="tx1"/>
              </a:solidFill>
              <a:latin typeface="Calibri" panose="020F0502020204030204" charset="0"/>
              <a:cs typeface="Calibri" panose="020F0502020204030204" charset="0"/>
            </a:endParaRPr>
          </a:p>
          <a:p>
            <a:pPr>
              <a:lnSpc>
                <a:spcPct val="150000"/>
              </a:lnSpc>
              <a:buFont typeface="Wingdings" panose="05000000000000000000" pitchFamily="2" charset="2"/>
              <a:buChar char="q"/>
            </a:pPr>
            <a:r>
              <a:rPr lang="en-US" sz="2800" dirty="0" smtClean="0">
                <a:solidFill>
                  <a:schemeClr val="tx1"/>
                </a:solidFill>
                <a:latin typeface="Calibri" panose="020F0502020204030204" charset="0"/>
                <a:cs typeface="Calibri" panose="020F0502020204030204" charset="0"/>
              </a:rPr>
              <a:t>  O(a</a:t>
            </a:r>
            <a:r>
              <a:rPr lang="en-US" sz="2800" baseline="30000" dirty="0" smtClean="0">
                <a:solidFill>
                  <a:schemeClr val="tx1"/>
                </a:solidFill>
                <a:latin typeface="Calibri" panose="020F0502020204030204" charset="0"/>
                <a:cs typeface="Calibri" panose="020F0502020204030204" charset="0"/>
              </a:rPr>
              <a:t>n</a:t>
            </a:r>
            <a:r>
              <a:rPr lang="en-US" sz="2800" dirty="0" smtClean="0">
                <a:solidFill>
                  <a:schemeClr val="tx1"/>
                </a:solidFill>
                <a:latin typeface="Calibri" panose="020F0502020204030204" charset="0"/>
                <a:cs typeface="Calibri" panose="020F0502020204030204" charset="0"/>
              </a:rPr>
              <a:t>) (a&gt;1) : Exponential time :</a:t>
            </a:r>
            <a:endParaRPr lang="en-US" sz="2800" dirty="0" smtClean="0">
              <a:solidFill>
                <a:schemeClr val="tx1"/>
              </a:solidFill>
              <a:latin typeface="Calibri" panose="020F0502020204030204" charset="0"/>
              <a:cs typeface="Calibri" panose="020F0502020204030204" charset="0"/>
            </a:endParaRPr>
          </a:p>
          <a:p>
            <a:pPr lvl="1">
              <a:lnSpc>
                <a:spcPct val="150000"/>
              </a:lnSpc>
              <a:buFont typeface="Wingdings" panose="05000000000000000000" pitchFamily="2" charset="2"/>
              <a:buChar char="§"/>
            </a:pPr>
            <a:r>
              <a:rPr lang="en-US" sz="2800" dirty="0" smtClean="0">
                <a:solidFill>
                  <a:schemeClr val="tx1"/>
                </a:solidFill>
                <a:latin typeface="Calibri" panose="020F0502020204030204" charset="0"/>
                <a:cs typeface="Calibri" panose="020F0502020204030204" charset="0"/>
              </a:rPr>
              <a:t> E.g. :-</a:t>
            </a:r>
            <a:endParaRPr lang="en-US" sz="2800" dirty="0" smtClean="0">
              <a:solidFill>
                <a:schemeClr val="tx1"/>
              </a:solidFill>
              <a:latin typeface="Calibri" panose="020F0502020204030204" charset="0"/>
              <a:cs typeface="Calibri" panose="020F0502020204030204" charset="0"/>
            </a:endParaRPr>
          </a:p>
          <a:p>
            <a:pPr lvl="2">
              <a:lnSpc>
                <a:spcPct val="150000"/>
              </a:lnSpc>
              <a:buFont typeface="Wingdings" panose="05000000000000000000" pitchFamily="2" charset="2"/>
              <a:buChar char="§"/>
            </a:pPr>
            <a:r>
              <a:rPr lang="en-US" sz="2800" dirty="0" smtClean="0">
                <a:solidFill>
                  <a:schemeClr val="tx1"/>
                </a:solidFill>
                <a:latin typeface="Calibri" panose="020F0502020204030204" charset="0"/>
                <a:cs typeface="Calibri" panose="020F0502020204030204" charset="0"/>
              </a:rPr>
              <a:t>Recursive Fibonacci implementation</a:t>
            </a:r>
            <a:endParaRPr lang="en-US" sz="2800" dirty="0" smtClean="0">
              <a:solidFill>
                <a:schemeClr val="tx1"/>
              </a:solidFill>
              <a:latin typeface="Calibri" panose="020F0502020204030204" charset="0"/>
              <a:cs typeface="Calibri" panose="020F0502020204030204" charset="0"/>
            </a:endParaRPr>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33400" y="152400"/>
            <a:ext cx="8229600" cy="685800"/>
          </a:xfrm>
        </p:spPr>
        <p:txBody>
          <a:bodyPr anchor="ctr"/>
          <a:lstStyle/>
          <a:p>
            <a:pPr>
              <a:lnSpc>
                <a:spcPct val="150000"/>
              </a:lnSpc>
            </a:pPr>
            <a:r>
              <a:rPr lang="en-US" sz="3600" b="1" dirty="0" smtClean="0">
                <a:solidFill>
                  <a:schemeClr val="bg2">
                    <a:lumMod val="10000"/>
                  </a:schemeClr>
                </a:solidFill>
              </a:rPr>
              <a:t>O</a:t>
            </a:r>
            <a:r>
              <a:rPr lang="en-US" sz="3600" dirty="0" smtClean="0">
                <a:solidFill>
                  <a:schemeClr val="bg2">
                    <a:lumMod val="10000"/>
                  </a:schemeClr>
                </a:solidFill>
              </a:rPr>
              <a:t> − Big Oh</a:t>
            </a:r>
            <a:endParaRPr lang="en-US" sz="3600" dirty="0">
              <a:solidFill>
                <a:schemeClr val="bg2">
                  <a:lumMod val="10000"/>
                </a:schemeClr>
              </a:solidFill>
            </a:endParaRPr>
          </a:p>
        </p:txBody>
      </p:sp>
      <p:sp>
        <p:nvSpPr>
          <p:cNvPr id="5" name="Content Placeholder 4"/>
          <p:cNvSpPr>
            <a:spLocks noGrp="1"/>
          </p:cNvSpPr>
          <p:nvPr>
            <p:ph idx="1"/>
          </p:nvPr>
        </p:nvSpPr>
        <p:spPr>
          <a:xfrm>
            <a:off x="228600" y="838200"/>
            <a:ext cx="8534400" cy="5638800"/>
          </a:xfrm>
        </p:spPr>
        <p:txBody>
          <a:bodyPr>
            <a:normAutofit/>
          </a:bodyPr>
          <a:lstStyle/>
          <a:p>
            <a:pPr>
              <a:lnSpc>
                <a:spcPct val="150000"/>
              </a:lnSpc>
              <a:buFont typeface="Wingdings" panose="05000000000000000000" pitchFamily="2" charset="2"/>
              <a:buChar char="q"/>
            </a:pPr>
            <a:r>
              <a:rPr lang="en-US" sz="2800" dirty="0" smtClean="0">
                <a:solidFill>
                  <a:schemeClr val="tx1"/>
                </a:solidFill>
                <a:latin typeface="Calibri" panose="020F0502020204030204" charset="0"/>
                <a:cs typeface="Calibri" panose="020F0502020204030204" charset="0"/>
              </a:rPr>
              <a:t> Polynomial growth (linear , quadratic, cubic, etc.) is considered manageable as compared to exponential growth.</a:t>
            </a:r>
            <a:endParaRPr lang="en-US" sz="2800" dirty="0" smtClean="0">
              <a:solidFill>
                <a:schemeClr val="tx1"/>
              </a:solidFill>
              <a:latin typeface="Calibri" panose="020F0502020204030204" charset="0"/>
              <a:cs typeface="Calibri" panose="020F0502020204030204" charset="0"/>
            </a:endParaRPr>
          </a:p>
          <a:p>
            <a:pPr>
              <a:lnSpc>
                <a:spcPct val="150000"/>
              </a:lnSpc>
              <a:buFont typeface="Wingdings" panose="05000000000000000000" pitchFamily="2" charset="2"/>
              <a:buChar char="q"/>
            </a:pPr>
            <a:r>
              <a:rPr lang="en-US" sz="2800" dirty="0" smtClean="0">
                <a:solidFill>
                  <a:schemeClr val="tx1"/>
                </a:solidFill>
                <a:latin typeface="Calibri" panose="020F0502020204030204" charset="0"/>
                <a:cs typeface="Calibri" panose="020F0502020204030204" charset="0"/>
              </a:rPr>
              <a:t>  O(1) &lt; O(log n) &lt; O(n) &lt; O(n log n) &lt; O(n</a:t>
            </a:r>
            <a:r>
              <a:rPr lang="en-US" sz="2800" baseline="30000" dirty="0" smtClean="0">
                <a:solidFill>
                  <a:schemeClr val="tx1"/>
                </a:solidFill>
                <a:latin typeface="Calibri" panose="020F0502020204030204" charset="0"/>
                <a:cs typeface="Calibri" panose="020F0502020204030204" charset="0"/>
              </a:rPr>
              <a:t>2</a:t>
            </a:r>
            <a:r>
              <a:rPr lang="en-US" sz="2800" dirty="0" smtClean="0">
                <a:solidFill>
                  <a:schemeClr val="tx1"/>
                </a:solidFill>
                <a:latin typeface="Calibri" panose="020F0502020204030204" charset="0"/>
                <a:cs typeface="Calibri" panose="020F0502020204030204" charset="0"/>
              </a:rPr>
              <a:t>) &lt; O(n</a:t>
            </a:r>
            <a:r>
              <a:rPr lang="en-US" sz="2800" baseline="30000" dirty="0" smtClean="0">
                <a:solidFill>
                  <a:schemeClr val="tx1"/>
                </a:solidFill>
                <a:latin typeface="Calibri" panose="020F0502020204030204" charset="0"/>
                <a:cs typeface="Calibri" panose="020F0502020204030204" charset="0"/>
              </a:rPr>
              <a:t>3</a:t>
            </a:r>
            <a:r>
              <a:rPr lang="en-US" sz="2800" dirty="0" smtClean="0">
                <a:solidFill>
                  <a:schemeClr val="tx1"/>
                </a:solidFill>
                <a:latin typeface="Calibri" panose="020F0502020204030204" charset="0"/>
                <a:cs typeface="Calibri" panose="020F0502020204030204" charset="0"/>
              </a:rPr>
              <a:t>) &lt; O(a</a:t>
            </a:r>
            <a:r>
              <a:rPr lang="en-US" sz="2800" baseline="30000" dirty="0" smtClean="0">
                <a:solidFill>
                  <a:schemeClr val="tx1"/>
                </a:solidFill>
                <a:latin typeface="Calibri" panose="020F0502020204030204" charset="0"/>
                <a:cs typeface="Calibri" panose="020F0502020204030204" charset="0"/>
              </a:rPr>
              <a:t>n</a:t>
            </a:r>
            <a:r>
              <a:rPr lang="en-US" sz="2800" dirty="0" smtClean="0">
                <a:solidFill>
                  <a:schemeClr val="tx1"/>
                </a:solidFill>
                <a:latin typeface="Calibri" panose="020F0502020204030204" charset="0"/>
                <a:cs typeface="Calibri" panose="020F0502020204030204" charset="0"/>
              </a:rPr>
              <a:t>)</a:t>
            </a:r>
            <a:endParaRPr lang="en-US" sz="2800" dirty="0" smtClean="0">
              <a:solidFill>
                <a:schemeClr val="tx1"/>
              </a:solidFill>
              <a:latin typeface="Calibri" panose="020F0502020204030204" charset="0"/>
              <a:cs typeface="Calibri" panose="020F0502020204030204" charset="0"/>
            </a:endParaRPr>
          </a:p>
          <a:p>
            <a:pPr lvl="1">
              <a:lnSpc>
                <a:spcPct val="150000"/>
              </a:lnSpc>
            </a:pPr>
            <a:endParaRPr lang="en-US" sz="2800" dirty="0" smtClean="0">
              <a:solidFill>
                <a:schemeClr val="tx1"/>
              </a:solidFill>
              <a:latin typeface="Calibri" panose="020F0502020204030204" charset="0"/>
              <a:cs typeface="Calibri" panose="020F0502020204030204" charset="0"/>
            </a:endParaRPr>
          </a:p>
          <a:p>
            <a:pPr lvl="1">
              <a:lnSpc>
                <a:spcPct val="150000"/>
              </a:lnSpc>
            </a:pPr>
            <a:endParaRPr lang="en-US" sz="2800" dirty="0" smtClean="0">
              <a:solidFill>
                <a:schemeClr val="tx1"/>
              </a:solidFill>
              <a:latin typeface="Calibri" panose="020F0502020204030204" charset="0"/>
              <a:cs typeface="Calibri" panose="020F0502020204030204" charset="0"/>
            </a:endParaRPr>
          </a:p>
          <a:p>
            <a:pPr lvl="1">
              <a:lnSpc>
                <a:spcPct val="150000"/>
              </a:lnSpc>
            </a:pPr>
            <a:endParaRPr lang="en-US" sz="2800" dirty="0">
              <a:solidFill>
                <a:schemeClr val="tx1"/>
              </a:solidFill>
              <a:latin typeface="Calibri" panose="020F0502020204030204" charset="0"/>
              <a:cs typeface="Calibri" panose="020F0502020204030204" charset="0"/>
            </a:endParaRPr>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normAutofit lnSpcReduction="10000"/>
          </a:bodyPr>
          <a:p>
            <a:r>
              <a:rPr lang="en-US" altLang="en-US" b="1">
                <a:latin typeface="Times New Roman" panose="02020603050405020304" charset="0"/>
                <a:cs typeface="Times New Roman" panose="02020603050405020304" charset="0"/>
              </a:rPr>
              <a:t>O(1) – Constant Time</a:t>
            </a:r>
            <a:endParaRPr lang="en-US" altLang="en-US" b="1">
              <a:latin typeface="Times New Roman" panose="02020603050405020304" charset="0"/>
              <a:cs typeface="Times New Roman" panose="02020603050405020304" charset="0"/>
            </a:endParaRPr>
          </a:p>
          <a:p>
            <a:endParaRPr lang="en-US" altLang="en-US" b="1">
              <a:latin typeface="Times New Roman" panose="02020603050405020304" charset="0"/>
              <a:cs typeface="Times New Roman" panose="02020603050405020304" charset="0"/>
            </a:endParaRPr>
          </a:p>
          <a:p>
            <a:r>
              <a:rPr lang="en-US" altLang="en-US" b="1">
                <a:latin typeface="Times New Roman" panose="02020603050405020304" charset="0"/>
                <a:cs typeface="Times New Roman" panose="02020603050405020304" charset="0"/>
              </a:rPr>
              <a:t>O(n) – Linear Time</a:t>
            </a:r>
            <a:endParaRPr lang="en-US" altLang="en-US" b="1">
              <a:latin typeface="Times New Roman" panose="02020603050405020304" charset="0"/>
              <a:cs typeface="Times New Roman" panose="02020603050405020304" charset="0"/>
            </a:endParaRPr>
          </a:p>
          <a:p>
            <a:endParaRPr lang="en-US" altLang="en-US" b="1">
              <a:latin typeface="Times New Roman" panose="02020603050405020304" charset="0"/>
              <a:cs typeface="Times New Roman" panose="02020603050405020304" charset="0"/>
            </a:endParaRPr>
          </a:p>
          <a:p>
            <a:r>
              <a:rPr lang="en-US" altLang="en-US" b="1">
                <a:latin typeface="Times New Roman" panose="02020603050405020304" charset="0"/>
                <a:cs typeface="Times New Roman" panose="02020603050405020304" charset="0"/>
              </a:rPr>
              <a:t>O(n²) – Quadratic Time</a:t>
            </a:r>
            <a:endParaRPr lang="en-US" altLang="en-US" b="1">
              <a:latin typeface="Times New Roman" panose="02020603050405020304" charset="0"/>
              <a:cs typeface="Times New Roman" panose="02020603050405020304" charset="0"/>
            </a:endParaRPr>
          </a:p>
          <a:p>
            <a:endParaRPr lang="en-US" altLang="en-US" b="1">
              <a:latin typeface="Times New Roman" panose="02020603050405020304" charset="0"/>
              <a:cs typeface="Times New Roman" panose="02020603050405020304" charset="0"/>
            </a:endParaRPr>
          </a:p>
          <a:p>
            <a:r>
              <a:rPr lang="en-US" altLang="en-US" b="1">
                <a:latin typeface="Times New Roman" panose="02020603050405020304" charset="0"/>
                <a:cs typeface="Times New Roman" panose="02020603050405020304" charset="0"/>
              </a:rPr>
              <a:t>O(log n) – Logarithmic Time</a:t>
            </a:r>
            <a:endParaRPr lang="en-US" altLang="en-US" b="1">
              <a:latin typeface="Times New Roman" panose="02020603050405020304" charset="0"/>
              <a:cs typeface="Times New Roman" panose="02020603050405020304" charset="0"/>
            </a:endParaRPr>
          </a:p>
          <a:p>
            <a:endParaRPr lang="en-US" altLang="en-US" b="1">
              <a:latin typeface="Times New Roman" panose="02020603050405020304" charset="0"/>
              <a:cs typeface="Times New Roman" panose="02020603050405020304" charset="0"/>
            </a:endParaRPr>
          </a:p>
          <a:p>
            <a:r>
              <a:rPr lang="en-US" altLang="en-US" b="1">
                <a:latin typeface="Times New Roman" panose="02020603050405020304" charset="0"/>
                <a:cs typeface="Times New Roman" panose="02020603050405020304" charset="0"/>
              </a:rPr>
              <a:t>O(n log n) – Linearithmic Time</a:t>
            </a:r>
            <a:endParaRPr lang="en-US" altLang="en-US" b="1">
              <a:latin typeface="Times New Roman" panose="02020603050405020304" charset="0"/>
              <a:cs typeface="Times New Roman" panose="02020603050405020304" charset="0"/>
            </a:endParaRPr>
          </a:p>
          <a:p>
            <a:endParaRPr lang="en-US" altLang="en-US" b="1">
              <a:latin typeface="Times New Roman" panose="02020603050405020304" charset="0"/>
              <a:cs typeface="Times New Roman" panose="02020603050405020304" charset="0"/>
            </a:endParaRPr>
          </a:p>
          <a:p>
            <a:r>
              <a:rPr lang="en-US" altLang="en-US" b="1">
                <a:latin typeface="Times New Roman" panose="02020603050405020304" charset="0"/>
                <a:cs typeface="Times New Roman" panose="02020603050405020304" charset="0"/>
              </a:rPr>
              <a:t>O(2ⁿ) – Exponential Time</a:t>
            </a:r>
            <a:endParaRPr lang="en-US" altLang="en-US" b="1">
              <a:latin typeface="Times New Roman" panose="02020603050405020304" charset="0"/>
              <a:cs typeface="Times New Roman" panose="02020603050405020304" charset="0"/>
            </a:endParaRPr>
          </a:p>
          <a:p>
            <a:endParaRPr lang="en-US" altLang="en-US" b="1">
              <a:latin typeface="Times New Roman" panose="02020603050405020304" charset="0"/>
              <a:cs typeface="Times New Roman" panose="02020603050405020304" charset="0"/>
            </a:endParaRPr>
          </a:p>
          <a:p>
            <a:endParaRPr lang="en-US" altLang="en-US" b="1">
              <a:latin typeface="Times New Roman" panose="02020603050405020304" charset="0"/>
              <a:cs typeface="Times New Roman" panose="02020603050405020304" charset="0"/>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33400" y="152400"/>
            <a:ext cx="8229600" cy="685800"/>
          </a:xfrm>
        </p:spPr>
        <p:txBody>
          <a:bodyPr anchor="ctr"/>
          <a:lstStyle/>
          <a:p>
            <a:pPr>
              <a:lnSpc>
                <a:spcPct val="150000"/>
              </a:lnSpc>
            </a:pPr>
            <a:r>
              <a:rPr lang="en-US" sz="3600" b="1" dirty="0" smtClean="0">
                <a:solidFill>
                  <a:schemeClr val="bg2">
                    <a:lumMod val="10000"/>
                  </a:schemeClr>
                </a:solidFill>
              </a:rPr>
              <a:t>O</a:t>
            </a:r>
            <a:r>
              <a:rPr lang="en-US" sz="3600" dirty="0" smtClean="0">
                <a:solidFill>
                  <a:schemeClr val="bg2">
                    <a:lumMod val="10000"/>
                  </a:schemeClr>
                </a:solidFill>
              </a:rPr>
              <a:t> − Big Oh</a:t>
            </a:r>
            <a:endParaRPr lang="en-US" sz="3600" dirty="0">
              <a:solidFill>
                <a:schemeClr val="bg2">
                  <a:lumMod val="10000"/>
                </a:schemeClr>
              </a:solidFill>
            </a:endParaRPr>
          </a:p>
        </p:txBody>
      </p:sp>
      <p:sp>
        <p:nvSpPr>
          <p:cNvPr id="5" name="Content Placeholder 4"/>
          <p:cNvSpPr>
            <a:spLocks noGrp="1"/>
          </p:cNvSpPr>
          <p:nvPr>
            <p:ph idx="1"/>
          </p:nvPr>
        </p:nvSpPr>
        <p:spPr>
          <a:xfrm>
            <a:off x="228600" y="838200"/>
            <a:ext cx="8534400" cy="5638800"/>
          </a:xfrm>
        </p:spPr>
        <p:txBody>
          <a:bodyPr>
            <a:normAutofit fontScale="92500" lnSpcReduction="20000"/>
          </a:bodyPr>
          <a:lstStyle/>
          <a:p>
            <a:pPr>
              <a:lnSpc>
                <a:spcPct val="150000"/>
              </a:lnSpc>
              <a:buFont typeface="Wingdings" panose="05000000000000000000" pitchFamily="2" charset="2"/>
              <a:buChar char="q"/>
            </a:pPr>
            <a:r>
              <a:rPr lang="en-US" sz="2800" b="1" dirty="0" smtClean="0">
                <a:solidFill>
                  <a:schemeClr val="tx1"/>
                </a:solidFill>
                <a:latin typeface="Calibri" panose="020F0502020204030204" charset="0"/>
                <a:cs typeface="Calibri" panose="020F0502020204030204" charset="0"/>
              </a:rPr>
              <a:t> Calculating complexity  :</a:t>
            </a:r>
            <a:r>
              <a:rPr lang="en-US" b="1" dirty="0" smtClean="0">
                <a:solidFill>
                  <a:schemeClr val="tx1"/>
                </a:solidFill>
                <a:latin typeface="Calibri" panose="020F0502020204030204" charset="0"/>
                <a:cs typeface="Calibri" panose="020F0502020204030204" charset="0"/>
              </a:rPr>
              <a:t> </a:t>
            </a:r>
            <a:r>
              <a:rPr lang="en-US" sz="2800" b="1" dirty="0" smtClean="0">
                <a:solidFill>
                  <a:schemeClr val="tx1"/>
                </a:solidFill>
                <a:latin typeface="Calibri" panose="020F0502020204030204" charset="0"/>
                <a:cs typeface="Calibri" panose="020F0502020204030204" charset="0"/>
              </a:rPr>
              <a:t> E.g. :-</a:t>
            </a:r>
            <a:endParaRPr lang="en-US" sz="2800" b="1" dirty="0" smtClean="0">
              <a:solidFill>
                <a:schemeClr val="tx1"/>
              </a:solidFill>
              <a:latin typeface="Calibri" panose="020F0502020204030204" charset="0"/>
              <a:cs typeface="Calibri" panose="020F0502020204030204" charset="0"/>
            </a:endParaRPr>
          </a:p>
          <a:p>
            <a:pPr lvl="1">
              <a:buNone/>
            </a:pPr>
            <a:r>
              <a:rPr lang="en-US" sz="2800" dirty="0" smtClean="0">
                <a:solidFill>
                  <a:schemeClr val="tx1"/>
                </a:solidFill>
                <a:latin typeface="Calibri" panose="020F0502020204030204" charset="0"/>
                <a:cs typeface="Calibri" panose="020F0502020204030204" charset="0"/>
              </a:rPr>
              <a:t>void main()</a:t>
            </a:r>
            <a:endParaRPr lang="en-US" sz="2800" dirty="0" smtClean="0">
              <a:solidFill>
                <a:schemeClr val="tx1"/>
              </a:solidFill>
              <a:latin typeface="Calibri" panose="020F0502020204030204" charset="0"/>
              <a:cs typeface="Calibri" panose="020F0502020204030204" charset="0"/>
            </a:endParaRPr>
          </a:p>
          <a:p>
            <a:pPr lvl="1">
              <a:buNone/>
            </a:pPr>
            <a:r>
              <a:rPr lang="en-US" sz="2800" dirty="0" smtClean="0">
                <a:solidFill>
                  <a:schemeClr val="tx1"/>
                </a:solidFill>
                <a:latin typeface="Calibri" panose="020F0502020204030204" charset="0"/>
                <a:cs typeface="Calibri" panose="020F0502020204030204" charset="0"/>
              </a:rPr>
              <a:t>{</a:t>
            </a:r>
            <a:endParaRPr lang="en-US" sz="2800" dirty="0" smtClean="0">
              <a:solidFill>
                <a:schemeClr val="tx1"/>
              </a:solidFill>
              <a:latin typeface="Calibri" panose="020F0502020204030204" charset="0"/>
              <a:cs typeface="Calibri" panose="020F0502020204030204" charset="0"/>
            </a:endParaRPr>
          </a:p>
          <a:p>
            <a:pPr lvl="1">
              <a:buNone/>
            </a:pPr>
            <a:r>
              <a:rPr lang="en-US" sz="2800" dirty="0" smtClean="0">
                <a:solidFill>
                  <a:schemeClr val="tx1"/>
                </a:solidFill>
                <a:latin typeface="Calibri" panose="020F0502020204030204" charset="0"/>
                <a:cs typeface="Calibri" panose="020F0502020204030204" charset="0"/>
              </a:rPr>
              <a:t>	</a:t>
            </a:r>
            <a:r>
              <a:rPr lang="en-US" sz="2800" dirty="0" err="1" smtClean="0">
                <a:solidFill>
                  <a:schemeClr val="tx1"/>
                </a:solidFill>
                <a:latin typeface="Calibri" panose="020F0502020204030204" charset="0"/>
                <a:cs typeface="Calibri" panose="020F0502020204030204" charset="0"/>
              </a:rPr>
              <a:t>int</a:t>
            </a:r>
            <a:r>
              <a:rPr lang="en-US" sz="2800" dirty="0" smtClean="0">
                <a:solidFill>
                  <a:schemeClr val="tx1"/>
                </a:solidFill>
                <a:latin typeface="Calibri" panose="020F0502020204030204" charset="0"/>
                <a:cs typeface="Calibri" panose="020F0502020204030204" charset="0"/>
              </a:rPr>
              <a:t> a = 10,I,j; // O(1)</a:t>
            </a:r>
            <a:endParaRPr lang="en-US" sz="2800" dirty="0" smtClean="0">
              <a:solidFill>
                <a:schemeClr val="tx1"/>
              </a:solidFill>
              <a:latin typeface="Calibri" panose="020F0502020204030204" charset="0"/>
              <a:cs typeface="Calibri" panose="020F0502020204030204" charset="0"/>
            </a:endParaRPr>
          </a:p>
          <a:p>
            <a:pPr lvl="1">
              <a:buNone/>
            </a:pPr>
            <a:r>
              <a:rPr lang="en-US" sz="2800" dirty="0" smtClean="0">
                <a:solidFill>
                  <a:schemeClr val="tx1"/>
                </a:solidFill>
                <a:latin typeface="Calibri" panose="020F0502020204030204" charset="0"/>
                <a:cs typeface="Calibri" panose="020F0502020204030204" charset="0"/>
              </a:rPr>
              <a:t>	for (</a:t>
            </a:r>
            <a:r>
              <a:rPr lang="en-US" sz="2800" dirty="0" err="1" smtClean="0">
                <a:solidFill>
                  <a:schemeClr val="tx1"/>
                </a:solidFill>
                <a:latin typeface="Calibri" panose="020F0502020204030204" charset="0"/>
                <a:cs typeface="Calibri" panose="020F0502020204030204" charset="0"/>
              </a:rPr>
              <a:t>i</a:t>
            </a:r>
            <a:r>
              <a:rPr lang="en-US" sz="2800" dirty="0" smtClean="0">
                <a:solidFill>
                  <a:schemeClr val="tx1"/>
                </a:solidFill>
                <a:latin typeface="Calibri" panose="020F0502020204030204" charset="0"/>
                <a:cs typeface="Calibri" panose="020F0502020204030204" charset="0"/>
              </a:rPr>
              <a:t>=0;i&lt;</a:t>
            </a:r>
            <a:r>
              <a:rPr lang="en-US" sz="2800" dirty="0" err="1" smtClean="0">
                <a:solidFill>
                  <a:schemeClr val="tx1"/>
                </a:solidFill>
                <a:latin typeface="Calibri" panose="020F0502020204030204" charset="0"/>
                <a:cs typeface="Calibri" panose="020F0502020204030204" charset="0"/>
              </a:rPr>
              <a:t>n;i</a:t>
            </a:r>
            <a:r>
              <a:rPr lang="en-US" sz="2800" dirty="0" smtClean="0">
                <a:solidFill>
                  <a:schemeClr val="tx1"/>
                </a:solidFill>
                <a:latin typeface="Calibri" panose="020F0502020204030204" charset="0"/>
                <a:cs typeface="Calibri" panose="020F0502020204030204" charset="0"/>
              </a:rPr>
              <a:t>++) // O(n)</a:t>
            </a:r>
            <a:endParaRPr lang="en-US" sz="2800" dirty="0" smtClean="0">
              <a:solidFill>
                <a:schemeClr val="tx1"/>
              </a:solidFill>
              <a:latin typeface="Calibri" panose="020F0502020204030204" charset="0"/>
              <a:cs typeface="Calibri" panose="020F0502020204030204" charset="0"/>
            </a:endParaRPr>
          </a:p>
          <a:p>
            <a:pPr lvl="1">
              <a:buNone/>
            </a:pPr>
            <a:r>
              <a:rPr lang="en-US" sz="2800" dirty="0" smtClean="0">
                <a:solidFill>
                  <a:schemeClr val="tx1"/>
                </a:solidFill>
                <a:latin typeface="Calibri" panose="020F0502020204030204" charset="0"/>
                <a:cs typeface="Calibri" panose="020F0502020204030204" charset="0"/>
              </a:rPr>
              <a:t>	{</a:t>
            </a:r>
            <a:endParaRPr lang="en-US" sz="2800" dirty="0" smtClean="0">
              <a:solidFill>
                <a:schemeClr val="tx1"/>
              </a:solidFill>
              <a:latin typeface="Calibri" panose="020F0502020204030204" charset="0"/>
              <a:cs typeface="Calibri" panose="020F0502020204030204" charset="0"/>
            </a:endParaRPr>
          </a:p>
          <a:p>
            <a:pPr lvl="1">
              <a:buNone/>
            </a:pPr>
            <a:r>
              <a:rPr lang="en-US" sz="2800" dirty="0" smtClean="0">
                <a:solidFill>
                  <a:schemeClr val="tx1"/>
                </a:solidFill>
                <a:latin typeface="Calibri" panose="020F0502020204030204" charset="0"/>
                <a:cs typeface="Calibri" panose="020F0502020204030204" charset="0"/>
              </a:rPr>
              <a:t>		for(j=0;j&lt;</a:t>
            </a:r>
            <a:r>
              <a:rPr lang="en-US" sz="2800" dirty="0" err="1" smtClean="0">
                <a:solidFill>
                  <a:schemeClr val="tx1"/>
                </a:solidFill>
                <a:latin typeface="Calibri" panose="020F0502020204030204" charset="0"/>
                <a:cs typeface="Calibri" panose="020F0502020204030204" charset="0"/>
              </a:rPr>
              <a:t>I;j</a:t>
            </a:r>
            <a:r>
              <a:rPr lang="en-US" sz="2800" dirty="0" smtClean="0">
                <a:solidFill>
                  <a:schemeClr val="tx1"/>
                </a:solidFill>
                <a:latin typeface="Calibri" panose="020F0502020204030204" charset="0"/>
                <a:cs typeface="Calibri" panose="020F0502020204030204" charset="0"/>
              </a:rPr>
              <a:t>++) // O(n)</a:t>
            </a:r>
            <a:endParaRPr lang="en-US" sz="2800" dirty="0" smtClean="0">
              <a:solidFill>
                <a:schemeClr val="tx1"/>
              </a:solidFill>
              <a:latin typeface="Calibri" panose="020F0502020204030204" charset="0"/>
              <a:cs typeface="Calibri" panose="020F0502020204030204" charset="0"/>
            </a:endParaRPr>
          </a:p>
          <a:p>
            <a:pPr lvl="1">
              <a:buNone/>
            </a:pPr>
            <a:r>
              <a:rPr lang="en-US" sz="2800" dirty="0" smtClean="0">
                <a:solidFill>
                  <a:schemeClr val="tx1"/>
                </a:solidFill>
                <a:latin typeface="Calibri" panose="020F0502020204030204" charset="0"/>
                <a:cs typeface="Calibri" panose="020F0502020204030204" charset="0"/>
              </a:rPr>
              <a:t>		{</a:t>
            </a:r>
            <a:endParaRPr lang="en-US" sz="2800" dirty="0" smtClean="0">
              <a:solidFill>
                <a:schemeClr val="tx1"/>
              </a:solidFill>
              <a:latin typeface="Calibri" panose="020F0502020204030204" charset="0"/>
              <a:cs typeface="Calibri" panose="020F0502020204030204" charset="0"/>
            </a:endParaRPr>
          </a:p>
          <a:p>
            <a:pPr lvl="1">
              <a:buNone/>
            </a:pPr>
            <a:r>
              <a:rPr lang="en-US" sz="2800" dirty="0" smtClean="0">
                <a:solidFill>
                  <a:schemeClr val="tx1"/>
                </a:solidFill>
                <a:latin typeface="Calibri" panose="020F0502020204030204" charset="0"/>
                <a:cs typeface="Calibri" panose="020F0502020204030204" charset="0"/>
              </a:rPr>
              <a:t>			</a:t>
            </a:r>
            <a:r>
              <a:rPr lang="en-US" sz="2800" dirty="0" err="1" smtClean="0">
                <a:solidFill>
                  <a:schemeClr val="tx1"/>
                </a:solidFill>
                <a:latin typeface="Calibri" panose="020F0502020204030204" charset="0"/>
                <a:cs typeface="Calibri" panose="020F0502020204030204" charset="0"/>
              </a:rPr>
              <a:t>printf</a:t>
            </a:r>
            <a:r>
              <a:rPr lang="en-US" sz="2800" dirty="0" smtClean="0">
                <a:solidFill>
                  <a:schemeClr val="tx1"/>
                </a:solidFill>
                <a:latin typeface="Calibri" panose="020F0502020204030204" charset="0"/>
                <a:cs typeface="Calibri" panose="020F0502020204030204" charset="0"/>
              </a:rPr>
              <a:t>(“a = %</a:t>
            </a:r>
            <a:r>
              <a:rPr lang="en-US" sz="2800" dirty="0" err="1" smtClean="0">
                <a:solidFill>
                  <a:schemeClr val="tx1"/>
                </a:solidFill>
                <a:latin typeface="Calibri" panose="020F0502020204030204" charset="0"/>
                <a:cs typeface="Calibri" panose="020F0502020204030204" charset="0"/>
              </a:rPr>
              <a:t>d”,a</a:t>
            </a:r>
            <a:r>
              <a:rPr lang="en-US" sz="2800" dirty="0" smtClean="0">
                <a:solidFill>
                  <a:schemeClr val="tx1"/>
                </a:solidFill>
                <a:latin typeface="Calibri" panose="020F0502020204030204" charset="0"/>
                <a:cs typeface="Calibri" panose="020F0502020204030204" charset="0"/>
              </a:rPr>
              <a:t>); //O(1)</a:t>
            </a:r>
            <a:endParaRPr lang="en-US" sz="2800" dirty="0" smtClean="0">
              <a:solidFill>
                <a:schemeClr val="tx1"/>
              </a:solidFill>
              <a:latin typeface="Calibri" panose="020F0502020204030204" charset="0"/>
              <a:cs typeface="Calibri" panose="020F0502020204030204" charset="0"/>
            </a:endParaRPr>
          </a:p>
          <a:p>
            <a:pPr lvl="1">
              <a:buNone/>
            </a:pPr>
            <a:r>
              <a:rPr lang="en-US" sz="2800" dirty="0" smtClean="0">
                <a:solidFill>
                  <a:schemeClr val="tx1"/>
                </a:solidFill>
                <a:latin typeface="Calibri" panose="020F0502020204030204" charset="0"/>
                <a:cs typeface="Calibri" panose="020F0502020204030204" charset="0"/>
              </a:rPr>
              <a:t>		}</a:t>
            </a:r>
            <a:endParaRPr lang="en-US" sz="2800" dirty="0" smtClean="0">
              <a:solidFill>
                <a:schemeClr val="tx1"/>
              </a:solidFill>
              <a:latin typeface="Calibri" panose="020F0502020204030204" charset="0"/>
              <a:cs typeface="Calibri" panose="020F0502020204030204" charset="0"/>
            </a:endParaRPr>
          </a:p>
          <a:p>
            <a:pPr lvl="1">
              <a:buNone/>
            </a:pPr>
            <a:r>
              <a:rPr lang="en-US" sz="2800" dirty="0" smtClean="0">
                <a:solidFill>
                  <a:schemeClr val="tx1"/>
                </a:solidFill>
                <a:latin typeface="Calibri" panose="020F0502020204030204" charset="0"/>
                <a:cs typeface="Calibri" panose="020F0502020204030204" charset="0"/>
              </a:rPr>
              <a:t>	}</a:t>
            </a:r>
            <a:endParaRPr lang="en-US" sz="2800" dirty="0" smtClean="0">
              <a:solidFill>
                <a:schemeClr val="tx1"/>
              </a:solidFill>
              <a:latin typeface="Calibri" panose="020F0502020204030204" charset="0"/>
              <a:cs typeface="Calibri" panose="020F0502020204030204" charset="0"/>
            </a:endParaRPr>
          </a:p>
          <a:p>
            <a:pPr lvl="1">
              <a:buNone/>
            </a:pPr>
            <a:r>
              <a:rPr lang="en-US" sz="2800" dirty="0" smtClean="0">
                <a:solidFill>
                  <a:schemeClr val="tx1"/>
                </a:solidFill>
                <a:latin typeface="Calibri" panose="020F0502020204030204" charset="0"/>
                <a:cs typeface="Calibri" panose="020F0502020204030204" charset="0"/>
              </a:rPr>
              <a:t>}</a:t>
            </a:r>
            <a:endParaRPr lang="en-US" sz="2800" dirty="0" smtClean="0">
              <a:solidFill>
                <a:schemeClr val="tx1"/>
              </a:solidFill>
              <a:latin typeface="Calibri" panose="020F0502020204030204" charset="0"/>
              <a:cs typeface="Calibri" panose="020F0502020204030204" charset="0"/>
            </a:endParaRPr>
          </a:p>
          <a:p>
            <a:pPr lvl="1">
              <a:buNone/>
            </a:pPr>
            <a:r>
              <a:rPr lang="en-US" sz="2800" b="1" dirty="0" smtClean="0">
                <a:solidFill>
                  <a:schemeClr val="tx1"/>
                </a:solidFill>
                <a:latin typeface="Calibri" panose="020F0502020204030204" charset="0"/>
                <a:cs typeface="Calibri" panose="020F0502020204030204" charset="0"/>
              </a:rPr>
              <a:t>Total execution time = 1 + n + n</a:t>
            </a:r>
            <a:r>
              <a:rPr lang="en-US" sz="2800" b="1" baseline="30000" dirty="0" smtClean="0">
                <a:solidFill>
                  <a:schemeClr val="tx1"/>
                </a:solidFill>
                <a:latin typeface="Calibri" panose="020F0502020204030204" charset="0"/>
                <a:cs typeface="Calibri" panose="020F0502020204030204" charset="0"/>
              </a:rPr>
              <a:t>2</a:t>
            </a:r>
            <a:r>
              <a:rPr lang="en-US" sz="2800" b="1" dirty="0" smtClean="0">
                <a:solidFill>
                  <a:schemeClr val="tx1"/>
                </a:solidFill>
                <a:latin typeface="Calibri" panose="020F0502020204030204" charset="0"/>
                <a:cs typeface="Calibri" panose="020F0502020204030204" charset="0"/>
              </a:rPr>
              <a:t> + 1 = O(n</a:t>
            </a:r>
            <a:r>
              <a:rPr lang="en-US" sz="2800" b="1" baseline="30000" dirty="0" smtClean="0">
                <a:solidFill>
                  <a:schemeClr val="tx1"/>
                </a:solidFill>
                <a:latin typeface="Calibri" panose="020F0502020204030204" charset="0"/>
                <a:cs typeface="Calibri" panose="020F0502020204030204" charset="0"/>
              </a:rPr>
              <a:t>2</a:t>
            </a:r>
            <a:r>
              <a:rPr lang="en-US" sz="2800" b="1" dirty="0" smtClean="0">
                <a:solidFill>
                  <a:schemeClr val="tx1"/>
                </a:solidFill>
                <a:latin typeface="Calibri" panose="020F0502020204030204" charset="0"/>
                <a:cs typeface="Calibri" panose="020F0502020204030204" charset="0"/>
              </a:rPr>
              <a:t>)</a:t>
            </a:r>
            <a:endParaRPr lang="en-US" sz="2800" b="1" dirty="0" smtClean="0">
              <a:solidFill>
                <a:schemeClr val="tx1"/>
              </a:solidFill>
              <a:latin typeface="Calibri" panose="020F0502020204030204" charset="0"/>
              <a:cs typeface="Calibri" panose="020F0502020204030204" charset="0"/>
            </a:endParaRPr>
          </a:p>
          <a:p>
            <a:pPr lvl="1">
              <a:lnSpc>
                <a:spcPct val="150000"/>
              </a:lnSpc>
            </a:pPr>
            <a:endParaRPr lang="en-US" sz="2800" dirty="0" smtClean="0">
              <a:solidFill>
                <a:schemeClr val="tx1"/>
              </a:solidFill>
              <a:latin typeface="Calibri" panose="020F0502020204030204" charset="0"/>
              <a:cs typeface="Calibri" panose="020F0502020204030204" charset="0"/>
            </a:endParaRPr>
          </a:p>
          <a:p>
            <a:pPr lvl="1">
              <a:lnSpc>
                <a:spcPct val="150000"/>
              </a:lnSpc>
            </a:pPr>
            <a:endParaRPr lang="en-US" sz="2800" dirty="0" smtClean="0">
              <a:solidFill>
                <a:schemeClr val="tx1"/>
              </a:solidFill>
              <a:latin typeface="Calibri" panose="020F0502020204030204" charset="0"/>
              <a:cs typeface="Calibri" panose="020F0502020204030204" charset="0"/>
            </a:endParaRPr>
          </a:p>
          <a:p>
            <a:pPr lvl="1">
              <a:lnSpc>
                <a:spcPct val="150000"/>
              </a:lnSpc>
              <a:buNone/>
            </a:pPr>
            <a:endParaRPr lang="en-US" sz="2800" dirty="0" smtClean="0">
              <a:solidFill>
                <a:schemeClr val="tx1"/>
              </a:solidFill>
              <a:latin typeface="Calibri" panose="020F0502020204030204" charset="0"/>
              <a:cs typeface="Calibri" panose="020F0502020204030204" charset="0"/>
            </a:endParaRPr>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2590800"/>
            <a:ext cx="8229600" cy="1600200"/>
          </a:xfrm>
        </p:spPr>
        <p:txBody>
          <a:bodyPr/>
          <a:lstStyle/>
          <a:p>
            <a:r>
              <a:rPr lang="en-US" dirty="0" smtClean="0"/>
              <a:t>Thank You...!!!!</a:t>
            </a:r>
            <a:endParaRPr lang="en-US" dirty="0"/>
          </a:p>
        </p:txBody>
      </p:sp>
      <p:sp>
        <p:nvSpPr>
          <p:cNvPr id="3" name="Rectangle 2"/>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xecutive">
  <a:themeElements>
    <a:clrScheme name="Executive">
      <a:dk1>
        <a:sysClr val="windowText" lastClr="000000"/>
      </a:dk1>
      <a:lt1>
        <a:sysClr val="window" lastClr="FFFFFF"/>
      </a:lt1>
      <a:dk2>
        <a:srgbClr val="2F5897"/>
      </a:dk2>
      <a:lt2>
        <a:srgbClr val="E4E9EF"/>
      </a:lt2>
      <a:accent1>
        <a:srgbClr val="6076B4"/>
      </a:accent1>
      <a:accent2>
        <a:srgbClr val="9C5252"/>
      </a:accent2>
      <a:accent3>
        <a:srgbClr val="E68422"/>
      </a:accent3>
      <a:accent4>
        <a:srgbClr val="846648"/>
      </a:accent4>
      <a:accent5>
        <a:srgbClr val="63891F"/>
      </a:accent5>
      <a:accent6>
        <a:srgbClr val="758085"/>
      </a:accent6>
      <a:hlink>
        <a:srgbClr val="3399FF"/>
      </a:hlink>
      <a:folHlink>
        <a:srgbClr val="B2B2B2"/>
      </a:folHlink>
    </a:clrScheme>
    <a:fontScheme name="Executive">
      <a:majorFont>
        <a:latin typeface="Century Gothic"/>
        <a:ea typeface=""/>
        <a:cs typeface=""/>
        <a:font script="Jpan" typeface="HGｺﾞｼｯｸM"/>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alatino Linotype"/>
        <a:ea typeface=""/>
        <a:cs typeface=""/>
        <a:font script="Jpan" typeface="HGS明朝E"/>
        <a:font script="Hang" typeface="맑은 고딕"/>
        <a:font script="Hans" typeface="宋体"/>
        <a:font script="Hant" typeface="新細明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Executiv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8575" cap="flat" cmpd="sng" algn="ctr">
          <a:solidFill>
            <a:schemeClr val="phClr"/>
          </a:solidFill>
          <a:prstDash val="solid"/>
        </a:ln>
        <a:ln w="508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50000">
              <a:schemeClr val="phClr">
                <a:tint val="80000"/>
                <a:satMod val="250000"/>
              </a:schemeClr>
            </a:gs>
            <a:gs pos="76000">
              <a:schemeClr val="phClr">
                <a:tint val="90000"/>
                <a:shade val="90000"/>
                <a:satMod val="200000"/>
              </a:schemeClr>
            </a:gs>
            <a:gs pos="92000">
              <a:schemeClr val="phClr">
                <a:tint val="90000"/>
                <a:shade val="70000"/>
                <a:satMod val="250000"/>
              </a:schemeClr>
            </a:gs>
          </a:gsLst>
          <a:path path="circle">
            <a:fillToRect l="50000" t="50000" r="50000" b="50000"/>
          </a:path>
        </a:gradFill>
        <a:blipFill>
          <a:blip xmlns:r="http://schemas.openxmlformats.org/officeDocument/2006/relationships" r:embed="rId1">
            <a:duotone>
              <a:schemeClr val="phClr">
                <a:tint val="95000"/>
              </a:schemeClr>
              <a:schemeClr val="phClr">
                <a:shade val="90000"/>
              </a:schemeClr>
            </a:duotone>
          </a:blip>
          <a:tile tx="0" ty="0" sx="100000" sy="100000" flip="none"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Executive</Template>
  <TotalTime>0</TotalTime>
  <Words>17148</Words>
  <Application>WPS Presentation</Application>
  <PresentationFormat>On-screen Show (4:3)</PresentationFormat>
  <Paragraphs>527</Paragraphs>
  <Slides>47</Slides>
  <Notes>6</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47</vt:i4>
      </vt:variant>
    </vt:vector>
  </HeadingPairs>
  <TitlesOfParts>
    <vt:vector size="58" baseType="lpstr">
      <vt:lpstr>Arial</vt:lpstr>
      <vt:lpstr>SimSun</vt:lpstr>
      <vt:lpstr>Wingdings</vt:lpstr>
      <vt:lpstr>Century Gothic</vt:lpstr>
      <vt:lpstr>Courier New</vt:lpstr>
      <vt:lpstr>Palatino Linotype</vt:lpstr>
      <vt:lpstr>Microsoft YaHei</vt:lpstr>
      <vt:lpstr>Arial Unicode MS</vt:lpstr>
      <vt:lpstr>Calibri</vt:lpstr>
      <vt:lpstr>Times New Roman</vt:lpstr>
      <vt:lpstr>Executive</vt:lpstr>
      <vt:lpstr>Unit-1   Introduction of Data Structure</vt:lpstr>
      <vt:lpstr>Introduction of Data</vt:lpstr>
      <vt:lpstr>Introduction of Data Structure</vt:lpstr>
      <vt:lpstr>Introduction of Data Structure</vt:lpstr>
      <vt:lpstr>Introduction of Data Structure</vt:lpstr>
      <vt:lpstr>Introduction of Data Structure</vt:lpstr>
      <vt:lpstr>Introduction of Data Structure</vt:lpstr>
      <vt:lpstr>Introduction of Data Structure</vt:lpstr>
      <vt:lpstr>Introduction of Data Structure</vt:lpstr>
      <vt:lpstr>Introduction of Data Structure</vt:lpstr>
      <vt:lpstr>Introduction of Data Structure</vt:lpstr>
      <vt:lpstr>Operations on Data Structures</vt:lpstr>
      <vt:lpstr>Operations on Data Structures</vt:lpstr>
      <vt:lpstr>Data Representation</vt:lpstr>
      <vt:lpstr>Data Representation</vt:lpstr>
      <vt:lpstr>Data Representation</vt:lpstr>
      <vt:lpstr>Data Representation</vt:lpstr>
      <vt:lpstr>Abstract Data Type</vt:lpstr>
      <vt:lpstr>Abstract Data Type</vt:lpstr>
      <vt:lpstr>Introduction of Datatype</vt:lpstr>
      <vt:lpstr>Primary Datatype</vt:lpstr>
      <vt:lpstr>Data Structure and Structured Type</vt:lpstr>
      <vt:lpstr>Atomic Type</vt:lpstr>
      <vt:lpstr>Difference between Abstract Data Type, Data Types and Data Structures</vt:lpstr>
      <vt:lpstr>Algorithm</vt:lpstr>
      <vt:lpstr>Different Approaches to Designing an Algorithm</vt:lpstr>
      <vt:lpstr>Different Approaches to Designing an Algorithm</vt:lpstr>
      <vt:lpstr>Divide – and – Conquer approach </vt:lpstr>
      <vt:lpstr>Different Approaches to Designing an Algorithm</vt:lpstr>
      <vt:lpstr>Complexity of Data Structure</vt:lpstr>
      <vt:lpstr>Complexity of Data Structure</vt:lpstr>
      <vt:lpstr>Complexity of Data Structure</vt:lpstr>
      <vt:lpstr>Analysis of Algorithm</vt:lpstr>
      <vt:lpstr>Analysis of Algorithm</vt:lpstr>
      <vt:lpstr>Analysis of Algorithm</vt:lpstr>
      <vt:lpstr>Analysis of Algorithm</vt:lpstr>
      <vt:lpstr>Asymptotic Notations</vt:lpstr>
      <vt:lpstr>O − Big Oh</vt:lpstr>
      <vt:lpstr>O − Big Oh</vt:lpstr>
      <vt:lpstr>O − Big Oh</vt:lpstr>
      <vt:lpstr>O − Big Oh</vt:lpstr>
      <vt:lpstr>O − Big Oh</vt:lpstr>
      <vt:lpstr>O − Big Oh</vt:lpstr>
      <vt:lpstr>O − Big Oh</vt:lpstr>
      <vt:lpstr>PowerPoint 演示文稿</vt:lpstr>
      <vt:lpstr>O − Big Oh</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Unit-1  Basic concepts of Design and Analysis of Algorithm</dc:title>
  <dc:creator>Windows User</dc:creator>
  <cp:lastModifiedBy>shailja palsra</cp:lastModifiedBy>
  <cp:revision>354</cp:revision>
  <dcterms:created xsi:type="dcterms:W3CDTF">2018-06-25T13:25:00Z</dcterms:created>
  <dcterms:modified xsi:type="dcterms:W3CDTF">2025-08-07T16:02:20Z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975BA34987714450B189D9A6603F781D_12</vt:lpwstr>
  </property>
  <property fmtid="{D5CDD505-2E9C-101B-9397-08002B2CF9AE}" pid="3" name="KSOProductBuildVer">
    <vt:lpwstr>1033-12.2.0.22222</vt:lpwstr>
  </property>
</Properties>
</file>