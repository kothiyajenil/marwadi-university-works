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 id="2147483696" r:id="rId3"/>
  </p:sldMasterIdLst>
  <p:notesMasterIdLst>
    <p:notesMasterId r:id="rId92"/>
  </p:notesMasterIdLst>
  <p:sldIdLst>
    <p:sldId id="394" r:id="rId4"/>
    <p:sldId id="302" r:id="rId5"/>
    <p:sldId id="276" r:id="rId6"/>
    <p:sldId id="303" r:id="rId7"/>
    <p:sldId id="304" r:id="rId8"/>
    <p:sldId id="306" r:id="rId9"/>
    <p:sldId id="325" r:id="rId10"/>
    <p:sldId id="326" r:id="rId11"/>
    <p:sldId id="308" r:id="rId12"/>
    <p:sldId id="309" r:id="rId13"/>
    <p:sldId id="310" r:id="rId14"/>
    <p:sldId id="428" r:id="rId15"/>
    <p:sldId id="429" r:id="rId16"/>
    <p:sldId id="427" r:id="rId17"/>
    <p:sldId id="412" r:id="rId18"/>
    <p:sldId id="413" r:id="rId19"/>
    <p:sldId id="414" r:id="rId20"/>
    <p:sldId id="415" r:id="rId21"/>
    <p:sldId id="416" r:id="rId22"/>
    <p:sldId id="417" r:id="rId23"/>
    <p:sldId id="418" r:id="rId24"/>
    <p:sldId id="419" r:id="rId25"/>
    <p:sldId id="423" r:id="rId26"/>
    <p:sldId id="424" r:id="rId27"/>
    <p:sldId id="312" r:id="rId28"/>
    <p:sldId id="313" r:id="rId29"/>
    <p:sldId id="361" r:id="rId30"/>
    <p:sldId id="362" r:id="rId31"/>
    <p:sldId id="363" r:id="rId32"/>
    <p:sldId id="364" r:id="rId33"/>
    <p:sldId id="365" r:id="rId34"/>
    <p:sldId id="366" r:id="rId35"/>
    <p:sldId id="334" r:id="rId36"/>
    <p:sldId id="335" r:id="rId37"/>
    <p:sldId id="411" r:id="rId38"/>
    <p:sldId id="315" r:id="rId39"/>
    <p:sldId id="367" r:id="rId40"/>
    <p:sldId id="368" r:id="rId41"/>
    <p:sldId id="369" r:id="rId42"/>
    <p:sldId id="370" r:id="rId43"/>
    <p:sldId id="371" r:id="rId44"/>
    <p:sldId id="372" r:id="rId45"/>
    <p:sldId id="337" r:id="rId46"/>
    <p:sldId id="338" r:id="rId47"/>
    <p:sldId id="430" r:id="rId48"/>
    <p:sldId id="318" r:id="rId49"/>
    <p:sldId id="319" r:id="rId50"/>
    <p:sldId id="373" r:id="rId51"/>
    <p:sldId id="374" r:id="rId52"/>
    <p:sldId id="376" r:id="rId53"/>
    <p:sldId id="432" r:id="rId54"/>
    <p:sldId id="433" r:id="rId55"/>
    <p:sldId id="431" r:id="rId56"/>
    <p:sldId id="341" r:id="rId57"/>
    <p:sldId id="377" r:id="rId58"/>
    <p:sldId id="425" r:id="rId59"/>
    <p:sldId id="426" r:id="rId60"/>
    <p:sldId id="342" r:id="rId61"/>
    <p:sldId id="378" r:id="rId62"/>
    <p:sldId id="379" r:id="rId63"/>
    <p:sldId id="380" r:id="rId64"/>
    <p:sldId id="381" r:id="rId65"/>
    <p:sldId id="382" r:id="rId66"/>
    <p:sldId id="383" r:id="rId67"/>
    <p:sldId id="384" r:id="rId68"/>
    <p:sldId id="385" r:id="rId69"/>
    <p:sldId id="386" r:id="rId70"/>
    <p:sldId id="387" r:id="rId71"/>
    <p:sldId id="396" r:id="rId72"/>
    <p:sldId id="397" r:id="rId73"/>
    <p:sldId id="398" r:id="rId74"/>
    <p:sldId id="399" r:id="rId75"/>
    <p:sldId id="400" r:id="rId76"/>
    <p:sldId id="401" r:id="rId77"/>
    <p:sldId id="402" r:id="rId78"/>
    <p:sldId id="403" r:id="rId79"/>
    <p:sldId id="404" r:id="rId80"/>
    <p:sldId id="405" r:id="rId81"/>
    <p:sldId id="406" r:id="rId82"/>
    <p:sldId id="353" r:id="rId83"/>
    <p:sldId id="388" r:id="rId84"/>
    <p:sldId id="389" r:id="rId85"/>
    <p:sldId id="390" r:id="rId86"/>
    <p:sldId id="391" r:id="rId87"/>
    <p:sldId id="420" r:id="rId88"/>
    <p:sldId id="421" r:id="rId89"/>
    <p:sldId id="422" r:id="rId90"/>
    <p:sldId id="395" r:id="rId9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9642" autoAdjust="0"/>
  </p:normalViewPr>
  <p:slideViewPr>
    <p:cSldViewPr>
      <p:cViewPr>
        <p:scale>
          <a:sx n="76" d="100"/>
          <a:sy n="76" d="100"/>
        </p:scale>
        <p:origin x="-1206" y="-438"/>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slide" Target="slides/slide81.xml"/><Relationship Id="rId89" Type="http://schemas.openxmlformats.org/officeDocument/2006/relationships/slide" Target="slides/slide86.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theme" Target="theme/theme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6662EC3-21F2-41A0-8781-593D5EA68A35}" type="datetimeFigureOut">
              <a:rPr lang="en-US" smtClean="0"/>
              <a:pPr/>
              <a:t>11/11/2024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D91B13-9CB5-48B2-81DF-D88EA4FC281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9D02EE-FC59-4203-A9E5-F4EC04603D9E}" type="datetimeFigureOut">
              <a:rPr lang="en-US" smtClean="0"/>
              <a:pPr/>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2EAA25-5773-4E81-B38B-7F06B845BA8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623888" y="1282305"/>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623888" y="3442099"/>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29841"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4629151"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4629151"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3887391" y="740570"/>
            <a:ext cx="4629150" cy="3655219"/>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3"/>
          <p:cNvSpPr>
            <a:spLocks noGrp="1"/>
          </p:cNvSpPr>
          <p:nvPr>
            <p:ph type="pic" idx="2"/>
          </p:nvPr>
        </p:nvSpPr>
        <p:spPr>
          <a:xfrm>
            <a:off x="3887391" y="740570"/>
            <a:ext cx="4629150" cy="3655219"/>
          </a:xfrm>
          <a:prstGeom prst="rect">
            <a:avLst/>
          </a:prstGeom>
          <a:noFill/>
          <a:ln>
            <a:noFill/>
          </a:ln>
        </p:spPr>
      </p:sp>
      <p:sp>
        <p:nvSpPr>
          <p:cNvPr id="64" name="Google Shape;64;p1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5350074"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349574"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628650" y="273847"/>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623888" y="1282306"/>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623888" y="3442100"/>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28650" y="273847"/>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29841" y="273847"/>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4629152"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4629152"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28650" y="273847"/>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3887391" y="740571"/>
            <a:ext cx="4629150" cy="3655219"/>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3"/>
          <p:cNvSpPr>
            <a:spLocks noGrp="1"/>
          </p:cNvSpPr>
          <p:nvPr>
            <p:ph type="pic" idx="2"/>
          </p:nvPr>
        </p:nvSpPr>
        <p:spPr>
          <a:xfrm>
            <a:off x="3887391" y="740571"/>
            <a:ext cx="4629150" cy="3655219"/>
          </a:xfrm>
          <a:prstGeom prst="rect">
            <a:avLst/>
          </a:prstGeom>
          <a:noFill/>
          <a:ln>
            <a:noFill/>
          </a:ln>
        </p:spPr>
      </p:sp>
      <p:sp>
        <p:nvSpPr>
          <p:cNvPr id="64" name="Google Shape;64;p13"/>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628650" y="273847"/>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5350074" y="1467447"/>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349574" y="-447078"/>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B9D02EE-FC59-4203-A9E5-F4EC04603D9E}" type="datetimeFigureOut">
              <a:rPr lang="en-US" smtClean="0"/>
              <a:pPr/>
              <a:t>11/11/2024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12EAA25-5773-4E81-B38B-7F06B845BA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628650" y="273845"/>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628650" y="4767264"/>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3028950" y="4767264"/>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6457950" y="4767264"/>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628650" y="273847"/>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628650" y="4767265"/>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3028950" y="4767265"/>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6457950" y="4767265"/>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p:nvPr/>
        </p:nvSpPr>
        <p:spPr>
          <a:xfrm>
            <a:off x="228600" y="3257550"/>
            <a:ext cx="5929354" cy="1680548"/>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US" sz="2800" b="1" i="0" u="none" strike="noStrike" cap="none" dirty="0">
                <a:solidFill>
                  <a:srgbClr val="000000"/>
                </a:solidFill>
                <a:latin typeface="Garamond"/>
                <a:ea typeface="Garamond"/>
                <a:cs typeface="Garamond"/>
                <a:sym typeface="Garamond"/>
              </a:rPr>
              <a:t>Master of Computer Applications</a:t>
            </a:r>
            <a:endParaRPr sz="1600"/>
          </a:p>
          <a:p>
            <a:pPr marL="0" marR="0" lvl="0" indent="0" algn="ctr" rtl="0">
              <a:lnSpc>
                <a:spcPct val="107000"/>
              </a:lnSpc>
              <a:spcBef>
                <a:spcPts val="800"/>
              </a:spcBef>
              <a:spcAft>
                <a:spcPts val="0"/>
              </a:spcAft>
              <a:buNone/>
            </a:pPr>
            <a:r>
              <a:rPr lang="en-US" sz="2800" b="1" i="0" u="none" strike="noStrike" cap="none" dirty="0">
                <a:solidFill>
                  <a:srgbClr val="000000"/>
                </a:solidFill>
                <a:latin typeface="Garamond"/>
                <a:ea typeface="Garamond"/>
                <a:cs typeface="Garamond"/>
                <a:sym typeface="Garamond"/>
              </a:rPr>
              <a:t>(MCA </a:t>
            </a:r>
            <a:r>
              <a:rPr lang="en-US" sz="2800" b="1" i="0" u="none" strike="noStrike" cap="none" dirty="0" err="1">
                <a:solidFill>
                  <a:srgbClr val="000000"/>
                </a:solidFill>
                <a:latin typeface="Garamond"/>
                <a:ea typeface="Garamond"/>
                <a:cs typeface="Garamond"/>
                <a:sym typeface="Garamond"/>
              </a:rPr>
              <a:t>Sem</a:t>
            </a:r>
            <a:r>
              <a:rPr lang="en-US" sz="2800" b="1" i="0" u="none" strike="noStrike" cap="none" dirty="0">
                <a:solidFill>
                  <a:srgbClr val="000000"/>
                </a:solidFill>
                <a:latin typeface="Garamond"/>
                <a:ea typeface="Garamond"/>
                <a:cs typeface="Garamond"/>
                <a:sym typeface="Garamond"/>
              </a:rPr>
              <a:t> : </a:t>
            </a:r>
            <a:r>
              <a:rPr lang="en-US" sz="2800" b="1" dirty="0" smtClean="0">
                <a:solidFill>
                  <a:srgbClr val="000000"/>
                </a:solidFill>
                <a:latin typeface="Garamond"/>
                <a:ea typeface="Garamond"/>
                <a:cs typeface="Garamond"/>
                <a:sym typeface="Garamond"/>
              </a:rPr>
              <a:t>1</a:t>
            </a:r>
            <a:r>
              <a:rPr lang="en-US" sz="2800" b="1" i="0" u="none" strike="noStrike" cap="none" dirty="0" smtClean="0">
                <a:solidFill>
                  <a:srgbClr val="000000"/>
                </a:solidFill>
                <a:latin typeface="Garamond"/>
                <a:ea typeface="Garamond"/>
                <a:cs typeface="Garamond"/>
                <a:sym typeface="Garamond"/>
              </a:rPr>
              <a:t>)</a:t>
            </a:r>
            <a:endParaRPr sz="2800" b="1" i="0" u="none" strike="noStrike" cap="none">
              <a:solidFill>
                <a:srgbClr val="000000"/>
              </a:solidFill>
              <a:latin typeface="Garamond"/>
              <a:ea typeface="Garamond"/>
              <a:cs typeface="Garamond"/>
              <a:sym typeface="Garamond"/>
            </a:endParaRPr>
          </a:p>
          <a:p>
            <a:pPr lvl="0" algn="ctr">
              <a:lnSpc>
                <a:spcPct val="107000"/>
              </a:lnSpc>
              <a:spcBef>
                <a:spcPts val="800"/>
              </a:spcBef>
            </a:pPr>
            <a:r>
              <a:rPr lang="en-US" sz="2800" b="1" i="0" u="none" strike="noStrike" cap="none" dirty="0" smtClean="0">
                <a:solidFill>
                  <a:srgbClr val="000000"/>
                </a:solidFill>
                <a:latin typeface="Garamond"/>
                <a:ea typeface="Garamond"/>
                <a:cs typeface="Garamond"/>
                <a:sym typeface="Garamond"/>
              </a:rPr>
              <a:t>(05MC0101</a:t>
            </a:r>
            <a:r>
              <a:rPr lang="en-US" sz="2800" b="1" dirty="0" smtClean="0">
                <a:solidFill>
                  <a:srgbClr val="000000"/>
                </a:solidFill>
                <a:latin typeface="Garamond"/>
                <a:ea typeface="Garamond"/>
                <a:cs typeface="Garamond"/>
                <a:sym typeface="Garamond"/>
              </a:rPr>
              <a:t>) (Data structure using C)</a:t>
            </a:r>
            <a:endParaRPr sz="2800" b="1" i="0" u="none" strike="noStrike" cap="none">
              <a:solidFill>
                <a:srgbClr val="000000"/>
              </a:solidFill>
              <a:latin typeface="Garamond"/>
              <a:ea typeface="Garamond"/>
              <a:cs typeface="Garamond"/>
              <a:sym typeface="Garamond"/>
            </a:endParaRPr>
          </a:p>
        </p:txBody>
      </p:sp>
      <p:pic>
        <p:nvPicPr>
          <p:cNvPr id="85" name="Google Shape;85;p1" descr="https://lh7-us.googleusercontent.com/80-VR60UbqbhGDYEPyD2Lpr_ug4hBimSLfnv4QDBRHMivQCtUKscFmBXjR6DGGN7su8wz0nNuNOU9iTt-0E2206T4OC3ecrUoOysiC89TYZcgjFL-h36ANjQPl05k1J_p-R4vyF14NJcIQcqCoLkqQ"/>
          <p:cNvPicPr preferRelativeResize="0"/>
          <p:nvPr/>
        </p:nvPicPr>
        <p:blipFill rotWithShape="1">
          <a:blip r:embed="rId4">
            <a:alphaModFix/>
          </a:blip>
          <a:srcRect/>
          <a:stretch/>
        </p:blipFill>
        <p:spPr>
          <a:xfrm>
            <a:off x="5296674" y="2614000"/>
            <a:ext cx="2056880" cy="481898"/>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6096000" cy="857250"/>
          </a:xfrm>
        </p:spPr>
        <p:txBody>
          <a:bodyPr/>
          <a:lstStyle/>
          <a:p>
            <a:r>
              <a:rPr lang="en-US" b="1" dirty="0" smtClean="0"/>
              <a:t>         </a:t>
            </a:r>
            <a:endParaRPr lang="en-US" b="1" dirty="0"/>
          </a:p>
        </p:txBody>
      </p:sp>
      <p:sp>
        <p:nvSpPr>
          <p:cNvPr id="3" name="Content Placeholder 2"/>
          <p:cNvSpPr>
            <a:spLocks noGrp="1"/>
          </p:cNvSpPr>
          <p:nvPr>
            <p:ph idx="1"/>
          </p:nvPr>
        </p:nvSpPr>
        <p:spPr/>
        <p:txBody>
          <a:bodyPr>
            <a:normAutofit/>
          </a:bodyPr>
          <a:lstStyle/>
          <a:p>
            <a:endParaRPr lang="en-US" dirty="0"/>
          </a:p>
          <a:p>
            <a:pPr marL="58738" indent="-58738" algn="ctr">
              <a:lnSpc>
                <a:spcPct val="110000"/>
              </a:lnSpc>
              <a:spcBef>
                <a:spcPct val="0"/>
              </a:spcBef>
              <a:buNone/>
            </a:pPr>
            <a:r>
              <a:rPr lang="en-US" sz="4000" b="1" dirty="0" smtClean="0">
                <a:solidFill>
                  <a:schemeClr val="tx2"/>
                </a:solidFill>
                <a:effectLst>
                  <a:outerShdw blurRad="63500" dist="38100" dir="5400000" algn="t" rotWithShape="0">
                    <a:prstClr val="black">
                      <a:alpha val="25000"/>
                    </a:prstClr>
                  </a:outerShdw>
                </a:effectLst>
                <a:ea typeface="+mj-ea"/>
                <a:cs typeface="+mj-cs"/>
              </a:rPr>
              <a:t>UNIT – 5</a:t>
            </a:r>
          </a:p>
          <a:p>
            <a:pPr marL="58738" indent="-58738" algn="ctr">
              <a:lnSpc>
                <a:spcPct val="110000"/>
              </a:lnSpc>
              <a:spcBef>
                <a:spcPct val="0"/>
              </a:spcBef>
              <a:buNone/>
            </a:pPr>
            <a:endParaRPr lang="en-US" sz="4000" dirty="0" smtClean="0">
              <a:solidFill>
                <a:schemeClr val="tx2"/>
              </a:solidFill>
              <a:effectLst>
                <a:outerShdw blurRad="63500" dist="38100" dir="5400000" algn="t" rotWithShape="0">
                  <a:prstClr val="black">
                    <a:alpha val="25000"/>
                  </a:prstClr>
                </a:outerShdw>
              </a:effectLst>
              <a:ea typeface="+mj-ea"/>
              <a:cs typeface="+mj-cs"/>
            </a:endParaRPr>
          </a:p>
          <a:p>
            <a:pPr marL="58738" indent="-58738" algn="ctr">
              <a:lnSpc>
                <a:spcPct val="110000"/>
              </a:lnSpc>
              <a:spcBef>
                <a:spcPct val="0"/>
              </a:spcBef>
              <a:buNone/>
            </a:pPr>
            <a:r>
              <a:rPr lang="en-US" sz="4800" b="1" dirty="0" smtClean="0">
                <a:solidFill>
                  <a:schemeClr val="tx2"/>
                </a:solidFill>
                <a:effectLst>
                  <a:outerShdw blurRad="63500" dist="38100" dir="5400000" algn="t" rotWithShape="0">
                    <a:prstClr val="black">
                      <a:alpha val="25000"/>
                    </a:prstClr>
                  </a:outerShdw>
                </a:effectLst>
                <a:ea typeface="+mj-ea"/>
                <a:cs typeface="+mj-cs"/>
              </a:rPr>
              <a:t>Searching   &amp;  Sorting</a:t>
            </a:r>
            <a:endParaRPr lang="en-US" sz="4000" b="1" dirty="0">
              <a:solidFill>
                <a:schemeClr val="tx2"/>
              </a:solidFill>
              <a:effectLst>
                <a:outerShdw blurRad="63500" dist="38100" dir="5400000" algn="t" rotWithShape="0">
                  <a:prstClr val="black">
                    <a:alpha val="25000"/>
                  </a:prstClr>
                </a:outerShdw>
              </a:effectLst>
              <a:ea typeface="+mj-ea"/>
              <a:cs typeface="+mj-cs"/>
            </a:endParaRP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dirty="0" smtClean="0"/>
              <a:t>Searching</a:t>
            </a:r>
            <a:endParaRPr lang="en-US" b="1" dirty="0"/>
          </a:p>
        </p:txBody>
      </p:sp>
      <p:sp>
        <p:nvSpPr>
          <p:cNvPr id="3" name="Subtitle 2"/>
          <p:cNvSpPr>
            <a:spLocks noGrp="1"/>
          </p:cNvSpPr>
          <p:nvPr>
            <p:ph type="subTitle" idx="1"/>
          </p:nvPr>
        </p:nvSpPr>
        <p:spPr>
          <a:xfrm>
            <a:off x="685800" y="857250"/>
            <a:ext cx="7848600" cy="4057650"/>
          </a:xfrm>
        </p:spPr>
        <p:txBody>
          <a:bodyPr>
            <a:normAutofit fontScale="92500" lnSpcReduction="10000"/>
          </a:bodyPr>
          <a:lstStyle/>
          <a:p>
            <a:pPr algn="just"/>
            <a:r>
              <a:rPr lang="en-US" sz="2800" b="1" dirty="0" smtClean="0">
                <a:solidFill>
                  <a:schemeClr val="tx1"/>
                </a:solidFill>
              </a:rPr>
              <a:t>Searching means to find whether a particular value is present in an array or not. </a:t>
            </a:r>
          </a:p>
          <a:p>
            <a:pPr algn="just"/>
            <a:endParaRPr lang="en-US" sz="2800" dirty="0" smtClean="0">
              <a:solidFill>
                <a:schemeClr val="tx1"/>
              </a:solidFill>
            </a:endParaRPr>
          </a:p>
          <a:p>
            <a:pPr algn="just"/>
            <a:r>
              <a:rPr lang="en-US" sz="2800" dirty="0" smtClean="0">
                <a:solidFill>
                  <a:schemeClr val="tx1"/>
                </a:solidFill>
              </a:rPr>
              <a:t>If the value is present in the array, then searching is said to be successful and the searching process gives the location of that value in the array. </a:t>
            </a:r>
          </a:p>
          <a:p>
            <a:pPr algn="just"/>
            <a:endParaRPr lang="en-US" sz="2800" dirty="0" smtClean="0">
              <a:solidFill>
                <a:schemeClr val="tx1"/>
              </a:solidFill>
            </a:endParaRPr>
          </a:p>
          <a:p>
            <a:pPr algn="just"/>
            <a:r>
              <a:rPr lang="en-US" sz="2800" dirty="0" smtClean="0">
                <a:solidFill>
                  <a:schemeClr val="tx1"/>
                </a:solidFill>
              </a:rPr>
              <a:t>However, if the value is not present in the array, the searching process displays an appropriate message and in this case searching is said to be unsuccessful.</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Searching</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r>
              <a:rPr lang="en-US" sz="2800" dirty="0" smtClean="0">
                <a:solidFill>
                  <a:schemeClr val="tx1"/>
                </a:solidFill>
              </a:rPr>
              <a:t>There are two popular methods for searching the array elements: </a:t>
            </a:r>
            <a:r>
              <a:rPr lang="en-US" sz="2800" i="1" dirty="0" smtClean="0">
                <a:solidFill>
                  <a:schemeClr val="tx1"/>
                </a:solidFill>
              </a:rPr>
              <a:t>linear search and binary search.</a:t>
            </a: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Linear Search</a:t>
            </a:r>
            <a:endParaRPr lang="en-US" b="1" dirty="0"/>
          </a:p>
        </p:txBody>
      </p:sp>
      <p:sp>
        <p:nvSpPr>
          <p:cNvPr id="3" name="Subtitle 2"/>
          <p:cNvSpPr>
            <a:spLocks noGrp="1"/>
          </p:cNvSpPr>
          <p:nvPr>
            <p:ph type="subTitle" idx="1"/>
          </p:nvPr>
        </p:nvSpPr>
        <p:spPr>
          <a:xfrm>
            <a:off x="685800" y="857250"/>
            <a:ext cx="7848600" cy="4057650"/>
          </a:xfrm>
        </p:spPr>
        <p:txBody>
          <a:bodyPr>
            <a:normAutofit fontScale="77500" lnSpcReduction="20000"/>
          </a:bodyPr>
          <a:lstStyle/>
          <a:p>
            <a:pPr algn="just"/>
            <a:r>
              <a:rPr lang="en-US" sz="2800" b="1" dirty="0" smtClean="0">
                <a:solidFill>
                  <a:schemeClr val="tx1"/>
                </a:solidFill>
              </a:rPr>
              <a:t>Linear search, also called as </a:t>
            </a:r>
            <a:r>
              <a:rPr lang="en-US" sz="2800" b="1" i="1" dirty="0" smtClean="0">
                <a:solidFill>
                  <a:schemeClr val="tx1"/>
                </a:solidFill>
              </a:rPr>
              <a:t>sequential search, is a very simple method used for searching an array </a:t>
            </a:r>
            <a:r>
              <a:rPr lang="en-US" sz="2800" b="1" dirty="0" smtClean="0">
                <a:solidFill>
                  <a:schemeClr val="tx1"/>
                </a:solidFill>
              </a:rPr>
              <a:t>for a particular value. </a:t>
            </a:r>
          </a:p>
          <a:p>
            <a:pPr algn="just"/>
            <a:endParaRPr lang="en-US" sz="2800" dirty="0" smtClean="0">
              <a:solidFill>
                <a:schemeClr val="tx1"/>
              </a:solidFill>
            </a:endParaRPr>
          </a:p>
          <a:p>
            <a:pPr algn="just"/>
            <a:r>
              <a:rPr lang="en-US" sz="2800" b="1" dirty="0" smtClean="0">
                <a:solidFill>
                  <a:schemeClr val="tx1"/>
                </a:solidFill>
              </a:rPr>
              <a:t>It works by comparing the value to be searched with every element of the array one by one in a sequence until a match is found. </a:t>
            </a:r>
          </a:p>
          <a:p>
            <a:pPr algn="just"/>
            <a:endParaRPr lang="en-US" sz="2800" dirty="0" smtClean="0">
              <a:solidFill>
                <a:schemeClr val="tx1"/>
              </a:solidFill>
            </a:endParaRPr>
          </a:p>
          <a:p>
            <a:pPr algn="just"/>
            <a:r>
              <a:rPr lang="en-US" sz="2800" dirty="0" smtClean="0">
                <a:solidFill>
                  <a:schemeClr val="tx1"/>
                </a:solidFill>
              </a:rPr>
              <a:t>Linear search is mostly used to search an unordered list of elements (array in which data elements are not sorted). For example, if an array</a:t>
            </a:r>
          </a:p>
          <a:p>
            <a:pPr algn="just"/>
            <a:r>
              <a:rPr lang="en-US" sz="2800" dirty="0" smtClean="0">
                <a:solidFill>
                  <a:schemeClr val="tx1"/>
                </a:solidFill>
              </a:rPr>
              <a:t>A[] is declared and initialized as,</a:t>
            </a:r>
          </a:p>
          <a:p>
            <a:pPr algn="just"/>
            <a:r>
              <a:rPr lang="en-US" sz="2800" dirty="0" err="1" smtClean="0">
                <a:solidFill>
                  <a:schemeClr val="tx1"/>
                </a:solidFill>
              </a:rPr>
              <a:t>int</a:t>
            </a:r>
            <a:r>
              <a:rPr lang="en-US" sz="2800" dirty="0" smtClean="0">
                <a:solidFill>
                  <a:schemeClr val="tx1"/>
                </a:solidFill>
              </a:rPr>
              <a:t> A[] = {10, 8, 2, 7, 3, 4, 9, 1, 6, 5};</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Linear Search</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r>
              <a:rPr lang="en-US" sz="2800" dirty="0" smtClean="0">
                <a:solidFill>
                  <a:schemeClr val="tx1"/>
                </a:solidFill>
              </a:rPr>
              <a:t>the value to be searched is VAL = 7, then searching means to find whether the value ‘7’ is present in the array or not.</a:t>
            </a:r>
          </a:p>
          <a:p>
            <a:pPr algn="just"/>
            <a:r>
              <a:rPr lang="en-US" sz="2800" dirty="0" smtClean="0">
                <a:solidFill>
                  <a:schemeClr val="tx1"/>
                </a:solidFill>
              </a:rPr>
              <a:t>If yes, then it returns the position of its occurrence. Here,</a:t>
            </a:r>
          </a:p>
          <a:p>
            <a:pPr algn="just"/>
            <a:r>
              <a:rPr lang="en-US" sz="2800" dirty="0" smtClean="0">
                <a:solidFill>
                  <a:schemeClr val="tx1"/>
                </a:solidFill>
              </a:rPr>
              <a:t>POS = 3 (index starting from 0).</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Linear Search</a:t>
            </a:r>
            <a:endParaRPr lang="en-US" b="1" dirty="0"/>
          </a:p>
        </p:txBody>
      </p:sp>
      <p:sp>
        <p:nvSpPr>
          <p:cNvPr id="3" name="Subtitle 2"/>
          <p:cNvSpPr>
            <a:spLocks noGrp="1"/>
          </p:cNvSpPr>
          <p:nvPr>
            <p:ph type="subTitle" idx="1"/>
          </p:nvPr>
        </p:nvSpPr>
        <p:spPr>
          <a:xfrm>
            <a:off x="685800" y="857250"/>
            <a:ext cx="7848600" cy="4057650"/>
          </a:xfrm>
        </p:spPr>
        <p:txBody>
          <a:bodyPr>
            <a:normAutofit fontScale="55000" lnSpcReduction="20000"/>
          </a:bodyPr>
          <a:lstStyle/>
          <a:p>
            <a:pPr algn="just"/>
            <a:r>
              <a:rPr lang="en-US" sz="2800" dirty="0" smtClean="0">
                <a:solidFill>
                  <a:schemeClr val="tx1"/>
                </a:solidFill>
              </a:rPr>
              <a:t>#include&lt;</a:t>
            </a:r>
            <a:r>
              <a:rPr lang="en-US" sz="2800" dirty="0" err="1" smtClean="0">
                <a:solidFill>
                  <a:schemeClr val="tx1"/>
                </a:solidFill>
              </a:rPr>
              <a:t>stdio.h</a:t>
            </a:r>
            <a:r>
              <a:rPr lang="en-US" sz="2800" dirty="0" smtClean="0">
                <a:solidFill>
                  <a:schemeClr val="tx1"/>
                </a:solidFill>
              </a:rPr>
              <a:t>&gt;</a:t>
            </a:r>
          </a:p>
          <a:p>
            <a:pPr algn="just"/>
            <a:r>
              <a:rPr lang="en-US" sz="2800" dirty="0" smtClean="0">
                <a:solidFill>
                  <a:schemeClr val="tx1"/>
                </a:solidFill>
              </a:rPr>
              <a:t>#include&lt;</a:t>
            </a:r>
            <a:r>
              <a:rPr lang="en-US" sz="2800" dirty="0" err="1" smtClean="0">
                <a:solidFill>
                  <a:schemeClr val="tx1"/>
                </a:solidFill>
              </a:rPr>
              <a:t>conio.h</a:t>
            </a:r>
            <a:r>
              <a:rPr lang="en-US" sz="2800" dirty="0" smtClean="0">
                <a:solidFill>
                  <a:schemeClr val="tx1"/>
                </a:solidFill>
              </a:rPr>
              <a:t>&gt;</a:t>
            </a:r>
          </a:p>
          <a:p>
            <a:pPr algn="just"/>
            <a:endParaRPr lang="en-US" sz="2800" dirty="0" smtClean="0">
              <a:solidFill>
                <a:schemeClr val="tx1"/>
              </a:solidFill>
            </a:endParaRPr>
          </a:p>
          <a:p>
            <a:pPr algn="just"/>
            <a:r>
              <a:rPr lang="en-US" sz="2800" dirty="0" smtClean="0">
                <a:solidFill>
                  <a:schemeClr val="tx1"/>
                </a:solidFill>
              </a:rPr>
              <a:t>void main()</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a[20],</a:t>
            </a:r>
            <a:r>
              <a:rPr lang="en-US" sz="2800" dirty="0" err="1" smtClean="0">
                <a:solidFill>
                  <a:schemeClr val="tx1"/>
                </a:solidFill>
              </a:rPr>
              <a:t>i,x,n</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clrscr</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("How many elements?");</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a:t>
            </a:r>
            <a:r>
              <a:rPr lang="en-US" sz="2800" dirty="0" err="1" smtClean="0">
                <a:solidFill>
                  <a:schemeClr val="tx1"/>
                </a:solidFill>
              </a:rPr>
              <a:t>d",&amp;n</a:t>
            </a:r>
            <a:r>
              <a:rPr lang="en-US" sz="2800" dirty="0" smtClean="0">
                <a:solidFill>
                  <a:schemeClr val="tx1"/>
                </a:solidFill>
              </a:rPr>
              <a:t>);</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array elements:\n");</a:t>
            </a:r>
          </a:p>
          <a:p>
            <a:pPr algn="just"/>
            <a:r>
              <a:rPr lang="en-US" sz="2800" dirty="0" smtClean="0">
                <a:solidFill>
                  <a:schemeClr val="tx1"/>
                </a:solidFill>
              </a:rPr>
              <a:t>    for(</a:t>
            </a:r>
            <a:r>
              <a:rPr lang="en-US" sz="2800" dirty="0" err="1" smtClean="0">
                <a:solidFill>
                  <a:schemeClr val="tx1"/>
                </a:solidFill>
              </a:rPr>
              <a:t>i</a:t>
            </a:r>
            <a:r>
              <a:rPr lang="en-US" sz="2800" dirty="0" smtClean="0">
                <a:solidFill>
                  <a:schemeClr val="tx1"/>
                </a:solidFill>
              </a:rPr>
              <a:t>=0;i&lt;n;++</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a:t>
            </a:r>
            <a:r>
              <a:rPr lang="en-US" sz="2800" dirty="0" err="1" smtClean="0">
                <a:solidFill>
                  <a:schemeClr val="tx1"/>
                </a:solidFill>
              </a:rPr>
              <a:t>d",&amp;a</a:t>
            </a:r>
            <a:r>
              <a:rPr lang="en-US" sz="2800" dirty="0" smtClean="0">
                <a:solidFill>
                  <a:schemeClr val="tx1"/>
                </a:solidFill>
              </a:rPr>
              <a:t>[</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a:t>
            </a:r>
            <a:r>
              <a:rPr lang="en-US" sz="2800" dirty="0" err="1" smtClean="0">
                <a:solidFill>
                  <a:schemeClr val="tx1"/>
                </a:solidFill>
              </a:rPr>
              <a:t>nEnter</a:t>
            </a:r>
            <a:r>
              <a:rPr lang="en-US" sz="2800" dirty="0" smtClean="0">
                <a:solidFill>
                  <a:schemeClr val="tx1"/>
                </a:solidFill>
              </a:rPr>
              <a:t> element to search:");</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a:t>
            </a:r>
            <a:r>
              <a:rPr lang="en-US" sz="2800" dirty="0" err="1" smtClean="0">
                <a:solidFill>
                  <a:schemeClr val="tx1"/>
                </a:solidFill>
              </a:rPr>
              <a:t>d",&amp;x</a:t>
            </a:r>
            <a:r>
              <a:rPr lang="en-US" sz="2800" dirty="0" smtClean="0">
                <a:solidFill>
                  <a:schemeClr val="tx1"/>
                </a:solidFill>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Linear Search</a:t>
            </a:r>
            <a:endParaRPr lang="en-US" b="1" dirty="0"/>
          </a:p>
        </p:txBody>
      </p:sp>
      <p:sp>
        <p:nvSpPr>
          <p:cNvPr id="3" name="Subtitle 2"/>
          <p:cNvSpPr>
            <a:spLocks noGrp="1"/>
          </p:cNvSpPr>
          <p:nvPr>
            <p:ph type="subTitle" idx="1"/>
          </p:nvPr>
        </p:nvSpPr>
        <p:spPr>
          <a:xfrm>
            <a:off x="685800" y="857250"/>
            <a:ext cx="7848600" cy="4057650"/>
          </a:xfrm>
        </p:spPr>
        <p:txBody>
          <a:bodyPr>
            <a:normAutofit fontScale="77500" lnSpcReduction="20000"/>
          </a:bodyPr>
          <a:lstStyle/>
          <a:p>
            <a:pPr algn="just"/>
            <a:r>
              <a:rPr lang="en-GB" sz="2800" dirty="0" smtClean="0">
                <a:solidFill>
                  <a:schemeClr val="tx1"/>
                </a:solidFill>
              </a:rPr>
              <a:t> for(</a:t>
            </a:r>
            <a:r>
              <a:rPr lang="en-GB" sz="2800" dirty="0" err="1" smtClean="0">
                <a:solidFill>
                  <a:schemeClr val="tx1"/>
                </a:solidFill>
              </a:rPr>
              <a:t>i</a:t>
            </a:r>
            <a:r>
              <a:rPr lang="en-GB" sz="2800" dirty="0" smtClean="0">
                <a:solidFill>
                  <a:schemeClr val="tx1"/>
                </a:solidFill>
              </a:rPr>
              <a:t>=0;i&lt;n;++</a:t>
            </a:r>
            <a:r>
              <a:rPr lang="en-GB" sz="2800" dirty="0" err="1" smtClean="0">
                <a:solidFill>
                  <a:schemeClr val="tx1"/>
                </a:solidFill>
              </a:rPr>
              <a:t>i</a:t>
            </a:r>
            <a:r>
              <a:rPr lang="en-GB" sz="2800" dirty="0" smtClean="0">
                <a:solidFill>
                  <a:schemeClr val="tx1"/>
                </a:solidFill>
              </a:rPr>
              <a:t>)</a:t>
            </a:r>
          </a:p>
          <a:p>
            <a:pPr algn="just"/>
            <a:r>
              <a:rPr lang="en-GB" sz="2800" dirty="0" smtClean="0">
                <a:solidFill>
                  <a:schemeClr val="tx1"/>
                </a:solidFill>
              </a:rPr>
              <a:t>    {</a:t>
            </a:r>
          </a:p>
          <a:p>
            <a:pPr algn="just"/>
            <a:r>
              <a:rPr lang="en-GB" sz="2800" dirty="0" smtClean="0">
                <a:solidFill>
                  <a:schemeClr val="tx1"/>
                </a:solidFill>
              </a:rPr>
              <a:t>	if(a[</a:t>
            </a:r>
            <a:r>
              <a:rPr lang="en-GB" sz="2800" dirty="0" err="1" smtClean="0">
                <a:solidFill>
                  <a:schemeClr val="tx1"/>
                </a:solidFill>
              </a:rPr>
              <a:t>i</a:t>
            </a:r>
            <a:r>
              <a:rPr lang="en-GB" sz="2800" dirty="0" smtClean="0">
                <a:solidFill>
                  <a:schemeClr val="tx1"/>
                </a:solidFill>
              </a:rPr>
              <a:t>]==x)</a:t>
            </a:r>
          </a:p>
          <a:p>
            <a:pPr algn="just"/>
            <a:r>
              <a:rPr lang="en-GB" sz="2800" dirty="0" smtClean="0">
                <a:solidFill>
                  <a:schemeClr val="tx1"/>
                </a:solidFill>
              </a:rPr>
              <a:t>	    break;</a:t>
            </a:r>
          </a:p>
          <a:p>
            <a:pPr algn="just"/>
            <a:r>
              <a:rPr lang="en-GB" sz="2800" dirty="0" smtClean="0">
                <a:solidFill>
                  <a:schemeClr val="tx1"/>
                </a:solidFill>
              </a:rPr>
              <a:t>    }</a:t>
            </a:r>
          </a:p>
          <a:p>
            <a:pPr algn="just"/>
            <a:r>
              <a:rPr lang="en-GB" sz="2800" dirty="0" smtClean="0">
                <a:solidFill>
                  <a:schemeClr val="tx1"/>
                </a:solidFill>
              </a:rPr>
              <a:t>    if(</a:t>
            </a:r>
            <a:r>
              <a:rPr lang="en-GB" sz="2800" dirty="0" err="1" smtClean="0">
                <a:solidFill>
                  <a:schemeClr val="tx1"/>
                </a:solidFill>
              </a:rPr>
              <a:t>i</a:t>
            </a:r>
            <a:r>
              <a:rPr lang="en-GB" sz="2800" dirty="0" smtClean="0">
                <a:solidFill>
                  <a:schemeClr val="tx1"/>
                </a:solidFill>
              </a:rPr>
              <a:t>&lt;n)</a:t>
            </a:r>
          </a:p>
          <a:p>
            <a:pPr algn="just"/>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("Element found at index %</a:t>
            </a:r>
            <a:r>
              <a:rPr lang="en-GB" sz="2800" dirty="0" err="1" smtClean="0">
                <a:solidFill>
                  <a:schemeClr val="tx1"/>
                </a:solidFill>
              </a:rPr>
              <a:t>d",i</a:t>
            </a:r>
            <a:r>
              <a:rPr lang="en-GB" sz="2800" dirty="0" smtClean="0">
                <a:solidFill>
                  <a:schemeClr val="tx1"/>
                </a:solidFill>
              </a:rPr>
              <a:t>);</a:t>
            </a:r>
          </a:p>
          <a:p>
            <a:pPr algn="just"/>
            <a:r>
              <a:rPr lang="en-GB" sz="2800" dirty="0" smtClean="0">
                <a:solidFill>
                  <a:schemeClr val="tx1"/>
                </a:solidFill>
              </a:rPr>
              <a:t>    else</a:t>
            </a:r>
          </a:p>
          <a:p>
            <a:pPr algn="just"/>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("Element not found");</a:t>
            </a:r>
          </a:p>
          <a:p>
            <a:pPr algn="just"/>
            <a:endParaRPr lang="en-GB" sz="2800" dirty="0" smtClean="0">
              <a:solidFill>
                <a:schemeClr val="tx1"/>
              </a:solidFill>
            </a:endParaRPr>
          </a:p>
          <a:p>
            <a:pPr algn="just"/>
            <a:r>
              <a:rPr lang="en-GB" sz="2800" dirty="0" smtClean="0">
                <a:solidFill>
                  <a:schemeClr val="tx1"/>
                </a:solidFill>
              </a:rPr>
              <a:t>    </a:t>
            </a:r>
            <a:r>
              <a:rPr lang="en-GB" sz="2800" dirty="0" err="1" smtClean="0">
                <a:solidFill>
                  <a:schemeClr val="tx1"/>
                </a:solidFill>
              </a:rPr>
              <a:t>getch</a:t>
            </a:r>
            <a:r>
              <a:rPr lang="en-GB" sz="2800" dirty="0" smtClean="0">
                <a:solidFill>
                  <a:schemeClr val="tx1"/>
                </a:solidFill>
              </a:rPr>
              <a:t>();</a:t>
            </a:r>
          </a:p>
          <a:p>
            <a:pPr algn="just"/>
            <a:r>
              <a:rPr lang="en-GB" sz="2800" dirty="0" smtClean="0">
                <a:solidFill>
                  <a:schemeClr val="tx1"/>
                </a:solidFill>
              </a:rPr>
              <a:t>}</a:t>
            </a: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Binary Search</a:t>
            </a:r>
            <a:endParaRPr lang="en-US" b="1" dirty="0"/>
          </a:p>
        </p:txBody>
      </p:sp>
      <p:sp>
        <p:nvSpPr>
          <p:cNvPr id="3" name="Subtitle 2"/>
          <p:cNvSpPr>
            <a:spLocks noGrp="1"/>
          </p:cNvSpPr>
          <p:nvPr>
            <p:ph type="subTitle" idx="1"/>
          </p:nvPr>
        </p:nvSpPr>
        <p:spPr>
          <a:xfrm>
            <a:off x="685800" y="857250"/>
            <a:ext cx="7848600" cy="4057650"/>
          </a:xfrm>
        </p:spPr>
        <p:txBody>
          <a:bodyPr>
            <a:normAutofit fontScale="77500" lnSpcReduction="20000"/>
          </a:bodyPr>
          <a:lstStyle/>
          <a:p>
            <a:pPr algn="just"/>
            <a:r>
              <a:rPr lang="en-GB" sz="2800" b="1" dirty="0" smtClean="0">
                <a:solidFill>
                  <a:schemeClr val="tx1"/>
                </a:solidFill>
              </a:rPr>
              <a:t>Search a sorted array by repeatedly dividing the search interval in half is called Binary Search.</a:t>
            </a:r>
            <a:endParaRPr lang="en-US" sz="2800" b="1" dirty="0" smtClean="0">
              <a:solidFill>
                <a:schemeClr val="tx1"/>
              </a:solidFill>
            </a:endParaRPr>
          </a:p>
          <a:p>
            <a:pPr algn="just"/>
            <a:r>
              <a:rPr lang="en-US" sz="2800" dirty="0" smtClean="0">
                <a:solidFill>
                  <a:schemeClr val="tx1"/>
                </a:solidFill>
              </a:rPr>
              <a:t>Binary search is a searching algorithm that works efficiently with a sorted list. The mechanism of binary search can be better understood by an analogy of a telephone directory. </a:t>
            </a:r>
          </a:p>
          <a:p>
            <a:pPr algn="just"/>
            <a:endParaRPr lang="en-US" sz="2800" dirty="0" smtClean="0">
              <a:solidFill>
                <a:schemeClr val="tx1"/>
              </a:solidFill>
            </a:endParaRPr>
          </a:p>
          <a:p>
            <a:pPr algn="just"/>
            <a:r>
              <a:rPr lang="en-US" sz="2800" dirty="0" smtClean="0">
                <a:solidFill>
                  <a:schemeClr val="tx1"/>
                </a:solidFill>
              </a:rPr>
              <a:t>When we are searching for a particular name in a directory, we first open the directory from the middle and then decide whether to look for the name in the first part of the directory or in the second part of the directory. </a:t>
            </a:r>
          </a:p>
          <a:p>
            <a:pPr algn="just"/>
            <a:endParaRPr lang="en-US" sz="2800" dirty="0" smtClean="0">
              <a:solidFill>
                <a:schemeClr val="tx1"/>
              </a:solidFill>
            </a:endParaRPr>
          </a:p>
          <a:p>
            <a:pPr algn="just"/>
            <a:r>
              <a:rPr lang="en-US" sz="2800" dirty="0" smtClean="0">
                <a:solidFill>
                  <a:schemeClr val="tx1"/>
                </a:solidFill>
              </a:rPr>
              <a:t>Again, we open some page in the middle and the whole process is repeated until we finally find the right name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Binary Search</a:t>
            </a:r>
            <a:endParaRPr lang="en-US" b="1" dirty="0"/>
          </a:p>
        </p:txBody>
      </p:sp>
      <p:sp>
        <p:nvSpPr>
          <p:cNvPr id="3" name="Subtitle 2"/>
          <p:cNvSpPr>
            <a:spLocks noGrp="1"/>
          </p:cNvSpPr>
          <p:nvPr>
            <p:ph type="subTitle" idx="1"/>
          </p:nvPr>
        </p:nvSpPr>
        <p:spPr>
          <a:xfrm>
            <a:off x="685800" y="857250"/>
            <a:ext cx="7848600" cy="4057650"/>
          </a:xfrm>
        </p:spPr>
        <p:txBody>
          <a:bodyPr>
            <a:normAutofit fontScale="92500" lnSpcReduction="20000"/>
          </a:bodyPr>
          <a:lstStyle/>
          <a:p>
            <a:pPr algn="just"/>
            <a:r>
              <a:rPr lang="en-US" sz="2800" dirty="0" smtClean="0">
                <a:solidFill>
                  <a:schemeClr val="tx1"/>
                </a:solidFill>
              </a:rPr>
              <a:t>Now, let us consider how this mechanism is applied to search for a value in a sorted array.</a:t>
            </a:r>
          </a:p>
          <a:p>
            <a:pPr algn="just"/>
            <a:r>
              <a:rPr lang="en-US" sz="2800" dirty="0" smtClean="0">
                <a:solidFill>
                  <a:schemeClr val="tx1"/>
                </a:solidFill>
              </a:rPr>
              <a:t>Consider an array A[] that is declared and initialized as </a:t>
            </a:r>
            <a:r>
              <a:rPr lang="en-US" sz="2800" dirty="0" err="1" smtClean="0">
                <a:solidFill>
                  <a:schemeClr val="tx1"/>
                </a:solidFill>
              </a:rPr>
              <a:t>int</a:t>
            </a:r>
            <a:r>
              <a:rPr lang="en-US" sz="2800" dirty="0" smtClean="0">
                <a:solidFill>
                  <a:schemeClr val="tx1"/>
                </a:solidFill>
              </a:rPr>
              <a:t> A[] = {0, 1, 2, 3, 4, 5, 6, 7, 8, 9, 10};</a:t>
            </a:r>
          </a:p>
          <a:p>
            <a:pPr algn="just"/>
            <a:r>
              <a:rPr lang="en-US" sz="2800" dirty="0" smtClean="0">
                <a:solidFill>
                  <a:schemeClr val="tx1"/>
                </a:solidFill>
              </a:rPr>
              <a:t>and the value to be searched is VAL = 9. The algorithm will proceed in the following manner.</a:t>
            </a:r>
          </a:p>
          <a:p>
            <a:pPr algn="just"/>
            <a:r>
              <a:rPr lang="da-DK" sz="2800" dirty="0" smtClean="0">
                <a:solidFill>
                  <a:schemeClr val="tx1"/>
                </a:solidFill>
              </a:rPr>
              <a:t>BEG = 0, END = 10, MID = (0 + 10)/2 = 5</a:t>
            </a:r>
          </a:p>
          <a:p>
            <a:pPr algn="just"/>
            <a:r>
              <a:rPr lang="en-US" sz="2800" dirty="0" smtClean="0">
                <a:solidFill>
                  <a:schemeClr val="tx1"/>
                </a:solidFill>
              </a:rPr>
              <a:t>Now, VAL = 9 and A[MID] = A[5] = 5</a:t>
            </a:r>
          </a:p>
          <a:p>
            <a:pPr algn="just"/>
            <a:r>
              <a:rPr lang="en-US" sz="2800" dirty="0" smtClean="0">
                <a:solidFill>
                  <a:schemeClr val="tx1"/>
                </a:solidFill>
              </a:rPr>
              <a:t>A[5] is less than VAL, therefore, we now search for the value in the second half of the array. So, we change the values of BEG and MID.</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Binary Search</a:t>
            </a:r>
            <a:endParaRPr lang="en-US" b="1" dirty="0"/>
          </a:p>
        </p:txBody>
      </p:sp>
      <p:sp>
        <p:nvSpPr>
          <p:cNvPr id="3" name="Subtitle 2"/>
          <p:cNvSpPr>
            <a:spLocks noGrp="1"/>
          </p:cNvSpPr>
          <p:nvPr>
            <p:ph type="subTitle" idx="1"/>
          </p:nvPr>
        </p:nvSpPr>
        <p:spPr>
          <a:xfrm>
            <a:off x="685800" y="857250"/>
            <a:ext cx="7848600" cy="4057650"/>
          </a:xfrm>
        </p:spPr>
        <p:txBody>
          <a:bodyPr>
            <a:normAutofit lnSpcReduction="10000"/>
          </a:bodyPr>
          <a:lstStyle/>
          <a:p>
            <a:pPr algn="just"/>
            <a:r>
              <a:rPr lang="en-US" sz="2800" dirty="0" smtClean="0">
                <a:solidFill>
                  <a:schemeClr val="tx1"/>
                </a:solidFill>
              </a:rPr>
              <a:t>Now, BEG = MID + 1 = 6, END = 10, MID = (6 + 10)/2 =16/2 = 8</a:t>
            </a:r>
          </a:p>
          <a:p>
            <a:pPr algn="just"/>
            <a:r>
              <a:rPr lang="en-US" sz="2800" dirty="0" smtClean="0">
                <a:solidFill>
                  <a:schemeClr val="tx1"/>
                </a:solidFill>
              </a:rPr>
              <a:t>VAL = 9 and A[MID] = A[8] = 8</a:t>
            </a:r>
          </a:p>
          <a:p>
            <a:pPr algn="just"/>
            <a:r>
              <a:rPr lang="en-US" sz="2800" dirty="0" smtClean="0">
                <a:solidFill>
                  <a:schemeClr val="tx1"/>
                </a:solidFill>
              </a:rPr>
              <a:t>A[8] is less than VAL, therefore, we now search for the value in the second half of the segment.</a:t>
            </a:r>
          </a:p>
          <a:p>
            <a:pPr algn="just"/>
            <a:r>
              <a:rPr lang="en-US" sz="2800" dirty="0" smtClean="0">
                <a:solidFill>
                  <a:schemeClr val="tx1"/>
                </a:solidFill>
              </a:rPr>
              <a:t>So, again we change the values of BEG and MID.</a:t>
            </a:r>
          </a:p>
          <a:p>
            <a:pPr algn="just"/>
            <a:r>
              <a:rPr lang="en-US" sz="2800" dirty="0" smtClean="0">
                <a:solidFill>
                  <a:schemeClr val="tx1"/>
                </a:solidFill>
              </a:rPr>
              <a:t>Now, BEG = MID + 1 = 9, END = 10, MID = (9 + 10)/2 = 9</a:t>
            </a:r>
          </a:p>
          <a:p>
            <a:pPr algn="just"/>
            <a:r>
              <a:rPr lang="en-US" sz="2800" dirty="0" smtClean="0">
                <a:solidFill>
                  <a:schemeClr val="tx1"/>
                </a:solidFill>
              </a:rPr>
              <a:t>Now, VAL = 9 and A[MID] = 9.</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Binary Search</a:t>
            </a:r>
            <a:endParaRPr lang="en-US" b="1" dirty="0"/>
          </a:p>
        </p:txBody>
      </p:sp>
      <p:sp>
        <p:nvSpPr>
          <p:cNvPr id="3" name="Subtitle 2"/>
          <p:cNvSpPr>
            <a:spLocks noGrp="1"/>
          </p:cNvSpPr>
          <p:nvPr>
            <p:ph type="subTitle" idx="1"/>
          </p:nvPr>
        </p:nvSpPr>
        <p:spPr>
          <a:xfrm>
            <a:off x="685800" y="857250"/>
            <a:ext cx="7848600" cy="4057650"/>
          </a:xfrm>
        </p:spPr>
        <p:txBody>
          <a:bodyPr>
            <a:noAutofit/>
          </a:bodyPr>
          <a:lstStyle/>
          <a:p>
            <a:pPr algn="just"/>
            <a:r>
              <a:rPr lang="en-US" sz="1050" dirty="0" smtClean="0">
                <a:solidFill>
                  <a:schemeClr val="tx1"/>
                </a:solidFill>
              </a:rPr>
              <a:t>#include&lt;</a:t>
            </a:r>
            <a:r>
              <a:rPr lang="en-US" sz="1050" dirty="0" err="1" smtClean="0">
                <a:solidFill>
                  <a:schemeClr val="tx1"/>
                </a:solidFill>
              </a:rPr>
              <a:t>stdio.h</a:t>
            </a:r>
            <a:r>
              <a:rPr lang="en-US" sz="1050" dirty="0" smtClean="0">
                <a:solidFill>
                  <a:schemeClr val="tx1"/>
                </a:solidFill>
              </a:rPr>
              <a:t>&gt;</a:t>
            </a:r>
          </a:p>
          <a:p>
            <a:pPr algn="just"/>
            <a:r>
              <a:rPr lang="en-US" sz="1050" dirty="0" smtClean="0">
                <a:solidFill>
                  <a:schemeClr val="tx1"/>
                </a:solidFill>
              </a:rPr>
              <a:t>#include&lt;</a:t>
            </a:r>
            <a:r>
              <a:rPr lang="en-US" sz="1050" dirty="0" err="1" smtClean="0">
                <a:solidFill>
                  <a:schemeClr val="tx1"/>
                </a:solidFill>
              </a:rPr>
              <a:t>conio.h</a:t>
            </a:r>
            <a:r>
              <a:rPr lang="en-US" sz="1050" dirty="0" smtClean="0">
                <a:solidFill>
                  <a:schemeClr val="tx1"/>
                </a:solidFill>
              </a:rPr>
              <a:t>&gt;</a:t>
            </a:r>
          </a:p>
          <a:p>
            <a:pPr algn="just"/>
            <a:endParaRPr lang="en-US" sz="1050" dirty="0" smtClean="0">
              <a:solidFill>
                <a:schemeClr val="tx1"/>
              </a:solidFill>
            </a:endParaRPr>
          </a:p>
          <a:p>
            <a:pPr algn="just"/>
            <a:r>
              <a:rPr lang="en-US" sz="1050" dirty="0" smtClean="0">
                <a:solidFill>
                  <a:schemeClr val="tx1"/>
                </a:solidFill>
              </a:rPr>
              <a:t>void main()</a:t>
            </a:r>
          </a:p>
          <a:p>
            <a:pPr algn="just"/>
            <a:r>
              <a:rPr lang="en-US" sz="1050" dirty="0" smtClean="0">
                <a:solidFill>
                  <a:schemeClr val="tx1"/>
                </a:solidFill>
              </a:rPr>
              <a:t>{</a:t>
            </a:r>
          </a:p>
          <a:p>
            <a:pPr algn="just"/>
            <a:r>
              <a:rPr lang="en-US" sz="1050" dirty="0" smtClean="0">
                <a:solidFill>
                  <a:schemeClr val="tx1"/>
                </a:solidFill>
              </a:rPr>
              <a:t>  </a:t>
            </a:r>
            <a:r>
              <a:rPr lang="en-US" sz="1050" dirty="0" err="1" smtClean="0">
                <a:solidFill>
                  <a:schemeClr val="tx1"/>
                </a:solidFill>
              </a:rPr>
              <a:t>int</a:t>
            </a:r>
            <a:r>
              <a:rPr lang="en-US" sz="1050" dirty="0" smtClean="0">
                <a:solidFill>
                  <a:schemeClr val="tx1"/>
                </a:solidFill>
              </a:rPr>
              <a:t> c, first, last, middle, n, search, array[100];</a:t>
            </a:r>
          </a:p>
          <a:p>
            <a:pPr algn="just"/>
            <a:endParaRPr lang="en-US" sz="1050" dirty="0" smtClean="0">
              <a:solidFill>
                <a:schemeClr val="tx1"/>
              </a:solidFill>
            </a:endParaRPr>
          </a:p>
          <a:p>
            <a:pPr algn="just"/>
            <a:r>
              <a:rPr lang="en-US" sz="1050" dirty="0" smtClean="0">
                <a:solidFill>
                  <a:schemeClr val="tx1"/>
                </a:solidFill>
              </a:rPr>
              <a:t>  </a:t>
            </a:r>
            <a:r>
              <a:rPr lang="en-US" sz="1050" dirty="0" err="1" smtClean="0">
                <a:solidFill>
                  <a:schemeClr val="tx1"/>
                </a:solidFill>
              </a:rPr>
              <a:t>printf</a:t>
            </a:r>
            <a:r>
              <a:rPr lang="en-US" sz="1050" dirty="0" smtClean="0">
                <a:solidFill>
                  <a:schemeClr val="tx1"/>
                </a:solidFill>
              </a:rPr>
              <a:t>("Enter number of elements\n");</a:t>
            </a:r>
          </a:p>
          <a:p>
            <a:pPr algn="just"/>
            <a:r>
              <a:rPr lang="en-US" sz="1050" dirty="0" smtClean="0">
                <a:solidFill>
                  <a:schemeClr val="tx1"/>
                </a:solidFill>
              </a:rPr>
              <a:t>  </a:t>
            </a:r>
            <a:r>
              <a:rPr lang="en-US" sz="1050" dirty="0" err="1" smtClean="0">
                <a:solidFill>
                  <a:schemeClr val="tx1"/>
                </a:solidFill>
              </a:rPr>
              <a:t>scanf</a:t>
            </a:r>
            <a:r>
              <a:rPr lang="en-US" sz="1050" dirty="0" smtClean="0">
                <a:solidFill>
                  <a:schemeClr val="tx1"/>
                </a:solidFill>
              </a:rPr>
              <a:t>("%d", &amp;n);</a:t>
            </a:r>
          </a:p>
          <a:p>
            <a:pPr algn="just"/>
            <a:endParaRPr lang="en-US" sz="1050" dirty="0" smtClean="0">
              <a:solidFill>
                <a:schemeClr val="tx1"/>
              </a:solidFill>
            </a:endParaRPr>
          </a:p>
          <a:p>
            <a:pPr algn="just"/>
            <a:r>
              <a:rPr lang="en-US" sz="1050" dirty="0" smtClean="0">
                <a:solidFill>
                  <a:schemeClr val="tx1"/>
                </a:solidFill>
              </a:rPr>
              <a:t>  </a:t>
            </a:r>
            <a:r>
              <a:rPr lang="en-US" sz="1050" dirty="0" err="1" smtClean="0">
                <a:solidFill>
                  <a:schemeClr val="tx1"/>
                </a:solidFill>
              </a:rPr>
              <a:t>printf</a:t>
            </a:r>
            <a:r>
              <a:rPr lang="en-US" sz="1050" dirty="0" smtClean="0">
                <a:solidFill>
                  <a:schemeClr val="tx1"/>
                </a:solidFill>
              </a:rPr>
              <a:t>("Enter %d integers\n", n);</a:t>
            </a:r>
          </a:p>
          <a:p>
            <a:pPr algn="just"/>
            <a:endParaRPr lang="en-US" sz="1050" dirty="0" smtClean="0">
              <a:solidFill>
                <a:schemeClr val="tx1"/>
              </a:solidFill>
            </a:endParaRPr>
          </a:p>
          <a:p>
            <a:pPr algn="just"/>
            <a:r>
              <a:rPr lang="en-US" sz="1050" dirty="0" smtClean="0">
                <a:solidFill>
                  <a:schemeClr val="tx1"/>
                </a:solidFill>
              </a:rPr>
              <a:t>  for (c = 0; c &lt; n; </a:t>
            </a:r>
            <a:r>
              <a:rPr lang="en-US" sz="1050" dirty="0" err="1" smtClean="0">
                <a:solidFill>
                  <a:schemeClr val="tx1"/>
                </a:solidFill>
              </a:rPr>
              <a:t>c++</a:t>
            </a:r>
            <a:r>
              <a:rPr lang="en-US" sz="1050" dirty="0" smtClean="0">
                <a:solidFill>
                  <a:schemeClr val="tx1"/>
                </a:solidFill>
              </a:rPr>
              <a:t>)</a:t>
            </a:r>
          </a:p>
          <a:p>
            <a:pPr algn="just"/>
            <a:r>
              <a:rPr lang="en-US" sz="1050" dirty="0" smtClean="0">
                <a:solidFill>
                  <a:schemeClr val="tx1"/>
                </a:solidFill>
              </a:rPr>
              <a:t>    </a:t>
            </a:r>
            <a:r>
              <a:rPr lang="en-US" sz="1050" dirty="0" err="1" smtClean="0">
                <a:solidFill>
                  <a:schemeClr val="tx1"/>
                </a:solidFill>
              </a:rPr>
              <a:t>scanf</a:t>
            </a:r>
            <a:r>
              <a:rPr lang="en-US" sz="1050" dirty="0" smtClean="0">
                <a:solidFill>
                  <a:schemeClr val="tx1"/>
                </a:solidFill>
              </a:rPr>
              <a:t>("%d", &amp;array[c]);</a:t>
            </a:r>
          </a:p>
          <a:p>
            <a:pPr algn="just"/>
            <a:endParaRPr lang="en-US" sz="1050" dirty="0" smtClean="0">
              <a:solidFill>
                <a:schemeClr val="tx1"/>
              </a:solidFill>
            </a:endParaRPr>
          </a:p>
          <a:p>
            <a:pPr algn="just"/>
            <a:r>
              <a:rPr lang="en-US" sz="1050" dirty="0" smtClean="0">
                <a:solidFill>
                  <a:schemeClr val="tx1"/>
                </a:solidFill>
              </a:rPr>
              <a:t>  </a:t>
            </a:r>
            <a:r>
              <a:rPr lang="en-US" sz="1050" dirty="0" err="1" smtClean="0">
                <a:solidFill>
                  <a:schemeClr val="tx1"/>
                </a:solidFill>
              </a:rPr>
              <a:t>printf</a:t>
            </a:r>
            <a:r>
              <a:rPr lang="en-US" sz="1050" dirty="0" smtClean="0">
                <a:solidFill>
                  <a:schemeClr val="tx1"/>
                </a:solidFill>
              </a:rPr>
              <a:t>("Enter value to find\n");</a:t>
            </a:r>
          </a:p>
          <a:p>
            <a:pPr algn="just"/>
            <a:r>
              <a:rPr lang="en-US" sz="1050" dirty="0" smtClean="0">
                <a:solidFill>
                  <a:schemeClr val="tx1"/>
                </a:solidFill>
              </a:rPr>
              <a:t>  </a:t>
            </a:r>
            <a:r>
              <a:rPr lang="en-US" sz="1050" dirty="0" err="1" smtClean="0">
                <a:solidFill>
                  <a:schemeClr val="tx1"/>
                </a:solidFill>
              </a:rPr>
              <a:t>scanf</a:t>
            </a:r>
            <a:r>
              <a:rPr lang="en-US" sz="1050" dirty="0" smtClean="0">
                <a:solidFill>
                  <a:schemeClr val="tx1"/>
                </a:solidFill>
              </a:rPr>
              <a:t>("%d", &amp;search);</a:t>
            </a:r>
          </a:p>
          <a:p>
            <a:pPr algn="just"/>
            <a:endParaRPr lang="en-US" sz="1050" dirty="0" smtClean="0">
              <a:solidFill>
                <a:schemeClr val="tx1"/>
              </a:solidFill>
            </a:endParaRPr>
          </a:p>
          <a:p>
            <a:pPr algn="just"/>
            <a:r>
              <a:rPr lang="en-US" sz="1050" dirty="0" smtClean="0">
                <a:solidFill>
                  <a:schemeClr val="tx1"/>
                </a:solidFill>
              </a:rPr>
              <a:t>  first = 0;</a:t>
            </a:r>
          </a:p>
          <a:p>
            <a:pPr algn="just"/>
            <a:r>
              <a:rPr lang="en-US" sz="1050" dirty="0" smtClean="0">
                <a:solidFill>
                  <a:schemeClr val="tx1"/>
                </a:solidFill>
              </a:rPr>
              <a:t>  last = n - 1;</a:t>
            </a:r>
          </a:p>
          <a:p>
            <a:pPr algn="just"/>
            <a:r>
              <a:rPr lang="en-US" sz="1050" dirty="0" smtClean="0">
                <a:solidFill>
                  <a:schemeClr val="tx1"/>
                </a:solidFill>
              </a:rPr>
              <a:t>  middle = (</a:t>
            </a:r>
            <a:r>
              <a:rPr lang="en-US" sz="1050" dirty="0" err="1" smtClean="0">
                <a:solidFill>
                  <a:schemeClr val="tx1"/>
                </a:solidFill>
              </a:rPr>
              <a:t>first+last</a:t>
            </a:r>
            <a:r>
              <a:rPr lang="en-US" sz="1050" dirty="0" smtClean="0">
                <a:solidFill>
                  <a:schemeClr val="tx1"/>
                </a:solidFill>
              </a:rPr>
              <a:t>)/2;</a:t>
            </a:r>
          </a:p>
          <a:p>
            <a:pPr algn="just"/>
            <a:endParaRPr lang="en-US" sz="1050" dirty="0" smtClean="0">
              <a:solidFill>
                <a:schemeClr val="tx1"/>
              </a:solidFil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Binary Search</a:t>
            </a:r>
            <a:endParaRPr lang="en-US" b="1" dirty="0"/>
          </a:p>
        </p:txBody>
      </p:sp>
      <p:sp>
        <p:nvSpPr>
          <p:cNvPr id="3" name="Subtitle 2"/>
          <p:cNvSpPr>
            <a:spLocks noGrp="1"/>
          </p:cNvSpPr>
          <p:nvPr>
            <p:ph type="subTitle" idx="1"/>
          </p:nvPr>
        </p:nvSpPr>
        <p:spPr>
          <a:xfrm>
            <a:off x="685800" y="857250"/>
            <a:ext cx="7848600" cy="4057650"/>
          </a:xfrm>
        </p:spPr>
        <p:txBody>
          <a:bodyPr>
            <a:normAutofit fontScale="40000" lnSpcReduction="20000"/>
          </a:bodyPr>
          <a:lstStyle/>
          <a:p>
            <a:pPr algn="just"/>
            <a:r>
              <a:rPr lang="en-GB" sz="2800" dirty="0" smtClean="0">
                <a:solidFill>
                  <a:schemeClr val="tx1"/>
                </a:solidFill>
              </a:rPr>
              <a:t>while (first &lt;= last)</a:t>
            </a:r>
          </a:p>
          <a:p>
            <a:pPr algn="just"/>
            <a:r>
              <a:rPr lang="en-GB" sz="2800" dirty="0" smtClean="0">
                <a:solidFill>
                  <a:schemeClr val="tx1"/>
                </a:solidFill>
              </a:rPr>
              <a:t>  {</a:t>
            </a:r>
          </a:p>
          <a:p>
            <a:pPr algn="just"/>
            <a:r>
              <a:rPr lang="en-GB" sz="2800" dirty="0" smtClean="0">
                <a:solidFill>
                  <a:schemeClr val="tx1"/>
                </a:solidFill>
              </a:rPr>
              <a:t>    if (array[middle] &lt; search)</a:t>
            </a:r>
          </a:p>
          <a:p>
            <a:pPr algn="just"/>
            <a:r>
              <a:rPr lang="en-GB" sz="2800" dirty="0" smtClean="0">
                <a:solidFill>
                  <a:schemeClr val="tx1"/>
                </a:solidFill>
              </a:rPr>
              <a:t>    {</a:t>
            </a:r>
          </a:p>
          <a:p>
            <a:pPr algn="just"/>
            <a:r>
              <a:rPr lang="en-GB" sz="2800" dirty="0" smtClean="0">
                <a:solidFill>
                  <a:schemeClr val="tx1"/>
                </a:solidFill>
              </a:rPr>
              <a:t>      first = middle + 1;</a:t>
            </a:r>
          </a:p>
          <a:p>
            <a:pPr algn="just"/>
            <a:r>
              <a:rPr lang="en-GB" sz="2800" dirty="0" smtClean="0">
                <a:solidFill>
                  <a:schemeClr val="tx1"/>
                </a:solidFill>
              </a:rPr>
              <a:t>    }  </a:t>
            </a:r>
          </a:p>
          <a:p>
            <a:pPr algn="just"/>
            <a:r>
              <a:rPr lang="en-GB" sz="2800" dirty="0" smtClean="0">
                <a:solidFill>
                  <a:schemeClr val="tx1"/>
                </a:solidFill>
              </a:rPr>
              <a:t>    else if (array[middle] == search)</a:t>
            </a:r>
          </a:p>
          <a:p>
            <a:pPr algn="just"/>
            <a:r>
              <a:rPr lang="en-GB" sz="2800" dirty="0" smtClean="0">
                <a:solidFill>
                  <a:schemeClr val="tx1"/>
                </a:solidFill>
              </a:rPr>
              <a:t>    {</a:t>
            </a:r>
          </a:p>
          <a:p>
            <a:pPr algn="just"/>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("%d found at location %d.\n", search, middle+1);</a:t>
            </a:r>
          </a:p>
          <a:p>
            <a:pPr algn="just"/>
            <a:r>
              <a:rPr lang="en-GB" sz="2800" dirty="0" smtClean="0">
                <a:solidFill>
                  <a:schemeClr val="tx1"/>
                </a:solidFill>
              </a:rPr>
              <a:t>      break;</a:t>
            </a:r>
          </a:p>
          <a:p>
            <a:pPr algn="just"/>
            <a:r>
              <a:rPr lang="en-GB" sz="2800" dirty="0" smtClean="0">
                <a:solidFill>
                  <a:schemeClr val="tx1"/>
                </a:solidFill>
              </a:rPr>
              <a:t>    }</a:t>
            </a:r>
          </a:p>
          <a:p>
            <a:pPr algn="just"/>
            <a:r>
              <a:rPr lang="en-GB" sz="2800" dirty="0" smtClean="0">
                <a:solidFill>
                  <a:schemeClr val="tx1"/>
                </a:solidFill>
              </a:rPr>
              <a:t>    else</a:t>
            </a:r>
          </a:p>
          <a:p>
            <a:pPr algn="just"/>
            <a:r>
              <a:rPr lang="en-GB" sz="2800" dirty="0" smtClean="0">
                <a:solidFill>
                  <a:schemeClr val="tx1"/>
                </a:solidFill>
              </a:rPr>
              <a:t>    {</a:t>
            </a:r>
          </a:p>
          <a:p>
            <a:pPr algn="just"/>
            <a:r>
              <a:rPr lang="en-GB" sz="2800" dirty="0" smtClean="0">
                <a:solidFill>
                  <a:schemeClr val="tx1"/>
                </a:solidFill>
              </a:rPr>
              <a:t>      last = middle - 1;</a:t>
            </a:r>
          </a:p>
          <a:p>
            <a:pPr algn="just"/>
            <a:r>
              <a:rPr lang="en-GB" sz="2800" dirty="0" smtClean="0">
                <a:solidFill>
                  <a:schemeClr val="tx1"/>
                </a:solidFill>
              </a:rPr>
              <a:t>    }</a:t>
            </a:r>
          </a:p>
          <a:p>
            <a:pPr algn="just"/>
            <a:r>
              <a:rPr lang="en-GB" sz="2800" dirty="0" smtClean="0">
                <a:solidFill>
                  <a:schemeClr val="tx1"/>
                </a:solidFill>
              </a:rPr>
              <a:t>    middle = (first + last)/2;</a:t>
            </a:r>
          </a:p>
          <a:p>
            <a:pPr algn="just"/>
            <a:r>
              <a:rPr lang="en-GB" sz="2800" dirty="0" smtClean="0">
                <a:solidFill>
                  <a:schemeClr val="tx1"/>
                </a:solidFill>
              </a:rPr>
              <a:t>  }</a:t>
            </a:r>
          </a:p>
          <a:p>
            <a:pPr algn="just"/>
            <a:r>
              <a:rPr lang="en-GB" sz="2800" dirty="0" smtClean="0">
                <a:solidFill>
                  <a:schemeClr val="tx1"/>
                </a:solidFill>
              </a:rPr>
              <a:t>  if (first &gt; last)</a:t>
            </a:r>
          </a:p>
          <a:p>
            <a:pPr algn="just"/>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("Not found! %d isn't present in the list.\n", search);</a:t>
            </a:r>
          </a:p>
          <a:p>
            <a:pPr algn="just"/>
            <a:endParaRPr lang="en-GB" sz="2800" dirty="0" smtClean="0">
              <a:solidFill>
                <a:schemeClr val="tx1"/>
              </a:solidFill>
            </a:endParaRPr>
          </a:p>
          <a:p>
            <a:pPr algn="just"/>
            <a:r>
              <a:rPr lang="en-GB" sz="2800" dirty="0" smtClean="0">
                <a:solidFill>
                  <a:schemeClr val="tx1"/>
                </a:solidFill>
              </a:rPr>
              <a:t>  </a:t>
            </a:r>
            <a:r>
              <a:rPr lang="en-GB" sz="2800" dirty="0" err="1" smtClean="0">
                <a:solidFill>
                  <a:schemeClr val="tx1"/>
                </a:solidFill>
              </a:rPr>
              <a:t>getch</a:t>
            </a:r>
            <a:r>
              <a:rPr lang="en-GB" sz="2800" dirty="0" smtClean="0">
                <a:solidFill>
                  <a:schemeClr val="tx1"/>
                </a:solidFill>
              </a:rPr>
              <a:t>();</a:t>
            </a:r>
          </a:p>
          <a:p>
            <a:pPr algn="just"/>
            <a:r>
              <a:rPr lang="en-GB" sz="2800" dirty="0" smtClean="0">
                <a:solidFill>
                  <a:schemeClr val="tx1"/>
                </a:solidFill>
              </a:rPr>
              <a:t>}</a:t>
            </a: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Autofit/>
          </a:bodyPr>
          <a:lstStyle/>
          <a:p>
            <a:r>
              <a:rPr lang="en-US" sz="2400" b="1" dirty="0" smtClean="0"/>
              <a:t>Difference Between Linear Search and Binary Search</a:t>
            </a:r>
            <a:endParaRPr lang="en-US" sz="2400"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4" name="Picture 3" descr="linfinal.JPG"/>
          <p:cNvPicPr>
            <a:picLocks noChangeAspect="1"/>
          </p:cNvPicPr>
          <p:nvPr/>
        </p:nvPicPr>
        <p:blipFill>
          <a:blip r:embed="rId2"/>
          <a:stretch>
            <a:fillRect/>
          </a:stretch>
        </p:blipFill>
        <p:spPr>
          <a:xfrm>
            <a:off x="1524000" y="685800"/>
            <a:ext cx="5486400" cy="421069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Hashing  </a:t>
            </a:r>
            <a:endParaRPr lang="en-US" dirty="0"/>
          </a:p>
        </p:txBody>
      </p:sp>
      <p:sp>
        <p:nvSpPr>
          <p:cNvPr id="3" name="Subtitle 2"/>
          <p:cNvSpPr>
            <a:spLocks noGrp="1"/>
          </p:cNvSpPr>
          <p:nvPr>
            <p:ph type="subTitle" idx="1"/>
          </p:nvPr>
        </p:nvSpPr>
        <p:spPr>
          <a:xfrm>
            <a:off x="685800" y="857250"/>
            <a:ext cx="7848600" cy="4057650"/>
          </a:xfrm>
        </p:spPr>
        <p:txBody>
          <a:bodyPr>
            <a:normAutofit fontScale="85000" lnSpcReduction="20000"/>
          </a:bodyPr>
          <a:lstStyle/>
          <a:p>
            <a:pPr algn="just"/>
            <a:r>
              <a:rPr lang="en-US" sz="2800" dirty="0" smtClean="0">
                <a:solidFill>
                  <a:schemeClr val="tx1"/>
                </a:solidFill>
              </a:rPr>
              <a:t>Hashing is a fundamental concept in computer science used for efficient data storage and retrieval. It involves mapping data of arbitrary size to fixed-size values, typically integers, known as hash codes or hash values. The primary purpose of hashing is to quickly locate a data record (or bucket) regardless of the size of the dataset.</a:t>
            </a:r>
          </a:p>
          <a:p>
            <a:pPr algn="just"/>
            <a:r>
              <a:rPr lang="en-US" sz="2800" dirty="0" smtClean="0">
                <a:solidFill>
                  <a:schemeClr val="tx1"/>
                </a:solidFill>
              </a:rPr>
              <a:t> </a:t>
            </a:r>
          </a:p>
          <a:p>
            <a:pPr algn="just"/>
            <a:r>
              <a:rPr lang="en-US" sz="2800" dirty="0" smtClean="0">
                <a:solidFill>
                  <a:schemeClr val="tx1"/>
                </a:solidFill>
              </a:rPr>
              <a:t>In hashing, a hash function is used to generate the hash code from the input data. The hash function takes the input data and produces a fixed-size hash code as output. This hash code is used as an index or key to store or retrieve the data in a data structure called a hash table.</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Hashing  </a:t>
            </a:r>
            <a:endParaRPr lang="en-US" dirty="0"/>
          </a:p>
        </p:txBody>
      </p:sp>
      <p:sp>
        <p:nvSpPr>
          <p:cNvPr id="3" name="Subtitle 2"/>
          <p:cNvSpPr>
            <a:spLocks noGrp="1"/>
          </p:cNvSpPr>
          <p:nvPr>
            <p:ph type="subTitle" idx="1"/>
          </p:nvPr>
        </p:nvSpPr>
        <p:spPr>
          <a:xfrm>
            <a:off x="685800" y="857250"/>
            <a:ext cx="7848600" cy="4057650"/>
          </a:xfrm>
        </p:spPr>
        <p:txBody>
          <a:bodyPr>
            <a:normAutofit fontScale="92500" lnSpcReduction="20000"/>
          </a:bodyPr>
          <a:lstStyle/>
          <a:p>
            <a:pPr algn="just"/>
            <a:r>
              <a:rPr lang="en-US" sz="2400" dirty="0" smtClean="0">
                <a:solidFill>
                  <a:schemeClr val="tx1"/>
                </a:solidFill>
              </a:rPr>
              <a:t>Hashing offers several advantages:</a:t>
            </a:r>
          </a:p>
          <a:p>
            <a:pPr algn="just"/>
            <a:r>
              <a:rPr lang="en-US" sz="2400" dirty="0" smtClean="0">
                <a:solidFill>
                  <a:schemeClr val="tx1"/>
                </a:solidFill>
              </a:rPr>
              <a:t> </a:t>
            </a:r>
          </a:p>
          <a:p>
            <a:pPr algn="just"/>
            <a:r>
              <a:rPr lang="en-US" sz="2400" dirty="0" smtClean="0">
                <a:solidFill>
                  <a:schemeClr val="tx1"/>
                </a:solidFill>
              </a:rPr>
              <a:t>Fast Access: Hashing allows for constant-time access to data in the best-case scenario, making it highly efficient for storing and retrieving information.</a:t>
            </a:r>
          </a:p>
          <a:p>
            <a:pPr algn="just"/>
            <a:r>
              <a:rPr lang="en-US" sz="2400" dirty="0" smtClean="0">
                <a:solidFill>
                  <a:schemeClr val="tx1"/>
                </a:solidFill>
              </a:rPr>
              <a:t>Dynamic Data Size: Hashing can handle datasets of varying sizes efficiently, as the size of the hash table can dynamically adjust based on the number of elements stored.</a:t>
            </a:r>
          </a:p>
          <a:p>
            <a:pPr algn="just"/>
            <a:r>
              <a:rPr lang="en-US" sz="2400" dirty="0" smtClean="0">
                <a:solidFill>
                  <a:schemeClr val="tx1"/>
                </a:solidFill>
              </a:rPr>
              <a:t>Collision Handling: Hashing provides mechanisms for handling collisions, which occur when two different data elements produce the same hash code. Techniques such as chaining or open addressing can resolve collisions efficiently.</a:t>
            </a:r>
          </a:p>
          <a:p>
            <a:pPr algn="just"/>
            <a:r>
              <a:rPr lang="en-US" sz="2400" dirty="0" smtClean="0">
                <a:solidFill>
                  <a:schemeClr val="tx1"/>
                </a:solidFill>
              </a:rPr>
              <a:t>Common applications of hashing include:</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Hashing  </a:t>
            </a:r>
            <a:endParaRPr lang="en-US" dirty="0"/>
          </a:p>
        </p:txBody>
      </p:sp>
      <p:sp>
        <p:nvSpPr>
          <p:cNvPr id="3" name="Subtitle 2"/>
          <p:cNvSpPr>
            <a:spLocks noGrp="1"/>
          </p:cNvSpPr>
          <p:nvPr>
            <p:ph type="subTitle" idx="1"/>
          </p:nvPr>
        </p:nvSpPr>
        <p:spPr>
          <a:xfrm>
            <a:off x="685800" y="857250"/>
            <a:ext cx="7848600" cy="4057650"/>
          </a:xfrm>
        </p:spPr>
        <p:txBody>
          <a:bodyPr>
            <a:normAutofit lnSpcReduction="10000"/>
          </a:bodyPr>
          <a:lstStyle/>
          <a:p>
            <a:pPr algn="just"/>
            <a:r>
              <a:rPr lang="en-US" sz="2400" dirty="0" smtClean="0">
                <a:solidFill>
                  <a:schemeClr val="tx1"/>
                </a:solidFill>
              </a:rPr>
              <a:t>Data Storage: Hashing is used in databases and file systems to store and retrieve records quickly.</a:t>
            </a:r>
          </a:p>
          <a:p>
            <a:pPr algn="just"/>
            <a:r>
              <a:rPr lang="en-US" sz="2400" dirty="0" smtClean="0">
                <a:solidFill>
                  <a:schemeClr val="tx1"/>
                </a:solidFill>
              </a:rPr>
              <a:t>Data Retrieval: Hashing is used in data structures such as hash tables, hash maps, and hash sets for fast lookup operations.</a:t>
            </a:r>
          </a:p>
          <a:p>
            <a:pPr algn="just"/>
            <a:r>
              <a:rPr lang="en-US" sz="2400" dirty="0" smtClean="0">
                <a:solidFill>
                  <a:schemeClr val="tx1"/>
                </a:solidFill>
              </a:rPr>
              <a:t>Password Storage: Hashing is used to store passwords securely by converting them into hash codes, making it difficult for attackers to reverse-engineer the original passwords.</a:t>
            </a:r>
          </a:p>
          <a:p>
            <a:pPr algn="just"/>
            <a:r>
              <a:rPr lang="en-US" sz="2400" dirty="0" smtClean="0">
                <a:solidFill>
                  <a:schemeClr val="tx1"/>
                </a:solidFill>
              </a:rPr>
              <a:t>Overall, hashing is a powerful technique used extensively in computer science and software engineering for efficient data storage, retrieval, and security purposes.</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Hashing  </a:t>
            </a:r>
            <a:endParaRPr lang="en-US" dirty="0"/>
          </a:p>
        </p:txBody>
      </p:sp>
      <p:sp>
        <p:nvSpPr>
          <p:cNvPr id="3" name="Subtitle 2"/>
          <p:cNvSpPr>
            <a:spLocks noGrp="1"/>
          </p:cNvSpPr>
          <p:nvPr>
            <p:ph type="subTitle" idx="1"/>
          </p:nvPr>
        </p:nvSpPr>
        <p:spPr>
          <a:xfrm>
            <a:off x="685800" y="857250"/>
            <a:ext cx="7848600" cy="4057650"/>
          </a:xfrm>
        </p:spPr>
        <p:txBody>
          <a:bodyPr>
            <a:normAutofit fontScale="85000" lnSpcReduction="20000"/>
          </a:bodyPr>
          <a:lstStyle/>
          <a:p>
            <a:pPr algn="just"/>
            <a:r>
              <a:rPr lang="en-US" sz="2400" b="1" dirty="0" smtClean="0">
                <a:solidFill>
                  <a:schemeClr val="tx1"/>
                </a:solidFill>
              </a:rPr>
              <a:t>A hash function</a:t>
            </a:r>
            <a:r>
              <a:rPr lang="en-US" sz="2400" dirty="0" smtClean="0">
                <a:solidFill>
                  <a:schemeClr val="tx1"/>
                </a:solidFill>
              </a:rPr>
              <a:t> is a mathematical function that takes an input (or "key") and returns a fixed-size string of bytes, which typically represents a hash code or hash value. The output generated by a hash function is commonly used to index data in hash tables, for cryptographic applications, or for data integrity verification.</a:t>
            </a:r>
          </a:p>
          <a:p>
            <a:pPr algn="just"/>
            <a:r>
              <a:rPr lang="en-US" sz="2400" dirty="0" smtClean="0">
                <a:solidFill>
                  <a:schemeClr val="tx1"/>
                </a:solidFill>
              </a:rPr>
              <a:t> </a:t>
            </a:r>
          </a:p>
          <a:p>
            <a:pPr algn="just"/>
            <a:r>
              <a:rPr lang="en-US" sz="2400" dirty="0" smtClean="0">
                <a:solidFill>
                  <a:schemeClr val="tx1"/>
                </a:solidFill>
              </a:rPr>
              <a:t>A good hash function should have the following properties:</a:t>
            </a:r>
          </a:p>
          <a:p>
            <a:pPr algn="just"/>
            <a:r>
              <a:rPr lang="en-US" sz="2400" dirty="0" smtClean="0">
                <a:solidFill>
                  <a:schemeClr val="tx1"/>
                </a:solidFill>
              </a:rPr>
              <a:t> </a:t>
            </a:r>
          </a:p>
          <a:p>
            <a:pPr algn="just"/>
            <a:r>
              <a:rPr lang="en-US" sz="2400" dirty="0" smtClean="0">
                <a:solidFill>
                  <a:schemeClr val="tx1"/>
                </a:solidFill>
              </a:rPr>
              <a:t>Deterministic: For the same input, a hash function should always produce the same output.</a:t>
            </a:r>
          </a:p>
          <a:p>
            <a:pPr algn="just"/>
            <a:r>
              <a:rPr lang="en-US" sz="2400" dirty="0" smtClean="0">
                <a:solidFill>
                  <a:schemeClr val="tx1"/>
                </a:solidFill>
              </a:rPr>
              <a:t>Fast: The computation of the hash value should be efficient and quick.</a:t>
            </a:r>
          </a:p>
          <a:p>
            <a:pPr algn="just"/>
            <a:r>
              <a:rPr lang="en-US" sz="2400" dirty="0" smtClean="0">
                <a:solidFill>
                  <a:schemeClr val="tx1"/>
                </a:solidFill>
              </a:rPr>
              <a:t>Uniform Distribution: The hash values should be uniformly distributed across the range of possible hash codes, reducing the likelihood of collisions.</a:t>
            </a:r>
            <a:endParaRPr lang="en-US" sz="2400" dirty="0">
              <a:solidFill>
                <a:schemeClr val="tx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Hashing  </a:t>
            </a:r>
            <a:endParaRPr lang="en-US" dirty="0"/>
          </a:p>
        </p:txBody>
      </p:sp>
      <p:sp>
        <p:nvSpPr>
          <p:cNvPr id="3" name="Subtitle 2"/>
          <p:cNvSpPr>
            <a:spLocks noGrp="1"/>
          </p:cNvSpPr>
          <p:nvPr>
            <p:ph type="subTitle" idx="1"/>
          </p:nvPr>
        </p:nvSpPr>
        <p:spPr>
          <a:xfrm>
            <a:off x="685800" y="857250"/>
            <a:ext cx="7848600" cy="4057650"/>
          </a:xfrm>
        </p:spPr>
        <p:txBody>
          <a:bodyPr>
            <a:normAutofit/>
          </a:bodyPr>
          <a:lstStyle/>
          <a:p>
            <a:pPr algn="just"/>
            <a:r>
              <a:rPr lang="en-US" sz="2000" dirty="0" smtClean="0">
                <a:solidFill>
                  <a:schemeClr val="tx1"/>
                </a:solidFill>
              </a:rPr>
              <a:t>Minimal Collisions: A collision occurs when two different inputs produce the same hash value. A good hash function should minimize the number of collisions.</a:t>
            </a:r>
          </a:p>
          <a:p>
            <a:pPr algn="just"/>
            <a:r>
              <a:rPr lang="en-US" sz="2000" dirty="0" smtClean="0">
                <a:solidFill>
                  <a:schemeClr val="tx1"/>
                </a:solidFill>
              </a:rPr>
              <a:t>Avalanche Effect: A small change in the input should result in a significantly different hash value.</a:t>
            </a:r>
            <a:endParaRPr lang="en-US" sz="2000" dirty="0">
              <a:solidFill>
                <a:schemeClr val="tx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Collision Resolution Techniques</a:t>
            </a:r>
            <a:endParaRPr lang="en-US" dirty="0"/>
          </a:p>
        </p:txBody>
      </p:sp>
      <p:sp>
        <p:nvSpPr>
          <p:cNvPr id="3" name="Subtitle 2"/>
          <p:cNvSpPr>
            <a:spLocks noGrp="1"/>
          </p:cNvSpPr>
          <p:nvPr>
            <p:ph type="subTitle" idx="1"/>
          </p:nvPr>
        </p:nvSpPr>
        <p:spPr>
          <a:xfrm>
            <a:off x="685800" y="857250"/>
            <a:ext cx="7848600" cy="4057650"/>
          </a:xfrm>
        </p:spPr>
        <p:txBody>
          <a:bodyPr>
            <a:normAutofit fontScale="62500" lnSpcReduction="20000"/>
          </a:bodyPr>
          <a:lstStyle/>
          <a:p>
            <a:pPr algn="just"/>
            <a:r>
              <a:rPr lang="en-US" sz="2000" dirty="0" smtClean="0">
                <a:solidFill>
                  <a:schemeClr val="tx1"/>
                </a:solidFill>
              </a:rPr>
              <a:t>Collision resolution techniques are methods used to handle collisions that occur when two different keys hash to the same index in a hash table. There are several collision resolution techniques, two of the most common ones being open addressing and chaining.</a:t>
            </a:r>
          </a:p>
          <a:p>
            <a:pPr algn="just"/>
            <a:r>
              <a:rPr lang="en-US" sz="2000" dirty="0" smtClean="0">
                <a:solidFill>
                  <a:schemeClr val="tx1"/>
                </a:solidFill>
              </a:rPr>
              <a:t> </a:t>
            </a:r>
          </a:p>
          <a:p>
            <a:pPr algn="just"/>
            <a:r>
              <a:rPr lang="en-US" sz="2000" b="1" dirty="0" smtClean="0">
                <a:solidFill>
                  <a:schemeClr val="tx1"/>
                </a:solidFill>
              </a:rPr>
              <a:t>Open Addressing:</a:t>
            </a:r>
          </a:p>
          <a:p>
            <a:pPr algn="just"/>
            <a:r>
              <a:rPr lang="en-US" sz="2000" dirty="0" smtClean="0">
                <a:solidFill>
                  <a:schemeClr val="tx1"/>
                </a:solidFill>
              </a:rPr>
              <a:t> </a:t>
            </a:r>
          </a:p>
          <a:p>
            <a:pPr algn="just"/>
            <a:r>
              <a:rPr lang="en-US" sz="2000" dirty="0" smtClean="0">
                <a:solidFill>
                  <a:schemeClr val="tx1"/>
                </a:solidFill>
              </a:rPr>
              <a:t>In open addressing, also known as closed hashing, when a collision occurs, the algorithm probes the table for another empty slot to place the collided element.</a:t>
            </a:r>
          </a:p>
          <a:p>
            <a:pPr algn="just"/>
            <a:r>
              <a:rPr lang="en-US" sz="2000" dirty="0" smtClean="0">
                <a:solidFill>
                  <a:schemeClr val="tx1"/>
                </a:solidFill>
              </a:rPr>
              <a:t>There are several strategies for probing:</a:t>
            </a:r>
          </a:p>
          <a:p>
            <a:pPr algn="just"/>
            <a:r>
              <a:rPr lang="en-US" sz="2000" dirty="0" smtClean="0">
                <a:solidFill>
                  <a:schemeClr val="tx1"/>
                </a:solidFill>
              </a:rPr>
              <a:t>Linear Probing: In linear probing, if a collision occurs at index </a:t>
            </a:r>
            <a:r>
              <a:rPr lang="en-US" sz="2000" dirty="0" err="1" smtClean="0">
                <a:solidFill>
                  <a:schemeClr val="tx1"/>
                </a:solidFill>
              </a:rPr>
              <a:t>i</a:t>
            </a:r>
            <a:r>
              <a:rPr lang="en-US" sz="2000" dirty="0" smtClean="0">
                <a:solidFill>
                  <a:schemeClr val="tx1"/>
                </a:solidFill>
              </a:rPr>
              <a:t>, the algorithm checks the next index (i+1) and continues linearly until an empty slot is found. It wraps around to the beginning of the table if necessary.</a:t>
            </a:r>
          </a:p>
          <a:p>
            <a:pPr algn="just"/>
            <a:r>
              <a:rPr lang="en-US" sz="2000" dirty="0" smtClean="0">
                <a:solidFill>
                  <a:schemeClr val="tx1"/>
                </a:solidFill>
              </a:rPr>
              <a:t>Quadratic Probing: In quadratic probing, the algorithm probes slots by adding increasing quadratic values to the original hash index until an empty slot is found.</a:t>
            </a:r>
          </a:p>
          <a:p>
            <a:pPr algn="just"/>
            <a:r>
              <a:rPr lang="en-US" sz="2000" dirty="0" smtClean="0">
                <a:solidFill>
                  <a:schemeClr val="tx1"/>
                </a:solidFill>
              </a:rPr>
              <a:t>Double Hashing: In double hashing, the algorithm uses a second hash function to determine the step size for probing. It calculates the step size as the hash of the key modulo a prime number, ensuring that the step size is relatively prime to the table size.</a:t>
            </a:r>
          </a:p>
          <a:p>
            <a:pPr algn="just"/>
            <a:r>
              <a:rPr lang="en-US" sz="2000" dirty="0" smtClean="0">
                <a:solidFill>
                  <a:schemeClr val="tx1"/>
                </a:solidFill>
              </a:rPr>
              <a:t>Open addressing techniques typically require a load factor threshold to ensure efficient performance. If the load factor exceeds a certain threshold, the hash table needs to be resized to maintain a low collision rate.</a:t>
            </a:r>
          </a:p>
          <a:p>
            <a:pPr algn="just"/>
            <a:r>
              <a:rPr lang="en-US" sz="2000" dirty="0" smtClean="0">
                <a:solidFill>
                  <a:schemeClr val="tx1"/>
                </a:solidFill>
              </a:rPr>
              <a:t>Chaining:</a:t>
            </a:r>
            <a:endParaRPr lang="en-US" sz="2000" dirty="0">
              <a:solidFill>
                <a:schemeClr val="tx1"/>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Collision Resolution Techniques</a:t>
            </a:r>
            <a:endParaRPr lang="en-US" dirty="0"/>
          </a:p>
        </p:txBody>
      </p:sp>
      <p:sp>
        <p:nvSpPr>
          <p:cNvPr id="3" name="Subtitle 2"/>
          <p:cNvSpPr>
            <a:spLocks noGrp="1"/>
          </p:cNvSpPr>
          <p:nvPr>
            <p:ph type="subTitle" idx="1"/>
          </p:nvPr>
        </p:nvSpPr>
        <p:spPr>
          <a:xfrm>
            <a:off x="685800" y="857250"/>
            <a:ext cx="7848600" cy="4057650"/>
          </a:xfrm>
        </p:spPr>
        <p:txBody>
          <a:bodyPr>
            <a:normAutofit/>
          </a:bodyPr>
          <a:lstStyle/>
          <a:p>
            <a:pPr algn="just"/>
            <a:r>
              <a:rPr lang="en-US" sz="1400" b="1" dirty="0" smtClean="0">
                <a:solidFill>
                  <a:schemeClr val="tx1"/>
                </a:solidFill>
              </a:rPr>
              <a:t>In chaining, </a:t>
            </a:r>
            <a:r>
              <a:rPr lang="en-US" sz="1400" dirty="0" smtClean="0">
                <a:solidFill>
                  <a:schemeClr val="tx1"/>
                </a:solidFill>
              </a:rPr>
              <a:t>each slot in the hash table contains a linked list of elements that hash to the same index. When a collision occurs, the collided element is inserted into the linked list at the corresponding index.</a:t>
            </a:r>
          </a:p>
          <a:p>
            <a:pPr algn="just"/>
            <a:r>
              <a:rPr lang="en-US" sz="1400" dirty="0" smtClean="0">
                <a:solidFill>
                  <a:schemeClr val="tx1"/>
                </a:solidFill>
              </a:rPr>
              <a:t>Chaining is flexible and can handle any number of collisions without affecting the performance of other elements in the table.</a:t>
            </a:r>
          </a:p>
          <a:p>
            <a:pPr algn="just"/>
            <a:r>
              <a:rPr lang="en-US" sz="1400" dirty="0" smtClean="0">
                <a:solidFill>
                  <a:schemeClr val="tx1"/>
                </a:solidFill>
              </a:rPr>
              <a:t>However, chaining may incur additional memory overhead due to the storage of linked lists.</a:t>
            </a:r>
          </a:p>
          <a:p>
            <a:pPr algn="just"/>
            <a:r>
              <a:rPr lang="en-US" sz="1400" dirty="0" smtClean="0">
                <a:solidFill>
                  <a:schemeClr val="tx1"/>
                </a:solidFill>
              </a:rPr>
              <a:t>Each collision resolution technique has its advantages and disadvantages:</a:t>
            </a:r>
            <a:endParaRPr lang="en-US" sz="1400" dirty="0">
              <a:solidFill>
                <a:schemeClr val="tx1"/>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Collision Resolution Techniques</a:t>
            </a:r>
            <a:endParaRPr lang="en-US" dirty="0"/>
          </a:p>
        </p:txBody>
      </p:sp>
      <p:sp>
        <p:nvSpPr>
          <p:cNvPr id="3" name="Subtitle 2"/>
          <p:cNvSpPr>
            <a:spLocks noGrp="1"/>
          </p:cNvSpPr>
          <p:nvPr>
            <p:ph type="subTitle" idx="1"/>
          </p:nvPr>
        </p:nvSpPr>
        <p:spPr>
          <a:xfrm>
            <a:off x="685800" y="857250"/>
            <a:ext cx="7848600" cy="4057650"/>
          </a:xfrm>
        </p:spPr>
        <p:txBody>
          <a:bodyPr>
            <a:normAutofit/>
          </a:bodyPr>
          <a:lstStyle/>
          <a:p>
            <a:pPr algn="just"/>
            <a:r>
              <a:rPr lang="en-US" sz="1400" b="1" dirty="0" smtClean="0">
                <a:solidFill>
                  <a:schemeClr val="tx1"/>
                </a:solidFill>
              </a:rPr>
              <a:t>Open Addressing:</a:t>
            </a:r>
          </a:p>
          <a:p>
            <a:pPr algn="just"/>
            <a:r>
              <a:rPr lang="en-US" sz="1400" dirty="0" smtClean="0">
                <a:solidFill>
                  <a:schemeClr val="tx1"/>
                </a:solidFill>
              </a:rPr>
              <a:t>Advantages: Simple implementation, space-efficient (no additional memory overhead for pointers), cache-friendly.</a:t>
            </a:r>
          </a:p>
          <a:p>
            <a:pPr algn="just"/>
            <a:r>
              <a:rPr lang="en-US" sz="1400" dirty="0" smtClean="0">
                <a:solidFill>
                  <a:schemeClr val="tx1"/>
                </a:solidFill>
              </a:rPr>
              <a:t>Disadvantages: Increased likelihood of clustering, more sensitive to hash function quality, and requires careful handling of deletions.</a:t>
            </a:r>
          </a:p>
          <a:p>
            <a:pPr algn="just"/>
            <a:endParaRPr lang="en-US" sz="1400" dirty="0" smtClean="0">
              <a:solidFill>
                <a:schemeClr val="tx1"/>
              </a:solidFill>
            </a:endParaRPr>
          </a:p>
          <a:p>
            <a:pPr algn="just"/>
            <a:r>
              <a:rPr lang="en-US" sz="1400" b="1" dirty="0" smtClean="0">
                <a:solidFill>
                  <a:schemeClr val="tx1"/>
                </a:solidFill>
              </a:rPr>
              <a:t>Chaining:</a:t>
            </a:r>
          </a:p>
          <a:p>
            <a:pPr algn="just"/>
            <a:r>
              <a:rPr lang="en-US" sz="1400" dirty="0" smtClean="0">
                <a:solidFill>
                  <a:schemeClr val="tx1"/>
                </a:solidFill>
              </a:rPr>
              <a:t>Advantages: Can handle any number of collisions, unaffected by the quality of the hash function, easy to implement.</a:t>
            </a:r>
          </a:p>
          <a:p>
            <a:pPr algn="just"/>
            <a:r>
              <a:rPr lang="en-US" sz="1400" dirty="0" smtClean="0">
                <a:solidFill>
                  <a:schemeClr val="tx1"/>
                </a:solidFill>
              </a:rPr>
              <a:t>Disadvantages: Requires additional memory for pointers, cache-unfriendly due to pointer traversal, and less space-efficient than open addressing for small data.</a:t>
            </a:r>
          </a:p>
          <a:p>
            <a:pPr algn="just"/>
            <a:r>
              <a:rPr lang="en-US" sz="1400" dirty="0" smtClean="0">
                <a:solidFill>
                  <a:schemeClr val="tx1"/>
                </a:solidFill>
              </a:rPr>
              <a:t>The choice between open addressing and chaining depends on factors such as the expected number of elements, memory constraints, and performance requirements of the specific application.</a:t>
            </a:r>
            <a:endParaRPr lang="en-US" sz="1400" dirty="0">
              <a:solidFill>
                <a:schemeClr val="tx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Collision Resolution Techniques</a:t>
            </a:r>
            <a:endParaRPr lang="en-US" dirty="0"/>
          </a:p>
        </p:txBody>
      </p:sp>
      <p:sp>
        <p:nvSpPr>
          <p:cNvPr id="3" name="Subtitle 2"/>
          <p:cNvSpPr>
            <a:spLocks noGrp="1"/>
          </p:cNvSpPr>
          <p:nvPr>
            <p:ph type="subTitle" idx="1"/>
          </p:nvPr>
        </p:nvSpPr>
        <p:spPr>
          <a:xfrm>
            <a:off x="685800" y="857250"/>
            <a:ext cx="7848600" cy="4057650"/>
          </a:xfrm>
        </p:spPr>
        <p:txBody>
          <a:bodyPr>
            <a:normAutofit fontScale="62500" lnSpcReduction="20000"/>
          </a:bodyPr>
          <a:lstStyle/>
          <a:p>
            <a:pPr algn="just"/>
            <a:r>
              <a:rPr lang="en-US" sz="1400" dirty="0" smtClean="0">
                <a:solidFill>
                  <a:schemeClr val="tx1"/>
                </a:solidFill>
              </a:rPr>
              <a:t>#include &lt;</a:t>
            </a:r>
            <a:r>
              <a:rPr lang="en-US" sz="1400" dirty="0" err="1" smtClean="0">
                <a:solidFill>
                  <a:schemeClr val="tx1"/>
                </a:solidFill>
              </a:rPr>
              <a:t>stdio.h</a:t>
            </a:r>
            <a:r>
              <a:rPr lang="en-US" sz="1400" dirty="0" smtClean="0">
                <a:solidFill>
                  <a:schemeClr val="tx1"/>
                </a:solidFill>
              </a:rPr>
              <a:t>&gt;</a:t>
            </a:r>
          </a:p>
          <a:p>
            <a:pPr algn="just"/>
            <a:endParaRPr lang="en-US" sz="1400" dirty="0" smtClean="0">
              <a:solidFill>
                <a:schemeClr val="tx1"/>
              </a:solidFill>
            </a:endParaRPr>
          </a:p>
          <a:p>
            <a:pPr algn="just"/>
            <a:r>
              <a:rPr lang="en-US" sz="1400" dirty="0" smtClean="0">
                <a:solidFill>
                  <a:schemeClr val="tx1"/>
                </a:solidFill>
              </a:rPr>
              <a:t>#define TABLE_SIZE 10</a:t>
            </a:r>
          </a:p>
          <a:p>
            <a:pPr algn="just"/>
            <a:endParaRPr lang="en-US" sz="1400" dirty="0" smtClean="0">
              <a:solidFill>
                <a:schemeClr val="tx1"/>
              </a:solidFill>
            </a:endParaRPr>
          </a:p>
          <a:p>
            <a:pPr algn="just"/>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hashFunction</a:t>
            </a:r>
            <a:r>
              <a:rPr lang="en-US" sz="1400" dirty="0" smtClean="0">
                <a:solidFill>
                  <a:schemeClr val="tx1"/>
                </a:solidFill>
              </a:rPr>
              <a:t>(</a:t>
            </a:r>
            <a:r>
              <a:rPr lang="en-US" sz="1400" dirty="0" err="1" smtClean="0">
                <a:solidFill>
                  <a:schemeClr val="tx1"/>
                </a:solidFill>
              </a:rPr>
              <a:t>int</a:t>
            </a:r>
            <a:r>
              <a:rPr lang="en-US" sz="1400" dirty="0" smtClean="0">
                <a:solidFill>
                  <a:schemeClr val="tx1"/>
                </a:solidFill>
              </a:rPr>
              <a:t> key) {</a:t>
            </a:r>
          </a:p>
          <a:p>
            <a:pPr algn="just"/>
            <a:r>
              <a:rPr lang="en-US" sz="1400" dirty="0" smtClean="0">
                <a:solidFill>
                  <a:schemeClr val="tx1"/>
                </a:solidFill>
              </a:rPr>
              <a:t>    return key % TABLE_SIZE;</a:t>
            </a:r>
          </a:p>
          <a:p>
            <a:pPr algn="just"/>
            <a:r>
              <a:rPr lang="en-US" sz="1400" dirty="0" smtClean="0">
                <a:solidFill>
                  <a:schemeClr val="tx1"/>
                </a:solidFill>
              </a:rPr>
              <a:t>}</a:t>
            </a:r>
          </a:p>
          <a:p>
            <a:pPr algn="just"/>
            <a:endParaRPr lang="en-US" sz="1400" dirty="0" smtClean="0">
              <a:solidFill>
                <a:schemeClr val="tx1"/>
              </a:solidFill>
            </a:endParaRPr>
          </a:p>
          <a:p>
            <a:pPr algn="just"/>
            <a:r>
              <a:rPr lang="en-US" sz="1400" dirty="0" smtClean="0">
                <a:solidFill>
                  <a:schemeClr val="tx1"/>
                </a:solidFill>
              </a:rPr>
              <a:t>void insert(</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hashTable</a:t>
            </a:r>
            <a:r>
              <a:rPr lang="en-US" sz="1400" dirty="0" smtClean="0">
                <a:solidFill>
                  <a:schemeClr val="tx1"/>
                </a:solidFill>
              </a:rPr>
              <a:t>[], </a:t>
            </a:r>
            <a:r>
              <a:rPr lang="en-US" sz="1400" dirty="0" err="1" smtClean="0">
                <a:solidFill>
                  <a:schemeClr val="tx1"/>
                </a:solidFill>
              </a:rPr>
              <a:t>int</a:t>
            </a:r>
            <a:r>
              <a:rPr lang="en-US" sz="1400" dirty="0" smtClean="0">
                <a:solidFill>
                  <a:schemeClr val="tx1"/>
                </a:solidFill>
              </a:rPr>
              <a:t> key) {</a:t>
            </a:r>
          </a:p>
          <a:p>
            <a:pPr algn="just"/>
            <a:r>
              <a:rPr lang="en-US" sz="1400" dirty="0" smtClean="0">
                <a:solidFill>
                  <a:schemeClr val="tx1"/>
                </a:solidFill>
              </a:rPr>
              <a:t>    </a:t>
            </a:r>
            <a:r>
              <a:rPr lang="en-US" sz="1400" dirty="0" err="1" smtClean="0">
                <a:solidFill>
                  <a:schemeClr val="tx1"/>
                </a:solidFill>
              </a:rPr>
              <a:t>int</a:t>
            </a:r>
            <a:r>
              <a:rPr lang="en-US" sz="1400" dirty="0" smtClean="0">
                <a:solidFill>
                  <a:schemeClr val="tx1"/>
                </a:solidFill>
              </a:rPr>
              <a:t> index = </a:t>
            </a:r>
            <a:r>
              <a:rPr lang="en-US" sz="1400" dirty="0" err="1" smtClean="0">
                <a:solidFill>
                  <a:schemeClr val="tx1"/>
                </a:solidFill>
              </a:rPr>
              <a:t>hashFunction</a:t>
            </a:r>
            <a:r>
              <a:rPr lang="en-US" sz="1400" dirty="0" smtClean="0">
                <a:solidFill>
                  <a:schemeClr val="tx1"/>
                </a:solidFill>
              </a:rPr>
              <a:t>(key);</a:t>
            </a:r>
          </a:p>
          <a:p>
            <a:pPr algn="just"/>
            <a:endParaRPr lang="en-US" sz="1400" dirty="0" smtClean="0">
              <a:solidFill>
                <a:schemeClr val="tx1"/>
              </a:solidFill>
            </a:endParaRPr>
          </a:p>
          <a:p>
            <a:pPr algn="just"/>
            <a:r>
              <a:rPr lang="en-US" sz="1400" dirty="0" smtClean="0">
                <a:solidFill>
                  <a:schemeClr val="tx1"/>
                </a:solidFill>
              </a:rPr>
              <a:t>    while (</a:t>
            </a:r>
            <a:r>
              <a:rPr lang="en-US" sz="1400" dirty="0" err="1" smtClean="0">
                <a:solidFill>
                  <a:schemeClr val="tx1"/>
                </a:solidFill>
              </a:rPr>
              <a:t>hashTable</a:t>
            </a:r>
            <a:r>
              <a:rPr lang="en-US" sz="1400" dirty="0" smtClean="0">
                <a:solidFill>
                  <a:schemeClr val="tx1"/>
                </a:solidFill>
              </a:rPr>
              <a:t>[index] != -1) {</a:t>
            </a:r>
          </a:p>
          <a:p>
            <a:pPr algn="just"/>
            <a:r>
              <a:rPr lang="en-US" sz="1400" dirty="0" smtClean="0">
                <a:solidFill>
                  <a:schemeClr val="tx1"/>
                </a:solidFill>
              </a:rPr>
              <a:t>        index = (index + 1) % TABLE_SIZE;</a:t>
            </a:r>
          </a:p>
          <a:p>
            <a:pPr algn="just"/>
            <a:r>
              <a:rPr lang="en-US" sz="1400" dirty="0" smtClean="0">
                <a:solidFill>
                  <a:schemeClr val="tx1"/>
                </a:solidFill>
              </a:rPr>
              <a:t>    }</a:t>
            </a:r>
          </a:p>
          <a:p>
            <a:pPr algn="just"/>
            <a:endParaRPr lang="en-US" sz="1400" dirty="0" smtClean="0">
              <a:solidFill>
                <a:schemeClr val="tx1"/>
              </a:solidFill>
            </a:endParaRPr>
          </a:p>
          <a:p>
            <a:pPr algn="just"/>
            <a:r>
              <a:rPr lang="en-US" sz="1400" dirty="0" smtClean="0">
                <a:solidFill>
                  <a:schemeClr val="tx1"/>
                </a:solidFill>
              </a:rPr>
              <a:t>    </a:t>
            </a:r>
            <a:r>
              <a:rPr lang="en-US" sz="1400" dirty="0" err="1" smtClean="0">
                <a:solidFill>
                  <a:schemeClr val="tx1"/>
                </a:solidFill>
              </a:rPr>
              <a:t>hashTable</a:t>
            </a:r>
            <a:r>
              <a:rPr lang="en-US" sz="1400" dirty="0" smtClean="0">
                <a:solidFill>
                  <a:schemeClr val="tx1"/>
                </a:solidFill>
              </a:rPr>
              <a:t>[index] = key;</a:t>
            </a:r>
          </a:p>
          <a:p>
            <a:pPr algn="just"/>
            <a:r>
              <a:rPr lang="en-US" sz="1400" dirty="0" smtClean="0">
                <a:solidFill>
                  <a:schemeClr val="tx1"/>
                </a:solidFill>
              </a:rPr>
              <a:t>}</a:t>
            </a:r>
          </a:p>
          <a:p>
            <a:pPr algn="just"/>
            <a:endParaRPr lang="en-US" sz="1400" dirty="0" smtClean="0">
              <a:solidFill>
                <a:schemeClr val="tx1"/>
              </a:solidFill>
            </a:endParaRPr>
          </a:p>
          <a:p>
            <a:pPr algn="just"/>
            <a:r>
              <a:rPr lang="en-US" sz="1400" dirty="0" smtClean="0">
                <a:solidFill>
                  <a:schemeClr val="tx1"/>
                </a:solidFill>
              </a:rPr>
              <a:t>void display(</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hashTable</a:t>
            </a:r>
            <a:r>
              <a:rPr lang="en-US" sz="1400" dirty="0" smtClean="0">
                <a:solidFill>
                  <a:schemeClr val="tx1"/>
                </a:solidFill>
              </a:rPr>
              <a:t>[]) {</a:t>
            </a:r>
          </a:p>
          <a:p>
            <a:pPr algn="just"/>
            <a:r>
              <a:rPr lang="en-US" sz="1400" dirty="0" smtClean="0">
                <a:solidFill>
                  <a:schemeClr val="tx1"/>
                </a:solidFill>
              </a:rPr>
              <a:t>    for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i</a:t>
            </a:r>
            <a:r>
              <a:rPr lang="en-US" sz="1400" dirty="0" smtClean="0">
                <a:solidFill>
                  <a:schemeClr val="tx1"/>
                </a:solidFill>
              </a:rPr>
              <a:t> = 0; </a:t>
            </a:r>
            <a:r>
              <a:rPr lang="en-US" sz="1400" dirty="0" err="1" smtClean="0">
                <a:solidFill>
                  <a:schemeClr val="tx1"/>
                </a:solidFill>
              </a:rPr>
              <a:t>i</a:t>
            </a:r>
            <a:r>
              <a:rPr lang="en-US" sz="1400" dirty="0" smtClean="0">
                <a:solidFill>
                  <a:schemeClr val="tx1"/>
                </a:solidFill>
              </a:rPr>
              <a:t> &lt; TABLE_SIZE; </a:t>
            </a:r>
            <a:r>
              <a:rPr lang="en-US" sz="1400" dirty="0" err="1" smtClean="0">
                <a:solidFill>
                  <a:schemeClr val="tx1"/>
                </a:solidFill>
              </a:rPr>
              <a:t>i</a:t>
            </a:r>
            <a:r>
              <a:rPr lang="en-US" sz="1400" dirty="0" smtClean="0">
                <a:solidFill>
                  <a:schemeClr val="tx1"/>
                </a:solidFill>
              </a:rPr>
              <a:t>++) {</a:t>
            </a:r>
          </a:p>
          <a:p>
            <a:pPr algn="just"/>
            <a:r>
              <a:rPr lang="en-US" sz="1400" dirty="0" smtClean="0">
                <a:solidFill>
                  <a:schemeClr val="tx1"/>
                </a:solidFill>
              </a:rPr>
              <a:t>        if (</a:t>
            </a:r>
            <a:r>
              <a:rPr lang="en-US" sz="1400" dirty="0" err="1" smtClean="0">
                <a:solidFill>
                  <a:schemeClr val="tx1"/>
                </a:solidFill>
              </a:rPr>
              <a:t>hashTable</a:t>
            </a:r>
            <a:r>
              <a:rPr lang="en-US" sz="1400" dirty="0" smtClean="0">
                <a:solidFill>
                  <a:schemeClr val="tx1"/>
                </a:solidFill>
              </a:rPr>
              <a:t>[</a:t>
            </a:r>
            <a:r>
              <a:rPr lang="en-US" sz="1400" dirty="0" err="1" smtClean="0">
                <a:solidFill>
                  <a:schemeClr val="tx1"/>
                </a:solidFill>
              </a:rPr>
              <a:t>i</a:t>
            </a:r>
            <a:r>
              <a:rPr lang="en-US" sz="1400" dirty="0" smtClean="0">
                <a:solidFill>
                  <a:schemeClr val="tx1"/>
                </a:solidFill>
              </a:rPr>
              <a:t>] != -1) {</a:t>
            </a:r>
          </a:p>
          <a:p>
            <a:pPr algn="just"/>
            <a:r>
              <a:rPr lang="en-US" sz="1400" dirty="0" smtClean="0">
                <a:solidFill>
                  <a:schemeClr val="tx1"/>
                </a:solidFill>
              </a:rPr>
              <a:t>            </a:t>
            </a:r>
            <a:r>
              <a:rPr lang="en-US" sz="1400" dirty="0" err="1" smtClean="0">
                <a:solidFill>
                  <a:schemeClr val="tx1"/>
                </a:solidFill>
              </a:rPr>
              <a:t>printf</a:t>
            </a:r>
            <a:r>
              <a:rPr lang="en-US" sz="1400" dirty="0" smtClean="0">
                <a:solidFill>
                  <a:schemeClr val="tx1"/>
                </a:solidFill>
              </a:rPr>
              <a:t>("Index %d: %d\n", </a:t>
            </a:r>
            <a:r>
              <a:rPr lang="en-US" sz="1400" dirty="0" err="1" smtClean="0">
                <a:solidFill>
                  <a:schemeClr val="tx1"/>
                </a:solidFill>
              </a:rPr>
              <a:t>i</a:t>
            </a:r>
            <a:r>
              <a:rPr lang="en-US" sz="1400" dirty="0" smtClean="0">
                <a:solidFill>
                  <a:schemeClr val="tx1"/>
                </a:solidFill>
              </a:rPr>
              <a:t>, </a:t>
            </a:r>
            <a:r>
              <a:rPr lang="en-US" sz="1400" dirty="0" err="1" smtClean="0">
                <a:solidFill>
                  <a:schemeClr val="tx1"/>
                </a:solidFill>
              </a:rPr>
              <a:t>hashTable</a:t>
            </a:r>
            <a:r>
              <a:rPr lang="en-US" sz="1400" dirty="0" smtClean="0">
                <a:solidFill>
                  <a:schemeClr val="tx1"/>
                </a:solidFill>
              </a:rPr>
              <a:t>[</a:t>
            </a:r>
            <a:r>
              <a:rPr lang="en-US" sz="1400" dirty="0" err="1" smtClean="0">
                <a:solidFill>
                  <a:schemeClr val="tx1"/>
                </a:solidFill>
              </a:rPr>
              <a:t>i</a:t>
            </a:r>
            <a:r>
              <a:rPr lang="en-US" sz="1400" dirty="0" smtClean="0">
                <a:solidFill>
                  <a:schemeClr val="tx1"/>
                </a:solidFill>
              </a:rPr>
              <a:t>]);</a:t>
            </a:r>
          </a:p>
          <a:p>
            <a:pPr algn="just"/>
            <a:r>
              <a:rPr lang="en-US" sz="1400" dirty="0" smtClean="0">
                <a:solidFill>
                  <a:schemeClr val="tx1"/>
                </a:solidFill>
              </a:rPr>
              <a:t>        } else {</a:t>
            </a:r>
          </a:p>
          <a:p>
            <a:pPr algn="just"/>
            <a:r>
              <a:rPr lang="en-US" sz="1400" dirty="0" smtClean="0">
                <a:solidFill>
                  <a:schemeClr val="tx1"/>
                </a:solidFill>
              </a:rPr>
              <a:t>            </a:t>
            </a:r>
            <a:r>
              <a:rPr lang="en-US" sz="1400" dirty="0" err="1" smtClean="0">
                <a:solidFill>
                  <a:schemeClr val="tx1"/>
                </a:solidFill>
              </a:rPr>
              <a:t>printf</a:t>
            </a:r>
            <a:r>
              <a:rPr lang="en-US" sz="1400" dirty="0" smtClean="0">
                <a:solidFill>
                  <a:schemeClr val="tx1"/>
                </a:solidFill>
              </a:rPr>
              <a:t>("Index %d: Empty\n", </a:t>
            </a:r>
            <a:r>
              <a:rPr lang="en-US" sz="1400" dirty="0" err="1" smtClean="0">
                <a:solidFill>
                  <a:schemeClr val="tx1"/>
                </a:solidFill>
              </a:rPr>
              <a:t>i</a:t>
            </a:r>
            <a:r>
              <a:rPr lang="en-US" sz="1400" dirty="0" smtClean="0">
                <a:solidFill>
                  <a:schemeClr val="tx1"/>
                </a:solidFill>
              </a:rPr>
              <a:t>);</a:t>
            </a:r>
          </a:p>
          <a:p>
            <a:pPr algn="just"/>
            <a:r>
              <a:rPr lang="en-US" sz="1400" dirty="0" smtClean="0">
                <a:solidFill>
                  <a:schemeClr val="tx1"/>
                </a:solidFill>
              </a:rPr>
              <a:t>        }</a:t>
            </a:r>
          </a:p>
          <a:p>
            <a:pPr algn="just"/>
            <a:r>
              <a:rPr lang="en-US" sz="1400" dirty="0" smtClean="0">
                <a:solidFill>
                  <a:schemeClr val="tx1"/>
                </a:solidFill>
              </a:rPr>
              <a:t>    }</a:t>
            </a:r>
          </a:p>
          <a:p>
            <a:pPr algn="just"/>
            <a:r>
              <a:rPr lang="en-US" sz="1400" dirty="0" smtClean="0">
                <a:solidFill>
                  <a:schemeClr val="tx1"/>
                </a:solidFill>
              </a:rPr>
              <a:t>}</a:t>
            </a:r>
            <a:endParaRPr lang="en-US" sz="1400" dirty="0">
              <a:solidFill>
                <a:schemeClr val="tx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Collision Resolution Techniques</a:t>
            </a:r>
            <a:endParaRPr lang="en-US" dirty="0"/>
          </a:p>
        </p:txBody>
      </p:sp>
      <p:sp>
        <p:nvSpPr>
          <p:cNvPr id="3" name="Subtitle 2"/>
          <p:cNvSpPr>
            <a:spLocks noGrp="1"/>
          </p:cNvSpPr>
          <p:nvPr>
            <p:ph type="subTitle" idx="1"/>
          </p:nvPr>
        </p:nvSpPr>
        <p:spPr>
          <a:xfrm>
            <a:off x="685800" y="857250"/>
            <a:ext cx="7848600" cy="4057650"/>
          </a:xfrm>
        </p:spPr>
        <p:txBody>
          <a:bodyPr>
            <a:normAutofit fontScale="92500" lnSpcReduction="10000"/>
          </a:bodyPr>
          <a:lstStyle/>
          <a:p>
            <a:pPr algn="just"/>
            <a:r>
              <a:rPr lang="en-US" sz="1400" dirty="0" err="1" smtClean="0">
                <a:solidFill>
                  <a:schemeClr val="tx1"/>
                </a:solidFill>
              </a:rPr>
              <a:t>int</a:t>
            </a:r>
            <a:r>
              <a:rPr lang="en-US" sz="1400" dirty="0" smtClean="0">
                <a:solidFill>
                  <a:schemeClr val="tx1"/>
                </a:solidFill>
              </a:rPr>
              <a:t> main() {</a:t>
            </a:r>
          </a:p>
          <a:p>
            <a:pPr algn="just"/>
            <a:r>
              <a:rPr lang="en-US" sz="1400" dirty="0" smtClean="0">
                <a:solidFill>
                  <a:schemeClr val="tx1"/>
                </a:solidFill>
              </a:rPr>
              <a:t>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hashTable</a:t>
            </a:r>
            <a:r>
              <a:rPr lang="en-US" sz="1400" dirty="0" smtClean="0">
                <a:solidFill>
                  <a:schemeClr val="tx1"/>
                </a:solidFill>
              </a:rPr>
              <a:t>[TABLE_SIZE];</a:t>
            </a:r>
          </a:p>
          <a:p>
            <a:pPr algn="just"/>
            <a:endParaRPr lang="en-US" sz="1400" dirty="0" smtClean="0">
              <a:solidFill>
                <a:schemeClr val="tx1"/>
              </a:solidFill>
            </a:endParaRPr>
          </a:p>
          <a:p>
            <a:pPr algn="just"/>
            <a:r>
              <a:rPr lang="en-US" sz="1400" dirty="0" smtClean="0">
                <a:solidFill>
                  <a:schemeClr val="tx1"/>
                </a:solidFill>
              </a:rPr>
              <a:t>    for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i</a:t>
            </a:r>
            <a:r>
              <a:rPr lang="en-US" sz="1400" dirty="0" smtClean="0">
                <a:solidFill>
                  <a:schemeClr val="tx1"/>
                </a:solidFill>
              </a:rPr>
              <a:t> = 0; </a:t>
            </a:r>
            <a:r>
              <a:rPr lang="en-US" sz="1400" dirty="0" err="1" smtClean="0">
                <a:solidFill>
                  <a:schemeClr val="tx1"/>
                </a:solidFill>
              </a:rPr>
              <a:t>i</a:t>
            </a:r>
            <a:r>
              <a:rPr lang="en-US" sz="1400" dirty="0" smtClean="0">
                <a:solidFill>
                  <a:schemeClr val="tx1"/>
                </a:solidFill>
              </a:rPr>
              <a:t> &lt; TABLE_SIZE; </a:t>
            </a:r>
            <a:r>
              <a:rPr lang="en-US" sz="1400" dirty="0" err="1" smtClean="0">
                <a:solidFill>
                  <a:schemeClr val="tx1"/>
                </a:solidFill>
              </a:rPr>
              <a:t>i</a:t>
            </a:r>
            <a:r>
              <a:rPr lang="en-US" sz="1400" dirty="0" smtClean="0">
                <a:solidFill>
                  <a:schemeClr val="tx1"/>
                </a:solidFill>
              </a:rPr>
              <a:t>++) {</a:t>
            </a:r>
          </a:p>
          <a:p>
            <a:pPr algn="just"/>
            <a:r>
              <a:rPr lang="en-US" sz="1400" dirty="0" smtClean="0">
                <a:solidFill>
                  <a:schemeClr val="tx1"/>
                </a:solidFill>
              </a:rPr>
              <a:t>        </a:t>
            </a:r>
            <a:r>
              <a:rPr lang="en-US" sz="1400" dirty="0" err="1" smtClean="0">
                <a:solidFill>
                  <a:schemeClr val="tx1"/>
                </a:solidFill>
              </a:rPr>
              <a:t>hashTable</a:t>
            </a:r>
            <a:r>
              <a:rPr lang="en-US" sz="1400" dirty="0" smtClean="0">
                <a:solidFill>
                  <a:schemeClr val="tx1"/>
                </a:solidFill>
              </a:rPr>
              <a:t>[</a:t>
            </a:r>
            <a:r>
              <a:rPr lang="en-US" sz="1400" dirty="0" err="1" smtClean="0">
                <a:solidFill>
                  <a:schemeClr val="tx1"/>
                </a:solidFill>
              </a:rPr>
              <a:t>i</a:t>
            </a:r>
            <a:r>
              <a:rPr lang="en-US" sz="1400" dirty="0" smtClean="0">
                <a:solidFill>
                  <a:schemeClr val="tx1"/>
                </a:solidFill>
              </a:rPr>
              <a:t>] = -1;</a:t>
            </a:r>
          </a:p>
          <a:p>
            <a:pPr algn="just"/>
            <a:r>
              <a:rPr lang="en-US" sz="1400" dirty="0" smtClean="0">
                <a:solidFill>
                  <a:schemeClr val="tx1"/>
                </a:solidFill>
              </a:rPr>
              <a:t>    }</a:t>
            </a:r>
          </a:p>
          <a:p>
            <a:pPr algn="just"/>
            <a:endParaRPr lang="en-US" sz="1400" dirty="0" smtClean="0">
              <a:solidFill>
                <a:schemeClr val="tx1"/>
              </a:solidFill>
            </a:endParaRPr>
          </a:p>
          <a:p>
            <a:pPr algn="just"/>
            <a:r>
              <a:rPr lang="en-US" sz="1400" dirty="0" smtClean="0">
                <a:solidFill>
                  <a:schemeClr val="tx1"/>
                </a:solidFill>
              </a:rPr>
              <a:t>    </a:t>
            </a:r>
            <a:r>
              <a:rPr lang="en-US" sz="1400" dirty="0" err="1" smtClean="0">
                <a:solidFill>
                  <a:schemeClr val="tx1"/>
                </a:solidFill>
              </a:rPr>
              <a:t>int</a:t>
            </a:r>
            <a:r>
              <a:rPr lang="en-US" sz="1400" dirty="0" smtClean="0">
                <a:solidFill>
                  <a:schemeClr val="tx1"/>
                </a:solidFill>
              </a:rPr>
              <a:t> keys[] = {23, 43, 13, 27, 56, 72, 91};</a:t>
            </a:r>
          </a:p>
          <a:p>
            <a:pPr algn="just"/>
            <a:r>
              <a:rPr lang="en-US" sz="1400" dirty="0" smtClean="0">
                <a:solidFill>
                  <a:schemeClr val="tx1"/>
                </a:solidFill>
              </a:rPr>
              <a:t>    </a:t>
            </a:r>
            <a:r>
              <a:rPr lang="en-US" sz="1400" dirty="0" err="1" smtClean="0">
                <a:solidFill>
                  <a:schemeClr val="tx1"/>
                </a:solidFill>
              </a:rPr>
              <a:t>int</a:t>
            </a:r>
            <a:r>
              <a:rPr lang="en-US" sz="1400" dirty="0" smtClean="0">
                <a:solidFill>
                  <a:schemeClr val="tx1"/>
                </a:solidFill>
              </a:rPr>
              <a:t> n = </a:t>
            </a:r>
            <a:r>
              <a:rPr lang="en-US" sz="1400" dirty="0" err="1" smtClean="0">
                <a:solidFill>
                  <a:schemeClr val="tx1"/>
                </a:solidFill>
              </a:rPr>
              <a:t>sizeof</a:t>
            </a:r>
            <a:r>
              <a:rPr lang="en-US" sz="1400" dirty="0" smtClean="0">
                <a:solidFill>
                  <a:schemeClr val="tx1"/>
                </a:solidFill>
              </a:rPr>
              <a:t>(keys) / </a:t>
            </a:r>
            <a:r>
              <a:rPr lang="en-US" sz="1400" dirty="0" err="1" smtClean="0">
                <a:solidFill>
                  <a:schemeClr val="tx1"/>
                </a:solidFill>
              </a:rPr>
              <a:t>sizeof</a:t>
            </a:r>
            <a:r>
              <a:rPr lang="en-US" sz="1400" dirty="0" smtClean="0">
                <a:solidFill>
                  <a:schemeClr val="tx1"/>
                </a:solidFill>
              </a:rPr>
              <a:t>(keys[0]);</a:t>
            </a:r>
          </a:p>
          <a:p>
            <a:pPr algn="just"/>
            <a:endParaRPr lang="en-US" sz="1400" dirty="0" smtClean="0">
              <a:solidFill>
                <a:schemeClr val="tx1"/>
              </a:solidFill>
            </a:endParaRPr>
          </a:p>
          <a:p>
            <a:pPr algn="just"/>
            <a:r>
              <a:rPr lang="en-US" sz="1400" dirty="0" smtClean="0">
                <a:solidFill>
                  <a:schemeClr val="tx1"/>
                </a:solidFill>
              </a:rPr>
              <a:t>    for (</a:t>
            </a:r>
            <a:r>
              <a:rPr lang="en-US" sz="1400" dirty="0" err="1" smtClean="0">
                <a:solidFill>
                  <a:schemeClr val="tx1"/>
                </a:solidFill>
              </a:rPr>
              <a:t>int</a:t>
            </a:r>
            <a:r>
              <a:rPr lang="en-US" sz="1400" dirty="0" smtClean="0">
                <a:solidFill>
                  <a:schemeClr val="tx1"/>
                </a:solidFill>
              </a:rPr>
              <a:t> </a:t>
            </a:r>
            <a:r>
              <a:rPr lang="en-US" sz="1400" dirty="0" err="1" smtClean="0">
                <a:solidFill>
                  <a:schemeClr val="tx1"/>
                </a:solidFill>
              </a:rPr>
              <a:t>i</a:t>
            </a:r>
            <a:r>
              <a:rPr lang="en-US" sz="1400" dirty="0" smtClean="0">
                <a:solidFill>
                  <a:schemeClr val="tx1"/>
                </a:solidFill>
              </a:rPr>
              <a:t> = 0; </a:t>
            </a:r>
            <a:r>
              <a:rPr lang="en-US" sz="1400" dirty="0" err="1" smtClean="0">
                <a:solidFill>
                  <a:schemeClr val="tx1"/>
                </a:solidFill>
              </a:rPr>
              <a:t>i</a:t>
            </a:r>
            <a:r>
              <a:rPr lang="en-US" sz="1400" dirty="0" smtClean="0">
                <a:solidFill>
                  <a:schemeClr val="tx1"/>
                </a:solidFill>
              </a:rPr>
              <a:t> &lt; n; </a:t>
            </a:r>
            <a:r>
              <a:rPr lang="en-US" sz="1400" dirty="0" err="1" smtClean="0">
                <a:solidFill>
                  <a:schemeClr val="tx1"/>
                </a:solidFill>
              </a:rPr>
              <a:t>i</a:t>
            </a:r>
            <a:r>
              <a:rPr lang="en-US" sz="1400" dirty="0" smtClean="0">
                <a:solidFill>
                  <a:schemeClr val="tx1"/>
                </a:solidFill>
              </a:rPr>
              <a:t>++) {</a:t>
            </a:r>
          </a:p>
          <a:p>
            <a:pPr algn="just"/>
            <a:r>
              <a:rPr lang="en-US" sz="1400" dirty="0" smtClean="0">
                <a:solidFill>
                  <a:schemeClr val="tx1"/>
                </a:solidFill>
              </a:rPr>
              <a:t>        insert(</a:t>
            </a:r>
            <a:r>
              <a:rPr lang="en-US" sz="1400" dirty="0" err="1" smtClean="0">
                <a:solidFill>
                  <a:schemeClr val="tx1"/>
                </a:solidFill>
              </a:rPr>
              <a:t>hashTable</a:t>
            </a:r>
            <a:r>
              <a:rPr lang="en-US" sz="1400" dirty="0" smtClean="0">
                <a:solidFill>
                  <a:schemeClr val="tx1"/>
                </a:solidFill>
              </a:rPr>
              <a:t>, keys[</a:t>
            </a:r>
            <a:r>
              <a:rPr lang="en-US" sz="1400" dirty="0" err="1" smtClean="0">
                <a:solidFill>
                  <a:schemeClr val="tx1"/>
                </a:solidFill>
              </a:rPr>
              <a:t>i</a:t>
            </a:r>
            <a:r>
              <a:rPr lang="en-US" sz="1400" dirty="0" smtClean="0">
                <a:solidFill>
                  <a:schemeClr val="tx1"/>
                </a:solidFill>
              </a:rPr>
              <a:t>]);</a:t>
            </a:r>
          </a:p>
          <a:p>
            <a:pPr algn="just"/>
            <a:r>
              <a:rPr lang="en-US" sz="1400" dirty="0" smtClean="0">
                <a:solidFill>
                  <a:schemeClr val="tx1"/>
                </a:solidFill>
              </a:rPr>
              <a:t>    }</a:t>
            </a:r>
          </a:p>
          <a:p>
            <a:pPr algn="just"/>
            <a:endParaRPr lang="en-US" sz="1400" dirty="0" smtClean="0">
              <a:solidFill>
                <a:schemeClr val="tx1"/>
              </a:solidFill>
            </a:endParaRPr>
          </a:p>
          <a:p>
            <a:pPr algn="just"/>
            <a:r>
              <a:rPr lang="en-US" sz="1400" dirty="0" smtClean="0">
                <a:solidFill>
                  <a:schemeClr val="tx1"/>
                </a:solidFill>
              </a:rPr>
              <a:t>    display(</a:t>
            </a:r>
            <a:r>
              <a:rPr lang="en-US" sz="1400" dirty="0" err="1" smtClean="0">
                <a:solidFill>
                  <a:schemeClr val="tx1"/>
                </a:solidFill>
              </a:rPr>
              <a:t>hashTable</a:t>
            </a:r>
            <a:r>
              <a:rPr lang="en-US" sz="1400" dirty="0" smtClean="0">
                <a:solidFill>
                  <a:schemeClr val="tx1"/>
                </a:solidFill>
              </a:rPr>
              <a:t>);</a:t>
            </a:r>
          </a:p>
          <a:p>
            <a:pPr algn="just"/>
            <a:endParaRPr lang="en-US" sz="1400" dirty="0" smtClean="0">
              <a:solidFill>
                <a:schemeClr val="tx1"/>
              </a:solidFill>
            </a:endParaRPr>
          </a:p>
          <a:p>
            <a:pPr algn="just"/>
            <a:r>
              <a:rPr lang="en-US" sz="1400" dirty="0" smtClean="0">
                <a:solidFill>
                  <a:schemeClr val="tx1"/>
                </a:solidFill>
              </a:rPr>
              <a:t>    return 0;</a:t>
            </a:r>
          </a:p>
          <a:p>
            <a:pPr algn="just"/>
            <a:r>
              <a:rPr lang="en-US" sz="1400" smtClean="0">
                <a:solidFill>
                  <a:schemeClr val="tx1"/>
                </a:solidFill>
              </a:rPr>
              <a:t>}</a:t>
            </a:r>
          </a:p>
          <a:p>
            <a:pPr algn="just"/>
            <a:endParaRPr lang="en-US" sz="1400" dirty="0">
              <a:solidFill>
                <a:schemeClr val="tx1"/>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SORTING</a:t>
            </a:r>
            <a:endParaRPr lang="en-US" b="1" dirty="0"/>
          </a:p>
        </p:txBody>
      </p:sp>
      <p:sp>
        <p:nvSpPr>
          <p:cNvPr id="3" name="Subtitle 2"/>
          <p:cNvSpPr>
            <a:spLocks noGrp="1"/>
          </p:cNvSpPr>
          <p:nvPr>
            <p:ph type="subTitle" idx="1"/>
          </p:nvPr>
        </p:nvSpPr>
        <p:spPr>
          <a:xfrm>
            <a:off x="685800" y="857250"/>
            <a:ext cx="7848600" cy="4057650"/>
          </a:xfrm>
        </p:spPr>
        <p:txBody>
          <a:bodyPr>
            <a:normAutofit fontScale="92500"/>
          </a:bodyPr>
          <a:lstStyle/>
          <a:p>
            <a:pPr algn="just"/>
            <a:r>
              <a:rPr lang="en-US" sz="2800" dirty="0" smtClean="0">
                <a:solidFill>
                  <a:schemeClr val="tx1"/>
                </a:solidFill>
              </a:rPr>
              <a:t>Sorting means arranging the elements of an array so that they are placed in some relevant order which may be either ascending or descending.</a:t>
            </a:r>
          </a:p>
          <a:p>
            <a:pPr algn="just"/>
            <a:endParaRPr lang="en-US" sz="2800" dirty="0" smtClean="0">
              <a:solidFill>
                <a:schemeClr val="tx1"/>
              </a:solidFill>
            </a:endParaRPr>
          </a:p>
          <a:p>
            <a:pPr algn="just"/>
            <a:r>
              <a:rPr lang="en-US" sz="2800" dirty="0" smtClean="0">
                <a:solidFill>
                  <a:schemeClr val="tx1"/>
                </a:solidFill>
              </a:rPr>
              <a:t>For example, if we have an array that is declared and initialized as</a:t>
            </a:r>
          </a:p>
          <a:p>
            <a:pPr algn="just"/>
            <a:r>
              <a:rPr lang="en-US" sz="2800" dirty="0" err="1" smtClean="0">
                <a:solidFill>
                  <a:schemeClr val="tx1"/>
                </a:solidFill>
              </a:rPr>
              <a:t>int</a:t>
            </a:r>
            <a:r>
              <a:rPr lang="en-US" sz="2800" dirty="0" smtClean="0">
                <a:solidFill>
                  <a:schemeClr val="tx1"/>
                </a:solidFill>
              </a:rPr>
              <a:t> A[] = {21, 34, 11, 9, 1, 0, 22};</a:t>
            </a:r>
          </a:p>
          <a:p>
            <a:pPr algn="just"/>
            <a:r>
              <a:rPr lang="en-US" sz="2800" dirty="0" smtClean="0">
                <a:solidFill>
                  <a:schemeClr val="tx1"/>
                </a:solidFill>
              </a:rPr>
              <a:t>Then the sorted array (ascending order) can be given as:</a:t>
            </a:r>
          </a:p>
          <a:p>
            <a:pPr algn="just"/>
            <a:r>
              <a:rPr lang="pt-BR" sz="2800" dirty="0" smtClean="0">
                <a:solidFill>
                  <a:schemeClr val="tx1"/>
                </a:solidFill>
              </a:rPr>
              <a:t>A[] = {0, 1, 9, 11, 21, 22, 34};</a:t>
            </a: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fontScale="77500" lnSpcReduction="20000"/>
          </a:bodyPr>
          <a:lstStyle/>
          <a:p>
            <a:pPr algn="just"/>
            <a:r>
              <a:rPr lang="en-US" sz="2800" dirty="0" smtClean="0">
                <a:solidFill>
                  <a:schemeClr val="tx1"/>
                </a:solidFill>
              </a:rPr>
              <a:t>Bubble sort is a very simple method that sorts the array elements by repeatedly moving the largest element to the highest index position of the array segment (in case of arranging elements in ascending order). </a:t>
            </a:r>
          </a:p>
          <a:p>
            <a:pPr algn="just"/>
            <a:endParaRPr lang="en-US" sz="2800" dirty="0" smtClean="0">
              <a:solidFill>
                <a:schemeClr val="tx1"/>
              </a:solidFill>
            </a:endParaRPr>
          </a:p>
          <a:p>
            <a:pPr algn="just"/>
            <a:r>
              <a:rPr lang="en-US" sz="2800" b="1" dirty="0" smtClean="0">
                <a:solidFill>
                  <a:schemeClr val="tx1"/>
                </a:solidFill>
              </a:rPr>
              <a:t>In </a:t>
            </a:r>
            <a:r>
              <a:rPr lang="en-US" sz="2800" b="1" i="1" dirty="0" smtClean="0">
                <a:solidFill>
                  <a:schemeClr val="tx1"/>
                </a:solidFill>
              </a:rPr>
              <a:t>bubble sorting, consecutive adjacent pairs of elements in the array are </a:t>
            </a:r>
            <a:r>
              <a:rPr lang="en-US" sz="2800" b="1" dirty="0" smtClean="0">
                <a:solidFill>
                  <a:schemeClr val="tx1"/>
                </a:solidFill>
              </a:rPr>
              <a:t>compared with each other. If the element at the lower index is greater than the element at the higher index, the two elements are interchanged so that the element is placed before the bigger one. </a:t>
            </a:r>
          </a:p>
          <a:p>
            <a:pPr algn="just"/>
            <a:endParaRPr lang="en-US" sz="2800" dirty="0" smtClean="0">
              <a:solidFill>
                <a:schemeClr val="tx1"/>
              </a:solidFill>
            </a:endParaRPr>
          </a:p>
          <a:p>
            <a:pPr algn="just"/>
            <a:r>
              <a:rPr lang="en-US" sz="2800" dirty="0" smtClean="0">
                <a:solidFill>
                  <a:schemeClr val="tx1"/>
                </a:solidFill>
              </a:rPr>
              <a:t>This process will continue till the list of unsorted elements exhausts.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r>
              <a:rPr lang="en-US" sz="2800" b="1" dirty="0" smtClean="0">
                <a:solidFill>
                  <a:schemeClr val="tx1"/>
                </a:solidFill>
              </a:rPr>
              <a:t>Algorithm</a:t>
            </a:r>
          </a:p>
          <a:p>
            <a:r>
              <a:rPr lang="en-US" sz="2800" dirty="0" smtClean="0"/>
              <a:t/>
            </a:r>
            <a:br>
              <a:rPr lang="en-US" sz="2800" dirty="0" smtClean="0"/>
            </a:br>
            <a:endParaRPr lang="en-US" sz="2800" dirty="0" smtClean="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838200" y="1257300"/>
            <a:ext cx="4267200" cy="337973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r>
              <a:rPr lang="en-US" sz="2800" dirty="0" smtClean="0"/>
              <a:t/>
            </a:r>
            <a:br>
              <a:rPr lang="en-US" sz="2800" dirty="0" smtClean="0"/>
            </a:br>
            <a:endParaRPr lang="en-US" sz="2800" dirty="0" smtClean="0">
              <a:solidFill>
                <a:schemeClr val="tx1"/>
              </a:solidFill>
            </a:endParaRPr>
          </a:p>
        </p:txBody>
      </p:sp>
      <p:pic>
        <p:nvPicPr>
          <p:cNvPr id="2052" name="Picture 4"/>
          <p:cNvPicPr>
            <a:picLocks noChangeAspect="1" noChangeArrowheads="1"/>
          </p:cNvPicPr>
          <p:nvPr/>
        </p:nvPicPr>
        <p:blipFill>
          <a:blip r:embed="rId2"/>
          <a:srcRect/>
          <a:stretch>
            <a:fillRect/>
          </a:stretch>
        </p:blipFill>
        <p:spPr bwMode="auto">
          <a:xfrm>
            <a:off x="838201" y="742950"/>
            <a:ext cx="6448425" cy="40719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r>
              <a:rPr lang="en-US" sz="2800" dirty="0" smtClean="0"/>
              <a:t/>
            </a:r>
            <a:br>
              <a:rPr lang="en-US" sz="2800" dirty="0" smtClean="0"/>
            </a:br>
            <a:endParaRPr lang="en-US" sz="2800" dirty="0" smtClean="0">
              <a:solidFill>
                <a:schemeClr val="tx1"/>
              </a:solidFill>
            </a:endParaRPr>
          </a:p>
        </p:txBody>
      </p:sp>
      <p:pic>
        <p:nvPicPr>
          <p:cNvPr id="3074" name="Picture 2"/>
          <p:cNvPicPr>
            <a:picLocks noChangeAspect="1" noChangeArrowheads="1"/>
          </p:cNvPicPr>
          <p:nvPr/>
        </p:nvPicPr>
        <p:blipFill>
          <a:blip r:embed="rId2"/>
          <a:srcRect/>
          <a:stretch>
            <a:fillRect/>
          </a:stretch>
        </p:blipFill>
        <p:spPr bwMode="auto">
          <a:xfrm>
            <a:off x="838201" y="971550"/>
            <a:ext cx="7229475" cy="3200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r>
              <a:rPr lang="en-US" sz="2800" dirty="0" smtClean="0"/>
              <a:t/>
            </a:r>
            <a:br>
              <a:rPr lang="en-US" sz="2800" dirty="0" smtClean="0"/>
            </a:br>
            <a:endParaRPr lang="en-US" sz="2800" dirty="0" smtClean="0">
              <a:solidFill>
                <a:schemeClr val="tx1"/>
              </a:solidFill>
            </a:endParaRPr>
          </a:p>
        </p:txBody>
      </p:sp>
      <p:pic>
        <p:nvPicPr>
          <p:cNvPr id="4098" name="Picture 2"/>
          <p:cNvPicPr>
            <a:picLocks noChangeAspect="1" noChangeArrowheads="1"/>
          </p:cNvPicPr>
          <p:nvPr/>
        </p:nvPicPr>
        <p:blipFill>
          <a:blip r:embed="rId2"/>
          <a:srcRect/>
          <a:stretch>
            <a:fillRect/>
          </a:stretch>
        </p:blipFill>
        <p:spPr bwMode="auto">
          <a:xfrm>
            <a:off x="838200" y="857250"/>
            <a:ext cx="4095750" cy="671513"/>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838200" y="1657350"/>
            <a:ext cx="6038850" cy="2886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r>
              <a:rPr lang="en-US" sz="2800" dirty="0" smtClean="0"/>
              <a:t/>
            </a:r>
            <a:br>
              <a:rPr lang="en-US" sz="2800" dirty="0" smtClean="0"/>
            </a:br>
            <a:endParaRPr lang="en-US" sz="2800" dirty="0" smtClean="0">
              <a:solidFill>
                <a:schemeClr val="tx1"/>
              </a:solidFill>
            </a:endParaRPr>
          </a:p>
        </p:txBody>
      </p:sp>
      <p:pic>
        <p:nvPicPr>
          <p:cNvPr id="5122" name="Picture 2"/>
          <p:cNvPicPr>
            <a:picLocks noChangeAspect="1" noChangeArrowheads="1"/>
          </p:cNvPicPr>
          <p:nvPr/>
        </p:nvPicPr>
        <p:blipFill>
          <a:blip r:embed="rId2"/>
          <a:srcRect/>
          <a:stretch>
            <a:fillRect/>
          </a:stretch>
        </p:blipFill>
        <p:spPr bwMode="auto">
          <a:xfrm>
            <a:off x="762001" y="857250"/>
            <a:ext cx="3876675" cy="657225"/>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838200" y="1600200"/>
            <a:ext cx="6096000" cy="28646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r>
              <a:rPr lang="en-US" sz="2800" dirty="0" smtClean="0"/>
              <a:t/>
            </a:r>
            <a:br>
              <a:rPr lang="en-US" sz="2800" dirty="0" smtClean="0"/>
            </a:br>
            <a:endParaRPr lang="en-US" sz="2800" dirty="0" smtClean="0">
              <a:solidFill>
                <a:schemeClr val="tx1"/>
              </a:solidFill>
            </a:endParaRPr>
          </a:p>
        </p:txBody>
      </p:sp>
      <p:pic>
        <p:nvPicPr>
          <p:cNvPr id="6146" name="Picture 2"/>
          <p:cNvPicPr>
            <a:picLocks noChangeAspect="1" noChangeArrowheads="1"/>
          </p:cNvPicPr>
          <p:nvPr/>
        </p:nvPicPr>
        <p:blipFill>
          <a:blip r:embed="rId2"/>
          <a:srcRect/>
          <a:stretch>
            <a:fillRect/>
          </a:stretch>
        </p:blipFill>
        <p:spPr bwMode="auto">
          <a:xfrm>
            <a:off x="914400" y="1200150"/>
            <a:ext cx="5486400" cy="166130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857250"/>
            <a:ext cx="7848600" cy="4057650"/>
          </a:xfrm>
        </p:spPr>
        <p:txBody>
          <a:bodyPr>
            <a:normAutofit fontScale="55000" lnSpcReduction="20000"/>
          </a:bodyPr>
          <a:lstStyle/>
          <a:p>
            <a:pPr algn="just"/>
            <a:r>
              <a:rPr lang="en-US" sz="2800" dirty="0" smtClean="0">
                <a:solidFill>
                  <a:schemeClr val="tx1"/>
                </a:solidFill>
              </a:rPr>
              <a:t>#include&lt;</a:t>
            </a:r>
            <a:r>
              <a:rPr lang="en-US" sz="2800" dirty="0" err="1" smtClean="0">
                <a:solidFill>
                  <a:schemeClr val="tx1"/>
                </a:solidFill>
              </a:rPr>
              <a:t>stdio.h</a:t>
            </a:r>
            <a:r>
              <a:rPr lang="en-US" sz="2800" dirty="0" smtClean="0">
                <a:solidFill>
                  <a:schemeClr val="tx1"/>
                </a:solidFill>
              </a:rPr>
              <a:t>&gt;</a:t>
            </a:r>
          </a:p>
          <a:p>
            <a:pPr algn="just"/>
            <a:r>
              <a:rPr lang="en-US" sz="2800" dirty="0" smtClean="0">
                <a:solidFill>
                  <a:schemeClr val="tx1"/>
                </a:solidFill>
              </a:rPr>
              <a:t>#include&lt;</a:t>
            </a:r>
            <a:r>
              <a:rPr lang="en-US" sz="2800" dirty="0" err="1" smtClean="0">
                <a:solidFill>
                  <a:schemeClr val="tx1"/>
                </a:solidFill>
              </a:rPr>
              <a:t>conio.h</a:t>
            </a:r>
            <a:r>
              <a:rPr lang="en-US" sz="2800" dirty="0" smtClean="0">
                <a:solidFill>
                  <a:schemeClr val="tx1"/>
                </a:solidFill>
              </a:rPr>
              <a:t>&gt;</a:t>
            </a:r>
          </a:p>
          <a:p>
            <a:pPr algn="just"/>
            <a:r>
              <a:rPr lang="en-US" sz="2800" dirty="0" smtClean="0">
                <a:solidFill>
                  <a:schemeClr val="tx1"/>
                </a:solidFill>
              </a:rPr>
              <a:t>void main()</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array[100], </a:t>
            </a:r>
            <a:r>
              <a:rPr lang="en-US" sz="2800" dirty="0" err="1" smtClean="0">
                <a:solidFill>
                  <a:schemeClr val="tx1"/>
                </a:solidFill>
              </a:rPr>
              <a:t>n,i,j</a:t>
            </a:r>
            <a:r>
              <a:rPr lang="en-US" sz="2800" dirty="0" smtClean="0">
                <a:solidFill>
                  <a:schemeClr val="tx1"/>
                </a:solidFill>
              </a:rPr>
              <a:t>, swap;</a:t>
            </a:r>
          </a:p>
          <a:p>
            <a:pPr algn="just"/>
            <a:r>
              <a:rPr lang="en-US" sz="2800" dirty="0" smtClean="0">
                <a:solidFill>
                  <a:schemeClr val="tx1"/>
                </a:solidFill>
              </a:rPr>
              <a:t>  </a:t>
            </a:r>
            <a:r>
              <a:rPr lang="en-US" sz="2800" dirty="0" err="1" smtClean="0">
                <a:solidFill>
                  <a:schemeClr val="tx1"/>
                </a:solidFill>
              </a:rPr>
              <a:t>clrscr</a:t>
            </a:r>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number of elements\n");</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("%d", &amp;n);</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%d integers\n", n);</a:t>
            </a:r>
          </a:p>
          <a:p>
            <a:pPr algn="just"/>
            <a:endParaRPr lang="en-US" sz="2800" dirty="0" smtClean="0">
              <a:solidFill>
                <a:schemeClr val="tx1"/>
              </a:solidFill>
            </a:endParaRPr>
          </a:p>
          <a:p>
            <a:pPr algn="just"/>
            <a:r>
              <a:rPr lang="en-US" sz="2800" dirty="0" smtClean="0">
                <a:solidFill>
                  <a:schemeClr val="tx1"/>
                </a:solidFill>
              </a:rPr>
              <a:t>  for (</a:t>
            </a:r>
            <a:r>
              <a:rPr lang="en-US" sz="2800" dirty="0" err="1" smtClean="0">
                <a:solidFill>
                  <a:schemeClr val="tx1"/>
                </a:solidFill>
              </a:rPr>
              <a:t>i</a:t>
            </a:r>
            <a:r>
              <a:rPr lang="en-US" sz="2800" dirty="0" smtClean="0">
                <a:solidFill>
                  <a:schemeClr val="tx1"/>
                </a:solidFill>
              </a:rPr>
              <a:t> = 0; </a:t>
            </a:r>
            <a:r>
              <a:rPr lang="en-US" sz="2800" dirty="0" err="1" smtClean="0">
                <a:solidFill>
                  <a:schemeClr val="tx1"/>
                </a:solidFill>
              </a:rPr>
              <a:t>i</a:t>
            </a:r>
            <a:r>
              <a:rPr lang="en-US" sz="2800" dirty="0" smtClean="0">
                <a:solidFill>
                  <a:schemeClr val="tx1"/>
                </a:solidFill>
              </a:rPr>
              <a:t> &lt; n; </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("%d", &amp;array[</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685800"/>
            <a:ext cx="7848600" cy="4057650"/>
          </a:xfrm>
        </p:spPr>
        <p:txBody>
          <a:bodyPr>
            <a:noAutofit/>
          </a:bodyPr>
          <a:lstStyle/>
          <a:p>
            <a:pPr algn="just"/>
            <a:r>
              <a:rPr lang="en-US" sz="1600" dirty="0" smtClean="0">
                <a:solidFill>
                  <a:schemeClr val="tx1"/>
                </a:solidFill>
              </a:rPr>
              <a:t>  for (</a:t>
            </a:r>
            <a:r>
              <a:rPr lang="en-US" sz="1600" dirty="0" err="1" smtClean="0">
                <a:solidFill>
                  <a:schemeClr val="tx1"/>
                </a:solidFill>
              </a:rPr>
              <a:t>i</a:t>
            </a:r>
            <a:r>
              <a:rPr lang="en-US" sz="1600" dirty="0" smtClean="0">
                <a:solidFill>
                  <a:schemeClr val="tx1"/>
                </a:solidFill>
              </a:rPr>
              <a:t> = 0 ; </a:t>
            </a:r>
            <a:r>
              <a:rPr lang="en-US" sz="1600" dirty="0" err="1" smtClean="0">
                <a:solidFill>
                  <a:schemeClr val="tx1"/>
                </a:solidFill>
              </a:rPr>
              <a:t>i</a:t>
            </a:r>
            <a:r>
              <a:rPr lang="en-US" sz="1600" dirty="0" smtClean="0">
                <a:solidFill>
                  <a:schemeClr val="tx1"/>
                </a:solidFill>
              </a:rPr>
              <a:t> &lt; n - 1; </a:t>
            </a:r>
            <a:r>
              <a:rPr lang="en-US" sz="1600" dirty="0" err="1" smtClean="0">
                <a:solidFill>
                  <a:schemeClr val="tx1"/>
                </a:solidFill>
              </a:rPr>
              <a:t>i</a:t>
            </a:r>
            <a:r>
              <a:rPr lang="en-US" sz="1600" dirty="0" smtClean="0">
                <a:solidFill>
                  <a:schemeClr val="tx1"/>
                </a:solidFill>
              </a:rPr>
              <a:t>++)</a:t>
            </a:r>
          </a:p>
          <a:p>
            <a:pPr algn="just"/>
            <a:r>
              <a:rPr lang="en-US" sz="1600" dirty="0" smtClean="0">
                <a:solidFill>
                  <a:schemeClr val="tx1"/>
                </a:solidFill>
              </a:rPr>
              <a:t>  {</a:t>
            </a:r>
          </a:p>
          <a:p>
            <a:pPr algn="just"/>
            <a:r>
              <a:rPr lang="en-US" sz="1600" dirty="0" smtClean="0">
                <a:solidFill>
                  <a:schemeClr val="tx1"/>
                </a:solidFill>
              </a:rPr>
              <a:t>    for (j = 0 ; j &lt; n - </a:t>
            </a:r>
            <a:r>
              <a:rPr lang="en-US" sz="1600" dirty="0" err="1" smtClean="0">
                <a:solidFill>
                  <a:schemeClr val="tx1"/>
                </a:solidFill>
              </a:rPr>
              <a:t>i</a:t>
            </a:r>
            <a:r>
              <a:rPr lang="en-US" sz="1600" dirty="0" smtClean="0">
                <a:solidFill>
                  <a:schemeClr val="tx1"/>
                </a:solidFill>
              </a:rPr>
              <a:t> - 1; j++)</a:t>
            </a:r>
          </a:p>
          <a:p>
            <a:pPr algn="just"/>
            <a:r>
              <a:rPr lang="en-US" sz="1600" dirty="0" smtClean="0">
                <a:solidFill>
                  <a:schemeClr val="tx1"/>
                </a:solidFill>
              </a:rPr>
              <a:t>    {</a:t>
            </a:r>
          </a:p>
          <a:p>
            <a:pPr algn="just"/>
            <a:r>
              <a:rPr lang="en-US" sz="1600" dirty="0" smtClean="0">
                <a:solidFill>
                  <a:schemeClr val="tx1"/>
                </a:solidFill>
              </a:rPr>
              <a:t>      if (array[j] &gt; array[j+1])</a:t>
            </a:r>
          </a:p>
          <a:p>
            <a:pPr algn="just"/>
            <a:r>
              <a:rPr lang="en-US" sz="1600" dirty="0" smtClean="0">
                <a:solidFill>
                  <a:schemeClr val="tx1"/>
                </a:solidFill>
              </a:rPr>
              <a:t>      {</a:t>
            </a:r>
          </a:p>
          <a:p>
            <a:pPr algn="just"/>
            <a:r>
              <a:rPr lang="en-US" sz="1600" dirty="0" smtClean="0">
                <a:solidFill>
                  <a:schemeClr val="tx1"/>
                </a:solidFill>
              </a:rPr>
              <a:t>	swap       = array[j];</a:t>
            </a:r>
          </a:p>
          <a:p>
            <a:pPr algn="just"/>
            <a:r>
              <a:rPr lang="en-US" sz="1600" dirty="0" smtClean="0">
                <a:solidFill>
                  <a:schemeClr val="tx1"/>
                </a:solidFill>
              </a:rPr>
              <a:t>	array[j]   = array[j+1];</a:t>
            </a:r>
          </a:p>
          <a:p>
            <a:pPr algn="just"/>
            <a:r>
              <a:rPr lang="en-US" sz="1600" dirty="0" smtClean="0">
                <a:solidFill>
                  <a:schemeClr val="tx1"/>
                </a:solidFill>
              </a:rPr>
              <a:t>	array[j+1] = swap;</a:t>
            </a:r>
          </a:p>
          <a:p>
            <a:pPr algn="just"/>
            <a:r>
              <a:rPr lang="en-US" sz="1600" dirty="0" smtClean="0">
                <a:solidFill>
                  <a:schemeClr val="tx1"/>
                </a:solidFill>
              </a:rPr>
              <a:t>      }</a:t>
            </a:r>
          </a:p>
          <a:p>
            <a:pPr algn="just"/>
            <a:r>
              <a:rPr lang="en-US" sz="1600" dirty="0" smtClean="0">
                <a:solidFill>
                  <a:schemeClr val="tx1"/>
                </a:solidFill>
              </a:rPr>
              <a:t>    }</a:t>
            </a:r>
          </a:p>
          <a:p>
            <a:pPr algn="just"/>
            <a:r>
              <a:rPr lang="en-US" sz="1600" dirty="0" smtClean="0">
                <a:solidFill>
                  <a:schemeClr val="tx1"/>
                </a:solidFill>
              </a:rPr>
              <a:t>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BUBBLE SORT</a:t>
            </a:r>
            <a:endParaRPr lang="en-US" b="1" dirty="0"/>
          </a:p>
        </p:txBody>
      </p:sp>
      <p:sp>
        <p:nvSpPr>
          <p:cNvPr id="3" name="Subtitle 2"/>
          <p:cNvSpPr>
            <a:spLocks noGrp="1"/>
          </p:cNvSpPr>
          <p:nvPr>
            <p:ph type="subTitle" idx="1"/>
          </p:nvPr>
        </p:nvSpPr>
        <p:spPr>
          <a:xfrm>
            <a:off x="685800" y="685800"/>
            <a:ext cx="7848600" cy="4057650"/>
          </a:xfrm>
        </p:spPr>
        <p:txBody>
          <a:bodyPr>
            <a:noAutofit/>
          </a:bodyPr>
          <a:lstStyle/>
          <a:p>
            <a:pPr algn="just"/>
            <a:r>
              <a:rPr lang="en-US" sz="1600" dirty="0" err="1" smtClean="0">
                <a:solidFill>
                  <a:schemeClr val="tx1"/>
                </a:solidFill>
              </a:rPr>
              <a:t>printf</a:t>
            </a:r>
            <a:r>
              <a:rPr lang="en-US" sz="1600" dirty="0" smtClean="0">
                <a:solidFill>
                  <a:schemeClr val="tx1"/>
                </a:solidFill>
              </a:rPr>
              <a:t>("Sorted list in ascending order:\n");</a:t>
            </a:r>
          </a:p>
          <a:p>
            <a:pPr algn="just"/>
            <a:endParaRPr lang="en-US" sz="1600" dirty="0" smtClean="0">
              <a:solidFill>
                <a:schemeClr val="tx1"/>
              </a:solidFill>
            </a:endParaRPr>
          </a:p>
          <a:p>
            <a:pPr algn="just"/>
            <a:r>
              <a:rPr lang="en-US" sz="1600" dirty="0" smtClean="0">
                <a:solidFill>
                  <a:schemeClr val="tx1"/>
                </a:solidFill>
              </a:rPr>
              <a:t>  for (</a:t>
            </a:r>
            <a:r>
              <a:rPr lang="en-US" sz="1600" dirty="0" err="1" smtClean="0">
                <a:solidFill>
                  <a:schemeClr val="tx1"/>
                </a:solidFill>
              </a:rPr>
              <a:t>i</a:t>
            </a:r>
            <a:r>
              <a:rPr lang="en-US" sz="1600" dirty="0" smtClean="0">
                <a:solidFill>
                  <a:schemeClr val="tx1"/>
                </a:solidFill>
              </a:rPr>
              <a:t> = 0; </a:t>
            </a:r>
            <a:r>
              <a:rPr lang="en-US" sz="1600" dirty="0" err="1" smtClean="0">
                <a:solidFill>
                  <a:schemeClr val="tx1"/>
                </a:solidFill>
              </a:rPr>
              <a:t>i</a:t>
            </a:r>
            <a:r>
              <a:rPr lang="en-US" sz="1600" dirty="0" smtClean="0">
                <a:solidFill>
                  <a:schemeClr val="tx1"/>
                </a:solidFill>
              </a:rPr>
              <a:t> &lt; n; </a:t>
            </a:r>
            <a:r>
              <a:rPr lang="en-US" sz="1600" dirty="0" err="1" smtClean="0">
                <a:solidFill>
                  <a:schemeClr val="tx1"/>
                </a:solidFill>
              </a:rPr>
              <a:t>i</a:t>
            </a:r>
            <a:r>
              <a:rPr lang="en-US" sz="1600" dirty="0" smtClean="0">
                <a:solidFill>
                  <a:schemeClr val="tx1"/>
                </a:solidFill>
              </a:rPr>
              <a:t>++)</a:t>
            </a:r>
          </a:p>
          <a:p>
            <a:pPr algn="just"/>
            <a:r>
              <a:rPr lang="en-US" sz="1600" dirty="0" smtClean="0">
                <a:solidFill>
                  <a:schemeClr val="tx1"/>
                </a:solidFill>
              </a:rPr>
              <a:t>     </a:t>
            </a:r>
            <a:r>
              <a:rPr lang="en-US" sz="1600" dirty="0" err="1" smtClean="0">
                <a:solidFill>
                  <a:schemeClr val="tx1"/>
                </a:solidFill>
              </a:rPr>
              <a:t>printf</a:t>
            </a:r>
            <a:r>
              <a:rPr lang="en-US" sz="1600" dirty="0" smtClean="0">
                <a:solidFill>
                  <a:schemeClr val="tx1"/>
                </a:solidFill>
              </a:rPr>
              <a:t>("%d\n", array[</a:t>
            </a:r>
            <a:r>
              <a:rPr lang="en-US" sz="1600" dirty="0" err="1" smtClean="0">
                <a:solidFill>
                  <a:schemeClr val="tx1"/>
                </a:solidFill>
              </a:rPr>
              <a:t>i</a:t>
            </a:r>
            <a:r>
              <a:rPr lang="en-US" sz="1600" dirty="0" smtClean="0">
                <a:solidFill>
                  <a:schemeClr val="tx1"/>
                </a:solidFill>
              </a:rPr>
              <a:t>]);</a:t>
            </a:r>
          </a:p>
          <a:p>
            <a:pPr algn="just"/>
            <a:endParaRPr lang="en-US" sz="1600" dirty="0" smtClean="0">
              <a:solidFill>
                <a:schemeClr val="tx1"/>
              </a:solidFill>
            </a:endParaRPr>
          </a:p>
          <a:p>
            <a:pPr algn="just"/>
            <a:r>
              <a:rPr lang="en-US" sz="1600" dirty="0" smtClean="0">
                <a:solidFill>
                  <a:schemeClr val="tx1"/>
                </a:solidFill>
              </a:rPr>
              <a:t>  </a:t>
            </a:r>
            <a:r>
              <a:rPr lang="en-US" sz="1600" dirty="0" err="1" smtClean="0">
                <a:solidFill>
                  <a:schemeClr val="tx1"/>
                </a:solidFill>
              </a:rPr>
              <a:t>getch</a:t>
            </a:r>
            <a:r>
              <a:rPr lang="en-US" sz="1600" dirty="0" smtClean="0">
                <a:solidFill>
                  <a:schemeClr val="tx1"/>
                </a:solidFill>
              </a:rPr>
              <a:t>();</a:t>
            </a:r>
          </a:p>
          <a:p>
            <a:pPr algn="just"/>
            <a:r>
              <a:rPr lang="en-US" sz="1600" dirty="0" smtClean="0">
                <a:solidFill>
                  <a:schemeClr val="tx1"/>
                </a:solidFill>
              </a:rPr>
              <a: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762000" y="857250"/>
            <a:ext cx="7772400" cy="3848100"/>
          </a:xfrm>
        </p:spPr>
        <p:txBody>
          <a:bodyPr>
            <a:normAutofit fontScale="85000" lnSpcReduction="10000"/>
          </a:bodyPr>
          <a:lstStyle/>
          <a:p>
            <a:pPr algn="l"/>
            <a:r>
              <a:rPr lang="en-GB" sz="2800" dirty="0" smtClean="0">
                <a:solidFill>
                  <a:schemeClr val="tx1"/>
                </a:solidFill>
              </a:rPr>
              <a:t>Insertion Sort in C is a simple and efficient sorting algorithm, that creates the final sorted array one element at a time. </a:t>
            </a:r>
            <a:endParaRPr lang="en-US" sz="2800" dirty="0" smtClean="0">
              <a:solidFill>
                <a:schemeClr val="tx1"/>
              </a:solidFill>
            </a:endParaRPr>
          </a:p>
          <a:p>
            <a:pPr algn="just"/>
            <a:endParaRPr lang="en-US" sz="2800" dirty="0" smtClean="0">
              <a:solidFill>
                <a:schemeClr val="tx1"/>
              </a:solidFill>
            </a:endParaRPr>
          </a:p>
          <a:p>
            <a:pPr algn="just"/>
            <a:r>
              <a:rPr lang="en-US" sz="2800" dirty="0" smtClean="0">
                <a:solidFill>
                  <a:schemeClr val="tx1"/>
                </a:solidFill>
              </a:rPr>
              <a:t>The main idea behind insertion sort is that it inserts each item into its proper place in the final list. To save memory, most implementations of the insertion sort algorithm work by moving the current data element past the already sorted values and repeatedly interchanging it with the preceding value until it is in its correct place. </a:t>
            </a:r>
            <a:r>
              <a:rPr lang="en-GB" sz="2800" dirty="0" smtClean="0">
                <a:solidFill>
                  <a:schemeClr val="tx1"/>
                </a:solidFill>
              </a:rPr>
              <a:t>If the given input array is sorted or nearly sorted, then it gives best performance.</a:t>
            </a:r>
            <a:endParaRPr lang="en-US" sz="2800" dirty="0" smtClean="0">
              <a:solidFill>
                <a:schemeClr val="tx1"/>
              </a:solidFill>
            </a:endParaRPr>
          </a:p>
          <a:p>
            <a:pPr algn="just"/>
            <a:endParaRPr lang="en-IN" sz="2800" dirty="0" smtClean="0">
              <a:solidFill>
                <a:schemeClr val="tx1"/>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lnSpcReduction="10000"/>
          </a:bodyPr>
          <a:lstStyle/>
          <a:p>
            <a:pPr algn="just"/>
            <a:r>
              <a:rPr lang="en-US" sz="2800" dirty="0" smtClean="0">
                <a:solidFill>
                  <a:schemeClr val="tx1"/>
                </a:solidFill>
              </a:rPr>
              <a:t>Insertion sort works similar to the sorting of playing cards in hands. It is assumed that the first card is already sorted in the card game, and then we select an unsorted card. If the selected unsorted card is greater than the first card, it will be placed at the right side; otherwise, it will be placed at the left side. Similarly, all unsorted cards are taken and put in their exact place.</a:t>
            </a:r>
          </a:p>
          <a:p>
            <a:pPr algn="just"/>
            <a:r>
              <a:rPr lang="en-US" sz="2800" dirty="0" smtClean="0">
                <a:solidFill>
                  <a:schemeClr val="tx1"/>
                </a:solidFill>
              </a:rPr>
              <a:t/>
            </a:r>
            <a:br>
              <a:rPr lang="en-US" sz="2800" dirty="0" smtClean="0">
                <a:solidFill>
                  <a:schemeClr val="tx1"/>
                </a:solidFill>
              </a:rPr>
            </a:br>
            <a:endParaRPr lang="en-IN" sz="2800" dirty="0" smtClean="0">
              <a:solidFill>
                <a:schemeClr val="tx1"/>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IN" sz="2800" dirty="0" smtClean="0">
              <a:solidFill>
                <a:schemeClr val="tx1"/>
              </a:solidFill>
            </a:endParaRPr>
          </a:p>
        </p:txBody>
      </p:sp>
      <p:pic>
        <p:nvPicPr>
          <p:cNvPr id="7170" name="Picture 2"/>
          <p:cNvPicPr>
            <a:picLocks noChangeAspect="1" noChangeArrowheads="1"/>
          </p:cNvPicPr>
          <p:nvPr/>
        </p:nvPicPr>
        <p:blipFill>
          <a:blip r:embed="rId2"/>
          <a:srcRect/>
          <a:stretch>
            <a:fillRect/>
          </a:stretch>
        </p:blipFill>
        <p:spPr bwMode="auto">
          <a:xfrm>
            <a:off x="762001" y="1028700"/>
            <a:ext cx="7543799" cy="38290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IN" sz="2800" dirty="0" smtClean="0">
              <a:solidFill>
                <a:schemeClr val="tx1"/>
              </a:solidFill>
            </a:endParaRPr>
          </a:p>
        </p:txBody>
      </p:sp>
      <p:pic>
        <p:nvPicPr>
          <p:cNvPr id="8194" name="Picture 2"/>
          <p:cNvPicPr>
            <a:picLocks noChangeAspect="1" noChangeArrowheads="1"/>
          </p:cNvPicPr>
          <p:nvPr/>
        </p:nvPicPr>
        <p:blipFill>
          <a:blip r:embed="rId2"/>
          <a:srcRect/>
          <a:stretch>
            <a:fillRect/>
          </a:stretch>
        </p:blipFill>
        <p:spPr bwMode="auto">
          <a:xfrm>
            <a:off x="838201" y="1257300"/>
            <a:ext cx="7191375" cy="35242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IN" sz="2800" dirty="0" smtClean="0">
              <a:solidFill>
                <a:schemeClr val="tx1"/>
              </a:solidFill>
            </a:endParaRPr>
          </a:p>
        </p:txBody>
      </p:sp>
      <p:pic>
        <p:nvPicPr>
          <p:cNvPr id="9218" name="Picture 2"/>
          <p:cNvPicPr>
            <a:picLocks noChangeAspect="1" noChangeArrowheads="1"/>
          </p:cNvPicPr>
          <p:nvPr/>
        </p:nvPicPr>
        <p:blipFill>
          <a:blip r:embed="rId2"/>
          <a:srcRect/>
          <a:stretch>
            <a:fillRect/>
          </a:stretch>
        </p:blipFill>
        <p:spPr bwMode="auto">
          <a:xfrm>
            <a:off x="838200" y="1200150"/>
            <a:ext cx="7143750" cy="33004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IN" sz="2800" dirty="0" smtClean="0">
              <a:solidFill>
                <a:schemeClr val="tx1"/>
              </a:solidFill>
            </a:endParaRPr>
          </a:p>
        </p:txBody>
      </p:sp>
      <p:pic>
        <p:nvPicPr>
          <p:cNvPr id="10242" name="Picture 2"/>
          <p:cNvPicPr>
            <a:picLocks noChangeAspect="1" noChangeArrowheads="1"/>
          </p:cNvPicPr>
          <p:nvPr/>
        </p:nvPicPr>
        <p:blipFill>
          <a:blip r:embed="rId2"/>
          <a:srcRect/>
          <a:stretch>
            <a:fillRect/>
          </a:stretch>
        </p:blipFill>
        <p:spPr bwMode="auto">
          <a:xfrm>
            <a:off x="838201" y="864394"/>
            <a:ext cx="7077075" cy="41648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IN" sz="2800" dirty="0" smtClean="0">
              <a:solidFill>
                <a:schemeClr val="tx1"/>
              </a:solidFill>
            </a:endParaRPr>
          </a:p>
        </p:txBody>
      </p:sp>
      <p:pic>
        <p:nvPicPr>
          <p:cNvPr id="11266" name="Picture 2"/>
          <p:cNvPicPr>
            <a:picLocks noChangeAspect="1" noChangeArrowheads="1"/>
          </p:cNvPicPr>
          <p:nvPr/>
        </p:nvPicPr>
        <p:blipFill>
          <a:blip r:embed="rId2"/>
          <a:srcRect/>
          <a:stretch>
            <a:fillRect/>
          </a:stretch>
        </p:blipFill>
        <p:spPr bwMode="auto">
          <a:xfrm>
            <a:off x="1295400" y="914400"/>
            <a:ext cx="6000750" cy="3886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fontScale="40000" lnSpcReduction="20000"/>
          </a:bodyPr>
          <a:lstStyle/>
          <a:p>
            <a:pPr algn="just"/>
            <a:r>
              <a:rPr lang="en-US" sz="2800" dirty="0" smtClean="0">
                <a:solidFill>
                  <a:schemeClr val="tx1"/>
                </a:solidFill>
              </a:rPr>
              <a:t>#include&lt;</a:t>
            </a:r>
            <a:r>
              <a:rPr lang="en-US" sz="2800" dirty="0" err="1" smtClean="0">
                <a:solidFill>
                  <a:schemeClr val="tx1"/>
                </a:solidFill>
              </a:rPr>
              <a:t>stdio.h</a:t>
            </a:r>
            <a:r>
              <a:rPr lang="en-US" sz="2800" dirty="0" smtClean="0">
                <a:solidFill>
                  <a:schemeClr val="tx1"/>
                </a:solidFill>
              </a:rPr>
              <a:t>&gt;</a:t>
            </a:r>
          </a:p>
          <a:p>
            <a:pPr algn="just"/>
            <a:r>
              <a:rPr lang="en-US" sz="2800" dirty="0" smtClean="0">
                <a:solidFill>
                  <a:schemeClr val="tx1"/>
                </a:solidFill>
              </a:rPr>
              <a:t>#include&lt;</a:t>
            </a:r>
            <a:r>
              <a:rPr lang="en-US" sz="2800" dirty="0" err="1" smtClean="0">
                <a:solidFill>
                  <a:schemeClr val="tx1"/>
                </a:solidFill>
              </a:rPr>
              <a:t>conio.h</a:t>
            </a:r>
            <a:r>
              <a:rPr lang="en-US" sz="2800" dirty="0" smtClean="0">
                <a:solidFill>
                  <a:schemeClr val="tx1"/>
                </a:solidFill>
              </a:rPr>
              <a:t>&gt;</a:t>
            </a:r>
          </a:p>
          <a:p>
            <a:pPr algn="just"/>
            <a:r>
              <a:rPr lang="en-US" sz="2800" dirty="0" smtClean="0">
                <a:solidFill>
                  <a:schemeClr val="tx1"/>
                </a:solidFill>
              </a:rPr>
              <a:t>void main()</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n</a:t>
            </a:r>
            <a:r>
              <a:rPr lang="en-US" sz="2800" smtClean="0">
                <a:solidFill>
                  <a:schemeClr val="tx1"/>
                </a:solidFill>
              </a:rPr>
              <a:t>, array[100], </a:t>
            </a:r>
            <a:r>
              <a:rPr lang="en-US" sz="2800" dirty="0" smtClean="0">
                <a:solidFill>
                  <a:schemeClr val="tx1"/>
                </a:solidFill>
              </a:rPr>
              <a:t>c, d, t, flag = 0;</a:t>
            </a:r>
          </a:p>
          <a:p>
            <a:pPr algn="just"/>
            <a:r>
              <a:rPr lang="en-US" sz="2800" dirty="0" smtClean="0">
                <a:solidFill>
                  <a:schemeClr val="tx1"/>
                </a:solidFill>
              </a:rPr>
              <a:t>  </a:t>
            </a:r>
            <a:r>
              <a:rPr lang="en-US" sz="2800" dirty="0" err="1" smtClean="0">
                <a:solidFill>
                  <a:schemeClr val="tx1"/>
                </a:solidFill>
              </a:rPr>
              <a:t>clrscr</a:t>
            </a:r>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number of elements\n");</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("%d", &amp;n);</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%d integers\n", n);</a:t>
            </a:r>
          </a:p>
          <a:p>
            <a:pPr algn="just"/>
            <a:endParaRPr lang="en-US" sz="2800" dirty="0" smtClean="0">
              <a:solidFill>
                <a:schemeClr val="tx1"/>
              </a:solidFill>
            </a:endParaRPr>
          </a:p>
          <a:p>
            <a:pPr algn="just"/>
            <a:r>
              <a:rPr lang="en-US" sz="2800" dirty="0" smtClean="0">
                <a:solidFill>
                  <a:schemeClr val="tx1"/>
                </a:solidFill>
              </a:rPr>
              <a:t>  for (c = 0; c &lt; n; </a:t>
            </a:r>
            <a:r>
              <a:rPr lang="en-US" sz="2800" dirty="0" err="1" smtClean="0">
                <a:solidFill>
                  <a:schemeClr val="tx1"/>
                </a:solidFill>
              </a:rPr>
              <a:t>c++</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("%d", &amp;array[c]);</a:t>
            </a:r>
          </a:p>
          <a:p>
            <a:pPr algn="just"/>
            <a:endParaRPr lang="en-US" sz="2800" dirty="0" smtClean="0">
              <a:solidFill>
                <a:schemeClr val="tx1"/>
              </a:solidFill>
            </a:endParaRPr>
          </a:p>
          <a:p>
            <a:pPr algn="just"/>
            <a:r>
              <a:rPr lang="en-US" sz="2800" dirty="0" smtClean="0">
                <a:solidFill>
                  <a:schemeClr val="tx1"/>
                </a:solidFill>
              </a:rPr>
              <a:t>  for (c = 1 ; c &lt;= n - 1; </a:t>
            </a:r>
            <a:r>
              <a:rPr lang="en-US" sz="2800" dirty="0" err="1" smtClean="0">
                <a:solidFill>
                  <a:schemeClr val="tx1"/>
                </a:solidFill>
              </a:rPr>
              <a:t>c++</a:t>
            </a:r>
            <a:r>
              <a:rPr lang="en-US" sz="2800" dirty="0" smtClean="0">
                <a:solidFill>
                  <a:schemeClr val="tx1"/>
                </a:solidFill>
              </a:rPr>
              <a:t>) </a:t>
            </a:r>
          </a:p>
          <a:p>
            <a:pPr algn="just"/>
            <a:r>
              <a:rPr lang="en-US" sz="2800" dirty="0" smtClean="0">
                <a:solidFill>
                  <a:schemeClr val="tx1"/>
                </a:solidFill>
              </a:rPr>
              <a:t>  {</a:t>
            </a:r>
          </a:p>
          <a:p>
            <a:pPr algn="just"/>
            <a:r>
              <a:rPr lang="en-US" sz="2800" dirty="0" smtClean="0">
                <a:solidFill>
                  <a:schemeClr val="tx1"/>
                </a:solidFill>
              </a:rPr>
              <a:t>    t = array[c];</a:t>
            </a:r>
          </a:p>
          <a:p>
            <a:pPr algn="just"/>
            <a:endParaRPr lang="en-US" sz="2800" dirty="0" smtClean="0">
              <a:solidFill>
                <a:schemeClr val="tx1"/>
              </a:solidFill>
            </a:endParaRPr>
          </a:p>
          <a:p>
            <a:pPr algn="just"/>
            <a:r>
              <a:rPr lang="en-US" sz="2800" dirty="0" smtClean="0">
                <a:solidFill>
                  <a:schemeClr val="tx1"/>
                </a:solidFill>
              </a:rPr>
              <a:t>    for (d = c - 1 ; d &gt;= 0; d--) </a:t>
            </a:r>
          </a:p>
          <a:p>
            <a:pPr algn="just"/>
            <a:r>
              <a:rPr lang="en-US" sz="2800" dirty="0" smtClean="0">
                <a:solidFill>
                  <a:schemeClr val="tx1"/>
                </a:solidFill>
              </a:rPr>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INSERTION SORT</a:t>
            </a:r>
            <a:endParaRPr lang="en-US" b="1" dirty="0"/>
          </a:p>
        </p:txBody>
      </p:sp>
      <p:sp>
        <p:nvSpPr>
          <p:cNvPr id="3" name="Subtitle 2"/>
          <p:cNvSpPr>
            <a:spLocks noGrp="1"/>
          </p:cNvSpPr>
          <p:nvPr>
            <p:ph type="subTitle" idx="1"/>
          </p:nvPr>
        </p:nvSpPr>
        <p:spPr>
          <a:xfrm>
            <a:off x="685800" y="857250"/>
            <a:ext cx="7848600" cy="4057650"/>
          </a:xfrm>
        </p:spPr>
        <p:txBody>
          <a:bodyPr>
            <a:normAutofit fontScale="40000" lnSpcReduction="20000"/>
          </a:bodyPr>
          <a:lstStyle/>
          <a:p>
            <a:pPr algn="just"/>
            <a:r>
              <a:rPr lang="en-US" sz="2800" dirty="0" smtClean="0">
                <a:solidFill>
                  <a:schemeClr val="tx1"/>
                </a:solidFill>
              </a:rPr>
              <a:t>if (array[d] &gt; t) </a:t>
            </a:r>
          </a:p>
          <a:p>
            <a:pPr algn="just"/>
            <a:r>
              <a:rPr lang="en-US" sz="2800" dirty="0" smtClean="0">
                <a:solidFill>
                  <a:schemeClr val="tx1"/>
                </a:solidFill>
              </a:rPr>
              <a:t>      {</a:t>
            </a:r>
          </a:p>
          <a:p>
            <a:pPr algn="just"/>
            <a:r>
              <a:rPr lang="en-US" sz="2800" dirty="0" smtClean="0">
                <a:solidFill>
                  <a:schemeClr val="tx1"/>
                </a:solidFill>
              </a:rPr>
              <a:t>        array[d+1] = array[d];</a:t>
            </a:r>
          </a:p>
          <a:p>
            <a:pPr algn="just"/>
            <a:r>
              <a:rPr lang="en-US" sz="2800" dirty="0" smtClean="0">
                <a:solidFill>
                  <a:schemeClr val="tx1"/>
                </a:solidFill>
              </a:rPr>
              <a:t>        flag = 1;</a:t>
            </a:r>
          </a:p>
          <a:p>
            <a:pPr algn="just"/>
            <a:r>
              <a:rPr lang="en-US" sz="2800" dirty="0" smtClean="0">
                <a:solidFill>
                  <a:schemeClr val="tx1"/>
                </a:solidFill>
              </a:rPr>
              <a:t>      }</a:t>
            </a:r>
          </a:p>
          <a:p>
            <a:pPr algn="just"/>
            <a:r>
              <a:rPr lang="en-US" sz="2800" dirty="0" smtClean="0">
                <a:solidFill>
                  <a:schemeClr val="tx1"/>
                </a:solidFill>
              </a:rPr>
              <a:t>      else</a:t>
            </a:r>
          </a:p>
          <a:p>
            <a:pPr algn="just"/>
            <a:r>
              <a:rPr lang="en-US" sz="2800" dirty="0" smtClean="0">
                <a:solidFill>
                  <a:schemeClr val="tx1"/>
                </a:solidFill>
              </a:rPr>
              <a:t>        break;</a:t>
            </a:r>
          </a:p>
          <a:p>
            <a:pPr algn="just"/>
            <a:r>
              <a:rPr lang="en-US" sz="2800" dirty="0" smtClean="0">
                <a:solidFill>
                  <a:schemeClr val="tx1"/>
                </a:solidFill>
              </a:rPr>
              <a:t>    }</a:t>
            </a:r>
          </a:p>
          <a:p>
            <a:pPr algn="just"/>
            <a:r>
              <a:rPr lang="en-US" sz="2800" dirty="0" smtClean="0">
                <a:solidFill>
                  <a:schemeClr val="tx1"/>
                </a:solidFill>
              </a:rPr>
              <a:t>    if (flag)</a:t>
            </a:r>
          </a:p>
          <a:p>
            <a:pPr algn="just"/>
            <a:r>
              <a:rPr lang="en-US" sz="2800" dirty="0" smtClean="0">
                <a:solidFill>
                  <a:schemeClr val="tx1"/>
                </a:solidFill>
              </a:rPr>
              <a:t>      array[d+1] = t;</a:t>
            </a:r>
          </a:p>
          <a:p>
            <a:pPr algn="just"/>
            <a:r>
              <a:rPr lang="en-US" sz="2800" dirty="0" smtClean="0">
                <a:solidFill>
                  <a:schemeClr val="tx1"/>
                </a:solidFill>
              </a:rPr>
              <a:t>  }</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("Sorted list in ascending order:\n");</a:t>
            </a:r>
          </a:p>
          <a:p>
            <a:pPr algn="just"/>
            <a:endParaRPr lang="en-US" sz="2800" dirty="0" smtClean="0">
              <a:solidFill>
                <a:schemeClr val="tx1"/>
              </a:solidFill>
            </a:endParaRPr>
          </a:p>
          <a:p>
            <a:pPr algn="just"/>
            <a:r>
              <a:rPr lang="en-US" sz="2800" dirty="0" smtClean="0">
                <a:solidFill>
                  <a:schemeClr val="tx1"/>
                </a:solidFill>
              </a:rPr>
              <a:t>  for (c = 0; c &lt;= n - 1; </a:t>
            </a:r>
            <a:r>
              <a:rPr lang="en-US" sz="2800" dirty="0" err="1" smtClean="0">
                <a:solidFill>
                  <a:schemeClr val="tx1"/>
                </a:solidFill>
              </a:rPr>
              <a:t>c++</a:t>
            </a:r>
            <a:r>
              <a:rPr lang="en-US" sz="2800" dirty="0" smtClean="0">
                <a:solidFill>
                  <a:schemeClr val="tx1"/>
                </a:solidFill>
              </a:rPr>
              <a:t>)</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("%d\n", array[c]);</a:t>
            </a:r>
          </a:p>
          <a:p>
            <a:pPr algn="just"/>
            <a:r>
              <a:rPr lang="en-US" sz="2800" dirty="0" smtClean="0">
                <a:solidFill>
                  <a:schemeClr val="tx1"/>
                </a:solidFill>
              </a:rPr>
              <a:t>  }</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getch</a:t>
            </a:r>
            <a:r>
              <a:rPr lang="en-US" sz="2800" dirty="0" smtClean="0">
                <a:solidFill>
                  <a:schemeClr val="tx1"/>
                </a:solidFill>
              </a:rPr>
              <a:t>();</a:t>
            </a:r>
          </a:p>
          <a:p>
            <a:pPr algn="just"/>
            <a:r>
              <a:rPr lang="en-US" sz="2800" dirty="0" smtClean="0">
                <a:solidFill>
                  <a:schemeClr val="tx1"/>
                </a:solidFill>
              </a:rPr>
              <a:t>}</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Autofit/>
          </a:bodyPr>
          <a:lstStyle/>
          <a:p>
            <a:r>
              <a:rPr lang="en-US" sz="3200" b="1" dirty="0" smtClean="0"/>
              <a:t>Differentiate Bubble Sort and Insertion Sort</a:t>
            </a:r>
            <a:endParaRPr lang="en-US" sz="3200"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4" name="Picture 3" descr="bublevsinsertion.JPG"/>
          <p:cNvPicPr>
            <a:picLocks noChangeAspect="1"/>
          </p:cNvPicPr>
          <p:nvPr/>
        </p:nvPicPr>
        <p:blipFill>
          <a:blip r:embed="rId2"/>
          <a:stretch>
            <a:fillRect/>
          </a:stretch>
        </p:blipFill>
        <p:spPr>
          <a:xfrm>
            <a:off x="1752600" y="932950"/>
            <a:ext cx="6081960" cy="4096250"/>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rmAutofit fontScale="92500" lnSpcReduction="20000"/>
          </a:bodyPr>
          <a:lstStyle/>
          <a:p>
            <a:pPr algn="just"/>
            <a:r>
              <a:rPr lang="en-GB" sz="2800" b="1" dirty="0" smtClean="0">
                <a:solidFill>
                  <a:schemeClr val="tx1"/>
                </a:solidFill>
              </a:rPr>
              <a:t>Selection Sort algorithm is an in-place comparison-based algorithm in which the list is divided into two parts, the sorted part at the left end and the unsorted part at the right end.</a:t>
            </a:r>
          </a:p>
          <a:p>
            <a:pPr algn="just"/>
            <a:endParaRPr lang="en-US" sz="2800" dirty="0" smtClean="0">
              <a:solidFill>
                <a:schemeClr val="tx1"/>
              </a:solidFill>
            </a:endParaRPr>
          </a:p>
          <a:p>
            <a:pPr algn="just"/>
            <a:r>
              <a:rPr lang="en-US" sz="2800" dirty="0" smtClean="0">
                <a:solidFill>
                  <a:schemeClr val="tx1"/>
                </a:solidFill>
              </a:rPr>
              <a:t>Although selection sort performs worse than insertion sort algorithm, it is noted for its simplicity and also has performance advantages over  more complicated algorithms in certain situations. Selection sort is generally used for sorting files with very large objects (records) and small keys.</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rmAutofit fontScale="85000" lnSpcReduction="20000"/>
          </a:bodyPr>
          <a:lstStyle/>
          <a:p>
            <a:pPr algn="just"/>
            <a:r>
              <a:rPr lang="en-US" sz="2800" dirty="0" smtClean="0">
                <a:solidFill>
                  <a:schemeClr val="tx1"/>
                </a:solidFill>
              </a:rPr>
              <a:t>Selection sort works as follows:</a:t>
            </a:r>
          </a:p>
          <a:p>
            <a:pPr algn="just"/>
            <a:endParaRPr lang="en-US" sz="2800" dirty="0" smtClean="0">
              <a:solidFill>
                <a:schemeClr val="tx1"/>
              </a:solidFill>
            </a:endParaRPr>
          </a:p>
          <a:p>
            <a:pPr algn="just"/>
            <a:r>
              <a:rPr lang="en-US" sz="2800" dirty="0" smtClean="0">
                <a:solidFill>
                  <a:schemeClr val="tx1"/>
                </a:solidFill>
              </a:rPr>
              <a:t>First find the smallest value in the array and place it in the first position. Then, find the second smallest value in the array and place it in the second position. Repeat this procedure until the entire array is sorted.</a:t>
            </a:r>
          </a:p>
          <a:p>
            <a:pPr algn="just"/>
            <a:endParaRPr lang="en-US" sz="2800" dirty="0" smtClean="0">
              <a:solidFill>
                <a:schemeClr val="tx1"/>
              </a:solidFill>
            </a:endParaRPr>
          </a:p>
          <a:p>
            <a:pPr algn="just"/>
            <a:r>
              <a:rPr lang="en-US" sz="2800" dirty="0" smtClean="0">
                <a:solidFill>
                  <a:schemeClr val="tx1"/>
                </a:solidFill>
              </a:rPr>
              <a:t>Selection sort is not a stable sorting algorithm.</a:t>
            </a:r>
          </a:p>
          <a:p>
            <a:pPr algn="just"/>
            <a:endParaRPr lang="en-US" sz="2800" dirty="0" smtClean="0">
              <a:solidFill>
                <a:schemeClr val="tx1"/>
              </a:solidFill>
            </a:endParaRPr>
          </a:p>
          <a:p>
            <a:pPr algn="just"/>
            <a:r>
              <a:rPr lang="en-GB" sz="2800" dirty="0" smtClean="0">
                <a:solidFill>
                  <a:schemeClr val="tx1"/>
                </a:solidFill>
              </a:rPr>
              <a:t>Consider the situation in which assignment operation is very costly. so that the number of assignment operations is minimized in general</a:t>
            </a:r>
            <a:r>
              <a:rPr lang="en-US" sz="2800" dirty="0" smtClean="0">
                <a:solidFill>
                  <a:schemeClr val="tx1"/>
                </a:solidFill>
              </a:rPr>
              <a:t>.</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12290" name="Picture 2"/>
          <p:cNvPicPr>
            <a:picLocks noChangeAspect="1" noChangeArrowheads="1"/>
          </p:cNvPicPr>
          <p:nvPr/>
        </p:nvPicPr>
        <p:blipFill>
          <a:blip r:embed="rId2"/>
          <a:srcRect/>
          <a:stretch>
            <a:fillRect/>
          </a:stretch>
        </p:blipFill>
        <p:spPr bwMode="auto">
          <a:xfrm>
            <a:off x="762000" y="895350"/>
            <a:ext cx="7772400" cy="403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13314" name="Picture 2"/>
          <p:cNvPicPr>
            <a:picLocks noChangeAspect="1" noChangeArrowheads="1"/>
          </p:cNvPicPr>
          <p:nvPr/>
        </p:nvPicPr>
        <p:blipFill>
          <a:blip r:embed="rId2"/>
          <a:srcRect/>
          <a:stretch>
            <a:fillRect/>
          </a:stretch>
        </p:blipFill>
        <p:spPr bwMode="auto">
          <a:xfrm>
            <a:off x="762000" y="819150"/>
            <a:ext cx="7620000" cy="3810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14338" name="Picture 2"/>
          <p:cNvPicPr>
            <a:picLocks noChangeAspect="1" noChangeArrowheads="1"/>
          </p:cNvPicPr>
          <p:nvPr/>
        </p:nvPicPr>
        <p:blipFill>
          <a:blip r:embed="rId2"/>
          <a:srcRect/>
          <a:stretch>
            <a:fillRect/>
          </a:stretch>
        </p:blipFill>
        <p:spPr bwMode="auto">
          <a:xfrm>
            <a:off x="685800" y="800100"/>
            <a:ext cx="7162800" cy="41862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Autofit/>
          </a:bodyPr>
          <a:lstStyle/>
          <a:p>
            <a:pPr algn="just"/>
            <a:r>
              <a:rPr lang="en-US" sz="1050" dirty="0" smtClean="0">
                <a:solidFill>
                  <a:schemeClr val="tx1"/>
                </a:solidFill>
              </a:rPr>
              <a:t>#include &lt;</a:t>
            </a:r>
            <a:r>
              <a:rPr lang="en-US" sz="1050" dirty="0" err="1" smtClean="0">
                <a:solidFill>
                  <a:schemeClr val="tx1"/>
                </a:solidFill>
              </a:rPr>
              <a:t>stdio.h</a:t>
            </a:r>
            <a:r>
              <a:rPr lang="en-US" sz="1050" dirty="0" smtClean="0">
                <a:solidFill>
                  <a:schemeClr val="tx1"/>
                </a:solidFill>
              </a:rPr>
              <a:t>&gt;</a:t>
            </a:r>
          </a:p>
          <a:p>
            <a:pPr algn="just"/>
            <a:r>
              <a:rPr lang="en-US" sz="1050" dirty="0" smtClean="0">
                <a:solidFill>
                  <a:schemeClr val="tx1"/>
                </a:solidFill>
              </a:rPr>
              <a:t>#include &lt;</a:t>
            </a:r>
            <a:r>
              <a:rPr lang="en-US" sz="1050" dirty="0" err="1" smtClean="0">
                <a:solidFill>
                  <a:schemeClr val="tx1"/>
                </a:solidFill>
              </a:rPr>
              <a:t>conio.h</a:t>
            </a:r>
            <a:r>
              <a:rPr lang="en-US" sz="1050" dirty="0" smtClean="0">
                <a:solidFill>
                  <a:schemeClr val="tx1"/>
                </a:solidFill>
              </a:rPr>
              <a:t>&gt;</a:t>
            </a:r>
          </a:p>
          <a:p>
            <a:pPr algn="just"/>
            <a:r>
              <a:rPr lang="en-US" sz="1050" dirty="0" smtClean="0">
                <a:solidFill>
                  <a:schemeClr val="tx1"/>
                </a:solidFill>
              </a:rPr>
              <a:t>void main()</a:t>
            </a:r>
          </a:p>
          <a:p>
            <a:pPr algn="just"/>
            <a:r>
              <a:rPr lang="en-US" sz="1050" dirty="0" smtClean="0">
                <a:solidFill>
                  <a:schemeClr val="tx1"/>
                </a:solidFill>
              </a:rPr>
              <a:t>{</a:t>
            </a:r>
          </a:p>
          <a:p>
            <a:pPr algn="just"/>
            <a:r>
              <a:rPr lang="en-US" sz="1050" dirty="0" smtClean="0">
                <a:solidFill>
                  <a:schemeClr val="tx1"/>
                </a:solidFill>
              </a:rPr>
              <a:t>	</a:t>
            </a:r>
            <a:r>
              <a:rPr lang="en-US" sz="1050" dirty="0" err="1" smtClean="0">
                <a:solidFill>
                  <a:schemeClr val="tx1"/>
                </a:solidFill>
              </a:rPr>
              <a:t>int</a:t>
            </a:r>
            <a:r>
              <a:rPr lang="en-US" sz="1050" dirty="0" smtClean="0">
                <a:solidFill>
                  <a:schemeClr val="tx1"/>
                </a:solidFill>
              </a:rPr>
              <a:t> a[100], n, </a:t>
            </a:r>
            <a:r>
              <a:rPr lang="en-US" sz="1050" dirty="0" err="1" smtClean="0">
                <a:solidFill>
                  <a:schemeClr val="tx1"/>
                </a:solidFill>
              </a:rPr>
              <a:t>i</a:t>
            </a:r>
            <a:r>
              <a:rPr lang="en-US" sz="1050" dirty="0" smtClean="0">
                <a:solidFill>
                  <a:schemeClr val="tx1"/>
                </a:solidFill>
              </a:rPr>
              <a:t>, j, position, swap;</a:t>
            </a:r>
          </a:p>
          <a:p>
            <a:pPr algn="just"/>
            <a:r>
              <a:rPr lang="en-US" sz="1050" dirty="0" smtClean="0">
                <a:solidFill>
                  <a:schemeClr val="tx1"/>
                </a:solidFill>
              </a:rPr>
              <a:t>	</a:t>
            </a:r>
            <a:r>
              <a:rPr lang="en-US" sz="1050" dirty="0" err="1" smtClean="0">
                <a:solidFill>
                  <a:schemeClr val="tx1"/>
                </a:solidFill>
              </a:rPr>
              <a:t>clrscr</a:t>
            </a:r>
            <a:r>
              <a:rPr lang="en-US" sz="1050" dirty="0" smtClean="0">
                <a:solidFill>
                  <a:schemeClr val="tx1"/>
                </a:solidFill>
              </a:rPr>
              <a:t>();</a:t>
            </a:r>
          </a:p>
          <a:p>
            <a:pPr algn="just"/>
            <a:r>
              <a:rPr lang="en-US" sz="1050" dirty="0" smtClean="0">
                <a:solidFill>
                  <a:schemeClr val="tx1"/>
                </a:solidFill>
              </a:rPr>
              <a:t>	</a:t>
            </a:r>
            <a:r>
              <a:rPr lang="en-US" sz="1050" dirty="0" err="1" smtClean="0">
                <a:solidFill>
                  <a:schemeClr val="tx1"/>
                </a:solidFill>
              </a:rPr>
              <a:t>printf</a:t>
            </a:r>
            <a:r>
              <a:rPr lang="en-US" sz="1050" dirty="0" smtClean="0">
                <a:solidFill>
                  <a:schemeClr val="tx1"/>
                </a:solidFill>
              </a:rPr>
              <a:t>("Enter number of elements\n");</a:t>
            </a:r>
          </a:p>
          <a:p>
            <a:pPr algn="just"/>
            <a:r>
              <a:rPr lang="en-US" sz="1050" dirty="0" smtClean="0">
                <a:solidFill>
                  <a:schemeClr val="tx1"/>
                </a:solidFill>
              </a:rPr>
              <a:t>	</a:t>
            </a:r>
            <a:r>
              <a:rPr lang="en-US" sz="1050" dirty="0" err="1" smtClean="0">
                <a:solidFill>
                  <a:schemeClr val="tx1"/>
                </a:solidFill>
              </a:rPr>
              <a:t>scanf</a:t>
            </a:r>
            <a:r>
              <a:rPr lang="en-US" sz="1050" dirty="0" smtClean="0">
                <a:solidFill>
                  <a:schemeClr val="tx1"/>
                </a:solidFill>
              </a:rPr>
              <a:t>("%d", &amp;n);</a:t>
            </a:r>
          </a:p>
          <a:p>
            <a:pPr algn="just"/>
            <a:r>
              <a:rPr lang="en-US" sz="1050" dirty="0" smtClean="0">
                <a:solidFill>
                  <a:schemeClr val="tx1"/>
                </a:solidFill>
              </a:rPr>
              <a:t>	</a:t>
            </a:r>
            <a:r>
              <a:rPr lang="en-US" sz="1050" dirty="0" err="1" smtClean="0">
                <a:solidFill>
                  <a:schemeClr val="tx1"/>
                </a:solidFill>
              </a:rPr>
              <a:t>printf</a:t>
            </a:r>
            <a:r>
              <a:rPr lang="en-US" sz="1050" dirty="0" smtClean="0">
                <a:solidFill>
                  <a:schemeClr val="tx1"/>
                </a:solidFill>
              </a:rPr>
              <a:t>("Enter %d Numbers\n", n);</a:t>
            </a:r>
          </a:p>
          <a:p>
            <a:pPr algn="just"/>
            <a:r>
              <a:rPr lang="en-US" sz="1050" dirty="0" smtClean="0">
                <a:solidFill>
                  <a:schemeClr val="tx1"/>
                </a:solidFill>
              </a:rPr>
              <a:t>	for (</a:t>
            </a:r>
            <a:r>
              <a:rPr lang="en-US" sz="1050" dirty="0" err="1" smtClean="0">
                <a:solidFill>
                  <a:schemeClr val="tx1"/>
                </a:solidFill>
              </a:rPr>
              <a:t>i</a:t>
            </a:r>
            <a:r>
              <a:rPr lang="en-US" sz="1050" dirty="0" smtClean="0">
                <a:solidFill>
                  <a:schemeClr val="tx1"/>
                </a:solidFill>
              </a:rPr>
              <a:t> = 0; </a:t>
            </a:r>
            <a:r>
              <a:rPr lang="en-US" sz="1050" dirty="0" err="1" smtClean="0">
                <a:solidFill>
                  <a:schemeClr val="tx1"/>
                </a:solidFill>
              </a:rPr>
              <a:t>i</a:t>
            </a:r>
            <a:r>
              <a:rPr lang="en-US" sz="1050" dirty="0" smtClean="0">
                <a:solidFill>
                  <a:schemeClr val="tx1"/>
                </a:solidFill>
              </a:rPr>
              <a:t> &lt; n; </a:t>
            </a:r>
            <a:r>
              <a:rPr lang="en-US" sz="1050" dirty="0" err="1" smtClean="0">
                <a:solidFill>
                  <a:schemeClr val="tx1"/>
                </a:solidFill>
              </a:rPr>
              <a:t>i</a:t>
            </a:r>
            <a:r>
              <a:rPr lang="en-US" sz="1050" dirty="0" smtClean="0">
                <a:solidFill>
                  <a:schemeClr val="tx1"/>
                </a:solidFill>
              </a:rPr>
              <a:t>++)	</a:t>
            </a:r>
          </a:p>
          <a:p>
            <a:pPr algn="just"/>
            <a:r>
              <a:rPr lang="en-US" sz="1050" dirty="0" smtClean="0">
                <a:solidFill>
                  <a:schemeClr val="tx1"/>
                </a:solidFill>
              </a:rPr>
              <a:t>	{</a:t>
            </a:r>
          </a:p>
          <a:p>
            <a:pPr algn="just"/>
            <a:r>
              <a:rPr lang="en-US" sz="1050" dirty="0" smtClean="0">
                <a:solidFill>
                  <a:schemeClr val="tx1"/>
                </a:solidFill>
              </a:rPr>
              <a:t>		</a:t>
            </a:r>
            <a:r>
              <a:rPr lang="en-US" sz="1050" dirty="0" err="1" smtClean="0">
                <a:solidFill>
                  <a:schemeClr val="tx1"/>
                </a:solidFill>
              </a:rPr>
              <a:t>scanf</a:t>
            </a:r>
            <a:r>
              <a:rPr lang="en-US" sz="1050" dirty="0" smtClean="0">
                <a:solidFill>
                  <a:schemeClr val="tx1"/>
                </a:solidFill>
              </a:rPr>
              <a:t>("%d", &amp;a[</a:t>
            </a:r>
            <a:r>
              <a:rPr lang="en-US" sz="1050" dirty="0" err="1" smtClean="0">
                <a:solidFill>
                  <a:schemeClr val="tx1"/>
                </a:solidFill>
              </a:rPr>
              <a:t>i</a:t>
            </a:r>
            <a:r>
              <a:rPr lang="en-US" sz="1050" dirty="0" smtClean="0">
                <a:solidFill>
                  <a:schemeClr val="tx1"/>
                </a:solidFill>
              </a:rPr>
              <a:t>]);</a:t>
            </a:r>
          </a:p>
          <a:p>
            <a:pPr algn="just"/>
            <a:r>
              <a:rPr lang="en-US" sz="1050" dirty="0" smtClean="0">
                <a:solidFill>
                  <a:schemeClr val="tx1"/>
                </a:solidFill>
              </a:rPr>
              <a:t>	}</a:t>
            </a:r>
          </a:p>
          <a:p>
            <a:pPr algn="just"/>
            <a:r>
              <a:rPr lang="en-US" sz="1050" dirty="0" smtClean="0">
                <a:solidFill>
                  <a:schemeClr val="tx1"/>
                </a:solidFill>
              </a:rPr>
              <a:t>	for(</a:t>
            </a:r>
            <a:r>
              <a:rPr lang="en-US" sz="1050" dirty="0" err="1" smtClean="0">
                <a:solidFill>
                  <a:schemeClr val="tx1"/>
                </a:solidFill>
              </a:rPr>
              <a:t>i</a:t>
            </a:r>
            <a:r>
              <a:rPr lang="en-US" sz="1050" dirty="0" smtClean="0">
                <a:solidFill>
                  <a:schemeClr val="tx1"/>
                </a:solidFill>
              </a:rPr>
              <a:t> = 0; </a:t>
            </a:r>
            <a:r>
              <a:rPr lang="en-US" sz="1050" dirty="0" err="1" smtClean="0">
                <a:solidFill>
                  <a:schemeClr val="tx1"/>
                </a:solidFill>
              </a:rPr>
              <a:t>i</a:t>
            </a:r>
            <a:r>
              <a:rPr lang="en-US" sz="1050" dirty="0" smtClean="0">
                <a:solidFill>
                  <a:schemeClr val="tx1"/>
                </a:solidFill>
              </a:rPr>
              <a:t> &lt; n - 1; </a:t>
            </a:r>
            <a:r>
              <a:rPr lang="en-US" sz="1050" dirty="0" err="1" smtClean="0">
                <a:solidFill>
                  <a:schemeClr val="tx1"/>
                </a:solidFill>
              </a:rPr>
              <a:t>i</a:t>
            </a:r>
            <a:r>
              <a:rPr lang="en-US" sz="1050" dirty="0" smtClean="0">
                <a:solidFill>
                  <a:schemeClr val="tx1"/>
                </a:solidFill>
              </a:rPr>
              <a:t>++)</a:t>
            </a:r>
          </a:p>
          <a:p>
            <a:pPr algn="just"/>
            <a:r>
              <a:rPr lang="en-US" sz="1050" dirty="0" smtClean="0">
                <a:solidFill>
                  <a:schemeClr val="tx1"/>
                </a:solidFill>
              </a:rPr>
              <a:t>	{</a:t>
            </a:r>
          </a:p>
          <a:p>
            <a:pPr algn="just"/>
            <a:r>
              <a:rPr lang="en-US" sz="1050" dirty="0" smtClean="0">
                <a:solidFill>
                  <a:schemeClr val="tx1"/>
                </a:solidFill>
              </a:rPr>
              <a:t>		position=</a:t>
            </a:r>
            <a:r>
              <a:rPr lang="en-US" sz="1050" dirty="0" err="1" smtClean="0">
                <a:solidFill>
                  <a:schemeClr val="tx1"/>
                </a:solidFill>
              </a:rPr>
              <a:t>i</a:t>
            </a:r>
            <a:r>
              <a:rPr lang="en-US" sz="1050" dirty="0" smtClean="0">
                <a:solidFill>
                  <a:schemeClr val="tx1"/>
                </a:solidFill>
              </a:rPr>
              <a:t>;</a:t>
            </a:r>
          </a:p>
          <a:p>
            <a:pPr algn="just"/>
            <a:r>
              <a:rPr lang="en-US" sz="1050" dirty="0" smtClean="0">
                <a:solidFill>
                  <a:schemeClr val="tx1"/>
                </a:solidFill>
              </a:rPr>
              <a:t>		for(j = </a:t>
            </a:r>
            <a:r>
              <a:rPr lang="en-US" sz="1050" dirty="0" err="1" smtClean="0">
                <a:solidFill>
                  <a:schemeClr val="tx1"/>
                </a:solidFill>
              </a:rPr>
              <a:t>i</a:t>
            </a:r>
            <a:r>
              <a:rPr lang="en-US" sz="1050" dirty="0" smtClean="0">
                <a:solidFill>
                  <a:schemeClr val="tx1"/>
                </a:solidFill>
              </a:rPr>
              <a:t> + 1; j &lt; n; j++)</a:t>
            </a:r>
          </a:p>
          <a:p>
            <a:pPr algn="just"/>
            <a:r>
              <a:rPr lang="en-US" sz="1050" dirty="0" smtClean="0">
                <a:solidFill>
                  <a:schemeClr val="tx1"/>
                </a:solidFill>
              </a:rPr>
              <a:t>		{</a:t>
            </a:r>
          </a:p>
          <a:p>
            <a:pPr algn="just"/>
            <a:r>
              <a:rPr lang="en-US" sz="1050" dirty="0" smtClean="0">
                <a:solidFill>
                  <a:schemeClr val="tx1"/>
                </a:solidFill>
              </a:rPr>
              <a:t>			if(a[position] &gt; a[j])</a:t>
            </a:r>
          </a:p>
          <a:p>
            <a:pPr algn="just"/>
            <a:r>
              <a:rPr lang="en-US" sz="1050" dirty="0" smtClean="0">
                <a:solidFill>
                  <a:schemeClr val="tx1"/>
                </a:solidFill>
              </a:rPr>
              <a:t>			position=j;</a:t>
            </a:r>
          </a:p>
          <a:p>
            <a:pPr algn="just"/>
            <a:r>
              <a:rPr lang="en-US" sz="1050" dirty="0" smtClean="0">
                <a:solidFill>
                  <a:schemeClr val="tx1"/>
                </a:solidFill>
              </a:rPr>
              <a:t>		}</a:t>
            </a:r>
          </a:p>
          <a:p>
            <a:pPr algn="just"/>
            <a:r>
              <a:rPr lang="en-US" sz="1050" dirty="0" smtClean="0">
                <a:solidFill>
                  <a:schemeClr val="tx1"/>
                </a:solidFill>
              </a:rPr>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SELECTION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r>
              <a:rPr lang="en-US" sz="1200" dirty="0" smtClean="0">
                <a:solidFill>
                  <a:schemeClr val="tx1"/>
                </a:solidFill>
              </a:rPr>
              <a:t>	</a:t>
            </a:r>
            <a:r>
              <a:rPr lang="en-US" sz="1200" dirty="0" smtClean="0">
                <a:solidFill>
                  <a:schemeClr val="tx1"/>
                </a:solidFill>
              </a:rPr>
              <a:t>if(position != </a:t>
            </a:r>
            <a:r>
              <a:rPr lang="en-US" sz="1200" dirty="0" err="1" smtClean="0">
                <a:solidFill>
                  <a:schemeClr val="tx1"/>
                </a:solidFill>
              </a:rPr>
              <a:t>i</a:t>
            </a:r>
            <a:r>
              <a:rPr lang="en-US" sz="1200" dirty="0" smtClean="0">
                <a:solidFill>
                  <a:schemeClr val="tx1"/>
                </a:solidFill>
              </a:rPr>
              <a:t>)</a:t>
            </a:r>
          </a:p>
          <a:p>
            <a:pPr algn="just"/>
            <a:r>
              <a:rPr lang="en-US" sz="1200" dirty="0" smtClean="0">
                <a:solidFill>
                  <a:schemeClr val="tx1"/>
                </a:solidFill>
              </a:rPr>
              <a:t>		{</a:t>
            </a:r>
          </a:p>
          <a:p>
            <a:pPr algn="just"/>
            <a:r>
              <a:rPr lang="en-US" sz="1200" dirty="0" smtClean="0">
                <a:solidFill>
                  <a:schemeClr val="tx1"/>
                </a:solidFill>
              </a:rPr>
              <a:t>			swap=a[</a:t>
            </a:r>
            <a:r>
              <a:rPr lang="en-US" sz="1200" dirty="0" err="1" smtClean="0">
                <a:solidFill>
                  <a:schemeClr val="tx1"/>
                </a:solidFill>
              </a:rPr>
              <a:t>i</a:t>
            </a:r>
            <a:r>
              <a:rPr lang="en-US" sz="1200" dirty="0" smtClean="0">
                <a:solidFill>
                  <a:schemeClr val="tx1"/>
                </a:solidFill>
              </a:rPr>
              <a:t>];</a:t>
            </a:r>
          </a:p>
          <a:p>
            <a:pPr algn="just"/>
            <a:r>
              <a:rPr lang="en-US" sz="1200" dirty="0" smtClean="0">
                <a:solidFill>
                  <a:schemeClr val="tx1"/>
                </a:solidFill>
              </a:rPr>
              <a:t>			a[</a:t>
            </a:r>
            <a:r>
              <a:rPr lang="en-US" sz="1200" dirty="0" err="1" smtClean="0">
                <a:solidFill>
                  <a:schemeClr val="tx1"/>
                </a:solidFill>
              </a:rPr>
              <a:t>i</a:t>
            </a:r>
            <a:r>
              <a:rPr lang="en-US" sz="1200" dirty="0" smtClean="0">
                <a:solidFill>
                  <a:schemeClr val="tx1"/>
                </a:solidFill>
              </a:rPr>
              <a:t>]=a[position];</a:t>
            </a:r>
          </a:p>
          <a:p>
            <a:pPr algn="just"/>
            <a:r>
              <a:rPr lang="en-US" sz="1200" dirty="0" smtClean="0">
                <a:solidFill>
                  <a:schemeClr val="tx1"/>
                </a:solidFill>
              </a:rPr>
              <a:t>			a[position]=swap;</a:t>
            </a:r>
          </a:p>
          <a:p>
            <a:pPr algn="just"/>
            <a:r>
              <a:rPr lang="en-US" sz="1200" dirty="0" smtClean="0">
                <a:solidFill>
                  <a:schemeClr val="tx1"/>
                </a:solidFill>
              </a:rPr>
              <a:t>		}</a:t>
            </a:r>
          </a:p>
          <a:p>
            <a:pPr algn="just"/>
            <a:r>
              <a:rPr lang="en-US" sz="1200" dirty="0" smtClean="0">
                <a:solidFill>
                  <a:schemeClr val="tx1"/>
                </a:solidFill>
              </a:rPr>
              <a:t>	}</a:t>
            </a:r>
          </a:p>
          <a:p>
            <a:pPr algn="just"/>
            <a:endParaRPr lang="en-US" sz="1200" dirty="0" smtClean="0">
              <a:solidFill>
                <a:schemeClr val="tx1"/>
              </a:solidFill>
            </a:endParaRPr>
          </a:p>
          <a:p>
            <a:pPr algn="just"/>
            <a:r>
              <a:rPr lang="en-US" sz="1200" dirty="0" smtClean="0">
                <a:solidFill>
                  <a:schemeClr val="tx1"/>
                </a:solidFill>
              </a:rPr>
              <a:t>	</a:t>
            </a:r>
            <a:r>
              <a:rPr lang="en-US" sz="1200" dirty="0" err="1" smtClean="0">
                <a:solidFill>
                  <a:schemeClr val="tx1"/>
                </a:solidFill>
              </a:rPr>
              <a:t>printf</a:t>
            </a:r>
            <a:r>
              <a:rPr lang="en-US" sz="1200" dirty="0" smtClean="0">
                <a:solidFill>
                  <a:schemeClr val="tx1"/>
                </a:solidFill>
              </a:rPr>
              <a:t>("Sorted Array:\n");</a:t>
            </a:r>
          </a:p>
          <a:p>
            <a:pPr algn="just"/>
            <a:r>
              <a:rPr lang="en-US" sz="1200" dirty="0" smtClean="0">
                <a:solidFill>
                  <a:schemeClr val="tx1"/>
                </a:solidFill>
              </a:rPr>
              <a:t>	for(</a:t>
            </a:r>
            <a:r>
              <a:rPr lang="en-US" sz="1200" dirty="0" err="1" smtClean="0">
                <a:solidFill>
                  <a:schemeClr val="tx1"/>
                </a:solidFill>
              </a:rPr>
              <a:t>i</a:t>
            </a:r>
            <a:r>
              <a:rPr lang="en-US" sz="1200" dirty="0" smtClean="0">
                <a:solidFill>
                  <a:schemeClr val="tx1"/>
                </a:solidFill>
              </a:rPr>
              <a:t> = 0; </a:t>
            </a:r>
            <a:r>
              <a:rPr lang="en-US" sz="1200" dirty="0" err="1" smtClean="0">
                <a:solidFill>
                  <a:schemeClr val="tx1"/>
                </a:solidFill>
              </a:rPr>
              <a:t>i</a:t>
            </a:r>
            <a:r>
              <a:rPr lang="en-US" sz="1200" dirty="0" smtClean="0">
                <a:solidFill>
                  <a:schemeClr val="tx1"/>
                </a:solidFill>
              </a:rPr>
              <a:t> &lt; n; </a:t>
            </a:r>
            <a:r>
              <a:rPr lang="en-US" sz="1200" dirty="0" err="1" smtClean="0">
                <a:solidFill>
                  <a:schemeClr val="tx1"/>
                </a:solidFill>
              </a:rPr>
              <a:t>i</a:t>
            </a:r>
            <a:r>
              <a:rPr lang="en-US" sz="1200" dirty="0" smtClean="0">
                <a:solidFill>
                  <a:schemeClr val="tx1"/>
                </a:solidFill>
              </a:rPr>
              <a:t>++)</a:t>
            </a:r>
          </a:p>
          <a:p>
            <a:pPr algn="just"/>
            <a:r>
              <a:rPr lang="en-US" sz="1200" dirty="0" smtClean="0">
                <a:solidFill>
                  <a:schemeClr val="tx1"/>
                </a:solidFill>
              </a:rPr>
              <a:t>	{</a:t>
            </a:r>
          </a:p>
          <a:p>
            <a:pPr algn="just"/>
            <a:r>
              <a:rPr lang="en-US" sz="1200" dirty="0" smtClean="0">
                <a:solidFill>
                  <a:schemeClr val="tx1"/>
                </a:solidFill>
              </a:rPr>
              <a:t>		</a:t>
            </a:r>
            <a:r>
              <a:rPr lang="en-US" sz="1200" dirty="0" err="1" smtClean="0">
                <a:solidFill>
                  <a:schemeClr val="tx1"/>
                </a:solidFill>
              </a:rPr>
              <a:t>printf</a:t>
            </a:r>
            <a:r>
              <a:rPr lang="en-US" sz="1200" dirty="0" smtClean="0">
                <a:solidFill>
                  <a:schemeClr val="tx1"/>
                </a:solidFill>
              </a:rPr>
              <a:t>("%d\n", a[</a:t>
            </a:r>
            <a:r>
              <a:rPr lang="en-US" sz="1200" dirty="0" err="1" smtClean="0">
                <a:solidFill>
                  <a:schemeClr val="tx1"/>
                </a:solidFill>
              </a:rPr>
              <a:t>i</a:t>
            </a:r>
            <a:r>
              <a:rPr lang="en-US" sz="1200" dirty="0" smtClean="0">
                <a:solidFill>
                  <a:schemeClr val="tx1"/>
                </a:solidFill>
              </a:rPr>
              <a:t>]);</a:t>
            </a:r>
          </a:p>
          <a:p>
            <a:pPr algn="just"/>
            <a:r>
              <a:rPr lang="en-US" sz="1200" dirty="0" smtClean="0">
                <a:solidFill>
                  <a:schemeClr val="tx1"/>
                </a:solidFill>
              </a:rPr>
              <a:t>	}</a:t>
            </a:r>
          </a:p>
          <a:p>
            <a:pPr algn="just"/>
            <a:r>
              <a:rPr lang="en-US" sz="1200" dirty="0" smtClean="0">
                <a:solidFill>
                  <a:schemeClr val="tx1"/>
                </a:solidFill>
              </a:rPr>
              <a:t>	</a:t>
            </a:r>
            <a:r>
              <a:rPr lang="en-US" sz="1200" dirty="0" err="1" smtClean="0">
                <a:solidFill>
                  <a:schemeClr val="tx1"/>
                </a:solidFill>
              </a:rPr>
              <a:t>getch</a:t>
            </a:r>
            <a:r>
              <a:rPr lang="en-US" sz="1200" dirty="0" smtClean="0">
                <a:solidFill>
                  <a:schemeClr val="tx1"/>
                </a:solidFill>
              </a:rPr>
              <a:t>();</a:t>
            </a:r>
          </a:p>
          <a:p>
            <a:pPr algn="just"/>
            <a:r>
              <a:rPr lang="en-US" sz="1200" dirty="0" smtClean="0">
                <a:solidFill>
                  <a:schemeClr val="tx1"/>
                </a:solidFill>
              </a:rPr>
              <a: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Autofit/>
          </a:bodyPr>
          <a:lstStyle/>
          <a:p>
            <a:r>
              <a:rPr lang="en-US" sz="2800" b="1" dirty="0" smtClean="0"/>
              <a:t>DIFFERENTIATE INSERTION AND SELECTION SORT</a:t>
            </a:r>
            <a:endParaRPr lang="en-US" sz="2800"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4" name="Picture 3" descr="insertionvsselection.JPG"/>
          <p:cNvPicPr>
            <a:picLocks noChangeAspect="1"/>
          </p:cNvPicPr>
          <p:nvPr/>
        </p:nvPicPr>
        <p:blipFill>
          <a:blip r:embed="rId2"/>
          <a:stretch>
            <a:fillRect/>
          </a:stretch>
        </p:blipFill>
        <p:spPr>
          <a:xfrm>
            <a:off x="1371600" y="857250"/>
            <a:ext cx="6324600" cy="40005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QUICK SORT</a:t>
            </a:r>
            <a:endParaRPr lang="en-US" b="1" dirty="0"/>
          </a:p>
        </p:txBody>
      </p:sp>
      <p:sp>
        <p:nvSpPr>
          <p:cNvPr id="3" name="Subtitle 2"/>
          <p:cNvSpPr>
            <a:spLocks noGrp="1"/>
          </p:cNvSpPr>
          <p:nvPr>
            <p:ph type="subTitle" idx="1"/>
          </p:nvPr>
        </p:nvSpPr>
        <p:spPr>
          <a:xfrm>
            <a:off x="685800" y="857250"/>
            <a:ext cx="7848600" cy="4057650"/>
          </a:xfrm>
        </p:spPr>
        <p:txBody>
          <a:bodyPr>
            <a:normAutofit fontScale="70000" lnSpcReduction="20000"/>
          </a:bodyPr>
          <a:lstStyle/>
          <a:p>
            <a:pPr algn="just"/>
            <a:r>
              <a:rPr lang="en-GB" sz="2800" b="1" dirty="0" smtClean="0">
                <a:solidFill>
                  <a:schemeClr val="tx1"/>
                </a:solidFill>
              </a:rPr>
              <a:t>Quicksort is a divide and conquer algorithm</a:t>
            </a:r>
            <a:r>
              <a:rPr lang="en-GB" sz="2800" dirty="0" smtClean="0">
                <a:solidFill>
                  <a:schemeClr val="tx1"/>
                </a:solidFill>
              </a:rPr>
              <a:t>. </a:t>
            </a:r>
          </a:p>
          <a:p>
            <a:pPr algn="just"/>
            <a:r>
              <a:rPr lang="en-GB" sz="2800" dirty="0" smtClean="0">
                <a:solidFill>
                  <a:schemeClr val="tx1"/>
                </a:solidFill>
              </a:rPr>
              <a:t>The steps are: 1) Pick an element from the array, this element is called as pivot element. 2) Divide the unsorted array of elements in two arrays with values less than the pivot come in the first sub array, while all elements with values greater than the pivot come in the second sub-array (equal values can go either way). This step is called the partition operation. 3) Recursively repeat the step 2(until the sub-arrays are sorted) to the sub-array of elements with smaller values and separately to the sub-array of elements with greater values. </a:t>
            </a:r>
          </a:p>
          <a:p>
            <a:pPr algn="just"/>
            <a:endParaRPr lang="en-GB" sz="2800" dirty="0" smtClean="0">
              <a:solidFill>
                <a:schemeClr val="tx1"/>
              </a:solidFill>
            </a:endParaRPr>
          </a:p>
          <a:p>
            <a:pPr algn="just"/>
            <a:r>
              <a:rPr lang="en-GB" sz="2800" dirty="0" smtClean="0">
                <a:solidFill>
                  <a:schemeClr val="tx1"/>
                </a:solidFill>
              </a:rPr>
              <a:t>The same logic we have implemented in the following C program.</a:t>
            </a:r>
          </a:p>
          <a:p>
            <a:pPr algn="just"/>
            <a:r>
              <a:rPr lang="en-GB" sz="2800" dirty="0" smtClean="0">
                <a:solidFill>
                  <a:schemeClr val="tx1"/>
                </a:solidFill>
              </a:rPr>
              <a:t/>
            </a:r>
            <a:br>
              <a:rPr lang="en-GB" sz="2800" dirty="0" smtClean="0">
                <a:solidFill>
                  <a:schemeClr val="tx1"/>
                </a:solidFill>
              </a:rPr>
            </a:b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QUICK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304801" y="1257300"/>
            <a:ext cx="8156917" cy="2800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QUICK SORT</a:t>
            </a:r>
            <a:endParaRPr lang="en-US" b="1" dirty="0"/>
          </a:p>
        </p:txBody>
      </p:sp>
      <p:sp>
        <p:nvSpPr>
          <p:cNvPr id="3" name="Subtitle 2"/>
          <p:cNvSpPr>
            <a:spLocks noGrp="1"/>
          </p:cNvSpPr>
          <p:nvPr>
            <p:ph type="subTitle" idx="1"/>
          </p:nvPr>
        </p:nvSpPr>
        <p:spPr>
          <a:xfrm>
            <a:off x="685800" y="857250"/>
            <a:ext cx="7848600" cy="4057650"/>
          </a:xfrm>
        </p:spPr>
        <p:txBody>
          <a:bodyPr>
            <a:normAutofit fontScale="32500" lnSpcReduction="20000"/>
          </a:bodyPr>
          <a:lstStyle/>
          <a:p>
            <a:pPr algn="just"/>
            <a:r>
              <a:rPr lang="en-US" sz="2800" dirty="0" smtClean="0">
                <a:solidFill>
                  <a:schemeClr val="tx1"/>
                </a:solidFill>
              </a:rPr>
              <a:t>#include&lt;</a:t>
            </a:r>
            <a:r>
              <a:rPr lang="en-US" sz="2800" dirty="0" err="1" smtClean="0">
                <a:solidFill>
                  <a:schemeClr val="tx1"/>
                </a:solidFill>
              </a:rPr>
              <a:t>stdio.h</a:t>
            </a:r>
            <a:r>
              <a:rPr lang="en-US" sz="2800" dirty="0" smtClean="0">
                <a:solidFill>
                  <a:schemeClr val="tx1"/>
                </a:solidFill>
              </a:rPr>
              <a:t>&gt;</a:t>
            </a:r>
          </a:p>
          <a:p>
            <a:pPr algn="just"/>
            <a:r>
              <a:rPr lang="en-US" sz="2800" dirty="0" smtClean="0">
                <a:solidFill>
                  <a:schemeClr val="tx1"/>
                </a:solidFill>
              </a:rPr>
              <a:t>#include&lt;</a:t>
            </a:r>
            <a:r>
              <a:rPr lang="en-US" sz="2800" dirty="0" err="1" smtClean="0">
                <a:solidFill>
                  <a:schemeClr val="tx1"/>
                </a:solidFill>
              </a:rPr>
              <a:t>conio.h</a:t>
            </a:r>
            <a:r>
              <a:rPr lang="en-US" sz="2800" dirty="0" smtClean="0">
                <a:solidFill>
                  <a:schemeClr val="tx1"/>
                </a:solidFill>
              </a:rPr>
              <a:t>&gt;</a:t>
            </a:r>
          </a:p>
          <a:p>
            <a:pPr algn="just"/>
            <a:endParaRPr lang="en-US" sz="2800" dirty="0" smtClean="0">
              <a:solidFill>
                <a:schemeClr val="tx1"/>
              </a:solidFill>
            </a:endParaRPr>
          </a:p>
          <a:p>
            <a:pPr algn="just"/>
            <a:r>
              <a:rPr lang="en-US" sz="2800" dirty="0" smtClean="0">
                <a:solidFill>
                  <a:schemeClr val="tx1"/>
                </a:solidFill>
              </a:rPr>
              <a:t>void </a:t>
            </a:r>
            <a:r>
              <a:rPr lang="en-US" sz="2800" dirty="0" err="1" smtClean="0">
                <a:solidFill>
                  <a:schemeClr val="tx1"/>
                </a:solidFill>
              </a:rPr>
              <a:t>quicksort</a:t>
            </a:r>
            <a:r>
              <a:rPr lang="en-US" sz="2800" dirty="0" smtClean="0">
                <a:solidFill>
                  <a:schemeClr val="tx1"/>
                </a:solidFill>
              </a:rPr>
              <a:t>(</a:t>
            </a:r>
            <a:r>
              <a:rPr lang="en-US" sz="2800" dirty="0" err="1" smtClean="0">
                <a:solidFill>
                  <a:schemeClr val="tx1"/>
                </a:solidFill>
              </a:rPr>
              <a:t>int</a:t>
            </a:r>
            <a:r>
              <a:rPr lang="en-US" sz="2800" dirty="0" smtClean="0">
                <a:solidFill>
                  <a:schemeClr val="tx1"/>
                </a:solidFill>
              </a:rPr>
              <a:t> number[25],</a:t>
            </a:r>
            <a:r>
              <a:rPr lang="en-US" sz="2800" dirty="0" err="1" smtClean="0">
                <a:solidFill>
                  <a:schemeClr val="tx1"/>
                </a:solidFill>
              </a:rPr>
              <a:t>int</a:t>
            </a:r>
            <a:r>
              <a:rPr lang="en-US" sz="2800" dirty="0" smtClean="0">
                <a:solidFill>
                  <a:schemeClr val="tx1"/>
                </a:solidFill>
              </a:rPr>
              <a:t> </a:t>
            </a:r>
            <a:r>
              <a:rPr lang="en-US" sz="2800" dirty="0" err="1" smtClean="0">
                <a:solidFill>
                  <a:schemeClr val="tx1"/>
                </a:solidFill>
              </a:rPr>
              <a:t>first,int</a:t>
            </a:r>
            <a:r>
              <a:rPr lang="en-US" sz="2800" dirty="0" smtClean="0">
                <a:solidFill>
                  <a:schemeClr val="tx1"/>
                </a:solidFill>
              </a:rPr>
              <a:t> last)</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a:t>
            </a:r>
            <a:r>
              <a:rPr lang="en-US" sz="2800" dirty="0" err="1" smtClean="0">
                <a:solidFill>
                  <a:schemeClr val="tx1"/>
                </a:solidFill>
              </a:rPr>
              <a:t>i</a:t>
            </a:r>
            <a:r>
              <a:rPr lang="en-US" sz="2800" dirty="0" smtClean="0">
                <a:solidFill>
                  <a:schemeClr val="tx1"/>
                </a:solidFill>
              </a:rPr>
              <a:t>, j, pivot, temp;</a:t>
            </a:r>
          </a:p>
          <a:p>
            <a:pPr algn="just"/>
            <a:endParaRPr lang="en-US" sz="2800" dirty="0" smtClean="0">
              <a:solidFill>
                <a:schemeClr val="tx1"/>
              </a:solidFill>
            </a:endParaRPr>
          </a:p>
          <a:p>
            <a:pPr algn="just"/>
            <a:r>
              <a:rPr lang="en-US" sz="2800" dirty="0" smtClean="0">
                <a:solidFill>
                  <a:schemeClr val="tx1"/>
                </a:solidFill>
              </a:rPr>
              <a:t>   if(first&lt;last)</a:t>
            </a:r>
          </a:p>
          <a:p>
            <a:pPr algn="just"/>
            <a:r>
              <a:rPr lang="en-US" sz="2800" dirty="0" smtClean="0">
                <a:solidFill>
                  <a:schemeClr val="tx1"/>
                </a:solidFill>
              </a:rPr>
              <a:t>   {</a:t>
            </a:r>
          </a:p>
          <a:p>
            <a:pPr algn="just"/>
            <a:r>
              <a:rPr lang="en-US" sz="2800" dirty="0" smtClean="0">
                <a:solidFill>
                  <a:schemeClr val="tx1"/>
                </a:solidFill>
              </a:rPr>
              <a:t>      pivot=last;</a:t>
            </a:r>
          </a:p>
          <a:p>
            <a:pPr algn="just"/>
            <a:r>
              <a:rPr lang="en-US" sz="2800" dirty="0" smtClean="0">
                <a:solidFill>
                  <a:schemeClr val="tx1"/>
                </a:solidFill>
              </a:rPr>
              <a:t>      </a:t>
            </a:r>
            <a:r>
              <a:rPr lang="en-US" sz="2800" dirty="0" err="1" smtClean="0">
                <a:solidFill>
                  <a:schemeClr val="tx1"/>
                </a:solidFill>
              </a:rPr>
              <a:t>i</a:t>
            </a:r>
            <a:r>
              <a:rPr lang="en-US" sz="2800" dirty="0" smtClean="0">
                <a:solidFill>
                  <a:schemeClr val="tx1"/>
                </a:solidFill>
              </a:rPr>
              <a:t>=first;</a:t>
            </a:r>
          </a:p>
          <a:p>
            <a:pPr algn="just"/>
            <a:r>
              <a:rPr lang="en-US" sz="2800" dirty="0" smtClean="0">
                <a:solidFill>
                  <a:schemeClr val="tx1"/>
                </a:solidFill>
              </a:rPr>
              <a:t>      j=last;</a:t>
            </a:r>
          </a:p>
          <a:p>
            <a:pPr algn="just"/>
            <a:endParaRPr lang="en-US" sz="2800" dirty="0" smtClean="0">
              <a:solidFill>
                <a:schemeClr val="tx1"/>
              </a:solidFill>
            </a:endParaRPr>
          </a:p>
          <a:p>
            <a:pPr algn="just"/>
            <a:r>
              <a:rPr lang="en-US" sz="2800" dirty="0" smtClean="0">
                <a:solidFill>
                  <a:schemeClr val="tx1"/>
                </a:solidFill>
              </a:rPr>
              <a:t>      while(</a:t>
            </a:r>
            <a:r>
              <a:rPr lang="en-US" sz="2800" dirty="0" err="1" smtClean="0">
                <a:solidFill>
                  <a:schemeClr val="tx1"/>
                </a:solidFill>
              </a:rPr>
              <a:t>i</a:t>
            </a:r>
            <a:r>
              <a:rPr lang="en-US" sz="2800" dirty="0" smtClean="0">
                <a:solidFill>
                  <a:schemeClr val="tx1"/>
                </a:solidFill>
              </a:rPr>
              <a:t>&lt;j)</a:t>
            </a:r>
          </a:p>
          <a:p>
            <a:pPr algn="just"/>
            <a:r>
              <a:rPr lang="en-US" sz="2800" dirty="0" smtClean="0">
                <a:solidFill>
                  <a:schemeClr val="tx1"/>
                </a:solidFill>
              </a:rPr>
              <a:t>      {</a:t>
            </a:r>
          </a:p>
          <a:p>
            <a:pPr algn="just"/>
            <a:r>
              <a:rPr lang="en-US" sz="2800" dirty="0" smtClean="0">
                <a:solidFill>
                  <a:schemeClr val="tx1"/>
                </a:solidFill>
              </a:rPr>
              <a:t>         while(number[</a:t>
            </a:r>
            <a:r>
              <a:rPr lang="en-US" sz="2800" dirty="0" err="1" smtClean="0">
                <a:solidFill>
                  <a:schemeClr val="tx1"/>
                </a:solidFill>
              </a:rPr>
              <a:t>i</a:t>
            </a:r>
            <a:r>
              <a:rPr lang="en-US" sz="2800" dirty="0" smtClean="0">
                <a:solidFill>
                  <a:schemeClr val="tx1"/>
                </a:solidFill>
              </a:rPr>
              <a:t>]&lt;=number[pivot]&amp;&amp;</a:t>
            </a:r>
            <a:r>
              <a:rPr lang="en-US" sz="2800" dirty="0" err="1" smtClean="0">
                <a:solidFill>
                  <a:schemeClr val="tx1"/>
                </a:solidFill>
              </a:rPr>
              <a:t>i</a:t>
            </a:r>
            <a:r>
              <a:rPr lang="en-US" sz="2800" dirty="0" smtClean="0">
                <a:solidFill>
                  <a:schemeClr val="tx1"/>
                </a:solidFill>
              </a:rPr>
              <a:t>&lt;last)</a:t>
            </a:r>
          </a:p>
          <a:p>
            <a:pPr algn="just"/>
            <a:r>
              <a:rPr lang="en-US" sz="2800" dirty="0" smtClean="0">
                <a:solidFill>
                  <a:schemeClr val="tx1"/>
                </a:solidFill>
              </a:rPr>
              <a:t>            </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while(number[j]&gt;number[pivot])</a:t>
            </a:r>
          </a:p>
          <a:p>
            <a:pPr algn="just"/>
            <a:r>
              <a:rPr lang="en-US" sz="2800" dirty="0" smtClean="0">
                <a:solidFill>
                  <a:schemeClr val="tx1"/>
                </a:solidFill>
              </a:rPr>
              <a:t>            j--;</a:t>
            </a:r>
          </a:p>
          <a:p>
            <a:pPr algn="just"/>
            <a:r>
              <a:rPr lang="en-US" sz="2800" dirty="0" smtClean="0">
                <a:solidFill>
                  <a:schemeClr val="tx1"/>
                </a:solidFill>
              </a:rPr>
              <a:t>         if(</a:t>
            </a:r>
            <a:r>
              <a:rPr lang="en-US" sz="2800" dirty="0" err="1" smtClean="0">
                <a:solidFill>
                  <a:schemeClr val="tx1"/>
                </a:solidFill>
              </a:rPr>
              <a:t>i</a:t>
            </a:r>
            <a:r>
              <a:rPr lang="en-US" sz="2800" dirty="0" smtClean="0">
                <a:solidFill>
                  <a:schemeClr val="tx1"/>
                </a:solidFill>
              </a:rPr>
              <a:t>&lt;j)</a:t>
            </a:r>
          </a:p>
          <a:p>
            <a:pPr algn="just"/>
            <a:r>
              <a:rPr lang="en-US" sz="2800" dirty="0" smtClean="0">
                <a:solidFill>
                  <a:schemeClr val="tx1"/>
                </a:solidFill>
              </a:rPr>
              <a:t>         {</a:t>
            </a:r>
          </a:p>
          <a:p>
            <a:pPr algn="just"/>
            <a:r>
              <a:rPr lang="en-US" sz="2800" dirty="0" smtClean="0">
                <a:solidFill>
                  <a:schemeClr val="tx1"/>
                </a:solidFill>
              </a:rPr>
              <a:t>            temp=number[</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number[</a:t>
            </a:r>
            <a:r>
              <a:rPr lang="en-US" sz="2800" dirty="0" err="1" smtClean="0">
                <a:solidFill>
                  <a:schemeClr val="tx1"/>
                </a:solidFill>
              </a:rPr>
              <a:t>i</a:t>
            </a:r>
            <a:r>
              <a:rPr lang="en-US" sz="2800" dirty="0" smtClean="0">
                <a:solidFill>
                  <a:schemeClr val="tx1"/>
                </a:solidFill>
              </a:rPr>
              <a:t>]=number[j];</a:t>
            </a:r>
          </a:p>
          <a:p>
            <a:pPr algn="just"/>
            <a:r>
              <a:rPr lang="en-US" sz="2800" dirty="0" smtClean="0">
                <a:solidFill>
                  <a:schemeClr val="tx1"/>
                </a:solidFill>
              </a:rPr>
              <a:t>            number[j]=temp;</a:t>
            </a:r>
          </a:p>
          <a:p>
            <a:pPr algn="just"/>
            <a:r>
              <a:rPr lang="en-US" sz="2800" dirty="0" smtClean="0">
                <a:solidFill>
                  <a:schemeClr val="tx1"/>
                </a:solidFill>
              </a:rPr>
              <a:t>         }</a:t>
            </a:r>
          </a:p>
          <a:p>
            <a:pPr algn="just"/>
            <a:r>
              <a:rPr lang="en-US" sz="2800" dirty="0" smtClean="0">
                <a:solidFill>
                  <a:schemeClr val="tx1"/>
                </a:solidFill>
              </a:rPr>
              <a:t>      }</a:t>
            </a:r>
          </a:p>
          <a:p>
            <a:pPr algn="just"/>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QUICK SORT</a:t>
            </a:r>
            <a:endParaRPr lang="en-US" b="1" dirty="0"/>
          </a:p>
        </p:txBody>
      </p:sp>
      <p:sp>
        <p:nvSpPr>
          <p:cNvPr id="3" name="Subtitle 2"/>
          <p:cNvSpPr>
            <a:spLocks noGrp="1"/>
          </p:cNvSpPr>
          <p:nvPr>
            <p:ph type="subTitle" idx="1"/>
          </p:nvPr>
        </p:nvSpPr>
        <p:spPr>
          <a:xfrm>
            <a:off x="685800" y="857250"/>
            <a:ext cx="7848600" cy="4057650"/>
          </a:xfrm>
        </p:spPr>
        <p:txBody>
          <a:bodyPr>
            <a:normAutofit fontScale="32500" lnSpcReduction="20000"/>
          </a:bodyPr>
          <a:lstStyle/>
          <a:p>
            <a:pPr algn="just"/>
            <a:r>
              <a:rPr lang="en-US" sz="2800" dirty="0" smtClean="0">
                <a:solidFill>
                  <a:schemeClr val="tx1"/>
                </a:solidFill>
              </a:rPr>
              <a:t> temp=number[pivot];</a:t>
            </a:r>
          </a:p>
          <a:p>
            <a:pPr algn="just"/>
            <a:r>
              <a:rPr lang="en-US" sz="2800" dirty="0" smtClean="0">
                <a:solidFill>
                  <a:schemeClr val="tx1"/>
                </a:solidFill>
              </a:rPr>
              <a:t>      number[pivot]=number[j];</a:t>
            </a:r>
          </a:p>
          <a:p>
            <a:pPr algn="just"/>
            <a:r>
              <a:rPr lang="en-US" sz="2800" dirty="0" smtClean="0">
                <a:solidFill>
                  <a:schemeClr val="tx1"/>
                </a:solidFill>
              </a:rPr>
              <a:t>      number[j]=temp;</a:t>
            </a:r>
          </a:p>
          <a:p>
            <a:pPr algn="just"/>
            <a:r>
              <a:rPr lang="en-US" sz="2800" dirty="0" smtClean="0">
                <a:solidFill>
                  <a:schemeClr val="tx1"/>
                </a:solidFill>
              </a:rPr>
              <a:t>      </a:t>
            </a:r>
            <a:r>
              <a:rPr lang="en-US" sz="2800" dirty="0" err="1" smtClean="0">
                <a:solidFill>
                  <a:schemeClr val="tx1"/>
                </a:solidFill>
              </a:rPr>
              <a:t>quicksort</a:t>
            </a:r>
            <a:r>
              <a:rPr lang="en-US" sz="2800" dirty="0" smtClean="0">
                <a:solidFill>
                  <a:schemeClr val="tx1"/>
                </a:solidFill>
              </a:rPr>
              <a:t>(number,first,j-1);</a:t>
            </a:r>
          </a:p>
          <a:p>
            <a:pPr algn="just"/>
            <a:r>
              <a:rPr lang="en-US" sz="2800" dirty="0" smtClean="0">
                <a:solidFill>
                  <a:schemeClr val="tx1"/>
                </a:solidFill>
              </a:rPr>
              <a:t>      </a:t>
            </a:r>
            <a:r>
              <a:rPr lang="en-US" sz="2800" dirty="0" err="1" smtClean="0">
                <a:solidFill>
                  <a:schemeClr val="tx1"/>
                </a:solidFill>
              </a:rPr>
              <a:t>quicksort</a:t>
            </a:r>
            <a:r>
              <a:rPr lang="en-US" sz="2800" dirty="0" smtClean="0">
                <a:solidFill>
                  <a:schemeClr val="tx1"/>
                </a:solidFill>
              </a:rPr>
              <a:t>(number,j+1,last);</a:t>
            </a:r>
          </a:p>
          <a:p>
            <a:pPr algn="just"/>
            <a:endParaRPr lang="en-US" sz="2800" dirty="0" smtClean="0">
              <a:solidFill>
                <a:schemeClr val="tx1"/>
              </a:solidFill>
            </a:endParaRPr>
          </a:p>
          <a:p>
            <a:pPr algn="just"/>
            <a:r>
              <a:rPr lang="en-US" sz="2800" dirty="0" smtClean="0">
                <a:solidFill>
                  <a:schemeClr val="tx1"/>
                </a:solidFill>
              </a:rPr>
              <a:t>   }</a:t>
            </a:r>
          </a:p>
          <a:p>
            <a:pPr algn="just"/>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void main()</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a:t>
            </a:r>
            <a:r>
              <a:rPr lang="en-US" sz="2800" dirty="0" err="1" smtClean="0">
                <a:solidFill>
                  <a:schemeClr val="tx1"/>
                </a:solidFill>
              </a:rPr>
              <a:t>i</a:t>
            </a:r>
            <a:r>
              <a:rPr lang="en-US" sz="2800" dirty="0" smtClean="0">
                <a:solidFill>
                  <a:schemeClr val="tx1"/>
                </a:solidFill>
              </a:rPr>
              <a:t>, count, number[25];</a:t>
            </a:r>
          </a:p>
          <a:p>
            <a:pPr algn="just"/>
            <a:r>
              <a:rPr lang="en-US" sz="2800" dirty="0" smtClean="0">
                <a:solidFill>
                  <a:schemeClr val="tx1"/>
                </a:solidFill>
              </a:rPr>
              <a:t>   </a:t>
            </a:r>
            <a:r>
              <a:rPr lang="en-US" sz="2800" dirty="0" err="1" smtClean="0">
                <a:solidFill>
                  <a:schemeClr val="tx1"/>
                </a:solidFill>
              </a:rPr>
              <a:t>clrscr</a:t>
            </a:r>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("How many elements are u going to enter?: ");</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a:t>
            </a:r>
            <a:r>
              <a:rPr lang="en-US" sz="2800" dirty="0" err="1" smtClean="0">
                <a:solidFill>
                  <a:schemeClr val="tx1"/>
                </a:solidFill>
              </a:rPr>
              <a:t>d",&amp;count</a:t>
            </a:r>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%d elements: ", count);</a:t>
            </a:r>
          </a:p>
          <a:p>
            <a:pPr algn="just"/>
            <a:r>
              <a:rPr lang="en-US" sz="2800" dirty="0" smtClean="0">
                <a:solidFill>
                  <a:schemeClr val="tx1"/>
                </a:solidFill>
              </a:rPr>
              <a:t>   for(</a:t>
            </a:r>
            <a:r>
              <a:rPr lang="en-US" sz="2800" dirty="0" err="1" smtClean="0">
                <a:solidFill>
                  <a:schemeClr val="tx1"/>
                </a:solidFill>
              </a:rPr>
              <a:t>i</a:t>
            </a:r>
            <a:r>
              <a:rPr lang="en-US" sz="2800" dirty="0" smtClean="0">
                <a:solidFill>
                  <a:schemeClr val="tx1"/>
                </a:solidFill>
              </a:rPr>
              <a:t>=0;i&lt;</a:t>
            </a:r>
            <a:r>
              <a:rPr lang="en-US" sz="2800" dirty="0" err="1" smtClean="0">
                <a:solidFill>
                  <a:schemeClr val="tx1"/>
                </a:solidFill>
              </a:rPr>
              <a:t>count;i</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a:t>
            </a:r>
            <a:r>
              <a:rPr lang="en-US" sz="2800" dirty="0" err="1" smtClean="0">
                <a:solidFill>
                  <a:schemeClr val="tx1"/>
                </a:solidFill>
              </a:rPr>
              <a:t>d",&amp;number</a:t>
            </a:r>
            <a:r>
              <a:rPr lang="en-US" sz="2800" dirty="0" smtClean="0">
                <a:solidFill>
                  <a:schemeClr val="tx1"/>
                </a:solidFill>
              </a:rPr>
              <a:t>[</a:t>
            </a:r>
            <a:r>
              <a:rPr lang="en-US" sz="2800" dirty="0" err="1" smtClean="0">
                <a:solidFill>
                  <a:schemeClr val="tx1"/>
                </a:solidFill>
              </a:rPr>
              <a:t>i</a:t>
            </a:r>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quicksort</a:t>
            </a:r>
            <a:r>
              <a:rPr lang="en-US" sz="2800" dirty="0" smtClean="0">
                <a:solidFill>
                  <a:schemeClr val="tx1"/>
                </a:solidFill>
              </a:rPr>
              <a:t>(number,0,count-1);</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("Order of Sorted elements: ");</a:t>
            </a:r>
          </a:p>
          <a:p>
            <a:pPr algn="just"/>
            <a:r>
              <a:rPr lang="en-US" sz="2800" dirty="0" smtClean="0">
                <a:solidFill>
                  <a:schemeClr val="tx1"/>
                </a:solidFill>
              </a:rPr>
              <a:t>   for(</a:t>
            </a:r>
            <a:r>
              <a:rPr lang="en-US" sz="2800" dirty="0" err="1" smtClean="0">
                <a:solidFill>
                  <a:schemeClr val="tx1"/>
                </a:solidFill>
              </a:rPr>
              <a:t>i</a:t>
            </a:r>
            <a:r>
              <a:rPr lang="en-US" sz="2800" dirty="0" smtClean="0">
                <a:solidFill>
                  <a:schemeClr val="tx1"/>
                </a:solidFill>
              </a:rPr>
              <a:t>=0;i&lt;</a:t>
            </a:r>
            <a:r>
              <a:rPr lang="en-US" sz="2800" dirty="0" err="1" smtClean="0">
                <a:solidFill>
                  <a:schemeClr val="tx1"/>
                </a:solidFill>
              </a:rPr>
              <a:t>count;i</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 %</a:t>
            </a:r>
            <a:r>
              <a:rPr lang="en-US" sz="2800" dirty="0" err="1" smtClean="0">
                <a:solidFill>
                  <a:schemeClr val="tx1"/>
                </a:solidFill>
              </a:rPr>
              <a:t>d",number</a:t>
            </a:r>
            <a:r>
              <a:rPr lang="en-US" sz="2800" dirty="0" smtClean="0">
                <a:solidFill>
                  <a:schemeClr val="tx1"/>
                </a:solidFill>
              </a:rPr>
              <a:t>[</a:t>
            </a:r>
            <a:r>
              <a:rPr lang="en-US" sz="2800" dirty="0" err="1" smtClean="0">
                <a:solidFill>
                  <a:schemeClr val="tx1"/>
                </a:solidFill>
              </a:rPr>
              <a:t>i</a:t>
            </a:r>
            <a:r>
              <a:rPr lang="en-US" sz="2800" dirty="0" smtClean="0">
                <a:solidFill>
                  <a:schemeClr val="tx1"/>
                </a:solidFill>
              </a:rPr>
              <a:t>]);</a:t>
            </a:r>
          </a:p>
          <a:p>
            <a:pPr algn="just"/>
            <a:endParaRPr lang="en-US" sz="2800" dirty="0" smtClean="0">
              <a:solidFill>
                <a:schemeClr val="tx1"/>
              </a:solidFill>
            </a:endParaRPr>
          </a:p>
          <a:p>
            <a:pPr algn="just"/>
            <a:r>
              <a:rPr lang="en-US" sz="2800" dirty="0" smtClean="0">
                <a:solidFill>
                  <a:schemeClr val="tx1"/>
                </a:solidFill>
              </a:rPr>
              <a:t>   </a:t>
            </a:r>
            <a:r>
              <a:rPr lang="en-US" sz="2800" dirty="0" err="1" smtClean="0">
                <a:solidFill>
                  <a:schemeClr val="tx1"/>
                </a:solidFill>
              </a:rPr>
              <a:t>getch</a:t>
            </a:r>
            <a:r>
              <a:rPr lang="en-US" sz="2800" dirty="0" smtClean="0">
                <a:solidFill>
                  <a:schemeClr val="tx1"/>
                </a:solidFill>
              </a:rPr>
              <a:t>();</a:t>
            </a:r>
          </a:p>
          <a:p>
            <a:pPr algn="just"/>
            <a:r>
              <a:rPr lang="en-US" sz="2800" dirty="0" smtClean="0">
                <a:solidFill>
                  <a:schemeClr val="tx1"/>
                </a:solidFill>
              </a:rPr>
              <a:t>}</a:t>
            </a:r>
          </a:p>
          <a:p>
            <a:pPr algn="just"/>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lnSpcReduction="10000"/>
          </a:bodyPr>
          <a:lstStyle/>
          <a:p>
            <a:pPr algn="just" fontAlgn="base"/>
            <a:r>
              <a:rPr lang="en-GB" sz="2800" b="1" dirty="0" smtClean="0">
                <a:solidFill>
                  <a:schemeClr val="tx1"/>
                </a:solidFill>
              </a:rPr>
              <a:t>Heap sort is a comparison based sorting technique based on Binary Heap data structure. </a:t>
            </a:r>
          </a:p>
          <a:p>
            <a:pPr algn="just" fontAlgn="base"/>
            <a:endParaRPr lang="en-GB" sz="2800" dirty="0" smtClean="0">
              <a:solidFill>
                <a:schemeClr val="tx1"/>
              </a:solidFill>
            </a:endParaRPr>
          </a:p>
          <a:p>
            <a:pPr algn="just" fontAlgn="base"/>
            <a:r>
              <a:rPr lang="en-GB" sz="2800" dirty="0" smtClean="0">
                <a:solidFill>
                  <a:schemeClr val="tx1"/>
                </a:solidFill>
              </a:rPr>
              <a:t>It is similar to selection sort where we first find the maximum element and place the maximum element at the end. We repeat the same process for remaining element.</a:t>
            </a:r>
          </a:p>
          <a:p>
            <a:pPr algn="just"/>
            <a:r>
              <a:rPr lang="en-GB" sz="2800" dirty="0" smtClean="0">
                <a:solidFill>
                  <a:schemeClr val="tx1"/>
                </a:solidFill>
              </a:rPr>
              <a:t/>
            </a:r>
            <a:br>
              <a:rPr lang="en-GB" sz="2800" dirty="0" smtClean="0">
                <a:solidFill>
                  <a:schemeClr val="tx1"/>
                </a:solidFill>
              </a:rPr>
            </a:b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fontScale="85000" lnSpcReduction="20000"/>
          </a:bodyPr>
          <a:lstStyle/>
          <a:p>
            <a:pPr algn="l"/>
            <a:r>
              <a:rPr lang="en-US" sz="2800" dirty="0" smtClean="0">
                <a:solidFill>
                  <a:schemeClr val="tx1"/>
                </a:solidFill>
              </a:rPr>
              <a:t>Now, let's see the working of the </a:t>
            </a:r>
            <a:r>
              <a:rPr lang="en-US" sz="2800" dirty="0" err="1" smtClean="0">
                <a:solidFill>
                  <a:schemeClr val="tx1"/>
                </a:solidFill>
              </a:rPr>
              <a:t>Heapsort</a:t>
            </a:r>
            <a:r>
              <a:rPr lang="en-US" sz="2800" dirty="0" smtClean="0">
                <a:solidFill>
                  <a:schemeClr val="tx1"/>
                </a:solidFill>
              </a:rPr>
              <a:t> Algorithm.</a:t>
            </a:r>
          </a:p>
          <a:p>
            <a:pPr algn="l"/>
            <a:r>
              <a:rPr lang="en-US" sz="2800" dirty="0" smtClean="0">
                <a:solidFill>
                  <a:schemeClr val="tx1"/>
                </a:solidFill>
              </a:rPr>
              <a:t>In heap sort, basically, there are two phases involved in the sorting of elements. By using the heap sort algorithm, they are as follows –</a:t>
            </a:r>
          </a:p>
          <a:p>
            <a:pPr algn="l"/>
            <a:endParaRPr lang="en-US" sz="2800" dirty="0" smtClean="0">
              <a:solidFill>
                <a:schemeClr val="tx1"/>
              </a:solidFill>
            </a:endParaRPr>
          </a:p>
          <a:p>
            <a:pPr algn="l">
              <a:buFont typeface="Arial" pitchFamily="34" charset="0"/>
              <a:buChar char="•"/>
            </a:pPr>
            <a:r>
              <a:rPr lang="en-US" sz="2800" dirty="0" smtClean="0">
                <a:solidFill>
                  <a:schemeClr val="tx1"/>
                </a:solidFill>
              </a:rPr>
              <a:t>The first step includes the creation of a heap by adjusting the elements of the array.</a:t>
            </a:r>
          </a:p>
          <a:p>
            <a:pPr algn="l">
              <a:buFont typeface="Arial" pitchFamily="34" charset="0"/>
              <a:buChar char="•"/>
            </a:pPr>
            <a:endParaRPr lang="en-US" sz="2800" dirty="0" smtClean="0">
              <a:solidFill>
                <a:schemeClr val="tx1"/>
              </a:solidFill>
            </a:endParaRPr>
          </a:p>
          <a:p>
            <a:pPr algn="l">
              <a:buFont typeface="Arial" pitchFamily="34" charset="0"/>
              <a:buChar char="•"/>
            </a:pPr>
            <a:r>
              <a:rPr lang="en-US" sz="2800" dirty="0" smtClean="0">
                <a:solidFill>
                  <a:schemeClr val="tx1"/>
                </a:solidFill>
              </a:rPr>
              <a:t>After the creation of heap, now remove the root element of the heap repeatedly by shifting it to the end of the array, and then store the heap structure with the remaining elements.</a:t>
            </a:r>
            <a:endParaRPr lang="en-US" sz="2800" dirty="0">
              <a:solidFill>
                <a:schemeClr val="tx1"/>
              </a:solidFill>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2050" name="Picture 2"/>
          <p:cNvPicPr>
            <a:picLocks noChangeAspect="1" noChangeArrowheads="1"/>
          </p:cNvPicPr>
          <p:nvPr/>
        </p:nvPicPr>
        <p:blipFill>
          <a:blip r:embed="rId2"/>
          <a:srcRect/>
          <a:stretch>
            <a:fillRect/>
          </a:stretch>
        </p:blipFill>
        <p:spPr bwMode="auto">
          <a:xfrm>
            <a:off x="914400" y="914400"/>
            <a:ext cx="7029484" cy="346114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3074" name="Picture 2"/>
          <p:cNvPicPr>
            <a:picLocks noChangeAspect="1" noChangeArrowheads="1"/>
          </p:cNvPicPr>
          <p:nvPr/>
        </p:nvPicPr>
        <p:blipFill>
          <a:blip r:embed="rId2"/>
          <a:srcRect/>
          <a:stretch>
            <a:fillRect/>
          </a:stretch>
        </p:blipFill>
        <p:spPr bwMode="auto">
          <a:xfrm>
            <a:off x="838200" y="1143000"/>
            <a:ext cx="7296150" cy="33218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4098" name="Picture 2"/>
          <p:cNvPicPr>
            <a:picLocks noChangeAspect="1" noChangeArrowheads="1"/>
          </p:cNvPicPr>
          <p:nvPr/>
        </p:nvPicPr>
        <p:blipFill>
          <a:blip r:embed="rId2"/>
          <a:srcRect/>
          <a:stretch>
            <a:fillRect/>
          </a:stretch>
        </p:blipFill>
        <p:spPr bwMode="auto">
          <a:xfrm>
            <a:off x="762000" y="685800"/>
            <a:ext cx="7848600" cy="1657350"/>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685800" y="2286000"/>
            <a:ext cx="815340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5122" name="Picture 2"/>
          <p:cNvPicPr>
            <a:picLocks noChangeAspect="1" noChangeArrowheads="1"/>
          </p:cNvPicPr>
          <p:nvPr/>
        </p:nvPicPr>
        <p:blipFill>
          <a:blip r:embed="rId2"/>
          <a:srcRect/>
          <a:stretch>
            <a:fillRect/>
          </a:stretch>
        </p:blipFill>
        <p:spPr bwMode="auto">
          <a:xfrm>
            <a:off x="609600" y="914400"/>
            <a:ext cx="8229600" cy="2114550"/>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a:srcRect/>
          <a:stretch>
            <a:fillRect/>
          </a:stretch>
        </p:blipFill>
        <p:spPr bwMode="auto">
          <a:xfrm>
            <a:off x="685800" y="3028951"/>
            <a:ext cx="7277100" cy="15930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6146" name="Picture 2"/>
          <p:cNvPicPr>
            <a:picLocks noChangeAspect="1" noChangeArrowheads="1"/>
          </p:cNvPicPr>
          <p:nvPr/>
        </p:nvPicPr>
        <p:blipFill>
          <a:blip r:embed="rId2"/>
          <a:srcRect/>
          <a:stretch>
            <a:fillRect/>
          </a:stretch>
        </p:blipFill>
        <p:spPr bwMode="auto">
          <a:xfrm>
            <a:off x="990600" y="1028700"/>
            <a:ext cx="7200900" cy="35147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7170" name="Picture 2"/>
          <p:cNvPicPr>
            <a:picLocks noChangeAspect="1" noChangeArrowheads="1"/>
          </p:cNvPicPr>
          <p:nvPr/>
        </p:nvPicPr>
        <p:blipFill>
          <a:blip r:embed="rId2"/>
          <a:srcRect/>
          <a:stretch>
            <a:fillRect/>
          </a:stretch>
        </p:blipFill>
        <p:spPr bwMode="auto">
          <a:xfrm>
            <a:off x="762000" y="819150"/>
            <a:ext cx="7706488" cy="3962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8194" name="Picture 2"/>
          <p:cNvPicPr>
            <a:picLocks noChangeAspect="1" noChangeArrowheads="1"/>
          </p:cNvPicPr>
          <p:nvPr/>
        </p:nvPicPr>
        <p:blipFill>
          <a:blip r:embed="rId2"/>
          <a:srcRect/>
          <a:stretch>
            <a:fillRect/>
          </a:stretch>
        </p:blipFill>
        <p:spPr bwMode="auto">
          <a:xfrm>
            <a:off x="838201" y="1085850"/>
            <a:ext cx="7210425" cy="332898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9218" name="Picture 2"/>
          <p:cNvPicPr>
            <a:picLocks noChangeAspect="1" noChangeArrowheads="1"/>
          </p:cNvPicPr>
          <p:nvPr/>
        </p:nvPicPr>
        <p:blipFill>
          <a:blip r:embed="rId2"/>
          <a:srcRect/>
          <a:stretch>
            <a:fillRect/>
          </a:stretch>
        </p:blipFill>
        <p:spPr bwMode="auto">
          <a:xfrm>
            <a:off x="914401" y="914401"/>
            <a:ext cx="7267575" cy="38790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IN" b="1" dirty="0" smtClean="0"/>
              <a:t>HEAP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dirty="0">
              <a:solidFill>
                <a:schemeClr val="tx1"/>
              </a:solidFill>
            </a:endParaRPr>
          </a:p>
        </p:txBody>
      </p:sp>
      <p:pic>
        <p:nvPicPr>
          <p:cNvPr id="10242" name="Picture 2"/>
          <p:cNvPicPr>
            <a:picLocks noChangeAspect="1" noChangeArrowheads="1"/>
          </p:cNvPicPr>
          <p:nvPr/>
        </p:nvPicPr>
        <p:blipFill>
          <a:blip r:embed="rId2"/>
          <a:srcRect/>
          <a:stretch>
            <a:fillRect/>
          </a:stretch>
        </p:blipFill>
        <p:spPr bwMode="auto">
          <a:xfrm>
            <a:off x="762001" y="914400"/>
            <a:ext cx="7707086" cy="39433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SHELL SORT</a:t>
            </a:r>
            <a:endParaRPr lang="en-US" b="1" dirty="0"/>
          </a:p>
        </p:txBody>
      </p:sp>
      <p:sp>
        <p:nvSpPr>
          <p:cNvPr id="3" name="Subtitle 2"/>
          <p:cNvSpPr>
            <a:spLocks noGrp="1"/>
          </p:cNvSpPr>
          <p:nvPr>
            <p:ph type="subTitle" idx="1"/>
          </p:nvPr>
        </p:nvSpPr>
        <p:spPr>
          <a:xfrm>
            <a:off x="685800" y="857250"/>
            <a:ext cx="7848600" cy="4057650"/>
          </a:xfrm>
        </p:spPr>
        <p:txBody>
          <a:bodyPr>
            <a:normAutofit fontScale="85000" lnSpcReduction="20000"/>
          </a:bodyPr>
          <a:lstStyle/>
          <a:p>
            <a:pPr algn="just"/>
            <a:r>
              <a:rPr lang="en-GB" sz="2800" b="1" dirty="0" smtClean="0">
                <a:solidFill>
                  <a:schemeClr val="tx1"/>
                </a:solidFill>
              </a:rPr>
              <a:t>Shell sort is an algorithm that first sorts the elements far apart from each other and successively reduces the interval between the elements to be sorted. It is a generalized version of insertion sort.</a:t>
            </a:r>
          </a:p>
          <a:p>
            <a:pPr algn="just"/>
            <a:endParaRPr lang="en-US" sz="2800" dirty="0" smtClean="0">
              <a:solidFill>
                <a:schemeClr val="tx1"/>
              </a:solidFill>
            </a:endParaRPr>
          </a:p>
          <a:p>
            <a:pPr algn="just"/>
            <a:r>
              <a:rPr lang="en-US" sz="2800" dirty="0" smtClean="0">
                <a:solidFill>
                  <a:schemeClr val="tx1"/>
                </a:solidFill>
              </a:rPr>
              <a:t>In Shell sort, elements are sorted in multiple passes and in each pass, data are taken with smaller and smaller gap sizes. However, the last step of shell sort is a plain insertion sort.</a:t>
            </a:r>
          </a:p>
          <a:p>
            <a:pPr algn="just"/>
            <a:endParaRPr lang="en-US" sz="2800" dirty="0" smtClean="0">
              <a:solidFill>
                <a:schemeClr val="tx1"/>
              </a:solidFill>
            </a:endParaRPr>
          </a:p>
          <a:p>
            <a:pPr algn="just"/>
            <a:r>
              <a:rPr lang="en-US" sz="2800" dirty="0" smtClean="0">
                <a:solidFill>
                  <a:schemeClr val="tx1"/>
                </a:solidFill>
              </a:rPr>
              <a:t>But by the time we reach the last step, the elements are already ‘almost sorted’, and hence it provides good performance.</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SHELL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2050" name="Picture 2"/>
          <p:cNvPicPr>
            <a:picLocks noChangeAspect="1" noChangeArrowheads="1"/>
          </p:cNvPicPr>
          <p:nvPr/>
        </p:nvPicPr>
        <p:blipFill>
          <a:blip r:embed="rId2"/>
          <a:srcRect/>
          <a:stretch>
            <a:fillRect/>
          </a:stretch>
        </p:blipFill>
        <p:spPr bwMode="auto">
          <a:xfrm>
            <a:off x="990600" y="914400"/>
            <a:ext cx="4762500" cy="235743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762000" y="3200400"/>
            <a:ext cx="5391150" cy="7500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SHELL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2052" name="Picture 4"/>
          <p:cNvPicPr>
            <a:picLocks noChangeAspect="1" noChangeArrowheads="1"/>
          </p:cNvPicPr>
          <p:nvPr/>
        </p:nvPicPr>
        <p:blipFill>
          <a:blip r:embed="rId2"/>
          <a:srcRect/>
          <a:stretch>
            <a:fillRect/>
          </a:stretch>
        </p:blipFill>
        <p:spPr bwMode="auto">
          <a:xfrm>
            <a:off x="762000" y="857250"/>
            <a:ext cx="5372100" cy="1878806"/>
          </a:xfrm>
          <a:prstGeom prst="rect">
            <a:avLst/>
          </a:prstGeom>
          <a:noFill/>
          <a:ln w="9525">
            <a:noFill/>
            <a:miter lim="800000"/>
            <a:headEnd/>
            <a:tailEnd/>
          </a:ln>
          <a:effectLst/>
        </p:spPr>
      </p:pic>
      <p:pic>
        <p:nvPicPr>
          <p:cNvPr id="3074" name="Picture 2"/>
          <p:cNvPicPr>
            <a:picLocks noChangeAspect="1" noChangeArrowheads="1"/>
          </p:cNvPicPr>
          <p:nvPr/>
        </p:nvPicPr>
        <p:blipFill>
          <a:blip r:embed="rId3"/>
          <a:srcRect/>
          <a:stretch>
            <a:fillRect/>
          </a:stretch>
        </p:blipFill>
        <p:spPr bwMode="auto">
          <a:xfrm>
            <a:off x="762001" y="2686050"/>
            <a:ext cx="5457825" cy="78581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SHELL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4098" name="Picture 2"/>
          <p:cNvPicPr>
            <a:picLocks noChangeAspect="1" noChangeArrowheads="1"/>
          </p:cNvPicPr>
          <p:nvPr/>
        </p:nvPicPr>
        <p:blipFill>
          <a:blip r:embed="rId2"/>
          <a:srcRect/>
          <a:stretch>
            <a:fillRect/>
          </a:stretch>
        </p:blipFill>
        <p:spPr bwMode="auto">
          <a:xfrm>
            <a:off x="1219200" y="1028700"/>
            <a:ext cx="3905250" cy="34932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SHELL SORT</a:t>
            </a:r>
            <a:endParaRPr lang="en-US" b="1" dirty="0"/>
          </a:p>
        </p:txBody>
      </p:sp>
      <p:sp>
        <p:nvSpPr>
          <p:cNvPr id="3" name="Subtitle 2"/>
          <p:cNvSpPr>
            <a:spLocks noGrp="1"/>
          </p:cNvSpPr>
          <p:nvPr>
            <p:ph type="subTitle" idx="1"/>
          </p:nvPr>
        </p:nvSpPr>
        <p:spPr>
          <a:xfrm>
            <a:off x="685800" y="857250"/>
            <a:ext cx="7848600" cy="4057650"/>
          </a:xfrm>
        </p:spPr>
        <p:txBody>
          <a:bodyPr>
            <a:normAutofit fontScale="40000" lnSpcReduction="20000"/>
          </a:bodyPr>
          <a:lstStyle/>
          <a:p>
            <a:pPr algn="just"/>
            <a:r>
              <a:rPr lang="en-US" sz="2800" dirty="0" smtClean="0">
                <a:solidFill>
                  <a:schemeClr val="tx1"/>
                </a:solidFill>
              </a:rPr>
              <a:t>#include &lt;</a:t>
            </a:r>
            <a:r>
              <a:rPr lang="en-US" sz="2800" dirty="0" err="1" smtClean="0">
                <a:solidFill>
                  <a:schemeClr val="tx1"/>
                </a:solidFill>
              </a:rPr>
              <a:t>stdio.h</a:t>
            </a:r>
            <a:r>
              <a:rPr lang="en-US" sz="2800" dirty="0" smtClean="0">
                <a:solidFill>
                  <a:schemeClr val="tx1"/>
                </a:solidFill>
              </a:rPr>
              <a:t>&gt;</a:t>
            </a:r>
          </a:p>
          <a:p>
            <a:pPr algn="just"/>
            <a:r>
              <a:rPr lang="en-US" sz="2800" dirty="0" smtClean="0">
                <a:solidFill>
                  <a:schemeClr val="tx1"/>
                </a:solidFill>
              </a:rPr>
              <a:t>#include &lt;</a:t>
            </a:r>
            <a:r>
              <a:rPr lang="en-US" sz="2800" dirty="0" err="1" smtClean="0">
                <a:solidFill>
                  <a:schemeClr val="tx1"/>
                </a:solidFill>
              </a:rPr>
              <a:t>conio.h</a:t>
            </a:r>
            <a:r>
              <a:rPr lang="en-US" sz="2800" dirty="0" smtClean="0">
                <a:solidFill>
                  <a:schemeClr val="tx1"/>
                </a:solidFill>
              </a:rPr>
              <a:t>&gt;</a:t>
            </a:r>
          </a:p>
          <a:p>
            <a:pPr algn="just"/>
            <a:r>
              <a:rPr lang="en-US" sz="2800" dirty="0" smtClean="0">
                <a:solidFill>
                  <a:schemeClr val="tx1"/>
                </a:solidFill>
              </a:rPr>
              <a:t>void </a:t>
            </a:r>
            <a:r>
              <a:rPr lang="en-US" sz="2800" dirty="0" err="1" smtClean="0">
                <a:solidFill>
                  <a:schemeClr val="tx1"/>
                </a:solidFill>
              </a:rPr>
              <a:t>shellsort</a:t>
            </a:r>
            <a:r>
              <a:rPr lang="en-US" sz="2800" dirty="0" smtClean="0">
                <a:solidFill>
                  <a:schemeClr val="tx1"/>
                </a:solidFill>
              </a:rPr>
              <a:t>(</a:t>
            </a:r>
            <a:r>
              <a:rPr lang="en-US" sz="2800" dirty="0" err="1" smtClean="0">
                <a:solidFill>
                  <a:schemeClr val="tx1"/>
                </a:solidFill>
              </a:rPr>
              <a:t>int</a:t>
            </a:r>
            <a:r>
              <a:rPr lang="en-US" sz="2800" dirty="0" smtClean="0">
                <a:solidFill>
                  <a:schemeClr val="tx1"/>
                </a:solidFill>
              </a:rPr>
              <a:t> </a:t>
            </a:r>
            <a:r>
              <a:rPr lang="en-US" sz="2800" dirty="0" err="1" smtClean="0">
                <a:solidFill>
                  <a:schemeClr val="tx1"/>
                </a:solidFill>
              </a:rPr>
              <a:t>arr</a:t>
            </a:r>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num)</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a:t>
            </a:r>
            <a:r>
              <a:rPr lang="en-US" sz="2800" dirty="0" err="1" smtClean="0">
                <a:solidFill>
                  <a:schemeClr val="tx1"/>
                </a:solidFill>
              </a:rPr>
              <a:t>i</a:t>
            </a:r>
            <a:r>
              <a:rPr lang="en-US" sz="2800" dirty="0" smtClean="0">
                <a:solidFill>
                  <a:schemeClr val="tx1"/>
                </a:solidFill>
              </a:rPr>
              <a:t>, j, k, </a:t>
            </a:r>
            <a:r>
              <a:rPr lang="en-US" sz="2800" dirty="0" err="1" smtClean="0">
                <a:solidFill>
                  <a:schemeClr val="tx1"/>
                </a:solidFill>
              </a:rPr>
              <a:t>tmp,gap</a:t>
            </a:r>
            <a:r>
              <a:rPr lang="en-US" sz="2800" dirty="0" smtClean="0">
                <a:solidFill>
                  <a:schemeClr val="tx1"/>
                </a:solidFill>
              </a:rPr>
              <a:t>;</a:t>
            </a:r>
          </a:p>
          <a:p>
            <a:pPr algn="just"/>
            <a:r>
              <a:rPr lang="en-US" sz="2800" dirty="0" smtClean="0">
                <a:solidFill>
                  <a:schemeClr val="tx1"/>
                </a:solidFill>
              </a:rPr>
              <a:t>    for (gap = num / 2; gap &gt; 0; gap = gap / 2)</a:t>
            </a:r>
          </a:p>
          <a:p>
            <a:pPr algn="just"/>
            <a:r>
              <a:rPr lang="en-US" sz="2800" dirty="0" smtClean="0">
                <a:solidFill>
                  <a:schemeClr val="tx1"/>
                </a:solidFill>
              </a:rPr>
              <a:t>    {</a:t>
            </a:r>
          </a:p>
          <a:p>
            <a:pPr algn="just"/>
            <a:r>
              <a:rPr lang="en-US" sz="2800" dirty="0" smtClean="0">
                <a:solidFill>
                  <a:schemeClr val="tx1"/>
                </a:solidFill>
              </a:rPr>
              <a:t>        for (j = gap; j &lt; num; j++)</a:t>
            </a:r>
          </a:p>
          <a:p>
            <a:pPr algn="just"/>
            <a:r>
              <a:rPr lang="en-US" sz="2800" dirty="0" smtClean="0">
                <a:solidFill>
                  <a:schemeClr val="tx1"/>
                </a:solidFill>
              </a:rPr>
              <a:t>        {</a:t>
            </a:r>
          </a:p>
          <a:p>
            <a:pPr algn="just"/>
            <a:r>
              <a:rPr lang="en-US" sz="2800" dirty="0" smtClean="0">
                <a:solidFill>
                  <a:schemeClr val="tx1"/>
                </a:solidFill>
              </a:rPr>
              <a:t>            for(</a:t>
            </a:r>
            <a:r>
              <a:rPr lang="en-US" sz="2800" dirty="0" err="1" smtClean="0">
                <a:solidFill>
                  <a:schemeClr val="tx1"/>
                </a:solidFill>
              </a:rPr>
              <a:t>i</a:t>
            </a:r>
            <a:r>
              <a:rPr lang="en-US" sz="2800" dirty="0" smtClean="0">
                <a:solidFill>
                  <a:schemeClr val="tx1"/>
                </a:solidFill>
              </a:rPr>
              <a:t> = j - gap; </a:t>
            </a:r>
            <a:r>
              <a:rPr lang="en-US" sz="2800" dirty="0" err="1" smtClean="0">
                <a:solidFill>
                  <a:schemeClr val="tx1"/>
                </a:solidFill>
              </a:rPr>
              <a:t>i</a:t>
            </a:r>
            <a:r>
              <a:rPr lang="en-US" sz="2800" dirty="0" smtClean="0">
                <a:solidFill>
                  <a:schemeClr val="tx1"/>
                </a:solidFill>
              </a:rPr>
              <a:t> &gt;= 0; </a:t>
            </a:r>
            <a:r>
              <a:rPr lang="en-US" sz="2800" dirty="0" err="1" smtClean="0">
                <a:solidFill>
                  <a:schemeClr val="tx1"/>
                </a:solidFill>
              </a:rPr>
              <a:t>i</a:t>
            </a:r>
            <a:r>
              <a:rPr lang="en-US" sz="2800" dirty="0" smtClean="0">
                <a:solidFill>
                  <a:schemeClr val="tx1"/>
                </a:solidFill>
              </a:rPr>
              <a:t> = </a:t>
            </a:r>
            <a:r>
              <a:rPr lang="en-US" sz="2800" dirty="0" err="1" smtClean="0">
                <a:solidFill>
                  <a:schemeClr val="tx1"/>
                </a:solidFill>
              </a:rPr>
              <a:t>i</a:t>
            </a:r>
            <a:r>
              <a:rPr lang="en-US" sz="2800" dirty="0" smtClean="0">
                <a:solidFill>
                  <a:schemeClr val="tx1"/>
                </a:solidFill>
              </a:rPr>
              <a:t> - gap)</a:t>
            </a:r>
          </a:p>
          <a:p>
            <a:pPr algn="just"/>
            <a:r>
              <a:rPr lang="en-US" sz="2800" dirty="0" smtClean="0">
                <a:solidFill>
                  <a:schemeClr val="tx1"/>
                </a:solidFill>
              </a:rPr>
              <a:t>            {</a:t>
            </a:r>
          </a:p>
          <a:p>
            <a:pPr algn="just"/>
            <a:r>
              <a:rPr lang="en-US" sz="2800" dirty="0" smtClean="0">
                <a:solidFill>
                  <a:schemeClr val="tx1"/>
                </a:solidFill>
              </a:rPr>
              <a:t>                if (</a:t>
            </a:r>
            <a:r>
              <a:rPr lang="en-US" sz="2800" dirty="0" err="1" smtClean="0">
                <a:solidFill>
                  <a:schemeClr val="tx1"/>
                </a:solidFill>
              </a:rPr>
              <a:t>arr</a:t>
            </a:r>
            <a:r>
              <a:rPr lang="en-US" sz="2800" dirty="0" smtClean="0">
                <a:solidFill>
                  <a:schemeClr val="tx1"/>
                </a:solidFill>
              </a:rPr>
              <a:t>[</a:t>
            </a:r>
            <a:r>
              <a:rPr lang="en-US" sz="2800" dirty="0" err="1" smtClean="0">
                <a:solidFill>
                  <a:schemeClr val="tx1"/>
                </a:solidFill>
              </a:rPr>
              <a:t>i+gap</a:t>
            </a:r>
            <a:r>
              <a:rPr lang="en-US" sz="2800" dirty="0" smtClean="0">
                <a:solidFill>
                  <a:schemeClr val="tx1"/>
                </a:solidFill>
              </a:rPr>
              <a:t>] &gt;= </a:t>
            </a:r>
            <a:r>
              <a:rPr lang="en-US" sz="2800" dirty="0" err="1" smtClean="0">
                <a:solidFill>
                  <a:schemeClr val="tx1"/>
                </a:solidFill>
              </a:rPr>
              <a:t>arr</a:t>
            </a:r>
            <a:r>
              <a:rPr lang="en-US" sz="2800" dirty="0" smtClean="0">
                <a:solidFill>
                  <a:schemeClr val="tx1"/>
                </a:solidFill>
              </a:rPr>
              <a:t>[</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break;</a:t>
            </a:r>
          </a:p>
          <a:p>
            <a:pPr algn="just"/>
            <a:r>
              <a:rPr lang="en-US" sz="2800" dirty="0" smtClean="0">
                <a:solidFill>
                  <a:schemeClr val="tx1"/>
                </a:solidFill>
              </a:rPr>
              <a:t>                else</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tmp</a:t>
            </a:r>
            <a:r>
              <a:rPr lang="en-US" sz="2800" dirty="0" smtClean="0">
                <a:solidFill>
                  <a:schemeClr val="tx1"/>
                </a:solidFill>
              </a:rPr>
              <a:t> = </a:t>
            </a:r>
            <a:r>
              <a:rPr lang="en-US" sz="2800" dirty="0" err="1" smtClean="0">
                <a:solidFill>
                  <a:schemeClr val="tx1"/>
                </a:solidFill>
              </a:rPr>
              <a:t>arr</a:t>
            </a:r>
            <a:r>
              <a:rPr lang="en-US" sz="2800" dirty="0" smtClean="0">
                <a:solidFill>
                  <a:schemeClr val="tx1"/>
                </a:solidFill>
              </a:rPr>
              <a:t>[</a:t>
            </a:r>
            <a:r>
              <a:rPr lang="en-US" sz="2800" dirty="0" err="1" smtClean="0">
                <a:solidFill>
                  <a:schemeClr val="tx1"/>
                </a:solidFill>
              </a:rPr>
              <a:t>i</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arr</a:t>
            </a:r>
            <a:r>
              <a:rPr lang="en-US" sz="2800" dirty="0" smtClean="0">
                <a:solidFill>
                  <a:schemeClr val="tx1"/>
                </a:solidFill>
              </a:rPr>
              <a:t>[</a:t>
            </a:r>
            <a:r>
              <a:rPr lang="en-US" sz="2800" dirty="0" err="1" smtClean="0">
                <a:solidFill>
                  <a:schemeClr val="tx1"/>
                </a:solidFill>
              </a:rPr>
              <a:t>i</a:t>
            </a:r>
            <a:r>
              <a:rPr lang="en-US" sz="2800" dirty="0" smtClean="0">
                <a:solidFill>
                  <a:schemeClr val="tx1"/>
                </a:solidFill>
              </a:rPr>
              <a:t>] = </a:t>
            </a:r>
            <a:r>
              <a:rPr lang="en-US" sz="2800" dirty="0" err="1" smtClean="0">
                <a:solidFill>
                  <a:schemeClr val="tx1"/>
                </a:solidFill>
              </a:rPr>
              <a:t>arr</a:t>
            </a:r>
            <a:r>
              <a:rPr lang="en-US" sz="2800" dirty="0" smtClean="0">
                <a:solidFill>
                  <a:schemeClr val="tx1"/>
                </a:solidFill>
              </a:rPr>
              <a:t>[</a:t>
            </a:r>
            <a:r>
              <a:rPr lang="en-US" sz="2800" dirty="0" err="1" smtClean="0">
                <a:solidFill>
                  <a:schemeClr val="tx1"/>
                </a:solidFill>
              </a:rPr>
              <a:t>i+gap</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arr</a:t>
            </a:r>
            <a:r>
              <a:rPr lang="en-US" sz="2800" dirty="0" smtClean="0">
                <a:solidFill>
                  <a:schemeClr val="tx1"/>
                </a:solidFill>
              </a:rPr>
              <a:t>[</a:t>
            </a:r>
            <a:r>
              <a:rPr lang="en-US" sz="2800" dirty="0" err="1" smtClean="0">
                <a:solidFill>
                  <a:schemeClr val="tx1"/>
                </a:solidFill>
              </a:rPr>
              <a:t>i+gap</a:t>
            </a:r>
            <a:r>
              <a:rPr lang="en-US" sz="2800" dirty="0" smtClean="0">
                <a:solidFill>
                  <a:schemeClr val="tx1"/>
                </a:solidFill>
              </a:rPr>
              <a:t>] = </a:t>
            </a:r>
            <a:r>
              <a:rPr lang="en-US" sz="2800" dirty="0" err="1" smtClean="0">
                <a:solidFill>
                  <a:schemeClr val="tx1"/>
                </a:solidFill>
              </a:rPr>
              <a:t>tmp</a:t>
            </a:r>
            <a:r>
              <a:rPr lang="en-US" sz="2800" dirty="0" smtClean="0">
                <a:solidFill>
                  <a:schemeClr val="tx1"/>
                </a:solidFill>
              </a:rPr>
              <a:t>;</a:t>
            </a:r>
          </a:p>
          <a:p>
            <a:pPr algn="just"/>
            <a:r>
              <a:rPr lang="en-US" sz="2800" dirty="0" smtClean="0">
                <a:solidFill>
                  <a:schemeClr val="tx1"/>
                </a:solidFill>
              </a:rPr>
              <a:t>                }</a:t>
            </a:r>
          </a:p>
          <a:p>
            <a:pPr algn="just"/>
            <a:r>
              <a:rPr lang="en-US" sz="2800" dirty="0" smtClean="0">
                <a:solidFill>
                  <a:schemeClr val="tx1"/>
                </a:solidFill>
              </a:rPr>
              <a:t>            }</a:t>
            </a:r>
          </a:p>
          <a:p>
            <a:pPr algn="just"/>
            <a:r>
              <a:rPr lang="en-US" sz="2800" dirty="0" smtClean="0">
                <a:solidFill>
                  <a:schemeClr val="tx1"/>
                </a:solidFill>
              </a:rPr>
              <a:t>        }</a:t>
            </a:r>
          </a:p>
          <a:p>
            <a:pPr algn="just"/>
            <a:r>
              <a:rPr lang="en-US" sz="2800" dirty="0" smtClean="0">
                <a:solidFill>
                  <a:schemeClr val="tx1"/>
                </a:solidFill>
              </a:rPr>
              <a:t>    }</a:t>
            </a:r>
          </a:p>
          <a:p>
            <a:pPr algn="just"/>
            <a:r>
              <a:rPr lang="en-US" sz="2800" dirty="0" smtClean="0">
                <a:solidFill>
                  <a:schemeClr val="tx1"/>
                </a:solidFill>
              </a:rPr>
              <a:t>}</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SHELL SORT</a:t>
            </a:r>
            <a:endParaRPr lang="en-US" b="1" dirty="0"/>
          </a:p>
        </p:txBody>
      </p:sp>
      <p:sp>
        <p:nvSpPr>
          <p:cNvPr id="3" name="Subtitle 2"/>
          <p:cNvSpPr>
            <a:spLocks noGrp="1"/>
          </p:cNvSpPr>
          <p:nvPr>
            <p:ph type="subTitle" idx="1"/>
          </p:nvPr>
        </p:nvSpPr>
        <p:spPr>
          <a:xfrm>
            <a:off x="685800" y="857250"/>
            <a:ext cx="7848600" cy="4057650"/>
          </a:xfrm>
        </p:spPr>
        <p:txBody>
          <a:bodyPr>
            <a:normAutofit fontScale="47500" lnSpcReduction="20000"/>
          </a:bodyPr>
          <a:lstStyle/>
          <a:p>
            <a:pPr algn="just"/>
            <a:r>
              <a:rPr lang="en-US" sz="2800" dirty="0" smtClean="0">
                <a:solidFill>
                  <a:schemeClr val="tx1"/>
                </a:solidFill>
              </a:rPr>
              <a:t>void main()</a:t>
            </a:r>
          </a:p>
          <a:p>
            <a:pPr algn="just"/>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a:t>
            </a:r>
            <a:r>
              <a:rPr lang="en-US" sz="2800" dirty="0" err="1" smtClean="0">
                <a:solidFill>
                  <a:schemeClr val="tx1"/>
                </a:solidFill>
              </a:rPr>
              <a:t>arr</a:t>
            </a:r>
            <a:r>
              <a:rPr lang="en-US" sz="2800" dirty="0" smtClean="0">
                <a:solidFill>
                  <a:schemeClr val="tx1"/>
                </a:solidFill>
              </a:rPr>
              <a:t>[30];</a:t>
            </a:r>
          </a:p>
          <a:p>
            <a:pPr algn="just"/>
            <a:r>
              <a:rPr lang="en-US" sz="2800" dirty="0" smtClean="0">
                <a:solidFill>
                  <a:schemeClr val="tx1"/>
                </a:solidFill>
              </a:rPr>
              <a:t>    </a:t>
            </a:r>
            <a:r>
              <a:rPr lang="en-US" sz="2800" dirty="0" err="1" smtClean="0">
                <a:solidFill>
                  <a:schemeClr val="tx1"/>
                </a:solidFill>
              </a:rPr>
              <a:t>int</a:t>
            </a:r>
            <a:r>
              <a:rPr lang="en-US" sz="2800" dirty="0" smtClean="0">
                <a:solidFill>
                  <a:schemeClr val="tx1"/>
                </a:solidFill>
              </a:rPr>
              <a:t> k,  num;</a:t>
            </a:r>
          </a:p>
          <a:p>
            <a:pPr algn="just"/>
            <a:r>
              <a:rPr lang="en-US" sz="2800" dirty="0" smtClean="0">
                <a:solidFill>
                  <a:schemeClr val="tx1"/>
                </a:solidFill>
              </a:rPr>
              <a:t>    </a:t>
            </a:r>
            <a:r>
              <a:rPr lang="en-US" sz="2800" dirty="0" err="1" smtClean="0">
                <a:solidFill>
                  <a:schemeClr val="tx1"/>
                </a:solidFill>
              </a:rPr>
              <a:t>clrscr</a:t>
            </a:r>
            <a:r>
              <a:rPr lang="en-US" sz="2800" dirty="0" smtClean="0">
                <a:solidFill>
                  <a:schemeClr val="tx1"/>
                </a:solidFill>
              </a:rPr>
              <a:t>();</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("Enter total no. of elements : ");</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("%d", &amp;num);</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a:t>
            </a:r>
            <a:r>
              <a:rPr lang="en-US" sz="2800" dirty="0" err="1" smtClean="0">
                <a:solidFill>
                  <a:schemeClr val="tx1"/>
                </a:solidFill>
              </a:rPr>
              <a:t>nEnter</a:t>
            </a:r>
            <a:r>
              <a:rPr lang="en-US" sz="2800" dirty="0" smtClean="0">
                <a:solidFill>
                  <a:schemeClr val="tx1"/>
                </a:solidFill>
              </a:rPr>
              <a:t> %d numbers: ", num);</a:t>
            </a:r>
          </a:p>
          <a:p>
            <a:pPr algn="just"/>
            <a:r>
              <a:rPr lang="en-US" sz="2800" dirty="0" smtClean="0">
                <a:solidFill>
                  <a:schemeClr val="tx1"/>
                </a:solidFill>
              </a:rPr>
              <a:t> </a:t>
            </a:r>
          </a:p>
          <a:p>
            <a:pPr algn="just"/>
            <a:r>
              <a:rPr lang="en-US" sz="2800" dirty="0" smtClean="0">
                <a:solidFill>
                  <a:schemeClr val="tx1"/>
                </a:solidFill>
              </a:rPr>
              <a:t>    for (k =  0 ; k &lt; num; k++)</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scanf</a:t>
            </a:r>
            <a:r>
              <a:rPr lang="en-US" sz="2800" dirty="0" smtClean="0">
                <a:solidFill>
                  <a:schemeClr val="tx1"/>
                </a:solidFill>
              </a:rPr>
              <a:t>("%d", &amp;</a:t>
            </a:r>
            <a:r>
              <a:rPr lang="en-US" sz="2800" dirty="0" err="1" smtClean="0">
                <a:solidFill>
                  <a:schemeClr val="tx1"/>
                </a:solidFill>
              </a:rPr>
              <a:t>arr</a:t>
            </a:r>
            <a:r>
              <a:rPr lang="en-US" sz="2800" dirty="0" smtClean="0">
                <a:solidFill>
                  <a:schemeClr val="tx1"/>
                </a:solidFill>
              </a:rPr>
              <a:t>[k]);</a:t>
            </a:r>
          </a:p>
          <a:p>
            <a:pPr algn="just"/>
            <a:r>
              <a:rPr lang="en-US" sz="2800" dirty="0" smtClean="0">
                <a:solidFill>
                  <a:schemeClr val="tx1"/>
                </a:solidFill>
              </a:rPr>
              <a:t>    }</a:t>
            </a:r>
          </a:p>
          <a:p>
            <a:pPr algn="just"/>
            <a:r>
              <a:rPr lang="en-US" sz="2800" dirty="0" smtClean="0">
                <a:solidFill>
                  <a:schemeClr val="tx1"/>
                </a:solidFill>
              </a:rPr>
              <a:t>    </a:t>
            </a:r>
            <a:r>
              <a:rPr lang="en-US" sz="2800" dirty="0" err="1" smtClean="0">
                <a:solidFill>
                  <a:schemeClr val="tx1"/>
                </a:solidFill>
              </a:rPr>
              <a:t>shellsort</a:t>
            </a:r>
            <a:r>
              <a:rPr lang="en-US" sz="2800" dirty="0" smtClean="0">
                <a:solidFill>
                  <a:schemeClr val="tx1"/>
                </a:solidFill>
              </a:rPr>
              <a:t>(</a:t>
            </a:r>
            <a:r>
              <a:rPr lang="en-US" sz="2800" dirty="0" err="1" smtClean="0">
                <a:solidFill>
                  <a:schemeClr val="tx1"/>
                </a:solidFill>
              </a:rPr>
              <a:t>arr</a:t>
            </a:r>
            <a:r>
              <a:rPr lang="en-US" sz="2800" dirty="0" smtClean="0">
                <a:solidFill>
                  <a:schemeClr val="tx1"/>
                </a:solidFill>
              </a:rPr>
              <a:t>, num);</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("\n Sorted array is: ");</a:t>
            </a:r>
          </a:p>
          <a:p>
            <a:pPr algn="just"/>
            <a:r>
              <a:rPr lang="en-US" sz="2800" dirty="0" smtClean="0">
                <a:solidFill>
                  <a:schemeClr val="tx1"/>
                </a:solidFill>
              </a:rPr>
              <a:t>    for (k = 0; k &lt; num; k++)</a:t>
            </a:r>
          </a:p>
          <a:p>
            <a:pPr algn="just"/>
            <a:r>
              <a:rPr lang="en-US" sz="2800" dirty="0" smtClean="0">
                <a:solidFill>
                  <a:schemeClr val="tx1"/>
                </a:solidFill>
              </a:rPr>
              <a:t>        </a:t>
            </a:r>
            <a:r>
              <a:rPr lang="en-US" sz="2800" dirty="0" err="1" smtClean="0">
                <a:solidFill>
                  <a:schemeClr val="tx1"/>
                </a:solidFill>
              </a:rPr>
              <a:t>printf</a:t>
            </a:r>
            <a:r>
              <a:rPr lang="en-US" sz="2800" dirty="0" smtClean="0">
                <a:solidFill>
                  <a:schemeClr val="tx1"/>
                </a:solidFill>
              </a:rPr>
              <a:t>("%d ", </a:t>
            </a:r>
            <a:r>
              <a:rPr lang="en-US" sz="2800" dirty="0" err="1" smtClean="0">
                <a:solidFill>
                  <a:schemeClr val="tx1"/>
                </a:solidFill>
              </a:rPr>
              <a:t>arr</a:t>
            </a:r>
            <a:r>
              <a:rPr lang="en-US" sz="2800" dirty="0" smtClean="0">
                <a:solidFill>
                  <a:schemeClr val="tx1"/>
                </a:solidFill>
              </a:rPr>
              <a:t>[k]);</a:t>
            </a:r>
          </a:p>
          <a:p>
            <a:pPr algn="just"/>
            <a:r>
              <a:rPr lang="en-US" sz="2800" dirty="0" smtClean="0">
                <a:solidFill>
                  <a:schemeClr val="tx1"/>
                </a:solidFill>
              </a:rPr>
              <a:t>    </a:t>
            </a:r>
            <a:r>
              <a:rPr lang="en-US" sz="2800" dirty="0" err="1" smtClean="0">
                <a:solidFill>
                  <a:schemeClr val="tx1"/>
                </a:solidFill>
              </a:rPr>
              <a:t>getch</a:t>
            </a:r>
            <a:r>
              <a:rPr lang="en-US" sz="2800" dirty="0" smtClean="0">
                <a:solidFill>
                  <a:schemeClr val="tx1"/>
                </a:solidFill>
              </a:rPr>
              <a:t>();</a:t>
            </a:r>
          </a:p>
          <a:p>
            <a:pPr algn="just"/>
            <a:r>
              <a:rPr lang="en-US" sz="2800" dirty="0" smtClean="0">
                <a:solidFill>
                  <a:schemeClr val="tx1"/>
                </a:solidFill>
              </a:rPr>
              <a:t>}</a:t>
            </a:r>
          </a:p>
          <a:p>
            <a:pPr algn="just"/>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RADIX SORT</a:t>
            </a:r>
            <a:endParaRPr lang="en-US" b="1" dirty="0"/>
          </a:p>
        </p:txBody>
      </p:sp>
      <p:sp>
        <p:nvSpPr>
          <p:cNvPr id="3" name="Subtitle 2"/>
          <p:cNvSpPr>
            <a:spLocks noGrp="1"/>
          </p:cNvSpPr>
          <p:nvPr>
            <p:ph type="subTitle" idx="1"/>
          </p:nvPr>
        </p:nvSpPr>
        <p:spPr>
          <a:xfrm>
            <a:off x="685800" y="857250"/>
            <a:ext cx="7848600" cy="4057650"/>
          </a:xfrm>
        </p:spPr>
        <p:txBody>
          <a:bodyPr>
            <a:normAutofit fontScale="77500" lnSpcReduction="20000"/>
          </a:bodyPr>
          <a:lstStyle/>
          <a:p>
            <a:pPr algn="just"/>
            <a:r>
              <a:rPr lang="en-GB" sz="2800" b="1" dirty="0" smtClean="0">
                <a:solidFill>
                  <a:schemeClr val="tx1"/>
                </a:solidFill>
              </a:rPr>
              <a:t>Radix sort is a sorting technique that sorts the elements by first grouping the individual digits of same place value. Then, sort the elements according to their increasing/decreasing order.</a:t>
            </a:r>
          </a:p>
          <a:p>
            <a:pPr algn="just"/>
            <a:endParaRPr lang="en-GB" sz="2800" b="1" dirty="0" smtClean="0">
              <a:solidFill>
                <a:schemeClr val="tx1"/>
              </a:solidFill>
            </a:endParaRPr>
          </a:p>
          <a:p>
            <a:pPr algn="just"/>
            <a:r>
              <a:rPr lang="en-GB" sz="2800" dirty="0" smtClean="0">
                <a:solidFill>
                  <a:schemeClr val="tx1"/>
                </a:solidFill>
              </a:rPr>
              <a:t>A </a:t>
            </a:r>
            <a:r>
              <a:rPr lang="en-GB" sz="2800" b="1" dirty="0" smtClean="0">
                <a:solidFill>
                  <a:schemeClr val="tx1"/>
                </a:solidFill>
              </a:rPr>
              <a:t>sorting algorithm</a:t>
            </a:r>
            <a:r>
              <a:rPr lang="en-GB" sz="2800" dirty="0" smtClean="0">
                <a:solidFill>
                  <a:schemeClr val="tx1"/>
                </a:solidFill>
              </a:rPr>
              <a:t> is an algorithm that puts components of a listing in a certain order. The most-used orders are numerical order and lexicographic order.</a:t>
            </a:r>
          </a:p>
          <a:p>
            <a:pPr algn="just"/>
            <a:endParaRPr lang="en-GB" sz="2800" dirty="0" smtClean="0">
              <a:solidFill>
                <a:schemeClr val="tx1"/>
              </a:solidFill>
            </a:endParaRPr>
          </a:p>
          <a:p>
            <a:pPr algn="just"/>
            <a:r>
              <a:rPr lang="en-GB" sz="2800" dirty="0" smtClean="0">
                <a:solidFill>
                  <a:schemeClr val="tx1"/>
                </a:solidFill>
              </a:rPr>
              <a:t>The </a:t>
            </a:r>
            <a:r>
              <a:rPr lang="en-GB" sz="2800" b="1" dirty="0" smtClean="0">
                <a:solidFill>
                  <a:schemeClr val="tx1"/>
                </a:solidFill>
              </a:rPr>
              <a:t>Radix</a:t>
            </a:r>
            <a:r>
              <a:rPr lang="en-GB" sz="2800" dirty="0" smtClean="0">
                <a:solidFill>
                  <a:schemeClr val="tx1"/>
                </a:solidFill>
              </a:rPr>
              <a:t> sort is a non-comparative sorting algorithm. The Radix sort algorithm is the most preferred algorithm for the unsorted list.</a:t>
            </a:r>
          </a:p>
          <a:p>
            <a:pPr algn="just"/>
            <a:endParaRPr lang="en-GB" sz="2800" dirty="0" smtClean="0">
              <a:solidFill>
                <a:schemeClr val="tx1"/>
              </a:solidFill>
            </a:endParaRPr>
          </a:p>
          <a:p>
            <a:pPr algn="just"/>
            <a:r>
              <a:rPr lang="en-GB" sz="2800" dirty="0" smtClean="0">
                <a:solidFill>
                  <a:schemeClr val="tx1"/>
                </a:solidFill>
              </a:rPr>
              <a:t/>
            </a:r>
            <a:br>
              <a:rPr lang="en-GB" sz="2800" dirty="0" smtClean="0">
                <a:solidFill>
                  <a:schemeClr val="tx1"/>
                </a:solidFill>
              </a:rPr>
            </a:br>
            <a:endParaRPr lang="en-US" sz="2800" dirty="0" smtClean="0">
              <a:solidFill>
                <a:schemeClr val="tx1"/>
              </a:solidFill>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RADIX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1066801" y="1028700"/>
            <a:ext cx="5457825" cy="607219"/>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1143000" y="1543050"/>
            <a:ext cx="5124450" cy="33432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RADIX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2050" name="Picture 2"/>
          <p:cNvPicPr>
            <a:picLocks noChangeAspect="1" noChangeArrowheads="1"/>
          </p:cNvPicPr>
          <p:nvPr/>
        </p:nvPicPr>
        <p:blipFill>
          <a:blip r:embed="rId2"/>
          <a:srcRect/>
          <a:stretch>
            <a:fillRect/>
          </a:stretch>
        </p:blipFill>
        <p:spPr bwMode="auto">
          <a:xfrm>
            <a:off x="990600" y="971550"/>
            <a:ext cx="5524500" cy="900113"/>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984504" y="1771650"/>
            <a:ext cx="6254496" cy="3257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RADIX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3074" name="Picture 2"/>
          <p:cNvPicPr>
            <a:picLocks noChangeAspect="1" noChangeArrowheads="1"/>
          </p:cNvPicPr>
          <p:nvPr/>
        </p:nvPicPr>
        <p:blipFill>
          <a:blip r:embed="rId2"/>
          <a:srcRect/>
          <a:stretch>
            <a:fillRect/>
          </a:stretch>
        </p:blipFill>
        <p:spPr bwMode="auto">
          <a:xfrm>
            <a:off x="1143001" y="1028700"/>
            <a:ext cx="5553075" cy="900113"/>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1219200" y="1657350"/>
            <a:ext cx="6338888" cy="314421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RADIX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just"/>
            <a:endParaRPr lang="en-US" sz="2800" dirty="0" smtClean="0">
              <a:solidFill>
                <a:schemeClr val="tx1"/>
              </a:solidFill>
            </a:endParaRPr>
          </a:p>
        </p:txBody>
      </p:sp>
      <p:pic>
        <p:nvPicPr>
          <p:cNvPr id="4098" name="Picture 2"/>
          <p:cNvPicPr>
            <a:picLocks noChangeAspect="1" noChangeArrowheads="1"/>
          </p:cNvPicPr>
          <p:nvPr/>
        </p:nvPicPr>
        <p:blipFill>
          <a:blip r:embed="rId2"/>
          <a:srcRect/>
          <a:stretch>
            <a:fillRect/>
          </a:stretch>
        </p:blipFill>
        <p:spPr bwMode="auto">
          <a:xfrm>
            <a:off x="914400" y="1428750"/>
            <a:ext cx="6301255" cy="1314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rmAutofit fontScale="70000" lnSpcReduction="20000"/>
          </a:bodyPr>
          <a:lstStyle/>
          <a:p>
            <a:pPr algn="just"/>
            <a:r>
              <a:rPr lang="en-GB" sz="2800" b="1" dirty="0" smtClean="0">
                <a:solidFill>
                  <a:schemeClr val="tx1"/>
                </a:solidFill>
              </a:rPr>
              <a:t>Merge Sort is a Divide and Conquer algorithm. It divides input array in two halves, calls itself for the two halves and then merges the two sorted halves.</a:t>
            </a:r>
          </a:p>
          <a:p>
            <a:pPr algn="just"/>
            <a:endParaRPr lang="en-GB" sz="2800" b="1" dirty="0" smtClean="0">
              <a:solidFill>
                <a:schemeClr val="tx1"/>
              </a:solidFill>
            </a:endParaRPr>
          </a:p>
          <a:p>
            <a:pPr algn="just"/>
            <a:r>
              <a:rPr lang="en-GB" sz="2800" dirty="0" smtClean="0">
                <a:solidFill>
                  <a:schemeClr val="tx1"/>
                </a:solidFill>
              </a:rPr>
              <a:t>It is very efficient sorting algorithm with near optimal number of comparison. Recursive Algorithm used for merge sort comes under the category of divide and conquer technique. It is stable sorting algorithm.</a:t>
            </a:r>
          </a:p>
          <a:p>
            <a:pPr algn="just"/>
            <a:endParaRPr lang="en-GB" sz="2800" dirty="0" smtClean="0">
              <a:solidFill>
                <a:schemeClr val="tx1"/>
              </a:solidFill>
            </a:endParaRPr>
          </a:p>
          <a:p>
            <a:pPr algn="just"/>
            <a:r>
              <a:rPr lang="en-GB" sz="2800" dirty="0" smtClean="0">
                <a:solidFill>
                  <a:schemeClr val="tx1"/>
                </a:solidFill>
              </a:rPr>
              <a:t>You can sort lots of amount of data using small available main memory using merge sort.</a:t>
            </a:r>
          </a:p>
          <a:p>
            <a:pPr algn="just"/>
            <a:endParaRPr lang="en-GB" sz="2800" b="1" dirty="0" smtClean="0">
              <a:solidFill>
                <a:schemeClr val="tx1"/>
              </a:solidFill>
            </a:endParaRPr>
          </a:p>
          <a:p>
            <a:pPr algn="just"/>
            <a:r>
              <a:rPr lang="en-GB" sz="2800" dirty="0" smtClean="0">
                <a:solidFill>
                  <a:schemeClr val="tx1"/>
                </a:solidFill>
              </a:rPr>
              <a:t>An array of n elements is split around its center producing two smaller arrays. After these two arrays are sorted independently, they can be merged to produce the final sorted array. </a:t>
            </a:r>
            <a:endParaRPr lang="en-US" sz="2800" b="1" dirty="0" smtClean="0">
              <a:solidFill>
                <a:schemeClr val="tx1"/>
              </a:solidFill>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rmAutofit fontScale="62500" lnSpcReduction="20000"/>
          </a:bodyPr>
          <a:lstStyle/>
          <a:p>
            <a:pPr algn="l"/>
            <a:r>
              <a:rPr lang="en-US" sz="2800" dirty="0" smtClean="0">
                <a:solidFill>
                  <a:schemeClr val="tx1"/>
                </a:solidFill>
              </a:rPr>
              <a:t>Working of Merge sort Algorithm</a:t>
            </a:r>
          </a:p>
          <a:p>
            <a:pPr algn="l"/>
            <a:r>
              <a:rPr lang="en-US" sz="2800" dirty="0" smtClean="0">
                <a:solidFill>
                  <a:schemeClr val="tx1"/>
                </a:solidFill>
              </a:rPr>
              <a:t/>
            </a:r>
            <a:br>
              <a:rPr lang="en-US" sz="2800" dirty="0" smtClean="0">
                <a:solidFill>
                  <a:schemeClr val="tx1"/>
                </a:solidFill>
              </a:rPr>
            </a:br>
            <a:r>
              <a:rPr lang="en-US" sz="2800" dirty="0" smtClean="0">
                <a:solidFill>
                  <a:schemeClr val="tx1"/>
                </a:solidFill>
              </a:rPr>
              <a:t> Now, let's see the working of merge sort Algorithm.</a:t>
            </a:r>
          </a:p>
          <a:p>
            <a:pPr algn="l"/>
            <a:r>
              <a:rPr lang="en-US" sz="2800" dirty="0" smtClean="0">
                <a:solidFill>
                  <a:schemeClr val="tx1"/>
                </a:solidFill>
              </a:rPr>
              <a:t>To understand the working of the merge sort algorithm, let's take an unsorted array. It will be easier to understand the merge sort via an example.</a:t>
            </a:r>
          </a:p>
          <a:p>
            <a:pPr algn="l"/>
            <a:r>
              <a:rPr lang="en-US" sz="2800" dirty="0" smtClean="0">
                <a:solidFill>
                  <a:schemeClr val="tx1"/>
                </a:solidFill>
              </a:rPr>
              <a:t>Let the elements of array are –</a:t>
            </a:r>
          </a:p>
          <a:p>
            <a:pPr algn="l"/>
            <a:endParaRPr lang="en-US" sz="2800" dirty="0" smtClean="0">
              <a:solidFill>
                <a:schemeClr val="tx1"/>
              </a:solidFill>
            </a:endParaRPr>
          </a:p>
          <a:p>
            <a:pPr algn="l"/>
            <a:endParaRPr lang="en-US" sz="2800" dirty="0" smtClean="0">
              <a:solidFill>
                <a:schemeClr val="tx1"/>
              </a:solidFill>
            </a:endParaRPr>
          </a:p>
          <a:p>
            <a:pPr algn="l"/>
            <a:endParaRPr lang="en-US" sz="2800" b="1" dirty="0" smtClean="0">
              <a:solidFill>
                <a:schemeClr val="tx1"/>
              </a:solidFill>
            </a:endParaRPr>
          </a:p>
          <a:p>
            <a:pPr algn="l"/>
            <a:r>
              <a:rPr lang="en-US" sz="2800" dirty="0" smtClean="0">
                <a:solidFill>
                  <a:schemeClr val="tx1"/>
                </a:solidFill>
              </a:rPr>
              <a:t>According to the merge sort, first divide the given array into two equal halves. Merge sort keeps dividing the list into equal parts until it cannot be further divided.</a:t>
            </a:r>
          </a:p>
          <a:p>
            <a:pPr algn="l"/>
            <a:r>
              <a:rPr lang="en-US" sz="2800" dirty="0" smtClean="0">
                <a:solidFill>
                  <a:schemeClr val="tx1"/>
                </a:solidFill>
              </a:rPr>
              <a:t>As there are eight elements in the given array, so it is divided into two arrays of size 4.</a:t>
            </a:r>
          </a:p>
          <a:p>
            <a:pPr algn="l"/>
            <a:endParaRPr lang="en-US" sz="2800" b="1" dirty="0" smtClean="0">
              <a:solidFill>
                <a:schemeClr val="tx1"/>
              </a:solidFill>
            </a:endParaRPr>
          </a:p>
        </p:txBody>
      </p:sp>
      <p:pic>
        <p:nvPicPr>
          <p:cNvPr id="11266" name="Picture 2"/>
          <p:cNvPicPr>
            <a:picLocks noChangeAspect="1" noChangeArrowheads="1"/>
          </p:cNvPicPr>
          <p:nvPr/>
        </p:nvPicPr>
        <p:blipFill>
          <a:blip r:embed="rId2"/>
          <a:srcRect/>
          <a:stretch>
            <a:fillRect/>
          </a:stretch>
        </p:blipFill>
        <p:spPr bwMode="auto">
          <a:xfrm>
            <a:off x="2057401" y="2686050"/>
            <a:ext cx="4562475" cy="64293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b="1" dirty="0" smtClean="0">
              <a:solidFill>
                <a:schemeClr val="tx1"/>
              </a:solidFill>
            </a:endParaRPr>
          </a:p>
        </p:txBody>
      </p:sp>
      <p:pic>
        <p:nvPicPr>
          <p:cNvPr id="12290" name="Picture 2"/>
          <p:cNvPicPr>
            <a:picLocks noChangeAspect="1" noChangeArrowheads="1"/>
          </p:cNvPicPr>
          <p:nvPr/>
        </p:nvPicPr>
        <p:blipFill>
          <a:blip r:embed="rId2"/>
          <a:srcRect/>
          <a:stretch>
            <a:fillRect/>
          </a:stretch>
        </p:blipFill>
        <p:spPr bwMode="auto">
          <a:xfrm>
            <a:off x="838200" y="1143000"/>
            <a:ext cx="7445368" cy="3086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b="1" dirty="0" smtClean="0">
              <a:solidFill>
                <a:schemeClr val="tx1"/>
              </a:solidFill>
            </a:endParaRPr>
          </a:p>
        </p:txBody>
      </p:sp>
      <p:pic>
        <p:nvPicPr>
          <p:cNvPr id="13314" name="Picture 2"/>
          <p:cNvPicPr>
            <a:picLocks noChangeAspect="1" noChangeArrowheads="1"/>
          </p:cNvPicPr>
          <p:nvPr/>
        </p:nvPicPr>
        <p:blipFill>
          <a:blip r:embed="rId2"/>
          <a:srcRect/>
          <a:stretch>
            <a:fillRect/>
          </a:stretch>
        </p:blipFill>
        <p:spPr bwMode="auto">
          <a:xfrm>
            <a:off x="685800" y="895350"/>
            <a:ext cx="7848600" cy="3962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rmAutofit/>
          </a:bodyPr>
          <a:lstStyle/>
          <a:p>
            <a:pPr algn="l"/>
            <a:endParaRPr lang="en-US" sz="2800" b="1" dirty="0" smtClean="0">
              <a:solidFill>
                <a:schemeClr val="tx1"/>
              </a:solidFill>
            </a:endParaRPr>
          </a:p>
        </p:txBody>
      </p:sp>
      <p:pic>
        <p:nvPicPr>
          <p:cNvPr id="14338" name="Picture 2"/>
          <p:cNvPicPr>
            <a:picLocks noChangeAspect="1" noChangeArrowheads="1"/>
          </p:cNvPicPr>
          <p:nvPr/>
        </p:nvPicPr>
        <p:blipFill>
          <a:blip r:embed="rId2"/>
          <a:srcRect/>
          <a:stretch>
            <a:fillRect/>
          </a:stretch>
        </p:blipFill>
        <p:spPr bwMode="auto">
          <a:xfrm>
            <a:off x="685801" y="819150"/>
            <a:ext cx="7848600" cy="4114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Autofit/>
          </a:bodyPr>
          <a:lstStyle/>
          <a:p>
            <a:pPr algn="l"/>
            <a:r>
              <a:rPr lang="en-US" sz="900" dirty="0" smtClean="0">
                <a:solidFill>
                  <a:schemeClr val="tx1"/>
                </a:solidFill>
              </a:rPr>
              <a:t>#include &lt;</a:t>
            </a:r>
            <a:r>
              <a:rPr lang="en-US" sz="900" dirty="0" err="1" smtClean="0">
                <a:solidFill>
                  <a:schemeClr val="tx1"/>
                </a:solidFill>
              </a:rPr>
              <a:t>stdio.h</a:t>
            </a:r>
            <a:r>
              <a:rPr lang="en-US" sz="900" dirty="0" smtClean="0">
                <a:solidFill>
                  <a:schemeClr val="tx1"/>
                </a:solidFill>
              </a:rPr>
              <a:t>&gt;</a:t>
            </a:r>
          </a:p>
          <a:p>
            <a:pPr algn="l"/>
            <a:endParaRPr lang="en-US" sz="900" dirty="0" smtClean="0">
              <a:solidFill>
                <a:schemeClr val="tx1"/>
              </a:solidFill>
            </a:endParaRPr>
          </a:p>
          <a:p>
            <a:pPr algn="l"/>
            <a:r>
              <a:rPr lang="en-US" sz="900" dirty="0" smtClean="0">
                <a:solidFill>
                  <a:schemeClr val="tx1"/>
                </a:solidFill>
              </a:rPr>
              <a:t>void merge(</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left, </a:t>
            </a:r>
            <a:r>
              <a:rPr lang="en-US" sz="900" dirty="0" err="1" smtClean="0">
                <a:solidFill>
                  <a:schemeClr val="tx1"/>
                </a:solidFill>
              </a:rPr>
              <a:t>int</a:t>
            </a:r>
            <a:r>
              <a:rPr lang="en-US" sz="900" dirty="0" smtClean="0">
                <a:solidFill>
                  <a:schemeClr val="tx1"/>
                </a:solidFill>
              </a:rPr>
              <a:t> mid, </a:t>
            </a:r>
            <a:r>
              <a:rPr lang="en-US" sz="900" dirty="0" err="1" smtClean="0">
                <a:solidFill>
                  <a:schemeClr val="tx1"/>
                </a:solidFill>
              </a:rPr>
              <a:t>int</a:t>
            </a:r>
            <a:r>
              <a:rPr lang="en-US" sz="900" dirty="0" smtClean="0">
                <a:solidFill>
                  <a:schemeClr val="tx1"/>
                </a:solidFill>
              </a:rPr>
              <a:t> right) {</a:t>
            </a: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n1 = mid - left + 1;</a:t>
            </a: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n2 = right - mid;</a:t>
            </a: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L[n1], R[n2];</a:t>
            </a:r>
          </a:p>
          <a:p>
            <a:pPr algn="l"/>
            <a:endParaRPr lang="en-US" sz="900" dirty="0" smtClean="0">
              <a:solidFill>
                <a:schemeClr val="tx1"/>
              </a:solidFill>
            </a:endParaRPr>
          </a:p>
          <a:p>
            <a:pPr algn="l"/>
            <a:r>
              <a:rPr lang="en-US" sz="900" dirty="0" smtClean="0">
                <a:solidFill>
                  <a:schemeClr val="tx1"/>
                </a:solidFill>
              </a:rPr>
              <a:t>    for (</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i</a:t>
            </a:r>
            <a:r>
              <a:rPr lang="en-US" sz="900" dirty="0" smtClean="0">
                <a:solidFill>
                  <a:schemeClr val="tx1"/>
                </a:solidFill>
              </a:rPr>
              <a:t> = 0; </a:t>
            </a:r>
            <a:r>
              <a:rPr lang="en-US" sz="900" dirty="0" err="1" smtClean="0">
                <a:solidFill>
                  <a:schemeClr val="tx1"/>
                </a:solidFill>
              </a:rPr>
              <a:t>i</a:t>
            </a:r>
            <a:r>
              <a:rPr lang="en-US" sz="900" dirty="0" smtClean="0">
                <a:solidFill>
                  <a:schemeClr val="tx1"/>
                </a:solidFill>
              </a:rPr>
              <a:t> &lt; n1; </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L[</a:t>
            </a:r>
            <a:r>
              <a:rPr lang="en-US" sz="900" dirty="0" err="1" smtClean="0">
                <a:solidFill>
                  <a:schemeClr val="tx1"/>
                </a:solidFill>
              </a:rPr>
              <a:t>i</a:t>
            </a:r>
            <a:r>
              <a:rPr lang="en-US" sz="900" dirty="0" smtClean="0">
                <a:solidFill>
                  <a:schemeClr val="tx1"/>
                </a:solidFill>
              </a:rPr>
              <a:t>] = </a:t>
            </a:r>
            <a:r>
              <a:rPr lang="en-US" sz="900" dirty="0" err="1" smtClean="0">
                <a:solidFill>
                  <a:schemeClr val="tx1"/>
                </a:solidFill>
              </a:rPr>
              <a:t>arr</a:t>
            </a:r>
            <a:r>
              <a:rPr lang="en-US" sz="900" dirty="0" smtClean="0">
                <a:solidFill>
                  <a:schemeClr val="tx1"/>
                </a:solidFill>
              </a:rPr>
              <a:t>[left + </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for (</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i</a:t>
            </a:r>
            <a:r>
              <a:rPr lang="en-US" sz="900" dirty="0" smtClean="0">
                <a:solidFill>
                  <a:schemeClr val="tx1"/>
                </a:solidFill>
              </a:rPr>
              <a:t> = 0; </a:t>
            </a:r>
            <a:r>
              <a:rPr lang="en-US" sz="900" dirty="0" err="1" smtClean="0">
                <a:solidFill>
                  <a:schemeClr val="tx1"/>
                </a:solidFill>
              </a:rPr>
              <a:t>i</a:t>
            </a:r>
            <a:r>
              <a:rPr lang="en-US" sz="900" dirty="0" smtClean="0">
                <a:solidFill>
                  <a:schemeClr val="tx1"/>
                </a:solidFill>
              </a:rPr>
              <a:t> &lt; n2; </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R[</a:t>
            </a:r>
            <a:r>
              <a:rPr lang="en-US" sz="900" dirty="0" err="1" smtClean="0">
                <a:solidFill>
                  <a:schemeClr val="tx1"/>
                </a:solidFill>
              </a:rPr>
              <a:t>i</a:t>
            </a:r>
            <a:r>
              <a:rPr lang="en-US" sz="900" dirty="0" smtClean="0">
                <a:solidFill>
                  <a:schemeClr val="tx1"/>
                </a:solidFill>
              </a:rPr>
              <a:t>] = </a:t>
            </a:r>
            <a:r>
              <a:rPr lang="en-US" sz="900" dirty="0" err="1" smtClean="0">
                <a:solidFill>
                  <a:schemeClr val="tx1"/>
                </a:solidFill>
              </a:rPr>
              <a:t>arr</a:t>
            </a:r>
            <a:r>
              <a:rPr lang="en-US" sz="900" dirty="0" smtClean="0">
                <a:solidFill>
                  <a:schemeClr val="tx1"/>
                </a:solidFill>
              </a:rPr>
              <a:t>[mid + 1 + </a:t>
            </a:r>
            <a:r>
              <a:rPr lang="en-US" sz="900" dirty="0" err="1" smtClean="0">
                <a:solidFill>
                  <a:schemeClr val="tx1"/>
                </a:solidFill>
              </a:rPr>
              <a:t>i</a:t>
            </a:r>
            <a:r>
              <a:rPr lang="en-US" sz="900" dirty="0" smtClean="0">
                <a:solidFill>
                  <a:schemeClr val="tx1"/>
                </a:solidFill>
              </a:rPr>
              <a:t>];</a:t>
            </a:r>
          </a:p>
          <a:p>
            <a:pPr algn="l"/>
            <a:endParaRPr lang="en-US" sz="900" dirty="0" smtClean="0">
              <a:solidFill>
                <a:schemeClr val="tx1"/>
              </a:solidFill>
            </a:endParaRP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i</a:t>
            </a:r>
            <a:r>
              <a:rPr lang="en-US" sz="900" dirty="0" smtClean="0">
                <a:solidFill>
                  <a:schemeClr val="tx1"/>
                </a:solidFill>
              </a:rPr>
              <a:t> = 0, j = 0, k = left;</a:t>
            </a:r>
          </a:p>
          <a:p>
            <a:pPr algn="l"/>
            <a:r>
              <a:rPr lang="en-US" sz="900" dirty="0" smtClean="0">
                <a:solidFill>
                  <a:schemeClr val="tx1"/>
                </a:solidFill>
              </a:rPr>
              <a:t>    while (</a:t>
            </a:r>
            <a:r>
              <a:rPr lang="en-US" sz="900" dirty="0" err="1" smtClean="0">
                <a:solidFill>
                  <a:schemeClr val="tx1"/>
                </a:solidFill>
              </a:rPr>
              <a:t>i</a:t>
            </a:r>
            <a:r>
              <a:rPr lang="en-US" sz="900" dirty="0" smtClean="0">
                <a:solidFill>
                  <a:schemeClr val="tx1"/>
                </a:solidFill>
              </a:rPr>
              <a:t> &lt; n1 &amp;&amp; j &lt; n2) {</a:t>
            </a:r>
          </a:p>
          <a:p>
            <a:pPr algn="l"/>
            <a:r>
              <a:rPr lang="en-US" sz="900" dirty="0" smtClean="0">
                <a:solidFill>
                  <a:schemeClr val="tx1"/>
                </a:solidFill>
              </a:rPr>
              <a:t>        if (L[</a:t>
            </a:r>
            <a:r>
              <a:rPr lang="en-US" sz="900" dirty="0" err="1" smtClean="0">
                <a:solidFill>
                  <a:schemeClr val="tx1"/>
                </a:solidFill>
              </a:rPr>
              <a:t>i</a:t>
            </a:r>
            <a:r>
              <a:rPr lang="en-US" sz="900" dirty="0" smtClean="0">
                <a:solidFill>
                  <a:schemeClr val="tx1"/>
                </a:solidFill>
              </a:rPr>
              <a:t>] &lt;= R[j]) {</a:t>
            </a:r>
          </a:p>
          <a:p>
            <a:pPr algn="l"/>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[k] = L[</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 else {</a:t>
            </a:r>
          </a:p>
          <a:p>
            <a:pPr algn="l"/>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[k] = R[j];</a:t>
            </a:r>
          </a:p>
          <a:p>
            <a:pPr algn="l"/>
            <a:r>
              <a:rPr lang="en-US" sz="900" dirty="0" smtClean="0">
                <a:solidFill>
                  <a:schemeClr val="tx1"/>
                </a:solidFill>
              </a:rPr>
              <a:t>            j++;</a:t>
            </a:r>
          </a:p>
          <a:p>
            <a:pPr algn="l"/>
            <a:r>
              <a:rPr lang="en-US" sz="900" dirty="0" smtClean="0">
                <a:solidFill>
                  <a:schemeClr val="tx1"/>
                </a:solidFill>
              </a:rPr>
              <a:t>        }</a:t>
            </a:r>
          </a:p>
          <a:p>
            <a:pPr algn="l"/>
            <a:r>
              <a:rPr lang="en-US" sz="900" dirty="0" smtClean="0">
                <a:solidFill>
                  <a:schemeClr val="tx1"/>
                </a:solidFill>
              </a:rPr>
              <a:t>        k++;</a:t>
            </a:r>
          </a:p>
          <a:p>
            <a:pPr algn="l"/>
            <a:r>
              <a:rPr lang="en-US" sz="900" dirty="0" smtClean="0">
                <a:solidFill>
                  <a:schemeClr val="tx1"/>
                </a:solidFill>
              </a:rPr>
              <a:t>    }</a:t>
            </a:r>
          </a:p>
          <a:p>
            <a:pPr algn="l"/>
            <a:endParaRPr lang="en-US" sz="900" dirty="0" smtClean="0">
              <a:solidFill>
                <a:schemeClr val="tx1"/>
              </a:solidFill>
            </a:endParaRPr>
          </a:p>
          <a:p>
            <a:pPr algn="l"/>
            <a:r>
              <a:rPr lang="en-US" sz="900" dirty="0" smtClean="0">
                <a:solidFill>
                  <a:schemeClr val="tx1"/>
                </a:solidFill>
              </a:rPr>
              <a:t>    </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Autofit/>
          </a:bodyPr>
          <a:lstStyle/>
          <a:p>
            <a:pPr algn="l"/>
            <a:r>
              <a:rPr lang="en-US" sz="900" dirty="0" smtClean="0">
                <a:solidFill>
                  <a:schemeClr val="tx1"/>
                </a:solidFill>
              </a:rPr>
              <a:t>while (</a:t>
            </a:r>
            <a:r>
              <a:rPr lang="en-US" sz="900" dirty="0" err="1" smtClean="0">
                <a:solidFill>
                  <a:schemeClr val="tx1"/>
                </a:solidFill>
              </a:rPr>
              <a:t>i</a:t>
            </a:r>
            <a:r>
              <a:rPr lang="en-US" sz="900" dirty="0" smtClean="0">
                <a:solidFill>
                  <a:schemeClr val="tx1"/>
                </a:solidFill>
              </a:rPr>
              <a:t> &lt; n1) {</a:t>
            </a:r>
          </a:p>
          <a:p>
            <a:pPr algn="l"/>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[k] = L[</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k++;</a:t>
            </a:r>
          </a:p>
          <a:p>
            <a:pPr algn="l"/>
            <a:r>
              <a:rPr lang="en-US" sz="900" dirty="0" smtClean="0">
                <a:solidFill>
                  <a:schemeClr val="tx1"/>
                </a:solidFill>
              </a:rPr>
              <a:t>    }</a:t>
            </a:r>
          </a:p>
          <a:p>
            <a:pPr algn="l"/>
            <a:endParaRPr lang="en-US" sz="900" dirty="0" smtClean="0">
              <a:solidFill>
                <a:schemeClr val="tx1"/>
              </a:solidFill>
            </a:endParaRPr>
          </a:p>
          <a:p>
            <a:pPr algn="l"/>
            <a:r>
              <a:rPr lang="en-US" sz="900" dirty="0" smtClean="0">
                <a:solidFill>
                  <a:schemeClr val="tx1"/>
                </a:solidFill>
              </a:rPr>
              <a:t>    while (j &lt; n2) {</a:t>
            </a:r>
          </a:p>
          <a:p>
            <a:pPr algn="l"/>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[k] = R[j];</a:t>
            </a:r>
          </a:p>
          <a:p>
            <a:pPr algn="l"/>
            <a:r>
              <a:rPr lang="en-US" sz="900" dirty="0" smtClean="0">
                <a:solidFill>
                  <a:schemeClr val="tx1"/>
                </a:solidFill>
              </a:rPr>
              <a:t>        j++;</a:t>
            </a:r>
          </a:p>
          <a:p>
            <a:pPr algn="l"/>
            <a:r>
              <a:rPr lang="en-US" sz="900" dirty="0" smtClean="0">
                <a:solidFill>
                  <a:schemeClr val="tx1"/>
                </a:solidFill>
              </a:rPr>
              <a:t>        k++;</a:t>
            </a:r>
          </a:p>
          <a:p>
            <a:pPr algn="l"/>
            <a:r>
              <a:rPr lang="en-US" sz="900" dirty="0" smtClean="0">
                <a:solidFill>
                  <a:schemeClr val="tx1"/>
                </a:solidFill>
              </a:rPr>
              <a:t>    }</a:t>
            </a:r>
          </a:p>
          <a:p>
            <a:pPr algn="l"/>
            <a:r>
              <a:rPr lang="en-US" sz="900" dirty="0" smtClean="0">
                <a:solidFill>
                  <a:schemeClr val="tx1"/>
                </a:solidFill>
              </a:rPr>
              <a:t>}</a:t>
            </a:r>
          </a:p>
          <a:p>
            <a:pPr algn="l"/>
            <a:r>
              <a:rPr lang="en-US" sz="900" dirty="0" smtClean="0">
                <a:solidFill>
                  <a:schemeClr val="tx1"/>
                </a:solidFill>
              </a:rPr>
              <a:t>void </a:t>
            </a:r>
            <a:r>
              <a:rPr lang="en-US" sz="900" dirty="0" err="1" smtClean="0">
                <a:solidFill>
                  <a:schemeClr val="tx1"/>
                </a:solidFill>
              </a:rPr>
              <a:t>mergeSort</a:t>
            </a:r>
            <a:r>
              <a:rPr lang="en-US" sz="900" dirty="0" smtClean="0">
                <a:solidFill>
                  <a:schemeClr val="tx1"/>
                </a:solidFill>
              </a:rPr>
              <a:t>(</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left, </a:t>
            </a:r>
            <a:r>
              <a:rPr lang="en-US" sz="900" dirty="0" err="1" smtClean="0">
                <a:solidFill>
                  <a:schemeClr val="tx1"/>
                </a:solidFill>
              </a:rPr>
              <a:t>int</a:t>
            </a:r>
            <a:r>
              <a:rPr lang="en-US" sz="900" dirty="0" smtClean="0">
                <a:solidFill>
                  <a:schemeClr val="tx1"/>
                </a:solidFill>
              </a:rPr>
              <a:t> right) {</a:t>
            </a:r>
          </a:p>
          <a:p>
            <a:pPr algn="l"/>
            <a:r>
              <a:rPr lang="en-US" sz="900" dirty="0" smtClean="0">
                <a:solidFill>
                  <a:schemeClr val="tx1"/>
                </a:solidFill>
              </a:rPr>
              <a:t>    if (left &lt; right) {</a:t>
            </a: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mid = left + (right - left) / 2;</a:t>
            </a:r>
          </a:p>
          <a:p>
            <a:pPr algn="l"/>
            <a:r>
              <a:rPr lang="en-US" sz="900" dirty="0" smtClean="0">
                <a:solidFill>
                  <a:schemeClr val="tx1"/>
                </a:solidFill>
              </a:rPr>
              <a:t>        </a:t>
            </a:r>
            <a:r>
              <a:rPr lang="en-US" sz="900" dirty="0" err="1" smtClean="0">
                <a:solidFill>
                  <a:schemeClr val="tx1"/>
                </a:solidFill>
              </a:rPr>
              <a:t>mergeSort</a:t>
            </a:r>
            <a:r>
              <a:rPr lang="en-US" sz="900" dirty="0" smtClean="0">
                <a:solidFill>
                  <a:schemeClr val="tx1"/>
                </a:solidFill>
              </a:rPr>
              <a:t>(</a:t>
            </a:r>
            <a:r>
              <a:rPr lang="en-US" sz="900" dirty="0" err="1" smtClean="0">
                <a:solidFill>
                  <a:schemeClr val="tx1"/>
                </a:solidFill>
              </a:rPr>
              <a:t>arr</a:t>
            </a:r>
            <a:r>
              <a:rPr lang="en-US" sz="900" dirty="0" smtClean="0">
                <a:solidFill>
                  <a:schemeClr val="tx1"/>
                </a:solidFill>
              </a:rPr>
              <a:t>, left, mid);</a:t>
            </a:r>
          </a:p>
          <a:p>
            <a:pPr algn="l"/>
            <a:r>
              <a:rPr lang="en-US" sz="900" dirty="0" smtClean="0">
                <a:solidFill>
                  <a:schemeClr val="tx1"/>
                </a:solidFill>
              </a:rPr>
              <a:t>        </a:t>
            </a:r>
            <a:r>
              <a:rPr lang="en-US" sz="900" dirty="0" err="1" smtClean="0">
                <a:solidFill>
                  <a:schemeClr val="tx1"/>
                </a:solidFill>
              </a:rPr>
              <a:t>mergeSort</a:t>
            </a:r>
            <a:r>
              <a:rPr lang="en-US" sz="900" dirty="0" smtClean="0">
                <a:solidFill>
                  <a:schemeClr val="tx1"/>
                </a:solidFill>
              </a:rPr>
              <a:t>(</a:t>
            </a:r>
            <a:r>
              <a:rPr lang="en-US" sz="900" dirty="0" err="1" smtClean="0">
                <a:solidFill>
                  <a:schemeClr val="tx1"/>
                </a:solidFill>
              </a:rPr>
              <a:t>arr</a:t>
            </a:r>
            <a:r>
              <a:rPr lang="en-US" sz="900" dirty="0" smtClean="0">
                <a:solidFill>
                  <a:schemeClr val="tx1"/>
                </a:solidFill>
              </a:rPr>
              <a:t>, mid + 1, right);</a:t>
            </a:r>
          </a:p>
          <a:p>
            <a:pPr algn="l"/>
            <a:r>
              <a:rPr lang="en-US" sz="900" dirty="0" smtClean="0">
                <a:solidFill>
                  <a:schemeClr val="tx1"/>
                </a:solidFill>
              </a:rPr>
              <a:t>        merge(</a:t>
            </a:r>
            <a:r>
              <a:rPr lang="en-US" sz="900" dirty="0" err="1" smtClean="0">
                <a:solidFill>
                  <a:schemeClr val="tx1"/>
                </a:solidFill>
              </a:rPr>
              <a:t>arr</a:t>
            </a:r>
            <a:r>
              <a:rPr lang="en-US" sz="900" dirty="0" smtClean="0">
                <a:solidFill>
                  <a:schemeClr val="tx1"/>
                </a:solidFill>
              </a:rPr>
              <a:t>, left, mid, right);</a:t>
            </a:r>
          </a:p>
          <a:p>
            <a:pPr algn="l"/>
            <a:r>
              <a:rPr lang="en-US" sz="900" dirty="0" smtClean="0">
                <a:solidFill>
                  <a:schemeClr val="tx1"/>
                </a:solidFill>
              </a:rPr>
              <a:t>    }</a:t>
            </a:r>
          </a:p>
          <a:p>
            <a:pPr algn="l"/>
            <a:r>
              <a:rPr lang="en-US" sz="900" dirty="0" smtClean="0">
                <a:solidFill>
                  <a:schemeClr val="tx1"/>
                </a:solidFill>
              </a:rPr>
              <a:t>}</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628650"/>
          </a:xfrm>
        </p:spPr>
        <p:txBody>
          <a:bodyPr>
            <a:normAutofit fontScale="90000"/>
          </a:bodyPr>
          <a:lstStyle/>
          <a:p>
            <a:r>
              <a:rPr lang="en-US" b="1" dirty="0" smtClean="0"/>
              <a:t>MERGE SORT</a:t>
            </a:r>
            <a:endParaRPr lang="en-US" b="1" dirty="0"/>
          </a:p>
        </p:txBody>
      </p:sp>
      <p:sp>
        <p:nvSpPr>
          <p:cNvPr id="3" name="Subtitle 2"/>
          <p:cNvSpPr>
            <a:spLocks noGrp="1"/>
          </p:cNvSpPr>
          <p:nvPr>
            <p:ph type="subTitle" idx="1"/>
          </p:nvPr>
        </p:nvSpPr>
        <p:spPr>
          <a:xfrm>
            <a:off x="685800" y="857250"/>
            <a:ext cx="7848600" cy="4057650"/>
          </a:xfrm>
        </p:spPr>
        <p:txBody>
          <a:bodyPr>
            <a:noAutofit/>
          </a:bodyPr>
          <a:lstStyle/>
          <a:p>
            <a:pPr algn="l"/>
            <a:r>
              <a:rPr lang="en-US" sz="900" dirty="0" err="1" smtClean="0">
                <a:solidFill>
                  <a:schemeClr val="tx1"/>
                </a:solidFill>
              </a:rPr>
              <a:t>int</a:t>
            </a:r>
            <a:r>
              <a:rPr lang="en-US" sz="900" dirty="0" smtClean="0">
                <a:solidFill>
                  <a:schemeClr val="tx1"/>
                </a:solidFill>
              </a:rPr>
              <a:t> main() {</a:t>
            </a: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arr</a:t>
            </a:r>
            <a:r>
              <a:rPr lang="en-US" sz="900" dirty="0" smtClean="0">
                <a:solidFill>
                  <a:schemeClr val="tx1"/>
                </a:solidFill>
              </a:rPr>
              <a:t>[] = {38, 27, 43, 3, 9, 82, 10};</a:t>
            </a:r>
          </a:p>
          <a:p>
            <a:pPr algn="l"/>
            <a:r>
              <a:rPr lang="en-US" sz="900" dirty="0" smtClean="0">
                <a:solidFill>
                  <a:schemeClr val="tx1"/>
                </a:solidFill>
              </a:rPr>
              <a:t>    </a:t>
            </a:r>
            <a:r>
              <a:rPr lang="en-US" sz="900" dirty="0" err="1" smtClean="0">
                <a:solidFill>
                  <a:schemeClr val="tx1"/>
                </a:solidFill>
              </a:rPr>
              <a:t>int</a:t>
            </a:r>
            <a:r>
              <a:rPr lang="en-US" sz="900" dirty="0" smtClean="0">
                <a:solidFill>
                  <a:schemeClr val="tx1"/>
                </a:solidFill>
              </a:rPr>
              <a:t> n = </a:t>
            </a:r>
            <a:r>
              <a:rPr lang="en-US" sz="900" dirty="0" err="1" smtClean="0">
                <a:solidFill>
                  <a:schemeClr val="tx1"/>
                </a:solidFill>
              </a:rPr>
              <a:t>sizeof</a:t>
            </a:r>
            <a:r>
              <a:rPr lang="en-US" sz="900" dirty="0" smtClean="0">
                <a:solidFill>
                  <a:schemeClr val="tx1"/>
                </a:solidFill>
              </a:rPr>
              <a:t>(</a:t>
            </a:r>
            <a:r>
              <a:rPr lang="en-US" sz="900" dirty="0" err="1" smtClean="0">
                <a:solidFill>
                  <a:schemeClr val="tx1"/>
                </a:solidFill>
              </a:rPr>
              <a:t>arr</a:t>
            </a:r>
            <a:r>
              <a:rPr lang="en-US" sz="900" dirty="0" smtClean="0">
                <a:solidFill>
                  <a:schemeClr val="tx1"/>
                </a:solidFill>
              </a:rPr>
              <a:t>) / </a:t>
            </a:r>
            <a:r>
              <a:rPr lang="en-US" sz="900" dirty="0" err="1" smtClean="0">
                <a:solidFill>
                  <a:schemeClr val="tx1"/>
                </a:solidFill>
              </a:rPr>
              <a:t>sizeof</a:t>
            </a:r>
            <a:r>
              <a:rPr lang="en-US" sz="900" dirty="0" smtClean="0">
                <a:solidFill>
                  <a:schemeClr val="tx1"/>
                </a:solidFill>
              </a:rPr>
              <a:t>(</a:t>
            </a:r>
            <a:r>
              <a:rPr lang="en-US" sz="900" dirty="0" err="1" smtClean="0">
                <a:solidFill>
                  <a:schemeClr val="tx1"/>
                </a:solidFill>
              </a:rPr>
              <a:t>arr</a:t>
            </a:r>
            <a:r>
              <a:rPr lang="en-US" sz="900" dirty="0" smtClean="0">
                <a:solidFill>
                  <a:schemeClr val="tx1"/>
                </a:solidFill>
              </a:rPr>
              <a:t>[0]);</a:t>
            </a:r>
          </a:p>
          <a:p>
            <a:pPr algn="l"/>
            <a:endParaRPr lang="en-US" sz="900" dirty="0" smtClean="0">
              <a:solidFill>
                <a:schemeClr val="tx1"/>
              </a:solidFill>
            </a:endParaRPr>
          </a:p>
          <a:p>
            <a:pPr algn="l"/>
            <a:r>
              <a:rPr lang="en-US" sz="900" dirty="0" smtClean="0">
                <a:solidFill>
                  <a:schemeClr val="tx1"/>
                </a:solidFill>
              </a:rPr>
              <a:t>    </a:t>
            </a:r>
            <a:r>
              <a:rPr lang="en-US" sz="900" dirty="0" err="1" smtClean="0">
                <a:solidFill>
                  <a:schemeClr val="tx1"/>
                </a:solidFill>
              </a:rPr>
              <a:t>mergeSort</a:t>
            </a:r>
            <a:r>
              <a:rPr lang="en-US" sz="900" dirty="0" smtClean="0">
                <a:solidFill>
                  <a:schemeClr val="tx1"/>
                </a:solidFill>
              </a:rPr>
              <a:t>(</a:t>
            </a:r>
            <a:r>
              <a:rPr lang="en-US" sz="900" dirty="0" err="1" smtClean="0">
                <a:solidFill>
                  <a:schemeClr val="tx1"/>
                </a:solidFill>
              </a:rPr>
              <a:t>arr</a:t>
            </a:r>
            <a:r>
              <a:rPr lang="en-US" sz="900" dirty="0" smtClean="0">
                <a:solidFill>
                  <a:schemeClr val="tx1"/>
                </a:solidFill>
              </a:rPr>
              <a:t>, 0, n - 1);</a:t>
            </a:r>
          </a:p>
          <a:p>
            <a:pPr algn="l"/>
            <a:endParaRPr lang="en-US" sz="900" dirty="0" smtClean="0">
              <a:solidFill>
                <a:schemeClr val="tx1"/>
              </a:solidFill>
            </a:endParaRPr>
          </a:p>
          <a:p>
            <a:pPr algn="l"/>
            <a:r>
              <a:rPr lang="en-US" sz="900" dirty="0" smtClean="0">
                <a:solidFill>
                  <a:schemeClr val="tx1"/>
                </a:solidFill>
              </a:rPr>
              <a:t>    for (</a:t>
            </a:r>
            <a:r>
              <a:rPr lang="en-US" sz="900" dirty="0" err="1" smtClean="0">
                <a:solidFill>
                  <a:schemeClr val="tx1"/>
                </a:solidFill>
              </a:rPr>
              <a:t>int</a:t>
            </a:r>
            <a:r>
              <a:rPr lang="en-US" sz="900" dirty="0" smtClean="0">
                <a:solidFill>
                  <a:schemeClr val="tx1"/>
                </a:solidFill>
              </a:rPr>
              <a:t> </a:t>
            </a:r>
            <a:r>
              <a:rPr lang="en-US" sz="900" dirty="0" err="1" smtClean="0">
                <a:solidFill>
                  <a:schemeClr val="tx1"/>
                </a:solidFill>
              </a:rPr>
              <a:t>i</a:t>
            </a:r>
            <a:r>
              <a:rPr lang="en-US" sz="900" dirty="0" smtClean="0">
                <a:solidFill>
                  <a:schemeClr val="tx1"/>
                </a:solidFill>
              </a:rPr>
              <a:t> = 0; </a:t>
            </a:r>
            <a:r>
              <a:rPr lang="en-US" sz="900" dirty="0" err="1" smtClean="0">
                <a:solidFill>
                  <a:schemeClr val="tx1"/>
                </a:solidFill>
              </a:rPr>
              <a:t>i</a:t>
            </a:r>
            <a:r>
              <a:rPr lang="en-US" sz="900" dirty="0" smtClean="0">
                <a:solidFill>
                  <a:schemeClr val="tx1"/>
                </a:solidFill>
              </a:rPr>
              <a:t> &lt; n; </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a:t>
            </a:r>
            <a:r>
              <a:rPr lang="en-US" sz="900" dirty="0" err="1" smtClean="0">
                <a:solidFill>
                  <a:schemeClr val="tx1"/>
                </a:solidFill>
              </a:rPr>
              <a:t>printf</a:t>
            </a:r>
            <a:r>
              <a:rPr lang="en-US" sz="900" dirty="0" smtClean="0">
                <a:solidFill>
                  <a:schemeClr val="tx1"/>
                </a:solidFill>
              </a:rPr>
              <a:t>("%d ", </a:t>
            </a:r>
            <a:r>
              <a:rPr lang="en-US" sz="900" dirty="0" err="1" smtClean="0">
                <a:solidFill>
                  <a:schemeClr val="tx1"/>
                </a:solidFill>
              </a:rPr>
              <a:t>arr</a:t>
            </a:r>
            <a:r>
              <a:rPr lang="en-US" sz="900" dirty="0" smtClean="0">
                <a:solidFill>
                  <a:schemeClr val="tx1"/>
                </a:solidFill>
              </a:rPr>
              <a:t>[</a:t>
            </a:r>
            <a:r>
              <a:rPr lang="en-US" sz="900" dirty="0" err="1" smtClean="0">
                <a:solidFill>
                  <a:schemeClr val="tx1"/>
                </a:solidFill>
              </a:rPr>
              <a:t>i</a:t>
            </a:r>
            <a:r>
              <a:rPr lang="en-US" sz="900" dirty="0" smtClean="0">
                <a:solidFill>
                  <a:schemeClr val="tx1"/>
                </a:solidFill>
              </a:rPr>
              <a:t>]);</a:t>
            </a:r>
          </a:p>
          <a:p>
            <a:pPr algn="l"/>
            <a:r>
              <a:rPr lang="en-US" sz="900" dirty="0" smtClean="0">
                <a:solidFill>
                  <a:schemeClr val="tx1"/>
                </a:solidFill>
              </a:rPr>
              <a:t>    </a:t>
            </a:r>
          </a:p>
          <a:p>
            <a:pPr algn="l"/>
            <a:r>
              <a:rPr lang="en-US" sz="900" dirty="0" smtClean="0">
                <a:solidFill>
                  <a:schemeClr val="tx1"/>
                </a:solidFill>
              </a:rPr>
              <a:t>    return 0;</a:t>
            </a:r>
          </a:p>
          <a:p>
            <a:pPr algn="l"/>
            <a:r>
              <a:rPr lang="en-US" sz="900" dirty="0" smtClean="0">
                <a:solidFill>
                  <a:schemeClr val="tx1"/>
                </a:solidFill>
              </a:rPr>
              <a:t>}</a:t>
            </a:r>
          </a:p>
          <a:p>
            <a:pPr algn="l"/>
            <a:endParaRPr lang="en-US" sz="900" dirty="0" smtClean="0">
              <a:solidFill>
                <a:schemeClr val="tx1"/>
              </a:solidFill>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
        <p:cNvGrpSpPr/>
        <p:nvPr/>
      </p:nvGrpSpPr>
      <p:grpSpPr>
        <a:xfrm>
          <a:off x="0" y="0"/>
          <a:ext cx="0" cy="0"/>
          <a:chOff x="0" y="0"/>
          <a:chExt cx="0" cy="0"/>
        </a:xfrm>
      </p:grpSpPr>
      <p:sp>
        <p:nvSpPr>
          <p:cNvPr id="100" name="Google Shape;100;p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3050</TotalTime>
  <Words>3730</Words>
  <Application>Microsoft Office PowerPoint</Application>
  <PresentationFormat>On-screen Show (16:9)</PresentationFormat>
  <Paragraphs>632</Paragraphs>
  <Slides>88</Slides>
  <Notes>2</Notes>
  <HiddenSlides>0</HiddenSlides>
  <MMClips>0</MMClips>
  <ScaleCrop>false</ScaleCrop>
  <HeadingPairs>
    <vt:vector size="4" baseType="variant">
      <vt:variant>
        <vt:lpstr>Theme</vt:lpstr>
      </vt:variant>
      <vt:variant>
        <vt:i4>3</vt:i4>
      </vt:variant>
      <vt:variant>
        <vt:lpstr>Slide Titles</vt:lpstr>
      </vt:variant>
      <vt:variant>
        <vt:i4>88</vt:i4>
      </vt:variant>
    </vt:vector>
  </HeadingPairs>
  <TitlesOfParts>
    <vt:vector size="91" baseType="lpstr">
      <vt:lpstr>Office Theme</vt:lpstr>
      <vt:lpstr>1_Office Theme</vt:lpstr>
      <vt:lpstr>2_Office Theme</vt:lpstr>
      <vt:lpstr>Slide 1</vt:lpstr>
      <vt:lpstr>         </vt:lpstr>
      <vt:lpstr>Searching</vt:lpstr>
      <vt:lpstr>Searching</vt:lpstr>
      <vt:lpstr>Linear Search</vt:lpstr>
      <vt:lpstr>Linear Search</vt:lpstr>
      <vt:lpstr>Linear Search</vt:lpstr>
      <vt:lpstr>Linear Search</vt:lpstr>
      <vt:lpstr>Binary Search</vt:lpstr>
      <vt:lpstr>Binary Search</vt:lpstr>
      <vt:lpstr>Binary Search</vt:lpstr>
      <vt:lpstr>Binary Search</vt:lpstr>
      <vt:lpstr>Binary Search</vt:lpstr>
      <vt:lpstr>Difference Between Linear Search and Binary Search</vt:lpstr>
      <vt:lpstr>Hashing  </vt:lpstr>
      <vt:lpstr>Hashing  </vt:lpstr>
      <vt:lpstr>Hashing  </vt:lpstr>
      <vt:lpstr>Hashing  </vt:lpstr>
      <vt:lpstr>Hashing  </vt:lpstr>
      <vt:lpstr>Collision Resolution Techniques</vt:lpstr>
      <vt:lpstr>Collision Resolution Techniques</vt:lpstr>
      <vt:lpstr>Collision Resolution Techniques</vt:lpstr>
      <vt:lpstr>Collision Resolution Techniques</vt:lpstr>
      <vt:lpstr>Collision Resolution Techniques</vt:lpstr>
      <vt:lpstr>SORTING</vt:lpstr>
      <vt:lpstr>BUBBLE SORT</vt:lpstr>
      <vt:lpstr>BUBBLE SORT</vt:lpstr>
      <vt:lpstr>BUBBLE SORT</vt:lpstr>
      <vt:lpstr>BUBBLE SORT</vt:lpstr>
      <vt:lpstr>BUBBLE SORT</vt:lpstr>
      <vt:lpstr>BUBBLE SORT</vt:lpstr>
      <vt:lpstr>BUBBLE SORT</vt:lpstr>
      <vt:lpstr>BUBBLE SORT</vt:lpstr>
      <vt:lpstr>BUBBLE SORT</vt:lpstr>
      <vt:lpstr>BUBBLE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Differentiate Bubble Sort and Insertion Sort</vt:lpstr>
      <vt:lpstr>SELECTION SORT</vt:lpstr>
      <vt:lpstr>SELECTION SORT</vt:lpstr>
      <vt:lpstr>SELECTION SORT</vt:lpstr>
      <vt:lpstr>SELECTION SORT</vt:lpstr>
      <vt:lpstr>SELECTION SORT</vt:lpstr>
      <vt:lpstr>SELECTION SORT</vt:lpstr>
      <vt:lpstr>SELECTION SORT</vt:lpstr>
      <vt:lpstr>DIFFERENTIATE INSERTION AND SELECTION SORT</vt:lpstr>
      <vt:lpstr>QUICK SORT</vt:lpstr>
      <vt:lpstr>QUICK SORT</vt:lpstr>
      <vt:lpstr>QUICK SORT</vt:lpstr>
      <vt:lpstr>QUICK SORT</vt:lpstr>
      <vt:lpstr>HEAP SORT</vt:lpstr>
      <vt:lpstr>HEAP SORT</vt:lpstr>
      <vt:lpstr>HEAP SORT</vt:lpstr>
      <vt:lpstr>HEAP SORT</vt:lpstr>
      <vt:lpstr>HEAP SORT</vt:lpstr>
      <vt:lpstr>HEAP SORT</vt:lpstr>
      <vt:lpstr>HEAP SORT</vt:lpstr>
      <vt:lpstr>HEAP SORT</vt:lpstr>
      <vt:lpstr>HEAP SORT</vt:lpstr>
      <vt:lpstr>HEAP SORT</vt:lpstr>
      <vt:lpstr>HEAP SORT</vt:lpstr>
      <vt:lpstr>SHELL SORT</vt:lpstr>
      <vt:lpstr>SHELL SORT</vt:lpstr>
      <vt:lpstr>SHELL SORT</vt:lpstr>
      <vt:lpstr>SHELL SORT</vt:lpstr>
      <vt:lpstr>SHELL SORT</vt:lpstr>
      <vt:lpstr>SHELL SORT</vt:lpstr>
      <vt:lpstr>RADIX SORT</vt:lpstr>
      <vt:lpstr>RADIX SORT</vt:lpstr>
      <vt:lpstr>RADIX SORT</vt:lpstr>
      <vt:lpstr>RADIX SORT</vt:lpstr>
      <vt:lpstr>RADIX SORT</vt:lpstr>
      <vt:lpstr>MERGE SORT</vt:lpstr>
      <vt:lpstr>MERGE SORT</vt:lpstr>
      <vt:lpstr>MERGE SORT</vt:lpstr>
      <vt:lpstr>MERGE SORT</vt:lpstr>
      <vt:lpstr>MERGE SORT</vt:lpstr>
      <vt:lpstr>MERGE SORT</vt:lpstr>
      <vt:lpstr>MERGE SORT</vt:lpstr>
      <vt:lpstr>MERGE SORT</vt:lpstr>
      <vt:lpstr>Slide 88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dc:title>
  <dc:creator>Marwadi</dc:creator>
  <cp:lastModifiedBy>Admin</cp:lastModifiedBy>
  <cp:revision>220</cp:revision>
  <dcterms:created xsi:type="dcterms:W3CDTF">2014-07-24T03:02:10Z</dcterms:created>
  <dcterms:modified xsi:type="dcterms:W3CDTF">2024-11-11T07:17:45Z</dcterms:modified>
</cp:coreProperties>
</file>