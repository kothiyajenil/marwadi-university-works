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85"/>
  </p:notesMasterIdLst>
  <p:handoutMasterIdLst>
    <p:handoutMasterId r:id="rId86"/>
  </p:handoutMasterIdLst>
  <p:sldIdLst>
    <p:sldId id="473" r:id="rId2"/>
    <p:sldId id="420" r:id="rId3"/>
    <p:sldId id="421" r:id="rId4"/>
    <p:sldId id="501" r:id="rId5"/>
    <p:sldId id="423" r:id="rId6"/>
    <p:sldId id="477" r:id="rId7"/>
    <p:sldId id="478" r:id="rId8"/>
    <p:sldId id="479" r:id="rId9"/>
    <p:sldId id="506" r:id="rId10"/>
    <p:sldId id="435" r:id="rId11"/>
    <p:sldId id="481" r:id="rId12"/>
    <p:sldId id="485" r:id="rId13"/>
    <p:sldId id="483" r:id="rId14"/>
    <p:sldId id="486" r:id="rId15"/>
    <p:sldId id="484" r:id="rId16"/>
    <p:sldId id="439" r:id="rId17"/>
    <p:sldId id="442" r:id="rId18"/>
    <p:sldId id="487" r:id="rId19"/>
    <p:sldId id="443" r:id="rId20"/>
    <p:sldId id="444" r:id="rId21"/>
    <p:sldId id="446" r:id="rId22"/>
    <p:sldId id="447" r:id="rId23"/>
    <p:sldId id="507" r:id="rId24"/>
    <p:sldId id="449" r:id="rId25"/>
    <p:sldId id="450" r:id="rId26"/>
    <p:sldId id="451" r:id="rId27"/>
    <p:sldId id="453" r:id="rId28"/>
    <p:sldId id="454" r:id="rId29"/>
    <p:sldId id="508" r:id="rId30"/>
    <p:sldId id="460" r:id="rId31"/>
    <p:sldId id="489" r:id="rId32"/>
    <p:sldId id="490" r:id="rId33"/>
    <p:sldId id="462" r:id="rId34"/>
    <p:sldId id="469" r:id="rId35"/>
    <p:sldId id="494" r:id="rId36"/>
    <p:sldId id="495" r:id="rId37"/>
    <p:sldId id="471" r:id="rId38"/>
    <p:sldId id="498" r:id="rId39"/>
    <p:sldId id="499" r:id="rId40"/>
    <p:sldId id="500" r:id="rId41"/>
    <p:sldId id="509" r:id="rId42"/>
    <p:sldId id="510" r:id="rId43"/>
    <p:sldId id="262" r:id="rId44"/>
    <p:sldId id="264" r:id="rId45"/>
    <p:sldId id="265" r:id="rId46"/>
    <p:sldId id="380" r:id="rId47"/>
    <p:sldId id="266" r:id="rId48"/>
    <p:sldId id="267" r:id="rId49"/>
    <p:sldId id="268" r:id="rId50"/>
    <p:sldId id="269" r:id="rId51"/>
    <p:sldId id="511" r:id="rId52"/>
    <p:sldId id="270" r:id="rId53"/>
    <p:sldId id="271" r:id="rId54"/>
    <p:sldId id="300" r:id="rId55"/>
    <p:sldId id="301" r:id="rId56"/>
    <p:sldId id="513" r:id="rId57"/>
    <p:sldId id="272" r:id="rId58"/>
    <p:sldId id="273" r:id="rId59"/>
    <p:sldId id="514" r:id="rId60"/>
    <p:sldId id="303" r:id="rId61"/>
    <p:sldId id="304" r:id="rId62"/>
    <p:sldId id="516" r:id="rId63"/>
    <p:sldId id="517" r:id="rId64"/>
    <p:sldId id="518" r:id="rId65"/>
    <p:sldId id="519" r:id="rId66"/>
    <p:sldId id="520" r:id="rId67"/>
    <p:sldId id="515" r:id="rId68"/>
    <p:sldId id="320" r:id="rId69"/>
    <p:sldId id="322" r:id="rId70"/>
    <p:sldId id="323" r:id="rId71"/>
    <p:sldId id="325" r:id="rId72"/>
    <p:sldId id="327" r:id="rId73"/>
    <p:sldId id="328" r:id="rId74"/>
    <p:sldId id="329" r:id="rId75"/>
    <p:sldId id="330" r:id="rId76"/>
    <p:sldId id="331" r:id="rId77"/>
    <p:sldId id="332" r:id="rId78"/>
    <p:sldId id="333" r:id="rId79"/>
    <p:sldId id="389" r:id="rId80"/>
    <p:sldId id="334" r:id="rId81"/>
    <p:sldId id="386" r:id="rId82"/>
    <p:sldId id="387" r:id="rId83"/>
    <p:sldId id="521" r:id="rId84"/>
  </p:sldIdLst>
  <p:sldSz cx="9144000" cy="6858000" type="screen4x3"/>
  <p:notesSz cx="6858000" cy="9144000"/>
  <p:defaultTextStyle>
    <a:defPPr>
      <a:defRPr lang="en-US"/>
    </a:defPPr>
    <a:lvl1pPr algn="l" rtl="0" eaLnBrk="0" fontAlgn="base" hangingPunct="0">
      <a:spcBef>
        <a:spcPct val="20000"/>
      </a:spcBef>
      <a:spcAft>
        <a:spcPct val="0"/>
      </a:spcAft>
      <a:buChar char="•"/>
      <a:defRPr sz="2200" kern="1200">
        <a:solidFill>
          <a:schemeClr val="tx1"/>
        </a:solidFill>
        <a:latin typeface="Calibri" pitchFamily="34" charset="0"/>
        <a:ea typeface="+mn-ea"/>
        <a:cs typeface="+mn-cs"/>
      </a:defRPr>
    </a:lvl1pPr>
    <a:lvl2pPr marL="457200" algn="l" rtl="0" eaLnBrk="0" fontAlgn="base" hangingPunct="0">
      <a:spcBef>
        <a:spcPct val="20000"/>
      </a:spcBef>
      <a:spcAft>
        <a:spcPct val="0"/>
      </a:spcAft>
      <a:buChar char="•"/>
      <a:defRPr sz="2200" kern="1200">
        <a:solidFill>
          <a:schemeClr val="tx1"/>
        </a:solidFill>
        <a:latin typeface="Calibri" pitchFamily="34" charset="0"/>
        <a:ea typeface="+mn-ea"/>
        <a:cs typeface="+mn-cs"/>
      </a:defRPr>
    </a:lvl2pPr>
    <a:lvl3pPr marL="914400" algn="l" rtl="0" eaLnBrk="0" fontAlgn="base" hangingPunct="0">
      <a:spcBef>
        <a:spcPct val="20000"/>
      </a:spcBef>
      <a:spcAft>
        <a:spcPct val="0"/>
      </a:spcAft>
      <a:buChar char="•"/>
      <a:defRPr sz="2200" kern="1200">
        <a:solidFill>
          <a:schemeClr val="tx1"/>
        </a:solidFill>
        <a:latin typeface="Calibri" pitchFamily="34" charset="0"/>
        <a:ea typeface="+mn-ea"/>
        <a:cs typeface="+mn-cs"/>
      </a:defRPr>
    </a:lvl3pPr>
    <a:lvl4pPr marL="1371600" algn="l" rtl="0" eaLnBrk="0" fontAlgn="base" hangingPunct="0">
      <a:spcBef>
        <a:spcPct val="20000"/>
      </a:spcBef>
      <a:spcAft>
        <a:spcPct val="0"/>
      </a:spcAft>
      <a:buChar char="•"/>
      <a:defRPr sz="2200" kern="1200">
        <a:solidFill>
          <a:schemeClr val="tx1"/>
        </a:solidFill>
        <a:latin typeface="Calibri" pitchFamily="34" charset="0"/>
        <a:ea typeface="+mn-ea"/>
        <a:cs typeface="+mn-cs"/>
      </a:defRPr>
    </a:lvl4pPr>
    <a:lvl5pPr marL="1828800" algn="l" rtl="0" eaLnBrk="0" fontAlgn="base" hangingPunct="0">
      <a:spcBef>
        <a:spcPct val="20000"/>
      </a:spcBef>
      <a:spcAft>
        <a:spcPct val="0"/>
      </a:spcAft>
      <a:buChar char="•"/>
      <a:defRPr sz="2200" kern="1200">
        <a:solidFill>
          <a:schemeClr val="tx1"/>
        </a:solidFill>
        <a:latin typeface="Calibri" pitchFamily="34" charset="0"/>
        <a:ea typeface="+mn-ea"/>
        <a:cs typeface="+mn-cs"/>
      </a:defRPr>
    </a:lvl5pPr>
    <a:lvl6pPr marL="2286000" algn="l" defTabSz="914400" rtl="0" eaLnBrk="1" latinLnBrk="0" hangingPunct="1">
      <a:defRPr sz="2200" kern="1200">
        <a:solidFill>
          <a:schemeClr val="tx1"/>
        </a:solidFill>
        <a:latin typeface="Calibri" pitchFamily="34" charset="0"/>
        <a:ea typeface="+mn-ea"/>
        <a:cs typeface="+mn-cs"/>
      </a:defRPr>
    </a:lvl6pPr>
    <a:lvl7pPr marL="2743200" algn="l" defTabSz="914400" rtl="0" eaLnBrk="1" latinLnBrk="0" hangingPunct="1">
      <a:defRPr sz="2200" kern="1200">
        <a:solidFill>
          <a:schemeClr val="tx1"/>
        </a:solidFill>
        <a:latin typeface="Calibri" pitchFamily="34" charset="0"/>
        <a:ea typeface="+mn-ea"/>
        <a:cs typeface="+mn-cs"/>
      </a:defRPr>
    </a:lvl7pPr>
    <a:lvl8pPr marL="3200400" algn="l" defTabSz="914400" rtl="0" eaLnBrk="1" latinLnBrk="0" hangingPunct="1">
      <a:defRPr sz="2200" kern="1200">
        <a:solidFill>
          <a:schemeClr val="tx1"/>
        </a:solidFill>
        <a:latin typeface="Calibri" pitchFamily="34" charset="0"/>
        <a:ea typeface="+mn-ea"/>
        <a:cs typeface="+mn-cs"/>
      </a:defRPr>
    </a:lvl8pPr>
    <a:lvl9pPr marL="3657600" algn="l" defTabSz="914400" rtl="0" eaLnBrk="1" latinLnBrk="0" hangingPunct="1">
      <a:defRPr sz="2200" kern="1200">
        <a:solidFill>
          <a:schemeClr val="tx1"/>
        </a:solidFill>
        <a:latin typeface="Calibri"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588" autoAdjust="0"/>
    <p:restoredTop sz="85009" autoAdjust="0"/>
  </p:normalViewPr>
  <p:slideViewPr>
    <p:cSldViewPr>
      <p:cViewPr varScale="1">
        <p:scale>
          <a:sx n="57" d="100"/>
          <a:sy n="57" d="100"/>
        </p:scale>
        <p:origin x="1540" y="44"/>
      </p:cViewPr>
      <p:guideLst>
        <p:guide orient="horz" pos="2160"/>
        <p:guide pos="2880"/>
      </p:guideLst>
    </p:cSldViewPr>
  </p:slideViewPr>
  <p:outlineViewPr>
    <p:cViewPr>
      <p:scale>
        <a:sx n="33" d="100"/>
        <a:sy n="33" d="100"/>
      </p:scale>
      <p:origin x="0" y="55206"/>
    </p:cViewPr>
  </p:outlineViewPr>
  <p:notesTextViewPr>
    <p:cViewPr>
      <p:scale>
        <a:sx n="100" d="100"/>
        <a:sy n="100" d="100"/>
      </p:scale>
      <p:origin x="0" y="0"/>
    </p:cViewPr>
  </p:notesTextViewPr>
  <p:sorterViewPr>
    <p:cViewPr>
      <p:scale>
        <a:sx n="90" d="100"/>
        <a:sy n="90"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6" Type="http://schemas.openxmlformats.org/officeDocument/2006/relationships/slide" Target="slides/slide75.xml"/><Relationship Id="rId84" Type="http://schemas.openxmlformats.org/officeDocument/2006/relationships/slide" Target="slides/slide83.xml"/><Relationship Id="rId89" Type="http://schemas.openxmlformats.org/officeDocument/2006/relationships/theme" Target="theme/theme1.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slide" Target="slides/slide78.xml"/><Relationship Id="rId87"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slide" Target="slides/slide81.xml"/><Relationship Id="rId90" Type="http://schemas.openxmlformats.org/officeDocument/2006/relationships/tableStyles" Target="tableStyles.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notesMaster" Target="notesMasters/notes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eaLnBrk="1" hangingPunct="1">
              <a:spcBef>
                <a:spcPct val="0"/>
              </a:spcBef>
              <a:buFontTx/>
              <a:buNone/>
              <a:defRPr sz="1200">
                <a:latin typeface="Arial" charset="0"/>
              </a:defRPr>
            </a:lvl1pPr>
          </a:lstStyle>
          <a:p>
            <a:pPr>
              <a:defRPr/>
            </a:pPr>
            <a:endParaRPr lang="en-GB"/>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eaLnBrk="1" hangingPunct="1">
              <a:spcBef>
                <a:spcPct val="0"/>
              </a:spcBef>
              <a:buFontTx/>
              <a:buNone/>
              <a:defRPr sz="1200">
                <a:latin typeface="Arial" charset="0"/>
              </a:defRPr>
            </a:lvl1pPr>
          </a:lstStyle>
          <a:p>
            <a:pPr>
              <a:defRPr/>
            </a:pPr>
            <a:fld id="{F364DCCB-6D4A-4AEE-96AA-0CE043CDFAC4}" type="datetimeFigureOut">
              <a:rPr lang="en-US"/>
              <a:pPr>
                <a:defRPr/>
              </a:pPr>
              <a:t>12/22/2022</a:t>
            </a:fld>
            <a:endParaRPr lang="en-GB"/>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eaLnBrk="1" hangingPunct="1">
              <a:spcBef>
                <a:spcPct val="0"/>
              </a:spcBef>
              <a:buFontTx/>
              <a:buNone/>
              <a:defRPr sz="1200">
                <a:latin typeface="Arial" charset="0"/>
              </a:defRPr>
            </a:lvl1pPr>
          </a:lstStyle>
          <a:p>
            <a:pPr>
              <a:defRPr/>
            </a:pPr>
            <a:endParaRPr lang="en-GB"/>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eaLnBrk="1" hangingPunct="1">
              <a:spcBef>
                <a:spcPct val="0"/>
              </a:spcBef>
              <a:buFontTx/>
              <a:buNone/>
              <a:defRPr sz="1200">
                <a:latin typeface="Arial" charset="0"/>
              </a:defRPr>
            </a:lvl1pPr>
          </a:lstStyle>
          <a:p>
            <a:pPr>
              <a:defRPr/>
            </a:pPr>
            <a:fld id="{820E18B8-EA7E-4D11-8A4B-E3831D0702FE}" type="slidenum">
              <a:rPr lang="en-GB"/>
              <a:pPr>
                <a:defRPr/>
              </a:pPr>
              <a:t>‹#›</a:t>
            </a:fld>
            <a:endParaRPr lang="en-GB"/>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eaLnBrk="1" hangingPunct="1">
              <a:spcBef>
                <a:spcPct val="0"/>
              </a:spcBef>
              <a:buFontTx/>
              <a:buNone/>
              <a:defRPr sz="1200">
                <a:latin typeface="Arial" charset="0"/>
              </a:defRPr>
            </a:lvl1pPr>
          </a:lstStyle>
          <a:p>
            <a:pPr>
              <a:defRPr/>
            </a:pPr>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eaLnBrk="1" hangingPunct="1">
              <a:spcBef>
                <a:spcPct val="0"/>
              </a:spcBef>
              <a:buFontTx/>
              <a:buNone/>
              <a:defRPr sz="1200">
                <a:latin typeface="Arial" charset="0"/>
              </a:defRPr>
            </a:lvl1pPr>
          </a:lstStyle>
          <a:p>
            <a:pPr>
              <a:defRPr/>
            </a:pPr>
            <a:fld id="{B79E87BE-3BAC-4F89-A62B-E27256B920C4}" type="datetimeFigureOut">
              <a:rPr lang="en-US"/>
              <a:pPr>
                <a:defRPr/>
              </a:pPr>
              <a:t>12/22/2022</a:t>
            </a:fld>
            <a:endParaRPr lang="en-US" dirty="0"/>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en-US" noProof="0"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eaLnBrk="1" hangingPunct="1">
              <a:spcBef>
                <a:spcPct val="0"/>
              </a:spcBef>
              <a:buFontTx/>
              <a:buNone/>
              <a:defRPr sz="1200">
                <a:latin typeface="Arial" charset="0"/>
              </a:defRPr>
            </a:lvl1pPr>
          </a:lstStyle>
          <a:p>
            <a:pPr>
              <a:defRPr/>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eaLnBrk="1" hangingPunct="1">
              <a:spcBef>
                <a:spcPct val="0"/>
              </a:spcBef>
              <a:buFontTx/>
              <a:buNone/>
              <a:defRPr sz="1200">
                <a:latin typeface="Arial" charset="0"/>
              </a:defRPr>
            </a:lvl1pPr>
          </a:lstStyle>
          <a:p>
            <a:pPr>
              <a:defRPr/>
            </a:pPr>
            <a:fld id="{497708E5-EEC4-40E9-AC55-5CFEAA0D477A}" type="slidenum">
              <a:rPr lang="en-US"/>
              <a:pPr>
                <a:defRPr/>
              </a:pPr>
              <a:t>‹#›</a:t>
            </a:fld>
            <a:endParaRPr lang="en-US" dirty="0"/>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Slide Image Placeholder 1"/>
          <p:cNvSpPr>
            <a:spLocks noGrp="1" noRot="1" noChangeAspect="1" noTextEdit="1"/>
          </p:cNvSpPr>
          <p:nvPr>
            <p:ph type="sldImg"/>
          </p:nvPr>
        </p:nvSpPr>
        <p:spPr bwMode="auto">
          <a:noFill/>
          <a:ln>
            <a:solidFill>
              <a:srgbClr val="000000"/>
            </a:solidFill>
            <a:miter lim="800000"/>
            <a:headEnd/>
            <a:tailEnd/>
          </a:ln>
        </p:spPr>
      </p:sp>
      <p:sp>
        <p:nvSpPr>
          <p:cNvPr id="18435" name="Notes Placeholder 2"/>
          <p:cNvSpPr>
            <a:spLocks noGrp="1"/>
          </p:cNvSpPr>
          <p:nvPr>
            <p:ph type="body" idx="1"/>
          </p:nvPr>
        </p:nvSpPr>
        <p:spPr bwMode="auto">
          <a:noFill/>
        </p:spPr>
        <p:txBody>
          <a:bodyPr wrap="square" numCol="1" anchor="t" anchorCtr="0" compatLnSpc="1">
            <a:prstTxWarp prst="textNoShape">
              <a:avLst/>
            </a:prstTxWarp>
          </a:bodyPr>
          <a:lstStyle/>
          <a:p>
            <a:r>
              <a:rPr lang="en-NZ"/>
              <a:t>Overview of points covered in this chapter</a:t>
            </a:r>
          </a:p>
          <a:p>
            <a:endParaRPr lang="en-NZ"/>
          </a:p>
          <a:p>
            <a:r>
              <a:rPr lang="en-NZ"/>
              <a:t>Point out that memory partitioning isn’t used much except for special cases such as kernel memory management</a:t>
            </a:r>
          </a:p>
          <a:p>
            <a:endParaRPr lang="en-NZ"/>
          </a:p>
          <a:p>
            <a:endParaRPr lang="en-NZ"/>
          </a:p>
        </p:txBody>
      </p:sp>
      <p:sp>
        <p:nvSpPr>
          <p:cNvPr id="18436"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026DE77C-44CF-4D7C-80E2-8F29321F1CAD}" type="slidenum">
              <a:rPr lang="en-US" smtClean="0">
                <a:latin typeface="Arial" pitchFamily="34" charset="0"/>
              </a:rPr>
              <a:pPr/>
              <a:t>2</a:t>
            </a:fld>
            <a:endParaRPr lang="en-US">
              <a:latin typeface="Arial" pitchFamily="34"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Slide Image Placeholder 1"/>
          <p:cNvSpPr>
            <a:spLocks noGrp="1" noRot="1" noChangeAspect="1" noTextEdit="1"/>
          </p:cNvSpPr>
          <p:nvPr>
            <p:ph type="sldImg"/>
          </p:nvPr>
        </p:nvSpPr>
        <p:spPr bwMode="auto">
          <a:noFill/>
          <a:ln>
            <a:solidFill>
              <a:srgbClr val="000000"/>
            </a:solidFill>
            <a:miter lim="800000"/>
            <a:headEnd/>
            <a:tailEnd/>
          </a:ln>
        </p:spPr>
      </p:sp>
      <p:sp>
        <p:nvSpPr>
          <p:cNvPr id="19459" name="Notes Placeholder 2"/>
          <p:cNvSpPr>
            <a:spLocks noGrp="1"/>
          </p:cNvSpPr>
          <p:nvPr>
            <p:ph type="body" idx="1"/>
          </p:nvPr>
        </p:nvSpPr>
        <p:spPr bwMode="auto">
          <a:noFill/>
        </p:spPr>
        <p:txBody>
          <a:bodyPr wrap="square" numCol="1" anchor="t" anchorCtr="0" compatLnSpc="1">
            <a:prstTxWarp prst="textNoShape">
              <a:avLst/>
            </a:prstTxWarp>
          </a:bodyPr>
          <a:lstStyle/>
          <a:p>
            <a:r>
              <a:rPr lang="en-NZ" dirty="0"/>
              <a:t>Introduce by pointing out that in a  uniprogramming system, main memory is divided into two parts: </a:t>
            </a:r>
          </a:p>
          <a:p>
            <a:pPr lvl="1">
              <a:buFontTx/>
              <a:buChar char="•"/>
            </a:pPr>
            <a:r>
              <a:rPr lang="en-NZ" dirty="0"/>
              <a:t>one part for the operating system (resident monitor, kernel) and </a:t>
            </a:r>
          </a:p>
          <a:p>
            <a:pPr lvl="1">
              <a:buFontTx/>
              <a:buChar char="•"/>
            </a:pPr>
            <a:r>
              <a:rPr lang="en-NZ" dirty="0"/>
              <a:t>one part for the program currently being executed. </a:t>
            </a:r>
          </a:p>
          <a:p>
            <a:endParaRPr lang="en-NZ" dirty="0"/>
          </a:p>
          <a:p>
            <a:r>
              <a:rPr lang="en-NZ" dirty="0"/>
              <a:t>In a multiprogramming system, the “user” part of memory must be further subdivided to accommodate multiple processes.</a:t>
            </a:r>
          </a:p>
          <a:p>
            <a:endParaRPr lang="en-NZ" dirty="0"/>
          </a:p>
          <a:p>
            <a:r>
              <a:rPr lang="en-NZ" dirty="0"/>
              <a:t>Emphasise that memory management is vital in a multiprogramming system. If only a few processes are in memory, then for much of the time all of the processes will be waiting</a:t>
            </a:r>
          </a:p>
          <a:p>
            <a:r>
              <a:rPr lang="en-NZ" dirty="0"/>
              <a:t>for I/O and the processor will be idle.</a:t>
            </a:r>
          </a:p>
          <a:p>
            <a:endParaRPr lang="en-NZ" dirty="0"/>
          </a:p>
          <a:p>
            <a:r>
              <a:rPr lang="en-NZ" dirty="0"/>
              <a:t>Thus memory needs to be allocated to ensure a reasonable supply of ready processes to consume available processor time.</a:t>
            </a:r>
          </a:p>
        </p:txBody>
      </p:sp>
      <p:sp>
        <p:nvSpPr>
          <p:cNvPr id="19460"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C9840C27-F83D-404F-94B7-83BB618339CA}" type="slidenum">
              <a:rPr lang="en-US" smtClean="0">
                <a:latin typeface="Arial" pitchFamily="34" charset="0"/>
              </a:rPr>
              <a:pPr/>
              <a:t>3</a:t>
            </a:fld>
            <a:endParaRPr lang="en-US">
              <a:latin typeface="Arial" pitchFamily="34"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Slide Image Placeholder 1"/>
          <p:cNvSpPr>
            <a:spLocks noGrp="1" noRot="1" noChangeAspect="1" noTextEdit="1"/>
          </p:cNvSpPr>
          <p:nvPr>
            <p:ph type="sldImg"/>
          </p:nvPr>
        </p:nvSpPr>
        <p:spPr bwMode="auto">
          <a:noFill/>
          <a:ln>
            <a:solidFill>
              <a:srgbClr val="000000"/>
            </a:solidFill>
            <a:miter lim="800000"/>
            <a:headEnd/>
            <a:tailEnd/>
          </a:ln>
        </p:spPr>
      </p:sp>
      <p:sp>
        <p:nvSpPr>
          <p:cNvPr id="21507" name="Notes Placeholder 2"/>
          <p:cNvSpPr>
            <a:spLocks noGrp="1"/>
          </p:cNvSpPr>
          <p:nvPr>
            <p:ph type="body" idx="1"/>
          </p:nvPr>
        </p:nvSpPr>
        <p:spPr bwMode="auto">
          <a:noFill/>
        </p:spPr>
        <p:txBody>
          <a:bodyPr wrap="square" numCol="1" anchor="t" anchorCtr="0" compatLnSpc="1">
            <a:prstTxWarp prst="textNoShape">
              <a:avLst/>
            </a:prstTxWarp>
          </a:bodyPr>
          <a:lstStyle/>
          <a:p>
            <a:r>
              <a:rPr lang="en-NZ"/>
              <a:t>The following slides expandon these topics.</a:t>
            </a:r>
          </a:p>
        </p:txBody>
      </p:sp>
      <p:sp>
        <p:nvSpPr>
          <p:cNvPr id="21508"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F9F3828A-91E7-4BB3-B04F-A122C96A66E6}" type="slidenum">
              <a:rPr lang="en-US" smtClean="0">
                <a:latin typeface="Arial" pitchFamily="34" charset="0"/>
              </a:rPr>
              <a:pPr/>
              <a:t>5</a:t>
            </a:fld>
            <a:endParaRPr lang="en-US">
              <a:latin typeface="Arial" pitchFamily="34"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Slide Image Placeholder 1"/>
          <p:cNvSpPr>
            <a:spLocks noGrp="1" noRot="1" noChangeAspect="1" noTextEdit="1"/>
          </p:cNvSpPr>
          <p:nvPr>
            <p:ph type="sldImg"/>
          </p:nvPr>
        </p:nvSpPr>
        <p:spPr bwMode="auto">
          <a:noFill/>
          <a:ln>
            <a:solidFill>
              <a:srgbClr val="000000"/>
            </a:solidFill>
            <a:miter lim="800000"/>
            <a:headEnd/>
            <a:tailEnd/>
          </a:ln>
        </p:spPr>
      </p:sp>
      <p:sp>
        <p:nvSpPr>
          <p:cNvPr id="27651" name="Notes Placeholder 2"/>
          <p:cNvSpPr>
            <a:spLocks noGrp="1"/>
          </p:cNvSpPr>
          <p:nvPr>
            <p:ph type="body" idx="1"/>
          </p:nvPr>
        </p:nvSpPr>
        <p:spPr bwMode="auto">
          <a:noFill/>
        </p:spPr>
        <p:txBody>
          <a:bodyPr wrap="square" numCol="1" anchor="t" anchorCtr="0" compatLnSpc="1">
            <a:prstTxWarp prst="textNoShape">
              <a:avLst/>
            </a:prstTxWarp>
          </a:bodyPr>
          <a:lstStyle/>
          <a:p>
            <a:r>
              <a:rPr lang="en-NZ" dirty="0"/>
              <a:t>Main memory is usually organized as a linear, or one-dimensional, address space, consisting of a sequence of bytes or words. </a:t>
            </a:r>
          </a:p>
          <a:p>
            <a:r>
              <a:rPr lang="en-NZ" dirty="0"/>
              <a:t>Secondary memory, at its physical level, is similarly organized. </a:t>
            </a:r>
          </a:p>
          <a:p>
            <a:endParaRPr lang="en-NZ" dirty="0"/>
          </a:p>
          <a:p>
            <a:r>
              <a:rPr lang="en-NZ" dirty="0"/>
              <a:t>This does not correspond to the way in which programs are typically constructed. Most programs are organized into modules. If the operating system and computer hardware can effectively deal with user programs and data in the form of modules of some sort, then a number of advantages can be realized</a:t>
            </a:r>
          </a:p>
        </p:txBody>
      </p:sp>
      <p:sp>
        <p:nvSpPr>
          <p:cNvPr id="27652"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315DD01E-595B-406E-94D1-850DA8873D1E}" type="slidenum">
              <a:rPr lang="en-US" smtClean="0">
                <a:latin typeface="Arial" pitchFamily="34" charset="0"/>
              </a:rPr>
              <a:pPr/>
              <a:t>7</a:t>
            </a:fld>
            <a:endParaRPr lang="en-US">
              <a:latin typeface="Arial" pitchFamily="34"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Slide Image Placeholder 1"/>
          <p:cNvSpPr>
            <a:spLocks noGrp="1" noRot="1" noChangeAspect="1" noTextEdit="1"/>
          </p:cNvSpPr>
          <p:nvPr>
            <p:ph type="sldImg"/>
          </p:nvPr>
        </p:nvSpPr>
        <p:spPr bwMode="auto">
          <a:noFill/>
          <a:ln>
            <a:solidFill>
              <a:srgbClr val="000000"/>
            </a:solidFill>
            <a:miter lim="800000"/>
            <a:headEnd/>
            <a:tailEnd/>
          </a:ln>
        </p:spPr>
      </p:sp>
      <p:sp>
        <p:nvSpPr>
          <p:cNvPr id="18435" name="Notes Placeholder 2"/>
          <p:cNvSpPr>
            <a:spLocks noGrp="1"/>
          </p:cNvSpPr>
          <p:nvPr>
            <p:ph type="body" idx="1"/>
          </p:nvPr>
        </p:nvSpPr>
        <p:spPr bwMode="auto">
          <a:noFill/>
        </p:spPr>
        <p:txBody>
          <a:bodyPr wrap="square" numCol="1" anchor="t" anchorCtr="0" compatLnSpc="1">
            <a:prstTxWarp prst="textNoShape">
              <a:avLst/>
            </a:prstTxWarp>
          </a:bodyPr>
          <a:lstStyle/>
          <a:p>
            <a:r>
              <a:rPr lang="en-NZ"/>
              <a:t>Overview of points covered in this chapter</a:t>
            </a:r>
          </a:p>
          <a:p>
            <a:endParaRPr lang="en-NZ"/>
          </a:p>
          <a:p>
            <a:r>
              <a:rPr lang="en-NZ"/>
              <a:t>Point out that memory partitioning isn’t used much except for special cases such as kernel memory management</a:t>
            </a:r>
          </a:p>
          <a:p>
            <a:endParaRPr lang="en-NZ"/>
          </a:p>
          <a:p>
            <a:endParaRPr lang="en-NZ"/>
          </a:p>
        </p:txBody>
      </p:sp>
      <p:sp>
        <p:nvSpPr>
          <p:cNvPr id="18436"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026DE77C-44CF-4D7C-80E2-8F29321F1CAD}" type="slidenum">
              <a:rPr lang="en-US" smtClean="0">
                <a:latin typeface="Arial" pitchFamily="34" charset="0"/>
              </a:rPr>
              <a:pPr/>
              <a:t>9</a:t>
            </a:fld>
            <a:endParaRPr lang="en-US">
              <a:latin typeface="Arial" pitchFamily="34" charset="0"/>
            </a:endParaRPr>
          </a:p>
        </p:txBody>
      </p:sp>
    </p:spTree>
    <p:extLst>
      <p:ext uri="{BB962C8B-B14F-4D97-AF65-F5344CB8AC3E}">
        <p14:creationId xmlns:p14="http://schemas.microsoft.com/office/powerpoint/2010/main" val="192680177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Slide Image Placeholder 1"/>
          <p:cNvSpPr>
            <a:spLocks noGrp="1" noRot="1" noChangeAspect="1" noTextEdit="1"/>
          </p:cNvSpPr>
          <p:nvPr>
            <p:ph type="sldImg"/>
          </p:nvPr>
        </p:nvSpPr>
        <p:spPr bwMode="auto">
          <a:noFill/>
          <a:ln>
            <a:solidFill>
              <a:srgbClr val="000000"/>
            </a:solidFill>
            <a:miter lim="800000"/>
            <a:headEnd/>
            <a:tailEnd/>
          </a:ln>
        </p:spPr>
      </p:sp>
      <p:sp>
        <p:nvSpPr>
          <p:cNvPr id="62467" name="Notes Placeholder 2"/>
          <p:cNvSpPr>
            <a:spLocks noGrp="1"/>
          </p:cNvSpPr>
          <p:nvPr>
            <p:ph type="body" idx="1"/>
          </p:nvPr>
        </p:nvSpPr>
        <p:spPr bwMode="auto">
          <a:noFill/>
        </p:spPr>
        <p:txBody>
          <a:bodyPr wrap="square" numCol="1" anchor="t" anchorCtr="0" compatLnSpc="1">
            <a:prstTxWarp prst="textNoShape">
              <a:avLst/>
            </a:prstTxWarp>
          </a:bodyPr>
          <a:lstStyle/>
          <a:p>
            <a:endParaRPr lang="en-US"/>
          </a:p>
        </p:txBody>
      </p:sp>
      <p:sp>
        <p:nvSpPr>
          <p:cNvPr id="4" name="Slide Number Placeholder 3"/>
          <p:cNvSpPr>
            <a:spLocks noGrp="1"/>
          </p:cNvSpPr>
          <p:nvPr>
            <p:ph type="sldNum" sz="quarter" idx="5"/>
          </p:nvPr>
        </p:nvSpPr>
        <p:spPr/>
        <p:txBody>
          <a:bodyPr/>
          <a:lstStyle/>
          <a:p>
            <a:pPr>
              <a:defRPr/>
            </a:pPr>
            <a:fld id="{0017B09E-7348-4D33-82DC-78C32C347759}" type="slidenum">
              <a:rPr lang="en-US" smtClean="0"/>
              <a:pPr>
                <a:defRPr/>
              </a:pPr>
              <a:t>11</a:t>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lide Image Placeholder 1"/>
          <p:cNvSpPr>
            <a:spLocks noGrp="1" noRot="1" noChangeAspect="1" noTextEdit="1"/>
          </p:cNvSpPr>
          <p:nvPr>
            <p:ph type="sldImg"/>
          </p:nvPr>
        </p:nvSpPr>
        <p:spPr bwMode="auto">
          <a:noFill/>
          <a:ln>
            <a:solidFill>
              <a:srgbClr val="000000"/>
            </a:solidFill>
            <a:miter lim="800000"/>
            <a:headEnd/>
            <a:tailEnd/>
          </a:ln>
        </p:spPr>
      </p:sp>
      <p:sp>
        <p:nvSpPr>
          <p:cNvPr id="66563" name="Notes Placeholder 2"/>
          <p:cNvSpPr>
            <a:spLocks noGrp="1"/>
          </p:cNvSpPr>
          <p:nvPr>
            <p:ph type="body" idx="1"/>
          </p:nvPr>
        </p:nvSpPr>
        <p:spPr bwMode="auto">
          <a:noFill/>
        </p:spPr>
        <p:txBody>
          <a:bodyPr wrap="square" numCol="1" anchor="t" anchorCtr="0" compatLnSpc="1">
            <a:prstTxWarp prst="textNoShape">
              <a:avLst/>
            </a:prstTxWarp>
          </a:bodyPr>
          <a:lstStyle/>
          <a:p>
            <a:r>
              <a:rPr lang="en-NZ" dirty="0"/>
              <a:t>Finish by mentioning tat fixed partitioning is almost unknown today</a:t>
            </a:r>
          </a:p>
        </p:txBody>
      </p:sp>
      <p:sp>
        <p:nvSpPr>
          <p:cNvPr id="4" name="Slide Number Placeholder 3"/>
          <p:cNvSpPr>
            <a:spLocks noGrp="1"/>
          </p:cNvSpPr>
          <p:nvPr>
            <p:ph type="sldNum" sz="quarter" idx="5"/>
          </p:nvPr>
        </p:nvSpPr>
        <p:spPr/>
        <p:txBody>
          <a:bodyPr/>
          <a:lstStyle/>
          <a:p>
            <a:pPr>
              <a:defRPr/>
            </a:pPr>
            <a:fld id="{0641AED5-7EC1-4490-AF55-76D39521A333}" type="slidenum">
              <a:rPr lang="en-US" smtClean="0"/>
              <a:pPr>
                <a:defRPr/>
              </a:pPr>
              <a:t>16</a:t>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Slide Image Placeholder 1"/>
          <p:cNvSpPr>
            <a:spLocks noGrp="1" noRot="1" noChangeAspect="1" noTextEdit="1"/>
          </p:cNvSpPr>
          <p:nvPr>
            <p:ph type="sldImg"/>
          </p:nvPr>
        </p:nvSpPr>
        <p:spPr bwMode="auto">
          <a:noFill/>
          <a:ln>
            <a:solidFill>
              <a:srgbClr val="000000"/>
            </a:solidFill>
            <a:miter lim="800000"/>
            <a:headEnd/>
            <a:tailEnd/>
          </a:ln>
        </p:spPr>
      </p:sp>
      <p:sp>
        <p:nvSpPr>
          <p:cNvPr id="65539" name="Notes Placeholder 2"/>
          <p:cNvSpPr>
            <a:spLocks noGrp="1"/>
          </p:cNvSpPr>
          <p:nvPr>
            <p:ph type="body" idx="1"/>
          </p:nvPr>
        </p:nvSpPr>
        <p:spPr bwMode="auto">
          <a:noFill/>
        </p:spPr>
        <p:txBody>
          <a:bodyPr wrap="square" numCol="1" anchor="t" anchorCtr="0" compatLnSpc="1">
            <a:prstTxWarp prst="textNoShape">
              <a:avLst/>
            </a:prstTxWarp>
          </a:bodyPr>
          <a:lstStyle/>
          <a:p>
            <a:endParaRPr lang="en-US"/>
          </a:p>
        </p:txBody>
      </p:sp>
      <p:sp>
        <p:nvSpPr>
          <p:cNvPr id="4" name="Slide Number Placeholder 3"/>
          <p:cNvSpPr>
            <a:spLocks noGrp="1"/>
          </p:cNvSpPr>
          <p:nvPr>
            <p:ph type="sldNum" sz="quarter" idx="5"/>
          </p:nvPr>
        </p:nvSpPr>
        <p:spPr/>
        <p:txBody>
          <a:bodyPr/>
          <a:lstStyle/>
          <a:p>
            <a:pPr>
              <a:defRPr/>
            </a:pPr>
            <a:fld id="{144FB17F-7C99-444E-AC55-7B337AF85EFC}" type="slidenum">
              <a:rPr lang="en-US" smtClean="0"/>
              <a:pPr>
                <a:defRPr/>
              </a:pPr>
              <a:t>17</a:t>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lide Image Placeholder 1"/>
          <p:cNvSpPr>
            <a:spLocks noGrp="1" noRot="1" noChangeAspect="1" noTextEdit="1"/>
          </p:cNvSpPr>
          <p:nvPr>
            <p:ph type="sldImg"/>
          </p:nvPr>
        </p:nvSpPr>
        <p:spPr bwMode="auto">
          <a:noFill/>
          <a:ln>
            <a:solidFill>
              <a:srgbClr val="000000"/>
            </a:solidFill>
            <a:miter lim="800000"/>
            <a:headEnd/>
            <a:tailEnd/>
          </a:ln>
        </p:spPr>
      </p:sp>
      <p:sp>
        <p:nvSpPr>
          <p:cNvPr id="66563" name="Notes Placeholder 2"/>
          <p:cNvSpPr>
            <a:spLocks noGrp="1"/>
          </p:cNvSpPr>
          <p:nvPr>
            <p:ph type="body" idx="1"/>
          </p:nvPr>
        </p:nvSpPr>
        <p:spPr bwMode="auto">
          <a:noFill/>
        </p:spPr>
        <p:txBody>
          <a:bodyPr wrap="square" numCol="1" anchor="t" anchorCtr="0" compatLnSpc="1">
            <a:prstTxWarp prst="textNoShape">
              <a:avLst/>
            </a:prstTxWarp>
          </a:bodyPr>
          <a:lstStyle/>
          <a:p>
            <a:pPr marL="228600" indent="-228600"/>
            <a:r>
              <a:rPr lang="en-NZ" dirty="0"/>
              <a:t>Animated slide</a:t>
            </a:r>
          </a:p>
          <a:p>
            <a:pPr marL="228600" indent="-228600"/>
            <a:r>
              <a:rPr lang="en-NZ" dirty="0"/>
              <a:t>Imagine a system with 64M RAM</a:t>
            </a:r>
          </a:p>
          <a:p>
            <a:pPr marL="228600" indent="-228600">
              <a:buFont typeface="Calibri" pitchFamily="34" charset="0"/>
              <a:buAutoNum type="arabicPeriod"/>
            </a:pPr>
            <a:r>
              <a:rPr lang="en-NZ" dirty="0"/>
              <a:t>Initially, main memory is empty, except for the operating system </a:t>
            </a:r>
          </a:p>
          <a:p>
            <a:pPr marL="228600" indent="-228600">
              <a:buFont typeface="Calibri" pitchFamily="34" charset="0"/>
              <a:buAutoNum type="arabicPeriod"/>
            </a:pPr>
            <a:r>
              <a:rPr lang="en-NZ" dirty="0"/>
              <a:t>Three processes are loaded in – leaving a ‘hole’ too small for any further process</a:t>
            </a:r>
          </a:p>
          <a:p>
            <a:pPr marL="228600" indent="-228600">
              <a:buFont typeface="Calibri" pitchFamily="34" charset="0"/>
              <a:buAutoNum type="arabicPeriod"/>
            </a:pPr>
            <a:r>
              <a:rPr lang="en-NZ" dirty="0"/>
              <a:t>At some point, none of the processes in memory is ready. The operating system swaps out process 2, </a:t>
            </a:r>
          </a:p>
          <a:p>
            <a:pPr marL="228600" indent="-228600">
              <a:buFont typeface="Calibri" pitchFamily="34" charset="0"/>
              <a:buAutoNum type="arabicPeriod"/>
            </a:pPr>
            <a:r>
              <a:rPr lang="en-NZ" dirty="0"/>
              <a:t>Which leaves sufficient room to load a new process, process 4 – but that creates another hole</a:t>
            </a:r>
          </a:p>
          <a:p>
            <a:pPr marL="228600" indent="-228600">
              <a:buFont typeface="Calibri" pitchFamily="34" charset="0"/>
              <a:buAutoNum type="arabicPeriod"/>
            </a:pPr>
            <a:r>
              <a:rPr lang="en-NZ" dirty="0"/>
              <a:t>Later, a point is reached at which none of the processes in main memory is ready, but process 2, in the Ready-Suspend state, is available. Because there is insufficient room in memory for process 2, the operating system swaps process 1 out and swaps process 2 back in leaving yet another hole</a:t>
            </a:r>
          </a:p>
          <a:p>
            <a:pPr marL="228600" indent="-228600">
              <a:buFont typeface="Calibri" pitchFamily="34" charset="0"/>
              <a:buAutoNum type="arabicPeriod"/>
            </a:pPr>
            <a:r>
              <a:rPr lang="en-NZ" dirty="0"/>
              <a:t>Explain External Fragmentation and compaction – mention that compaction implies the capability of dynamic relocation</a:t>
            </a:r>
          </a:p>
          <a:p>
            <a:pPr marL="228600" indent="-228600">
              <a:buFont typeface="Calibri" pitchFamily="34" charset="0"/>
              <a:buAutoNum type="arabicPeriod"/>
            </a:pPr>
            <a:endParaRPr lang="en-NZ" dirty="0"/>
          </a:p>
          <a:p>
            <a:pPr marL="228600" indent="-228600">
              <a:buFont typeface="Calibri" pitchFamily="34" charset="0"/>
              <a:buAutoNum type="arabicPeriod"/>
            </a:pPr>
            <a:endParaRPr lang="en-NZ" dirty="0"/>
          </a:p>
        </p:txBody>
      </p:sp>
      <p:sp>
        <p:nvSpPr>
          <p:cNvPr id="4" name="Slide Number Placeholder 3"/>
          <p:cNvSpPr>
            <a:spLocks noGrp="1"/>
          </p:cNvSpPr>
          <p:nvPr>
            <p:ph type="sldNum" sz="quarter" idx="5"/>
          </p:nvPr>
        </p:nvSpPr>
        <p:spPr/>
        <p:txBody>
          <a:bodyPr/>
          <a:lstStyle/>
          <a:p>
            <a:pPr>
              <a:defRPr/>
            </a:pPr>
            <a:fld id="{80355EF5-5993-4586-8BD4-6539E0A5FFA3}" type="slidenum">
              <a:rPr lang="en-US" smtClean="0"/>
              <a:pPr>
                <a:defRPr/>
              </a:pPr>
              <a:t>19</a:t>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Slide Image Placeholder 1"/>
          <p:cNvSpPr>
            <a:spLocks noGrp="1" noRot="1" noChangeAspect="1" noTextEdit="1"/>
          </p:cNvSpPr>
          <p:nvPr>
            <p:ph type="sldImg"/>
          </p:nvPr>
        </p:nvSpPr>
        <p:spPr bwMode="auto">
          <a:noFill/>
          <a:ln>
            <a:solidFill>
              <a:srgbClr val="000000"/>
            </a:solidFill>
            <a:miter lim="800000"/>
            <a:headEnd/>
            <a:tailEnd/>
          </a:ln>
        </p:spPr>
      </p:sp>
      <p:sp>
        <p:nvSpPr>
          <p:cNvPr id="70659" name="Notes Placeholder 2"/>
          <p:cNvSpPr>
            <a:spLocks noGrp="1"/>
          </p:cNvSpPr>
          <p:nvPr>
            <p:ph type="body" idx="1"/>
          </p:nvPr>
        </p:nvSpPr>
        <p:spPr bwMode="auto">
          <a:noFill/>
        </p:spPr>
        <p:txBody>
          <a:bodyPr wrap="square" numCol="1" anchor="t" anchorCtr="0" compatLnSpc="1">
            <a:prstTxWarp prst="textNoShape">
              <a:avLst/>
            </a:prstTxWarp>
          </a:bodyPr>
          <a:lstStyle/>
          <a:p>
            <a:r>
              <a:rPr lang="en-NZ" dirty="0"/>
              <a:t>Slide shows Fig 7.5 - an example memory configuration after a number of placement and swapping-out operations. </a:t>
            </a:r>
          </a:p>
          <a:p>
            <a:endParaRPr lang="en-NZ" dirty="0"/>
          </a:p>
          <a:p>
            <a:pPr>
              <a:buFontTx/>
              <a:buChar char="•"/>
            </a:pPr>
            <a:r>
              <a:rPr lang="en-NZ" dirty="0"/>
              <a:t>The last block that was used was a 22-Mbyte block from which a 14-Mbyte partition was created. </a:t>
            </a:r>
          </a:p>
          <a:p>
            <a:pPr>
              <a:buFontTx/>
              <a:buChar char="•"/>
            </a:pPr>
            <a:r>
              <a:rPr lang="en-NZ" dirty="0"/>
              <a:t>Figure 7.5b shows the difference between the best, first, and next-fit placement algorithms in satisfying a 16-Mbyte allocation request.</a:t>
            </a:r>
          </a:p>
          <a:p>
            <a:pPr>
              <a:buFontTx/>
              <a:buChar char="•"/>
            </a:pPr>
            <a:r>
              <a:rPr lang="en-NZ" b="1" dirty="0"/>
              <a:t>Best-fit </a:t>
            </a:r>
            <a:r>
              <a:rPr lang="en-NZ" dirty="0"/>
              <a:t>will search the entire list of available blocks and make use of the 18-Mbyte block, leaving a 2-Mbyte fragment.</a:t>
            </a:r>
          </a:p>
          <a:p>
            <a:pPr>
              <a:buFontTx/>
              <a:buChar char="•"/>
            </a:pPr>
            <a:r>
              <a:rPr lang="en-NZ" b="1" dirty="0"/>
              <a:t>First-fit </a:t>
            </a:r>
            <a:r>
              <a:rPr lang="en-NZ" dirty="0"/>
              <a:t>results in a 6-Mbyte fragment, and </a:t>
            </a:r>
          </a:p>
          <a:p>
            <a:pPr>
              <a:buFontTx/>
              <a:buChar char="•"/>
            </a:pPr>
            <a:r>
              <a:rPr lang="en-NZ" b="1" dirty="0"/>
              <a:t>Next-fit </a:t>
            </a:r>
            <a:r>
              <a:rPr lang="en-NZ" dirty="0"/>
              <a:t>results in a 20-Mbyte fragment.</a:t>
            </a:r>
            <a:endParaRPr lang="en-US" dirty="0"/>
          </a:p>
        </p:txBody>
      </p:sp>
      <p:sp>
        <p:nvSpPr>
          <p:cNvPr id="4" name="Slide Number Placeholder 3"/>
          <p:cNvSpPr>
            <a:spLocks noGrp="1"/>
          </p:cNvSpPr>
          <p:nvPr>
            <p:ph type="sldNum" sz="quarter" idx="5"/>
          </p:nvPr>
        </p:nvSpPr>
        <p:spPr/>
        <p:txBody>
          <a:bodyPr/>
          <a:lstStyle/>
          <a:p>
            <a:pPr>
              <a:defRPr/>
            </a:pPr>
            <a:fld id="{9906D856-F8B0-45A1-93B3-0A71F8EC6194}" type="slidenum">
              <a:rPr lang="en-US" smtClean="0"/>
              <a:pPr>
                <a:defRPr/>
              </a:pPr>
              <a:t>22</a:t>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Slide Image Placeholder 1"/>
          <p:cNvSpPr>
            <a:spLocks noGrp="1" noRot="1" noChangeAspect="1" noTextEdit="1"/>
          </p:cNvSpPr>
          <p:nvPr>
            <p:ph type="sldImg"/>
          </p:nvPr>
        </p:nvSpPr>
        <p:spPr bwMode="auto">
          <a:noFill/>
          <a:ln>
            <a:solidFill>
              <a:srgbClr val="000000"/>
            </a:solidFill>
            <a:miter lim="800000"/>
            <a:headEnd/>
            <a:tailEnd/>
          </a:ln>
        </p:spPr>
      </p:sp>
      <p:sp>
        <p:nvSpPr>
          <p:cNvPr id="18435" name="Notes Placeholder 2"/>
          <p:cNvSpPr>
            <a:spLocks noGrp="1"/>
          </p:cNvSpPr>
          <p:nvPr>
            <p:ph type="body" idx="1"/>
          </p:nvPr>
        </p:nvSpPr>
        <p:spPr bwMode="auto">
          <a:noFill/>
        </p:spPr>
        <p:txBody>
          <a:bodyPr wrap="square" numCol="1" anchor="t" anchorCtr="0" compatLnSpc="1">
            <a:prstTxWarp prst="textNoShape">
              <a:avLst/>
            </a:prstTxWarp>
          </a:bodyPr>
          <a:lstStyle/>
          <a:p>
            <a:r>
              <a:rPr lang="en-NZ"/>
              <a:t>Overview of points covered in this chapter</a:t>
            </a:r>
          </a:p>
          <a:p>
            <a:endParaRPr lang="en-NZ"/>
          </a:p>
          <a:p>
            <a:r>
              <a:rPr lang="en-NZ"/>
              <a:t>Point out that memory partitioning isn’t used much except for special cases such as kernel memory management</a:t>
            </a:r>
          </a:p>
          <a:p>
            <a:endParaRPr lang="en-NZ"/>
          </a:p>
          <a:p>
            <a:endParaRPr lang="en-NZ"/>
          </a:p>
        </p:txBody>
      </p:sp>
      <p:sp>
        <p:nvSpPr>
          <p:cNvPr id="18436"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026DE77C-44CF-4D7C-80E2-8F29321F1CAD}" type="slidenum">
              <a:rPr lang="en-US" smtClean="0">
                <a:latin typeface="Arial" pitchFamily="34" charset="0"/>
              </a:rPr>
              <a:pPr/>
              <a:t>23</a:t>
            </a:fld>
            <a:endParaRPr lang="en-US">
              <a:latin typeface="Arial" pitchFamily="34" charset="0"/>
            </a:endParaRPr>
          </a:p>
        </p:txBody>
      </p:sp>
    </p:spTree>
    <p:extLst>
      <p:ext uri="{BB962C8B-B14F-4D97-AF65-F5344CB8AC3E}">
        <p14:creationId xmlns:p14="http://schemas.microsoft.com/office/powerpoint/2010/main" val="357863496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Slide Image Placeholder 1"/>
          <p:cNvSpPr>
            <a:spLocks noGrp="1" noRot="1" noChangeAspect="1" noTextEdit="1"/>
          </p:cNvSpPr>
          <p:nvPr>
            <p:ph type="sldImg"/>
          </p:nvPr>
        </p:nvSpPr>
        <p:spPr bwMode="auto">
          <a:noFill/>
          <a:ln>
            <a:solidFill>
              <a:srgbClr val="000000"/>
            </a:solidFill>
            <a:miter lim="800000"/>
            <a:headEnd/>
            <a:tailEnd/>
          </a:ln>
        </p:spPr>
      </p:sp>
      <p:sp>
        <p:nvSpPr>
          <p:cNvPr id="71683" name="Notes Placeholder 2"/>
          <p:cNvSpPr>
            <a:spLocks noGrp="1"/>
          </p:cNvSpPr>
          <p:nvPr>
            <p:ph type="body" idx="1"/>
          </p:nvPr>
        </p:nvSpPr>
        <p:spPr bwMode="auto">
          <a:noFill/>
        </p:spPr>
        <p:txBody>
          <a:bodyPr wrap="square" numCol="1" anchor="t" anchorCtr="0" compatLnSpc="1">
            <a:prstTxWarp prst="textNoShape">
              <a:avLst/>
            </a:prstTxWarp>
          </a:bodyPr>
          <a:lstStyle/>
          <a:p>
            <a:r>
              <a:rPr lang="en-NZ" dirty="0"/>
              <a:t>In a fixed partitioning scheme limits the number of active processes and may use space inefficiently if there is a poor match between available partition sizes and process sizes.</a:t>
            </a:r>
          </a:p>
          <a:p>
            <a:endParaRPr lang="en-NZ" dirty="0"/>
          </a:p>
          <a:p>
            <a:r>
              <a:rPr lang="en-NZ" dirty="0"/>
              <a:t>A dynamic partitioning scheme is more complex to maintain and includes the overhead of compaction.</a:t>
            </a:r>
          </a:p>
          <a:p>
            <a:endParaRPr lang="en-NZ" dirty="0"/>
          </a:p>
          <a:p>
            <a:r>
              <a:rPr lang="en-NZ" dirty="0"/>
              <a:t>An interesting compromise is the buddy system.</a:t>
            </a:r>
            <a:endParaRPr lang="en-US" dirty="0"/>
          </a:p>
        </p:txBody>
      </p:sp>
      <p:sp>
        <p:nvSpPr>
          <p:cNvPr id="4" name="Slide Number Placeholder 3"/>
          <p:cNvSpPr>
            <a:spLocks noGrp="1"/>
          </p:cNvSpPr>
          <p:nvPr>
            <p:ph type="sldNum" sz="quarter" idx="5"/>
          </p:nvPr>
        </p:nvSpPr>
        <p:spPr/>
        <p:txBody>
          <a:bodyPr/>
          <a:lstStyle/>
          <a:p>
            <a:pPr>
              <a:defRPr/>
            </a:pPr>
            <a:fld id="{84D59CB4-46C2-41BC-8D48-A0B078CA5050}" type="slidenum">
              <a:rPr lang="en-US" smtClean="0"/>
              <a:pPr>
                <a:defRPr/>
              </a:pPr>
              <a:t>24</a:t>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Slide Image Placeholder 1"/>
          <p:cNvSpPr>
            <a:spLocks noGrp="1" noRot="1" noChangeAspect="1" noTextEdit="1"/>
          </p:cNvSpPr>
          <p:nvPr>
            <p:ph type="sldImg"/>
          </p:nvPr>
        </p:nvSpPr>
        <p:spPr bwMode="auto">
          <a:noFill/>
          <a:ln>
            <a:solidFill>
              <a:srgbClr val="000000"/>
            </a:solidFill>
            <a:miter lim="800000"/>
            <a:headEnd/>
            <a:tailEnd/>
          </a:ln>
        </p:spPr>
      </p:sp>
      <p:sp>
        <p:nvSpPr>
          <p:cNvPr id="72707" name="Notes Placeholder 2"/>
          <p:cNvSpPr>
            <a:spLocks noGrp="1"/>
          </p:cNvSpPr>
          <p:nvPr>
            <p:ph type="body" idx="1"/>
          </p:nvPr>
        </p:nvSpPr>
        <p:spPr bwMode="auto">
          <a:noFill/>
        </p:spPr>
        <p:txBody>
          <a:bodyPr wrap="square" numCol="1" anchor="t" anchorCtr="0" compatLnSpc="1">
            <a:prstTxWarp prst="textNoShape">
              <a:avLst/>
            </a:prstTxWarp>
          </a:bodyPr>
          <a:lstStyle/>
          <a:p>
            <a:r>
              <a:rPr lang="en-NZ" dirty="0"/>
              <a:t>Figure 7.6 gives an example using a 1-Mbyte initial block.</a:t>
            </a:r>
          </a:p>
          <a:p>
            <a:endParaRPr lang="en-NZ" dirty="0"/>
          </a:p>
          <a:p>
            <a:r>
              <a:rPr lang="en-NZ" dirty="0"/>
              <a:t>The first </a:t>
            </a:r>
            <a:r>
              <a:rPr lang="en-NZ" dirty="0" err="1"/>
              <a:t>request,A</a:t>
            </a:r>
            <a:r>
              <a:rPr lang="en-NZ" dirty="0"/>
              <a:t>, is for 100 Kbytes, for which a 128K block is needed.</a:t>
            </a:r>
          </a:p>
          <a:p>
            <a:endParaRPr lang="en-NZ" dirty="0"/>
          </a:p>
          <a:p>
            <a:pPr>
              <a:buFontTx/>
              <a:buChar char="•"/>
            </a:pPr>
            <a:r>
              <a:rPr lang="en-NZ" dirty="0"/>
              <a:t>The initial block is divided into two 512K buddies.</a:t>
            </a:r>
          </a:p>
          <a:p>
            <a:pPr>
              <a:buFontTx/>
              <a:buChar char="•"/>
            </a:pPr>
            <a:r>
              <a:rPr lang="en-NZ" dirty="0"/>
              <a:t>The first of these is divided into two 256K buddies, </a:t>
            </a:r>
          </a:p>
          <a:p>
            <a:pPr>
              <a:buFontTx/>
              <a:buChar char="•"/>
            </a:pPr>
            <a:r>
              <a:rPr lang="en-NZ" dirty="0"/>
              <a:t>and the first of these is divided into two 128K buddies,</a:t>
            </a:r>
          </a:p>
          <a:p>
            <a:pPr>
              <a:buFontTx/>
              <a:buChar char="•"/>
            </a:pPr>
            <a:r>
              <a:rPr lang="en-NZ" dirty="0"/>
              <a:t> one of which is allocated to A.</a:t>
            </a:r>
          </a:p>
          <a:p>
            <a:pPr>
              <a:buFontTx/>
              <a:buChar char="•"/>
            </a:pPr>
            <a:r>
              <a:rPr lang="en-NZ" dirty="0"/>
              <a:t>The next </a:t>
            </a:r>
            <a:r>
              <a:rPr lang="en-NZ" dirty="0" err="1"/>
              <a:t>request,B</a:t>
            </a:r>
            <a:r>
              <a:rPr lang="en-NZ" dirty="0"/>
              <a:t>, requires a 256K block. Such a block is already available and is allocated. </a:t>
            </a:r>
          </a:p>
          <a:p>
            <a:pPr>
              <a:buFontTx/>
              <a:buChar char="•"/>
            </a:pPr>
            <a:r>
              <a:rPr lang="en-NZ" dirty="0"/>
              <a:t>The process continues with splitting and coalescing occurring as needed.</a:t>
            </a:r>
          </a:p>
          <a:p>
            <a:pPr>
              <a:buFontTx/>
              <a:buChar char="•"/>
            </a:pPr>
            <a:r>
              <a:rPr lang="en-NZ" dirty="0"/>
              <a:t>Note that when E is </a:t>
            </a:r>
            <a:r>
              <a:rPr lang="en-NZ" dirty="0" err="1"/>
              <a:t>released,two</a:t>
            </a:r>
            <a:r>
              <a:rPr lang="en-NZ" dirty="0"/>
              <a:t> 128K buddies are coalesced into a 256K block, which is immediately coalesced with its buddy</a:t>
            </a:r>
            <a:endParaRPr lang="en-US" dirty="0"/>
          </a:p>
        </p:txBody>
      </p:sp>
      <p:sp>
        <p:nvSpPr>
          <p:cNvPr id="4" name="Slide Number Placeholder 3"/>
          <p:cNvSpPr>
            <a:spLocks noGrp="1"/>
          </p:cNvSpPr>
          <p:nvPr>
            <p:ph type="sldNum" sz="quarter" idx="5"/>
          </p:nvPr>
        </p:nvSpPr>
        <p:spPr/>
        <p:txBody>
          <a:bodyPr/>
          <a:lstStyle/>
          <a:p>
            <a:pPr>
              <a:defRPr/>
            </a:pPr>
            <a:fld id="{D54977EB-B2CC-4C99-904F-BC3ECF48ADF5}" type="slidenum">
              <a:rPr lang="en-US" smtClean="0"/>
              <a:pPr>
                <a:defRPr/>
              </a:pPr>
              <a:t>25</a:t>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Slide Image Placeholder 1"/>
          <p:cNvSpPr>
            <a:spLocks noGrp="1" noRot="1" noChangeAspect="1" noTextEdit="1"/>
          </p:cNvSpPr>
          <p:nvPr>
            <p:ph type="sldImg"/>
          </p:nvPr>
        </p:nvSpPr>
        <p:spPr bwMode="auto">
          <a:noFill/>
          <a:ln>
            <a:solidFill>
              <a:srgbClr val="000000"/>
            </a:solidFill>
            <a:miter lim="800000"/>
            <a:headEnd/>
            <a:tailEnd/>
          </a:ln>
        </p:spPr>
      </p:sp>
      <p:sp>
        <p:nvSpPr>
          <p:cNvPr id="74755" name="Notes Placeholder 2"/>
          <p:cNvSpPr>
            <a:spLocks noGrp="1"/>
          </p:cNvSpPr>
          <p:nvPr>
            <p:ph type="body" idx="1"/>
          </p:nvPr>
        </p:nvSpPr>
        <p:spPr bwMode="auto">
          <a:noFill/>
        </p:spPr>
        <p:txBody>
          <a:bodyPr wrap="square" numCol="1" anchor="t" anchorCtr="0" compatLnSpc="1">
            <a:prstTxWarp prst="textNoShape">
              <a:avLst/>
            </a:prstTxWarp>
          </a:bodyPr>
          <a:lstStyle/>
          <a:p>
            <a:r>
              <a:rPr lang="en-NZ" dirty="0"/>
              <a:t>Figure 7.7 shows a binary tree representation of the buddy allocation immediately after the Release B request.</a:t>
            </a:r>
          </a:p>
          <a:p>
            <a:endParaRPr lang="en-NZ" dirty="0"/>
          </a:p>
          <a:p>
            <a:r>
              <a:rPr lang="en-NZ" dirty="0"/>
              <a:t>The leaf nodes represent the current partitioning the memory. </a:t>
            </a:r>
          </a:p>
          <a:p>
            <a:endParaRPr lang="en-NZ" dirty="0"/>
          </a:p>
          <a:p>
            <a:r>
              <a:rPr lang="en-NZ" dirty="0"/>
              <a:t>If two buddies are leaf nodes, </a:t>
            </a:r>
            <a:r>
              <a:rPr lang="en-NZ" b="1" dirty="0"/>
              <a:t>then at least one must be allocated;</a:t>
            </a:r>
          </a:p>
          <a:p>
            <a:pPr lvl="1"/>
            <a:r>
              <a:rPr lang="en-NZ" dirty="0"/>
              <a:t>otherwise they would be coalesced into a larger block.</a:t>
            </a:r>
          </a:p>
          <a:p>
            <a:endParaRPr lang="en-NZ" dirty="0"/>
          </a:p>
          <a:p>
            <a:pPr>
              <a:buFontTx/>
              <a:buChar char="•"/>
            </a:pPr>
            <a:r>
              <a:rPr lang="en-NZ" dirty="0"/>
              <a:t>The buddy system is a reasonable compromise to overcome the disadvantages of both the fixed and variable partitioning schemes, </a:t>
            </a:r>
          </a:p>
          <a:p>
            <a:pPr>
              <a:buFontTx/>
              <a:buChar char="•"/>
            </a:pPr>
            <a:r>
              <a:rPr lang="en-NZ" dirty="0"/>
              <a:t> But in contemporary operating systems, virtual memory based on paging and segmentation is superior. </a:t>
            </a:r>
          </a:p>
          <a:p>
            <a:pPr>
              <a:buFontTx/>
              <a:buChar char="•"/>
            </a:pPr>
            <a:r>
              <a:rPr lang="en-NZ" dirty="0"/>
              <a:t>However, the buddy system has found application in parallel systems as an efficient means of allocation and release for parallel programs. A modified form of the buddy system is used for UNIX kernel memory allocation (described in Chapter 8).</a:t>
            </a:r>
            <a:endParaRPr lang="en-US" dirty="0"/>
          </a:p>
        </p:txBody>
      </p:sp>
      <p:sp>
        <p:nvSpPr>
          <p:cNvPr id="4" name="Slide Number Placeholder 3"/>
          <p:cNvSpPr>
            <a:spLocks noGrp="1"/>
          </p:cNvSpPr>
          <p:nvPr>
            <p:ph type="sldNum" sz="quarter" idx="5"/>
          </p:nvPr>
        </p:nvSpPr>
        <p:spPr/>
        <p:txBody>
          <a:bodyPr/>
          <a:lstStyle/>
          <a:p>
            <a:pPr>
              <a:defRPr/>
            </a:pPr>
            <a:fld id="{81980346-381B-4718-A4FC-45C33327471F}" type="slidenum">
              <a:rPr lang="en-US" smtClean="0"/>
              <a:pPr>
                <a:defRPr/>
              </a:pPr>
              <a:t>27</a:t>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Slide Image Placeholder 1"/>
          <p:cNvSpPr>
            <a:spLocks noGrp="1" noRot="1" noChangeAspect="1" noTextEdit="1"/>
          </p:cNvSpPr>
          <p:nvPr>
            <p:ph type="sldImg"/>
          </p:nvPr>
        </p:nvSpPr>
        <p:spPr bwMode="auto">
          <a:noFill/>
          <a:ln>
            <a:solidFill>
              <a:srgbClr val="000000"/>
            </a:solidFill>
            <a:miter lim="800000"/>
            <a:headEnd/>
            <a:tailEnd/>
          </a:ln>
        </p:spPr>
      </p:sp>
      <p:sp>
        <p:nvSpPr>
          <p:cNvPr id="18435" name="Notes Placeholder 2"/>
          <p:cNvSpPr>
            <a:spLocks noGrp="1"/>
          </p:cNvSpPr>
          <p:nvPr>
            <p:ph type="body" idx="1"/>
          </p:nvPr>
        </p:nvSpPr>
        <p:spPr bwMode="auto">
          <a:noFill/>
        </p:spPr>
        <p:txBody>
          <a:bodyPr wrap="square" numCol="1" anchor="t" anchorCtr="0" compatLnSpc="1">
            <a:prstTxWarp prst="textNoShape">
              <a:avLst/>
            </a:prstTxWarp>
          </a:bodyPr>
          <a:lstStyle/>
          <a:p>
            <a:r>
              <a:rPr lang="en-NZ"/>
              <a:t>Overview of points covered in this chapter</a:t>
            </a:r>
          </a:p>
          <a:p>
            <a:endParaRPr lang="en-NZ"/>
          </a:p>
          <a:p>
            <a:r>
              <a:rPr lang="en-NZ"/>
              <a:t>Point out that memory partitioning isn’t used much except for special cases such as kernel memory management</a:t>
            </a:r>
          </a:p>
          <a:p>
            <a:endParaRPr lang="en-NZ"/>
          </a:p>
          <a:p>
            <a:endParaRPr lang="en-NZ"/>
          </a:p>
        </p:txBody>
      </p:sp>
      <p:sp>
        <p:nvSpPr>
          <p:cNvPr id="18436"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026DE77C-44CF-4D7C-80E2-8F29321F1CAD}" type="slidenum">
              <a:rPr lang="en-US" smtClean="0">
                <a:latin typeface="Arial" pitchFamily="34" charset="0"/>
              </a:rPr>
              <a:pPr/>
              <a:t>29</a:t>
            </a:fld>
            <a:endParaRPr lang="en-US">
              <a:latin typeface="Arial" pitchFamily="34" charset="0"/>
            </a:endParaRPr>
          </a:p>
        </p:txBody>
      </p:sp>
    </p:spTree>
    <p:extLst>
      <p:ext uri="{BB962C8B-B14F-4D97-AF65-F5344CB8AC3E}">
        <p14:creationId xmlns:p14="http://schemas.microsoft.com/office/powerpoint/2010/main" val="8374127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Slide Image Placeholder 1"/>
          <p:cNvSpPr>
            <a:spLocks noGrp="1" noRot="1" noChangeAspect="1" noTextEdit="1"/>
          </p:cNvSpPr>
          <p:nvPr>
            <p:ph type="sldImg"/>
          </p:nvPr>
        </p:nvSpPr>
        <p:spPr bwMode="auto">
          <a:noFill/>
          <a:ln>
            <a:solidFill>
              <a:srgbClr val="000000"/>
            </a:solidFill>
            <a:miter lim="800000"/>
            <a:headEnd/>
            <a:tailEnd/>
          </a:ln>
        </p:spPr>
      </p:sp>
      <p:sp>
        <p:nvSpPr>
          <p:cNvPr id="80899" name="Notes Placeholder 2"/>
          <p:cNvSpPr>
            <a:spLocks noGrp="1"/>
          </p:cNvSpPr>
          <p:nvPr>
            <p:ph type="body" idx="1"/>
          </p:nvPr>
        </p:nvSpPr>
        <p:spPr bwMode="auto">
          <a:noFill/>
        </p:spPr>
        <p:txBody>
          <a:bodyPr wrap="square" numCol="1" anchor="t" anchorCtr="0" compatLnSpc="1">
            <a:prstTxWarp prst="textNoShape">
              <a:avLst/>
            </a:prstTxWarp>
          </a:bodyPr>
          <a:lstStyle/>
          <a:p>
            <a:endParaRPr lang="en-US"/>
          </a:p>
        </p:txBody>
      </p:sp>
      <p:sp>
        <p:nvSpPr>
          <p:cNvPr id="4" name="Slide Number Placeholder 3"/>
          <p:cNvSpPr>
            <a:spLocks noGrp="1"/>
          </p:cNvSpPr>
          <p:nvPr>
            <p:ph type="sldNum" sz="quarter" idx="5"/>
          </p:nvPr>
        </p:nvSpPr>
        <p:spPr/>
        <p:txBody>
          <a:bodyPr/>
          <a:lstStyle/>
          <a:p>
            <a:pPr>
              <a:defRPr/>
            </a:pPr>
            <a:fld id="{9EB911E4-5DF9-4529-9CFF-68CC97C42073}" type="slidenum">
              <a:rPr lang="en-US" smtClean="0"/>
              <a:pPr>
                <a:defRPr/>
              </a:pPr>
              <a:t>30</a:t>
            </a:fld>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Slide Image Placeholder 1"/>
          <p:cNvSpPr>
            <a:spLocks noGrp="1" noRot="1" noChangeAspect="1" noTextEdit="1"/>
          </p:cNvSpPr>
          <p:nvPr>
            <p:ph type="sldImg"/>
          </p:nvPr>
        </p:nvSpPr>
        <p:spPr bwMode="auto">
          <a:noFill/>
          <a:ln>
            <a:solidFill>
              <a:srgbClr val="000000"/>
            </a:solidFill>
            <a:miter lim="800000"/>
            <a:headEnd/>
            <a:tailEnd/>
          </a:ln>
        </p:spPr>
      </p:sp>
      <p:sp>
        <p:nvSpPr>
          <p:cNvPr id="3" name="Notes Placeholder 2"/>
          <p:cNvSpPr>
            <a:spLocks noGrp="1"/>
          </p:cNvSpPr>
          <p:nvPr>
            <p:ph type="body" idx="1"/>
          </p:nvPr>
        </p:nvSpPr>
        <p:spPr/>
        <p:txBody>
          <a:bodyPr/>
          <a:lstStyle/>
          <a:p>
            <a:pPr marL="228600" indent="-228600">
              <a:buFont typeface="+mj-lt"/>
              <a:buNone/>
              <a:defRPr/>
            </a:pPr>
            <a:r>
              <a:rPr lang="en-NZ" dirty="0"/>
              <a:t>Animated slide</a:t>
            </a:r>
          </a:p>
          <a:p>
            <a:pPr marL="228600" indent="-228600">
              <a:buFont typeface="+mj-lt"/>
              <a:buNone/>
              <a:defRPr/>
            </a:pPr>
            <a:endParaRPr lang="en-NZ" dirty="0"/>
          </a:p>
          <a:p>
            <a:pPr marL="228600" indent="-228600">
              <a:buFont typeface="+mj-lt"/>
              <a:buAutoNum type="arabicPeriod"/>
              <a:defRPr/>
            </a:pPr>
            <a:r>
              <a:rPr lang="en-NZ" dirty="0"/>
              <a:t>System with a number of frames allocated</a:t>
            </a:r>
          </a:p>
          <a:p>
            <a:pPr marL="228600" indent="-228600">
              <a:buFont typeface="+mj-lt"/>
              <a:buAutoNum type="arabicPeriod"/>
              <a:defRPr/>
            </a:pPr>
            <a:r>
              <a:rPr lang="en-NZ" dirty="0"/>
              <a:t>Process A, stored on disk, consists of four pages. When it comes time to load this process, the operating system finds four free frames and loads the four pages of process A into the four frames.</a:t>
            </a:r>
          </a:p>
          <a:p>
            <a:pPr marL="228600" indent="-228600">
              <a:buFont typeface="+mj-lt"/>
              <a:buAutoNum type="arabicPeriod"/>
              <a:defRPr/>
            </a:pPr>
            <a:r>
              <a:rPr lang="en-NZ" dirty="0"/>
              <a:t>Process B, consisting of three pages, and process C, consisting of four pages, are subsequently loaded.</a:t>
            </a:r>
          </a:p>
          <a:p>
            <a:pPr marL="228600" indent="-228600">
              <a:buFont typeface="+mj-lt"/>
              <a:buAutoNum type="arabicPeriod"/>
              <a:defRPr/>
            </a:pPr>
            <a:r>
              <a:rPr lang="en-NZ" dirty="0"/>
              <a:t>Then process B is suspended and is swapped out of main memory. </a:t>
            </a:r>
          </a:p>
          <a:p>
            <a:pPr marL="228600" indent="-228600">
              <a:buFont typeface="+mj-lt"/>
              <a:buAutoNum type="arabicPeriod"/>
              <a:defRPr/>
            </a:pPr>
            <a:r>
              <a:rPr lang="en-NZ" dirty="0"/>
              <a:t>Later, all of the processes in main memory are blocked, and the operating system needs to bring in a new process, process D, which consists of five pages. The Operating System loads the pages into the available frames and updates the </a:t>
            </a:r>
            <a:r>
              <a:rPr lang="en-NZ" b="1" i="1" dirty="0"/>
              <a:t>page table</a:t>
            </a:r>
          </a:p>
          <a:p>
            <a:pPr>
              <a:defRPr/>
            </a:pPr>
            <a:endParaRPr lang="en-NZ" dirty="0"/>
          </a:p>
        </p:txBody>
      </p:sp>
      <p:sp>
        <p:nvSpPr>
          <p:cNvPr id="4" name="Slide Number Placeholder 3"/>
          <p:cNvSpPr>
            <a:spLocks noGrp="1"/>
          </p:cNvSpPr>
          <p:nvPr>
            <p:ph type="sldNum" sz="quarter" idx="5"/>
          </p:nvPr>
        </p:nvSpPr>
        <p:spPr/>
        <p:txBody>
          <a:bodyPr/>
          <a:lstStyle/>
          <a:p>
            <a:pPr>
              <a:defRPr/>
            </a:pPr>
            <a:fld id="{559CB0AE-558C-48E3-988F-A6F97161218A}" type="slidenum">
              <a:rPr lang="en-US" smtClean="0"/>
              <a:pPr>
                <a:defRPr/>
              </a:pPr>
              <a:t>33</a:t>
            </a:fld>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Slide Image Placeholder 1"/>
          <p:cNvSpPr>
            <a:spLocks noGrp="1" noRot="1" noChangeAspect="1" noTextEdit="1"/>
          </p:cNvSpPr>
          <p:nvPr>
            <p:ph type="sldImg"/>
          </p:nvPr>
        </p:nvSpPr>
        <p:spPr bwMode="auto">
          <a:noFill/>
          <a:ln>
            <a:solidFill>
              <a:srgbClr val="000000"/>
            </a:solidFill>
            <a:miter lim="800000"/>
            <a:headEnd/>
            <a:tailEnd/>
          </a:ln>
        </p:spPr>
      </p:sp>
      <p:sp>
        <p:nvSpPr>
          <p:cNvPr id="83971" name="Notes Placeholder 2"/>
          <p:cNvSpPr>
            <a:spLocks noGrp="1"/>
          </p:cNvSpPr>
          <p:nvPr>
            <p:ph type="body" idx="1"/>
          </p:nvPr>
        </p:nvSpPr>
        <p:spPr bwMode="auto">
          <a:noFill/>
        </p:spPr>
        <p:txBody>
          <a:bodyPr wrap="square" numCol="1" anchor="t" anchorCtr="0" compatLnSpc="1">
            <a:prstTxWarp prst="textNoShape">
              <a:avLst/>
            </a:prstTxWarp>
          </a:bodyPr>
          <a:lstStyle/>
          <a:p>
            <a:endParaRPr lang="en-US"/>
          </a:p>
        </p:txBody>
      </p:sp>
      <p:sp>
        <p:nvSpPr>
          <p:cNvPr id="4" name="Slide Number Placeholder 3"/>
          <p:cNvSpPr>
            <a:spLocks noGrp="1"/>
          </p:cNvSpPr>
          <p:nvPr>
            <p:ph type="sldNum" sz="quarter" idx="5"/>
          </p:nvPr>
        </p:nvSpPr>
        <p:spPr/>
        <p:txBody>
          <a:bodyPr/>
          <a:lstStyle/>
          <a:p>
            <a:pPr>
              <a:defRPr/>
            </a:pPr>
            <a:fld id="{7B9A1843-2BE7-420E-A3F6-A9DD739CF198}" type="slidenum">
              <a:rPr lang="en-US" smtClean="0"/>
              <a:pPr>
                <a:defRPr/>
              </a:pPr>
              <a:t>34</a:t>
            </a:fld>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Slide Image Placeholder 1"/>
          <p:cNvSpPr>
            <a:spLocks noGrp="1" noRot="1" noChangeAspect="1" noTextEdit="1"/>
          </p:cNvSpPr>
          <p:nvPr>
            <p:ph type="sldImg"/>
          </p:nvPr>
        </p:nvSpPr>
        <p:spPr bwMode="auto">
          <a:noFill/>
          <a:ln>
            <a:solidFill>
              <a:srgbClr val="000000"/>
            </a:solidFill>
            <a:miter lim="800000"/>
            <a:headEnd/>
            <a:tailEnd/>
          </a:ln>
        </p:spPr>
      </p:sp>
      <p:sp>
        <p:nvSpPr>
          <p:cNvPr id="18435" name="Notes Placeholder 2"/>
          <p:cNvSpPr>
            <a:spLocks noGrp="1"/>
          </p:cNvSpPr>
          <p:nvPr>
            <p:ph type="body" idx="1"/>
          </p:nvPr>
        </p:nvSpPr>
        <p:spPr bwMode="auto">
          <a:noFill/>
        </p:spPr>
        <p:txBody>
          <a:bodyPr wrap="square" numCol="1" anchor="t" anchorCtr="0" compatLnSpc="1">
            <a:prstTxWarp prst="textNoShape">
              <a:avLst/>
            </a:prstTxWarp>
          </a:bodyPr>
          <a:lstStyle/>
          <a:p>
            <a:r>
              <a:rPr lang="en-NZ"/>
              <a:t>Overview of points covered in this chapter</a:t>
            </a:r>
          </a:p>
          <a:p>
            <a:endParaRPr lang="en-NZ"/>
          </a:p>
          <a:p>
            <a:r>
              <a:rPr lang="en-NZ"/>
              <a:t>Point out that memory partitioning isn’t used much except for special cases such as kernel memory management</a:t>
            </a:r>
          </a:p>
          <a:p>
            <a:endParaRPr lang="en-NZ"/>
          </a:p>
          <a:p>
            <a:endParaRPr lang="en-NZ"/>
          </a:p>
        </p:txBody>
      </p:sp>
      <p:sp>
        <p:nvSpPr>
          <p:cNvPr id="18436"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026DE77C-44CF-4D7C-80E2-8F29321F1CAD}" type="slidenum">
              <a:rPr lang="en-US" smtClean="0">
                <a:latin typeface="Arial" pitchFamily="34" charset="0"/>
              </a:rPr>
              <a:pPr/>
              <a:t>41</a:t>
            </a:fld>
            <a:endParaRPr lang="en-US">
              <a:latin typeface="Arial" pitchFamily="34" charset="0"/>
            </a:endParaRPr>
          </a:p>
        </p:txBody>
      </p:sp>
    </p:spTree>
    <p:extLst>
      <p:ext uri="{BB962C8B-B14F-4D97-AF65-F5344CB8AC3E}">
        <p14:creationId xmlns:p14="http://schemas.microsoft.com/office/powerpoint/2010/main" val="222062042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Slide Image Placeholder 1"/>
          <p:cNvSpPr>
            <a:spLocks noGrp="1" noRot="1" noChangeAspect="1" noTextEdit="1"/>
          </p:cNvSpPr>
          <p:nvPr>
            <p:ph type="sldImg"/>
          </p:nvPr>
        </p:nvSpPr>
        <p:spPr bwMode="auto">
          <a:noFill/>
          <a:ln>
            <a:solidFill>
              <a:srgbClr val="000000"/>
            </a:solidFill>
            <a:miter lim="800000"/>
            <a:headEnd/>
            <a:tailEnd/>
          </a:ln>
        </p:spPr>
      </p:sp>
      <p:sp>
        <p:nvSpPr>
          <p:cNvPr id="112643" name="Notes Placeholder 2"/>
          <p:cNvSpPr>
            <a:spLocks noGrp="1"/>
          </p:cNvSpPr>
          <p:nvPr>
            <p:ph type="body" idx="1"/>
          </p:nvPr>
        </p:nvSpPr>
        <p:spPr bwMode="auto">
          <a:noFill/>
        </p:spPr>
        <p:txBody>
          <a:bodyPr wrap="square" numCol="1" anchor="t" anchorCtr="0" compatLnSpc="1">
            <a:prstTxWarp prst="textNoShape">
              <a:avLst/>
            </a:prstTxWarp>
          </a:bodyPr>
          <a:lstStyle/>
          <a:p>
            <a:r>
              <a:rPr lang="en-US"/>
              <a:t>Refer to table 8.2 in the book for a comparison of the </a:t>
            </a:r>
            <a:r>
              <a:rPr lang="en-NZ"/>
              <a:t>characteristics of paging and segmentation, with and without the use of virtual</a:t>
            </a:r>
          </a:p>
          <a:p>
            <a:r>
              <a:rPr lang="en-NZ"/>
              <a:t>memory.</a:t>
            </a:r>
            <a:endParaRPr lang="en-US"/>
          </a:p>
        </p:txBody>
      </p:sp>
      <p:sp>
        <p:nvSpPr>
          <p:cNvPr id="4" name="Slide Number Placeholder 3"/>
          <p:cNvSpPr>
            <a:spLocks noGrp="1"/>
          </p:cNvSpPr>
          <p:nvPr>
            <p:ph type="sldNum" sz="quarter" idx="5"/>
          </p:nvPr>
        </p:nvSpPr>
        <p:spPr/>
        <p:txBody>
          <a:bodyPr/>
          <a:lstStyle/>
          <a:p>
            <a:pPr>
              <a:defRPr/>
            </a:pPr>
            <a:fld id="{66A13A44-F24E-4B81-B6DD-0AF688FAF702}" type="slidenum">
              <a:rPr lang="en-US" smtClean="0"/>
              <a:pPr>
                <a:defRPr/>
              </a:pPr>
              <a:t>45</a:t>
            </a:fld>
            <a:endParaRPr lang="en-US" dirty="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Slide Image Placeholder 1"/>
          <p:cNvSpPr>
            <a:spLocks noGrp="1" noRot="1" noChangeAspect="1" noTextEdit="1"/>
          </p:cNvSpPr>
          <p:nvPr>
            <p:ph type="sldImg"/>
          </p:nvPr>
        </p:nvSpPr>
        <p:spPr bwMode="auto">
          <a:noFill/>
          <a:ln>
            <a:solidFill>
              <a:srgbClr val="000000"/>
            </a:solidFill>
            <a:miter lim="800000"/>
            <a:headEnd/>
            <a:tailEnd/>
          </a:ln>
        </p:spPr>
      </p:sp>
      <p:sp>
        <p:nvSpPr>
          <p:cNvPr id="114691" name="Notes Placeholder 2"/>
          <p:cNvSpPr>
            <a:spLocks noGrp="1"/>
          </p:cNvSpPr>
          <p:nvPr>
            <p:ph type="body" idx="1"/>
          </p:nvPr>
        </p:nvSpPr>
        <p:spPr bwMode="auto">
          <a:noFill/>
        </p:spPr>
        <p:txBody>
          <a:bodyPr wrap="square" numCol="1" anchor="t" anchorCtr="0" compatLnSpc="1">
            <a:prstTxWarp prst="textNoShape">
              <a:avLst/>
            </a:prstTxWarp>
          </a:bodyPr>
          <a:lstStyle/>
          <a:p>
            <a:r>
              <a:rPr lang="en-NZ"/>
              <a:t>The principle of locality states that program and data references within a process tend to cluster.</a:t>
            </a:r>
          </a:p>
          <a:p>
            <a:pPr lvl="1"/>
            <a:r>
              <a:rPr lang="en-NZ"/>
              <a:t>Hence, the assumption that only a few pieces of a process will be needed over a short period of time is valid.</a:t>
            </a:r>
          </a:p>
          <a:p>
            <a:endParaRPr lang="en-NZ"/>
          </a:p>
          <a:p>
            <a:r>
              <a:rPr lang="en-NZ"/>
              <a:t>Also, it should be possible to make intelligent guesses about which pieces of a process will be needed in the near future, which avoids</a:t>
            </a:r>
          </a:p>
          <a:p>
            <a:r>
              <a:rPr lang="en-NZ"/>
              <a:t>thrashing.</a:t>
            </a:r>
          </a:p>
          <a:p>
            <a:endParaRPr lang="en-NZ"/>
          </a:p>
          <a:p>
            <a:r>
              <a:rPr lang="en-NZ"/>
              <a:t>One way to confirm the principle of locality is to look at the performance of processes in a virtual memory environment. </a:t>
            </a:r>
          </a:p>
        </p:txBody>
      </p:sp>
      <p:sp>
        <p:nvSpPr>
          <p:cNvPr id="4" name="Slide Number Placeholder 3"/>
          <p:cNvSpPr>
            <a:spLocks noGrp="1"/>
          </p:cNvSpPr>
          <p:nvPr>
            <p:ph type="sldNum" sz="quarter" idx="5"/>
          </p:nvPr>
        </p:nvSpPr>
        <p:spPr/>
        <p:txBody>
          <a:bodyPr/>
          <a:lstStyle/>
          <a:p>
            <a:pPr>
              <a:defRPr/>
            </a:pPr>
            <a:fld id="{D1E16397-BD84-4FF6-B11C-2783341A67C3}" type="slidenum">
              <a:rPr lang="en-US" smtClean="0"/>
              <a:pPr>
                <a:defRPr/>
              </a:pPr>
              <a:t>48</a:t>
            </a:fld>
            <a:endParaRPr lang="en-US" dirty="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Slide Image Placeholder 1"/>
          <p:cNvSpPr>
            <a:spLocks noGrp="1" noRot="1" noChangeAspect="1" noTextEdit="1"/>
          </p:cNvSpPr>
          <p:nvPr>
            <p:ph type="sldImg"/>
          </p:nvPr>
        </p:nvSpPr>
        <p:spPr bwMode="auto">
          <a:noFill/>
          <a:ln>
            <a:solidFill>
              <a:srgbClr val="000000"/>
            </a:solidFill>
            <a:miter lim="800000"/>
            <a:headEnd/>
            <a:tailEnd/>
          </a:ln>
        </p:spPr>
      </p:sp>
      <p:sp>
        <p:nvSpPr>
          <p:cNvPr id="115715" name="Notes Placeholder 2"/>
          <p:cNvSpPr>
            <a:spLocks noGrp="1"/>
          </p:cNvSpPr>
          <p:nvPr>
            <p:ph type="body" idx="1"/>
          </p:nvPr>
        </p:nvSpPr>
        <p:spPr bwMode="auto">
          <a:noFill/>
        </p:spPr>
        <p:txBody>
          <a:bodyPr wrap="square" numCol="1" anchor="t" anchorCtr="0" compatLnSpc="1">
            <a:prstTxWarp prst="textNoShape">
              <a:avLst/>
            </a:prstTxWarp>
          </a:bodyPr>
          <a:lstStyle/>
          <a:p>
            <a:r>
              <a:rPr lang="en-NZ"/>
              <a:t>Give a brief description of this figure to the students – the detail probably not be clear in the presentation, but it is the overall clustering that is important and interesting</a:t>
            </a:r>
          </a:p>
          <a:p>
            <a:endParaRPr lang="en-NZ" dirty="0"/>
          </a:p>
          <a:p>
            <a:r>
              <a:rPr lang="en-NZ" dirty="0"/>
              <a:t>Figure 8.1 is a rather famous diagram that dramatically illustrates the principle of locality [HATF72]. </a:t>
            </a:r>
          </a:p>
          <a:p>
            <a:endParaRPr lang="en-NZ" dirty="0"/>
          </a:p>
          <a:p>
            <a:endParaRPr lang="en-NZ" dirty="0"/>
          </a:p>
          <a:p>
            <a:r>
              <a:rPr lang="en-NZ" dirty="0"/>
              <a:t>Note that during the lifetime of the process, references are confined to a subset of pages.</a:t>
            </a:r>
            <a:endParaRPr lang="en-US" dirty="0"/>
          </a:p>
          <a:p>
            <a:endParaRPr lang="en-NZ" dirty="0"/>
          </a:p>
        </p:txBody>
      </p:sp>
      <p:sp>
        <p:nvSpPr>
          <p:cNvPr id="4" name="Slide Number Placeholder 3"/>
          <p:cNvSpPr>
            <a:spLocks noGrp="1"/>
          </p:cNvSpPr>
          <p:nvPr>
            <p:ph type="sldNum" sz="quarter" idx="5"/>
          </p:nvPr>
        </p:nvSpPr>
        <p:spPr/>
        <p:txBody>
          <a:bodyPr/>
          <a:lstStyle/>
          <a:p>
            <a:pPr>
              <a:defRPr/>
            </a:pPr>
            <a:fld id="{64D64913-B736-4100-8DB8-2468F477714F}" type="slidenum">
              <a:rPr lang="en-US" smtClean="0"/>
              <a:pPr>
                <a:defRPr/>
              </a:pPr>
              <a:t>49</a:t>
            </a:fld>
            <a:endParaRPr lang="en-US" dirty="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Slide Image Placeholder 1"/>
          <p:cNvSpPr>
            <a:spLocks noGrp="1" noRot="1" noChangeAspect="1" noTextEdit="1"/>
          </p:cNvSpPr>
          <p:nvPr>
            <p:ph type="sldImg"/>
          </p:nvPr>
        </p:nvSpPr>
        <p:spPr bwMode="auto">
          <a:noFill/>
          <a:ln>
            <a:solidFill>
              <a:srgbClr val="000000"/>
            </a:solidFill>
            <a:miter lim="800000"/>
            <a:headEnd/>
            <a:tailEnd/>
          </a:ln>
        </p:spPr>
      </p:sp>
      <p:sp>
        <p:nvSpPr>
          <p:cNvPr id="18435" name="Notes Placeholder 2"/>
          <p:cNvSpPr>
            <a:spLocks noGrp="1"/>
          </p:cNvSpPr>
          <p:nvPr>
            <p:ph type="body" idx="1"/>
          </p:nvPr>
        </p:nvSpPr>
        <p:spPr bwMode="auto">
          <a:noFill/>
        </p:spPr>
        <p:txBody>
          <a:bodyPr wrap="square" numCol="1" anchor="t" anchorCtr="0" compatLnSpc="1">
            <a:prstTxWarp prst="textNoShape">
              <a:avLst/>
            </a:prstTxWarp>
          </a:bodyPr>
          <a:lstStyle/>
          <a:p>
            <a:r>
              <a:rPr lang="en-NZ"/>
              <a:t>Overview of points covered in this chapter</a:t>
            </a:r>
          </a:p>
          <a:p>
            <a:endParaRPr lang="en-NZ"/>
          </a:p>
          <a:p>
            <a:r>
              <a:rPr lang="en-NZ"/>
              <a:t>Point out that memory partitioning isn’t used much except for special cases such as kernel memory management</a:t>
            </a:r>
          </a:p>
          <a:p>
            <a:endParaRPr lang="en-NZ"/>
          </a:p>
          <a:p>
            <a:endParaRPr lang="en-NZ"/>
          </a:p>
        </p:txBody>
      </p:sp>
      <p:sp>
        <p:nvSpPr>
          <p:cNvPr id="18436"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026DE77C-44CF-4D7C-80E2-8F29321F1CAD}" type="slidenum">
              <a:rPr lang="en-US" smtClean="0">
                <a:latin typeface="Arial" pitchFamily="34" charset="0"/>
              </a:rPr>
              <a:pPr/>
              <a:t>51</a:t>
            </a:fld>
            <a:endParaRPr lang="en-US">
              <a:latin typeface="Arial" pitchFamily="34" charset="0"/>
            </a:endParaRPr>
          </a:p>
        </p:txBody>
      </p:sp>
    </p:spTree>
    <p:extLst>
      <p:ext uri="{BB962C8B-B14F-4D97-AF65-F5344CB8AC3E}">
        <p14:creationId xmlns:p14="http://schemas.microsoft.com/office/powerpoint/2010/main" val="359670789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Slide Image Placeholder 1"/>
          <p:cNvSpPr>
            <a:spLocks noGrp="1" noRot="1" noChangeAspect="1" noTextEdit="1"/>
          </p:cNvSpPr>
          <p:nvPr>
            <p:ph type="sldImg"/>
          </p:nvPr>
        </p:nvSpPr>
        <p:spPr bwMode="auto">
          <a:noFill/>
          <a:ln>
            <a:solidFill>
              <a:srgbClr val="000000"/>
            </a:solidFill>
            <a:miter lim="800000"/>
            <a:headEnd/>
            <a:tailEnd/>
          </a:ln>
        </p:spPr>
      </p:sp>
      <p:sp>
        <p:nvSpPr>
          <p:cNvPr id="118787" name="Notes Placeholder 2"/>
          <p:cNvSpPr>
            <a:spLocks noGrp="1"/>
          </p:cNvSpPr>
          <p:nvPr>
            <p:ph type="body" idx="1"/>
          </p:nvPr>
        </p:nvSpPr>
        <p:spPr bwMode="auto">
          <a:noFill/>
        </p:spPr>
        <p:txBody>
          <a:bodyPr wrap="square" numCol="1" anchor="t" anchorCtr="0" compatLnSpc="1">
            <a:prstTxWarp prst="textNoShape">
              <a:avLst/>
            </a:prstTxWarp>
          </a:bodyPr>
          <a:lstStyle/>
          <a:p>
            <a:r>
              <a:rPr lang="en-NZ"/>
              <a:t>This is a repeat of the notes on the previous slide</a:t>
            </a:r>
          </a:p>
          <a:p>
            <a:endParaRPr lang="en-NZ"/>
          </a:p>
          <a:p>
            <a:r>
              <a:rPr lang="en-NZ"/>
              <a:t>It is typical to associate a unique page table with each process. </a:t>
            </a:r>
            <a:r>
              <a:rPr lang="en-NZ" b="1"/>
              <a:t>(Figure 8.2a – this slide). </a:t>
            </a:r>
          </a:p>
          <a:p>
            <a:pPr lvl="1">
              <a:buFontTx/>
              <a:buChar char="•"/>
            </a:pPr>
            <a:r>
              <a:rPr lang="en-NZ"/>
              <a:t> A bit is needed in each page table entry to indicate whether the corresponding page is present (P) in main memory or not.</a:t>
            </a:r>
          </a:p>
          <a:p>
            <a:pPr lvl="1">
              <a:buFontTx/>
              <a:buChar char="•"/>
            </a:pPr>
            <a:r>
              <a:rPr lang="en-NZ"/>
              <a:t> If the bit indicates that the page is in memory, then the entry also includes the frame number of that page.</a:t>
            </a:r>
          </a:p>
          <a:p>
            <a:pPr lvl="1">
              <a:buFontTx/>
              <a:buChar char="•"/>
            </a:pPr>
            <a:r>
              <a:rPr lang="en-NZ"/>
              <a:t> The page table entry includes a modify (M) bit, indicating whether the contents of the corresponding page have been altered since the page was last loaded</a:t>
            </a:r>
            <a:endParaRPr lang="en-US"/>
          </a:p>
          <a:p>
            <a:endParaRPr lang="en-US"/>
          </a:p>
        </p:txBody>
      </p:sp>
      <p:sp>
        <p:nvSpPr>
          <p:cNvPr id="4" name="Slide Number Placeholder 3"/>
          <p:cNvSpPr>
            <a:spLocks noGrp="1"/>
          </p:cNvSpPr>
          <p:nvPr>
            <p:ph type="sldNum" sz="quarter" idx="5"/>
          </p:nvPr>
        </p:nvSpPr>
        <p:spPr/>
        <p:txBody>
          <a:bodyPr/>
          <a:lstStyle/>
          <a:p>
            <a:pPr>
              <a:defRPr/>
            </a:pPr>
            <a:fld id="{40771196-5A78-4E16-A51C-CD21DFFF9E0B}" type="slidenum">
              <a:rPr lang="en-US" smtClean="0"/>
              <a:pPr>
                <a:defRPr/>
              </a:pPr>
              <a:t>53</a:t>
            </a:fld>
            <a:endParaRPr lang="en-US" dirty="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Slide Image Placeholder 1"/>
          <p:cNvSpPr>
            <a:spLocks noGrp="1" noRot="1" noChangeAspect="1" noTextEdit="1"/>
          </p:cNvSpPr>
          <p:nvPr>
            <p:ph type="sldImg"/>
          </p:nvPr>
        </p:nvSpPr>
        <p:spPr bwMode="auto">
          <a:noFill/>
          <a:ln>
            <a:solidFill>
              <a:srgbClr val="000000"/>
            </a:solidFill>
            <a:miter lim="800000"/>
            <a:headEnd/>
            <a:tailEnd/>
          </a:ln>
        </p:spPr>
      </p:sp>
      <p:sp>
        <p:nvSpPr>
          <p:cNvPr id="18435" name="Notes Placeholder 2"/>
          <p:cNvSpPr>
            <a:spLocks noGrp="1"/>
          </p:cNvSpPr>
          <p:nvPr>
            <p:ph type="body" idx="1"/>
          </p:nvPr>
        </p:nvSpPr>
        <p:spPr bwMode="auto">
          <a:noFill/>
        </p:spPr>
        <p:txBody>
          <a:bodyPr wrap="square" numCol="1" anchor="t" anchorCtr="0" compatLnSpc="1">
            <a:prstTxWarp prst="textNoShape">
              <a:avLst/>
            </a:prstTxWarp>
          </a:bodyPr>
          <a:lstStyle/>
          <a:p>
            <a:r>
              <a:rPr lang="en-NZ"/>
              <a:t>Overview of points covered in this chapter</a:t>
            </a:r>
          </a:p>
          <a:p>
            <a:endParaRPr lang="en-NZ"/>
          </a:p>
          <a:p>
            <a:r>
              <a:rPr lang="en-NZ"/>
              <a:t>Point out that memory partitioning isn’t used much except for special cases such as kernel memory management</a:t>
            </a:r>
          </a:p>
          <a:p>
            <a:endParaRPr lang="en-NZ"/>
          </a:p>
          <a:p>
            <a:endParaRPr lang="en-NZ"/>
          </a:p>
        </p:txBody>
      </p:sp>
      <p:sp>
        <p:nvSpPr>
          <p:cNvPr id="18436"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026DE77C-44CF-4D7C-80E2-8F29321F1CAD}" type="slidenum">
              <a:rPr lang="en-US" smtClean="0">
                <a:latin typeface="Arial" pitchFamily="34" charset="0"/>
              </a:rPr>
              <a:pPr/>
              <a:t>56</a:t>
            </a:fld>
            <a:endParaRPr lang="en-US">
              <a:latin typeface="Arial" pitchFamily="34" charset="0"/>
            </a:endParaRPr>
          </a:p>
        </p:txBody>
      </p:sp>
    </p:spTree>
    <p:extLst>
      <p:ext uri="{BB962C8B-B14F-4D97-AF65-F5344CB8AC3E}">
        <p14:creationId xmlns:p14="http://schemas.microsoft.com/office/powerpoint/2010/main" val="39261687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Slide Image Placeholder 1"/>
          <p:cNvSpPr>
            <a:spLocks noGrp="1" noRot="1" noChangeAspect="1" noTextEdit="1"/>
          </p:cNvSpPr>
          <p:nvPr>
            <p:ph type="sldImg"/>
          </p:nvPr>
        </p:nvSpPr>
        <p:spPr bwMode="auto">
          <a:noFill/>
          <a:ln>
            <a:solidFill>
              <a:srgbClr val="000000"/>
            </a:solidFill>
            <a:miter lim="800000"/>
            <a:headEnd/>
            <a:tailEnd/>
          </a:ln>
        </p:spPr>
      </p:sp>
      <p:sp>
        <p:nvSpPr>
          <p:cNvPr id="3" name="Notes Placeholder 2"/>
          <p:cNvSpPr>
            <a:spLocks noGrp="1"/>
          </p:cNvSpPr>
          <p:nvPr>
            <p:ph type="body" idx="1"/>
          </p:nvPr>
        </p:nvSpPr>
        <p:spPr/>
        <p:txBody>
          <a:bodyPr>
            <a:normAutofit fontScale="92500" lnSpcReduction="10000"/>
          </a:bodyPr>
          <a:lstStyle/>
          <a:p>
            <a:pPr>
              <a:defRPr/>
            </a:pPr>
            <a:r>
              <a:rPr lang="en-NZ" dirty="0"/>
              <a:t>The basic mechanism for reading a word from memory involves using a page table to translate a virtual/logical address, </a:t>
            </a:r>
          </a:p>
          <a:p>
            <a:pPr lvl="1">
              <a:defRPr/>
            </a:pPr>
            <a:r>
              <a:rPr lang="en-NZ" dirty="0"/>
              <a:t>consisting of page number and offset, </a:t>
            </a:r>
          </a:p>
          <a:p>
            <a:pPr lvl="1">
              <a:defRPr/>
            </a:pPr>
            <a:endParaRPr lang="en-NZ" dirty="0"/>
          </a:p>
          <a:p>
            <a:pPr>
              <a:defRPr/>
            </a:pPr>
            <a:r>
              <a:rPr lang="en-NZ" dirty="0"/>
              <a:t>Into a physical address, </a:t>
            </a:r>
          </a:p>
          <a:p>
            <a:pPr lvl="1">
              <a:defRPr/>
            </a:pPr>
            <a:r>
              <a:rPr lang="en-NZ" dirty="0"/>
              <a:t>consisting of frame number and offset, </a:t>
            </a:r>
          </a:p>
          <a:p>
            <a:pPr lvl="1">
              <a:defRPr/>
            </a:pPr>
            <a:endParaRPr lang="en-NZ" dirty="0"/>
          </a:p>
          <a:p>
            <a:pPr>
              <a:defRPr/>
            </a:pPr>
            <a:r>
              <a:rPr lang="en-NZ" dirty="0"/>
              <a:t>Because the page table is of variable length, depending on the size of the process, we cannot expect to hold it in registers.</a:t>
            </a:r>
          </a:p>
          <a:p>
            <a:pPr lvl="1">
              <a:defRPr/>
            </a:pPr>
            <a:r>
              <a:rPr lang="en-NZ" dirty="0"/>
              <a:t>Instead, it must be in main memory to be accessed.</a:t>
            </a:r>
          </a:p>
          <a:p>
            <a:pPr lvl="1">
              <a:defRPr/>
            </a:pPr>
            <a:endParaRPr lang="en-NZ" dirty="0"/>
          </a:p>
          <a:p>
            <a:pPr>
              <a:defRPr/>
            </a:pPr>
            <a:r>
              <a:rPr lang="en-NZ" dirty="0"/>
              <a:t>Figure 8.3 suggests a hardware implementation.</a:t>
            </a:r>
          </a:p>
          <a:p>
            <a:pPr>
              <a:defRPr/>
            </a:pPr>
            <a:endParaRPr lang="en-NZ" dirty="0"/>
          </a:p>
          <a:p>
            <a:pPr>
              <a:defRPr/>
            </a:pPr>
            <a:r>
              <a:rPr lang="en-NZ" dirty="0"/>
              <a:t>When a particular process is running, a register holds the starting address of the page table for that process.</a:t>
            </a:r>
          </a:p>
          <a:p>
            <a:pPr lvl="1">
              <a:buFont typeface="Arial" pitchFamily="34" charset="0"/>
              <a:buChar char="•"/>
              <a:defRPr/>
            </a:pPr>
            <a:r>
              <a:rPr lang="en-NZ" dirty="0"/>
              <a:t> The page number of a virtual address is used to index that table and look up the corresponding frame number.</a:t>
            </a:r>
          </a:p>
          <a:p>
            <a:pPr lvl="1">
              <a:buFont typeface="Arial" pitchFamily="34" charset="0"/>
              <a:buChar char="•"/>
              <a:defRPr/>
            </a:pPr>
            <a:r>
              <a:rPr lang="en-NZ" dirty="0"/>
              <a:t> This is combined with the offset portion of the virtual address to produce the desired real address. </a:t>
            </a:r>
          </a:p>
          <a:p>
            <a:pPr>
              <a:buFont typeface="Arial" pitchFamily="34" charset="0"/>
              <a:buNone/>
              <a:defRPr/>
            </a:pPr>
            <a:endParaRPr lang="en-NZ" dirty="0"/>
          </a:p>
          <a:p>
            <a:pPr>
              <a:buFont typeface="Arial" pitchFamily="34" charset="0"/>
              <a:buNone/>
              <a:defRPr/>
            </a:pPr>
            <a:r>
              <a:rPr lang="en-NZ" dirty="0"/>
              <a:t>Typically, the page number field is longer than the frame number field (n &gt; m).</a:t>
            </a:r>
            <a:endParaRPr lang="en-US" dirty="0"/>
          </a:p>
        </p:txBody>
      </p:sp>
      <p:sp>
        <p:nvSpPr>
          <p:cNvPr id="4" name="Slide Number Placeholder 3"/>
          <p:cNvSpPr>
            <a:spLocks noGrp="1"/>
          </p:cNvSpPr>
          <p:nvPr>
            <p:ph type="sldNum" sz="quarter" idx="5"/>
          </p:nvPr>
        </p:nvSpPr>
        <p:spPr/>
        <p:txBody>
          <a:bodyPr/>
          <a:lstStyle/>
          <a:p>
            <a:pPr>
              <a:defRPr/>
            </a:pPr>
            <a:fld id="{3E2CC355-61F9-4A8D-838E-00E8ECC144F0}" type="slidenum">
              <a:rPr lang="en-US" smtClean="0"/>
              <a:pPr>
                <a:defRPr/>
              </a:pPr>
              <a:t>57</a:t>
            </a:fld>
            <a:endParaRPr lang="en-US" dirty="0"/>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Slide Image Placeholder 1"/>
          <p:cNvSpPr>
            <a:spLocks noGrp="1" noRot="1" noChangeAspect="1" noTextEdit="1"/>
          </p:cNvSpPr>
          <p:nvPr>
            <p:ph type="sldImg"/>
          </p:nvPr>
        </p:nvSpPr>
        <p:spPr bwMode="auto">
          <a:noFill/>
          <a:ln>
            <a:solidFill>
              <a:srgbClr val="000000"/>
            </a:solidFill>
            <a:miter lim="800000"/>
            <a:headEnd/>
            <a:tailEnd/>
          </a:ln>
        </p:spPr>
      </p:sp>
      <p:sp>
        <p:nvSpPr>
          <p:cNvPr id="18435" name="Notes Placeholder 2"/>
          <p:cNvSpPr>
            <a:spLocks noGrp="1"/>
          </p:cNvSpPr>
          <p:nvPr>
            <p:ph type="body" idx="1"/>
          </p:nvPr>
        </p:nvSpPr>
        <p:spPr bwMode="auto">
          <a:noFill/>
        </p:spPr>
        <p:txBody>
          <a:bodyPr wrap="square" numCol="1" anchor="t" anchorCtr="0" compatLnSpc="1">
            <a:prstTxWarp prst="textNoShape">
              <a:avLst/>
            </a:prstTxWarp>
          </a:bodyPr>
          <a:lstStyle/>
          <a:p>
            <a:r>
              <a:rPr lang="en-NZ"/>
              <a:t>Overview of points covered in this chapter</a:t>
            </a:r>
          </a:p>
          <a:p>
            <a:endParaRPr lang="en-NZ"/>
          </a:p>
          <a:p>
            <a:r>
              <a:rPr lang="en-NZ"/>
              <a:t>Point out that memory partitioning isn’t used much except for special cases such as kernel memory management</a:t>
            </a:r>
          </a:p>
          <a:p>
            <a:endParaRPr lang="en-NZ"/>
          </a:p>
          <a:p>
            <a:endParaRPr lang="en-NZ"/>
          </a:p>
        </p:txBody>
      </p:sp>
      <p:sp>
        <p:nvSpPr>
          <p:cNvPr id="18436"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026DE77C-44CF-4D7C-80E2-8F29321F1CAD}" type="slidenum">
              <a:rPr lang="en-US" smtClean="0">
                <a:latin typeface="Arial" pitchFamily="34" charset="0"/>
              </a:rPr>
              <a:pPr/>
              <a:t>59</a:t>
            </a:fld>
            <a:endParaRPr lang="en-US">
              <a:latin typeface="Arial" pitchFamily="34" charset="0"/>
            </a:endParaRPr>
          </a:p>
        </p:txBody>
      </p:sp>
    </p:spTree>
    <p:extLst>
      <p:ext uri="{BB962C8B-B14F-4D97-AF65-F5344CB8AC3E}">
        <p14:creationId xmlns:p14="http://schemas.microsoft.com/office/powerpoint/2010/main" val="205900318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386" name="Slide Image Placeholder 1"/>
          <p:cNvSpPr>
            <a:spLocks noGrp="1" noRot="1" noChangeAspect="1" noTextEdit="1"/>
          </p:cNvSpPr>
          <p:nvPr>
            <p:ph type="sldImg"/>
          </p:nvPr>
        </p:nvSpPr>
        <p:spPr bwMode="auto">
          <a:noFill/>
          <a:ln>
            <a:solidFill>
              <a:srgbClr val="000000"/>
            </a:solidFill>
            <a:miter lim="800000"/>
            <a:headEnd/>
            <a:tailEnd/>
          </a:ln>
        </p:spPr>
      </p:sp>
      <p:sp>
        <p:nvSpPr>
          <p:cNvPr id="3" name="Notes Placeholder 2"/>
          <p:cNvSpPr>
            <a:spLocks noGrp="1"/>
          </p:cNvSpPr>
          <p:nvPr>
            <p:ph type="body" idx="1"/>
          </p:nvPr>
        </p:nvSpPr>
        <p:spPr/>
        <p:txBody>
          <a:bodyPr>
            <a:normAutofit/>
          </a:bodyPr>
          <a:lstStyle/>
          <a:p>
            <a:pPr>
              <a:defRPr/>
            </a:pPr>
            <a:r>
              <a:rPr lang="en-NZ" dirty="0"/>
              <a:t>Reading a word from memory involves the translation of a virtual, or logical, address, consisting of segment number and offset, into a physical address, using a segment table. </a:t>
            </a:r>
          </a:p>
          <a:p>
            <a:pPr>
              <a:defRPr/>
            </a:pPr>
            <a:endParaRPr lang="en-NZ" dirty="0"/>
          </a:p>
          <a:p>
            <a:pPr>
              <a:buFont typeface="Arial" pitchFamily="34" charset="0"/>
              <a:buNone/>
              <a:defRPr/>
            </a:pPr>
            <a:r>
              <a:rPr lang="en-NZ" dirty="0"/>
              <a:t>We cannot expect to hold the segment table in registers because it is of variable length, depending on the size of the process</a:t>
            </a:r>
          </a:p>
          <a:p>
            <a:pPr lvl="1">
              <a:buFont typeface="Arial" pitchFamily="34" charset="0"/>
              <a:buChar char="•"/>
              <a:defRPr/>
            </a:pPr>
            <a:r>
              <a:rPr lang="en-NZ" dirty="0"/>
              <a:t> Instead, it must be in main memory to be accessed. </a:t>
            </a:r>
          </a:p>
          <a:p>
            <a:pPr lvl="1">
              <a:buFont typeface="Arial" pitchFamily="34" charset="0"/>
              <a:buChar char="•"/>
              <a:defRPr/>
            </a:pPr>
            <a:endParaRPr lang="en-NZ" dirty="0"/>
          </a:p>
          <a:p>
            <a:pPr>
              <a:buFont typeface="Arial" pitchFamily="34" charset="0"/>
              <a:buNone/>
              <a:defRPr/>
            </a:pPr>
            <a:r>
              <a:rPr lang="en-NZ" dirty="0"/>
              <a:t>This figure suggests a hardware implementation of this scheme (note similarity to Figure 8.3).</a:t>
            </a:r>
          </a:p>
          <a:p>
            <a:pPr>
              <a:buFont typeface="Arial" pitchFamily="34" charset="0"/>
              <a:buNone/>
              <a:defRPr/>
            </a:pPr>
            <a:endParaRPr lang="en-NZ" dirty="0"/>
          </a:p>
          <a:p>
            <a:pPr>
              <a:buFont typeface="Arial" pitchFamily="34" charset="0"/>
              <a:buNone/>
              <a:defRPr/>
            </a:pPr>
            <a:r>
              <a:rPr lang="en-NZ" dirty="0"/>
              <a:t>When a particular process is running, a register holds the starting address of the segment table for that process.</a:t>
            </a:r>
          </a:p>
          <a:p>
            <a:pPr lvl="1">
              <a:buFont typeface="Arial" pitchFamily="34" charset="0"/>
              <a:buChar char="•"/>
              <a:defRPr/>
            </a:pPr>
            <a:r>
              <a:rPr lang="en-NZ" dirty="0"/>
              <a:t>The segment number of a virtual address is used to index that table and look up the corresponding main memory address for the start of the segment.</a:t>
            </a:r>
          </a:p>
          <a:p>
            <a:pPr lvl="1">
              <a:buFont typeface="Arial" pitchFamily="34" charset="0"/>
              <a:buChar char="•"/>
              <a:defRPr/>
            </a:pPr>
            <a:r>
              <a:rPr lang="en-NZ" dirty="0"/>
              <a:t> This is added to the offset portion of the virtual address to produce the desired real address.</a:t>
            </a:r>
            <a:endParaRPr lang="en-US" dirty="0"/>
          </a:p>
        </p:txBody>
      </p:sp>
      <p:sp>
        <p:nvSpPr>
          <p:cNvPr id="4" name="Slide Number Placeholder 3"/>
          <p:cNvSpPr>
            <a:spLocks noGrp="1"/>
          </p:cNvSpPr>
          <p:nvPr>
            <p:ph type="sldNum" sz="quarter" idx="5"/>
          </p:nvPr>
        </p:nvSpPr>
        <p:spPr/>
        <p:txBody>
          <a:bodyPr/>
          <a:lstStyle/>
          <a:p>
            <a:pPr>
              <a:defRPr/>
            </a:pPr>
            <a:fld id="{D0708212-C112-46CD-8AEC-3ACDBA7B3B12}" type="slidenum">
              <a:rPr lang="en-US" smtClean="0"/>
              <a:pPr>
                <a:defRPr/>
              </a:pPr>
              <a:t>60</a:t>
            </a:fld>
            <a:endParaRPr lang="en-US" dirty="0"/>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434" name="Slide Image Placeholder 1"/>
          <p:cNvSpPr>
            <a:spLocks noGrp="1" noRot="1" noChangeAspect="1" noTextEdit="1"/>
          </p:cNvSpPr>
          <p:nvPr>
            <p:ph type="sldImg"/>
          </p:nvPr>
        </p:nvSpPr>
        <p:spPr bwMode="auto">
          <a:noFill/>
          <a:ln>
            <a:solidFill>
              <a:srgbClr val="000000"/>
            </a:solidFill>
            <a:miter lim="800000"/>
            <a:headEnd/>
            <a:tailEnd/>
          </a:ln>
        </p:spPr>
      </p:sp>
      <p:sp>
        <p:nvSpPr>
          <p:cNvPr id="146435" name="Notes Placeholder 2"/>
          <p:cNvSpPr>
            <a:spLocks noGrp="1"/>
          </p:cNvSpPr>
          <p:nvPr>
            <p:ph type="body" idx="1"/>
          </p:nvPr>
        </p:nvSpPr>
        <p:spPr bwMode="auto">
          <a:noFill/>
        </p:spPr>
        <p:txBody>
          <a:bodyPr wrap="square" numCol="1" anchor="t" anchorCtr="0" compatLnSpc="1">
            <a:prstTxWarp prst="textNoShape">
              <a:avLst/>
            </a:prstTxWarp>
          </a:bodyPr>
          <a:lstStyle/>
          <a:p>
            <a:r>
              <a:rPr lang="en-NZ"/>
              <a:t>This figure (8.2c) suggests the segment table entry and page table entry formats.</a:t>
            </a:r>
          </a:p>
          <a:p>
            <a:endParaRPr lang="en-NZ"/>
          </a:p>
          <a:p>
            <a:r>
              <a:rPr lang="en-NZ"/>
              <a:t>As before, the segment table entry contains the length of the segment.</a:t>
            </a:r>
          </a:p>
          <a:p>
            <a:endParaRPr lang="en-NZ"/>
          </a:p>
          <a:p>
            <a:r>
              <a:rPr lang="en-NZ"/>
              <a:t>It also contains a base field, which now refers to a page table.</a:t>
            </a:r>
          </a:p>
          <a:p>
            <a:pPr lvl="1">
              <a:buFontTx/>
              <a:buChar char="•"/>
            </a:pPr>
            <a:r>
              <a:rPr lang="en-NZ"/>
              <a:t> The present and modified bits are not needed because these matters are handled at the page level.</a:t>
            </a:r>
          </a:p>
          <a:p>
            <a:pPr lvl="1">
              <a:buFontTx/>
              <a:buChar char="•"/>
            </a:pPr>
            <a:r>
              <a:rPr lang="en-NZ"/>
              <a:t> Other control bits may be used, for purposes of sharing and protection.</a:t>
            </a:r>
          </a:p>
          <a:p>
            <a:pPr lvl="1">
              <a:buFontTx/>
              <a:buChar char="•"/>
            </a:pPr>
            <a:endParaRPr lang="en-NZ"/>
          </a:p>
          <a:p>
            <a:r>
              <a:rPr lang="en-NZ"/>
              <a:t>The page table entry is essentially the same as is used in a pure paging system. </a:t>
            </a:r>
          </a:p>
          <a:p>
            <a:pPr lvl="1">
              <a:buFontTx/>
              <a:buChar char="•"/>
            </a:pPr>
            <a:r>
              <a:rPr lang="en-NZ"/>
              <a:t> Each page number is mapped into a corresponding frame number if the page is present in main memory.</a:t>
            </a:r>
          </a:p>
          <a:p>
            <a:pPr lvl="1">
              <a:buFontTx/>
              <a:buChar char="•"/>
            </a:pPr>
            <a:r>
              <a:rPr lang="en-NZ"/>
              <a:t> The modified bit indicates whether this page needs to be written back out when the frame is allocated to another page.</a:t>
            </a:r>
          </a:p>
          <a:p>
            <a:pPr lvl="1">
              <a:buFontTx/>
              <a:buChar char="•"/>
            </a:pPr>
            <a:r>
              <a:rPr lang="en-NZ"/>
              <a:t> There may be other control bits dealing with protection or other aspects of memory management.</a:t>
            </a:r>
            <a:endParaRPr lang="en-US"/>
          </a:p>
        </p:txBody>
      </p:sp>
      <p:sp>
        <p:nvSpPr>
          <p:cNvPr id="4" name="Slide Number Placeholder 3"/>
          <p:cNvSpPr>
            <a:spLocks noGrp="1"/>
          </p:cNvSpPr>
          <p:nvPr>
            <p:ph type="sldNum" sz="quarter" idx="5"/>
          </p:nvPr>
        </p:nvSpPr>
        <p:spPr/>
        <p:txBody>
          <a:bodyPr/>
          <a:lstStyle/>
          <a:p>
            <a:pPr>
              <a:defRPr/>
            </a:pPr>
            <a:fld id="{E322879A-65E0-4BEE-97AA-083C7D201210}" type="slidenum">
              <a:rPr lang="en-US" smtClean="0"/>
              <a:pPr>
                <a:defRPr/>
              </a:pPr>
              <a:t>63</a:t>
            </a:fld>
            <a:endParaRPr lang="en-US" dirty="0"/>
          </a:p>
        </p:txBody>
      </p:sp>
    </p:spTree>
    <p:extLst>
      <p:ext uri="{BB962C8B-B14F-4D97-AF65-F5344CB8AC3E}">
        <p14:creationId xmlns:p14="http://schemas.microsoft.com/office/powerpoint/2010/main" val="180500361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458" name="Slide Image Placeholder 1"/>
          <p:cNvSpPr>
            <a:spLocks noGrp="1" noRot="1" noChangeAspect="1" noTextEdit="1"/>
          </p:cNvSpPr>
          <p:nvPr>
            <p:ph type="sldImg"/>
          </p:nvPr>
        </p:nvSpPr>
        <p:spPr bwMode="auto">
          <a:noFill/>
          <a:ln>
            <a:solidFill>
              <a:srgbClr val="000000"/>
            </a:solidFill>
            <a:miter lim="800000"/>
            <a:headEnd/>
            <a:tailEnd/>
          </a:ln>
        </p:spPr>
      </p:sp>
      <p:sp>
        <p:nvSpPr>
          <p:cNvPr id="147459" name="Notes Placeholder 2"/>
          <p:cNvSpPr>
            <a:spLocks noGrp="1"/>
          </p:cNvSpPr>
          <p:nvPr>
            <p:ph type="body" idx="1"/>
          </p:nvPr>
        </p:nvSpPr>
        <p:spPr bwMode="auto">
          <a:noFill/>
        </p:spPr>
        <p:txBody>
          <a:bodyPr wrap="square" numCol="1" anchor="t" anchorCtr="0" compatLnSpc="1">
            <a:prstTxWarp prst="textNoShape">
              <a:avLst/>
            </a:prstTxWarp>
          </a:bodyPr>
          <a:lstStyle/>
          <a:p>
            <a:r>
              <a:rPr lang="en-NZ"/>
              <a:t>This figure suggests a structure to support combined paging/segmentation (note similarity to Figure 8.5).</a:t>
            </a:r>
          </a:p>
          <a:p>
            <a:endParaRPr lang="en-NZ"/>
          </a:p>
          <a:p>
            <a:r>
              <a:rPr lang="en-NZ"/>
              <a:t>Associated with each process is a segment table and a number of page tables, one per process segment.</a:t>
            </a:r>
          </a:p>
          <a:p>
            <a:endParaRPr lang="en-NZ"/>
          </a:p>
          <a:p>
            <a:r>
              <a:rPr lang="en-NZ"/>
              <a:t>When a particular process is running, a register holds the starting address of the segment table for that process. </a:t>
            </a:r>
          </a:p>
          <a:p>
            <a:endParaRPr lang="en-NZ"/>
          </a:p>
          <a:p>
            <a:r>
              <a:rPr lang="en-NZ"/>
              <a:t>Presented with a virtual address, the processor uses the segment number portion to index into the process segment table to find the page table for that segment.</a:t>
            </a:r>
          </a:p>
          <a:p>
            <a:pPr lvl="1">
              <a:buFontTx/>
              <a:buChar char="•"/>
            </a:pPr>
            <a:r>
              <a:rPr lang="en-NZ"/>
              <a:t> Then the page number portion of the virtual address is used to index the page table and look up the corresponding frame number.</a:t>
            </a:r>
          </a:p>
          <a:p>
            <a:pPr lvl="1">
              <a:buFontTx/>
              <a:buChar char="•"/>
            </a:pPr>
            <a:r>
              <a:rPr lang="en-NZ"/>
              <a:t> This is combined with the offset portion of the virtual address to produce the desired real address.</a:t>
            </a:r>
            <a:endParaRPr lang="en-US"/>
          </a:p>
        </p:txBody>
      </p:sp>
      <p:sp>
        <p:nvSpPr>
          <p:cNvPr id="4" name="Slide Number Placeholder 3"/>
          <p:cNvSpPr>
            <a:spLocks noGrp="1"/>
          </p:cNvSpPr>
          <p:nvPr>
            <p:ph type="sldNum" sz="quarter" idx="5"/>
          </p:nvPr>
        </p:nvSpPr>
        <p:spPr/>
        <p:txBody>
          <a:bodyPr/>
          <a:lstStyle/>
          <a:p>
            <a:pPr>
              <a:defRPr/>
            </a:pPr>
            <a:fld id="{7B83C650-AACD-42AA-8F59-7716E498798E}" type="slidenum">
              <a:rPr lang="en-US" smtClean="0"/>
              <a:pPr>
                <a:defRPr/>
              </a:pPr>
              <a:t>65</a:t>
            </a:fld>
            <a:endParaRPr lang="en-US" dirty="0"/>
          </a:p>
        </p:txBody>
      </p:sp>
    </p:spTree>
    <p:extLst>
      <p:ext uri="{BB962C8B-B14F-4D97-AF65-F5344CB8AC3E}">
        <p14:creationId xmlns:p14="http://schemas.microsoft.com/office/powerpoint/2010/main" val="3647267509"/>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Slide Image Placeholder 1"/>
          <p:cNvSpPr>
            <a:spLocks noGrp="1" noRot="1" noChangeAspect="1" noTextEdit="1"/>
          </p:cNvSpPr>
          <p:nvPr>
            <p:ph type="sldImg"/>
          </p:nvPr>
        </p:nvSpPr>
        <p:spPr bwMode="auto">
          <a:noFill/>
          <a:ln>
            <a:solidFill>
              <a:srgbClr val="000000"/>
            </a:solidFill>
            <a:miter lim="800000"/>
            <a:headEnd/>
            <a:tailEnd/>
          </a:ln>
        </p:spPr>
      </p:sp>
      <p:sp>
        <p:nvSpPr>
          <p:cNvPr id="18435" name="Notes Placeholder 2"/>
          <p:cNvSpPr>
            <a:spLocks noGrp="1"/>
          </p:cNvSpPr>
          <p:nvPr>
            <p:ph type="body" idx="1"/>
          </p:nvPr>
        </p:nvSpPr>
        <p:spPr bwMode="auto">
          <a:noFill/>
        </p:spPr>
        <p:txBody>
          <a:bodyPr wrap="square" numCol="1" anchor="t" anchorCtr="0" compatLnSpc="1">
            <a:prstTxWarp prst="textNoShape">
              <a:avLst/>
            </a:prstTxWarp>
          </a:bodyPr>
          <a:lstStyle/>
          <a:p>
            <a:r>
              <a:rPr lang="en-NZ"/>
              <a:t>Overview of points covered in this chapter</a:t>
            </a:r>
          </a:p>
          <a:p>
            <a:endParaRPr lang="en-NZ"/>
          </a:p>
          <a:p>
            <a:r>
              <a:rPr lang="en-NZ"/>
              <a:t>Point out that memory partitioning isn’t used much except for special cases such as kernel memory management</a:t>
            </a:r>
          </a:p>
          <a:p>
            <a:endParaRPr lang="en-NZ"/>
          </a:p>
          <a:p>
            <a:endParaRPr lang="en-NZ"/>
          </a:p>
        </p:txBody>
      </p:sp>
      <p:sp>
        <p:nvSpPr>
          <p:cNvPr id="18436"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026DE77C-44CF-4D7C-80E2-8F29321F1CAD}" type="slidenum">
              <a:rPr lang="en-US" smtClean="0">
                <a:latin typeface="Arial" pitchFamily="34" charset="0"/>
              </a:rPr>
              <a:pPr/>
              <a:t>67</a:t>
            </a:fld>
            <a:endParaRPr lang="en-US">
              <a:latin typeface="Arial" pitchFamily="34" charset="0"/>
            </a:endParaRPr>
          </a:p>
        </p:txBody>
      </p:sp>
    </p:spTree>
    <p:extLst>
      <p:ext uri="{BB962C8B-B14F-4D97-AF65-F5344CB8AC3E}">
        <p14:creationId xmlns:p14="http://schemas.microsoft.com/office/powerpoint/2010/main" val="131708975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5890" name="Slide Image Placeholder 1"/>
          <p:cNvSpPr>
            <a:spLocks noGrp="1" noRot="1" noChangeAspect="1" noTextEdit="1"/>
          </p:cNvSpPr>
          <p:nvPr>
            <p:ph type="sldImg"/>
          </p:nvPr>
        </p:nvSpPr>
        <p:spPr bwMode="auto">
          <a:noFill/>
          <a:ln>
            <a:solidFill>
              <a:srgbClr val="000000"/>
            </a:solidFill>
            <a:miter lim="800000"/>
            <a:headEnd/>
            <a:tailEnd/>
          </a:ln>
        </p:spPr>
      </p:sp>
      <p:sp>
        <p:nvSpPr>
          <p:cNvPr id="165891" name="Notes Placeholder 2"/>
          <p:cNvSpPr>
            <a:spLocks noGrp="1"/>
          </p:cNvSpPr>
          <p:nvPr>
            <p:ph type="body" idx="1"/>
          </p:nvPr>
        </p:nvSpPr>
        <p:spPr bwMode="auto">
          <a:noFill/>
        </p:spPr>
        <p:txBody>
          <a:bodyPr wrap="square" numCol="1" anchor="t" anchorCtr="0" compatLnSpc="1">
            <a:prstTxWarp prst="textNoShape">
              <a:avLst/>
            </a:prstTxWarp>
          </a:bodyPr>
          <a:lstStyle/>
          <a:p>
            <a:r>
              <a:rPr lang="en-NZ"/>
              <a:t>The presence of an asterisk indicates that the corresponding use bit is equal to 1,</a:t>
            </a:r>
          </a:p>
          <a:p>
            <a:pPr lvl="1"/>
            <a:r>
              <a:rPr lang="en-NZ"/>
              <a:t>and the arrow indicates the current position of the pointer. </a:t>
            </a:r>
          </a:p>
          <a:p>
            <a:pPr lvl="1"/>
            <a:endParaRPr lang="en-NZ"/>
          </a:p>
          <a:p>
            <a:r>
              <a:rPr lang="en-NZ"/>
              <a:t>Note that the clock policy is adept at protecting frames 2 and 5 from replacement.</a:t>
            </a:r>
          </a:p>
        </p:txBody>
      </p:sp>
      <p:sp>
        <p:nvSpPr>
          <p:cNvPr id="4" name="Slide Number Placeholder 3"/>
          <p:cNvSpPr>
            <a:spLocks noGrp="1"/>
          </p:cNvSpPr>
          <p:nvPr>
            <p:ph type="sldNum" sz="quarter" idx="5"/>
          </p:nvPr>
        </p:nvSpPr>
        <p:spPr/>
        <p:txBody>
          <a:bodyPr/>
          <a:lstStyle/>
          <a:p>
            <a:pPr>
              <a:defRPr/>
            </a:pPr>
            <a:fld id="{E21876B7-AF15-4A61-A750-C679892B6FE0}" type="slidenum">
              <a:rPr lang="en-US" smtClean="0"/>
              <a:pPr>
                <a:defRPr/>
              </a:pPr>
              <a:t>77</a:t>
            </a:fld>
            <a:endParaRPr lang="en-US" dirty="0"/>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6914" name="Slide Image Placeholder 1"/>
          <p:cNvSpPr>
            <a:spLocks noGrp="1" noRot="1" noChangeAspect="1" noTextEdit="1"/>
          </p:cNvSpPr>
          <p:nvPr>
            <p:ph type="sldImg"/>
          </p:nvPr>
        </p:nvSpPr>
        <p:spPr bwMode="auto">
          <a:noFill/>
          <a:ln>
            <a:solidFill>
              <a:srgbClr val="000000"/>
            </a:solidFill>
            <a:miter lim="800000"/>
            <a:headEnd/>
            <a:tailEnd/>
          </a:ln>
        </p:spPr>
      </p:sp>
      <p:sp>
        <p:nvSpPr>
          <p:cNvPr id="3" name="Notes Placeholder 2"/>
          <p:cNvSpPr>
            <a:spLocks noGrp="1"/>
          </p:cNvSpPr>
          <p:nvPr>
            <p:ph type="body" idx="1"/>
          </p:nvPr>
        </p:nvSpPr>
        <p:spPr/>
        <p:txBody>
          <a:bodyPr>
            <a:normAutofit lnSpcReduction="10000"/>
          </a:bodyPr>
          <a:lstStyle/>
          <a:p>
            <a:pPr>
              <a:defRPr/>
            </a:pPr>
            <a:r>
              <a:rPr lang="en-NZ" dirty="0"/>
              <a:t>Continued on next slide</a:t>
            </a:r>
          </a:p>
          <a:p>
            <a:pPr>
              <a:defRPr/>
            </a:pPr>
            <a:endParaRPr lang="en-NZ" dirty="0"/>
          </a:p>
          <a:p>
            <a:pPr>
              <a:defRPr/>
            </a:pPr>
            <a:r>
              <a:rPr lang="en-NZ" dirty="0"/>
              <a:t>This figure (8.16) provides an example of the simple clock policy mechanism.</a:t>
            </a:r>
          </a:p>
          <a:p>
            <a:pPr>
              <a:defRPr/>
            </a:pPr>
            <a:endParaRPr lang="en-NZ" dirty="0"/>
          </a:p>
          <a:p>
            <a:pPr>
              <a:defRPr/>
            </a:pPr>
            <a:r>
              <a:rPr lang="en-NZ" dirty="0"/>
              <a:t>A circular buffer of </a:t>
            </a:r>
            <a:r>
              <a:rPr lang="en-NZ" i="1" dirty="0"/>
              <a:t>n</a:t>
            </a:r>
            <a:r>
              <a:rPr lang="en-NZ" dirty="0"/>
              <a:t> main memory frames is available for page replacement. </a:t>
            </a:r>
          </a:p>
          <a:p>
            <a:pPr>
              <a:defRPr/>
            </a:pPr>
            <a:endParaRPr lang="en-NZ" dirty="0"/>
          </a:p>
          <a:p>
            <a:pPr>
              <a:defRPr/>
            </a:pPr>
            <a:r>
              <a:rPr lang="en-NZ" dirty="0"/>
              <a:t>Just prior to the replacement of a page from the buffer with incoming page 727, </a:t>
            </a:r>
          </a:p>
          <a:p>
            <a:pPr lvl="1">
              <a:buFont typeface="Arial" pitchFamily="34" charset="0"/>
              <a:buChar char="•"/>
              <a:defRPr/>
            </a:pPr>
            <a:r>
              <a:rPr lang="en-NZ" dirty="0"/>
              <a:t> the next frame pointer points at frame 2, which contains page 45.</a:t>
            </a:r>
          </a:p>
          <a:p>
            <a:pPr>
              <a:buFont typeface="Arial" pitchFamily="34" charset="0"/>
              <a:buNone/>
              <a:defRPr/>
            </a:pPr>
            <a:endParaRPr lang="en-NZ" dirty="0"/>
          </a:p>
          <a:p>
            <a:pPr>
              <a:buFont typeface="Arial" pitchFamily="34" charset="0"/>
              <a:buNone/>
              <a:defRPr/>
            </a:pPr>
            <a:r>
              <a:rPr lang="en-NZ" dirty="0"/>
              <a:t>The clock policy is now executed.</a:t>
            </a:r>
          </a:p>
          <a:p>
            <a:pPr lvl="1">
              <a:buFont typeface="Arial" pitchFamily="34" charset="0"/>
              <a:buChar char="•"/>
              <a:defRPr/>
            </a:pPr>
            <a:r>
              <a:rPr lang="en-NZ" dirty="0"/>
              <a:t> Because the use bit for page 45 in frame 2 is equal to 1, this page is not replaced.</a:t>
            </a:r>
          </a:p>
          <a:p>
            <a:pPr lvl="1">
              <a:buFont typeface="Arial" pitchFamily="34" charset="0"/>
              <a:buChar char="•"/>
              <a:defRPr/>
            </a:pPr>
            <a:r>
              <a:rPr lang="en-NZ" dirty="0"/>
              <a:t> Instead, the use bit is set to zero and the pointer advances. </a:t>
            </a:r>
          </a:p>
          <a:p>
            <a:pPr lvl="1">
              <a:buFont typeface="Arial" pitchFamily="34" charset="0"/>
              <a:buChar char="•"/>
              <a:defRPr/>
            </a:pPr>
            <a:r>
              <a:rPr lang="en-NZ" dirty="0"/>
              <a:t> Similarly, page 191 in frame 3 is not replaced; its use bit is set to zero and the pointer advances. </a:t>
            </a:r>
          </a:p>
          <a:p>
            <a:pPr lvl="1">
              <a:buFont typeface="Arial" pitchFamily="34" charset="0"/>
              <a:buChar char="•"/>
              <a:defRPr/>
            </a:pPr>
            <a:r>
              <a:rPr lang="en-NZ" dirty="0"/>
              <a:t> In the next frame, frame 4, the use bit is set to 0.Therefore, page 556 is replaced with page 727.</a:t>
            </a:r>
          </a:p>
          <a:p>
            <a:pPr lvl="1">
              <a:buFont typeface="Arial" pitchFamily="34" charset="0"/>
              <a:buChar char="•"/>
              <a:defRPr/>
            </a:pPr>
            <a:r>
              <a:rPr lang="en-NZ" dirty="0"/>
              <a:t>The use bit is set to 1 for this frame and the pointer advances to frame 5, completing the page replacement procedure.</a:t>
            </a:r>
            <a:endParaRPr lang="en-US" dirty="0"/>
          </a:p>
        </p:txBody>
      </p:sp>
      <p:sp>
        <p:nvSpPr>
          <p:cNvPr id="4" name="Slide Number Placeholder 3"/>
          <p:cNvSpPr>
            <a:spLocks noGrp="1"/>
          </p:cNvSpPr>
          <p:nvPr>
            <p:ph type="sldNum" sz="quarter" idx="5"/>
          </p:nvPr>
        </p:nvSpPr>
        <p:spPr/>
        <p:txBody>
          <a:bodyPr/>
          <a:lstStyle/>
          <a:p>
            <a:pPr>
              <a:defRPr/>
            </a:pPr>
            <a:fld id="{A807CDAE-CBD6-43F1-9066-7CFBAC0BAB94}" type="slidenum">
              <a:rPr lang="en-US" smtClean="0"/>
              <a:pPr>
                <a:defRPr/>
              </a:pPr>
              <a:t>78</a:t>
            </a:fld>
            <a:endParaRPr lang="en-US" dirty="0"/>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9986" name="Slide Image Placeholder 1"/>
          <p:cNvSpPr>
            <a:spLocks noGrp="1" noRot="1" noChangeAspect="1" noTextEdit="1"/>
          </p:cNvSpPr>
          <p:nvPr>
            <p:ph type="sldImg"/>
          </p:nvPr>
        </p:nvSpPr>
        <p:spPr bwMode="auto">
          <a:noFill/>
          <a:ln>
            <a:solidFill>
              <a:srgbClr val="000000"/>
            </a:solidFill>
            <a:miter lim="800000"/>
            <a:headEnd/>
            <a:tailEnd/>
          </a:ln>
        </p:spPr>
      </p:sp>
      <p:sp>
        <p:nvSpPr>
          <p:cNvPr id="3" name="Notes Placeholder 2"/>
          <p:cNvSpPr>
            <a:spLocks noGrp="1"/>
          </p:cNvSpPr>
          <p:nvPr>
            <p:ph type="body" idx="1"/>
          </p:nvPr>
        </p:nvSpPr>
        <p:spPr/>
        <p:txBody>
          <a:bodyPr>
            <a:normAutofit/>
          </a:bodyPr>
          <a:lstStyle/>
          <a:p>
            <a:pPr>
              <a:defRPr/>
            </a:pPr>
            <a:endParaRPr lang="en-NZ" dirty="0"/>
          </a:p>
        </p:txBody>
      </p:sp>
      <p:sp>
        <p:nvSpPr>
          <p:cNvPr id="4" name="Slide Number Placeholder 3"/>
          <p:cNvSpPr>
            <a:spLocks noGrp="1"/>
          </p:cNvSpPr>
          <p:nvPr>
            <p:ph type="sldNum" sz="quarter" idx="5"/>
          </p:nvPr>
        </p:nvSpPr>
        <p:spPr/>
        <p:txBody>
          <a:bodyPr/>
          <a:lstStyle/>
          <a:p>
            <a:pPr>
              <a:defRPr/>
            </a:pPr>
            <a:fld id="{E3C3B04A-6D85-4C3B-A824-A9DF0BD15FCA}" type="slidenum">
              <a:rPr lang="en-US" smtClean="0"/>
              <a:pPr>
                <a:defRPr/>
              </a:pPr>
              <a:t>81</a:t>
            </a:fld>
            <a:endParaRPr lang="en-US" dirty="0"/>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1010" name="Slide Image Placeholder 1"/>
          <p:cNvSpPr>
            <a:spLocks noGrp="1" noRot="1" noChangeAspect="1" noTextEdit="1"/>
          </p:cNvSpPr>
          <p:nvPr>
            <p:ph type="sldImg"/>
          </p:nvPr>
        </p:nvSpPr>
        <p:spPr bwMode="auto">
          <a:noFill/>
          <a:ln>
            <a:solidFill>
              <a:srgbClr val="000000"/>
            </a:solidFill>
            <a:miter lim="800000"/>
            <a:headEnd/>
            <a:tailEnd/>
          </a:ln>
        </p:spPr>
      </p:sp>
      <p:sp>
        <p:nvSpPr>
          <p:cNvPr id="3" name="Notes Placeholder 2"/>
          <p:cNvSpPr>
            <a:spLocks noGrp="1"/>
          </p:cNvSpPr>
          <p:nvPr>
            <p:ph type="body" idx="1"/>
          </p:nvPr>
        </p:nvSpPr>
        <p:spPr/>
        <p:txBody>
          <a:bodyPr>
            <a:normAutofit fontScale="92500" lnSpcReduction="10000"/>
          </a:bodyPr>
          <a:lstStyle/>
          <a:p>
            <a:pPr>
              <a:defRPr/>
            </a:pPr>
            <a:r>
              <a:rPr lang="en-NZ" dirty="0"/>
              <a:t>Figure 8.17 shows the results of an experiment reported in, which compares the four algorithms that we have been discussing; </a:t>
            </a:r>
          </a:p>
          <a:p>
            <a:pPr>
              <a:defRPr/>
            </a:pPr>
            <a:endParaRPr lang="en-NZ" dirty="0"/>
          </a:p>
          <a:p>
            <a:pPr>
              <a:defRPr/>
            </a:pPr>
            <a:r>
              <a:rPr lang="en-NZ" dirty="0"/>
              <a:t>It is assumed that the number of page frames assigned to a process is fixed.</a:t>
            </a:r>
          </a:p>
          <a:p>
            <a:pPr>
              <a:defRPr/>
            </a:pPr>
            <a:endParaRPr lang="en-NZ" dirty="0"/>
          </a:p>
          <a:p>
            <a:pPr>
              <a:defRPr/>
            </a:pPr>
            <a:r>
              <a:rPr lang="en-NZ" dirty="0"/>
              <a:t>The results are based on the execution of 0.25 x 10</a:t>
            </a:r>
            <a:r>
              <a:rPr lang="en-NZ" baseline="30000" dirty="0"/>
              <a:t>6 </a:t>
            </a:r>
            <a:r>
              <a:rPr lang="en-NZ" dirty="0"/>
              <a:t>references in a FORTRAN program, using a page size of 256 words.</a:t>
            </a:r>
          </a:p>
          <a:p>
            <a:pPr>
              <a:defRPr/>
            </a:pPr>
            <a:endParaRPr lang="en-NZ" dirty="0"/>
          </a:p>
          <a:p>
            <a:pPr>
              <a:defRPr/>
            </a:pPr>
            <a:r>
              <a:rPr lang="en-NZ" dirty="0"/>
              <a:t>Baer ran the experiment with frame allocations of 6, 8, 10, 12, and 14 frames.</a:t>
            </a:r>
          </a:p>
          <a:p>
            <a:pPr>
              <a:defRPr/>
            </a:pPr>
            <a:endParaRPr lang="en-NZ" dirty="0"/>
          </a:p>
          <a:p>
            <a:pPr>
              <a:defRPr/>
            </a:pPr>
            <a:r>
              <a:rPr lang="en-NZ" dirty="0"/>
              <a:t>The differences among the four policies are most striking at small allocations, with FIFO being over a factor of 2 worse than optimal.</a:t>
            </a:r>
          </a:p>
          <a:p>
            <a:pPr>
              <a:defRPr/>
            </a:pPr>
            <a:endParaRPr lang="en-NZ" dirty="0"/>
          </a:p>
          <a:p>
            <a:pPr>
              <a:defRPr/>
            </a:pPr>
            <a:r>
              <a:rPr lang="en-NZ" dirty="0"/>
              <a:t>All four curves have the same shape as the idealized behavior shown in Figure 8.11b. </a:t>
            </a:r>
          </a:p>
          <a:p>
            <a:pPr>
              <a:defRPr/>
            </a:pPr>
            <a:endParaRPr lang="en-NZ" dirty="0"/>
          </a:p>
          <a:p>
            <a:pPr>
              <a:defRPr/>
            </a:pPr>
            <a:r>
              <a:rPr lang="en-NZ" dirty="0"/>
              <a:t>In order to run efficiently, we would like to be to the right of the knee of the curve (with a small page fault rate) while at the same time keeping a</a:t>
            </a:r>
          </a:p>
          <a:p>
            <a:pPr>
              <a:defRPr/>
            </a:pPr>
            <a:r>
              <a:rPr lang="en-NZ" dirty="0"/>
              <a:t>small frame allocation (to the left of the knee of the curve).</a:t>
            </a:r>
          </a:p>
          <a:p>
            <a:pPr>
              <a:defRPr/>
            </a:pPr>
            <a:endParaRPr lang="en-NZ" dirty="0"/>
          </a:p>
          <a:p>
            <a:pPr>
              <a:defRPr/>
            </a:pPr>
            <a:r>
              <a:rPr lang="en-NZ" dirty="0"/>
              <a:t>These two constraints indicate that a desirable mode of operation would be at the knee of the curve.</a:t>
            </a:r>
            <a:endParaRPr lang="en-US" dirty="0"/>
          </a:p>
        </p:txBody>
      </p:sp>
      <p:sp>
        <p:nvSpPr>
          <p:cNvPr id="4" name="Slide Number Placeholder 3"/>
          <p:cNvSpPr>
            <a:spLocks noGrp="1"/>
          </p:cNvSpPr>
          <p:nvPr>
            <p:ph type="sldNum" sz="quarter" idx="5"/>
          </p:nvPr>
        </p:nvSpPr>
        <p:spPr/>
        <p:txBody>
          <a:bodyPr/>
          <a:lstStyle/>
          <a:p>
            <a:pPr>
              <a:defRPr/>
            </a:pPr>
            <a:fld id="{0B969308-3514-4589-963A-CE2B47CE9DB8}" type="slidenum">
              <a:rPr lang="en-US" smtClean="0"/>
              <a:pPr>
                <a:defRPr/>
              </a:pPr>
              <a:t>82</a:t>
            </a:fld>
            <a:endParaRPr lang="en-US"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1">
        <a:schemeClr val="bg1"/>
      </p:bgRef>
    </p:bg>
    <p:spTree>
      <p:nvGrpSpPr>
        <p:cNvPr id="1" name=""/>
        <p:cNvGrpSpPr/>
        <p:nvPr/>
      </p:nvGrpSpPr>
      <p:grpSpPr>
        <a:xfrm>
          <a:off x="0" y="0"/>
          <a:ext cx="0" cy="0"/>
          <a:chOff x="0" y="0"/>
          <a:chExt cx="0" cy="0"/>
        </a:xfrm>
      </p:grpSpPr>
      <p:sp>
        <p:nvSpPr>
          <p:cNvPr id="8" name="Title 7"/>
          <p:cNvSpPr>
            <a:spLocks noGrp="1"/>
          </p:cNvSpPr>
          <p:nvPr>
            <p:ph type="ctrTitle"/>
          </p:nvPr>
        </p:nvSpPr>
        <p:spPr>
          <a:xfrm>
            <a:off x="2286000" y="3124200"/>
            <a:ext cx="6172200" cy="1894362"/>
          </a:xfrm>
        </p:spPr>
        <p:txBody>
          <a:bodyPr/>
          <a:lstStyle>
            <a:lvl1pPr>
              <a:defRPr b="1"/>
            </a:lvl1pPr>
          </a:lstStyle>
          <a:p>
            <a:r>
              <a:rPr kumimoji="0" lang="en-US"/>
              <a:t>Click to edit Master title style</a:t>
            </a:r>
          </a:p>
        </p:txBody>
      </p:sp>
      <p:sp>
        <p:nvSpPr>
          <p:cNvPr id="9" name="Subtitle 8"/>
          <p:cNvSpPr>
            <a:spLocks noGrp="1"/>
          </p:cNvSpPr>
          <p:nvPr>
            <p:ph type="subTitle" idx="1"/>
          </p:nvPr>
        </p:nvSpPr>
        <p:spPr>
          <a:xfrm>
            <a:off x="2286000" y="5003322"/>
            <a:ext cx="6172200" cy="1371600"/>
          </a:xfrm>
        </p:spPr>
        <p:txBody>
          <a:bodyPr/>
          <a:lstStyle>
            <a:lvl1pPr marL="0" indent="0" algn="l">
              <a:buNone/>
              <a:defRPr sz="1800" b="1">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p>
        </p:txBody>
      </p:sp>
      <p:sp>
        <p:nvSpPr>
          <p:cNvPr id="28" name="Date Placeholder 27"/>
          <p:cNvSpPr>
            <a:spLocks noGrp="1"/>
          </p:cNvSpPr>
          <p:nvPr>
            <p:ph type="dt" sz="half" idx="10"/>
          </p:nvPr>
        </p:nvSpPr>
        <p:spPr bwMode="auto">
          <a:xfrm rot="5400000">
            <a:off x="7764621" y="1174097"/>
            <a:ext cx="2286000" cy="381000"/>
          </a:xfrm>
        </p:spPr>
        <p:txBody>
          <a:bodyPr/>
          <a:lstStyle/>
          <a:p>
            <a:pPr>
              <a:defRPr/>
            </a:pPr>
            <a:fld id="{0F755E59-2295-47BF-858E-F9E5BC837C85}" type="datetimeFigureOut">
              <a:rPr lang="en-US" smtClean="0"/>
              <a:pPr>
                <a:defRPr/>
              </a:pPr>
              <a:t>12/22/2022</a:t>
            </a:fld>
            <a:endParaRPr lang="en-US" dirty="0"/>
          </a:p>
        </p:txBody>
      </p:sp>
      <p:sp>
        <p:nvSpPr>
          <p:cNvPr id="17" name="Footer Placeholder 16"/>
          <p:cNvSpPr>
            <a:spLocks noGrp="1"/>
          </p:cNvSpPr>
          <p:nvPr>
            <p:ph type="ftr" sz="quarter" idx="11"/>
          </p:nvPr>
        </p:nvSpPr>
        <p:spPr bwMode="auto">
          <a:xfrm rot="5400000">
            <a:off x="7077269" y="4181669"/>
            <a:ext cx="3657600" cy="384048"/>
          </a:xfrm>
        </p:spPr>
        <p:txBody>
          <a:bodyPr/>
          <a:lstStyle/>
          <a:p>
            <a:pPr>
              <a:defRPr/>
            </a:pPr>
            <a:endParaRPr lang="en-US"/>
          </a:p>
        </p:txBody>
      </p:sp>
      <p:sp>
        <p:nvSpPr>
          <p:cNvPr id="10" name="Rectangle 9"/>
          <p:cNvSpPr/>
          <p:nvPr/>
        </p:nvSpPr>
        <p:spPr bwMode="auto">
          <a:xfrm>
            <a:off x="381000" y="0"/>
            <a:ext cx="609600" cy="6858000"/>
          </a:xfrm>
          <a:prstGeom prst="rect">
            <a:avLst/>
          </a:prstGeom>
          <a:solidFill>
            <a:schemeClr val="accent1">
              <a:tint val="60000"/>
              <a:alpha val="54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Rectangle 11"/>
          <p:cNvSpPr/>
          <p:nvPr/>
        </p:nvSpPr>
        <p:spPr bwMode="auto">
          <a:xfrm>
            <a:off x="276336" y="0"/>
            <a:ext cx="104664" cy="6858000"/>
          </a:xfrm>
          <a:prstGeom prst="rect">
            <a:avLst/>
          </a:prstGeom>
          <a:solidFill>
            <a:schemeClr val="accent1">
              <a:tint val="40000"/>
              <a:alpha val="36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4" name="Rectangle 13"/>
          <p:cNvSpPr/>
          <p:nvPr/>
        </p:nvSpPr>
        <p:spPr bwMode="auto">
          <a:xfrm>
            <a:off x="990600" y="0"/>
            <a:ext cx="181872" cy="6858000"/>
          </a:xfrm>
          <a:prstGeom prst="rect">
            <a:avLst/>
          </a:prstGeom>
          <a:solidFill>
            <a:schemeClr val="accent1">
              <a:tint val="40000"/>
              <a:alpha val="7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9" name="Rectangle 18"/>
          <p:cNvSpPr/>
          <p:nvPr/>
        </p:nvSpPr>
        <p:spPr bwMode="auto">
          <a:xfrm>
            <a:off x="1141320" y="0"/>
            <a:ext cx="230280" cy="6858000"/>
          </a:xfrm>
          <a:prstGeom prst="rect">
            <a:avLst/>
          </a:prstGeom>
          <a:solidFill>
            <a:schemeClr val="accent1">
              <a:tint val="20000"/>
              <a:alpha val="7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Straight Connector 10"/>
          <p:cNvSpPr>
            <a:spLocks noChangeShapeType="1"/>
          </p:cNvSpPr>
          <p:nvPr/>
        </p:nvSpPr>
        <p:spPr bwMode="auto">
          <a:xfrm>
            <a:off x="106344" y="0"/>
            <a:ext cx="0" cy="6858000"/>
          </a:xfrm>
          <a:prstGeom prst="line">
            <a:avLst/>
          </a:prstGeom>
          <a:noFill/>
          <a:ln w="57150" cap="flat" cmpd="sng" algn="ctr">
            <a:solidFill>
              <a:schemeClr val="accent1">
                <a:tint val="60000"/>
                <a:alpha val="7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8" name="Straight Connector 17"/>
          <p:cNvSpPr>
            <a:spLocks noChangeShapeType="1"/>
          </p:cNvSpPr>
          <p:nvPr/>
        </p:nvSpPr>
        <p:spPr bwMode="auto">
          <a:xfrm>
            <a:off x="914400" y="0"/>
            <a:ext cx="0" cy="6858000"/>
          </a:xfrm>
          <a:prstGeom prst="line">
            <a:avLst/>
          </a:prstGeom>
          <a:noFill/>
          <a:ln w="57150" cap="flat" cmpd="sng" algn="ctr">
            <a:solidFill>
              <a:schemeClr val="accent1">
                <a:tint val="20000"/>
                <a:alpha val="8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0" name="Straight Connector 19"/>
          <p:cNvSpPr>
            <a:spLocks noChangeShapeType="1"/>
          </p:cNvSpPr>
          <p:nvPr/>
        </p:nvSpPr>
        <p:spPr bwMode="auto">
          <a:xfrm>
            <a:off x="854112" y="0"/>
            <a:ext cx="0" cy="6858000"/>
          </a:xfrm>
          <a:prstGeom prst="line">
            <a:avLst/>
          </a:prstGeom>
          <a:noFill/>
          <a:ln w="5715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6" name="Straight Connector 15"/>
          <p:cNvSpPr>
            <a:spLocks noChangeShapeType="1"/>
          </p:cNvSpPr>
          <p:nvPr/>
        </p:nvSpPr>
        <p:spPr bwMode="auto">
          <a:xfrm>
            <a:off x="1726640" y="0"/>
            <a:ext cx="0" cy="6858000"/>
          </a:xfrm>
          <a:prstGeom prst="line">
            <a:avLst/>
          </a:prstGeom>
          <a:noFill/>
          <a:ln w="28575" cap="flat" cmpd="sng" algn="ctr">
            <a:solidFill>
              <a:schemeClr val="accent1">
                <a:tint val="60000"/>
                <a:alpha val="82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5" name="Straight Connector 14"/>
          <p:cNvSpPr>
            <a:spLocks noChangeShapeType="1"/>
          </p:cNvSpPr>
          <p:nvPr/>
        </p:nvSpPr>
        <p:spPr bwMode="auto">
          <a:xfrm>
            <a:off x="1066800" y="0"/>
            <a:ext cx="0" cy="6858000"/>
          </a:xfrm>
          <a:prstGeom prst="line">
            <a:avLst/>
          </a:prstGeom>
          <a:noFill/>
          <a:ln w="9525"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2" name="Straight Connector 21"/>
          <p:cNvSpPr>
            <a:spLocks noChangeShapeType="1"/>
          </p:cNvSpPr>
          <p:nvPr/>
        </p:nvSpPr>
        <p:spPr bwMode="auto">
          <a:xfrm>
            <a:off x="9113856"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7" name="Rectangle 26"/>
          <p:cNvSpPr/>
          <p:nvPr/>
        </p:nvSpPr>
        <p:spPr bwMode="auto">
          <a:xfrm>
            <a:off x="1219200" y="0"/>
            <a:ext cx="76200" cy="6858000"/>
          </a:xfrm>
          <a:prstGeom prst="rect">
            <a:avLst/>
          </a:prstGeom>
          <a:solidFill>
            <a:schemeClr val="accent1">
              <a:tint val="60000"/>
              <a:alpha val="5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1" name="Oval 20"/>
          <p:cNvSpPr/>
          <p:nvPr/>
        </p:nvSpPr>
        <p:spPr bwMode="auto">
          <a:xfrm>
            <a:off x="609600" y="3429000"/>
            <a:ext cx="1295400" cy="1295400"/>
          </a:xfrm>
          <a:prstGeom prst="ellipse">
            <a:avLst/>
          </a:prstGeom>
          <a:solidFill>
            <a:schemeClr val="accent1"/>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3" name="Oval 22"/>
          <p:cNvSpPr/>
          <p:nvPr/>
        </p:nvSpPr>
        <p:spPr bwMode="auto">
          <a:xfrm>
            <a:off x="1309632" y="4866752"/>
            <a:ext cx="641424" cy="641424"/>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4" name="Oval 23"/>
          <p:cNvSpPr/>
          <p:nvPr/>
        </p:nvSpPr>
        <p:spPr bwMode="auto">
          <a:xfrm>
            <a:off x="1091080" y="5500632"/>
            <a:ext cx="137160" cy="13716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6" name="Oval 25"/>
          <p:cNvSpPr/>
          <p:nvPr/>
        </p:nvSpPr>
        <p:spPr bwMode="auto">
          <a:xfrm>
            <a:off x="1664208" y="5788152"/>
            <a:ext cx="274320" cy="27432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5" name="Oval 24"/>
          <p:cNvSpPr/>
          <p:nvPr/>
        </p:nvSpPr>
        <p:spPr>
          <a:xfrm>
            <a:off x="1905000" y="4495800"/>
            <a:ext cx="365760" cy="365760"/>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9" name="Slide Number Placeholder 28"/>
          <p:cNvSpPr>
            <a:spLocks noGrp="1"/>
          </p:cNvSpPr>
          <p:nvPr>
            <p:ph type="sldNum" sz="quarter" idx="12"/>
          </p:nvPr>
        </p:nvSpPr>
        <p:spPr bwMode="auto">
          <a:xfrm>
            <a:off x="1325544" y="4928702"/>
            <a:ext cx="609600" cy="517524"/>
          </a:xfrm>
        </p:spPr>
        <p:txBody>
          <a:bodyPr/>
          <a:lstStyle/>
          <a:p>
            <a:pPr>
              <a:defRPr/>
            </a:pPr>
            <a:fld id="{76E9D8CD-9731-44EE-BAD1-22C872044F61}" type="slidenum">
              <a:rPr lang="en-US" smtClean="0"/>
              <a:pPr>
                <a:defRPr/>
              </a:pPr>
              <a:t>‹#›</a:t>
            </a:fld>
            <a:endParaRPr 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8" name="Content Placeholder 7"/>
          <p:cNvSpPr>
            <a:spLocks noGrp="1"/>
          </p:cNvSpPr>
          <p:nvPr>
            <p:ph sz="quarter" idx="1"/>
          </p:nvPr>
        </p:nvSpPr>
        <p:spPr>
          <a:xfrm>
            <a:off x="457200" y="1600200"/>
            <a:ext cx="7467600" cy="4873752"/>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7" name="Date Placeholder 6"/>
          <p:cNvSpPr>
            <a:spLocks noGrp="1"/>
          </p:cNvSpPr>
          <p:nvPr>
            <p:ph type="dt" sz="half" idx="14"/>
          </p:nvPr>
        </p:nvSpPr>
        <p:spPr/>
        <p:txBody>
          <a:bodyPr rtlCol="0"/>
          <a:lstStyle/>
          <a:p>
            <a:pPr>
              <a:defRPr/>
            </a:pPr>
            <a:fld id="{0F755E59-2295-47BF-858E-F9E5BC837C85}" type="datetimeFigureOut">
              <a:rPr lang="en-US" smtClean="0"/>
              <a:pPr>
                <a:defRPr/>
              </a:pPr>
              <a:t>12/22/2022</a:t>
            </a:fld>
            <a:endParaRPr lang="en-US" dirty="0"/>
          </a:p>
        </p:txBody>
      </p:sp>
      <p:sp>
        <p:nvSpPr>
          <p:cNvPr id="9" name="Slide Number Placeholder 8"/>
          <p:cNvSpPr>
            <a:spLocks noGrp="1"/>
          </p:cNvSpPr>
          <p:nvPr>
            <p:ph type="sldNum" sz="quarter" idx="15"/>
          </p:nvPr>
        </p:nvSpPr>
        <p:spPr/>
        <p:txBody>
          <a:bodyPr rtlCol="0"/>
          <a:lstStyle/>
          <a:p>
            <a:pPr>
              <a:defRPr/>
            </a:pPr>
            <a:fld id="{76E9D8CD-9731-44EE-BAD1-22C872044F61}" type="slidenum">
              <a:rPr lang="en-US" smtClean="0"/>
              <a:pPr>
                <a:defRPr/>
              </a:pPr>
              <a:t>‹#›</a:t>
            </a:fld>
            <a:endParaRPr lang="en-US" dirty="0"/>
          </a:p>
        </p:txBody>
      </p:sp>
      <p:sp>
        <p:nvSpPr>
          <p:cNvPr id="10" name="Footer Placeholder 9"/>
          <p:cNvSpPr>
            <a:spLocks noGrp="1"/>
          </p:cNvSpPr>
          <p:nvPr>
            <p:ph type="ftr" sz="quarter" idx="16"/>
          </p:nvPr>
        </p:nvSpPr>
        <p:spPr/>
        <p:txBody>
          <a:bodyPr rtlCol="0"/>
          <a:lstStyle/>
          <a:p>
            <a:pPr>
              <a:defRPr/>
            </a:pPr>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2286000" y="2895600"/>
            <a:ext cx="6172200" cy="2053590"/>
          </a:xfrm>
        </p:spPr>
        <p:txBody>
          <a:bodyPr/>
          <a:lstStyle>
            <a:lvl1pPr algn="l">
              <a:buNone/>
              <a:defRPr sz="3000" b="1" cap="small" baseline="0"/>
            </a:lvl1pPr>
          </a:lstStyle>
          <a:p>
            <a:r>
              <a:rPr kumimoji="0" lang="en-US"/>
              <a:t>Click to edit Master title style</a:t>
            </a:r>
          </a:p>
        </p:txBody>
      </p:sp>
      <p:sp>
        <p:nvSpPr>
          <p:cNvPr id="3" name="Text Placeholder 2"/>
          <p:cNvSpPr>
            <a:spLocks noGrp="1"/>
          </p:cNvSpPr>
          <p:nvPr>
            <p:ph type="body" idx="1"/>
          </p:nvPr>
        </p:nvSpPr>
        <p:spPr>
          <a:xfrm>
            <a:off x="2286000" y="5010150"/>
            <a:ext cx="6172200" cy="1371600"/>
          </a:xfrm>
        </p:spPr>
        <p:txBody>
          <a:bodyPr anchor="t"/>
          <a:lstStyle>
            <a:lvl1pPr marL="0" indent="0">
              <a:buNone/>
              <a:defRPr sz="1800" b="1">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p>
        </p:txBody>
      </p:sp>
      <p:sp>
        <p:nvSpPr>
          <p:cNvPr id="4" name="Date Placeholder 3"/>
          <p:cNvSpPr>
            <a:spLocks noGrp="1"/>
          </p:cNvSpPr>
          <p:nvPr>
            <p:ph type="dt" sz="half" idx="10"/>
          </p:nvPr>
        </p:nvSpPr>
        <p:spPr bwMode="auto">
          <a:xfrm rot="5400000">
            <a:off x="7763256" y="1170432"/>
            <a:ext cx="2286000" cy="381000"/>
          </a:xfrm>
        </p:spPr>
        <p:txBody>
          <a:bodyPr/>
          <a:lstStyle/>
          <a:p>
            <a:pPr>
              <a:defRPr/>
            </a:pPr>
            <a:fld id="{0F755E59-2295-47BF-858E-F9E5BC837C85}" type="datetimeFigureOut">
              <a:rPr lang="en-US" smtClean="0"/>
              <a:pPr>
                <a:defRPr/>
              </a:pPr>
              <a:t>12/22/2022</a:t>
            </a:fld>
            <a:endParaRPr lang="en-US" dirty="0"/>
          </a:p>
        </p:txBody>
      </p:sp>
      <p:sp>
        <p:nvSpPr>
          <p:cNvPr id="5" name="Footer Placeholder 4"/>
          <p:cNvSpPr>
            <a:spLocks noGrp="1"/>
          </p:cNvSpPr>
          <p:nvPr>
            <p:ph type="ftr" sz="quarter" idx="11"/>
          </p:nvPr>
        </p:nvSpPr>
        <p:spPr bwMode="auto">
          <a:xfrm rot="5400000">
            <a:off x="7077456" y="4178808"/>
            <a:ext cx="3657600" cy="384048"/>
          </a:xfrm>
        </p:spPr>
        <p:txBody>
          <a:bodyPr/>
          <a:lstStyle/>
          <a:p>
            <a:pPr>
              <a:defRPr/>
            </a:pPr>
            <a:endParaRPr lang="en-US"/>
          </a:p>
        </p:txBody>
      </p:sp>
      <p:sp>
        <p:nvSpPr>
          <p:cNvPr id="9" name="Rectangle 8"/>
          <p:cNvSpPr/>
          <p:nvPr/>
        </p:nvSpPr>
        <p:spPr bwMode="auto">
          <a:xfrm>
            <a:off x="381000" y="0"/>
            <a:ext cx="609600" cy="6858000"/>
          </a:xfrm>
          <a:prstGeom prst="rect">
            <a:avLst/>
          </a:prstGeom>
          <a:solidFill>
            <a:schemeClr val="accent1">
              <a:tint val="60000"/>
              <a:alpha val="54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bwMode="auto">
          <a:xfrm>
            <a:off x="276336" y="0"/>
            <a:ext cx="104664" cy="6858000"/>
          </a:xfrm>
          <a:prstGeom prst="rect">
            <a:avLst/>
          </a:prstGeom>
          <a:solidFill>
            <a:schemeClr val="accent1">
              <a:tint val="40000"/>
              <a:alpha val="36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Rectangle 10"/>
          <p:cNvSpPr/>
          <p:nvPr/>
        </p:nvSpPr>
        <p:spPr bwMode="auto">
          <a:xfrm>
            <a:off x="990600" y="0"/>
            <a:ext cx="181872" cy="6858000"/>
          </a:xfrm>
          <a:prstGeom prst="rect">
            <a:avLst/>
          </a:prstGeom>
          <a:solidFill>
            <a:schemeClr val="accent1">
              <a:tint val="40000"/>
              <a:alpha val="7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Rectangle 11"/>
          <p:cNvSpPr/>
          <p:nvPr/>
        </p:nvSpPr>
        <p:spPr bwMode="auto">
          <a:xfrm>
            <a:off x="1141320" y="0"/>
            <a:ext cx="230280" cy="6858000"/>
          </a:xfrm>
          <a:prstGeom prst="rect">
            <a:avLst/>
          </a:prstGeom>
          <a:solidFill>
            <a:schemeClr val="accent1">
              <a:tint val="20000"/>
              <a:alpha val="7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Straight Connector 12"/>
          <p:cNvSpPr>
            <a:spLocks noChangeShapeType="1"/>
          </p:cNvSpPr>
          <p:nvPr/>
        </p:nvSpPr>
        <p:spPr bwMode="auto">
          <a:xfrm>
            <a:off x="106344" y="0"/>
            <a:ext cx="0" cy="6858000"/>
          </a:xfrm>
          <a:prstGeom prst="line">
            <a:avLst/>
          </a:prstGeom>
          <a:noFill/>
          <a:ln w="57150" cap="flat" cmpd="sng" algn="ctr">
            <a:solidFill>
              <a:schemeClr val="accent1">
                <a:tint val="60000"/>
                <a:alpha val="7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4" name="Straight Connector 13"/>
          <p:cNvSpPr>
            <a:spLocks noChangeShapeType="1"/>
          </p:cNvSpPr>
          <p:nvPr/>
        </p:nvSpPr>
        <p:spPr bwMode="auto">
          <a:xfrm>
            <a:off x="914400" y="0"/>
            <a:ext cx="0" cy="6858000"/>
          </a:xfrm>
          <a:prstGeom prst="line">
            <a:avLst/>
          </a:prstGeom>
          <a:noFill/>
          <a:ln w="57150" cap="flat" cmpd="sng" algn="ctr">
            <a:solidFill>
              <a:schemeClr val="accent1">
                <a:tint val="20000"/>
                <a:alpha val="8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5" name="Straight Connector 14"/>
          <p:cNvSpPr>
            <a:spLocks noChangeShapeType="1"/>
          </p:cNvSpPr>
          <p:nvPr/>
        </p:nvSpPr>
        <p:spPr bwMode="auto">
          <a:xfrm>
            <a:off x="854112" y="0"/>
            <a:ext cx="0" cy="6858000"/>
          </a:xfrm>
          <a:prstGeom prst="line">
            <a:avLst/>
          </a:prstGeom>
          <a:noFill/>
          <a:ln w="5715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6" name="Straight Connector 15"/>
          <p:cNvSpPr>
            <a:spLocks noChangeShapeType="1"/>
          </p:cNvSpPr>
          <p:nvPr/>
        </p:nvSpPr>
        <p:spPr bwMode="auto">
          <a:xfrm>
            <a:off x="1726640" y="0"/>
            <a:ext cx="0" cy="6858000"/>
          </a:xfrm>
          <a:prstGeom prst="line">
            <a:avLst/>
          </a:prstGeom>
          <a:noFill/>
          <a:ln w="28575" cap="flat" cmpd="sng" algn="ctr">
            <a:solidFill>
              <a:schemeClr val="accent1">
                <a:tint val="60000"/>
                <a:alpha val="82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7" name="Straight Connector 16"/>
          <p:cNvSpPr>
            <a:spLocks noChangeShapeType="1"/>
          </p:cNvSpPr>
          <p:nvPr/>
        </p:nvSpPr>
        <p:spPr bwMode="auto">
          <a:xfrm>
            <a:off x="1066800" y="0"/>
            <a:ext cx="0" cy="6858000"/>
          </a:xfrm>
          <a:prstGeom prst="line">
            <a:avLst/>
          </a:prstGeom>
          <a:noFill/>
          <a:ln w="9525"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8" name="Rectangle 17"/>
          <p:cNvSpPr/>
          <p:nvPr/>
        </p:nvSpPr>
        <p:spPr bwMode="auto">
          <a:xfrm>
            <a:off x="1219200" y="0"/>
            <a:ext cx="76200" cy="6858000"/>
          </a:xfrm>
          <a:prstGeom prst="rect">
            <a:avLst/>
          </a:prstGeom>
          <a:solidFill>
            <a:schemeClr val="accent1">
              <a:tint val="60000"/>
              <a:alpha val="5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9" name="Oval 18"/>
          <p:cNvSpPr/>
          <p:nvPr/>
        </p:nvSpPr>
        <p:spPr bwMode="auto">
          <a:xfrm>
            <a:off x="609600" y="3429000"/>
            <a:ext cx="1295400" cy="129540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0" name="Oval 19"/>
          <p:cNvSpPr/>
          <p:nvPr/>
        </p:nvSpPr>
        <p:spPr bwMode="auto">
          <a:xfrm>
            <a:off x="1324704" y="4866752"/>
            <a:ext cx="641424" cy="641424"/>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1" name="Oval 20"/>
          <p:cNvSpPr/>
          <p:nvPr/>
        </p:nvSpPr>
        <p:spPr bwMode="auto">
          <a:xfrm>
            <a:off x="1091080" y="5500632"/>
            <a:ext cx="137160" cy="13716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2" name="Oval 21"/>
          <p:cNvSpPr/>
          <p:nvPr/>
        </p:nvSpPr>
        <p:spPr bwMode="auto">
          <a:xfrm>
            <a:off x="1664208" y="5791200"/>
            <a:ext cx="274320" cy="27432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3" name="Oval 22"/>
          <p:cNvSpPr/>
          <p:nvPr/>
        </p:nvSpPr>
        <p:spPr bwMode="auto">
          <a:xfrm>
            <a:off x="1879040" y="4479888"/>
            <a:ext cx="365760" cy="365760"/>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6" name="Straight Connector 25"/>
          <p:cNvSpPr>
            <a:spLocks noChangeShapeType="1"/>
          </p:cNvSpPr>
          <p:nvPr/>
        </p:nvSpPr>
        <p:spPr bwMode="auto">
          <a:xfrm>
            <a:off x="9097944"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6" name="Slide Number Placeholder 5"/>
          <p:cNvSpPr>
            <a:spLocks noGrp="1"/>
          </p:cNvSpPr>
          <p:nvPr>
            <p:ph type="sldNum" sz="quarter" idx="12"/>
          </p:nvPr>
        </p:nvSpPr>
        <p:spPr bwMode="auto">
          <a:xfrm>
            <a:off x="1340616" y="4928702"/>
            <a:ext cx="609600" cy="517524"/>
          </a:xfrm>
        </p:spPr>
        <p:txBody>
          <a:bodyPr/>
          <a:lstStyle/>
          <a:p>
            <a:pPr>
              <a:defRPr/>
            </a:pPr>
            <a:fld id="{76E9D8CD-9731-44EE-BAD1-22C872044F61}" type="slidenum">
              <a:rPr lang="en-US" smtClean="0"/>
              <a:pPr>
                <a:defRPr/>
              </a:pPr>
              <a:t>‹#›</a:t>
            </a:fld>
            <a:endParaRPr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5" name="Date Placeholder 4"/>
          <p:cNvSpPr>
            <a:spLocks noGrp="1"/>
          </p:cNvSpPr>
          <p:nvPr>
            <p:ph type="dt" sz="half" idx="10"/>
          </p:nvPr>
        </p:nvSpPr>
        <p:spPr/>
        <p:txBody>
          <a:bodyPr/>
          <a:lstStyle/>
          <a:p>
            <a:pPr>
              <a:defRPr/>
            </a:pPr>
            <a:fld id="{0F755E59-2295-47BF-858E-F9E5BC837C85}" type="datetimeFigureOut">
              <a:rPr lang="en-US" smtClean="0"/>
              <a:pPr>
                <a:defRPr/>
              </a:pPr>
              <a:t>12/22/2022</a:t>
            </a:fld>
            <a:endParaRPr lang="en-US" dirty="0"/>
          </a:p>
        </p:txBody>
      </p:sp>
      <p:sp>
        <p:nvSpPr>
          <p:cNvPr id="6" name="Footer Placeholder 5"/>
          <p:cNvSpPr>
            <a:spLocks noGrp="1"/>
          </p:cNvSpPr>
          <p:nvPr>
            <p:ph type="ftr" sz="quarter" idx="11"/>
          </p:nvPr>
        </p:nvSpPr>
        <p:spPr/>
        <p:txBody>
          <a:bodyPr/>
          <a:lstStyle/>
          <a:p>
            <a:pPr>
              <a:defRPr/>
            </a:pPr>
            <a:endParaRPr lang="en-US"/>
          </a:p>
        </p:txBody>
      </p:sp>
      <p:sp>
        <p:nvSpPr>
          <p:cNvPr id="7" name="Slide Number Placeholder 6"/>
          <p:cNvSpPr>
            <a:spLocks noGrp="1"/>
          </p:cNvSpPr>
          <p:nvPr>
            <p:ph type="sldNum" sz="quarter" idx="12"/>
          </p:nvPr>
        </p:nvSpPr>
        <p:spPr/>
        <p:txBody>
          <a:bodyPr/>
          <a:lstStyle/>
          <a:p>
            <a:pPr>
              <a:defRPr/>
            </a:pPr>
            <a:fld id="{76E9D8CD-9731-44EE-BAD1-22C872044F61}" type="slidenum">
              <a:rPr lang="en-US" smtClean="0"/>
              <a:pPr>
                <a:defRPr/>
              </a:pPr>
              <a:t>‹#›</a:t>
            </a:fld>
            <a:endParaRPr lang="en-US" dirty="0"/>
          </a:p>
        </p:txBody>
      </p:sp>
      <p:sp>
        <p:nvSpPr>
          <p:cNvPr id="9" name="Content Placeholder 8"/>
          <p:cNvSpPr>
            <a:spLocks noGrp="1"/>
          </p:cNvSpPr>
          <p:nvPr>
            <p:ph sz="quarter" idx="1"/>
          </p:nvPr>
        </p:nvSpPr>
        <p:spPr>
          <a:xfrm>
            <a:off x="457200" y="1600200"/>
            <a:ext cx="3657600" cy="45720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1" name="Content Placeholder 10"/>
          <p:cNvSpPr>
            <a:spLocks noGrp="1"/>
          </p:cNvSpPr>
          <p:nvPr>
            <p:ph sz="quarter" idx="2"/>
          </p:nvPr>
        </p:nvSpPr>
        <p:spPr>
          <a:xfrm>
            <a:off x="4270248" y="1600200"/>
            <a:ext cx="3657600" cy="45720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7543800" cy="1143000"/>
          </a:xfrm>
        </p:spPr>
        <p:txBody>
          <a:bodyPr anchor="b"/>
          <a:lstStyle>
            <a:lvl1pPr>
              <a:defRPr/>
            </a:lvl1pPr>
          </a:lstStyle>
          <a:p>
            <a:r>
              <a:rPr kumimoji="0" lang="en-US"/>
              <a:t>Click to edit Master title style</a:t>
            </a:r>
          </a:p>
        </p:txBody>
      </p:sp>
      <p:sp>
        <p:nvSpPr>
          <p:cNvPr id="7" name="Date Placeholder 6"/>
          <p:cNvSpPr>
            <a:spLocks noGrp="1"/>
          </p:cNvSpPr>
          <p:nvPr>
            <p:ph type="dt" sz="half" idx="10"/>
          </p:nvPr>
        </p:nvSpPr>
        <p:spPr/>
        <p:txBody>
          <a:bodyPr/>
          <a:lstStyle/>
          <a:p>
            <a:pPr>
              <a:defRPr/>
            </a:pPr>
            <a:fld id="{0F755E59-2295-47BF-858E-F9E5BC837C85}" type="datetimeFigureOut">
              <a:rPr lang="en-US" smtClean="0"/>
              <a:pPr>
                <a:defRPr/>
              </a:pPr>
              <a:t>12/22/2022</a:t>
            </a:fld>
            <a:endParaRPr lang="en-US" dirty="0"/>
          </a:p>
        </p:txBody>
      </p:sp>
      <p:sp>
        <p:nvSpPr>
          <p:cNvPr id="8" name="Footer Placeholder 7"/>
          <p:cNvSpPr>
            <a:spLocks noGrp="1"/>
          </p:cNvSpPr>
          <p:nvPr>
            <p:ph type="ftr" sz="quarter" idx="11"/>
          </p:nvPr>
        </p:nvSpPr>
        <p:spPr/>
        <p:txBody>
          <a:bodyPr/>
          <a:lstStyle/>
          <a:p>
            <a:pPr>
              <a:defRPr/>
            </a:pPr>
            <a:endParaRPr lang="en-US"/>
          </a:p>
        </p:txBody>
      </p:sp>
      <p:sp>
        <p:nvSpPr>
          <p:cNvPr id="9" name="Slide Number Placeholder 8"/>
          <p:cNvSpPr>
            <a:spLocks noGrp="1"/>
          </p:cNvSpPr>
          <p:nvPr>
            <p:ph type="sldNum" sz="quarter" idx="12"/>
          </p:nvPr>
        </p:nvSpPr>
        <p:spPr/>
        <p:txBody>
          <a:bodyPr/>
          <a:lstStyle/>
          <a:p>
            <a:pPr>
              <a:defRPr/>
            </a:pPr>
            <a:fld id="{76E9D8CD-9731-44EE-BAD1-22C872044F61}" type="slidenum">
              <a:rPr lang="en-US" smtClean="0"/>
              <a:pPr>
                <a:defRPr/>
              </a:pPr>
              <a:t>‹#›</a:t>
            </a:fld>
            <a:endParaRPr lang="en-US" dirty="0"/>
          </a:p>
        </p:txBody>
      </p:sp>
      <p:sp>
        <p:nvSpPr>
          <p:cNvPr id="11" name="Content Placeholder 10"/>
          <p:cNvSpPr>
            <a:spLocks noGrp="1"/>
          </p:cNvSpPr>
          <p:nvPr>
            <p:ph sz="quarter" idx="2"/>
          </p:nvPr>
        </p:nvSpPr>
        <p:spPr>
          <a:xfrm>
            <a:off x="457200" y="2362200"/>
            <a:ext cx="3657600" cy="38862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3" name="Content Placeholder 12"/>
          <p:cNvSpPr>
            <a:spLocks noGrp="1"/>
          </p:cNvSpPr>
          <p:nvPr>
            <p:ph sz="quarter" idx="4"/>
          </p:nvPr>
        </p:nvSpPr>
        <p:spPr>
          <a:xfrm>
            <a:off x="4371975" y="2362200"/>
            <a:ext cx="3657600" cy="38862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2" name="Text Placeholder 11"/>
          <p:cNvSpPr>
            <a:spLocks noGrp="1"/>
          </p:cNvSpPr>
          <p:nvPr>
            <p:ph type="body" sz="quarter" idx="1"/>
          </p:nvPr>
        </p:nvSpPr>
        <p:spPr>
          <a:xfrm>
            <a:off x="457200" y="1569720"/>
            <a:ext cx="3657600" cy="658368"/>
          </a:xfrm>
          <a:prstGeom prst="roundRect">
            <a:avLst>
              <a:gd name="adj" fmla="val 16667"/>
            </a:avLst>
          </a:prstGeom>
          <a:solidFill>
            <a:schemeClr val="accent1"/>
          </a:solidFill>
        </p:spPr>
        <p:txBody>
          <a:bodyPr rtlCol="0" anchor="ctr">
            <a:noAutofit/>
          </a:bodyPr>
          <a:lstStyle>
            <a:lvl1pPr marL="0" indent="0">
              <a:buFontTx/>
              <a:buNone/>
              <a:defRPr sz="2000" b="1">
                <a:solidFill>
                  <a:srgbClr val="FFFFFF"/>
                </a:solidFill>
              </a:defRPr>
            </a:lvl1pPr>
          </a:lstStyle>
          <a:p>
            <a:pPr lvl="0" eaLnBrk="1" latinLnBrk="0" hangingPunct="1"/>
            <a:r>
              <a:rPr kumimoji="0" lang="en-US"/>
              <a:t>Click to edit Master text styles</a:t>
            </a:r>
          </a:p>
        </p:txBody>
      </p:sp>
      <p:sp>
        <p:nvSpPr>
          <p:cNvPr id="14" name="Text Placeholder 13"/>
          <p:cNvSpPr>
            <a:spLocks noGrp="1"/>
          </p:cNvSpPr>
          <p:nvPr>
            <p:ph type="body" sz="quarter" idx="3"/>
          </p:nvPr>
        </p:nvSpPr>
        <p:spPr>
          <a:xfrm>
            <a:off x="4343400" y="1569720"/>
            <a:ext cx="3657600" cy="658368"/>
          </a:xfrm>
          <a:prstGeom prst="roundRect">
            <a:avLst>
              <a:gd name="adj" fmla="val 16667"/>
            </a:avLst>
          </a:prstGeom>
          <a:solidFill>
            <a:schemeClr val="accent1"/>
          </a:solidFill>
        </p:spPr>
        <p:txBody>
          <a:bodyPr rtlCol="0" anchor="ctr">
            <a:noAutofit/>
          </a:bodyPr>
          <a:lstStyle>
            <a:lvl1pPr marL="0" indent="0">
              <a:buFontTx/>
              <a:buNone/>
              <a:defRPr sz="2000" b="1">
                <a:solidFill>
                  <a:srgbClr val="FFFFFF"/>
                </a:solidFill>
              </a:defRPr>
            </a:lvl1pPr>
          </a:lstStyle>
          <a:p>
            <a:pPr lvl="0" eaLnBrk="1" latinLnBrk="0" hangingPunct="1"/>
            <a:r>
              <a:rPr kumimoji="0" lang="en-US"/>
              <a:t>Click to edit Master text styles</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6" name="Date Placeholder 5"/>
          <p:cNvSpPr>
            <a:spLocks noGrp="1"/>
          </p:cNvSpPr>
          <p:nvPr>
            <p:ph type="dt" sz="half" idx="10"/>
          </p:nvPr>
        </p:nvSpPr>
        <p:spPr/>
        <p:txBody>
          <a:bodyPr rtlCol="0"/>
          <a:lstStyle/>
          <a:p>
            <a:pPr>
              <a:defRPr/>
            </a:pPr>
            <a:fld id="{0F755E59-2295-47BF-858E-F9E5BC837C85}" type="datetimeFigureOut">
              <a:rPr lang="en-US" smtClean="0"/>
              <a:pPr>
                <a:defRPr/>
              </a:pPr>
              <a:t>12/22/2022</a:t>
            </a:fld>
            <a:endParaRPr lang="en-US" dirty="0"/>
          </a:p>
        </p:txBody>
      </p:sp>
      <p:sp>
        <p:nvSpPr>
          <p:cNvPr id="7" name="Slide Number Placeholder 6"/>
          <p:cNvSpPr>
            <a:spLocks noGrp="1"/>
          </p:cNvSpPr>
          <p:nvPr>
            <p:ph type="sldNum" sz="quarter" idx="11"/>
          </p:nvPr>
        </p:nvSpPr>
        <p:spPr/>
        <p:txBody>
          <a:bodyPr rtlCol="0"/>
          <a:lstStyle/>
          <a:p>
            <a:pPr>
              <a:defRPr/>
            </a:pPr>
            <a:fld id="{76E9D8CD-9731-44EE-BAD1-22C872044F61}" type="slidenum">
              <a:rPr lang="en-US" smtClean="0"/>
              <a:pPr>
                <a:defRPr/>
              </a:pPr>
              <a:t>‹#›</a:t>
            </a:fld>
            <a:endParaRPr lang="en-US" dirty="0"/>
          </a:p>
        </p:txBody>
      </p:sp>
      <p:sp>
        <p:nvSpPr>
          <p:cNvPr id="8" name="Footer Placeholder 7"/>
          <p:cNvSpPr>
            <a:spLocks noGrp="1"/>
          </p:cNvSpPr>
          <p:nvPr>
            <p:ph type="ftr" sz="quarter" idx="12"/>
          </p:nvPr>
        </p:nvSpPr>
        <p:spPr/>
        <p:txBody>
          <a:bodyPr rtlCol="0"/>
          <a:lstStyle/>
          <a:p>
            <a:pPr>
              <a:defRPr/>
            </a:pPr>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a:defRPr/>
            </a:pPr>
            <a:fld id="{0F755E59-2295-47BF-858E-F9E5BC837C85}" type="datetimeFigureOut">
              <a:rPr lang="en-US" smtClean="0"/>
              <a:pPr>
                <a:defRPr/>
              </a:pPr>
              <a:t>12/22/2022</a:t>
            </a:fld>
            <a:endParaRPr lang="en-US" dirty="0"/>
          </a:p>
        </p:txBody>
      </p:sp>
      <p:sp>
        <p:nvSpPr>
          <p:cNvPr id="3" name="Footer Placeholder 2"/>
          <p:cNvSpPr>
            <a:spLocks noGrp="1"/>
          </p:cNvSpPr>
          <p:nvPr>
            <p:ph type="ftr" sz="quarter" idx="11"/>
          </p:nvPr>
        </p:nvSpPr>
        <p:spPr/>
        <p:txBody>
          <a:bodyPr/>
          <a:lstStyle/>
          <a:p>
            <a:pPr>
              <a:defRPr/>
            </a:pPr>
            <a:endParaRPr lang="en-US"/>
          </a:p>
        </p:txBody>
      </p:sp>
      <p:sp>
        <p:nvSpPr>
          <p:cNvPr id="4" name="Slide Number Placeholder 3"/>
          <p:cNvSpPr>
            <a:spLocks noGrp="1"/>
          </p:cNvSpPr>
          <p:nvPr>
            <p:ph type="sldNum" sz="quarter" idx="12"/>
          </p:nvPr>
        </p:nvSpPr>
        <p:spPr/>
        <p:txBody>
          <a:bodyPr/>
          <a:lstStyle/>
          <a:p>
            <a:pPr>
              <a:defRPr/>
            </a:pPr>
            <a:fld id="{76E9D8CD-9731-44EE-BAD1-22C872044F61}" type="slidenum">
              <a:rPr lang="en-US" smtClean="0"/>
              <a:pPr>
                <a:defRPr/>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bg>
      <p:bgRef idx="1001">
        <a:schemeClr val="bg1"/>
      </p:bgRef>
    </p:bg>
    <p:spTree>
      <p:nvGrpSpPr>
        <p:cNvPr id="1" name=""/>
        <p:cNvGrpSpPr/>
        <p:nvPr/>
      </p:nvGrpSpPr>
      <p:grpSpPr>
        <a:xfrm>
          <a:off x="0" y="0"/>
          <a:ext cx="0" cy="0"/>
          <a:chOff x="0" y="0"/>
          <a:chExt cx="0" cy="0"/>
        </a:xfrm>
      </p:grpSpPr>
      <p:sp>
        <p:nvSpPr>
          <p:cNvPr id="10" name="Straight Connector 9"/>
          <p:cNvSpPr>
            <a:spLocks noChangeShapeType="1"/>
          </p:cNvSpPr>
          <p:nvPr/>
        </p:nvSpPr>
        <p:spPr bwMode="auto">
          <a:xfrm>
            <a:off x="8763000" y="0"/>
            <a:ext cx="0" cy="6858000"/>
          </a:xfrm>
          <a:prstGeom prst="line">
            <a:avLst/>
          </a:prstGeom>
          <a:noFill/>
          <a:ln w="38100" cap="flat" cmpd="sng" algn="ctr">
            <a:solidFill>
              <a:schemeClr val="accent1">
                <a:tint val="60000"/>
                <a:alpha val="93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2" name="Title 1"/>
          <p:cNvSpPr>
            <a:spLocks noGrp="1"/>
          </p:cNvSpPr>
          <p:nvPr>
            <p:ph type="title"/>
          </p:nvPr>
        </p:nvSpPr>
        <p:spPr>
          <a:xfrm rot="5400000">
            <a:off x="3371850" y="3200400"/>
            <a:ext cx="6309360" cy="457200"/>
          </a:xfrm>
        </p:spPr>
        <p:txBody>
          <a:bodyPr anchor="b"/>
          <a:lstStyle>
            <a:lvl1pPr algn="l">
              <a:buNone/>
              <a:defRPr sz="2000" b="1" cap="small" baseline="0"/>
            </a:lvl1pPr>
          </a:lstStyle>
          <a:p>
            <a:r>
              <a:rPr kumimoji="0" lang="en-US"/>
              <a:t>Click to edit Master title style</a:t>
            </a:r>
          </a:p>
        </p:txBody>
      </p:sp>
      <p:sp>
        <p:nvSpPr>
          <p:cNvPr id="3" name="Text Placeholder 2"/>
          <p:cNvSpPr>
            <a:spLocks noGrp="1"/>
          </p:cNvSpPr>
          <p:nvPr>
            <p:ph type="body" idx="2"/>
          </p:nvPr>
        </p:nvSpPr>
        <p:spPr>
          <a:xfrm>
            <a:off x="6812280" y="274320"/>
            <a:ext cx="1527048" cy="4983480"/>
          </a:xfrm>
        </p:spPr>
        <p:txBody>
          <a:bodyPr/>
          <a:lstStyle>
            <a:lvl1pPr marL="0" indent="0">
              <a:spcBef>
                <a:spcPts val="400"/>
              </a:spcBef>
              <a:spcAft>
                <a:spcPts val="1000"/>
              </a:spcAft>
              <a:buNone/>
              <a:defRPr sz="1200"/>
            </a:lvl1pPr>
            <a:lvl2pPr>
              <a:buNone/>
              <a:defRPr sz="1200"/>
            </a:lvl2pPr>
            <a:lvl3pPr>
              <a:buNone/>
              <a:defRPr sz="1000"/>
            </a:lvl3pPr>
            <a:lvl4pPr>
              <a:buNone/>
              <a:defRPr sz="900"/>
            </a:lvl4pPr>
            <a:lvl5pPr>
              <a:buNone/>
              <a:defRPr sz="900"/>
            </a:lvl5pPr>
          </a:lstStyle>
          <a:p>
            <a:pPr lvl="0" eaLnBrk="1" latinLnBrk="0" hangingPunct="1"/>
            <a:r>
              <a:rPr kumimoji="0" lang="en-US"/>
              <a:t>Click to edit Master text styles</a:t>
            </a:r>
          </a:p>
        </p:txBody>
      </p:sp>
      <p:sp>
        <p:nvSpPr>
          <p:cNvPr id="8" name="Straight Connector 7"/>
          <p:cNvSpPr>
            <a:spLocks noChangeShapeType="1"/>
          </p:cNvSpPr>
          <p:nvPr/>
        </p:nvSpPr>
        <p:spPr bwMode="auto">
          <a:xfrm>
            <a:off x="62484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9" name="Straight Connector 8"/>
          <p:cNvSpPr>
            <a:spLocks noChangeShapeType="1"/>
          </p:cNvSpPr>
          <p:nvPr/>
        </p:nvSpPr>
        <p:spPr bwMode="auto">
          <a:xfrm>
            <a:off x="6192296" y="0"/>
            <a:ext cx="0" cy="6858000"/>
          </a:xfrm>
          <a:prstGeom prst="line">
            <a:avLst/>
          </a:prstGeom>
          <a:noFill/>
          <a:ln w="1270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11" name="Straight Connector 10"/>
          <p:cNvSpPr>
            <a:spLocks noChangeShapeType="1"/>
          </p:cNvSpPr>
          <p:nvPr/>
        </p:nvSpPr>
        <p:spPr bwMode="auto">
          <a:xfrm>
            <a:off x="8991600" y="0"/>
            <a:ext cx="0" cy="6858000"/>
          </a:xfrm>
          <a:prstGeom prst="line">
            <a:avLst/>
          </a:prstGeom>
          <a:noFill/>
          <a:ln w="1905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2" name="Rectangle 11"/>
          <p:cNvSpPr/>
          <p:nvPr/>
        </p:nvSpPr>
        <p:spPr bwMode="auto">
          <a:xfrm>
            <a:off x="8839200" y="0"/>
            <a:ext cx="304800" cy="6858000"/>
          </a:xfrm>
          <a:prstGeom prst="rect">
            <a:avLst/>
          </a:prstGeom>
          <a:solidFill>
            <a:schemeClr val="accent1">
              <a:tint val="60000"/>
              <a:alpha val="87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Straight Connector 12"/>
          <p:cNvSpPr>
            <a:spLocks noChangeShapeType="1"/>
          </p:cNvSpPr>
          <p:nvPr/>
        </p:nvSpPr>
        <p:spPr bwMode="auto">
          <a:xfrm>
            <a:off x="8915400" y="0"/>
            <a:ext cx="0" cy="6858000"/>
          </a:xfrm>
          <a:prstGeom prst="line">
            <a:avLst/>
          </a:prstGeom>
          <a:noFill/>
          <a:ln w="9525"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4" name="Oval 13"/>
          <p:cNvSpPr/>
          <p:nvPr/>
        </p:nvSpPr>
        <p:spPr>
          <a:xfrm>
            <a:off x="8156448" y="5715000"/>
            <a:ext cx="548640" cy="54864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8" name="Content Placeholder 17"/>
          <p:cNvSpPr>
            <a:spLocks noGrp="1"/>
          </p:cNvSpPr>
          <p:nvPr>
            <p:ph sz="quarter" idx="1"/>
          </p:nvPr>
        </p:nvSpPr>
        <p:spPr>
          <a:xfrm>
            <a:off x="304800" y="274320"/>
            <a:ext cx="5638800" cy="6327648"/>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21" name="Date Placeholder 20"/>
          <p:cNvSpPr>
            <a:spLocks noGrp="1"/>
          </p:cNvSpPr>
          <p:nvPr>
            <p:ph type="dt" sz="half" idx="14"/>
          </p:nvPr>
        </p:nvSpPr>
        <p:spPr/>
        <p:txBody>
          <a:bodyPr rtlCol="0"/>
          <a:lstStyle/>
          <a:p>
            <a:pPr>
              <a:defRPr/>
            </a:pPr>
            <a:fld id="{0F755E59-2295-47BF-858E-F9E5BC837C85}" type="datetimeFigureOut">
              <a:rPr lang="en-US" smtClean="0"/>
              <a:pPr>
                <a:defRPr/>
              </a:pPr>
              <a:t>12/22/2022</a:t>
            </a:fld>
            <a:endParaRPr lang="en-US" dirty="0"/>
          </a:p>
        </p:txBody>
      </p:sp>
      <p:sp>
        <p:nvSpPr>
          <p:cNvPr id="22" name="Slide Number Placeholder 21"/>
          <p:cNvSpPr>
            <a:spLocks noGrp="1"/>
          </p:cNvSpPr>
          <p:nvPr>
            <p:ph type="sldNum" sz="quarter" idx="15"/>
          </p:nvPr>
        </p:nvSpPr>
        <p:spPr/>
        <p:txBody>
          <a:bodyPr rtlCol="0"/>
          <a:lstStyle/>
          <a:p>
            <a:pPr>
              <a:defRPr/>
            </a:pPr>
            <a:fld id="{76E9D8CD-9731-44EE-BAD1-22C872044F61}" type="slidenum">
              <a:rPr lang="en-US" smtClean="0"/>
              <a:pPr>
                <a:defRPr/>
              </a:pPr>
              <a:t>‹#›</a:t>
            </a:fld>
            <a:endParaRPr lang="en-US" dirty="0"/>
          </a:p>
        </p:txBody>
      </p:sp>
      <p:sp>
        <p:nvSpPr>
          <p:cNvPr id="23" name="Footer Placeholder 22"/>
          <p:cNvSpPr>
            <a:spLocks noGrp="1"/>
          </p:cNvSpPr>
          <p:nvPr>
            <p:ph type="ftr" sz="quarter" idx="16"/>
          </p:nvPr>
        </p:nvSpPr>
        <p:spPr/>
        <p:txBody>
          <a:bodyPr rtlCol="0"/>
          <a:lstStyle/>
          <a:p>
            <a:pPr>
              <a:defRPr/>
            </a:pPr>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9" name="Straight Connector 8"/>
          <p:cNvSpPr>
            <a:spLocks noChangeShapeType="1"/>
          </p:cNvSpPr>
          <p:nvPr/>
        </p:nvSpPr>
        <p:spPr bwMode="auto">
          <a:xfrm>
            <a:off x="87630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3" name="Oval 12"/>
          <p:cNvSpPr/>
          <p:nvPr/>
        </p:nvSpPr>
        <p:spPr>
          <a:xfrm>
            <a:off x="8156448" y="5715000"/>
            <a:ext cx="548640" cy="54864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 name="Title 1"/>
          <p:cNvSpPr>
            <a:spLocks noGrp="1"/>
          </p:cNvSpPr>
          <p:nvPr>
            <p:ph type="title"/>
          </p:nvPr>
        </p:nvSpPr>
        <p:spPr>
          <a:xfrm rot="5400000">
            <a:off x="3350133" y="3200400"/>
            <a:ext cx="6309360" cy="457200"/>
          </a:xfrm>
        </p:spPr>
        <p:txBody>
          <a:bodyPr anchor="b"/>
          <a:lstStyle>
            <a:lvl1pPr algn="l">
              <a:buNone/>
              <a:defRPr sz="2000" b="1"/>
            </a:lvl1pPr>
          </a:lstStyle>
          <a:p>
            <a:r>
              <a:rPr kumimoji="0" lang="en-US"/>
              <a:t>Click to edit Master title style</a:t>
            </a:r>
          </a:p>
        </p:txBody>
      </p:sp>
      <p:sp>
        <p:nvSpPr>
          <p:cNvPr id="3" name="Picture Placeholder 2"/>
          <p:cNvSpPr>
            <a:spLocks noGrp="1"/>
          </p:cNvSpPr>
          <p:nvPr>
            <p:ph type="pic" idx="1"/>
          </p:nvPr>
        </p:nvSpPr>
        <p:spPr>
          <a:xfrm>
            <a:off x="0" y="0"/>
            <a:ext cx="6172200" cy="6858000"/>
          </a:xfrm>
          <a:solidFill>
            <a:schemeClr val="bg2"/>
          </a:solidFill>
          <a:ln w="1270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lstStyle>
            <a:lvl1pPr marL="0" indent="0">
              <a:buNone/>
              <a:defRPr sz="3200"/>
            </a:lvl1pPr>
          </a:lstStyle>
          <a:p>
            <a:pPr algn="ctr" eaLnBrk="1" latinLnBrk="0" hangingPunct="1">
              <a:buFontTx/>
              <a:buNone/>
            </a:pPr>
            <a:r>
              <a:rPr kumimoji="0" lang="en-US"/>
              <a:t>Click icon to add picture</a:t>
            </a:r>
            <a:endParaRPr kumimoji="0" lang="en-US" dirty="0"/>
          </a:p>
        </p:txBody>
      </p:sp>
      <p:sp>
        <p:nvSpPr>
          <p:cNvPr id="4" name="Text Placeholder 3"/>
          <p:cNvSpPr>
            <a:spLocks noGrp="1"/>
          </p:cNvSpPr>
          <p:nvPr>
            <p:ph type="body" sz="half" idx="2"/>
          </p:nvPr>
        </p:nvSpPr>
        <p:spPr>
          <a:xfrm>
            <a:off x="6765798" y="264795"/>
            <a:ext cx="1524000" cy="4956048"/>
          </a:xfrm>
        </p:spPr>
        <p:txBody>
          <a:bodyPr rot="0" spcFirstLastPara="0" vertOverflow="overflow" horzOverflow="overflow" vert="horz" wrap="square" lIns="91440" tIns="45720" rIns="91440" bIns="45720" numCol="1" spcCol="274320" rtlCol="0" fromWordArt="0" anchor="t" anchorCtr="0" forceAA="0" compatLnSpc="1">
            <a:normAutofit/>
          </a:bodyPr>
          <a:lstStyle>
            <a:lvl1pPr marL="0" indent="0">
              <a:spcBef>
                <a:spcPts val="100"/>
              </a:spcBef>
              <a:spcAft>
                <a:spcPts val="400"/>
              </a:spcAft>
              <a:buFontTx/>
              <a:buNone/>
              <a:defRPr sz="1200"/>
            </a:lvl1pPr>
            <a:lvl2pPr>
              <a:defRPr sz="1200"/>
            </a:lvl2pPr>
            <a:lvl3pPr>
              <a:defRPr sz="1000"/>
            </a:lvl3pPr>
            <a:lvl4pPr>
              <a:defRPr sz="900"/>
            </a:lvl4pPr>
            <a:lvl5pPr>
              <a:defRPr sz="900"/>
            </a:lvl5pPr>
          </a:lstStyle>
          <a:p>
            <a:pPr lvl="0" eaLnBrk="1" latinLnBrk="0" hangingPunct="1"/>
            <a:r>
              <a:rPr kumimoji="0" lang="en-US"/>
              <a:t>Click to edit Master text styles</a:t>
            </a:r>
          </a:p>
        </p:txBody>
      </p:sp>
      <p:sp>
        <p:nvSpPr>
          <p:cNvPr id="10" name="Straight Connector 9"/>
          <p:cNvSpPr>
            <a:spLocks noChangeShapeType="1"/>
          </p:cNvSpPr>
          <p:nvPr/>
        </p:nvSpPr>
        <p:spPr bwMode="auto">
          <a:xfrm>
            <a:off x="8991600" y="0"/>
            <a:ext cx="0" cy="6858000"/>
          </a:xfrm>
          <a:prstGeom prst="line">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1" name="Rectangle 10"/>
          <p:cNvSpPr/>
          <p:nvPr/>
        </p:nvSpPr>
        <p:spPr bwMode="auto">
          <a:xfrm>
            <a:off x="8839200" y="0"/>
            <a:ext cx="304800" cy="6858000"/>
          </a:xfrm>
          <a:prstGeom prst="rect">
            <a:avLst/>
          </a:prstGeom>
          <a:solidFill>
            <a:schemeClr val="accent1">
              <a:tint val="6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Straight Connector 11"/>
          <p:cNvSpPr>
            <a:spLocks noChangeShapeType="1"/>
          </p:cNvSpPr>
          <p:nvPr/>
        </p:nvSpPr>
        <p:spPr bwMode="auto">
          <a:xfrm>
            <a:off x="8915400" y="0"/>
            <a:ext cx="0" cy="6858000"/>
          </a:xfrm>
          <a:prstGeom prst="line">
            <a:avLst/>
          </a:prstGeom>
          <a:noFill/>
          <a:ln w="9525"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9" name="Straight Connector 18"/>
          <p:cNvSpPr>
            <a:spLocks noChangeShapeType="1"/>
          </p:cNvSpPr>
          <p:nvPr/>
        </p:nvSpPr>
        <p:spPr bwMode="auto">
          <a:xfrm>
            <a:off x="62484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20" name="Straight Connector 19"/>
          <p:cNvSpPr>
            <a:spLocks noChangeShapeType="1"/>
          </p:cNvSpPr>
          <p:nvPr/>
        </p:nvSpPr>
        <p:spPr bwMode="auto">
          <a:xfrm>
            <a:off x="6192296" y="0"/>
            <a:ext cx="0" cy="6858000"/>
          </a:xfrm>
          <a:prstGeom prst="line">
            <a:avLst/>
          </a:prstGeom>
          <a:noFill/>
          <a:ln w="1270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17" name="Date Placeholder 16"/>
          <p:cNvSpPr>
            <a:spLocks noGrp="1"/>
          </p:cNvSpPr>
          <p:nvPr>
            <p:ph type="dt" sz="half" idx="10"/>
          </p:nvPr>
        </p:nvSpPr>
        <p:spPr/>
        <p:txBody>
          <a:bodyPr rtlCol="0"/>
          <a:lstStyle/>
          <a:p>
            <a:pPr>
              <a:defRPr/>
            </a:pPr>
            <a:fld id="{0F755E59-2295-47BF-858E-F9E5BC837C85}" type="datetimeFigureOut">
              <a:rPr lang="en-US" smtClean="0"/>
              <a:pPr>
                <a:defRPr/>
              </a:pPr>
              <a:t>12/22/2022</a:t>
            </a:fld>
            <a:endParaRPr lang="en-US" dirty="0"/>
          </a:p>
        </p:txBody>
      </p:sp>
      <p:sp>
        <p:nvSpPr>
          <p:cNvPr id="18" name="Slide Number Placeholder 17"/>
          <p:cNvSpPr>
            <a:spLocks noGrp="1"/>
          </p:cNvSpPr>
          <p:nvPr>
            <p:ph type="sldNum" sz="quarter" idx="11"/>
          </p:nvPr>
        </p:nvSpPr>
        <p:spPr/>
        <p:txBody>
          <a:bodyPr rtlCol="0"/>
          <a:lstStyle/>
          <a:p>
            <a:pPr>
              <a:defRPr/>
            </a:pPr>
            <a:fld id="{76E9D8CD-9731-44EE-BAD1-22C872044F61}" type="slidenum">
              <a:rPr lang="en-US" smtClean="0"/>
              <a:pPr>
                <a:defRPr/>
              </a:pPr>
              <a:t>‹#›</a:t>
            </a:fld>
            <a:endParaRPr lang="en-US" dirty="0"/>
          </a:p>
        </p:txBody>
      </p:sp>
      <p:sp>
        <p:nvSpPr>
          <p:cNvPr id="21" name="Footer Placeholder 20"/>
          <p:cNvSpPr>
            <a:spLocks noGrp="1"/>
          </p:cNvSpPr>
          <p:nvPr>
            <p:ph type="ftr" sz="quarter" idx="12"/>
          </p:nvPr>
        </p:nvSpPr>
        <p:spPr/>
        <p:txBody>
          <a:bodyPr rtlCol="0"/>
          <a:lstStyle/>
          <a:p>
            <a:pPr>
              <a:defRPr/>
            </a:pPr>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pPr>
              <a:defRPr/>
            </a:pPr>
            <a:fld id="{0F755E59-2295-47BF-858E-F9E5BC837C85}" type="datetimeFigureOut">
              <a:rPr lang="en-US" smtClean="0"/>
              <a:pPr>
                <a:defRPr/>
              </a:pPr>
              <a:t>12/22/2022</a:t>
            </a:fld>
            <a:endParaRPr lang="en-US" dirty="0"/>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76E9D8CD-9731-44EE-BAD1-22C872044F61}" type="slidenum">
              <a:rPr lang="en-US" smtClean="0"/>
              <a:pPr>
                <a:defRPr/>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9"/>
            <a:ext cx="1676400" cy="5851525"/>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pPr>
              <a:defRPr/>
            </a:pPr>
            <a:fld id="{0F755E59-2295-47BF-858E-F9E5BC837C85}" type="datetimeFigureOut">
              <a:rPr lang="en-US" smtClean="0"/>
              <a:pPr>
                <a:defRPr/>
              </a:pPr>
              <a:t>12/22/2022</a:t>
            </a:fld>
            <a:endParaRPr lang="en-US" dirty="0"/>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76E9D8CD-9731-44EE-BAD1-22C872044F61}" type="slidenum">
              <a:rPr lang="en-US" smtClean="0"/>
              <a:pPr>
                <a:defRPr/>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6" name="Straight Connector 15"/>
          <p:cNvSpPr>
            <a:spLocks noChangeShapeType="1"/>
          </p:cNvSpPr>
          <p:nvPr/>
        </p:nvSpPr>
        <p:spPr bwMode="auto">
          <a:xfrm>
            <a:off x="8763000" y="0"/>
            <a:ext cx="0" cy="6858000"/>
          </a:xfrm>
          <a:prstGeom prst="line">
            <a:avLst/>
          </a:prstGeom>
          <a:noFill/>
          <a:ln w="38100" cap="flat" cmpd="sng" algn="ctr">
            <a:solidFill>
              <a:schemeClr val="accent1">
                <a:tint val="60000"/>
                <a:alpha val="93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22" name="Title Placeholder 21"/>
          <p:cNvSpPr>
            <a:spLocks noGrp="1"/>
          </p:cNvSpPr>
          <p:nvPr>
            <p:ph type="title"/>
          </p:nvPr>
        </p:nvSpPr>
        <p:spPr>
          <a:xfrm>
            <a:off x="457200" y="274638"/>
            <a:ext cx="7467600" cy="1143000"/>
          </a:xfrm>
          <a:prstGeom prst="rect">
            <a:avLst/>
          </a:prstGeom>
        </p:spPr>
        <p:txBody>
          <a:bodyPr vert="horz" anchor="b">
            <a:normAutofit/>
          </a:bodyPr>
          <a:lstStyle/>
          <a:p>
            <a:r>
              <a:rPr kumimoji="0" lang="en-US"/>
              <a:t>Click to edit Master title style</a:t>
            </a:r>
          </a:p>
        </p:txBody>
      </p:sp>
      <p:sp>
        <p:nvSpPr>
          <p:cNvPr id="13" name="Text Placeholder 12"/>
          <p:cNvSpPr>
            <a:spLocks noGrp="1"/>
          </p:cNvSpPr>
          <p:nvPr>
            <p:ph type="body" idx="1"/>
          </p:nvPr>
        </p:nvSpPr>
        <p:spPr>
          <a:xfrm>
            <a:off x="457200" y="1600200"/>
            <a:ext cx="7467600" cy="4873752"/>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4" name="Date Placeholder 13"/>
          <p:cNvSpPr>
            <a:spLocks noGrp="1"/>
          </p:cNvSpPr>
          <p:nvPr>
            <p:ph type="dt" sz="half" idx="2"/>
          </p:nvPr>
        </p:nvSpPr>
        <p:spPr>
          <a:xfrm rot="5400000">
            <a:off x="7589520" y="1081851"/>
            <a:ext cx="2011680" cy="384048"/>
          </a:xfrm>
          <a:prstGeom prst="rect">
            <a:avLst/>
          </a:prstGeom>
        </p:spPr>
        <p:txBody>
          <a:bodyPr vert="horz" anchor="ctr" anchorCtr="0"/>
          <a:lstStyle>
            <a:lvl1pPr algn="r" eaLnBrk="1" latinLnBrk="0" hangingPunct="1">
              <a:defRPr kumimoji="0" sz="1200">
                <a:solidFill>
                  <a:schemeClr val="tx2"/>
                </a:solidFill>
              </a:defRPr>
            </a:lvl1pPr>
          </a:lstStyle>
          <a:p>
            <a:pPr>
              <a:defRPr/>
            </a:pPr>
            <a:fld id="{0F755E59-2295-47BF-858E-F9E5BC837C85}" type="datetimeFigureOut">
              <a:rPr lang="en-US" smtClean="0"/>
              <a:pPr>
                <a:defRPr/>
              </a:pPr>
              <a:t>12/22/2022</a:t>
            </a:fld>
            <a:endParaRPr lang="en-US" dirty="0"/>
          </a:p>
        </p:txBody>
      </p:sp>
      <p:sp>
        <p:nvSpPr>
          <p:cNvPr id="3" name="Footer Placeholder 2"/>
          <p:cNvSpPr>
            <a:spLocks noGrp="1"/>
          </p:cNvSpPr>
          <p:nvPr>
            <p:ph type="ftr" sz="quarter" idx="3"/>
          </p:nvPr>
        </p:nvSpPr>
        <p:spPr>
          <a:xfrm rot="5400000">
            <a:off x="6990186" y="3737240"/>
            <a:ext cx="3200400" cy="365760"/>
          </a:xfrm>
          <a:prstGeom prst="rect">
            <a:avLst/>
          </a:prstGeom>
        </p:spPr>
        <p:txBody>
          <a:bodyPr vert="horz" anchor="ctr" anchorCtr="0"/>
          <a:lstStyle>
            <a:lvl1pPr algn="l" eaLnBrk="1" latinLnBrk="0" hangingPunct="1">
              <a:defRPr kumimoji="0" sz="1200">
                <a:solidFill>
                  <a:schemeClr val="tx2"/>
                </a:solidFill>
              </a:defRPr>
            </a:lvl1pPr>
          </a:lstStyle>
          <a:p>
            <a:pPr>
              <a:defRPr/>
            </a:pPr>
            <a:endParaRPr lang="en-US"/>
          </a:p>
        </p:txBody>
      </p:sp>
      <p:sp>
        <p:nvSpPr>
          <p:cNvPr id="7" name="Straight Connector 6"/>
          <p:cNvSpPr>
            <a:spLocks noChangeShapeType="1"/>
          </p:cNvSpPr>
          <p:nvPr/>
        </p:nvSpPr>
        <p:spPr bwMode="auto">
          <a:xfrm>
            <a:off x="76200"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9" name="Straight Connector 8"/>
          <p:cNvSpPr>
            <a:spLocks noChangeShapeType="1"/>
          </p:cNvSpPr>
          <p:nvPr/>
        </p:nvSpPr>
        <p:spPr bwMode="auto">
          <a:xfrm>
            <a:off x="8991600" y="0"/>
            <a:ext cx="0" cy="6858000"/>
          </a:xfrm>
          <a:prstGeom prst="line">
            <a:avLst/>
          </a:prstGeom>
          <a:noFill/>
          <a:ln w="1905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0" name="Rectangle 9"/>
          <p:cNvSpPr/>
          <p:nvPr/>
        </p:nvSpPr>
        <p:spPr bwMode="auto">
          <a:xfrm>
            <a:off x="8839200" y="0"/>
            <a:ext cx="304800" cy="6858000"/>
          </a:xfrm>
          <a:prstGeom prst="rect">
            <a:avLst/>
          </a:prstGeom>
          <a:solidFill>
            <a:schemeClr val="accent1">
              <a:tint val="60000"/>
              <a:alpha val="87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Straight Connector 10"/>
          <p:cNvSpPr>
            <a:spLocks noChangeShapeType="1"/>
          </p:cNvSpPr>
          <p:nvPr/>
        </p:nvSpPr>
        <p:spPr bwMode="auto">
          <a:xfrm>
            <a:off x="8915400" y="0"/>
            <a:ext cx="0" cy="6858000"/>
          </a:xfrm>
          <a:prstGeom prst="line">
            <a:avLst/>
          </a:prstGeom>
          <a:noFill/>
          <a:ln w="9525"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2" name="Oval 11"/>
          <p:cNvSpPr/>
          <p:nvPr/>
        </p:nvSpPr>
        <p:spPr>
          <a:xfrm>
            <a:off x="8156448" y="5715000"/>
            <a:ext cx="548640" cy="54864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3" name="Slide Number Placeholder 22"/>
          <p:cNvSpPr>
            <a:spLocks noGrp="1"/>
          </p:cNvSpPr>
          <p:nvPr>
            <p:ph type="sldNum" sz="quarter" idx="4"/>
          </p:nvPr>
        </p:nvSpPr>
        <p:spPr>
          <a:xfrm>
            <a:off x="8129016" y="5734050"/>
            <a:ext cx="609600" cy="521208"/>
          </a:xfrm>
          <a:prstGeom prst="rect">
            <a:avLst/>
          </a:prstGeom>
        </p:spPr>
        <p:txBody>
          <a:bodyPr vert="horz" anchor="ctr"/>
          <a:lstStyle>
            <a:lvl1pPr algn="ctr" eaLnBrk="1" latinLnBrk="0" hangingPunct="1">
              <a:defRPr kumimoji="0" sz="1400" b="1">
                <a:solidFill>
                  <a:srgbClr val="FFFFFF"/>
                </a:solidFill>
              </a:defRPr>
            </a:lvl1pPr>
          </a:lstStyle>
          <a:p>
            <a:pPr>
              <a:defRPr/>
            </a:pPr>
            <a:fld id="{76E9D8CD-9731-44EE-BAD1-22C872044F61}" type="slidenum">
              <a:rPr lang="en-US" smtClean="0"/>
              <a:pPr>
                <a:defRPr/>
              </a:pPr>
              <a:t>‹#›</a:t>
            </a:fld>
            <a:endParaRPr lang="en-US" dirty="0"/>
          </a:p>
        </p:txBody>
      </p:sp>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rtl="0" eaLnBrk="1" latinLnBrk="0" hangingPunct="1">
        <a:spcBef>
          <a:spcPct val="0"/>
        </a:spcBef>
        <a:buNone/>
        <a:defRPr kumimoji="0" sz="3000" b="0" kern="1200" cap="small" baseline="0">
          <a:solidFill>
            <a:schemeClr val="tx2"/>
          </a:solidFill>
          <a:latin typeface="+mj-lt"/>
          <a:ea typeface="+mj-ea"/>
          <a:cs typeface="+mj-cs"/>
        </a:defRPr>
      </a:lvl1pPr>
    </p:titleStyle>
    <p:bodyStyle>
      <a:lvl1pPr marL="274320" indent="-274320" algn="l" rtl="0" eaLnBrk="1" latinLnBrk="0" hangingPunct="1">
        <a:spcBef>
          <a:spcPts val="600"/>
        </a:spcBef>
        <a:buClr>
          <a:schemeClr val="accent1"/>
        </a:buClr>
        <a:buSzPct val="70000"/>
        <a:buFont typeface="Wingdings"/>
        <a:buChar char=""/>
        <a:defRPr kumimoji="0" sz="2400" kern="1200">
          <a:solidFill>
            <a:schemeClr val="tx1"/>
          </a:solidFill>
          <a:latin typeface="+mn-lt"/>
          <a:ea typeface="+mn-ea"/>
          <a:cs typeface="+mn-cs"/>
        </a:defRPr>
      </a:lvl1pPr>
      <a:lvl2pPr marL="640080" indent="-274320" algn="l" rtl="0" eaLnBrk="1" latinLnBrk="0" hangingPunct="1">
        <a:spcBef>
          <a:spcPct val="20000"/>
        </a:spcBef>
        <a:buClr>
          <a:schemeClr val="accent1"/>
        </a:buClr>
        <a:buSzPct val="80000"/>
        <a:buFont typeface="Wingdings 2"/>
        <a:buChar char=""/>
        <a:defRPr kumimoji="0" sz="2100" kern="1200">
          <a:solidFill>
            <a:schemeClr val="tx1"/>
          </a:solidFill>
          <a:latin typeface="+mn-lt"/>
          <a:ea typeface="+mn-ea"/>
          <a:cs typeface="+mn-cs"/>
        </a:defRPr>
      </a:lvl2pPr>
      <a:lvl3pPr marL="914400" indent="-182880" algn="l" rtl="0" eaLnBrk="1" latinLnBrk="0" hangingPunct="1">
        <a:spcBef>
          <a:spcPct val="20000"/>
        </a:spcBef>
        <a:buClr>
          <a:schemeClr val="accent1">
            <a:shade val="75000"/>
          </a:schemeClr>
        </a:buClr>
        <a:buSzPct val="60000"/>
        <a:buFont typeface="Wingdings"/>
        <a:buChar char=""/>
        <a:defRPr kumimoji="0" sz="1800" kern="1200">
          <a:solidFill>
            <a:schemeClr val="tx1"/>
          </a:solidFill>
          <a:latin typeface="+mn-lt"/>
          <a:ea typeface="+mn-ea"/>
          <a:cs typeface="+mn-cs"/>
        </a:defRPr>
      </a:lvl3pPr>
      <a:lvl4pPr marL="1188720" indent="-182880" algn="l" rtl="0" eaLnBrk="1" latinLnBrk="0" hangingPunct="1">
        <a:spcBef>
          <a:spcPct val="20000"/>
        </a:spcBef>
        <a:buClr>
          <a:schemeClr val="accent1">
            <a:tint val="60000"/>
          </a:schemeClr>
        </a:buClr>
        <a:buSzPct val="60000"/>
        <a:buFont typeface="Wingdings"/>
        <a:buChar char=""/>
        <a:defRPr kumimoji="0" sz="1800" kern="1200">
          <a:solidFill>
            <a:schemeClr val="tx1"/>
          </a:solidFill>
          <a:latin typeface="+mn-lt"/>
          <a:ea typeface="+mn-ea"/>
          <a:cs typeface="+mn-cs"/>
        </a:defRPr>
      </a:lvl4pPr>
      <a:lvl5pPr marL="1463040" indent="-182880" algn="l" rtl="0" eaLnBrk="1" latinLnBrk="0" hangingPunct="1">
        <a:spcBef>
          <a:spcPct val="20000"/>
        </a:spcBef>
        <a:buClr>
          <a:schemeClr val="accent2">
            <a:tint val="60000"/>
          </a:schemeClr>
        </a:buClr>
        <a:buSzPct val="68000"/>
        <a:buFont typeface="Wingdings 2"/>
        <a:buChar char=""/>
        <a:defRPr kumimoji="0" sz="1600" kern="1200">
          <a:solidFill>
            <a:schemeClr val="tx1"/>
          </a:solidFill>
          <a:latin typeface="+mn-lt"/>
          <a:ea typeface="+mn-ea"/>
          <a:cs typeface="+mn-cs"/>
        </a:defRPr>
      </a:lvl5pPr>
      <a:lvl6pPr marL="1737360" indent="-182880" algn="l" rtl="0" eaLnBrk="1" latinLnBrk="0" hangingPunct="1">
        <a:spcBef>
          <a:spcPct val="20000"/>
        </a:spcBef>
        <a:buClr>
          <a:schemeClr val="accent1"/>
        </a:buClr>
        <a:buChar char="•"/>
        <a:defRPr kumimoji="0" sz="1600" kern="1200">
          <a:solidFill>
            <a:schemeClr val="tx2"/>
          </a:solidFill>
          <a:latin typeface="+mn-lt"/>
          <a:ea typeface="+mn-ea"/>
          <a:cs typeface="+mn-cs"/>
        </a:defRPr>
      </a:lvl6pPr>
      <a:lvl7pPr marL="2011680" indent="-182880" algn="l" rtl="0" eaLnBrk="1" latinLnBrk="0" hangingPunct="1">
        <a:spcBef>
          <a:spcPct val="20000"/>
        </a:spcBef>
        <a:buClr>
          <a:schemeClr val="accent1">
            <a:tint val="60000"/>
          </a:schemeClr>
        </a:buClr>
        <a:buSzPct val="60000"/>
        <a:buFont typeface="Wingdings"/>
        <a:buChar char=""/>
        <a:defRPr kumimoji="0" sz="1400" kern="1200" baseline="0">
          <a:solidFill>
            <a:schemeClr val="tx2"/>
          </a:solidFill>
          <a:latin typeface="+mn-lt"/>
          <a:ea typeface="+mn-ea"/>
          <a:cs typeface="+mn-cs"/>
        </a:defRPr>
      </a:lvl7pPr>
      <a:lvl8pPr marL="2286000" indent="-182880" algn="l" rtl="0" eaLnBrk="1" latinLnBrk="0" hangingPunct="1">
        <a:spcBef>
          <a:spcPct val="20000"/>
        </a:spcBef>
        <a:buClr>
          <a:schemeClr val="accent2"/>
        </a:buClr>
        <a:buChar char="•"/>
        <a:defRPr kumimoji="0" sz="1400" kern="1200" cap="small" baseline="0">
          <a:solidFill>
            <a:schemeClr val="tx2"/>
          </a:solidFill>
          <a:latin typeface="+mn-lt"/>
          <a:ea typeface="+mn-ea"/>
          <a:cs typeface="+mn-cs"/>
        </a:defRPr>
      </a:lvl8pPr>
      <a:lvl9pPr marL="2560320" indent="-182880" algn="l" rtl="0" eaLnBrk="1" latinLnBrk="0" hangingPunct="1">
        <a:spcBef>
          <a:spcPct val="20000"/>
        </a:spcBef>
        <a:buClr>
          <a:schemeClr val="accent1">
            <a:shade val="75000"/>
          </a:schemeClr>
        </a:buClr>
        <a:buChar char="•"/>
        <a:defRPr kumimoji="0" sz="1400" kern="1200" baseline="0">
          <a:solidFill>
            <a:schemeClr val="tx2"/>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gif"/><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7.gif"/><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0.gif"/><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 Id="rId4" Type="http://schemas.openxmlformats.org/officeDocument/2006/relationships/image" Target="../media/image15.gif"/></Relationships>
</file>

<file path=ppt/slides/_rels/slide16.xml.rels><?xml version="1.0" encoding="UTF-8" standalone="yes"?>
<Relationships xmlns="http://schemas.openxmlformats.org/package/2006/relationships"><Relationship Id="rId3" Type="http://schemas.openxmlformats.org/officeDocument/2006/relationships/image" Target="../media/image16.gif"/><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7.gif"/><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9.gif"/><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2.gif"/><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4.gif"/><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6.gif"/><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31.gif"/><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32.gif"/><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22.gif"/><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37.gif"/><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38.gif"/><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40.gif"/><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44.gif"/><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24.xml"/><Relationship Id="rId1" Type="http://schemas.openxmlformats.org/officeDocument/2006/relationships/slideLayout" Target="../slideLayouts/slideLayout2.xml"/><Relationship Id="rId4" Type="http://schemas.openxmlformats.org/officeDocument/2006/relationships/image" Target="../media/image46.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50.gif"/><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29.xml"/><Relationship Id="rId1" Type="http://schemas.openxmlformats.org/officeDocument/2006/relationships/slideLayout" Target="../slideLayouts/slideLayout2.xml"/><Relationship Id="rId4" Type="http://schemas.openxmlformats.org/officeDocument/2006/relationships/image" Target="../media/image43.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image" Target="../media/image53.png"/><Relationship Id="rId1" Type="http://schemas.openxmlformats.org/officeDocument/2006/relationships/slideLayout" Target="../slideLayouts/slideLayout2.xml"/><Relationship Id="rId4" Type="http://schemas.openxmlformats.org/officeDocument/2006/relationships/image" Target="../media/image55.pn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image" Target="../media/image56.png"/><Relationship Id="rId1" Type="http://schemas.openxmlformats.org/officeDocument/2006/relationships/slideLayout" Target="../slideLayouts/slideLayout2.xml"/><Relationship Id="rId4" Type="http://schemas.openxmlformats.org/officeDocument/2006/relationships/image" Target="../media/image55.png"/></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image" Target="../media/image57.png"/><Relationship Id="rId1" Type="http://schemas.openxmlformats.org/officeDocument/2006/relationships/slideLayout" Target="../slideLayouts/slideLayout2.xml"/><Relationship Id="rId4" Type="http://schemas.openxmlformats.org/officeDocument/2006/relationships/image" Target="../media/image55.png"/></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33.xml"/><Relationship Id="rId1" Type="http://schemas.openxmlformats.org/officeDocument/2006/relationships/slideLayout" Target="../slideLayouts/slideLayout2.xml"/><Relationship Id="rId4" Type="http://schemas.openxmlformats.org/officeDocument/2006/relationships/image" Target="../media/image60.png"/></Relationships>
</file>

<file path=ppt/slides/_rels/slide79.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ubtitle 4"/>
          <p:cNvSpPr txBox="1">
            <a:spLocks/>
          </p:cNvSpPr>
          <p:nvPr/>
        </p:nvSpPr>
        <p:spPr bwMode="auto">
          <a:xfrm>
            <a:off x="76200" y="76200"/>
            <a:ext cx="8915400" cy="2667000"/>
          </a:xfrm>
          <a:prstGeom prst="rect">
            <a:avLst/>
          </a:prstGeom>
          <a:solidFill>
            <a:schemeClr val="accent3">
              <a:lumMod val="60000"/>
              <a:lumOff val="40000"/>
            </a:schemeClr>
          </a:solidFill>
          <a:ln>
            <a:headEnd/>
            <a:tailEnd/>
          </a:ln>
        </p:spPr>
        <p:style>
          <a:lnRef idx="3">
            <a:schemeClr val="lt1"/>
          </a:lnRef>
          <a:fillRef idx="1">
            <a:schemeClr val="accent1"/>
          </a:fillRef>
          <a:effectRef idx="1">
            <a:schemeClr val="accent1"/>
          </a:effectRef>
          <a:fontRef idx="minor">
            <a:schemeClr val="lt1"/>
          </a:fontRef>
        </p:style>
        <p:txBody>
          <a:bodyPr/>
          <a:lstStyle/>
          <a:p>
            <a:pPr algn="ctr" eaLnBrk="1" hangingPunct="1">
              <a:buFont typeface="Arial" pitchFamily="34" charset="0"/>
              <a:buNone/>
            </a:pPr>
            <a:endParaRPr lang="en-US" sz="4000" b="1" dirty="0">
              <a:solidFill>
                <a:schemeClr val="bg1"/>
              </a:solidFill>
              <a:effectLst>
                <a:outerShdw blurRad="38100" dist="38100" dir="2700000" algn="tl">
                  <a:srgbClr val="000000">
                    <a:alpha val="43137"/>
                  </a:srgbClr>
                </a:outerShdw>
              </a:effectLst>
              <a:latin typeface="Calibri" pitchFamily="34" charset="0"/>
            </a:endParaRPr>
          </a:p>
          <a:p>
            <a:pPr algn="ctr" eaLnBrk="1" hangingPunct="1">
              <a:buFont typeface="Arial" pitchFamily="34" charset="0"/>
              <a:buNone/>
            </a:pPr>
            <a:r>
              <a:rPr lang="en-US" sz="4000" b="1" dirty="0">
                <a:solidFill>
                  <a:schemeClr val="bg1"/>
                </a:solidFill>
                <a:effectLst>
                  <a:outerShdw blurRad="38100" dist="38100" dir="2700000" algn="tl">
                    <a:srgbClr val="000000">
                      <a:alpha val="43137"/>
                    </a:srgbClr>
                  </a:outerShdw>
                </a:effectLst>
                <a:latin typeface="Calibri" pitchFamily="34" charset="0"/>
              </a:rPr>
              <a:t>Unit-3</a:t>
            </a:r>
          </a:p>
          <a:p>
            <a:pPr algn="ctr" eaLnBrk="1" hangingPunct="1">
              <a:buFont typeface="Arial" pitchFamily="34" charset="0"/>
              <a:buNone/>
            </a:pPr>
            <a:r>
              <a:rPr lang="en-US" sz="4000" b="1" dirty="0">
                <a:solidFill>
                  <a:schemeClr val="bg1"/>
                </a:solidFill>
                <a:effectLst>
                  <a:outerShdw blurRad="38100" dist="38100" dir="2700000" algn="tl">
                    <a:srgbClr val="000000">
                      <a:alpha val="43137"/>
                    </a:srgbClr>
                  </a:outerShdw>
                </a:effectLst>
                <a:latin typeface="Calibri" pitchFamily="34" charset="0"/>
              </a:rPr>
              <a:t>Memory Management</a:t>
            </a:r>
          </a:p>
          <a:p>
            <a:pPr algn="ctr" eaLnBrk="1" hangingPunct="1">
              <a:buFont typeface="Arial" pitchFamily="34" charset="0"/>
              <a:buNone/>
            </a:pPr>
            <a:endParaRPr lang="en-US" sz="4000" b="1" dirty="0">
              <a:solidFill>
                <a:schemeClr val="bg1"/>
              </a:solidFill>
              <a:effectLst>
                <a:outerShdw blurRad="38100" dist="38100" dir="2700000" algn="tl">
                  <a:srgbClr val="000000">
                    <a:alpha val="43137"/>
                  </a:srgbClr>
                </a:outerShdw>
              </a:effectLst>
              <a:latin typeface="Calibri" pitchFamily="34" charset="0"/>
            </a:endParaRPr>
          </a:p>
        </p:txBody>
      </p:sp>
      <p:pic>
        <p:nvPicPr>
          <p:cNvPr id="1026" name="Picture 2" descr="E:\gp image\teamwork_rotate_earth_pa_sm_wm.gif"/>
          <p:cNvPicPr>
            <a:picLocks noChangeAspect="1" noChangeArrowheads="1" noCrop="1"/>
          </p:cNvPicPr>
          <p:nvPr/>
        </p:nvPicPr>
        <p:blipFill>
          <a:blip r:embed="rId2"/>
          <a:srcRect/>
          <a:stretch>
            <a:fillRect/>
          </a:stretch>
        </p:blipFill>
        <p:spPr bwMode="auto">
          <a:xfrm>
            <a:off x="3733800" y="3276600"/>
            <a:ext cx="2590800" cy="2590800"/>
          </a:xfrm>
          <a:prstGeom prst="roundRect">
            <a:avLst>
              <a:gd name="adj" fmla="val 16667"/>
            </a:avLst>
          </a:prstGeom>
          <a:ln>
            <a:noFill/>
          </a:ln>
          <a:effectLst>
            <a:outerShdw blurRad="152400" dist="12000" dir="900000" sy="98000" kx="110000" ky="200000" algn="tl" rotWithShape="0">
              <a:srgbClr val="000000">
                <a:alpha val="30000"/>
              </a:srgbClr>
            </a:outerShdw>
          </a:effectLst>
          <a:scene3d>
            <a:camera prst="perspectiveRelaxed">
              <a:rot lat="19800000" lon="1200000" rev="20820000"/>
            </a:camera>
            <a:lightRig rig="threePt" dir="t"/>
          </a:scene3d>
          <a:sp3d contourW="6350" prstMaterial="matte">
            <a:bevelT w="101600" h="101600"/>
            <a:contourClr>
              <a:srgbClr val="969696"/>
            </a:contourClr>
          </a:sp3d>
        </p:spPr>
      </p:pic>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Title 1"/>
          <p:cNvSpPr>
            <a:spLocks noGrp="1"/>
          </p:cNvSpPr>
          <p:nvPr>
            <p:ph type="title"/>
          </p:nvPr>
        </p:nvSpPr>
        <p:spPr>
          <a:xfrm>
            <a:off x="1752600" y="76200"/>
            <a:ext cx="5029200" cy="533400"/>
          </a:xfrm>
          <a:solidFill>
            <a:schemeClr val="accent3">
              <a:lumMod val="60000"/>
              <a:lumOff val="40000"/>
            </a:schemeClr>
          </a:solidFill>
          <a:ln/>
        </p:spPr>
        <p:style>
          <a:lnRef idx="3">
            <a:schemeClr val="lt1"/>
          </a:lnRef>
          <a:fillRef idx="1">
            <a:schemeClr val="accent1"/>
          </a:fillRef>
          <a:effectRef idx="1">
            <a:schemeClr val="accent1"/>
          </a:effectRef>
          <a:fontRef idx="minor">
            <a:schemeClr val="lt1"/>
          </a:fontRef>
        </p:style>
        <p:txBody>
          <a:bodyPr>
            <a:noAutofit/>
          </a:bodyPr>
          <a:lstStyle/>
          <a:p>
            <a:pPr algn="ctr"/>
            <a:r>
              <a:rPr lang="en-NZ" sz="3200" b="1" dirty="0">
                <a:solidFill>
                  <a:schemeClr val="bg1"/>
                </a:solidFill>
                <a:effectLst>
                  <a:outerShdw blurRad="38100" dist="38100" dir="2700000" algn="tl">
                    <a:srgbClr val="000000">
                      <a:alpha val="43137"/>
                    </a:srgbClr>
                  </a:outerShdw>
                </a:effectLst>
                <a:latin typeface="Calibri" pitchFamily="34" charset="0"/>
              </a:rPr>
              <a:t>Roadmap</a:t>
            </a:r>
          </a:p>
        </p:txBody>
      </p:sp>
      <p:sp>
        <p:nvSpPr>
          <p:cNvPr id="4099" name="Content Placeholder 2"/>
          <p:cNvSpPr>
            <a:spLocks noGrp="1"/>
          </p:cNvSpPr>
          <p:nvPr>
            <p:ph sz="quarter" idx="1"/>
          </p:nvPr>
        </p:nvSpPr>
        <p:spPr>
          <a:xfrm>
            <a:off x="283464" y="914400"/>
            <a:ext cx="6400800" cy="5638800"/>
          </a:xfrm>
          <a:ln/>
        </p:spPr>
        <p:style>
          <a:lnRef idx="2">
            <a:schemeClr val="accent1"/>
          </a:lnRef>
          <a:fillRef idx="1">
            <a:schemeClr val="lt1"/>
          </a:fillRef>
          <a:effectRef idx="0">
            <a:schemeClr val="accent1"/>
          </a:effectRef>
          <a:fontRef idx="minor">
            <a:schemeClr val="dk1"/>
          </a:fontRef>
        </p:style>
        <p:txBody>
          <a:bodyPr>
            <a:normAutofit fontScale="92500" lnSpcReduction="10000"/>
          </a:bodyPr>
          <a:lstStyle/>
          <a:p>
            <a:pPr>
              <a:lnSpc>
                <a:spcPct val="150000"/>
              </a:lnSpc>
            </a:pPr>
            <a:r>
              <a:rPr lang="en-NZ" b="1" dirty="0">
                <a:solidFill>
                  <a:schemeClr val="accent3">
                    <a:lumMod val="60000"/>
                    <a:lumOff val="40000"/>
                  </a:schemeClr>
                </a:solidFill>
                <a:effectLst>
                  <a:outerShdw blurRad="38100" dist="38100" dir="2700000" algn="tl">
                    <a:srgbClr val="000000">
                      <a:alpha val="43137"/>
                    </a:srgbClr>
                  </a:outerShdw>
                </a:effectLst>
                <a:latin typeface="Comic Sans MS" panose="030F0702030302020204" pitchFamily="66" charset="0"/>
              </a:rPr>
              <a:t>Basic requirements of Memory Management</a:t>
            </a:r>
          </a:p>
          <a:p>
            <a:pPr>
              <a:lnSpc>
                <a:spcPct val="150000"/>
              </a:lnSpc>
            </a:pPr>
            <a:r>
              <a:rPr lang="en-NZ" dirty="0">
                <a:latin typeface="Comic Sans MS" panose="030F0702030302020204" pitchFamily="66" charset="0"/>
              </a:rPr>
              <a:t>Memory Partitioning</a:t>
            </a:r>
          </a:p>
          <a:p>
            <a:pPr>
              <a:lnSpc>
                <a:spcPct val="150000"/>
              </a:lnSpc>
            </a:pPr>
            <a:r>
              <a:rPr lang="en-NZ" dirty="0">
                <a:latin typeface="Comic Sans MS" panose="030F0702030302020204" pitchFamily="66" charset="0"/>
              </a:rPr>
              <a:t>Buddy System</a:t>
            </a:r>
          </a:p>
          <a:p>
            <a:pPr>
              <a:lnSpc>
                <a:spcPct val="150000"/>
              </a:lnSpc>
            </a:pPr>
            <a:r>
              <a:rPr lang="en-NZ" dirty="0">
                <a:latin typeface="Comic Sans MS" panose="030F0702030302020204" pitchFamily="66" charset="0"/>
              </a:rPr>
              <a:t>Simple Paging and Segmentation</a:t>
            </a:r>
          </a:p>
          <a:p>
            <a:pPr>
              <a:lnSpc>
                <a:spcPct val="150000"/>
              </a:lnSpc>
            </a:pPr>
            <a:r>
              <a:rPr lang="en-US" dirty="0">
                <a:latin typeface="Comic Sans MS" panose="030F0702030302020204" pitchFamily="66" charset="0"/>
              </a:rPr>
              <a:t>Need of Virtual Memory</a:t>
            </a:r>
          </a:p>
          <a:p>
            <a:pPr>
              <a:lnSpc>
                <a:spcPct val="150000"/>
              </a:lnSpc>
            </a:pPr>
            <a:r>
              <a:rPr lang="en-US" dirty="0">
                <a:latin typeface="Comic Sans MS" panose="030F0702030302020204" pitchFamily="66" charset="0"/>
              </a:rPr>
              <a:t>Virtual memory Paging and Segmentation</a:t>
            </a:r>
          </a:p>
          <a:p>
            <a:pPr>
              <a:lnSpc>
                <a:spcPct val="150000"/>
              </a:lnSpc>
            </a:pPr>
            <a:r>
              <a:rPr lang="en-US" dirty="0">
                <a:latin typeface="Comic Sans MS" panose="030F0702030302020204" pitchFamily="66" charset="0"/>
              </a:rPr>
              <a:t>Address translation in Paging</a:t>
            </a:r>
          </a:p>
          <a:p>
            <a:pPr>
              <a:lnSpc>
                <a:spcPct val="150000"/>
              </a:lnSpc>
            </a:pPr>
            <a:r>
              <a:rPr lang="en-US" dirty="0">
                <a:latin typeface="Comic Sans MS" panose="030F0702030302020204" pitchFamily="66" charset="0"/>
              </a:rPr>
              <a:t>Address translation in Segmentation</a:t>
            </a:r>
          </a:p>
          <a:p>
            <a:pPr>
              <a:lnSpc>
                <a:spcPct val="150000"/>
              </a:lnSpc>
            </a:pPr>
            <a:r>
              <a:rPr lang="en-US" dirty="0">
                <a:latin typeface="Comic Sans MS" panose="030F0702030302020204" pitchFamily="66" charset="0"/>
              </a:rPr>
              <a:t>Page Replacement Algorithms (FIFO, LRU, Optimal)</a:t>
            </a:r>
            <a:endParaRPr lang="en-NZ" dirty="0">
              <a:latin typeface="Comic Sans MS" panose="030F0702030302020204" pitchFamily="66" charset="0"/>
            </a:endParaRPr>
          </a:p>
        </p:txBody>
      </p:sp>
      <p:sp>
        <p:nvSpPr>
          <p:cNvPr id="4" name="Right Arrow 3"/>
          <p:cNvSpPr/>
          <p:nvPr/>
        </p:nvSpPr>
        <p:spPr>
          <a:xfrm>
            <a:off x="88392" y="1066800"/>
            <a:ext cx="445008" cy="381000"/>
          </a:xfrm>
          <a:prstGeom prst="rightArrow">
            <a:avLst/>
          </a:prstGeom>
          <a:solidFill>
            <a:schemeClr val="accent3">
              <a:lumMod val="60000"/>
              <a:lumOff val="40000"/>
            </a:schemeClr>
          </a:solidFill>
          <a:ln w="127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51" name="Picture 3" descr="E:\gp image\stick_figure_drawing_three_check_marks_sm_wm.gif"/>
          <p:cNvPicPr>
            <a:picLocks noChangeAspect="1" noChangeArrowheads="1" noCrop="1"/>
          </p:cNvPicPr>
          <p:nvPr/>
        </p:nvPicPr>
        <p:blipFill>
          <a:blip r:embed="rId3"/>
          <a:srcRect/>
          <a:stretch>
            <a:fillRect/>
          </a:stretch>
        </p:blipFill>
        <p:spPr bwMode="auto">
          <a:xfrm>
            <a:off x="6879336" y="1447800"/>
            <a:ext cx="1807464" cy="3276600"/>
          </a:xfrm>
          <a:prstGeom prst="rect">
            <a:avLst/>
          </a:prstGeom>
          <a:noFill/>
        </p:spPr>
      </p:pic>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3" name="Content Placeholder 2"/>
          <p:cNvSpPr>
            <a:spLocks noGrp="1"/>
          </p:cNvSpPr>
          <p:nvPr>
            <p:ph sz="quarter" idx="1"/>
          </p:nvPr>
        </p:nvSpPr>
        <p:spPr>
          <a:xfrm>
            <a:off x="152400" y="2590800"/>
            <a:ext cx="8610600" cy="3962400"/>
          </a:xfrm>
        </p:spPr>
        <p:style>
          <a:lnRef idx="2">
            <a:schemeClr val="accent1"/>
          </a:lnRef>
          <a:fillRef idx="1">
            <a:schemeClr val="lt1"/>
          </a:fillRef>
          <a:effectRef idx="0">
            <a:schemeClr val="accent1"/>
          </a:effectRef>
          <a:fontRef idx="minor">
            <a:schemeClr val="dk1"/>
          </a:fontRef>
        </p:style>
        <p:txBody>
          <a:bodyPr/>
          <a:lstStyle/>
          <a:p>
            <a:r>
              <a:rPr lang="en-NZ" sz="2000" dirty="0">
                <a:latin typeface="Calibri" pitchFamily="34" charset="0"/>
              </a:rPr>
              <a:t>Introduce by pointing out that in a  uniprogramming system, main memory is divided into two parts: </a:t>
            </a:r>
          </a:p>
          <a:p>
            <a:pPr lvl="1">
              <a:buFontTx/>
              <a:buChar char="•"/>
            </a:pPr>
            <a:r>
              <a:rPr lang="en-NZ" sz="2000" dirty="0">
                <a:latin typeface="Calibri" pitchFamily="34" charset="0"/>
              </a:rPr>
              <a:t>one part for the operating system (resident monitor, kernel) and </a:t>
            </a:r>
          </a:p>
          <a:p>
            <a:pPr lvl="1">
              <a:buFontTx/>
              <a:buChar char="•"/>
            </a:pPr>
            <a:r>
              <a:rPr lang="en-NZ" sz="2000" dirty="0">
                <a:latin typeface="Calibri" pitchFamily="34" charset="0"/>
              </a:rPr>
              <a:t>one part for the program currently being executed. </a:t>
            </a:r>
          </a:p>
          <a:p>
            <a:r>
              <a:rPr lang="en-NZ" sz="2000" dirty="0">
                <a:latin typeface="Calibri" pitchFamily="34" charset="0"/>
              </a:rPr>
              <a:t>In a multiprogramming system, the “user” part of memory must be further subdivided to accommodate multiple processes.</a:t>
            </a:r>
          </a:p>
          <a:p>
            <a:r>
              <a:rPr lang="en-NZ" sz="2000" dirty="0">
                <a:latin typeface="Calibri" pitchFamily="34" charset="0"/>
              </a:rPr>
              <a:t>Emphasise that memory management is vital in a multiprogramming system. </a:t>
            </a:r>
          </a:p>
          <a:p>
            <a:r>
              <a:rPr lang="en-NZ" sz="2000" dirty="0">
                <a:latin typeface="Calibri" pitchFamily="34" charset="0"/>
              </a:rPr>
              <a:t>If only a few processes are in memory, then for much of the time all of the processes will be waiting for I/O and the processor will be idle.</a:t>
            </a:r>
          </a:p>
          <a:p>
            <a:r>
              <a:rPr lang="en-NZ" sz="2000" dirty="0">
                <a:latin typeface="Calibri" pitchFamily="34" charset="0"/>
              </a:rPr>
              <a:t>Thus memory needs to be allocated to ensure a reasonable supply of ready processes to consume available processor time.</a:t>
            </a:r>
          </a:p>
          <a:p>
            <a:pPr lvl="1"/>
            <a:endParaRPr lang="en-NZ" sz="2000" dirty="0">
              <a:latin typeface="Calibri" pitchFamily="34" charset="0"/>
            </a:endParaRPr>
          </a:p>
        </p:txBody>
      </p:sp>
      <p:sp>
        <p:nvSpPr>
          <p:cNvPr id="4" name="Title 1"/>
          <p:cNvSpPr txBox="1">
            <a:spLocks/>
          </p:cNvSpPr>
          <p:nvPr/>
        </p:nvSpPr>
        <p:spPr>
          <a:xfrm>
            <a:off x="152400" y="76200"/>
            <a:ext cx="8610600" cy="457200"/>
          </a:xfrm>
          <a:prstGeom prst="rect">
            <a:avLst/>
          </a:prstGeom>
          <a:solidFill>
            <a:schemeClr val="accent3">
              <a:lumMod val="60000"/>
              <a:lumOff val="40000"/>
            </a:schemeClr>
          </a:solidFill>
        </p:spPr>
        <p:style>
          <a:lnRef idx="3">
            <a:schemeClr val="lt1"/>
          </a:lnRef>
          <a:fillRef idx="1">
            <a:schemeClr val="accent1"/>
          </a:fillRef>
          <a:effectRef idx="1">
            <a:schemeClr val="accent1"/>
          </a:effectRef>
          <a:fontRef idx="minor">
            <a:schemeClr val="lt1"/>
          </a:fontRef>
        </p:style>
        <p:txBody>
          <a:bodyPr vert="horz" anchor="b">
            <a:noAutofit/>
          </a:bodyPr>
          <a:lstStyle/>
          <a:p>
            <a:pPr lvl="0" algn="ctr" eaLnBrk="1" fontAlgn="auto" hangingPunct="1">
              <a:spcBef>
                <a:spcPct val="0"/>
              </a:spcBef>
              <a:spcAft>
                <a:spcPts val="0"/>
              </a:spcAft>
              <a:buNone/>
            </a:pPr>
            <a:r>
              <a:rPr lang="en-NZ" sz="2400" b="1" dirty="0">
                <a:solidFill>
                  <a:schemeClr val="bg1"/>
                </a:solidFill>
                <a:effectLst>
                  <a:outerShdw blurRad="38100" dist="38100" dir="2700000" algn="tl">
                    <a:srgbClr val="000000">
                      <a:alpha val="43137"/>
                    </a:srgbClr>
                  </a:outerShdw>
                </a:effectLst>
                <a:latin typeface="Calibri" pitchFamily="34" charset="0"/>
              </a:rPr>
              <a:t>The need for memory management</a:t>
            </a:r>
            <a:endParaRPr kumimoji="0" lang="en-NZ" sz="2400" b="1" i="0" u="none" strike="noStrike" kern="1200" cap="small" spc="0" normalizeH="0" baseline="0" noProof="0" dirty="0">
              <a:ln>
                <a:noFill/>
              </a:ln>
              <a:solidFill>
                <a:schemeClr val="bg1"/>
              </a:solidFill>
              <a:effectLst>
                <a:outerShdw blurRad="38100" dist="38100" dir="2700000" algn="tl">
                  <a:srgbClr val="000000">
                    <a:alpha val="43137"/>
                  </a:srgbClr>
                </a:outerShdw>
              </a:effectLst>
              <a:uLnTx/>
              <a:uFillTx/>
              <a:latin typeface="Calibri" pitchFamily="34" charset="0"/>
            </a:endParaRPr>
          </a:p>
        </p:txBody>
      </p:sp>
      <p:sp>
        <p:nvSpPr>
          <p:cNvPr id="5" name="Content Placeholder 3"/>
          <p:cNvSpPr txBox="1">
            <a:spLocks/>
          </p:cNvSpPr>
          <p:nvPr/>
        </p:nvSpPr>
        <p:spPr>
          <a:xfrm>
            <a:off x="228600" y="762000"/>
            <a:ext cx="8458200" cy="1676400"/>
          </a:xfrm>
          <a:prstGeom prst="rect">
            <a:avLst/>
          </a:prstGeom>
        </p:spPr>
        <p:style>
          <a:lnRef idx="2">
            <a:schemeClr val="accent1"/>
          </a:lnRef>
          <a:fillRef idx="1">
            <a:schemeClr val="lt1"/>
          </a:fillRef>
          <a:effectRef idx="0">
            <a:schemeClr val="accent1"/>
          </a:effectRef>
          <a:fontRef idx="minor">
            <a:schemeClr val="dk1"/>
          </a:fontRef>
        </p:style>
        <p:txBody>
          <a:bodyPr vert="horz">
            <a:normAutofit/>
          </a:bodyPr>
          <a:lstStyle/>
          <a:p>
            <a:pPr marL="274320" marR="0" lvl="0" indent="0" defTabSz="914400" rtl="0" eaLnBrk="1" fontAlgn="auto" latinLnBrk="0" hangingPunct="1">
              <a:lnSpc>
                <a:spcPct val="100000"/>
              </a:lnSpc>
              <a:spcBef>
                <a:spcPts val="600"/>
              </a:spcBef>
              <a:spcAft>
                <a:spcPts val="0"/>
              </a:spcAft>
              <a:buClr>
                <a:schemeClr val="accent1"/>
              </a:buClr>
              <a:buSzPct val="70000"/>
              <a:buFont typeface="Arial" charset="0"/>
              <a:buNone/>
              <a:tabLst/>
              <a:defRPr/>
            </a:pPr>
            <a:r>
              <a:rPr kumimoji="0" lang="en-US" b="1" u="sng" strike="noStrike" kern="1200" cap="none" spc="0" normalizeH="0" baseline="0" noProof="0" dirty="0">
                <a:ln>
                  <a:noFill/>
                </a:ln>
                <a:solidFill>
                  <a:schemeClr val="dk1"/>
                </a:solidFill>
                <a:effectLst/>
                <a:uLnTx/>
                <a:uFillTx/>
                <a:latin typeface="Comic Sans MS" pitchFamily="66" charset="0"/>
              </a:rPr>
              <a:t>Memory Management:-</a:t>
            </a:r>
          </a:p>
          <a:p>
            <a:pPr marL="274320" marR="0" lvl="0" indent="0" defTabSz="914400" rtl="0" eaLnBrk="1" fontAlgn="auto" latinLnBrk="0" hangingPunct="1">
              <a:lnSpc>
                <a:spcPct val="100000"/>
              </a:lnSpc>
              <a:spcBef>
                <a:spcPts val="600"/>
              </a:spcBef>
              <a:spcAft>
                <a:spcPts val="0"/>
              </a:spcAft>
              <a:buClr>
                <a:schemeClr val="accent1"/>
              </a:buClr>
              <a:buSzPct val="70000"/>
              <a:buFont typeface="Arial" charset="0"/>
              <a:buNone/>
              <a:tabLst/>
              <a:defRPr/>
            </a:pPr>
            <a:r>
              <a:rPr kumimoji="0" lang="en-US" b="0" u="none" strike="noStrike" kern="1200" cap="none" spc="0" normalizeH="0" baseline="0" noProof="0" dirty="0">
                <a:ln>
                  <a:noFill/>
                </a:ln>
                <a:solidFill>
                  <a:schemeClr val="dk1"/>
                </a:solidFill>
                <a:effectLst/>
                <a:uLnTx/>
                <a:uFillTx/>
                <a:latin typeface="Comic Sans MS" pitchFamily="66" charset="0"/>
              </a:rPr>
              <a:t>Memory needs to be allocated to ensure a reasonable supply of ready processes to consume available processor time.</a:t>
            </a:r>
          </a:p>
          <a:p>
            <a:pPr marL="274320" marR="0" lvl="0" indent="-274320" defTabSz="914400" rtl="0" eaLnBrk="1" fontAlgn="auto" latinLnBrk="0" hangingPunct="1">
              <a:lnSpc>
                <a:spcPct val="100000"/>
              </a:lnSpc>
              <a:spcBef>
                <a:spcPts val="600"/>
              </a:spcBef>
              <a:spcAft>
                <a:spcPts val="0"/>
              </a:spcAft>
              <a:buClr>
                <a:schemeClr val="accent1"/>
              </a:buClr>
              <a:buSzPct val="70000"/>
              <a:buFont typeface="Arial" charset="0"/>
              <a:buChar char="•"/>
              <a:tabLst/>
              <a:defRPr/>
            </a:pPr>
            <a:endParaRPr kumimoji="0" lang="en-US" b="0" u="none" strike="noStrike" kern="1200" cap="none" spc="0" normalizeH="0" baseline="0" noProof="0" dirty="0">
              <a:ln>
                <a:noFill/>
              </a:ln>
              <a:solidFill>
                <a:schemeClr val="dk1"/>
              </a:solidFill>
              <a:effectLst/>
              <a:uLnTx/>
              <a:uFillTx/>
              <a:latin typeface="Comic Sans MS" pitchFamily="66" charset="0"/>
            </a:endParaRPr>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a:xfrm>
            <a:off x="1295400" y="46038"/>
            <a:ext cx="5486400" cy="411162"/>
          </a:xfrm>
          <a:solidFill>
            <a:schemeClr val="accent3">
              <a:lumMod val="60000"/>
              <a:lumOff val="40000"/>
            </a:schemeClr>
          </a:solidFill>
        </p:spPr>
        <p:style>
          <a:lnRef idx="3">
            <a:schemeClr val="lt1"/>
          </a:lnRef>
          <a:fillRef idx="1">
            <a:schemeClr val="accent1"/>
          </a:fillRef>
          <a:effectRef idx="1">
            <a:schemeClr val="accent1"/>
          </a:effectRef>
          <a:fontRef idx="minor">
            <a:schemeClr val="lt1"/>
          </a:fontRef>
        </p:style>
        <p:txBody>
          <a:bodyPr>
            <a:normAutofit fontScale="90000"/>
          </a:bodyPr>
          <a:lstStyle/>
          <a:p>
            <a:pPr algn="ctr"/>
            <a:r>
              <a:rPr lang="en-US" sz="2800" b="1" dirty="0">
                <a:solidFill>
                  <a:schemeClr val="bg1"/>
                </a:solidFill>
                <a:effectLst>
                  <a:outerShdw blurRad="38100" dist="38100" dir="2700000" algn="tl">
                    <a:srgbClr val="000000">
                      <a:alpha val="43137"/>
                    </a:srgbClr>
                  </a:outerShdw>
                </a:effectLst>
                <a:latin typeface="Calibri" pitchFamily="34" charset="0"/>
              </a:rPr>
              <a:t>Addressing</a:t>
            </a:r>
          </a:p>
        </p:txBody>
      </p:sp>
      <p:pic>
        <p:nvPicPr>
          <p:cNvPr id="1026" name="Picture 2"/>
          <p:cNvPicPr>
            <a:picLocks noChangeAspect="1" noChangeArrowheads="1"/>
          </p:cNvPicPr>
          <p:nvPr/>
        </p:nvPicPr>
        <p:blipFill>
          <a:blip r:embed="rId2"/>
          <a:srcRect/>
          <a:stretch>
            <a:fillRect/>
          </a:stretch>
        </p:blipFill>
        <p:spPr bwMode="auto">
          <a:xfrm>
            <a:off x="228600" y="685800"/>
            <a:ext cx="8534400" cy="586740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1" name="Content Placeholder 2"/>
          <p:cNvSpPr>
            <a:spLocks noGrp="1"/>
          </p:cNvSpPr>
          <p:nvPr>
            <p:ph sz="quarter" idx="1"/>
          </p:nvPr>
        </p:nvSpPr>
        <p:spPr>
          <a:xfrm>
            <a:off x="152400" y="430530"/>
            <a:ext cx="8686800" cy="2819400"/>
          </a:xfrm>
          <a:ln>
            <a:solidFill>
              <a:schemeClr val="accent3">
                <a:lumMod val="60000"/>
                <a:lumOff val="40000"/>
              </a:schemeClr>
            </a:solidFill>
          </a:ln>
        </p:spPr>
        <p:style>
          <a:lnRef idx="2">
            <a:schemeClr val="accent1"/>
          </a:lnRef>
          <a:fillRef idx="1">
            <a:schemeClr val="lt1"/>
          </a:fillRef>
          <a:effectRef idx="0">
            <a:schemeClr val="accent1"/>
          </a:effectRef>
          <a:fontRef idx="minor">
            <a:schemeClr val="dk1"/>
          </a:fontRef>
        </p:style>
        <p:txBody>
          <a:bodyPr>
            <a:normAutofit/>
          </a:bodyPr>
          <a:lstStyle/>
          <a:p>
            <a:r>
              <a:rPr lang="en-US" sz="2200" dirty="0">
                <a:latin typeface="Calibri" pitchFamily="34" charset="0"/>
              </a:rPr>
              <a:t>Following are the five requirements that memory management is intended to satisfy:-</a:t>
            </a:r>
            <a:endParaRPr lang="en-NZ" sz="2200" dirty="0">
              <a:latin typeface="Calibri" pitchFamily="34" charset="0"/>
            </a:endParaRPr>
          </a:p>
          <a:p>
            <a:pPr lvl="1"/>
            <a:r>
              <a:rPr lang="en-NZ" sz="2200" dirty="0">
                <a:latin typeface="Calibri" pitchFamily="34" charset="0"/>
              </a:rPr>
              <a:t>Relocation</a:t>
            </a:r>
          </a:p>
          <a:p>
            <a:pPr lvl="1"/>
            <a:r>
              <a:rPr lang="en-NZ" sz="2200" dirty="0">
                <a:latin typeface="Calibri" pitchFamily="34" charset="0"/>
              </a:rPr>
              <a:t>Protection</a:t>
            </a:r>
          </a:p>
          <a:p>
            <a:pPr lvl="1"/>
            <a:r>
              <a:rPr lang="en-NZ" sz="2200" dirty="0">
                <a:latin typeface="Calibri" pitchFamily="34" charset="0"/>
              </a:rPr>
              <a:t>Sharing</a:t>
            </a:r>
          </a:p>
          <a:p>
            <a:pPr lvl="1"/>
            <a:r>
              <a:rPr lang="en-NZ" sz="2200" dirty="0">
                <a:latin typeface="Calibri" pitchFamily="34" charset="0"/>
              </a:rPr>
              <a:t>Logical organisation</a:t>
            </a:r>
          </a:p>
          <a:p>
            <a:pPr lvl="1"/>
            <a:r>
              <a:rPr lang="en-NZ" sz="2200" dirty="0">
                <a:latin typeface="Calibri" pitchFamily="34" charset="0"/>
              </a:rPr>
              <a:t>Physical organisation</a:t>
            </a:r>
          </a:p>
        </p:txBody>
      </p:sp>
      <p:sp>
        <p:nvSpPr>
          <p:cNvPr id="5" name="Title 1"/>
          <p:cNvSpPr txBox="1">
            <a:spLocks/>
          </p:cNvSpPr>
          <p:nvPr/>
        </p:nvSpPr>
        <p:spPr>
          <a:xfrm>
            <a:off x="152400" y="0"/>
            <a:ext cx="8610600" cy="381000"/>
          </a:xfrm>
          <a:prstGeom prst="rect">
            <a:avLst/>
          </a:prstGeom>
          <a:solidFill>
            <a:schemeClr val="accent3">
              <a:lumMod val="60000"/>
              <a:lumOff val="40000"/>
            </a:schemeClr>
          </a:solidFill>
        </p:spPr>
        <p:style>
          <a:lnRef idx="3">
            <a:schemeClr val="lt1"/>
          </a:lnRef>
          <a:fillRef idx="1">
            <a:schemeClr val="accent1"/>
          </a:fillRef>
          <a:effectRef idx="1">
            <a:schemeClr val="accent1"/>
          </a:effectRef>
          <a:fontRef idx="minor">
            <a:schemeClr val="lt1"/>
          </a:fontRef>
        </p:style>
        <p:txBody>
          <a:bodyPr vert="horz" anchor="b">
            <a:noAutofit/>
          </a:bodyPr>
          <a:lstStyle/>
          <a:p>
            <a:pPr lvl="0" algn="ctr" eaLnBrk="1" fontAlgn="auto" hangingPunct="1">
              <a:spcBef>
                <a:spcPct val="0"/>
              </a:spcBef>
              <a:spcAft>
                <a:spcPts val="0"/>
              </a:spcAft>
              <a:buNone/>
            </a:pPr>
            <a:r>
              <a:rPr lang="en-NZ" sz="2400" b="1" dirty="0">
                <a:solidFill>
                  <a:schemeClr val="bg1"/>
                </a:solidFill>
                <a:effectLst>
                  <a:outerShdw blurRad="38100" dist="38100" dir="2700000" algn="tl">
                    <a:srgbClr val="000000">
                      <a:alpha val="43137"/>
                    </a:srgbClr>
                  </a:outerShdw>
                </a:effectLst>
                <a:latin typeface="Calibri" pitchFamily="34" charset="0"/>
              </a:rPr>
              <a:t>The memory management Requirements</a:t>
            </a:r>
            <a:endParaRPr kumimoji="0" lang="en-NZ" sz="2400" b="1" i="0" u="none" strike="noStrike" kern="1200" cap="small" spc="0" normalizeH="0" baseline="0" noProof="0" dirty="0">
              <a:ln>
                <a:noFill/>
              </a:ln>
              <a:solidFill>
                <a:schemeClr val="bg1"/>
              </a:solidFill>
              <a:effectLst>
                <a:outerShdw blurRad="38100" dist="38100" dir="2700000" algn="tl">
                  <a:srgbClr val="000000">
                    <a:alpha val="43137"/>
                  </a:srgbClr>
                </a:outerShdw>
              </a:effectLst>
              <a:uLnTx/>
              <a:uFillTx/>
              <a:latin typeface="Calibri" pitchFamily="34" charset="0"/>
            </a:endParaRPr>
          </a:p>
        </p:txBody>
      </p:sp>
      <p:sp>
        <p:nvSpPr>
          <p:cNvPr id="7" name="Title 1"/>
          <p:cNvSpPr>
            <a:spLocks noGrp="1"/>
          </p:cNvSpPr>
          <p:nvPr>
            <p:ph type="title"/>
          </p:nvPr>
        </p:nvSpPr>
        <p:spPr>
          <a:xfrm>
            <a:off x="167640" y="3429000"/>
            <a:ext cx="4419600" cy="304800"/>
          </a:xfrm>
          <a:solidFill>
            <a:schemeClr val="accent3">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a:noAutofit/>
          </a:bodyPr>
          <a:lstStyle/>
          <a:p>
            <a:r>
              <a:rPr lang="en-US" sz="2200" b="1" dirty="0">
                <a:solidFill>
                  <a:schemeClr val="bg1"/>
                </a:solidFill>
                <a:latin typeface="Calibri" pitchFamily="34" charset="0"/>
              </a:rPr>
              <a:t>(1) Relocation:-</a:t>
            </a:r>
          </a:p>
        </p:txBody>
      </p:sp>
      <p:sp>
        <p:nvSpPr>
          <p:cNvPr id="8" name="Content Placeholder 2"/>
          <p:cNvSpPr txBox="1">
            <a:spLocks/>
          </p:cNvSpPr>
          <p:nvPr/>
        </p:nvSpPr>
        <p:spPr>
          <a:xfrm>
            <a:off x="57150" y="3912870"/>
            <a:ext cx="8877300" cy="2819400"/>
          </a:xfrm>
          <a:prstGeom prst="rect">
            <a:avLst/>
          </a:prstGeom>
        </p:spPr>
        <p:style>
          <a:lnRef idx="2">
            <a:schemeClr val="accent1"/>
          </a:lnRef>
          <a:fillRef idx="1">
            <a:schemeClr val="lt1"/>
          </a:fillRef>
          <a:effectRef idx="0">
            <a:schemeClr val="accent1"/>
          </a:effectRef>
          <a:fontRef idx="minor">
            <a:schemeClr val="dk1"/>
          </a:fontRef>
        </p:style>
        <p:txBody>
          <a:bodyPr vert="horz">
            <a:noAutofit/>
          </a:bodyPr>
          <a:lstStyle/>
          <a:p>
            <a:pPr marL="274320" marR="0" lvl="0" indent="-274320" algn="l" defTabSz="914400" rtl="0" eaLnBrk="1" fontAlgn="auto" latinLnBrk="0" hangingPunct="1">
              <a:lnSpc>
                <a:spcPct val="100000"/>
              </a:lnSpc>
              <a:spcBef>
                <a:spcPts val="600"/>
              </a:spcBef>
              <a:spcAft>
                <a:spcPts val="0"/>
              </a:spcAft>
              <a:buClr>
                <a:schemeClr val="accent1"/>
              </a:buClr>
              <a:buSzPct val="70000"/>
              <a:buFont typeface="Wingdings"/>
              <a:buChar char=""/>
              <a:tabLst/>
              <a:defRPr/>
            </a:pPr>
            <a:r>
              <a:rPr kumimoji="0" lang="en-US" sz="2000" b="0" i="0" u="none" strike="noStrike" kern="1200" cap="none" spc="0" normalizeH="0" baseline="0" noProof="0" dirty="0">
                <a:ln>
                  <a:noFill/>
                </a:ln>
                <a:solidFill>
                  <a:schemeClr val="dk1"/>
                </a:solidFill>
                <a:effectLst/>
                <a:uLnTx/>
                <a:uFillTx/>
                <a:latin typeface="Calibri" pitchFamily="34" charset="0"/>
              </a:rPr>
              <a:t>The programmer does not know where the program will be placed in memory when it is executed, </a:t>
            </a:r>
          </a:p>
          <a:p>
            <a:pPr marL="274320" marR="0" lvl="0" indent="-274320" algn="l" defTabSz="914400" rtl="0" eaLnBrk="1" fontAlgn="auto" latinLnBrk="0" hangingPunct="1">
              <a:lnSpc>
                <a:spcPct val="100000"/>
              </a:lnSpc>
              <a:spcBef>
                <a:spcPts val="600"/>
              </a:spcBef>
              <a:spcAft>
                <a:spcPts val="0"/>
              </a:spcAft>
              <a:buClr>
                <a:schemeClr val="accent1"/>
              </a:buClr>
              <a:buSzPct val="70000"/>
              <a:buFont typeface="Wingdings"/>
              <a:buChar char=""/>
              <a:tabLst/>
              <a:defRPr/>
            </a:pPr>
            <a:r>
              <a:rPr kumimoji="0" lang="en-US" sz="2000" b="0" i="0" u="none" strike="noStrike" kern="1200" cap="none" spc="0" normalizeH="0" baseline="0" noProof="0" dirty="0">
                <a:ln>
                  <a:noFill/>
                </a:ln>
                <a:solidFill>
                  <a:schemeClr val="dk1"/>
                </a:solidFill>
                <a:effectLst/>
                <a:uLnTx/>
                <a:uFillTx/>
                <a:latin typeface="Calibri" pitchFamily="34" charset="0"/>
              </a:rPr>
              <a:t>It may be swapped to disk and return to main memory and </a:t>
            </a:r>
            <a:r>
              <a:rPr lang="en-US" sz="2000" dirty="0">
                <a:latin typeface="Calibri" pitchFamily="34" charset="0"/>
              </a:rPr>
              <a:t>when it is next swapped </a:t>
            </a:r>
          </a:p>
          <a:p>
            <a:pPr>
              <a:buNone/>
            </a:pPr>
            <a:r>
              <a:rPr lang="en-US" sz="2000" dirty="0">
                <a:latin typeface="Calibri" pitchFamily="34" charset="0"/>
              </a:rPr>
              <a:t>      back in, it will not place in the same main memory region as before,</a:t>
            </a:r>
          </a:p>
          <a:p>
            <a:pPr>
              <a:buClr>
                <a:schemeClr val="accent1"/>
              </a:buClr>
              <a:buFont typeface="Courier New" pitchFamily="49" charset="0"/>
              <a:buChar char="o"/>
            </a:pPr>
            <a:r>
              <a:rPr lang="en-US" sz="2000" dirty="0">
                <a:latin typeface="Calibri" pitchFamily="34" charset="0"/>
              </a:rPr>
              <a:t>   But we may need to </a:t>
            </a:r>
            <a:r>
              <a:rPr lang="en-US" sz="2000" b="1" dirty="0">
                <a:latin typeface="Calibri" pitchFamily="34" charset="0"/>
              </a:rPr>
              <a:t>relocate the process to a different area of memory.</a:t>
            </a:r>
            <a:endParaRPr lang="en-US" sz="2000" dirty="0">
              <a:latin typeface="Calibri" pitchFamily="34" charset="0"/>
            </a:endParaRPr>
          </a:p>
          <a:p>
            <a:pPr>
              <a:buNone/>
            </a:pPr>
            <a:r>
              <a:rPr kumimoji="0" lang="en-US" sz="2000" b="0" i="0" u="none" strike="noStrike" kern="1200" cap="none" spc="0" normalizeH="0" baseline="0" noProof="0" dirty="0">
                <a:ln>
                  <a:noFill/>
                </a:ln>
                <a:solidFill>
                  <a:schemeClr val="dk1"/>
                </a:solidFill>
                <a:effectLst/>
                <a:uLnTx/>
                <a:uFillTx/>
                <a:latin typeface="Calibri" pitchFamily="34" charset="0"/>
              </a:rPr>
              <a:t>      (relocated).</a:t>
            </a:r>
          </a:p>
          <a:p>
            <a:pPr marL="274320" marR="0" lvl="0" indent="-274320" algn="l" defTabSz="914400" rtl="0" eaLnBrk="1" fontAlgn="auto" latinLnBrk="0" hangingPunct="1">
              <a:lnSpc>
                <a:spcPct val="100000"/>
              </a:lnSpc>
              <a:spcBef>
                <a:spcPts val="600"/>
              </a:spcBef>
              <a:spcAft>
                <a:spcPts val="0"/>
              </a:spcAft>
              <a:buClr>
                <a:schemeClr val="accent1"/>
              </a:buClr>
              <a:buSzPct val="70000"/>
              <a:buFont typeface="Wingdings"/>
              <a:buChar char=""/>
              <a:tabLst/>
              <a:defRPr/>
            </a:pPr>
            <a:r>
              <a:rPr kumimoji="0" lang="en-US" sz="2000" b="0" i="0" u="none" strike="noStrike" kern="1200" cap="none" spc="0" normalizeH="0" baseline="0" noProof="0" dirty="0">
                <a:ln>
                  <a:noFill/>
                </a:ln>
                <a:solidFill>
                  <a:schemeClr val="dk1"/>
                </a:solidFill>
                <a:effectLst/>
                <a:uLnTx/>
                <a:uFillTx/>
                <a:latin typeface="Calibri" pitchFamily="34" charset="0"/>
              </a:rPr>
              <a:t>Memory references must be translated to the actual physical memory address</a:t>
            </a:r>
          </a:p>
          <a:p>
            <a:pPr marL="274320" marR="0" lvl="0" indent="-274320" algn="l" defTabSz="914400" rtl="0" eaLnBrk="1" fontAlgn="auto" latinLnBrk="0" hangingPunct="1">
              <a:lnSpc>
                <a:spcPct val="100000"/>
              </a:lnSpc>
              <a:spcBef>
                <a:spcPts val="600"/>
              </a:spcBef>
              <a:spcAft>
                <a:spcPts val="0"/>
              </a:spcAft>
              <a:buClr>
                <a:schemeClr val="accent1"/>
              </a:buClr>
              <a:buSzPct val="70000"/>
              <a:buFont typeface="Wingdings"/>
              <a:buChar char=""/>
              <a:tabLst/>
              <a:defRPr/>
            </a:pPr>
            <a:endParaRPr kumimoji="0" lang="en-US" sz="2000" b="0" i="0" u="none" strike="noStrike" kern="1200" cap="none" spc="0" normalizeH="0" baseline="0" noProof="0" dirty="0">
              <a:ln>
                <a:noFill/>
              </a:ln>
              <a:solidFill>
                <a:schemeClr val="dk1"/>
              </a:solidFill>
              <a:effectLst/>
              <a:uLnTx/>
              <a:uFillTx/>
              <a:latin typeface="Calibri" pitchFamily="34" charset="0"/>
            </a:endParaRPr>
          </a:p>
        </p:txBody>
      </p:sp>
      <p:pic>
        <p:nvPicPr>
          <p:cNvPr id="2050" name="Picture 2" descr="E:\gp image\images.jpg"/>
          <p:cNvPicPr>
            <a:picLocks noChangeAspect="1" noChangeArrowheads="1"/>
          </p:cNvPicPr>
          <p:nvPr/>
        </p:nvPicPr>
        <p:blipFill>
          <a:blip r:embed="rId3"/>
          <a:srcRect/>
          <a:stretch>
            <a:fillRect/>
          </a:stretch>
        </p:blipFill>
        <p:spPr bwMode="auto">
          <a:xfrm>
            <a:off x="6248400" y="1283970"/>
            <a:ext cx="2133600" cy="1611630"/>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a:xfrm>
            <a:off x="228600" y="152400"/>
            <a:ext cx="4572000" cy="381000"/>
          </a:xfrm>
          <a:solidFill>
            <a:schemeClr val="accent3">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a:noAutofit/>
          </a:bodyPr>
          <a:lstStyle/>
          <a:p>
            <a:r>
              <a:rPr lang="en-US" sz="2200" b="1" dirty="0">
                <a:solidFill>
                  <a:schemeClr val="bg1"/>
                </a:solidFill>
                <a:latin typeface="Calibri" pitchFamily="34" charset="0"/>
              </a:rPr>
              <a:t>(2) Protection:-</a:t>
            </a:r>
          </a:p>
        </p:txBody>
      </p:sp>
      <p:sp>
        <p:nvSpPr>
          <p:cNvPr id="5" name="Content Placeholder 2"/>
          <p:cNvSpPr>
            <a:spLocks noGrp="1"/>
          </p:cNvSpPr>
          <p:nvPr>
            <p:ph sz="quarter" idx="1"/>
          </p:nvPr>
        </p:nvSpPr>
        <p:spPr>
          <a:xfrm>
            <a:off x="209550" y="762000"/>
            <a:ext cx="8534400" cy="2667000"/>
          </a:xfrm>
          <a:ln>
            <a:solidFill>
              <a:schemeClr val="accent3">
                <a:lumMod val="60000"/>
                <a:lumOff val="40000"/>
              </a:schemeClr>
            </a:solidFill>
          </a:ln>
        </p:spPr>
        <p:style>
          <a:lnRef idx="2">
            <a:schemeClr val="accent1"/>
          </a:lnRef>
          <a:fillRef idx="1">
            <a:schemeClr val="lt1"/>
          </a:fillRef>
          <a:effectRef idx="0">
            <a:schemeClr val="accent1"/>
          </a:effectRef>
          <a:fontRef idx="minor">
            <a:schemeClr val="dk1"/>
          </a:fontRef>
        </p:style>
        <p:txBody>
          <a:bodyPr>
            <a:normAutofit lnSpcReduction="10000"/>
          </a:bodyPr>
          <a:lstStyle/>
          <a:p>
            <a:r>
              <a:rPr lang="en-US" sz="2000" dirty="0">
                <a:latin typeface="Calibri" pitchFamily="34" charset="0"/>
              </a:rPr>
              <a:t>Processes should not be able to reference memory locations in another process without permission.</a:t>
            </a:r>
          </a:p>
          <a:p>
            <a:r>
              <a:rPr lang="en-US" sz="2000" dirty="0">
                <a:latin typeface="Calibri" pitchFamily="34" charset="0"/>
              </a:rPr>
              <a:t>In one sense, satisfaction of the relocation requirement increases the difficulty of satisfying the protection requirement.</a:t>
            </a:r>
          </a:p>
          <a:p>
            <a:r>
              <a:rPr lang="en-US" sz="2000" dirty="0">
                <a:latin typeface="Calibri" pitchFamily="34" charset="0"/>
              </a:rPr>
              <a:t>The location of a program in main memory is unpredictable so it is impossible to check absolute addresses at compile time.</a:t>
            </a:r>
          </a:p>
          <a:p>
            <a:r>
              <a:rPr lang="en-US" sz="2000" dirty="0">
                <a:latin typeface="Calibri" pitchFamily="34" charset="0"/>
              </a:rPr>
              <a:t>The memory protection requirement must be satisfied by the processor</a:t>
            </a:r>
          </a:p>
          <a:p>
            <a:pPr>
              <a:buNone/>
            </a:pPr>
            <a:r>
              <a:rPr lang="en-US" sz="2000" dirty="0">
                <a:latin typeface="Calibri" pitchFamily="34" charset="0"/>
              </a:rPr>
              <a:t>    (hardware) rather than the operating system (software)</a:t>
            </a:r>
            <a:endParaRPr lang="en-US" sz="2000" b="1" dirty="0">
              <a:latin typeface="Calibri" pitchFamily="34" charset="0"/>
            </a:endParaRPr>
          </a:p>
          <a:p>
            <a:endParaRPr lang="en-US" sz="2000" dirty="0">
              <a:latin typeface="Calibri" pitchFamily="34" charset="0"/>
            </a:endParaRPr>
          </a:p>
        </p:txBody>
      </p:sp>
      <p:sp>
        <p:nvSpPr>
          <p:cNvPr id="6" name="Title 1"/>
          <p:cNvSpPr txBox="1">
            <a:spLocks/>
          </p:cNvSpPr>
          <p:nvPr/>
        </p:nvSpPr>
        <p:spPr bwMode="auto">
          <a:xfrm>
            <a:off x="228600" y="3771900"/>
            <a:ext cx="4953000" cy="381000"/>
          </a:xfrm>
          <a:prstGeom prst="rect">
            <a:avLst/>
          </a:prstGeom>
          <a:solidFill>
            <a:schemeClr val="accent3">
              <a:lumMod val="60000"/>
              <a:lumOff val="40000"/>
            </a:schemeClr>
          </a:solidFill>
          <a:ln>
            <a:headEnd/>
            <a:tailEnd/>
          </a:ln>
        </p:spPr>
        <p:style>
          <a:lnRef idx="2">
            <a:schemeClr val="accent1">
              <a:shade val="50000"/>
            </a:schemeClr>
          </a:lnRef>
          <a:fillRef idx="1">
            <a:schemeClr val="accent1"/>
          </a:fillRef>
          <a:effectRef idx="0">
            <a:schemeClr val="accent1"/>
          </a:effectRef>
          <a:fontRef idx="minor">
            <a:schemeClr val="lt1"/>
          </a:fontRef>
        </p:style>
        <p:txBody>
          <a:bodyPr vert="horz" wrap="square" lIns="91440" tIns="45720" rIns="91440" bIns="45720" numCol="1" anchor="ctr" anchorCtr="0" compatLnSpc="1">
            <a:prstTxWarp prst="textNoShape">
              <a:avLst/>
            </a:prstTxWarp>
          </a:bodyPr>
          <a:lstStyle/>
          <a:p>
            <a:pPr marL="0" marR="0" lvl="0" indent="0" defTabSz="914400" rtl="0" eaLnBrk="0" fontAlgn="base" latinLnBrk="0" hangingPunct="0">
              <a:lnSpc>
                <a:spcPct val="100000"/>
              </a:lnSpc>
              <a:spcBef>
                <a:spcPct val="0"/>
              </a:spcBef>
              <a:spcAft>
                <a:spcPct val="0"/>
              </a:spcAft>
              <a:buClrTx/>
              <a:buSzTx/>
              <a:buFontTx/>
              <a:buNone/>
              <a:tabLst/>
              <a:defRPr/>
            </a:pPr>
            <a:r>
              <a:rPr kumimoji="0" lang="en-US" b="1" i="0" u="none" strike="noStrike" kern="1200" cap="none" spc="0" normalizeH="0" baseline="0" noProof="0" dirty="0">
                <a:ln>
                  <a:noFill/>
                </a:ln>
                <a:solidFill>
                  <a:schemeClr val="bg1"/>
                </a:solidFill>
                <a:uLnTx/>
                <a:uFillTx/>
                <a:latin typeface="Calibri" pitchFamily="34" charset="0"/>
                <a:ea typeface="+mn-ea"/>
                <a:cs typeface="+mn-cs"/>
              </a:rPr>
              <a:t>(3) Sharing</a:t>
            </a:r>
          </a:p>
        </p:txBody>
      </p:sp>
      <p:sp>
        <p:nvSpPr>
          <p:cNvPr id="7" name="Content Placeholder 2"/>
          <p:cNvSpPr txBox="1">
            <a:spLocks/>
          </p:cNvSpPr>
          <p:nvPr/>
        </p:nvSpPr>
        <p:spPr bwMode="auto">
          <a:xfrm>
            <a:off x="228600" y="4343400"/>
            <a:ext cx="8534400" cy="2209800"/>
          </a:xfrm>
          <a:prstGeom prst="rect">
            <a:avLst/>
          </a:prstGeom>
          <a:ln>
            <a:solidFill>
              <a:schemeClr val="accent3">
                <a:lumMod val="60000"/>
                <a:lumOff val="40000"/>
              </a:schemeClr>
            </a:solidFill>
            <a:headEnd/>
            <a:tailEnd/>
          </a:ln>
        </p:spPr>
        <p:style>
          <a:lnRef idx="2">
            <a:schemeClr val="accent1"/>
          </a:lnRef>
          <a:fillRef idx="1">
            <a:schemeClr val="lt1"/>
          </a:fillRef>
          <a:effectRef idx="0">
            <a:schemeClr val="accent1"/>
          </a:effectRef>
          <a:fontRef idx="minor">
            <a:schemeClr val="dk1"/>
          </a:fontRef>
        </p:style>
        <p:txBody>
          <a:bodyPr vert="horz" wrap="square" lIns="91440" tIns="45720" rIns="91440" bIns="45720" numCol="1" anchor="t" anchorCtr="0" compatLnSpc="1">
            <a:prstTxWarp prst="textNoShape">
              <a:avLst/>
            </a:prstTxWarp>
          </a:bodyPr>
          <a:lstStyle/>
          <a:p>
            <a:pPr marL="342900" marR="0" lvl="0" indent="-342900" algn="l" defTabSz="914400" rtl="0" eaLnBrk="0" fontAlgn="base" latinLnBrk="0" hangingPunct="0">
              <a:lnSpc>
                <a:spcPct val="100000"/>
              </a:lnSpc>
              <a:spcBef>
                <a:spcPct val="20000"/>
              </a:spcBef>
              <a:spcAft>
                <a:spcPct val="0"/>
              </a:spcAft>
              <a:buClr>
                <a:schemeClr val="accent3"/>
              </a:buClr>
              <a:buSzTx/>
              <a:buFont typeface="Courier New" pitchFamily="49" charset="0"/>
              <a:buChar char="o"/>
              <a:tabLst/>
              <a:defRPr/>
            </a:pPr>
            <a:r>
              <a:rPr kumimoji="0" lang="en-US" sz="2000" b="0" i="0" u="none" strike="noStrike" kern="1200" cap="none" spc="0" normalizeH="0" baseline="0" noProof="0" dirty="0">
                <a:ln>
                  <a:noFill/>
                </a:ln>
                <a:solidFill>
                  <a:schemeClr val="dk1"/>
                </a:solidFill>
                <a:effectLst/>
                <a:uLnTx/>
                <a:uFillTx/>
                <a:latin typeface="Calibri" pitchFamily="34" charset="0"/>
              </a:rPr>
              <a:t>Allow several processes to access the same portion of memory.</a:t>
            </a:r>
          </a:p>
          <a:p>
            <a:pPr marL="342900" marR="0" lvl="0" indent="-342900" algn="l" defTabSz="914400" rtl="0" eaLnBrk="0" fontAlgn="base" latinLnBrk="0" hangingPunct="0">
              <a:lnSpc>
                <a:spcPct val="100000"/>
              </a:lnSpc>
              <a:spcBef>
                <a:spcPct val="20000"/>
              </a:spcBef>
              <a:spcAft>
                <a:spcPct val="0"/>
              </a:spcAft>
              <a:buClr>
                <a:schemeClr val="accent3"/>
              </a:buClr>
              <a:buSzTx/>
              <a:buFont typeface="Courier New" pitchFamily="49" charset="0"/>
              <a:buChar char="o"/>
              <a:tabLst/>
              <a:defRPr/>
            </a:pPr>
            <a:r>
              <a:rPr kumimoji="0" lang="en-US" sz="2000" b="0" i="0" u="none" strike="noStrike" kern="1200" cap="none" spc="0" normalizeH="0" baseline="0" noProof="0" dirty="0">
                <a:ln>
                  <a:noFill/>
                </a:ln>
                <a:solidFill>
                  <a:schemeClr val="dk1"/>
                </a:solidFill>
                <a:effectLst/>
                <a:uLnTx/>
                <a:uFillTx/>
                <a:latin typeface="Calibri" pitchFamily="34" charset="0"/>
              </a:rPr>
              <a:t>Better to allow each process access to the same copy of the program rather than have their own separate copy.</a:t>
            </a:r>
          </a:p>
          <a:p>
            <a:pPr marL="342900" marR="0" lvl="0" indent="-342900" algn="l" defTabSz="914400" rtl="0" eaLnBrk="0" fontAlgn="base" latinLnBrk="0" hangingPunct="0">
              <a:lnSpc>
                <a:spcPct val="100000"/>
              </a:lnSpc>
              <a:spcBef>
                <a:spcPct val="20000"/>
              </a:spcBef>
              <a:spcAft>
                <a:spcPct val="0"/>
              </a:spcAft>
              <a:buClr>
                <a:schemeClr val="accent3"/>
              </a:buClr>
              <a:buSzTx/>
              <a:buFont typeface="Courier New" pitchFamily="49" charset="0"/>
              <a:buChar char="o"/>
              <a:tabLst/>
              <a:defRPr/>
            </a:pPr>
            <a:r>
              <a:rPr lang="en-US" sz="2000" dirty="0">
                <a:latin typeface="Calibri" pitchFamily="34" charset="0"/>
              </a:rPr>
              <a:t>The memory management system must therefore allow controlled access to shared areas of memory without compromising essential protection</a:t>
            </a:r>
            <a:endParaRPr kumimoji="0" lang="en-US" sz="2000" b="0" i="0" u="none" strike="noStrike" kern="1200" cap="none" spc="0" normalizeH="0" baseline="0" noProof="0" dirty="0">
              <a:ln>
                <a:noFill/>
              </a:ln>
              <a:solidFill>
                <a:schemeClr val="dk1"/>
              </a:solidFill>
              <a:effectLst/>
              <a:uLnTx/>
              <a:uFillTx/>
              <a:latin typeface="Calibri" pitchFamily="34" charset="0"/>
            </a:endParaRPr>
          </a:p>
          <a:p>
            <a:pPr marL="342900" marR="0" lvl="0" indent="-342900" algn="l" defTabSz="914400" rtl="0" eaLnBrk="0" fontAlgn="base" latinLnBrk="0" hangingPunct="0">
              <a:lnSpc>
                <a:spcPct val="100000"/>
              </a:lnSpc>
              <a:spcBef>
                <a:spcPct val="20000"/>
              </a:spcBef>
              <a:spcAft>
                <a:spcPct val="0"/>
              </a:spcAft>
              <a:buClrTx/>
              <a:buSzTx/>
              <a:buFont typeface="Arial" pitchFamily="34" charset="0"/>
              <a:buChar char="•"/>
              <a:tabLst/>
              <a:defRPr/>
            </a:pPr>
            <a:endParaRPr kumimoji="0" lang="en-US" sz="2000" b="0" i="0" u="none" strike="noStrike" kern="1200" cap="none" spc="0" normalizeH="0" baseline="0" noProof="0" dirty="0">
              <a:ln>
                <a:noFill/>
              </a:ln>
              <a:solidFill>
                <a:schemeClr val="dk1"/>
              </a:solidFill>
              <a:effectLst/>
              <a:uLnTx/>
              <a:uFillTx/>
              <a:latin typeface="Calibri" pitchFamily="34" charset="0"/>
            </a:endParaRPr>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1"/>
          <p:cNvSpPr>
            <a:spLocks noGrp="1"/>
          </p:cNvSpPr>
          <p:nvPr>
            <p:ph type="title"/>
          </p:nvPr>
        </p:nvSpPr>
        <p:spPr>
          <a:xfrm>
            <a:off x="152400" y="190500"/>
            <a:ext cx="5410200" cy="381000"/>
          </a:xfrm>
          <a:solidFill>
            <a:schemeClr val="accent3">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a:normAutofit fontScale="90000"/>
          </a:bodyPr>
          <a:lstStyle/>
          <a:p>
            <a:r>
              <a:rPr lang="en-US" sz="2200" b="1" dirty="0">
                <a:solidFill>
                  <a:schemeClr val="bg1"/>
                </a:solidFill>
                <a:latin typeface="Calibri" pitchFamily="34" charset="0"/>
              </a:rPr>
              <a:t>(4) Logical Organization:-</a:t>
            </a:r>
          </a:p>
        </p:txBody>
      </p:sp>
      <p:sp>
        <p:nvSpPr>
          <p:cNvPr id="14339" name="Content Placeholder 2"/>
          <p:cNvSpPr>
            <a:spLocks noGrp="1"/>
          </p:cNvSpPr>
          <p:nvPr>
            <p:ph sz="quarter" idx="1"/>
          </p:nvPr>
        </p:nvSpPr>
        <p:spPr>
          <a:xfrm>
            <a:off x="190500" y="744736"/>
            <a:ext cx="8420100" cy="2286000"/>
          </a:xfrm>
          <a:ln>
            <a:solidFill>
              <a:schemeClr val="accent3">
                <a:lumMod val="60000"/>
                <a:lumOff val="40000"/>
              </a:schemeClr>
            </a:solidFill>
          </a:ln>
        </p:spPr>
        <p:style>
          <a:lnRef idx="2">
            <a:schemeClr val="accent1"/>
          </a:lnRef>
          <a:fillRef idx="1">
            <a:schemeClr val="lt1"/>
          </a:fillRef>
          <a:effectRef idx="0">
            <a:schemeClr val="accent1"/>
          </a:effectRef>
          <a:fontRef idx="minor">
            <a:schemeClr val="dk1"/>
          </a:fontRef>
        </p:style>
        <p:txBody>
          <a:bodyPr>
            <a:normAutofit/>
          </a:bodyPr>
          <a:lstStyle/>
          <a:p>
            <a:r>
              <a:rPr lang="en-US" sz="2000" dirty="0">
                <a:latin typeface="Calibri" pitchFamily="34" charset="0"/>
              </a:rPr>
              <a:t>Memory is organized linearly (usually)</a:t>
            </a:r>
          </a:p>
          <a:p>
            <a:r>
              <a:rPr lang="en-US" sz="2000" dirty="0">
                <a:latin typeface="Calibri" pitchFamily="34" charset="0"/>
              </a:rPr>
              <a:t>Programs are written in modules</a:t>
            </a:r>
          </a:p>
          <a:p>
            <a:pPr lvl="1"/>
            <a:r>
              <a:rPr lang="en-US" sz="2000" dirty="0">
                <a:latin typeface="Calibri" pitchFamily="34" charset="0"/>
              </a:rPr>
              <a:t>Modules can be written and compiled independently</a:t>
            </a:r>
          </a:p>
          <a:p>
            <a:r>
              <a:rPr lang="en-US" sz="2000" dirty="0">
                <a:latin typeface="Calibri" pitchFamily="34" charset="0"/>
              </a:rPr>
              <a:t>Different degrees of protection given to modules (read-only, execute-only)</a:t>
            </a:r>
          </a:p>
          <a:p>
            <a:r>
              <a:rPr lang="en-US" sz="2000" dirty="0">
                <a:latin typeface="Calibri" pitchFamily="34" charset="0"/>
              </a:rPr>
              <a:t>Share modules among processes</a:t>
            </a:r>
          </a:p>
          <a:p>
            <a:r>
              <a:rPr lang="en-US" sz="2000" dirty="0">
                <a:latin typeface="Calibri" pitchFamily="34" charset="0"/>
              </a:rPr>
              <a:t>Segmentation helps here</a:t>
            </a:r>
          </a:p>
          <a:p>
            <a:endParaRPr lang="en-US" sz="2000" dirty="0">
              <a:latin typeface="Calibri" pitchFamily="34" charset="0"/>
            </a:endParaRPr>
          </a:p>
        </p:txBody>
      </p:sp>
      <p:sp>
        <p:nvSpPr>
          <p:cNvPr id="4" name="Title 1"/>
          <p:cNvSpPr txBox="1">
            <a:spLocks/>
          </p:cNvSpPr>
          <p:nvPr/>
        </p:nvSpPr>
        <p:spPr bwMode="auto">
          <a:xfrm>
            <a:off x="152400" y="3276600"/>
            <a:ext cx="5562600" cy="381000"/>
          </a:xfrm>
          <a:prstGeom prst="rect">
            <a:avLst/>
          </a:prstGeom>
          <a:solidFill>
            <a:schemeClr val="accent3">
              <a:lumMod val="60000"/>
              <a:lumOff val="40000"/>
            </a:schemeClr>
          </a:solidFill>
          <a:ln>
            <a:headEnd/>
            <a:tailEnd/>
          </a:ln>
        </p:spPr>
        <p:style>
          <a:lnRef idx="2">
            <a:schemeClr val="accent1">
              <a:shade val="50000"/>
            </a:schemeClr>
          </a:lnRef>
          <a:fillRef idx="1">
            <a:schemeClr val="accent1"/>
          </a:fillRef>
          <a:effectRef idx="0">
            <a:schemeClr val="accent1"/>
          </a:effectRef>
          <a:fontRef idx="minor">
            <a:schemeClr val="lt1"/>
          </a:fontRef>
        </p:style>
        <p:txBody>
          <a:bodyPr vert="horz" wrap="square" lIns="91440" tIns="45720" rIns="91440" bIns="45720" numCol="1" anchor="ctr" anchorCtr="0" compatLnSpc="1">
            <a:prstTxWarp prst="textNoShape">
              <a:avLst/>
            </a:prstTxWarp>
          </a:bodyPr>
          <a:lstStyle/>
          <a:p>
            <a:pPr marL="0" marR="0" lvl="0" indent="0" defTabSz="914400" rtl="0" eaLnBrk="0" fontAlgn="base" latinLnBrk="0" hangingPunct="0">
              <a:lnSpc>
                <a:spcPct val="100000"/>
              </a:lnSpc>
              <a:spcBef>
                <a:spcPct val="0"/>
              </a:spcBef>
              <a:spcAft>
                <a:spcPct val="0"/>
              </a:spcAft>
              <a:buClrTx/>
              <a:buSzTx/>
              <a:buFontTx/>
              <a:buNone/>
              <a:tabLst/>
              <a:defRPr/>
            </a:pPr>
            <a:r>
              <a:rPr kumimoji="0" lang="en-US" i="0" u="none" strike="noStrike" kern="1200" cap="none" spc="0" normalizeH="0" baseline="0" noProof="0" dirty="0">
                <a:ln>
                  <a:noFill/>
                </a:ln>
                <a:solidFill>
                  <a:schemeClr val="bg1"/>
                </a:solidFill>
                <a:effectLst/>
                <a:uLnTx/>
                <a:uFillTx/>
                <a:latin typeface="Calibri" pitchFamily="34" charset="0"/>
                <a:ea typeface="+mn-ea"/>
                <a:cs typeface="+mn-cs"/>
              </a:rPr>
              <a:t>(5)</a:t>
            </a:r>
            <a:r>
              <a:rPr kumimoji="0" lang="en-US" i="0" u="none" strike="noStrike" kern="1200" cap="none" spc="0" normalizeH="0" noProof="0" dirty="0">
                <a:ln>
                  <a:noFill/>
                </a:ln>
                <a:solidFill>
                  <a:schemeClr val="bg1"/>
                </a:solidFill>
                <a:effectLst/>
                <a:uLnTx/>
                <a:uFillTx/>
                <a:latin typeface="Calibri" pitchFamily="34" charset="0"/>
                <a:ea typeface="+mn-ea"/>
                <a:cs typeface="+mn-cs"/>
              </a:rPr>
              <a:t> </a:t>
            </a:r>
            <a:r>
              <a:rPr kumimoji="0" lang="en-US" i="0" u="none" strike="noStrike" kern="1200" cap="none" spc="0" normalizeH="0" baseline="0" noProof="0" dirty="0">
                <a:ln>
                  <a:noFill/>
                </a:ln>
                <a:solidFill>
                  <a:schemeClr val="bg1"/>
                </a:solidFill>
                <a:effectLst/>
                <a:uLnTx/>
                <a:uFillTx/>
                <a:latin typeface="Calibri" pitchFamily="34" charset="0"/>
                <a:ea typeface="+mn-ea"/>
                <a:cs typeface="+mn-cs"/>
              </a:rPr>
              <a:t>Physical Organization:-</a:t>
            </a:r>
          </a:p>
        </p:txBody>
      </p:sp>
      <p:sp>
        <p:nvSpPr>
          <p:cNvPr id="5" name="Content Placeholder 2"/>
          <p:cNvSpPr txBox="1">
            <a:spLocks/>
          </p:cNvSpPr>
          <p:nvPr/>
        </p:nvSpPr>
        <p:spPr bwMode="auto">
          <a:xfrm>
            <a:off x="152400" y="3733800"/>
            <a:ext cx="8991600" cy="2819400"/>
          </a:xfrm>
          <a:prstGeom prst="rect">
            <a:avLst/>
          </a:prstGeom>
          <a:ln>
            <a:solidFill>
              <a:schemeClr val="accent3">
                <a:lumMod val="60000"/>
                <a:lumOff val="40000"/>
              </a:schemeClr>
            </a:solidFill>
            <a:headEnd/>
            <a:tailEnd/>
          </a:ln>
        </p:spPr>
        <p:style>
          <a:lnRef idx="2">
            <a:schemeClr val="accent1"/>
          </a:lnRef>
          <a:fillRef idx="1">
            <a:schemeClr val="lt1"/>
          </a:fillRef>
          <a:effectRef idx="0">
            <a:schemeClr val="accent1"/>
          </a:effectRef>
          <a:fontRef idx="minor">
            <a:schemeClr val="dk1"/>
          </a:fontRef>
        </p:style>
        <p:txBody>
          <a:bodyPr vert="horz" wrap="square" lIns="91440" tIns="45720" rIns="91440" bIns="45720" numCol="1" anchor="t" anchorCtr="0" compatLnSpc="1">
            <a:prstTxWarp prst="textNoShape">
              <a:avLst/>
            </a:prstTxWarp>
          </a:bodyPr>
          <a:lstStyle/>
          <a:p>
            <a:pPr marL="342900" marR="0" lvl="0" indent="-342900" algn="l" defTabSz="914400" rtl="0" eaLnBrk="0" fontAlgn="base" latinLnBrk="0" hangingPunct="0">
              <a:lnSpc>
                <a:spcPct val="100000"/>
              </a:lnSpc>
              <a:spcBef>
                <a:spcPct val="20000"/>
              </a:spcBef>
              <a:spcAft>
                <a:spcPct val="0"/>
              </a:spcAft>
              <a:buClrTx/>
              <a:buSzTx/>
              <a:buFont typeface="Arial" pitchFamily="34" charset="0"/>
              <a:buChar char="•"/>
              <a:tabLst/>
              <a:defRPr/>
            </a:pPr>
            <a:r>
              <a:rPr kumimoji="0" lang="en-US" sz="2000" b="0" i="0" u="none" strike="noStrike" kern="1200" cap="none" spc="0" normalizeH="0" baseline="0" noProof="0" dirty="0">
                <a:ln>
                  <a:noFill/>
                </a:ln>
                <a:solidFill>
                  <a:schemeClr val="dk1"/>
                </a:solidFill>
                <a:effectLst/>
                <a:uLnTx/>
                <a:uFillTx/>
                <a:latin typeface="Calibri" pitchFamily="34" charset="0"/>
              </a:rPr>
              <a:t>Cannot leave the programmer with the responsibility to manage memory.</a:t>
            </a:r>
          </a:p>
          <a:p>
            <a:pPr marL="342900" marR="0" lvl="0" indent="-342900" algn="l" defTabSz="914400" rtl="0" eaLnBrk="0" fontAlgn="base" latinLnBrk="0" hangingPunct="0">
              <a:lnSpc>
                <a:spcPct val="100000"/>
              </a:lnSpc>
              <a:spcBef>
                <a:spcPct val="20000"/>
              </a:spcBef>
              <a:spcAft>
                <a:spcPct val="0"/>
              </a:spcAft>
              <a:buClrTx/>
              <a:buSzTx/>
              <a:buFont typeface="Arial" pitchFamily="34" charset="0"/>
              <a:buChar char="•"/>
              <a:tabLst/>
              <a:defRPr/>
            </a:pPr>
            <a:r>
              <a:rPr kumimoji="0" lang="en-US" sz="2000" b="0" i="0" u="none" strike="noStrike" kern="1200" cap="none" spc="0" normalizeH="0" baseline="0" noProof="0" dirty="0">
                <a:ln>
                  <a:noFill/>
                </a:ln>
                <a:solidFill>
                  <a:schemeClr val="dk1"/>
                </a:solidFill>
                <a:effectLst/>
                <a:uLnTx/>
                <a:uFillTx/>
                <a:latin typeface="Calibri" pitchFamily="34" charset="0"/>
              </a:rPr>
              <a:t>Memory available for a program plus its data may be insufficient.</a:t>
            </a:r>
          </a:p>
          <a:p>
            <a:pPr marL="342900" marR="0" lvl="0" indent="-342900" algn="l" defTabSz="914400" rtl="0" eaLnBrk="0" fontAlgn="base" latinLnBrk="0" hangingPunct="0">
              <a:lnSpc>
                <a:spcPct val="100000"/>
              </a:lnSpc>
              <a:spcBef>
                <a:spcPct val="20000"/>
              </a:spcBef>
              <a:spcAft>
                <a:spcPct val="0"/>
              </a:spcAft>
              <a:buClrTx/>
              <a:buSzTx/>
              <a:buFont typeface="Arial" pitchFamily="34" charset="0"/>
              <a:buChar char="•"/>
              <a:tabLst/>
              <a:defRPr/>
            </a:pPr>
            <a:r>
              <a:rPr kumimoji="0" lang="en-US" sz="2000" b="0" i="0" u="none" strike="noStrike" kern="1200" cap="none" spc="0" normalizeH="0" baseline="0" noProof="0" dirty="0">
                <a:ln>
                  <a:noFill/>
                </a:ln>
                <a:solidFill>
                  <a:schemeClr val="dk1"/>
                </a:solidFill>
                <a:effectLst/>
                <a:uLnTx/>
                <a:uFillTx/>
                <a:latin typeface="Calibri" pitchFamily="34" charset="0"/>
              </a:rPr>
              <a:t>Overlaying allows various modules to be assigned the same region of  Memory but is time consuming to program.</a:t>
            </a:r>
          </a:p>
          <a:p>
            <a:r>
              <a:rPr lang="en-US" sz="2000" dirty="0">
                <a:latin typeface="Calibri" pitchFamily="34" charset="0"/>
              </a:rPr>
              <a:t>In a multiprogramming environment, the programmer does not know   </a:t>
            </a:r>
          </a:p>
          <a:p>
            <a:pPr>
              <a:buNone/>
            </a:pPr>
            <a:r>
              <a:rPr lang="en-US" sz="2000" dirty="0">
                <a:latin typeface="Calibri" pitchFamily="34" charset="0"/>
              </a:rPr>
              <a:t>  how much space will be available.</a:t>
            </a:r>
          </a:p>
          <a:p>
            <a:r>
              <a:rPr lang="en-US" sz="2000" dirty="0">
                <a:latin typeface="Calibri" pitchFamily="34" charset="0"/>
              </a:rPr>
              <a:t>The task of moving information between the two levels of memory should </a:t>
            </a:r>
          </a:p>
          <a:p>
            <a:pPr>
              <a:buNone/>
            </a:pPr>
            <a:r>
              <a:rPr lang="en-US" sz="2000" dirty="0">
                <a:latin typeface="Calibri" pitchFamily="34" charset="0"/>
              </a:rPr>
              <a:t>   be a system responsibility. </a:t>
            </a:r>
            <a:endParaRPr kumimoji="0" lang="en-US" sz="2000" b="0" i="0" u="none" strike="noStrike" kern="1200" cap="none" spc="0" normalizeH="0" baseline="0" noProof="0" dirty="0">
              <a:ln>
                <a:noFill/>
              </a:ln>
              <a:solidFill>
                <a:schemeClr val="dk1"/>
              </a:solidFill>
              <a:effectLst/>
              <a:uLnTx/>
              <a:uFillTx/>
              <a:latin typeface="Calibri" pitchFamily="34" charset="0"/>
            </a:endParaRPr>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a:srcRect/>
          <a:stretch>
            <a:fillRect/>
          </a:stretch>
        </p:blipFill>
        <p:spPr bwMode="auto">
          <a:xfrm>
            <a:off x="104775" y="533400"/>
            <a:ext cx="8658225" cy="609600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5" name="Title 1"/>
          <p:cNvSpPr txBox="1">
            <a:spLocks/>
          </p:cNvSpPr>
          <p:nvPr/>
        </p:nvSpPr>
        <p:spPr>
          <a:xfrm>
            <a:off x="152400" y="0"/>
            <a:ext cx="8610600" cy="457200"/>
          </a:xfrm>
          <a:prstGeom prst="rect">
            <a:avLst/>
          </a:prstGeom>
          <a:solidFill>
            <a:schemeClr val="accent3">
              <a:lumMod val="60000"/>
              <a:lumOff val="40000"/>
            </a:schemeClr>
          </a:solidFill>
        </p:spPr>
        <p:style>
          <a:lnRef idx="3">
            <a:schemeClr val="lt1"/>
          </a:lnRef>
          <a:fillRef idx="1">
            <a:schemeClr val="accent1"/>
          </a:fillRef>
          <a:effectRef idx="1">
            <a:schemeClr val="accent1"/>
          </a:effectRef>
          <a:fontRef idx="minor">
            <a:schemeClr val="lt1"/>
          </a:fontRef>
        </p:style>
        <p:txBody>
          <a:bodyPr vert="horz" anchor="b">
            <a:noAutofit/>
          </a:bodyPr>
          <a:lstStyle/>
          <a:p>
            <a:pPr lvl="0" algn="ctr" eaLnBrk="1" fontAlgn="auto" hangingPunct="1">
              <a:spcBef>
                <a:spcPct val="0"/>
              </a:spcBef>
              <a:spcAft>
                <a:spcPts val="0"/>
              </a:spcAft>
              <a:buNone/>
            </a:pPr>
            <a:r>
              <a:rPr lang="en-NZ" sz="2400" b="1" dirty="0">
                <a:solidFill>
                  <a:schemeClr val="bg1"/>
                </a:solidFill>
                <a:effectLst>
                  <a:outerShdw blurRad="38100" dist="38100" dir="2700000" algn="tl">
                    <a:srgbClr val="000000">
                      <a:alpha val="43137"/>
                    </a:srgbClr>
                  </a:outerShdw>
                </a:effectLst>
                <a:latin typeface="Calibri" pitchFamily="34" charset="0"/>
              </a:rPr>
              <a:t>Memory management Terms</a:t>
            </a:r>
            <a:endParaRPr kumimoji="0" lang="en-NZ" sz="2400" b="1" i="0" u="none" strike="noStrike" kern="1200" cap="small" spc="0" normalizeH="0" baseline="0" noProof="0" dirty="0">
              <a:ln>
                <a:noFill/>
              </a:ln>
              <a:solidFill>
                <a:schemeClr val="bg1"/>
              </a:solidFill>
              <a:effectLst>
                <a:outerShdw blurRad="38100" dist="38100" dir="2700000" algn="tl">
                  <a:srgbClr val="000000">
                    <a:alpha val="43137"/>
                  </a:srgbClr>
                </a:outerShdw>
              </a:effectLst>
              <a:uLnTx/>
              <a:uFillTx/>
              <a:latin typeface="Calibri" pitchFamily="34" charset="0"/>
            </a:endParaRPr>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Title 1"/>
          <p:cNvSpPr>
            <a:spLocks noGrp="1"/>
          </p:cNvSpPr>
          <p:nvPr>
            <p:ph type="title"/>
          </p:nvPr>
        </p:nvSpPr>
        <p:spPr>
          <a:xfrm>
            <a:off x="1752600" y="76200"/>
            <a:ext cx="5029200" cy="533400"/>
          </a:xfrm>
          <a:solidFill>
            <a:schemeClr val="accent3">
              <a:lumMod val="60000"/>
              <a:lumOff val="40000"/>
            </a:schemeClr>
          </a:solidFill>
          <a:ln/>
        </p:spPr>
        <p:style>
          <a:lnRef idx="3">
            <a:schemeClr val="lt1"/>
          </a:lnRef>
          <a:fillRef idx="1">
            <a:schemeClr val="accent1"/>
          </a:fillRef>
          <a:effectRef idx="1">
            <a:schemeClr val="accent1"/>
          </a:effectRef>
          <a:fontRef idx="minor">
            <a:schemeClr val="lt1"/>
          </a:fontRef>
        </p:style>
        <p:txBody>
          <a:bodyPr>
            <a:noAutofit/>
          </a:bodyPr>
          <a:lstStyle/>
          <a:p>
            <a:pPr algn="ctr"/>
            <a:r>
              <a:rPr lang="en-NZ" sz="3200" b="1" dirty="0">
                <a:solidFill>
                  <a:schemeClr val="bg1"/>
                </a:solidFill>
                <a:effectLst>
                  <a:outerShdw blurRad="38100" dist="38100" dir="2700000" algn="tl">
                    <a:srgbClr val="000000">
                      <a:alpha val="43137"/>
                    </a:srgbClr>
                  </a:outerShdw>
                </a:effectLst>
                <a:latin typeface="Calibri" pitchFamily="34" charset="0"/>
              </a:rPr>
              <a:t>Roadmap</a:t>
            </a:r>
          </a:p>
        </p:txBody>
      </p:sp>
      <p:sp>
        <p:nvSpPr>
          <p:cNvPr id="4099" name="Content Placeholder 2"/>
          <p:cNvSpPr>
            <a:spLocks noGrp="1"/>
          </p:cNvSpPr>
          <p:nvPr>
            <p:ph sz="quarter" idx="1"/>
          </p:nvPr>
        </p:nvSpPr>
        <p:spPr>
          <a:xfrm>
            <a:off x="283464" y="914400"/>
            <a:ext cx="6400800" cy="5638800"/>
          </a:xfrm>
          <a:ln/>
        </p:spPr>
        <p:style>
          <a:lnRef idx="2">
            <a:schemeClr val="accent1"/>
          </a:lnRef>
          <a:fillRef idx="1">
            <a:schemeClr val="lt1"/>
          </a:fillRef>
          <a:effectRef idx="0">
            <a:schemeClr val="accent1"/>
          </a:effectRef>
          <a:fontRef idx="minor">
            <a:schemeClr val="dk1"/>
          </a:fontRef>
        </p:style>
        <p:txBody>
          <a:bodyPr>
            <a:normAutofit fontScale="92500" lnSpcReduction="10000"/>
          </a:bodyPr>
          <a:lstStyle/>
          <a:p>
            <a:pPr>
              <a:lnSpc>
                <a:spcPct val="150000"/>
              </a:lnSpc>
            </a:pPr>
            <a:r>
              <a:rPr lang="en-NZ" dirty="0">
                <a:solidFill>
                  <a:schemeClr val="tx1"/>
                </a:solidFill>
                <a:latin typeface="Comic Sans MS" panose="030F0702030302020204" pitchFamily="66" charset="0"/>
              </a:rPr>
              <a:t>Basic requirements of Memory Management</a:t>
            </a:r>
          </a:p>
          <a:p>
            <a:pPr>
              <a:lnSpc>
                <a:spcPct val="150000"/>
              </a:lnSpc>
            </a:pPr>
            <a:r>
              <a:rPr lang="en-NZ" b="1" dirty="0">
                <a:solidFill>
                  <a:schemeClr val="accent3">
                    <a:lumMod val="60000"/>
                    <a:lumOff val="40000"/>
                  </a:schemeClr>
                </a:solidFill>
                <a:effectLst>
                  <a:outerShdw blurRad="38100" dist="38100" dir="2700000" algn="tl">
                    <a:srgbClr val="000000">
                      <a:alpha val="43137"/>
                    </a:srgbClr>
                  </a:outerShdw>
                </a:effectLst>
                <a:latin typeface="Comic Sans MS" panose="030F0702030302020204" pitchFamily="66" charset="0"/>
              </a:rPr>
              <a:t>Memory Partitioning</a:t>
            </a:r>
          </a:p>
          <a:p>
            <a:pPr>
              <a:lnSpc>
                <a:spcPct val="150000"/>
              </a:lnSpc>
            </a:pPr>
            <a:r>
              <a:rPr lang="en-NZ" dirty="0">
                <a:latin typeface="Comic Sans MS" panose="030F0702030302020204" pitchFamily="66" charset="0"/>
              </a:rPr>
              <a:t>Buddy System</a:t>
            </a:r>
          </a:p>
          <a:p>
            <a:pPr>
              <a:lnSpc>
                <a:spcPct val="150000"/>
              </a:lnSpc>
            </a:pPr>
            <a:r>
              <a:rPr lang="en-NZ" dirty="0">
                <a:latin typeface="Comic Sans MS" panose="030F0702030302020204" pitchFamily="66" charset="0"/>
              </a:rPr>
              <a:t>Simple Paging and Segmentation</a:t>
            </a:r>
          </a:p>
          <a:p>
            <a:pPr>
              <a:lnSpc>
                <a:spcPct val="150000"/>
              </a:lnSpc>
            </a:pPr>
            <a:r>
              <a:rPr lang="en-US" dirty="0">
                <a:latin typeface="Comic Sans MS" panose="030F0702030302020204" pitchFamily="66" charset="0"/>
              </a:rPr>
              <a:t>Need of Virtual Memory</a:t>
            </a:r>
          </a:p>
          <a:p>
            <a:pPr>
              <a:lnSpc>
                <a:spcPct val="150000"/>
              </a:lnSpc>
            </a:pPr>
            <a:r>
              <a:rPr lang="en-US" dirty="0">
                <a:latin typeface="Comic Sans MS" panose="030F0702030302020204" pitchFamily="66" charset="0"/>
              </a:rPr>
              <a:t>Virtual memory Paging and Segmentation</a:t>
            </a:r>
          </a:p>
          <a:p>
            <a:pPr>
              <a:lnSpc>
                <a:spcPct val="150000"/>
              </a:lnSpc>
            </a:pPr>
            <a:r>
              <a:rPr lang="en-US" dirty="0">
                <a:latin typeface="Comic Sans MS" panose="030F0702030302020204" pitchFamily="66" charset="0"/>
              </a:rPr>
              <a:t>Address translation in Paging</a:t>
            </a:r>
          </a:p>
          <a:p>
            <a:pPr>
              <a:lnSpc>
                <a:spcPct val="150000"/>
              </a:lnSpc>
            </a:pPr>
            <a:r>
              <a:rPr lang="en-US" dirty="0">
                <a:latin typeface="Comic Sans MS" panose="030F0702030302020204" pitchFamily="66" charset="0"/>
              </a:rPr>
              <a:t>Address translation in Segmentation</a:t>
            </a:r>
          </a:p>
          <a:p>
            <a:pPr>
              <a:lnSpc>
                <a:spcPct val="150000"/>
              </a:lnSpc>
            </a:pPr>
            <a:r>
              <a:rPr lang="en-US" dirty="0">
                <a:latin typeface="Comic Sans MS" panose="030F0702030302020204" pitchFamily="66" charset="0"/>
              </a:rPr>
              <a:t>Page Replacement Algorithms (FIFO, LRU, Optimal)</a:t>
            </a:r>
            <a:endParaRPr lang="en-NZ" dirty="0">
              <a:latin typeface="Comic Sans MS" panose="030F0702030302020204" pitchFamily="66" charset="0"/>
            </a:endParaRPr>
          </a:p>
        </p:txBody>
      </p:sp>
      <p:sp>
        <p:nvSpPr>
          <p:cNvPr id="4" name="Right Arrow 3"/>
          <p:cNvSpPr/>
          <p:nvPr/>
        </p:nvSpPr>
        <p:spPr>
          <a:xfrm>
            <a:off x="88392" y="1600200"/>
            <a:ext cx="445008" cy="381000"/>
          </a:xfrm>
          <a:prstGeom prst="rightArrow">
            <a:avLst/>
          </a:prstGeom>
          <a:solidFill>
            <a:schemeClr val="accent3">
              <a:lumMod val="60000"/>
              <a:lumOff val="40000"/>
            </a:schemeClr>
          </a:solidFill>
          <a:ln w="127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51" name="Picture 3" descr="E:\gp image\stick_figure_drawing_three_check_marks_sm_wm.gif"/>
          <p:cNvPicPr>
            <a:picLocks noChangeAspect="1" noChangeArrowheads="1" noCrop="1"/>
          </p:cNvPicPr>
          <p:nvPr/>
        </p:nvPicPr>
        <p:blipFill>
          <a:blip r:embed="rId3"/>
          <a:srcRect/>
          <a:stretch>
            <a:fillRect/>
          </a:stretch>
        </p:blipFill>
        <p:spPr bwMode="auto">
          <a:xfrm>
            <a:off x="6879336" y="1447800"/>
            <a:ext cx="1807464" cy="3276600"/>
          </a:xfrm>
          <a:prstGeom prst="rect">
            <a:avLst/>
          </a:prstGeom>
          <a:noFill/>
        </p:spPr>
      </p:pic>
    </p:spTree>
    <p:extLst>
      <p:ext uri="{BB962C8B-B14F-4D97-AF65-F5344CB8AC3E}">
        <p14:creationId xmlns:p14="http://schemas.microsoft.com/office/powerpoint/2010/main" val="866841312"/>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itle 1"/>
          <p:cNvSpPr>
            <a:spLocks noGrp="1"/>
          </p:cNvSpPr>
          <p:nvPr>
            <p:ph type="title"/>
          </p:nvPr>
        </p:nvSpPr>
        <p:spPr>
          <a:xfrm>
            <a:off x="1219200" y="46038"/>
            <a:ext cx="6096000" cy="411162"/>
          </a:xfrm>
          <a:solidFill>
            <a:schemeClr val="accent3">
              <a:lumMod val="60000"/>
              <a:lumOff val="40000"/>
            </a:schemeClr>
          </a:solidFill>
        </p:spPr>
        <p:style>
          <a:lnRef idx="3">
            <a:schemeClr val="lt1"/>
          </a:lnRef>
          <a:fillRef idx="1">
            <a:schemeClr val="accent1"/>
          </a:fillRef>
          <a:effectRef idx="1">
            <a:schemeClr val="accent1"/>
          </a:effectRef>
          <a:fontRef idx="minor">
            <a:schemeClr val="lt1"/>
          </a:fontRef>
        </p:style>
        <p:txBody>
          <a:bodyPr>
            <a:noAutofit/>
          </a:bodyPr>
          <a:lstStyle/>
          <a:p>
            <a:pPr algn="ctr"/>
            <a:r>
              <a:rPr lang="en-NZ" sz="2800" b="1" dirty="0">
                <a:solidFill>
                  <a:schemeClr val="bg1"/>
                </a:solidFill>
                <a:effectLst>
                  <a:outerShdw blurRad="38100" dist="38100" dir="2700000" algn="tl">
                    <a:srgbClr val="000000">
                      <a:alpha val="43137"/>
                    </a:srgbClr>
                  </a:outerShdw>
                </a:effectLst>
                <a:latin typeface="Calibri" pitchFamily="34" charset="0"/>
              </a:rPr>
              <a:t>Memory  Partitioning</a:t>
            </a:r>
          </a:p>
        </p:txBody>
      </p:sp>
      <p:sp>
        <p:nvSpPr>
          <p:cNvPr id="16387" name="Content Placeholder 2"/>
          <p:cNvSpPr>
            <a:spLocks noGrp="1"/>
          </p:cNvSpPr>
          <p:nvPr>
            <p:ph sz="quarter" idx="1"/>
          </p:nvPr>
        </p:nvSpPr>
        <p:spPr>
          <a:xfrm>
            <a:off x="1600200" y="685800"/>
            <a:ext cx="7162800" cy="5486400"/>
          </a:xfrm>
          <a:ln>
            <a:solidFill>
              <a:schemeClr val="accent3">
                <a:lumMod val="60000"/>
                <a:lumOff val="40000"/>
              </a:schemeClr>
            </a:solidFill>
          </a:ln>
        </p:spPr>
        <p:style>
          <a:lnRef idx="2">
            <a:schemeClr val="accent1"/>
          </a:lnRef>
          <a:fillRef idx="1">
            <a:schemeClr val="lt1"/>
          </a:fillRef>
          <a:effectRef idx="0">
            <a:schemeClr val="accent1"/>
          </a:effectRef>
          <a:fontRef idx="minor">
            <a:schemeClr val="dk1"/>
          </a:fontRef>
        </p:style>
        <p:txBody>
          <a:bodyPr>
            <a:noAutofit/>
          </a:bodyPr>
          <a:lstStyle/>
          <a:p>
            <a:r>
              <a:rPr lang="en-NZ" sz="2000" dirty="0">
                <a:latin typeface="Calibri" pitchFamily="34" charset="0"/>
              </a:rPr>
              <a:t> </a:t>
            </a:r>
            <a:r>
              <a:rPr lang="en-US" sz="2000" dirty="0">
                <a:latin typeface="Calibri" pitchFamily="34" charset="0"/>
              </a:rPr>
              <a:t>The principal operation of memory management is to bring processes into main memory for execution by the processor. </a:t>
            </a:r>
          </a:p>
          <a:p>
            <a:endParaRPr lang="en-US" sz="2000" dirty="0">
              <a:latin typeface="Calibri" pitchFamily="34" charset="0"/>
            </a:endParaRPr>
          </a:p>
          <a:p>
            <a:r>
              <a:rPr lang="en-US" sz="2000" dirty="0">
                <a:latin typeface="Calibri" pitchFamily="34" charset="0"/>
              </a:rPr>
              <a:t>In almost all modern multiprogramming systems, this involves a sophisticated scheme known as virtual memory. </a:t>
            </a:r>
          </a:p>
          <a:p>
            <a:endParaRPr lang="en-US" sz="2000" dirty="0">
              <a:latin typeface="Calibri" pitchFamily="34" charset="0"/>
            </a:endParaRPr>
          </a:p>
          <a:p>
            <a:r>
              <a:rPr lang="en-US" sz="2000" dirty="0">
                <a:latin typeface="Calibri" pitchFamily="34" charset="0"/>
              </a:rPr>
              <a:t>Virtual memory is, in turn, based on the use of one or both of two basic techniques: segmentation and paging</a:t>
            </a:r>
          </a:p>
          <a:p>
            <a:endParaRPr lang="en-NZ" sz="2000" dirty="0">
              <a:latin typeface="Calibri" pitchFamily="34" charset="0"/>
            </a:endParaRPr>
          </a:p>
          <a:p>
            <a:r>
              <a:rPr lang="en-US" sz="2000" dirty="0">
                <a:latin typeface="Calibri" pitchFamily="34" charset="0"/>
              </a:rPr>
              <a:t>we must prepare the ground by looking at simpler techniques that do not involve virtual memory.</a:t>
            </a:r>
          </a:p>
          <a:p>
            <a:r>
              <a:rPr lang="en-US" sz="2000" dirty="0">
                <a:latin typeface="Calibri" pitchFamily="34" charset="0"/>
              </a:rPr>
              <a:t>One of these techniques, is partitioning.</a:t>
            </a:r>
          </a:p>
          <a:p>
            <a:r>
              <a:rPr lang="en-NZ" sz="2000" dirty="0">
                <a:latin typeface="Calibri" pitchFamily="34" charset="0"/>
              </a:rPr>
              <a:t>Two partitioning methods are available:- </a:t>
            </a:r>
          </a:p>
          <a:p>
            <a:pPr lvl="1"/>
            <a:r>
              <a:rPr lang="en-NZ" sz="2000" dirty="0">
                <a:latin typeface="Calibri" pitchFamily="34" charset="0"/>
              </a:rPr>
              <a:t>Fixed Partitioning and </a:t>
            </a:r>
          </a:p>
          <a:p>
            <a:pPr lvl="1"/>
            <a:r>
              <a:rPr lang="en-NZ" sz="2000" dirty="0">
                <a:latin typeface="Calibri" pitchFamily="34" charset="0"/>
              </a:rPr>
              <a:t>Dynamic Partitioning.</a:t>
            </a:r>
          </a:p>
        </p:txBody>
      </p:sp>
      <p:pic>
        <p:nvPicPr>
          <p:cNvPr id="1026" name="Picture 2" descr="E:\gp image\stick_figure_look_point_on_cliff_anim_md_wm.gif"/>
          <p:cNvPicPr>
            <a:picLocks noChangeAspect="1" noChangeArrowheads="1" noCrop="1"/>
          </p:cNvPicPr>
          <p:nvPr/>
        </p:nvPicPr>
        <p:blipFill>
          <a:blip r:embed="rId2"/>
          <a:srcRect/>
          <a:stretch>
            <a:fillRect/>
          </a:stretch>
        </p:blipFill>
        <p:spPr bwMode="auto">
          <a:xfrm>
            <a:off x="0" y="1066800"/>
            <a:ext cx="1371600" cy="1371600"/>
          </a:xfrm>
          <a:prstGeom prst="rect">
            <a:avLst/>
          </a:prstGeom>
          <a:noFill/>
        </p:spPr>
      </p:pic>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p:cNvSpPr>
            <a:spLocks noGrp="1"/>
          </p:cNvSpPr>
          <p:nvPr>
            <p:ph type="title"/>
          </p:nvPr>
        </p:nvSpPr>
        <p:spPr>
          <a:xfrm>
            <a:off x="76200" y="46038"/>
            <a:ext cx="3505200" cy="411162"/>
          </a:xfrm>
          <a:solidFill>
            <a:schemeClr val="accent3">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a:noAutofit/>
          </a:bodyPr>
          <a:lstStyle/>
          <a:p>
            <a:pPr algn="ctr"/>
            <a:r>
              <a:rPr lang="en-US" sz="2400" b="1" dirty="0">
                <a:solidFill>
                  <a:schemeClr val="bg1"/>
                </a:solidFill>
                <a:latin typeface="Calibri" pitchFamily="34" charset="0"/>
              </a:rPr>
              <a:t>(1) Fixed Partitioning</a:t>
            </a:r>
          </a:p>
        </p:txBody>
      </p:sp>
      <p:sp>
        <p:nvSpPr>
          <p:cNvPr id="18435" name="Content Placeholder 2"/>
          <p:cNvSpPr>
            <a:spLocks noGrp="1"/>
          </p:cNvSpPr>
          <p:nvPr>
            <p:ph sz="quarter" idx="1"/>
          </p:nvPr>
        </p:nvSpPr>
        <p:spPr>
          <a:xfrm>
            <a:off x="76200" y="533400"/>
            <a:ext cx="6553200" cy="2895600"/>
          </a:xfrm>
          <a:ln>
            <a:solidFill>
              <a:schemeClr val="accent3">
                <a:lumMod val="60000"/>
                <a:lumOff val="40000"/>
              </a:schemeClr>
            </a:solidFill>
          </a:ln>
        </p:spPr>
        <p:style>
          <a:lnRef idx="2">
            <a:schemeClr val="accent1"/>
          </a:lnRef>
          <a:fillRef idx="1">
            <a:schemeClr val="lt1"/>
          </a:fillRef>
          <a:effectRef idx="0">
            <a:schemeClr val="accent1"/>
          </a:effectRef>
          <a:fontRef idx="minor">
            <a:schemeClr val="dk1"/>
          </a:fontRef>
        </p:style>
        <p:txBody>
          <a:bodyPr>
            <a:noAutofit/>
          </a:bodyPr>
          <a:lstStyle/>
          <a:p>
            <a:pPr>
              <a:buNone/>
            </a:pPr>
            <a:r>
              <a:rPr lang="en-US" sz="1800" b="1" dirty="0">
                <a:latin typeface="Comic Sans MS" pitchFamily="66" charset="0"/>
              </a:rPr>
              <a:t>(1) Equal-size partitions (see fig 7.3a)</a:t>
            </a:r>
          </a:p>
          <a:p>
            <a:r>
              <a:rPr lang="en-US" sz="1800" dirty="0">
                <a:latin typeface="Comic Sans MS" pitchFamily="66" charset="0"/>
              </a:rPr>
              <a:t>The simplest scheme for managing this available memory is to partition it into regions with fixed boundaries.</a:t>
            </a:r>
          </a:p>
          <a:p>
            <a:pPr lvl="1"/>
            <a:r>
              <a:rPr lang="en-US" sz="1800" dirty="0">
                <a:latin typeface="Comic Sans MS" pitchFamily="66" charset="0"/>
              </a:rPr>
              <a:t>Any process whose size is less than or equal to the partition size can be loaded into an available partition</a:t>
            </a:r>
          </a:p>
          <a:p>
            <a:r>
              <a:rPr lang="en-US" sz="1800" dirty="0">
                <a:latin typeface="Comic Sans MS" pitchFamily="66" charset="0"/>
              </a:rPr>
              <a:t>If all partitions are full and no process is in the Ready or Running state, the operating system can swap a process out of any of the partitions and load in another process</a:t>
            </a:r>
          </a:p>
        </p:txBody>
      </p:sp>
      <p:pic>
        <p:nvPicPr>
          <p:cNvPr id="18436" name="Picture 3"/>
          <p:cNvPicPr>
            <a:picLocks noChangeAspect="1" noChangeArrowheads="1"/>
          </p:cNvPicPr>
          <p:nvPr/>
        </p:nvPicPr>
        <p:blipFill>
          <a:blip r:embed="rId3"/>
          <a:srcRect r="44569" b="5862"/>
          <a:stretch>
            <a:fillRect/>
          </a:stretch>
        </p:blipFill>
        <p:spPr bwMode="auto">
          <a:xfrm>
            <a:off x="6734175" y="76200"/>
            <a:ext cx="2333625" cy="670560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6" name="Title 1"/>
          <p:cNvSpPr txBox="1">
            <a:spLocks/>
          </p:cNvSpPr>
          <p:nvPr/>
        </p:nvSpPr>
        <p:spPr>
          <a:xfrm>
            <a:off x="76200" y="3551238"/>
            <a:ext cx="5943600" cy="411162"/>
          </a:xfrm>
          <a:prstGeom prst="rect">
            <a:avLst/>
          </a:prstGeom>
        </p:spPr>
        <p:style>
          <a:lnRef idx="2">
            <a:schemeClr val="accent3"/>
          </a:lnRef>
          <a:fillRef idx="1">
            <a:schemeClr val="lt1"/>
          </a:fillRef>
          <a:effectRef idx="0">
            <a:schemeClr val="accent3"/>
          </a:effectRef>
          <a:fontRef idx="minor">
            <a:schemeClr val="dk1"/>
          </a:fontRef>
        </p:style>
        <p:txBody>
          <a:bodyPr vert="horz" anchor="b">
            <a:noAutofit/>
          </a:bodyPr>
          <a:lstStyle/>
          <a:p>
            <a:pPr lvl="0" eaLnBrk="1" fontAlgn="auto" hangingPunct="1">
              <a:spcBef>
                <a:spcPct val="0"/>
              </a:spcBef>
              <a:spcAft>
                <a:spcPts val="0"/>
              </a:spcAft>
              <a:buNone/>
            </a:pPr>
            <a:r>
              <a:rPr kumimoji="0" lang="en-NZ" sz="2400" b="1" i="0" u="none" strike="noStrike" kern="1200" cap="small" spc="0" normalizeH="0" baseline="0" noProof="0" dirty="0">
                <a:ln>
                  <a:noFill/>
                </a:ln>
                <a:solidFill>
                  <a:schemeClr val="accent1"/>
                </a:solidFill>
                <a:effectLst>
                  <a:outerShdw blurRad="38100" dist="38100" dir="2700000" algn="tl">
                    <a:srgbClr val="000000">
                      <a:alpha val="43137"/>
                    </a:srgbClr>
                  </a:outerShdw>
                </a:effectLst>
                <a:uLnTx/>
                <a:uFillTx/>
                <a:latin typeface="Calibri" pitchFamily="34" charset="0"/>
                <a:ea typeface="+mn-ea"/>
                <a:cs typeface="+mn-cs"/>
              </a:rPr>
              <a:t>Placement Algorithm </a:t>
            </a:r>
            <a:r>
              <a:rPr lang="en-US" sz="2400" b="1" dirty="0">
                <a:solidFill>
                  <a:schemeClr val="accent1"/>
                </a:solidFill>
                <a:effectLst>
                  <a:outerShdw blurRad="38100" dist="38100" dir="2700000" algn="tl">
                    <a:srgbClr val="000000">
                      <a:alpha val="43137"/>
                    </a:srgbClr>
                  </a:outerShdw>
                </a:effectLst>
                <a:latin typeface="Calibri" pitchFamily="34" charset="0"/>
              </a:rPr>
              <a:t>Equal-size</a:t>
            </a:r>
            <a:endParaRPr kumimoji="0" lang="en-NZ" sz="2400" b="1" i="0" u="none" strike="noStrike" kern="1200" cap="small" spc="0" normalizeH="0" baseline="0" noProof="0" dirty="0">
              <a:ln>
                <a:noFill/>
              </a:ln>
              <a:solidFill>
                <a:schemeClr val="accent1"/>
              </a:solidFill>
              <a:effectLst>
                <a:outerShdw blurRad="38100" dist="38100" dir="2700000" algn="tl">
                  <a:srgbClr val="000000">
                    <a:alpha val="43137"/>
                  </a:srgbClr>
                </a:outerShdw>
              </a:effectLst>
              <a:uLnTx/>
              <a:uFillTx/>
              <a:latin typeface="Calibri" pitchFamily="34" charset="0"/>
              <a:ea typeface="+mn-ea"/>
              <a:cs typeface="+mn-cs"/>
            </a:endParaRPr>
          </a:p>
        </p:txBody>
      </p:sp>
      <p:sp>
        <p:nvSpPr>
          <p:cNvPr id="7" name="Content Placeholder 2"/>
          <p:cNvSpPr txBox="1">
            <a:spLocks/>
          </p:cNvSpPr>
          <p:nvPr/>
        </p:nvSpPr>
        <p:spPr>
          <a:xfrm>
            <a:off x="76200" y="4114800"/>
            <a:ext cx="6477000" cy="2362200"/>
          </a:xfrm>
          <a:prstGeom prst="rect">
            <a:avLst/>
          </a:prstGeom>
          <a:ln>
            <a:solidFill>
              <a:schemeClr val="accent3">
                <a:lumMod val="60000"/>
                <a:lumOff val="40000"/>
              </a:schemeClr>
            </a:solidFill>
          </a:ln>
        </p:spPr>
        <p:style>
          <a:lnRef idx="2">
            <a:schemeClr val="accent1"/>
          </a:lnRef>
          <a:fillRef idx="1">
            <a:schemeClr val="lt1"/>
          </a:fillRef>
          <a:effectRef idx="0">
            <a:schemeClr val="accent1"/>
          </a:effectRef>
          <a:fontRef idx="minor">
            <a:schemeClr val="dk1"/>
          </a:fontRef>
        </p:style>
        <p:txBody>
          <a:bodyPr vert="horz">
            <a:noAutofit/>
          </a:bodyPr>
          <a:lstStyle/>
          <a:p>
            <a:pPr marL="274320" marR="0" lvl="0" indent="-274320" algn="l" defTabSz="914400" rtl="0" eaLnBrk="1" fontAlgn="auto" latinLnBrk="0" hangingPunct="1">
              <a:lnSpc>
                <a:spcPct val="100000"/>
              </a:lnSpc>
              <a:spcBef>
                <a:spcPts val="600"/>
              </a:spcBef>
              <a:spcAft>
                <a:spcPts val="0"/>
              </a:spcAft>
              <a:buClr>
                <a:schemeClr val="accent1"/>
              </a:buClr>
              <a:buSzPct val="70000"/>
              <a:buFont typeface="Wingdings"/>
              <a:buChar char=""/>
              <a:tabLst/>
              <a:defRPr/>
            </a:pPr>
            <a:r>
              <a:rPr kumimoji="0" lang="en-US" sz="1900" b="1" i="0" u="none" strike="noStrike" kern="1200" cap="none" spc="0" normalizeH="0" baseline="0" noProof="0" dirty="0">
                <a:ln>
                  <a:noFill/>
                </a:ln>
                <a:solidFill>
                  <a:schemeClr val="dk1"/>
                </a:solidFill>
                <a:effectLst/>
                <a:uLnTx/>
                <a:uFillTx/>
                <a:latin typeface="Calibri" pitchFamily="34" charset="0"/>
              </a:rPr>
              <a:t>Equal size:-</a:t>
            </a:r>
          </a:p>
          <a:p>
            <a:pPr marL="274320" marR="0" lvl="0" indent="-274320" algn="l" defTabSz="914400" rtl="0" eaLnBrk="1" fontAlgn="auto" latinLnBrk="0" hangingPunct="1">
              <a:lnSpc>
                <a:spcPct val="100000"/>
              </a:lnSpc>
              <a:spcBef>
                <a:spcPts val="600"/>
              </a:spcBef>
              <a:spcAft>
                <a:spcPts val="0"/>
              </a:spcAft>
              <a:buClr>
                <a:schemeClr val="accent1"/>
              </a:buClr>
              <a:buSzPct val="70000"/>
              <a:buFont typeface="Wingdings"/>
              <a:buChar char=""/>
              <a:tabLst/>
              <a:defRPr/>
            </a:pPr>
            <a:r>
              <a:rPr kumimoji="0" lang="en-US" sz="1900" b="0" i="0" u="none" strike="noStrike" kern="1200" cap="none" spc="0" normalizeH="0" baseline="0" noProof="0" dirty="0">
                <a:ln>
                  <a:noFill/>
                </a:ln>
                <a:solidFill>
                  <a:schemeClr val="dk1"/>
                </a:solidFill>
                <a:effectLst/>
                <a:uLnTx/>
                <a:uFillTx/>
                <a:latin typeface="Calibri" pitchFamily="34" charset="0"/>
              </a:rPr>
              <a:t>If all partitions are occupied with processes that are not ready to run, then one of these processes must be swapped out to make room for a new process.</a:t>
            </a:r>
          </a:p>
          <a:p>
            <a:pPr marL="274320" marR="0" lvl="0" indent="-274320" algn="l" defTabSz="914400" rtl="0" eaLnBrk="1" fontAlgn="auto" latinLnBrk="0" hangingPunct="1">
              <a:lnSpc>
                <a:spcPct val="100000"/>
              </a:lnSpc>
              <a:spcBef>
                <a:spcPts val="600"/>
              </a:spcBef>
              <a:spcAft>
                <a:spcPts val="0"/>
              </a:spcAft>
              <a:buClr>
                <a:schemeClr val="accent1"/>
              </a:buClr>
              <a:buSzPct val="70000"/>
              <a:buFont typeface="Wingdings"/>
              <a:buChar char=""/>
              <a:tabLst/>
              <a:defRPr/>
            </a:pPr>
            <a:r>
              <a:rPr kumimoji="0" lang="en-US" sz="1900" b="0" i="0" u="none" strike="noStrike" kern="1200" cap="none" spc="0" normalizeH="0" baseline="0" noProof="0" dirty="0">
                <a:ln>
                  <a:noFill/>
                </a:ln>
                <a:solidFill>
                  <a:schemeClr val="dk1"/>
                </a:solidFill>
                <a:effectLst/>
                <a:uLnTx/>
                <a:uFillTx/>
                <a:latin typeface="Calibri" pitchFamily="34" charset="0"/>
              </a:rPr>
              <a:t>Which one to swap out is a scheduling decision.</a:t>
            </a:r>
          </a:p>
          <a:p>
            <a:r>
              <a:rPr lang="en-US" sz="1900" dirty="0">
                <a:latin typeface="Calibri" pitchFamily="34" charset="0"/>
              </a:rPr>
              <a:t>Process whose size is less than or equal to the partition size can be loaded into any available partition.</a:t>
            </a:r>
            <a:endParaRPr kumimoji="0" lang="en-US" sz="1900" b="0" i="0" u="none" strike="noStrike" kern="1200" cap="none" spc="0" normalizeH="0" baseline="0" noProof="0" dirty="0">
              <a:ln>
                <a:noFill/>
              </a:ln>
              <a:solidFill>
                <a:schemeClr val="dk1"/>
              </a:solidFill>
              <a:effectLst/>
              <a:uLnTx/>
              <a:uFillTx/>
              <a:latin typeface="Calibri" pitchFamily="34" charset="0"/>
            </a:endParaRPr>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a:spLocks/>
          </p:cNvSpPr>
          <p:nvPr/>
        </p:nvSpPr>
        <p:spPr>
          <a:xfrm>
            <a:off x="457200" y="0"/>
            <a:ext cx="5334000" cy="411162"/>
          </a:xfrm>
          <a:prstGeom prst="rect">
            <a:avLst/>
          </a:prstGeom>
        </p:spPr>
        <p:style>
          <a:lnRef idx="2">
            <a:schemeClr val="accent1"/>
          </a:lnRef>
          <a:fillRef idx="1">
            <a:schemeClr val="lt1"/>
          </a:fillRef>
          <a:effectRef idx="0">
            <a:schemeClr val="accent1"/>
          </a:effectRef>
          <a:fontRef idx="minor">
            <a:schemeClr val="dk1"/>
          </a:fontRef>
        </p:style>
        <p:txBody>
          <a:bodyPr vert="horz" anchor="b">
            <a:noAutofit/>
          </a:body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NZ" sz="2400" b="1" i="0" u="none" strike="noStrike" kern="1200" cap="small" spc="0" normalizeH="0" baseline="0" noProof="0" dirty="0">
                <a:ln>
                  <a:noFill/>
                </a:ln>
                <a:solidFill>
                  <a:schemeClr val="accent1"/>
                </a:solidFill>
                <a:effectLst>
                  <a:outerShdw blurRad="38100" dist="38100" dir="2700000" algn="tl">
                    <a:srgbClr val="000000">
                      <a:alpha val="43137"/>
                    </a:srgbClr>
                  </a:outerShdw>
                </a:effectLst>
                <a:uLnTx/>
                <a:uFillTx/>
                <a:latin typeface="Calibri" pitchFamily="34" charset="0"/>
                <a:ea typeface="+mn-ea"/>
                <a:cs typeface="+mn-cs"/>
              </a:rPr>
              <a:t>Problem with fixed</a:t>
            </a:r>
            <a:r>
              <a:rPr kumimoji="0" lang="en-NZ" sz="2400" b="1" i="0" u="none" strike="noStrike" kern="1200" cap="small" spc="0" normalizeH="0" noProof="0" dirty="0">
                <a:ln>
                  <a:noFill/>
                </a:ln>
                <a:solidFill>
                  <a:schemeClr val="accent1"/>
                </a:solidFill>
                <a:effectLst>
                  <a:outerShdw blurRad="38100" dist="38100" dir="2700000" algn="tl">
                    <a:srgbClr val="000000">
                      <a:alpha val="43137"/>
                    </a:srgbClr>
                  </a:outerShdw>
                </a:effectLst>
                <a:uLnTx/>
                <a:uFillTx/>
                <a:latin typeface="Calibri" pitchFamily="34" charset="0"/>
                <a:ea typeface="+mn-ea"/>
                <a:cs typeface="+mn-cs"/>
              </a:rPr>
              <a:t> equal size partitions:-</a:t>
            </a:r>
            <a:endParaRPr kumimoji="0" lang="en-NZ" sz="2400" b="1" i="0" u="none" strike="noStrike" kern="1200" cap="small" spc="0" normalizeH="0" baseline="0" noProof="0" dirty="0">
              <a:ln>
                <a:noFill/>
              </a:ln>
              <a:solidFill>
                <a:schemeClr val="accent1"/>
              </a:solidFill>
              <a:effectLst>
                <a:outerShdw blurRad="38100" dist="38100" dir="2700000" algn="tl">
                  <a:srgbClr val="000000">
                    <a:alpha val="43137"/>
                  </a:srgbClr>
                </a:outerShdw>
              </a:effectLst>
              <a:uLnTx/>
              <a:uFillTx/>
              <a:latin typeface="Calibri" pitchFamily="34" charset="0"/>
              <a:ea typeface="+mn-ea"/>
              <a:cs typeface="+mn-cs"/>
            </a:endParaRPr>
          </a:p>
        </p:txBody>
      </p:sp>
      <p:sp>
        <p:nvSpPr>
          <p:cNvPr id="5" name="Rectangle 4"/>
          <p:cNvSpPr/>
          <p:nvPr/>
        </p:nvSpPr>
        <p:spPr>
          <a:xfrm>
            <a:off x="76200" y="457200"/>
            <a:ext cx="8839200" cy="3354765"/>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pPr>
              <a:buNone/>
            </a:pPr>
            <a:r>
              <a:rPr lang="en-US" sz="2000" dirty="0">
                <a:latin typeface="Calibri" pitchFamily="34" charset="0"/>
              </a:rPr>
              <a:t>(1) </a:t>
            </a:r>
          </a:p>
          <a:p>
            <a:pPr>
              <a:buFont typeface="Arial" pitchFamily="34" charset="0"/>
              <a:buChar char="•"/>
            </a:pPr>
            <a:r>
              <a:rPr lang="en-US" sz="2000" dirty="0">
                <a:latin typeface="Calibri" pitchFamily="34" charset="0"/>
              </a:rPr>
              <a:t>A program may not fit in a partition.  </a:t>
            </a:r>
          </a:p>
          <a:p>
            <a:r>
              <a:rPr lang="en-US" sz="2000" dirty="0">
                <a:latin typeface="Calibri" pitchFamily="34" charset="0"/>
              </a:rPr>
              <a:t>The programmer must design the program with overlays so that only a portion </a:t>
            </a:r>
          </a:p>
          <a:p>
            <a:pPr>
              <a:buNone/>
            </a:pPr>
            <a:r>
              <a:rPr lang="en-US" sz="2000" dirty="0">
                <a:latin typeface="Calibri" pitchFamily="34" charset="0"/>
              </a:rPr>
              <a:t>   of the program need be in main memory at any one time.</a:t>
            </a:r>
          </a:p>
          <a:p>
            <a:pPr>
              <a:buNone/>
            </a:pPr>
            <a:r>
              <a:rPr lang="en-US" sz="2000" dirty="0">
                <a:latin typeface="Calibri" pitchFamily="34" charset="0"/>
              </a:rPr>
              <a:t>(2)</a:t>
            </a:r>
          </a:p>
          <a:p>
            <a:pPr>
              <a:buFont typeface="Arial" pitchFamily="34" charset="0"/>
              <a:buChar char="•"/>
            </a:pPr>
            <a:r>
              <a:rPr lang="en-US" sz="2000" dirty="0">
                <a:latin typeface="Calibri" pitchFamily="34" charset="0"/>
              </a:rPr>
              <a:t>Main memory use is inefficient.  </a:t>
            </a:r>
          </a:p>
          <a:p>
            <a:r>
              <a:rPr lang="en-US" sz="2000" dirty="0">
                <a:latin typeface="Calibri" pitchFamily="34" charset="0"/>
              </a:rPr>
              <a:t>Any program, no matter how small, occupies an entire partition. </a:t>
            </a:r>
          </a:p>
          <a:p>
            <a:r>
              <a:rPr lang="en-US" sz="2000" dirty="0">
                <a:latin typeface="Calibri" pitchFamily="34" charset="0"/>
              </a:rPr>
              <a:t>This results in </a:t>
            </a:r>
            <a:r>
              <a:rPr lang="en-US" sz="2000" b="1" i="1" dirty="0">
                <a:latin typeface="Calibri" pitchFamily="34" charset="0"/>
              </a:rPr>
              <a:t>internal fragmentation.</a:t>
            </a:r>
          </a:p>
          <a:p>
            <a:endParaRPr lang="en-US" sz="2000" b="1" i="1" dirty="0">
              <a:latin typeface="Calibri" pitchFamily="34" charset="0"/>
            </a:endParaRPr>
          </a:p>
        </p:txBody>
      </p:sp>
      <p:sp>
        <p:nvSpPr>
          <p:cNvPr id="6" name="Rectangle 5"/>
          <p:cNvSpPr/>
          <p:nvPr/>
        </p:nvSpPr>
        <p:spPr>
          <a:xfrm>
            <a:off x="152400" y="4019252"/>
            <a:ext cx="5029200" cy="1532727"/>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pPr>
              <a:buNone/>
            </a:pPr>
            <a:r>
              <a:rPr lang="en-US" sz="1800" b="1" dirty="0">
                <a:latin typeface="Comic Sans MS" pitchFamily="66" charset="0"/>
              </a:rPr>
              <a:t>Internal fragmentation:-</a:t>
            </a:r>
          </a:p>
          <a:p>
            <a:pPr>
              <a:buNone/>
            </a:pPr>
            <a:r>
              <a:rPr lang="en-US" sz="1800" b="1" dirty="0">
                <a:latin typeface="Comic Sans MS" pitchFamily="66" charset="0"/>
              </a:rPr>
              <a:t>	</a:t>
            </a:r>
            <a:r>
              <a:rPr lang="en-US" sz="1800" dirty="0">
                <a:latin typeface="Comic Sans MS" pitchFamily="66" charset="0"/>
              </a:rPr>
              <a:t>The wasted space internal to a partition due to the fact that the block of data loaded is smaller than the partition, is referred to as </a:t>
            </a:r>
            <a:r>
              <a:rPr lang="en-US" sz="1800" b="1" dirty="0">
                <a:latin typeface="Comic Sans MS" pitchFamily="66" charset="0"/>
              </a:rPr>
              <a:t>internal fragmentation.</a:t>
            </a:r>
            <a:endParaRPr lang="en-US" sz="1800" dirty="0">
              <a:latin typeface="Comic Sans MS" pitchFamily="66" charset="0"/>
            </a:endParaRPr>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a:xfrm>
            <a:off x="762000" y="46038"/>
            <a:ext cx="7239000" cy="411162"/>
          </a:xfrm>
          <a:solidFill>
            <a:schemeClr val="accent3">
              <a:lumMod val="60000"/>
              <a:lumOff val="40000"/>
            </a:schemeClr>
          </a:solidFill>
        </p:spPr>
        <p:style>
          <a:lnRef idx="3">
            <a:schemeClr val="lt1"/>
          </a:lnRef>
          <a:fillRef idx="1">
            <a:schemeClr val="accent1"/>
          </a:fillRef>
          <a:effectRef idx="1">
            <a:schemeClr val="accent1"/>
          </a:effectRef>
          <a:fontRef idx="minor">
            <a:schemeClr val="lt1"/>
          </a:fontRef>
        </p:style>
        <p:txBody>
          <a:bodyPr>
            <a:noAutofit/>
          </a:bodyPr>
          <a:lstStyle/>
          <a:p>
            <a:pPr algn="ctr"/>
            <a:r>
              <a:rPr lang="en-NZ" sz="2800" b="1" dirty="0">
                <a:solidFill>
                  <a:schemeClr val="bg1"/>
                </a:solidFill>
                <a:effectLst>
                  <a:outerShdw blurRad="38100" dist="38100" dir="2700000" algn="tl">
                    <a:srgbClr val="000000">
                      <a:alpha val="43137"/>
                    </a:srgbClr>
                  </a:outerShdw>
                </a:effectLst>
                <a:latin typeface="Calibri" pitchFamily="34" charset="0"/>
              </a:rPr>
              <a:t>Solution – Unequal Size Partitions</a:t>
            </a:r>
          </a:p>
        </p:txBody>
      </p:sp>
      <p:sp>
        <p:nvSpPr>
          <p:cNvPr id="5" name="Content Placeholder 2"/>
          <p:cNvSpPr>
            <a:spLocks noGrp="1"/>
          </p:cNvSpPr>
          <p:nvPr>
            <p:ph sz="quarter" idx="1"/>
          </p:nvPr>
        </p:nvSpPr>
        <p:spPr>
          <a:xfrm>
            <a:off x="2438400" y="609600"/>
            <a:ext cx="6400800" cy="2514600"/>
          </a:xfrm>
        </p:spPr>
        <p:style>
          <a:lnRef idx="2">
            <a:schemeClr val="accent1"/>
          </a:lnRef>
          <a:fillRef idx="1">
            <a:schemeClr val="lt1"/>
          </a:fillRef>
          <a:effectRef idx="0">
            <a:schemeClr val="accent1"/>
          </a:effectRef>
          <a:fontRef idx="minor">
            <a:schemeClr val="dk1"/>
          </a:fontRef>
        </p:style>
        <p:txBody>
          <a:bodyPr>
            <a:normAutofit/>
          </a:bodyPr>
          <a:lstStyle/>
          <a:p>
            <a:r>
              <a:rPr lang="en-NZ" sz="2000" dirty="0">
                <a:latin typeface="Calibri" pitchFamily="34" charset="0"/>
              </a:rPr>
              <a:t>Lessens both problems</a:t>
            </a:r>
          </a:p>
          <a:p>
            <a:pPr lvl="1"/>
            <a:r>
              <a:rPr lang="en-NZ" sz="2000" dirty="0">
                <a:latin typeface="Calibri" pitchFamily="34" charset="0"/>
              </a:rPr>
              <a:t> but doesn’t  solve completely</a:t>
            </a:r>
          </a:p>
          <a:p>
            <a:r>
              <a:rPr lang="en-NZ" sz="2000" dirty="0">
                <a:latin typeface="Calibri" pitchFamily="34" charset="0"/>
              </a:rPr>
              <a:t>In Fig 7.3b,</a:t>
            </a:r>
          </a:p>
          <a:p>
            <a:pPr lvl="1"/>
            <a:r>
              <a:rPr lang="en-NZ" sz="2000" dirty="0">
                <a:latin typeface="Calibri" pitchFamily="34" charset="0"/>
              </a:rPr>
              <a:t>Programs up to 16M can be accommodated without overlays</a:t>
            </a:r>
          </a:p>
          <a:p>
            <a:pPr lvl="1"/>
            <a:r>
              <a:rPr lang="en-NZ" sz="2000" dirty="0">
                <a:latin typeface="Calibri" pitchFamily="34" charset="0"/>
              </a:rPr>
              <a:t>Smaller programs can be placed in smaller partitions, reducing internal fragmentation</a:t>
            </a:r>
          </a:p>
        </p:txBody>
      </p:sp>
      <p:pic>
        <p:nvPicPr>
          <p:cNvPr id="6" name="Content Placeholder 3" descr="Fig07_02.gif"/>
          <p:cNvPicPr>
            <a:picLocks noChangeAspect="1"/>
          </p:cNvPicPr>
          <p:nvPr/>
        </p:nvPicPr>
        <p:blipFill>
          <a:blip r:embed="rId2"/>
          <a:srcRect l="56660" b="7027"/>
          <a:stretch>
            <a:fillRect/>
          </a:stretch>
        </p:blipFill>
        <p:spPr bwMode="auto">
          <a:xfrm>
            <a:off x="152400" y="598714"/>
            <a:ext cx="2133600" cy="6259286"/>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4098" name="Picture 2" descr="E:\gp image\networking_people_PA_md_wm.gif"/>
          <p:cNvPicPr>
            <a:picLocks noChangeAspect="1" noChangeArrowheads="1" noCrop="1"/>
          </p:cNvPicPr>
          <p:nvPr/>
        </p:nvPicPr>
        <p:blipFill>
          <a:blip r:embed="rId3"/>
          <a:srcRect/>
          <a:stretch>
            <a:fillRect/>
          </a:stretch>
        </p:blipFill>
        <p:spPr bwMode="auto">
          <a:xfrm>
            <a:off x="3886200" y="3276600"/>
            <a:ext cx="3886200" cy="2438400"/>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a:spLocks/>
          </p:cNvSpPr>
          <p:nvPr/>
        </p:nvSpPr>
        <p:spPr>
          <a:xfrm>
            <a:off x="762000" y="0"/>
            <a:ext cx="5486400" cy="411162"/>
          </a:xfrm>
          <a:prstGeom prst="rect">
            <a:avLst/>
          </a:prstGeom>
          <a:solidFill>
            <a:schemeClr val="accent3">
              <a:lumMod val="60000"/>
              <a:lumOff val="40000"/>
            </a:schemeClr>
          </a:solidFill>
        </p:spPr>
        <p:style>
          <a:lnRef idx="3">
            <a:schemeClr val="lt1"/>
          </a:lnRef>
          <a:fillRef idx="1">
            <a:schemeClr val="accent1"/>
          </a:fillRef>
          <a:effectRef idx="1">
            <a:schemeClr val="accent1"/>
          </a:effectRef>
          <a:fontRef idx="minor">
            <a:schemeClr val="lt1"/>
          </a:fontRef>
        </p:style>
        <p:txBody>
          <a:bodyPr vert="horz" anchor="b">
            <a:noAutofit/>
          </a:bodyPr>
          <a:lstStyle/>
          <a:p>
            <a:pPr eaLnBrk="1" fontAlgn="auto" hangingPunct="1">
              <a:spcBef>
                <a:spcPct val="0"/>
              </a:spcBef>
              <a:spcAft>
                <a:spcPts val="0"/>
              </a:spcAft>
              <a:buNone/>
            </a:pPr>
            <a:r>
              <a:rPr lang="en-NZ" b="1" cap="small" dirty="0">
                <a:solidFill>
                  <a:schemeClr val="bg1"/>
                </a:solidFill>
                <a:effectLst>
                  <a:outerShdw blurRad="38100" dist="38100" dir="2700000" algn="tl">
                    <a:srgbClr val="000000">
                      <a:alpha val="43137"/>
                    </a:srgbClr>
                  </a:outerShdw>
                </a:effectLst>
                <a:latin typeface="Calibri" pitchFamily="34" charset="0"/>
              </a:rPr>
              <a:t>Placement Algorithm </a:t>
            </a:r>
            <a:r>
              <a:rPr lang="en-US" b="1" dirty="0">
                <a:solidFill>
                  <a:schemeClr val="bg1"/>
                </a:solidFill>
                <a:effectLst>
                  <a:outerShdw blurRad="38100" dist="38100" dir="2700000" algn="tl">
                    <a:srgbClr val="000000">
                      <a:alpha val="43137"/>
                    </a:srgbClr>
                  </a:outerShdw>
                </a:effectLst>
                <a:latin typeface="Calibri" pitchFamily="34" charset="0"/>
              </a:rPr>
              <a:t>Unequal size:-</a:t>
            </a:r>
            <a:endParaRPr kumimoji="0" lang="en-NZ" b="1" i="0" u="none" strike="noStrike" kern="1200" cap="small" spc="0" normalizeH="0" baseline="0" noProof="0" dirty="0">
              <a:ln>
                <a:noFill/>
              </a:ln>
              <a:solidFill>
                <a:schemeClr val="bg1"/>
              </a:solidFill>
              <a:effectLst>
                <a:outerShdw blurRad="38100" dist="38100" dir="2700000" algn="tl">
                  <a:srgbClr val="000000">
                    <a:alpha val="43137"/>
                  </a:srgbClr>
                </a:outerShdw>
              </a:effectLst>
              <a:uLnTx/>
              <a:uFillTx/>
              <a:latin typeface="Calibri" pitchFamily="34" charset="0"/>
              <a:ea typeface="+mn-ea"/>
              <a:cs typeface="+mn-cs"/>
            </a:endParaRPr>
          </a:p>
        </p:txBody>
      </p:sp>
      <p:sp>
        <p:nvSpPr>
          <p:cNvPr id="5" name="Rectangle 4"/>
          <p:cNvSpPr/>
          <p:nvPr/>
        </p:nvSpPr>
        <p:spPr>
          <a:xfrm>
            <a:off x="4191000" y="586800"/>
            <a:ext cx="4876800" cy="5509200"/>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r>
              <a:rPr lang="en-US" sz="2000" dirty="0">
                <a:latin typeface="Calibri" pitchFamily="34" charset="0"/>
              </a:rPr>
              <a:t>With unequal-size partitions, there are two possible ways to assign processes to partitions.</a:t>
            </a:r>
          </a:p>
          <a:p>
            <a:pPr>
              <a:buFont typeface="Wingdings" pitchFamily="2" charset="2"/>
              <a:buChar char="Ø"/>
            </a:pPr>
            <a:r>
              <a:rPr lang="en-US" sz="2000" dirty="0">
                <a:latin typeface="Calibri" pitchFamily="34" charset="0"/>
              </a:rPr>
              <a:t>The simplest way is to assign each process to the smallest partition  within which it will fit. </a:t>
            </a:r>
          </a:p>
          <a:p>
            <a:pPr>
              <a:buFont typeface="Wingdings" pitchFamily="2" charset="2"/>
              <a:buChar char="Ø"/>
            </a:pPr>
            <a:r>
              <a:rPr lang="en-US" sz="2000" dirty="0">
                <a:latin typeface="Calibri" pitchFamily="34" charset="0"/>
              </a:rPr>
              <a:t>In this case, a scheduling queue is needed  </a:t>
            </a:r>
          </a:p>
          <a:p>
            <a:pPr>
              <a:buNone/>
            </a:pPr>
            <a:r>
              <a:rPr lang="en-US" sz="2000" dirty="0">
                <a:latin typeface="Calibri" pitchFamily="34" charset="0"/>
              </a:rPr>
              <a:t>    for each partition, to hold swapped-out  </a:t>
            </a:r>
          </a:p>
          <a:p>
            <a:pPr>
              <a:buNone/>
            </a:pPr>
            <a:r>
              <a:rPr lang="en-US" sz="2000" dirty="0">
                <a:latin typeface="Calibri" pitchFamily="34" charset="0"/>
              </a:rPr>
              <a:t>    processes destined for that partition (Figure 7.3a).</a:t>
            </a:r>
          </a:p>
          <a:p>
            <a:pPr>
              <a:buFont typeface="Wingdings" pitchFamily="2" charset="2"/>
              <a:buChar char="Ø"/>
            </a:pPr>
            <a:r>
              <a:rPr lang="en-US" sz="2000" dirty="0">
                <a:latin typeface="Calibri" pitchFamily="34" charset="0"/>
              </a:rPr>
              <a:t> consider a case in which there are no      </a:t>
            </a:r>
          </a:p>
          <a:p>
            <a:pPr>
              <a:buNone/>
            </a:pPr>
            <a:r>
              <a:rPr lang="en-US" sz="2000" dirty="0">
                <a:latin typeface="Calibri" pitchFamily="34" charset="0"/>
              </a:rPr>
              <a:t>     processes with a size between 12 and 16M </a:t>
            </a:r>
          </a:p>
          <a:p>
            <a:pPr>
              <a:buNone/>
            </a:pPr>
            <a:r>
              <a:rPr lang="en-US" sz="2000" dirty="0">
                <a:latin typeface="Calibri" pitchFamily="34" charset="0"/>
              </a:rPr>
              <a:t>     at a certain point in time. </a:t>
            </a:r>
          </a:p>
          <a:p>
            <a:pPr>
              <a:buFont typeface="Wingdings" pitchFamily="2" charset="2"/>
              <a:buChar char="Ø"/>
            </a:pPr>
            <a:r>
              <a:rPr lang="en-US" sz="2000" dirty="0">
                <a:latin typeface="Calibri" pitchFamily="34" charset="0"/>
              </a:rPr>
              <a:t>In that case, the 16M partition will remain unused, even though some smaller process could have been assigned to it. </a:t>
            </a:r>
          </a:p>
        </p:txBody>
      </p:sp>
      <p:pic>
        <p:nvPicPr>
          <p:cNvPr id="1026" name="Picture 2"/>
          <p:cNvPicPr>
            <a:picLocks noChangeAspect="1" noChangeArrowheads="1"/>
          </p:cNvPicPr>
          <p:nvPr/>
        </p:nvPicPr>
        <p:blipFill>
          <a:blip r:embed="rId2"/>
          <a:srcRect/>
          <a:stretch>
            <a:fillRect/>
          </a:stretch>
        </p:blipFill>
        <p:spPr bwMode="auto">
          <a:xfrm>
            <a:off x="76200" y="457200"/>
            <a:ext cx="3962400" cy="609600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1027" name="Picture 3"/>
          <p:cNvPicPr>
            <a:picLocks noChangeAspect="1" noChangeArrowheads="1"/>
          </p:cNvPicPr>
          <p:nvPr/>
        </p:nvPicPr>
        <p:blipFill>
          <a:blip r:embed="rId3"/>
          <a:srcRect/>
          <a:stretch>
            <a:fillRect/>
          </a:stretch>
        </p:blipFill>
        <p:spPr bwMode="auto">
          <a:xfrm>
            <a:off x="685800" y="6591300"/>
            <a:ext cx="2524125" cy="26670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a:xfrm>
            <a:off x="228600" y="46038"/>
            <a:ext cx="3352800" cy="411162"/>
          </a:xfrm>
          <a:solidFill>
            <a:schemeClr val="accent3">
              <a:lumMod val="60000"/>
              <a:lumOff val="40000"/>
            </a:schemeClr>
          </a:solidFill>
        </p:spPr>
        <p:style>
          <a:lnRef idx="3">
            <a:schemeClr val="lt1"/>
          </a:lnRef>
          <a:fillRef idx="1">
            <a:schemeClr val="accent1"/>
          </a:fillRef>
          <a:effectRef idx="1">
            <a:schemeClr val="accent1"/>
          </a:effectRef>
          <a:fontRef idx="minor">
            <a:schemeClr val="lt1"/>
          </a:fontRef>
        </p:style>
        <p:txBody>
          <a:bodyPr>
            <a:noAutofit/>
          </a:bodyPr>
          <a:lstStyle/>
          <a:p>
            <a:r>
              <a:rPr lang="en-NZ" sz="2200" b="1" dirty="0">
                <a:solidFill>
                  <a:schemeClr val="bg1"/>
                </a:solidFill>
                <a:latin typeface="Calibri" pitchFamily="34" charset="0"/>
              </a:rPr>
              <a:t>Placement Algorithm</a:t>
            </a:r>
          </a:p>
        </p:txBody>
      </p:sp>
      <p:sp>
        <p:nvSpPr>
          <p:cNvPr id="7" name="Rectangle 6"/>
          <p:cNvSpPr/>
          <p:nvPr/>
        </p:nvSpPr>
        <p:spPr>
          <a:xfrm>
            <a:off x="4114800" y="619304"/>
            <a:ext cx="4572000" cy="3724096"/>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r>
              <a:rPr lang="en-US" sz="2000" dirty="0">
                <a:latin typeface="Calibri" pitchFamily="34" charset="0"/>
              </a:rPr>
              <a:t>Thus, a preferable approach would be to </a:t>
            </a:r>
          </a:p>
          <a:p>
            <a:pPr>
              <a:buNone/>
            </a:pPr>
            <a:r>
              <a:rPr lang="en-US" sz="2000" dirty="0">
                <a:latin typeface="Calibri" pitchFamily="34" charset="0"/>
              </a:rPr>
              <a:t>   employ a single queue for all processes </a:t>
            </a:r>
          </a:p>
          <a:p>
            <a:pPr>
              <a:buNone/>
            </a:pPr>
            <a:r>
              <a:rPr lang="en-US" sz="2000" dirty="0">
                <a:latin typeface="Calibri" pitchFamily="34" charset="0"/>
              </a:rPr>
              <a:t>   (Figure 7.3b).</a:t>
            </a:r>
          </a:p>
          <a:p>
            <a:pPr>
              <a:buNone/>
            </a:pPr>
            <a:endParaRPr lang="en-US" sz="2000" dirty="0">
              <a:latin typeface="Calibri" pitchFamily="34" charset="0"/>
            </a:endParaRPr>
          </a:p>
          <a:p>
            <a:pPr>
              <a:buNone/>
            </a:pPr>
            <a:endParaRPr lang="en-US" sz="2000" dirty="0">
              <a:latin typeface="Calibri" pitchFamily="34" charset="0"/>
            </a:endParaRPr>
          </a:p>
          <a:p>
            <a:pPr>
              <a:buNone/>
            </a:pPr>
            <a:endParaRPr lang="en-US" sz="2000" dirty="0">
              <a:latin typeface="Calibri" pitchFamily="34" charset="0"/>
            </a:endParaRPr>
          </a:p>
          <a:p>
            <a:r>
              <a:rPr lang="en-US" sz="2000" dirty="0">
                <a:latin typeface="Calibri" pitchFamily="34" charset="0"/>
              </a:rPr>
              <a:t> When it is time to load a process into </a:t>
            </a:r>
          </a:p>
          <a:p>
            <a:pPr>
              <a:buNone/>
            </a:pPr>
            <a:r>
              <a:rPr lang="en-US" sz="2000" dirty="0">
                <a:latin typeface="Calibri" pitchFamily="34" charset="0"/>
              </a:rPr>
              <a:t>   main memory, the smallest available</a:t>
            </a:r>
          </a:p>
          <a:p>
            <a:pPr>
              <a:buNone/>
            </a:pPr>
            <a:r>
              <a:rPr lang="en-US" sz="2000" dirty="0">
                <a:latin typeface="Calibri" pitchFamily="34" charset="0"/>
              </a:rPr>
              <a:t>    partition that will hold the process is </a:t>
            </a:r>
          </a:p>
          <a:p>
            <a:pPr>
              <a:buNone/>
            </a:pPr>
            <a:r>
              <a:rPr lang="en-US" sz="2000" dirty="0">
                <a:latin typeface="Calibri" pitchFamily="34" charset="0"/>
              </a:rPr>
              <a:t>    selected.</a:t>
            </a:r>
          </a:p>
        </p:txBody>
      </p:sp>
      <p:pic>
        <p:nvPicPr>
          <p:cNvPr id="2050" name="Picture 2"/>
          <p:cNvPicPr>
            <a:picLocks noChangeAspect="1" noChangeArrowheads="1"/>
          </p:cNvPicPr>
          <p:nvPr/>
        </p:nvPicPr>
        <p:blipFill>
          <a:blip r:embed="rId2"/>
          <a:srcRect/>
          <a:stretch>
            <a:fillRect/>
          </a:stretch>
        </p:blipFill>
        <p:spPr bwMode="auto">
          <a:xfrm>
            <a:off x="152400" y="609600"/>
            <a:ext cx="3810000" cy="586740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2051" name="Picture 3"/>
          <p:cNvPicPr>
            <a:picLocks noChangeAspect="1" noChangeArrowheads="1"/>
          </p:cNvPicPr>
          <p:nvPr/>
        </p:nvPicPr>
        <p:blipFill>
          <a:blip r:embed="rId3"/>
          <a:srcRect/>
          <a:stretch>
            <a:fillRect/>
          </a:stretch>
        </p:blipFill>
        <p:spPr bwMode="auto">
          <a:xfrm>
            <a:off x="533400" y="6553200"/>
            <a:ext cx="1209675" cy="30480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5122" name="Picture 2" descr="E:\gp image\leader_at_the_helm_anim_md_wm.gif"/>
          <p:cNvPicPr>
            <a:picLocks noChangeAspect="1" noChangeArrowheads="1" noCrop="1"/>
          </p:cNvPicPr>
          <p:nvPr/>
        </p:nvPicPr>
        <p:blipFill>
          <a:blip r:embed="rId4"/>
          <a:srcRect/>
          <a:stretch>
            <a:fillRect/>
          </a:stretch>
        </p:blipFill>
        <p:spPr bwMode="auto">
          <a:xfrm>
            <a:off x="5257800" y="4495800"/>
            <a:ext cx="2095500" cy="2095500"/>
          </a:xfrm>
          <a:prstGeom prst="rect">
            <a:avLst/>
          </a:prstGeom>
          <a:noFill/>
        </p:spPr>
      </p:pic>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Title 1"/>
          <p:cNvSpPr>
            <a:spLocks noGrp="1"/>
          </p:cNvSpPr>
          <p:nvPr>
            <p:ph type="title"/>
          </p:nvPr>
        </p:nvSpPr>
        <p:spPr>
          <a:xfrm>
            <a:off x="1905000" y="76200"/>
            <a:ext cx="5562600" cy="457200"/>
          </a:xfrm>
          <a:solidFill>
            <a:schemeClr val="accent3">
              <a:lumMod val="60000"/>
              <a:lumOff val="40000"/>
            </a:schemeClr>
          </a:solidFill>
        </p:spPr>
        <p:style>
          <a:lnRef idx="3">
            <a:schemeClr val="lt1"/>
          </a:lnRef>
          <a:fillRef idx="1">
            <a:schemeClr val="accent1"/>
          </a:fillRef>
          <a:effectRef idx="1">
            <a:schemeClr val="accent1"/>
          </a:effectRef>
          <a:fontRef idx="minor">
            <a:schemeClr val="lt1"/>
          </a:fontRef>
        </p:style>
        <p:txBody>
          <a:bodyPr>
            <a:normAutofit/>
          </a:bodyPr>
          <a:lstStyle/>
          <a:p>
            <a:pPr algn="ctr"/>
            <a:r>
              <a:rPr lang="en-NZ" sz="2200" b="1" dirty="0">
                <a:solidFill>
                  <a:schemeClr val="bg1"/>
                </a:solidFill>
                <a:latin typeface="Calibri" pitchFamily="34" charset="0"/>
              </a:rPr>
              <a:t>Remaining Problems with Fixed Partitions</a:t>
            </a:r>
          </a:p>
        </p:txBody>
      </p:sp>
      <p:sp>
        <p:nvSpPr>
          <p:cNvPr id="23555" name="Content Placeholder 2"/>
          <p:cNvSpPr>
            <a:spLocks noGrp="1"/>
          </p:cNvSpPr>
          <p:nvPr>
            <p:ph sz="quarter" idx="1"/>
          </p:nvPr>
        </p:nvSpPr>
        <p:spPr>
          <a:xfrm>
            <a:off x="228600" y="914400"/>
            <a:ext cx="4495800" cy="5410200"/>
          </a:xfrm>
        </p:spPr>
        <p:style>
          <a:lnRef idx="2">
            <a:schemeClr val="accent1"/>
          </a:lnRef>
          <a:fillRef idx="1">
            <a:schemeClr val="lt1"/>
          </a:fillRef>
          <a:effectRef idx="0">
            <a:schemeClr val="accent1"/>
          </a:effectRef>
          <a:fontRef idx="minor">
            <a:schemeClr val="dk1"/>
          </a:fontRef>
        </p:style>
        <p:txBody>
          <a:bodyPr>
            <a:noAutofit/>
          </a:bodyPr>
          <a:lstStyle/>
          <a:p>
            <a:r>
              <a:rPr lang="en-US" sz="2200" dirty="0">
                <a:latin typeface="Calibri" pitchFamily="34" charset="0"/>
              </a:rPr>
              <a:t>The number of partitions specified at system generation time limits the number of active (not suspended) processes in the system. </a:t>
            </a:r>
          </a:p>
          <a:p>
            <a:endParaRPr lang="en-US" sz="2200" dirty="0">
              <a:latin typeface="Calibri" pitchFamily="34" charset="0"/>
            </a:endParaRPr>
          </a:p>
          <a:p>
            <a:endParaRPr lang="en-US" sz="2200" dirty="0">
              <a:latin typeface="Calibri" pitchFamily="34" charset="0"/>
            </a:endParaRPr>
          </a:p>
          <a:p>
            <a:r>
              <a:rPr lang="en-US" sz="2200" dirty="0">
                <a:latin typeface="Calibri" pitchFamily="34" charset="0"/>
              </a:rPr>
              <a:t>Because partition sizes are preset at system generation time, small jobs will not utilize partition space efficiently.</a:t>
            </a:r>
          </a:p>
          <a:p>
            <a:endParaRPr lang="en-NZ" sz="2200" dirty="0">
              <a:latin typeface="Calibri" pitchFamily="34" charset="0"/>
            </a:endParaRPr>
          </a:p>
        </p:txBody>
      </p:sp>
      <p:pic>
        <p:nvPicPr>
          <p:cNvPr id="6146" name="Picture 2" descr="E:\gp image\stick_figure_sitting_confused_md_wm.gif"/>
          <p:cNvPicPr>
            <a:picLocks noChangeAspect="1" noChangeArrowheads="1" noCrop="1"/>
          </p:cNvPicPr>
          <p:nvPr/>
        </p:nvPicPr>
        <p:blipFill>
          <a:blip r:embed="rId3"/>
          <a:srcRect/>
          <a:stretch>
            <a:fillRect/>
          </a:stretch>
        </p:blipFill>
        <p:spPr bwMode="auto">
          <a:xfrm>
            <a:off x="5410200" y="1295400"/>
            <a:ext cx="2895600" cy="2895600"/>
          </a:xfrm>
          <a:prstGeom prst="rect">
            <a:avLst/>
          </a:prstGeom>
          <a:noFill/>
        </p:spPr>
      </p:pic>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5" name="Content Placeholder 2"/>
          <p:cNvSpPr>
            <a:spLocks noGrp="1"/>
          </p:cNvSpPr>
          <p:nvPr>
            <p:ph sz="quarter" idx="1"/>
          </p:nvPr>
        </p:nvSpPr>
        <p:spPr>
          <a:xfrm>
            <a:off x="152400" y="533400"/>
            <a:ext cx="8839200" cy="990600"/>
          </a:xfrm>
        </p:spPr>
        <p:style>
          <a:lnRef idx="2">
            <a:schemeClr val="accent1"/>
          </a:lnRef>
          <a:fillRef idx="1">
            <a:schemeClr val="lt1"/>
          </a:fillRef>
          <a:effectRef idx="0">
            <a:schemeClr val="accent1"/>
          </a:effectRef>
          <a:fontRef idx="minor">
            <a:schemeClr val="dk1"/>
          </a:fontRef>
        </p:style>
        <p:txBody>
          <a:bodyPr>
            <a:normAutofit/>
          </a:bodyPr>
          <a:lstStyle/>
          <a:p>
            <a:r>
              <a:rPr lang="en-US" sz="1800" dirty="0">
                <a:latin typeface="Comic Sans MS" pitchFamily="66" charset="0"/>
              </a:rPr>
              <a:t>With dynamic partitioning, the partitions are of variable length and number.</a:t>
            </a:r>
          </a:p>
          <a:p>
            <a:r>
              <a:rPr lang="en-US" sz="1800" dirty="0">
                <a:latin typeface="Comic Sans MS" pitchFamily="66" charset="0"/>
              </a:rPr>
              <a:t>When a process is brought into main memory, it is allocated exactly as much memory as it requires and no more.</a:t>
            </a:r>
          </a:p>
        </p:txBody>
      </p:sp>
      <p:sp>
        <p:nvSpPr>
          <p:cNvPr id="4" name="Title 1"/>
          <p:cNvSpPr txBox="1">
            <a:spLocks/>
          </p:cNvSpPr>
          <p:nvPr/>
        </p:nvSpPr>
        <p:spPr>
          <a:xfrm>
            <a:off x="152400" y="0"/>
            <a:ext cx="4343400" cy="457200"/>
          </a:xfrm>
          <a:prstGeom prst="rect">
            <a:avLst/>
          </a:prstGeom>
          <a:solidFill>
            <a:schemeClr val="accent3">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vert="horz" anchor="b">
            <a:noAutofit/>
          </a:body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b="1" i="0" u="none" strike="noStrike" kern="1200" cap="small" spc="0" normalizeH="0" baseline="0" noProof="0" dirty="0">
                <a:ln>
                  <a:noFill/>
                </a:ln>
                <a:solidFill>
                  <a:schemeClr val="bg1"/>
                </a:solidFill>
                <a:effectLst>
                  <a:outerShdw blurRad="38100" dist="38100" dir="2700000" algn="tl">
                    <a:srgbClr val="000000">
                      <a:alpha val="43137"/>
                    </a:srgbClr>
                  </a:outerShdw>
                </a:effectLst>
                <a:uLnTx/>
                <a:uFillTx/>
                <a:latin typeface="Calibri" pitchFamily="34" charset="0"/>
                <a:ea typeface="+mn-ea"/>
                <a:cs typeface="+mn-cs"/>
              </a:rPr>
              <a:t>(2) Dynamic Partitioning</a:t>
            </a:r>
          </a:p>
        </p:txBody>
      </p:sp>
      <p:sp>
        <p:nvSpPr>
          <p:cNvPr id="5" name="Content Placeholder 2"/>
          <p:cNvSpPr txBox="1">
            <a:spLocks/>
          </p:cNvSpPr>
          <p:nvPr/>
        </p:nvSpPr>
        <p:spPr>
          <a:xfrm>
            <a:off x="76201" y="1600200"/>
            <a:ext cx="6934199" cy="5257800"/>
          </a:xfrm>
          <a:prstGeom prst="rect">
            <a:avLst/>
          </a:prstGeom>
        </p:spPr>
        <p:style>
          <a:lnRef idx="2">
            <a:schemeClr val="accent1"/>
          </a:lnRef>
          <a:fillRef idx="1">
            <a:schemeClr val="lt1"/>
          </a:fillRef>
          <a:effectRef idx="0">
            <a:schemeClr val="accent1"/>
          </a:effectRef>
          <a:fontRef idx="minor">
            <a:schemeClr val="dk1"/>
          </a:fontRef>
        </p:style>
        <p:txBody>
          <a:bodyPr vert="horz">
            <a:normAutofit/>
          </a:bodyPr>
          <a:lstStyle/>
          <a:p>
            <a:pPr marL="228600" marR="0" lvl="0" indent="-228600" algn="l" defTabSz="914400" rtl="0" eaLnBrk="1" fontAlgn="auto" latinLnBrk="0" hangingPunct="1">
              <a:lnSpc>
                <a:spcPct val="100000"/>
              </a:lnSpc>
              <a:spcBef>
                <a:spcPts val="600"/>
              </a:spcBef>
              <a:spcAft>
                <a:spcPts val="0"/>
              </a:spcAft>
              <a:buClr>
                <a:schemeClr val="accent1"/>
              </a:buClr>
              <a:buSzPct val="70000"/>
              <a:buFont typeface="Wingdings"/>
              <a:buChar char=""/>
              <a:tabLst/>
              <a:defRPr/>
            </a:pPr>
            <a:r>
              <a:rPr kumimoji="0" lang="en-NZ" sz="2000" b="0" i="0" u="none" strike="noStrike" kern="1200" cap="none" spc="0" normalizeH="0" baseline="0" noProof="0" dirty="0">
                <a:ln>
                  <a:noFill/>
                </a:ln>
                <a:solidFill>
                  <a:schemeClr val="dk1"/>
                </a:solidFill>
                <a:effectLst/>
                <a:uLnTx/>
                <a:uFillTx/>
                <a:latin typeface="Calibri" pitchFamily="34" charset="0"/>
                <a:ea typeface="+mn-ea"/>
                <a:cs typeface="+mn-cs"/>
              </a:rPr>
              <a:t>Imagine a system with 64M RAM</a:t>
            </a:r>
          </a:p>
          <a:p>
            <a:pPr marL="228600" marR="0" lvl="0" indent="-228600" algn="l" defTabSz="914400" rtl="0" eaLnBrk="1" fontAlgn="auto" latinLnBrk="0" hangingPunct="1">
              <a:lnSpc>
                <a:spcPct val="100000"/>
              </a:lnSpc>
              <a:spcBef>
                <a:spcPts val="600"/>
              </a:spcBef>
              <a:spcAft>
                <a:spcPts val="0"/>
              </a:spcAft>
              <a:buClr>
                <a:schemeClr val="accent1"/>
              </a:buClr>
              <a:buSzPct val="70000"/>
              <a:buFont typeface="Calibri" pitchFamily="34" charset="0"/>
              <a:buAutoNum type="arabicPeriod"/>
              <a:tabLst/>
              <a:defRPr/>
            </a:pPr>
            <a:r>
              <a:rPr kumimoji="0" lang="en-NZ" sz="2000" b="0" i="0" u="none" strike="noStrike" kern="1200" cap="none" spc="0" normalizeH="0" baseline="0" noProof="0" dirty="0">
                <a:ln>
                  <a:noFill/>
                </a:ln>
                <a:solidFill>
                  <a:schemeClr val="dk1"/>
                </a:solidFill>
                <a:effectLst/>
                <a:uLnTx/>
                <a:uFillTx/>
                <a:latin typeface="Calibri" pitchFamily="34" charset="0"/>
                <a:ea typeface="+mn-ea"/>
                <a:cs typeface="+mn-cs"/>
              </a:rPr>
              <a:t>Initially, main memory is empty, except for the operating system </a:t>
            </a:r>
          </a:p>
          <a:p>
            <a:pPr marL="228600" marR="0" lvl="0" indent="-228600" algn="l" defTabSz="914400" rtl="0" eaLnBrk="1" fontAlgn="auto" latinLnBrk="0" hangingPunct="1">
              <a:lnSpc>
                <a:spcPct val="100000"/>
              </a:lnSpc>
              <a:spcBef>
                <a:spcPts val="600"/>
              </a:spcBef>
              <a:spcAft>
                <a:spcPts val="0"/>
              </a:spcAft>
              <a:buClr>
                <a:schemeClr val="accent1"/>
              </a:buClr>
              <a:buSzPct val="70000"/>
              <a:buFont typeface="Calibri" pitchFamily="34" charset="0"/>
              <a:buAutoNum type="arabicPeriod"/>
              <a:tabLst/>
              <a:defRPr/>
            </a:pPr>
            <a:r>
              <a:rPr kumimoji="0" lang="en-NZ" sz="2000" b="0" i="0" u="none" strike="noStrike" kern="1200" cap="none" spc="0" normalizeH="0" baseline="0" noProof="0" dirty="0">
                <a:ln>
                  <a:noFill/>
                </a:ln>
                <a:solidFill>
                  <a:schemeClr val="dk1"/>
                </a:solidFill>
                <a:effectLst/>
                <a:uLnTx/>
                <a:uFillTx/>
                <a:latin typeface="Calibri" pitchFamily="34" charset="0"/>
                <a:ea typeface="+mn-ea"/>
                <a:cs typeface="+mn-cs"/>
              </a:rPr>
              <a:t>Three processes are loaded in – leaving a ‘hole’ too small for any further process</a:t>
            </a:r>
          </a:p>
          <a:p>
            <a:pPr marL="228600" marR="0" lvl="0" indent="-228600" algn="l" defTabSz="914400" rtl="0" eaLnBrk="1" fontAlgn="auto" latinLnBrk="0" hangingPunct="1">
              <a:lnSpc>
                <a:spcPct val="100000"/>
              </a:lnSpc>
              <a:spcBef>
                <a:spcPts val="600"/>
              </a:spcBef>
              <a:spcAft>
                <a:spcPts val="0"/>
              </a:spcAft>
              <a:buClr>
                <a:schemeClr val="accent1"/>
              </a:buClr>
              <a:buSzPct val="70000"/>
              <a:buFont typeface="Calibri" pitchFamily="34" charset="0"/>
              <a:buAutoNum type="arabicPeriod"/>
              <a:tabLst/>
              <a:defRPr/>
            </a:pPr>
            <a:r>
              <a:rPr kumimoji="0" lang="en-NZ" sz="2000" b="0" i="0" u="none" strike="noStrike" kern="1200" cap="none" spc="0" normalizeH="0" baseline="0" noProof="0" dirty="0">
                <a:ln>
                  <a:noFill/>
                </a:ln>
                <a:solidFill>
                  <a:schemeClr val="dk1"/>
                </a:solidFill>
                <a:effectLst/>
                <a:uLnTx/>
                <a:uFillTx/>
                <a:latin typeface="Calibri" pitchFamily="34" charset="0"/>
                <a:ea typeface="+mn-ea"/>
                <a:cs typeface="+mn-cs"/>
              </a:rPr>
              <a:t>At some point, none of the processes in memory is ready. The operating system swaps out process 2, </a:t>
            </a:r>
          </a:p>
          <a:p>
            <a:pPr marL="228600" marR="0" lvl="0" indent="-228600" algn="l" defTabSz="914400" rtl="0" eaLnBrk="1" fontAlgn="auto" latinLnBrk="0" hangingPunct="1">
              <a:lnSpc>
                <a:spcPct val="100000"/>
              </a:lnSpc>
              <a:spcBef>
                <a:spcPts val="600"/>
              </a:spcBef>
              <a:spcAft>
                <a:spcPts val="0"/>
              </a:spcAft>
              <a:buClr>
                <a:schemeClr val="accent1"/>
              </a:buClr>
              <a:buSzPct val="70000"/>
              <a:buFont typeface="Calibri" pitchFamily="34" charset="0"/>
              <a:buAutoNum type="arabicPeriod"/>
              <a:tabLst/>
              <a:defRPr/>
            </a:pPr>
            <a:r>
              <a:rPr kumimoji="0" lang="en-NZ" sz="2000" b="0" i="0" u="none" strike="noStrike" kern="1200" cap="none" spc="0" normalizeH="0" baseline="0" noProof="0" dirty="0">
                <a:ln>
                  <a:noFill/>
                </a:ln>
                <a:solidFill>
                  <a:schemeClr val="dk1"/>
                </a:solidFill>
                <a:effectLst/>
                <a:uLnTx/>
                <a:uFillTx/>
                <a:latin typeface="Calibri" pitchFamily="34" charset="0"/>
                <a:ea typeface="+mn-ea"/>
                <a:cs typeface="+mn-cs"/>
              </a:rPr>
              <a:t>Which leaves sufficient room to load a new process, process 4 – but that creates another hole</a:t>
            </a:r>
          </a:p>
          <a:p>
            <a:pPr marL="228600" marR="0" lvl="0" indent="-228600" algn="l" defTabSz="914400" rtl="0" eaLnBrk="1" fontAlgn="auto" latinLnBrk="0" hangingPunct="1">
              <a:lnSpc>
                <a:spcPct val="100000"/>
              </a:lnSpc>
              <a:spcBef>
                <a:spcPts val="600"/>
              </a:spcBef>
              <a:spcAft>
                <a:spcPts val="0"/>
              </a:spcAft>
              <a:buClr>
                <a:schemeClr val="accent1"/>
              </a:buClr>
              <a:buSzPct val="70000"/>
              <a:buFont typeface="Calibri" pitchFamily="34" charset="0"/>
              <a:buAutoNum type="arabicPeriod"/>
              <a:tabLst/>
              <a:defRPr/>
            </a:pPr>
            <a:r>
              <a:rPr kumimoji="0" lang="en-NZ" sz="2000" b="0" i="0" u="none" strike="noStrike" kern="1200" cap="none" spc="0" normalizeH="0" baseline="0" noProof="0" dirty="0">
                <a:ln>
                  <a:noFill/>
                </a:ln>
                <a:solidFill>
                  <a:schemeClr val="dk1"/>
                </a:solidFill>
                <a:effectLst/>
                <a:uLnTx/>
                <a:uFillTx/>
                <a:latin typeface="Calibri" pitchFamily="34" charset="0"/>
                <a:ea typeface="+mn-ea"/>
                <a:cs typeface="+mn-cs"/>
              </a:rPr>
              <a:t>Later, a point is reached at which none of the processes in main memory is ready, but process 2, in the Ready-Suspend state, is available. Because there is insufficient room in memory for process 2, the operating system swaps process 1 out and swaps process 2 back in leaving yet another hole</a:t>
            </a:r>
            <a:endParaRPr kumimoji="0" lang="en-US" sz="2000" b="0" i="0" u="none" strike="noStrike" kern="1200" cap="none" spc="0" normalizeH="0" baseline="0" noProof="0" dirty="0">
              <a:ln>
                <a:noFill/>
              </a:ln>
              <a:solidFill>
                <a:schemeClr val="dk1"/>
              </a:solidFill>
              <a:effectLst/>
              <a:uLnTx/>
              <a:uFillTx/>
              <a:latin typeface="Calibri" pitchFamily="34" charset="0"/>
              <a:ea typeface="+mn-ea"/>
              <a:cs typeface="+mn-cs"/>
            </a:endParaRPr>
          </a:p>
        </p:txBody>
      </p:sp>
      <p:pic>
        <p:nvPicPr>
          <p:cNvPr id="7170" name="Picture 2" descr="E:\gp image\Slide-show-presentations.gif"/>
          <p:cNvPicPr>
            <a:picLocks noChangeAspect="1" noChangeArrowheads="1" noCrop="1"/>
          </p:cNvPicPr>
          <p:nvPr/>
        </p:nvPicPr>
        <p:blipFill>
          <a:blip r:embed="rId3"/>
          <a:srcRect/>
          <a:stretch>
            <a:fillRect/>
          </a:stretch>
        </p:blipFill>
        <p:spPr bwMode="auto">
          <a:xfrm>
            <a:off x="7086600" y="1790700"/>
            <a:ext cx="1828800" cy="3009900"/>
          </a:xfrm>
          <a:prstGeom prst="rect">
            <a:avLst/>
          </a:prstGeom>
          <a:noFill/>
        </p:spPr>
      </p:pic>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a:srcRect/>
          <a:stretch>
            <a:fillRect/>
          </a:stretch>
        </p:blipFill>
        <p:spPr bwMode="auto">
          <a:xfrm>
            <a:off x="152400" y="76200"/>
            <a:ext cx="8839200" cy="6734175"/>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Title 1"/>
          <p:cNvSpPr>
            <a:spLocks noGrp="1"/>
          </p:cNvSpPr>
          <p:nvPr>
            <p:ph type="title"/>
          </p:nvPr>
        </p:nvSpPr>
        <p:spPr>
          <a:xfrm>
            <a:off x="1371600" y="0"/>
            <a:ext cx="5181600" cy="457200"/>
          </a:xfrm>
          <a:solidFill>
            <a:schemeClr val="accent3">
              <a:lumMod val="60000"/>
              <a:lumOff val="40000"/>
            </a:schemeClr>
          </a:solidFill>
        </p:spPr>
        <p:style>
          <a:lnRef idx="3">
            <a:schemeClr val="lt1"/>
          </a:lnRef>
          <a:fillRef idx="1">
            <a:schemeClr val="accent1"/>
          </a:fillRef>
          <a:effectRef idx="1">
            <a:schemeClr val="accent1"/>
          </a:effectRef>
          <a:fontRef idx="minor">
            <a:schemeClr val="lt1"/>
          </a:fontRef>
        </p:style>
        <p:txBody>
          <a:bodyPr>
            <a:normAutofit/>
          </a:bodyPr>
          <a:lstStyle/>
          <a:p>
            <a:pPr algn="ctr"/>
            <a:r>
              <a:rPr lang="en-NZ" sz="2200" b="1" dirty="0">
                <a:solidFill>
                  <a:schemeClr val="bg1"/>
                </a:solidFill>
                <a:effectLst>
                  <a:outerShdw blurRad="38100" dist="38100" dir="2700000" algn="tl">
                    <a:srgbClr val="000000">
                      <a:alpha val="43137"/>
                    </a:srgbClr>
                  </a:outerShdw>
                </a:effectLst>
                <a:latin typeface="Calibri" pitchFamily="34" charset="0"/>
              </a:rPr>
              <a:t>Dynamic Partitioning Example</a:t>
            </a:r>
          </a:p>
        </p:txBody>
      </p:sp>
      <p:sp>
        <p:nvSpPr>
          <p:cNvPr id="22" name="Content Placeholder 21"/>
          <p:cNvSpPr>
            <a:spLocks noGrp="1"/>
          </p:cNvSpPr>
          <p:nvPr>
            <p:ph sz="quarter" idx="1"/>
          </p:nvPr>
        </p:nvSpPr>
        <p:spPr>
          <a:xfrm>
            <a:off x="2743200" y="609600"/>
            <a:ext cx="6172200" cy="5105400"/>
          </a:xfrm>
        </p:spPr>
        <p:style>
          <a:lnRef idx="2">
            <a:schemeClr val="accent1"/>
          </a:lnRef>
          <a:fillRef idx="1">
            <a:schemeClr val="lt1"/>
          </a:fillRef>
          <a:effectRef idx="0">
            <a:schemeClr val="accent1"/>
          </a:effectRef>
          <a:fontRef idx="minor">
            <a:schemeClr val="dk1"/>
          </a:fontRef>
        </p:style>
        <p:txBody>
          <a:bodyPr>
            <a:normAutofit/>
          </a:bodyPr>
          <a:lstStyle/>
          <a:p>
            <a:r>
              <a:rPr lang="en-US" sz="2000" dirty="0">
                <a:latin typeface="Calibri" pitchFamily="34" charset="0"/>
              </a:rPr>
              <a:t>As time goes on, memory becomes more and more fragmented, and memory utilization declines.</a:t>
            </a:r>
          </a:p>
          <a:p>
            <a:r>
              <a:rPr lang="en-NZ" sz="2000" b="1" u="sng" dirty="0">
                <a:latin typeface="Calibri" pitchFamily="34" charset="0"/>
              </a:rPr>
              <a:t>Problem is:-</a:t>
            </a:r>
          </a:p>
          <a:p>
            <a:r>
              <a:rPr lang="en-NZ" sz="2000" b="1" dirty="0">
                <a:latin typeface="Calibri" pitchFamily="34" charset="0"/>
              </a:rPr>
              <a:t>External Fragmentation:-</a:t>
            </a:r>
          </a:p>
          <a:p>
            <a:pPr lvl="1"/>
            <a:r>
              <a:rPr lang="en-US" sz="2000" dirty="0">
                <a:latin typeface="Calibri" pitchFamily="34" charset="0"/>
              </a:rPr>
              <a:t>The memory that is external to all partitions becomes increasingly fragmented.</a:t>
            </a:r>
            <a:endParaRPr lang="en-NZ" sz="2000" b="1" dirty="0">
              <a:latin typeface="Calibri" pitchFamily="34" charset="0"/>
            </a:endParaRPr>
          </a:p>
          <a:p>
            <a:r>
              <a:rPr lang="en-US" sz="2000" b="1" u="sng" dirty="0">
                <a:latin typeface="Calibri" pitchFamily="34" charset="0"/>
              </a:rPr>
              <a:t>Solution</a:t>
            </a:r>
            <a:r>
              <a:rPr lang="en-US" sz="2000" dirty="0">
                <a:latin typeface="Calibri" pitchFamily="34" charset="0"/>
              </a:rPr>
              <a:t> to external fragmentation is </a:t>
            </a:r>
          </a:p>
          <a:p>
            <a:r>
              <a:rPr lang="en-US" sz="2000" b="1" dirty="0">
                <a:latin typeface="Calibri" pitchFamily="34" charset="0"/>
              </a:rPr>
              <a:t>Compaction </a:t>
            </a:r>
          </a:p>
          <a:p>
            <a:r>
              <a:rPr lang="en-US" sz="2000" b="1" dirty="0">
                <a:latin typeface="Calibri" pitchFamily="34" charset="0"/>
              </a:rPr>
              <a:t>(</a:t>
            </a:r>
            <a:r>
              <a:rPr lang="en-NZ" sz="2000" dirty="0">
                <a:latin typeface="Calibri" pitchFamily="34" charset="0"/>
              </a:rPr>
              <a:t>compaction implies the capability of dynamic relocation)</a:t>
            </a:r>
            <a:r>
              <a:rPr lang="en-US" sz="2000" b="1" dirty="0">
                <a:latin typeface="Calibri" pitchFamily="34" charset="0"/>
              </a:rPr>
              <a:t>:-</a:t>
            </a:r>
          </a:p>
          <a:p>
            <a:pPr lvl="1"/>
            <a:r>
              <a:rPr lang="en-US" sz="2000" dirty="0">
                <a:latin typeface="Calibri" pitchFamily="34" charset="0"/>
              </a:rPr>
              <a:t>From</a:t>
            </a:r>
            <a:r>
              <a:rPr lang="en-US" sz="2000" b="1" dirty="0">
                <a:latin typeface="Calibri" pitchFamily="34" charset="0"/>
              </a:rPr>
              <a:t> </a:t>
            </a:r>
            <a:r>
              <a:rPr lang="en-US" sz="2000" dirty="0">
                <a:latin typeface="Calibri" pitchFamily="34" charset="0"/>
              </a:rPr>
              <a:t>time to time, the operating system shifts the processes so that they are contiguous and </a:t>
            </a:r>
          </a:p>
          <a:p>
            <a:pPr lvl="1"/>
            <a:r>
              <a:rPr lang="en-US" sz="2000" dirty="0">
                <a:latin typeface="Calibri" pitchFamily="34" charset="0"/>
              </a:rPr>
              <a:t>so that all of the free memory is together in one block.</a:t>
            </a:r>
            <a:endParaRPr lang="en-NZ" sz="2000" dirty="0">
              <a:latin typeface="Calibri" pitchFamily="34" charset="0"/>
            </a:endParaRPr>
          </a:p>
          <a:p>
            <a:endParaRPr lang="en-NZ" sz="2000" dirty="0">
              <a:latin typeface="Calibri" pitchFamily="34" charset="0"/>
            </a:endParaRPr>
          </a:p>
        </p:txBody>
      </p:sp>
      <p:grpSp>
        <p:nvGrpSpPr>
          <p:cNvPr id="2" name="Group 5"/>
          <p:cNvGrpSpPr>
            <a:grpSpLocks/>
          </p:cNvGrpSpPr>
          <p:nvPr/>
        </p:nvGrpSpPr>
        <p:grpSpPr bwMode="auto">
          <a:xfrm>
            <a:off x="422275" y="685800"/>
            <a:ext cx="1600200" cy="4724400"/>
            <a:chOff x="1066800" y="1447800"/>
            <a:chExt cx="1600200" cy="4724400"/>
          </a:xfrm>
        </p:grpSpPr>
        <p:sp>
          <p:nvSpPr>
            <p:cNvPr id="4" name="Rectangle 3"/>
            <p:cNvSpPr/>
            <p:nvPr/>
          </p:nvSpPr>
          <p:spPr>
            <a:xfrm>
              <a:off x="1066800" y="1447800"/>
              <a:ext cx="1600200" cy="4724400"/>
            </a:xfrm>
            <a:prstGeom prst="rect">
              <a:avLst/>
            </a:prstGeom>
            <a:ln w="28575"/>
          </p:spPr>
          <p:style>
            <a:lnRef idx="2">
              <a:schemeClr val="accent1"/>
            </a:lnRef>
            <a:fillRef idx="1">
              <a:schemeClr val="lt1"/>
            </a:fillRef>
            <a:effectRef idx="0">
              <a:schemeClr val="accent1"/>
            </a:effectRef>
            <a:fontRef idx="minor">
              <a:schemeClr val="dk1"/>
            </a:fontRef>
          </p:style>
          <p:txBody>
            <a:bodyPr anchor="ctr"/>
            <a:lstStyle/>
            <a:p>
              <a:pPr algn="ctr">
                <a:defRPr/>
              </a:pPr>
              <a:endParaRPr lang="en-NZ" dirty="0"/>
            </a:p>
          </p:txBody>
        </p:sp>
        <p:sp>
          <p:nvSpPr>
            <p:cNvPr id="5" name="Rectangle 4"/>
            <p:cNvSpPr/>
            <p:nvPr/>
          </p:nvSpPr>
          <p:spPr>
            <a:xfrm>
              <a:off x="1066800" y="1447800"/>
              <a:ext cx="1600200" cy="762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NZ" dirty="0"/>
                <a:t>OS (8M)</a:t>
              </a:r>
            </a:p>
          </p:txBody>
        </p:sp>
      </p:grpSp>
      <p:sp>
        <p:nvSpPr>
          <p:cNvPr id="7" name="Rectangle 6"/>
          <p:cNvSpPr/>
          <p:nvPr/>
        </p:nvSpPr>
        <p:spPr>
          <a:xfrm>
            <a:off x="422275" y="1447800"/>
            <a:ext cx="1600200" cy="1295400"/>
          </a:xfrm>
          <a:prstGeom prst="rect">
            <a:avLst/>
          </a:prstGeom>
          <a:solidFill>
            <a:schemeClr val="accent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NZ" dirty="0">
                <a:solidFill>
                  <a:schemeClr val="tx1"/>
                </a:solidFill>
              </a:rPr>
              <a:t>P1 </a:t>
            </a:r>
          </a:p>
          <a:p>
            <a:pPr algn="ctr">
              <a:defRPr/>
            </a:pPr>
            <a:r>
              <a:rPr lang="en-NZ" dirty="0">
                <a:solidFill>
                  <a:schemeClr val="tx1"/>
                </a:solidFill>
              </a:rPr>
              <a:t>(20M)</a:t>
            </a:r>
          </a:p>
        </p:txBody>
      </p:sp>
      <p:sp>
        <p:nvSpPr>
          <p:cNvPr id="8" name="Rectangle 7"/>
          <p:cNvSpPr/>
          <p:nvPr/>
        </p:nvSpPr>
        <p:spPr>
          <a:xfrm>
            <a:off x="422275" y="2743200"/>
            <a:ext cx="1600200" cy="914400"/>
          </a:xfrm>
          <a:prstGeom prst="rect">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NZ" dirty="0"/>
              <a:t>P2</a:t>
            </a:r>
          </a:p>
          <a:p>
            <a:pPr algn="ctr">
              <a:defRPr/>
            </a:pPr>
            <a:r>
              <a:rPr lang="en-NZ" dirty="0"/>
              <a:t>(14M)</a:t>
            </a:r>
          </a:p>
        </p:txBody>
      </p:sp>
      <p:sp>
        <p:nvSpPr>
          <p:cNvPr id="9" name="Rectangle 8"/>
          <p:cNvSpPr/>
          <p:nvPr/>
        </p:nvSpPr>
        <p:spPr>
          <a:xfrm>
            <a:off x="422275" y="3657600"/>
            <a:ext cx="1600200" cy="1295400"/>
          </a:xfrm>
          <a:prstGeom prst="rect">
            <a:avLst/>
          </a:prstGeom>
          <a:solidFill>
            <a:schemeClr val="accent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NZ" dirty="0"/>
              <a:t>P3</a:t>
            </a:r>
          </a:p>
          <a:p>
            <a:pPr algn="ctr">
              <a:defRPr/>
            </a:pPr>
            <a:r>
              <a:rPr lang="en-NZ" dirty="0"/>
              <a:t>(18M)</a:t>
            </a:r>
          </a:p>
        </p:txBody>
      </p:sp>
      <p:sp>
        <p:nvSpPr>
          <p:cNvPr id="10" name="TextBox 9"/>
          <p:cNvSpPr txBox="1">
            <a:spLocks noChangeArrowheads="1"/>
          </p:cNvSpPr>
          <p:nvPr/>
        </p:nvSpPr>
        <p:spPr bwMode="auto">
          <a:xfrm>
            <a:off x="457200" y="2819400"/>
            <a:ext cx="1863726" cy="430887"/>
          </a:xfrm>
          <a:prstGeom prst="rect">
            <a:avLst/>
          </a:prstGeom>
          <a:noFill/>
          <a:ln w="9525">
            <a:noFill/>
            <a:miter lim="800000"/>
            <a:headEnd/>
            <a:tailEnd/>
          </a:ln>
        </p:spPr>
        <p:txBody>
          <a:bodyPr wrap="square">
            <a:spAutoFit/>
          </a:bodyPr>
          <a:lstStyle/>
          <a:p>
            <a:pPr algn="ctr"/>
            <a:r>
              <a:rPr lang="en-NZ" dirty="0"/>
              <a:t>Empty (56M)</a:t>
            </a:r>
          </a:p>
        </p:txBody>
      </p:sp>
      <p:sp>
        <p:nvSpPr>
          <p:cNvPr id="11" name="TextBox 10"/>
          <p:cNvSpPr txBox="1">
            <a:spLocks noChangeArrowheads="1"/>
          </p:cNvSpPr>
          <p:nvPr/>
        </p:nvSpPr>
        <p:spPr bwMode="auto">
          <a:xfrm>
            <a:off x="228600" y="5029200"/>
            <a:ext cx="2016125" cy="430887"/>
          </a:xfrm>
          <a:prstGeom prst="rect">
            <a:avLst/>
          </a:prstGeom>
          <a:noFill/>
          <a:ln w="9525">
            <a:noFill/>
            <a:miter lim="800000"/>
            <a:headEnd/>
            <a:tailEnd/>
          </a:ln>
        </p:spPr>
        <p:txBody>
          <a:bodyPr wrap="square">
            <a:spAutoFit/>
          </a:bodyPr>
          <a:lstStyle/>
          <a:p>
            <a:pPr algn="ctr"/>
            <a:r>
              <a:rPr lang="en-NZ" dirty="0"/>
              <a:t>Empty (4M)</a:t>
            </a:r>
          </a:p>
        </p:txBody>
      </p:sp>
      <p:sp>
        <p:nvSpPr>
          <p:cNvPr id="12" name="Rectangle 11"/>
          <p:cNvSpPr/>
          <p:nvPr/>
        </p:nvSpPr>
        <p:spPr>
          <a:xfrm>
            <a:off x="422275" y="2743200"/>
            <a:ext cx="1600200" cy="533400"/>
          </a:xfrm>
          <a:prstGeom prst="rect">
            <a:avLst/>
          </a:prstGeom>
          <a:solidFill>
            <a:schemeClr val="accent2">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NZ" dirty="0"/>
              <a:t>P4(8M)</a:t>
            </a:r>
          </a:p>
        </p:txBody>
      </p:sp>
      <p:sp>
        <p:nvSpPr>
          <p:cNvPr id="13" name="TextBox 12"/>
          <p:cNvSpPr txBox="1">
            <a:spLocks noChangeArrowheads="1"/>
          </p:cNvSpPr>
          <p:nvPr/>
        </p:nvSpPr>
        <p:spPr bwMode="auto">
          <a:xfrm>
            <a:off x="304800" y="3276600"/>
            <a:ext cx="1939925" cy="430887"/>
          </a:xfrm>
          <a:prstGeom prst="rect">
            <a:avLst/>
          </a:prstGeom>
          <a:noFill/>
          <a:ln w="9525">
            <a:noFill/>
            <a:miter lim="800000"/>
            <a:headEnd/>
            <a:tailEnd/>
          </a:ln>
        </p:spPr>
        <p:txBody>
          <a:bodyPr wrap="square">
            <a:spAutoFit/>
          </a:bodyPr>
          <a:lstStyle/>
          <a:p>
            <a:pPr algn="ctr"/>
            <a:r>
              <a:rPr lang="en-NZ" dirty="0"/>
              <a:t>Empty (6M)</a:t>
            </a:r>
          </a:p>
        </p:txBody>
      </p:sp>
      <p:sp>
        <p:nvSpPr>
          <p:cNvPr id="14" name="Rectangle 13"/>
          <p:cNvSpPr/>
          <p:nvPr/>
        </p:nvSpPr>
        <p:spPr>
          <a:xfrm>
            <a:off x="422275" y="1447800"/>
            <a:ext cx="1600200" cy="914400"/>
          </a:xfrm>
          <a:prstGeom prst="rect">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NZ" dirty="0"/>
              <a:t>P2</a:t>
            </a:r>
          </a:p>
          <a:p>
            <a:pPr algn="ctr">
              <a:defRPr/>
            </a:pPr>
            <a:r>
              <a:rPr lang="en-NZ" dirty="0"/>
              <a:t>(14M)</a:t>
            </a:r>
          </a:p>
        </p:txBody>
      </p:sp>
      <p:sp>
        <p:nvSpPr>
          <p:cNvPr id="15" name="TextBox 14"/>
          <p:cNvSpPr txBox="1">
            <a:spLocks noChangeArrowheads="1"/>
          </p:cNvSpPr>
          <p:nvPr/>
        </p:nvSpPr>
        <p:spPr bwMode="auto">
          <a:xfrm>
            <a:off x="228600" y="2362200"/>
            <a:ext cx="1863725" cy="430887"/>
          </a:xfrm>
          <a:prstGeom prst="rect">
            <a:avLst/>
          </a:prstGeom>
          <a:noFill/>
          <a:ln w="9525">
            <a:noFill/>
            <a:miter lim="800000"/>
            <a:headEnd/>
            <a:tailEnd/>
          </a:ln>
        </p:spPr>
        <p:txBody>
          <a:bodyPr wrap="square">
            <a:spAutoFit/>
          </a:bodyPr>
          <a:lstStyle/>
          <a:p>
            <a:pPr algn="ctr"/>
            <a:r>
              <a:rPr lang="en-NZ" dirty="0"/>
              <a:t>Empty (6M)</a:t>
            </a:r>
          </a:p>
        </p:txBody>
      </p:sp>
      <p:sp>
        <p:nvSpPr>
          <p:cNvPr id="24590" name="TextBox 18"/>
          <p:cNvSpPr txBox="1">
            <a:spLocks noChangeArrowheads="1"/>
          </p:cNvSpPr>
          <p:nvPr/>
        </p:nvSpPr>
        <p:spPr bwMode="auto">
          <a:xfrm>
            <a:off x="514529" y="5486400"/>
            <a:ext cx="1695271" cy="430887"/>
          </a:xfrm>
          <a:prstGeom prst="rect">
            <a:avLst/>
          </a:prstGeom>
          <a:ln>
            <a:headEnd/>
            <a:tailEnd/>
          </a:ln>
        </p:spPr>
        <p:style>
          <a:lnRef idx="2">
            <a:schemeClr val="accent1"/>
          </a:lnRef>
          <a:fillRef idx="1">
            <a:schemeClr val="lt1"/>
          </a:fillRef>
          <a:effectRef idx="0">
            <a:schemeClr val="accent1"/>
          </a:effectRef>
          <a:fontRef idx="minor">
            <a:schemeClr val="dk1"/>
          </a:fontRef>
        </p:style>
        <p:txBody>
          <a:bodyPr wrap="square">
            <a:spAutoFit/>
          </a:bodyPr>
          <a:lstStyle/>
          <a:p>
            <a:pPr>
              <a:buNone/>
            </a:pPr>
            <a:r>
              <a:rPr lang="en-NZ" dirty="0"/>
              <a:t>Figure 7.4</a:t>
            </a:r>
          </a:p>
        </p:txBody>
      </p:sp>
      <p:sp>
        <p:nvSpPr>
          <p:cNvPr id="17" name="Rectangle 16"/>
          <p:cNvSpPr/>
          <p:nvPr/>
        </p:nvSpPr>
        <p:spPr>
          <a:xfrm>
            <a:off x="76200" y="6073914"/>
            <a:ext cx="8839200" cy="707886"/>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r>
              <a:rPr lang="en-NZ" sz="2000" b="1" u="sng" dirty="0">
                <a:latin typeface="Calibri" pitchFamily="34" charset="0"/>
              </a:rPr>
              <a:t>Problem :-</a:t>
            </a:r>
            <a:r>
              <a:rPr lang="en-NZ" sz="2000" b="1" dirty="0">
                <a:latin typeface="Calibri" pitchFamily="34" charset="0"/>
              </a:rPr>
              <a:t>  </a:t>
            </a:r>
            <a:r>
              <a:rPr lang="en-NZ" sz="2000" dirty="0">
                <a:latin typeface="Calibri" pitchFamily="34" charset="0"/>
              </a:rPr>
              <a:t>A dynamic partitioning scheme is more complex to maintain and includes the overhead of compaction</a:t>
            </a:r>
            <a:endParaRPr lang="en-US" sz="2000" dirty="0">
              <a:latin typeface="Calibri" pitchFamily="34" charset="0"/>
            </a:endParaRPr>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xit" presetSubtype="0" fill="hold" grpId="0" nodeType="clickEffect">
                                  <p:stCondLst>
                                    <p:cond delay="0"/>
                                  </p:stCondLst>
                                  <p:childTnLst>
                                    <p:animEffect transition="out" filter="dissolve">
                                      <p:cBhvr>
                                        <p:cTn id="6" dur="500"/>
                                        <p:tgtEl>
                                          <p:spTgt spid="10"/>
                                        </p:tgtEl>
                                      </p:cBhvr>
                                    </p:animEffect>
                                    <p:set>
                                      <p:cBhvr>
                                        <p:cTn id="7" dur="1" fill="hold">
                                          <p:stCondLst>
                                            <p:cond delay="499"/>
                                          </p:stCondLst>
                                        </p:cTn>
                                        <p:tgtEl>
                                          <p:spTgt spid="10"/>
                                        </p:tgtEl>
                                        <p:attrNameLst>
                                          <p:attrName>style.visibility</p:attrName>
                                        </p:attrNameLst>
                                      </p:cBhvr>
                                      <p:to>
                                        <p:strVal val="hidden"/>
                                      </p:to>
                                    </p:set>
                                  </p:childTnLst>
                                </p:cTn>
                              </p:par>
                            </p:childTnLst>
                          </p:cTn>
                        </p:par>
                        <p:par>
                          <p:cTn id="8" fill="hold">
                            <p:stCondLst>
                              <p:cond delay="500"/>
                            </p:stCondLst>
                            <p:childTnLst>
                              <p:par>
                                <p:cTn id="9" presetID="2" presetClass="entr" presetSubtype="2" fill="hold" grpId="0" nodeType="afterEffect">
                                  <p:stCondLst>
                                    <p:cond delay="0"/>
                                  </p:stCondLst>
                                  <p:childTnLst>
                                    <p:set>
                                      <p:cBhvr>
                                        <p:cTn id="10" dur="1" fill="hold">
                                          <p:stCondLst>
                                            <p:cond delay="0"/>
                                          </p:stCondLst>
                                        </p:cTn>
                                        <p:tgtEl>
                                          <p:spTgt spid="7"/>
                                        </p:tgtEl>
                                        <p:attrNameLst>
                                          <p:attrName>style.visibility</p:attrName>
                                        </p:attrNameLst>
                                      </p:cBhvr>
                                      <p:to>
                                        <p:strVal val="visible"/>
                                      </p:to>
                                    </p:set>
                                    <p:anim calcmode="lin" valueType="num">
                                      <p:cBhvr additive="base">
                                        <p:cTn id="11" dur="1000" fill="hold"/>
                                        <p:tgtEl>
                                          <p:spTgt spid="7"/>
                                        </p:tgtEl>
                                        <p:attrNameLst>
                                          <p:attrName>ppt_x</p:attrName>
                                        </p:attrNameLst>
                                      </p:cBhvr>
                                      <p:tavLst>
                                        <p:tav tm="0">
                                          <p:val>
                                            <p:strVal val="1+#ppt_w/2"/>
                                          </p:val>
                                        </p:tav>
                                        <p:tav tm="100000">
                                          <p:val>
                                            <p:strVal val="#ppt_x"/>
                                          </p:val>
                                        </p:tav>
                                      </p:tavLst>
                                    </p:anim>
                                    <p:anim calcmode="lin" valueType="num">
                                      <p:cBhvr additive="base">
                                        <p:cTn id="12" dur="1000" fill="hold"/>
                                        <p:tgtEl>
                                          <p:spTgt spid="7"/>
                                        </p:tgtEl>
                                        <p:attrNameLst>
                                          <p:attrName>ppt_y</p:attrName>
                                        </p:attrNameLst>
                                      </p:cBhvr>
                                      <p:tavLst>
                                        <p:tav tm="0">
                                          <p:val>
                                            <p:strVal val="#ppt_y"/>
                                          </p:val>
                                        </p:tav>
                                        <p:tav tm="100000">
                                          <p:val>
                                            <p:strVal val="#ppt_y"/>
                                          </p:val>
                                        </p:tav>
                                      </p:tavLst>
                                    </p:anim>
                                  </p:childTnLst>
                                </p:cTn>
                              </p:par>
                            </p:childTnLst>
                          </p:cTn>
                        </p:par>
                        <p:par>
                          <p:cTn id="13" fill="hold">
                            <p:stCondLst>
                              <p:cond delay="1500"/>
                            </p:stCondLst>
                            <p:childTnLst>
                              <p:par>
                                <p:cTn id="14" presetID="2" presetClass="entr" presetSubtype="2" fill="hold" grpId="0" nodeType="afterEffect">
                                  <p:stCondLst>
                                    <p:cond delay="0"/>
                                  </p:stCondLst>
                                  <p:childTnLst>
                                    <p:set>
                                      <p:cBhvr>
                                        <p:cTn id="15" dur="1" fill="hold">
                                          <p:stCondLst>
                                            <p:cond delay="0"/>
                                          </p:stCondLst>
                                        </p:cTn>
                                        <p:tgtEl>
                                          <p:spTgt spid="8"/>
                                        </p:tgtEl>
                                        <p:attrNameLst>
                                          <p:attrName>style.visibility</p:attrName>
                                        </p:attrNameLst>
                                      </p:cBhvr>
                                      <p:to>
                                        <p:strVal val="visible"/>
                                      </p:to>
                                    </p:set>
                                    <p:anim calcmode="lin" valueType="num">
                                      <p:cBhvr additive="base">
                                        <p:cTn id="16" dur="1000" fill="hold"/>
                                        <p:tgtEl>
                                          <p:spTgt spid="8"/>
                                        </p:tgtEl>
                                        <p:attrNameLst>
                                          <p:attrName>ppt_x</p:attrName>
                                        </p:attrNameLst>
                                      </p:cBhvr>
                                      <p:tavLst>
                                        <p:tav tm="0">
                                          <p:val>
                                            <p:strVal val="1+#ppt_w/2"/>
                                          </p:val>
                                        </p:tav>
                                        <p:tav tm="100000">
                                          <p:val>
                                            <p:strVal val="#ppt_x"/>
                                          </p:val>
                                        </p:tav>
                                      </p:tavLst>
                                    </p:anim>
                                    <p:anim calcmode="lin" valueType="num">
                                      <p:cBhvr additive="base">
                                        <p:cTn id="17" dur="1000" fill="hold"/>
                                        <p:tgtEl>
                                          <p:spTgt spid="8"/>
                                        </p:tgtEl>
                                        <p:attrNameLst>
                                          <p:attrName>ppt_y</p:attrName>
                                        </p:attrNameLst>
                                      </p:cBhvr>
                                      <p:tavLst>
                                        <p:tav tm="0">
                                          <p:val>
                                            <p:strVal val="#ppt_y"/>
                                          </p:val>
                                        </p:tav>
                                        <p:tav tm="100000">
                                          <p:val>
                                            <p:strVal val="#ppt_y"/>
                                          </p:val>
                                        </p:tav>
                                      </p:tavLst>
                                    </p:anim>
                                  </p:childTnLst>
                                </p:cTn>
                              </p:par>
                            </p:childTnLst>
                          </p:cTn>
                        </p:par>
                        <p:par>
                          <p:cTn id="18" fill="hold">
                            <p:stCondLst>
                              <p:cond delay="2500"/>
                            </p:stCondLst>
                            <p:childTnLst>
                              <p:par>
                                <p:cTn id="19" presetID="2" presetClass="entr" presetSubtype="2" fill="hold" grpId="0" nodeType="afterEffect">
                                  <p:stCondLst>
                                    <p:cond delay="0"/>
                                  </p:stCondLst>
                                  <p:childTnLst>
                                    <p:set>
                                      <p:cBhvr>
                                        <p:cTn id="20" dur="1" fill="hold">
                                          <p:stCondLst>
                                            <p:cond delay="0"/>
                                          </p:stCondLst>
                                        </p:cTn>
                                        <p:tgtEl>
                                          <p:spTgt spid="9"/>
                                        </p:tgtEl>
                                        <p:attrNameLst>
                                          <p:attrName>style.visibility</p:attrName>
                                        </p:attrNameLst>
                                      </p:cBhvr>
                                      <p:to>
                                        <p:strVal val="visible"/>
                                      </p:to>
                                    </p:set>
                                    <p:anim calcmode="lin" valueType="num">
                                      <p:cBhvr additive="base">
                                        <p:cTn id="21" dur="1000" fill="hold"/>
                                        <p:tgtEl>
                                          <p:spTgt spid="9"/>
                                        </p:tgtEl>
                                        <p:attrNameLst>
                                          <p:attrName>ppt_x</p:attrName>
                                        </p:attrNameLst>
                                      </p:cBhvr>
                                      <p:tavLst>
                                        <p:tav tm="0">
                                          <p:val>
                                            <p:strVal val="1+#ppt_w/2"/>
                                          </p:val>
                                        </p:tav>
                                        <p:tav tm="100000">
                                          <p:val>
                                            <p:strVal val="#ppt_x"/>
                                          </p:val>
                                        </p:tav>
                                      </p:tavLst>
                                    </p:anim>
                                    <p:anim calcmode="lin" valueType="num">
                                      <p:cBhvr additive="base">
                                        <p:cTn id="22" dur="1000" fill="hold"/>
                                        <p:tgtEl>
                                          <p:spTgt spid="9"/>
                                        </p:tgtEl>
                                        <p:attrNameLst>
                                          <p:attrName>ppt_y</p:attrName>
                                        </p:attrNameLst>
                                      </p:cBhvr>
                                      <p:tavLst>
                                        <p:tav tm="0">
                                          <p:val>
                                            <p:strVal val="#ppt_y"/>
                                          </p:val>
                                        </p:tav>
                                        <p:tav tm="100000">
                                          <p:val>
                                            <p:strVal val="#ppt_y"/>
                                          </p:val>
                                        </p:tav>
                                      </p:tavLst>
                                    </p:anim>
                                  </p:childTnLst>
                                </p:cTn>
                              </p:par>
                            </p:childTnLst>
                          </p:cTn>
                        </p:par>
                        <p:par>
                          <p:cTn id="23" fill="hold">
                            <p:stCondLst>
                              <p:cond delay="3500"/>
                            </p:stCondLst>
                            <p:childTnLst>
                              <p:par>
                                <p:cTn id="24" presetID="9" presetClass="entr" presetSubtype="0" fill="hold" grpId="0" nodeType="afterEffect">
                                  <p:stCondLst>
                                    <p:cond delay="0"/>
                                  </p:stCondLst>
                                  <p:childTnLst>
                                    <p:set>
                                      <p:cBhvr>
                                        <p:cTn id="25" dur="1" fill="hold">
                                          <p:stCondLst>
                                            <p:cond delay="0"/>
                                          </p:stCondLst>
                                        </p:cTn>
                                        <p:tgtEl>
                                          <p:spTgt spid="11"/>
                                        </p:tgtEl>
                                        <p:attrNameLst>
                                          <p:attrName>style.visibility</p:attrName>
                                        </p:attrNameLst>
                                      </p:cBhvr>
                                      <p:to>
                                        <p:strVal val="visible"/>
                                      </p:to>
                                    </p:set>
                                    <p:animEffect transition="in" filter="dissolve">
                                      <p:cBhvr>
                                        <p:cTn id="26" dur="1000"/>
                                        <p:tgtEl>
                                          <p:spTgt spid="11"/>
                                        </p:tgtEl>
                                      </p:cBhvr>
                                    </p:animEffect>
                                  </p:childTnLst>
                                </p:cTn>
                              </p:par>
                            </p:childTnLst>
                          </p:cTn>
                        </p:par>
                      </p:childTnLst>
                    </p:cTn>
                  </p:par>
                  <p:par>
                    <p:cTn id="27" fill="hold">
                      <p:stCondLst>
                        <p:cond delay="indefinite"/>
                      </p:stCondLst>
                      <p:childTnLst>
                        <p:par>
                          <p:cTn id="28" fill="hold">
                            <p:stCondLst>
                              <p:cond delay="0"/>
                            </p:stCondLst>
                            <p:childTnLst>
                              <p:par>
                                <p:cTn id="29" presetID="2" presetClass="exit" presetSubtype="2" fill="hold" grpId="1" nodeType="clickEffect">
                                  <p:stCondLst>
                                    <p:cond delay="0"/>
                                  </p:stCondLst>
                                  <p:childTnLst>
                                    <p:anim calcmode="lin" valueType="num">
                                      <p:cBhvr additive="base">
                                        <p:cTn id="30" dur="500"/>
                                        <p:tgtEl>
                                          <p:spTgt spid="8"/>
                                        </p:tgtEl>
                                        <p:attrNameLst>
                                          <p:attrName>ppt_x</p:attrName>
                                        </p:attrNameLst>
                                      </p:cBhvr>
                                      <p:tavLst>
                                        <p:tav tm="0">
                                          <p:val>
                                            <p:strVal val="ppt_x"/>
                                          </p:val>
                                        </p:tav>
                                        <p:tav tm="100000">
                                          <p:val>
                                            <p:strVal val="1+ppt_w/2"/>
                                          </p:val>
                                        </p:tav>
                                      </p:tavLst>
                                    </p:anim>
                                    <p:anim calcmode="lin" valueType="num">
                                      <p:cBhvr additive="base">
                                        <p:cTn id="31" dur="500"/>
                                        <p:tgtEl>
                                          <p:spTgt spid="8"/>
                                        </p:tgtEl>
                                        <p:attrNameLst>
                                          <p:attrName>ppt_y</p:attrName>
                                        </p:attrNameLst>
                                      </p:cBhvr>
                                      <p:tavLst>
                                        <p:tav tm="0">
                                          <p:val>
                                            <p:strVal val="ppt_y"/>
                                          </p:val>
                                        </p:tav>
                                        <p:tav tm="100000">
                                          <p:val>
                                            <p:strVal val="ppt_y"/>
                                          </p:val>
                                        </p:tav>
                                      </p:tavLst>
                                    </p:anim>
                                    <p:set>
                                      <p:cBhvr>
                                        <p:cTn id="32" dur="1" fill="hold">
                                          <p:stCondLst>
                                            <p:cond delay="499"/>
                                          </p:stCondLst>
                                        </p:cTn>
                                        <p:tgtEl>
                                          <p:spTgt spid="8"/>
                                        </p:tgtEl>
                                        <p:attrNameLst>
                                          <p:attrName>style.visibility</p:attrName>
                                        </p:attrNameLst>
                                      </p:cBhvr>
                                      <p:to>
                                        <p:strVal val="hidden"/>
                                      </p:to>
                                    </p:set>
                                  </p:childTnLst>
                                </p:cTn>
                              </p:par>
                            </p:childTnLst>
                          </p:cTn>
                        </p:par>
                        <p:par>
                          <p:cTn id="33" fill="hold">
                            <p:stCondLst>
                              <p:cond delay="500"/>
                            </p:stCondLst>
                            <p:childTnLst>
                              <p:par>
                                <p:cTn id="34" presetID="2" presetClass="entr" presetSubtype="2" fill="hold" grpId="0" nodeType="afterEffect">
                                  <p:stCondLst>
                                    <p:cond delay="0"/>
                                  </p:stCondLst>
                                  <p:childTnLst>
                                    <p:set>
                                      <p:cBhvr>
                                        <p:cTn id="35" dur="1" fill="hold">
                                          <p:stCondLst>
                                            <p:cond delay="0"/>
                                          </p:stCondLst>
                                        </p:cTn>
                                        <p:tgtEl>
                                          <p:spTgt spid="12"/>
                                        </p:tgtEl>
                                        <p:attrNameLst>
                                          <p:attrName>style.visibility</p:attrName>
                                        </p:attrNameLst>
                                      </p:cBhvr>
                                      <p:to>
                                        <p:strVal val="visible"/>
                                      </p:to>
                                    </p:set>
                                    <p:anim calcmode="lin" valueType="num">
                                      <p:cBhvr additive="base">
                                        <p:cTn id="36" dur="1000" fill="hold"/>
                                        <p:tgtEl>
                                          <p:spTgt spid="12"/>
                                        </p:tgtEl>
                                        <p:attrNameLst>
                                          <p:attrName>ppt_x</p:attrName>
                                        </p:attrNameLst>
                                      </p:cBhvr>
                                      <p:tavLst>
                                        <p:tav tm="0">
                                          <p:val>
                                            <p:strVal val="1+#ppt_w/2"/>
                                          </p:val>
                                        </p:tav>
                                        <p:tav tm="100000">
                                          <p:val>
                                            <p:strVal val="#ppt_x"/>
                                          </p:val>
                                        </p:tav>
                                      </p:tavLst>
                                    </p:anim>
                                    <p:anim calcmode="lin" valueType="num">
                                      <p:cBhvr additive="base">
                                        <p:cTn id="37" dur="1000" fill="hold"/>
                                        <p:tgtEl>
                                          <p:spTgt spid="12"/>
                                        </p:tgtEl>
                                        <p:attrNameLst>
                                          <p:attrName>ppt_y</p:attrName>
                                        </p:attrNameLst>
                                      </p:cBhvr>
                                      <p:tavLst>
                                        <p:tav tm="0">
                                          <p:val>
                                            <p:strVal val="#ppt_y"/>
                                          </p:val>
                                        </p:tav>
                                        <p:tav tm="100000">
                                          <p:val>
                                            <p:strVal val="#ppt_y"/>
                                          </p:val>
                                        </p:tav>
                                      </p:tavLst>
                                    </p:anim>
                                  </p:childTnLst>
                                </p:cTn>
                              </p:par>
                            </p:childTnLst>
                          </p:cTn>
                        </p:par>
                        <p:par>
                          <p:cTn id="38" fill="hold">
                            <p:stCondLst>
                              <p:cond delay="1500"/>
                            </p:stCondLst>
                            <p:childTnLst>
                              <p:par>
                                <p:cTn id="39" presetID="9" presetClass="entr" presetSubtype="0" fill="hold" grpId="0" nodeType="afterEffect">
                                  <p:stCondLst>
                                    <p:cond delay="0"/>
                                  </p:stCondLst>
                                  <p:childTnLst>
                                    <p:set>
                                      <p:cBhvr>
                                        <p:cTn id="40" dur="1" fill="hold">
                                          <p:stCondLst>
                                            <p:cond delay="0"/>
                                          </p:stCondLst>
                                        </p:cTn>
                                        <p:tgtEl>
                                          <p:spTgt spid="13"/>
                                        </p:tgtEl>
                                        <p:attrNameLst>
                                          <p:attrName>style.visibility</p:attrName>
                                        </p:attrNameLst>
                                      </p:cBhvr>
                                      <p:to>
                                        <p:strVal val="visible"/>
                                      </p:to>
                                    </p:set>
                                    <p:animEffect transition="in" filter="dissolve">
                                      <p:cBhvr>
                                        <p:cTn id="41" dur="1000"/>
                                        <p:tgtEl>
                                          <p:spTgt spid="13"/>
                                        </p:tgtEl>
                                      </p:cBhvr>
                                    </p:animEffect>
                                  </p:childTnLst>
                                </p:cTn>
                              </p:par>
                            </p:childTnLst>
                          </p:cTn>
                        </p:par>
                      </p:childTnLst>
                    </p:cTn>
                  </p:par>
                  <p:par>
                    <p:cTn id="42" fill="hold">
                      <p:stCondLst>
                        <p:cond delay="indefinite"/>
                      </p:stCondLst>
                      <p:childTnLst>
                        <p:par>
                          <p:cTn id="43" fill="hold">
                            <p:stCondLst>
                              <p:cond delay="0"/>
                            </p:stCondLst>
                            <p:childTnLst>
                              <p:par>
                                <p:cTn id="44" presetID="2" presetClass="exit" presetSubtype="2" fill="hold" grpId="1" nodeType="clickEffect">
                                  <p:stCondLst>
                                    <p:cond delay="0"/>
                                  </p:stCondLst>
                                  <p:childTnLst>
                                    <p:anim calcmode="lin" valueType="num">
                                      <p:cBhvr additive="base">
                                        <p:cTn id="45" dur="500"/>
                                        <p:tgtEl>
                                          <p:spTgt spid="7"/>
                                        </p:tgtEl>
                                        <p:attrNameLst>
                                          <p:attrName>ppt_x</p:attrName>
                                        </p:attrNameLst>
                                      </p:cBhvr>
                                      <p:tavLst>
                                        <p:tav tm="0">
                                          <p:val>
                                            <p:strVal val="ppt_x"/>
                                          </p:val>
                                        </p:tav>
                                        <p:tav tm="100000">
                                          <p:val>
                                            <p:strVal val="1+ppt_w/2"/>
                                          </p:val>
                                        </p:tav>
                                      </p:tavLst>
                                    </p:anim>
                                    <p:anim calcmode="lin" valueType="num">
                                      <p:cBhvr additive="base">
                                        <p:cTn id="46" dur="500"/>
                                        <p:tgtEl>
                                          <p:spTgt spid="7"/>
                                        </p:tgtEl>
                                        <p:attrNameLst>
                                          <p:attrName>ppt_y</p:attrName>
                                        </p:attrNameLst>
                                      </p:cBhvr>
                                      <p:tavLst>
                                        <p:tav tm="0">
                                          <p:val>
                                            <p:strVal val="ppt_y"/>
                                          </p:val>
                                        </p:tav>
                                        <p:tav tm="100000">
                                          <p:val>
                                            <p:strVal val="ppt_y"/>
                                          </p:val>
                                        </p:tav>
                                      </p:tavLst>
                                    </p:anim>
                                    <p:set>
                                      <p:cBhvr>
                                        <p:cTn id="47" dur="1" fill="hold">
                                          <p:stCondLst>
                                            <p:cond delay="499"/>
                                          </p:stCondLst>
                                        </p:cTn>
                                        <p:tgtEl>
                                          <p:spTgt spid="7"/>
                                        </p:tgtEl>
                                        <p:attrNameLst>
                                          <p:attrName>style.visibility</p:attrName>
                                        </p:attrNameLst>
                                      </p:cBhvr>
                                      <p:to>
                                        <p:strVal val="hidden"/>
                                      </p:to>
                                    </p:set>
                                  </p:childTnLst>
                                </p:cTn>
                              </p:par>
                            </p:childTnLst>
                          </p:cTn>
                        </p:par>
                        <p:par>
                          <p:cTn id="48" fill="hold">
                            <p:stCondLst>
                              <p:cond delay="500"/>
                            </p:stCondLst>
                            <p:childTnLst>
                              <p:par>
                                <p:cTn id="49" presetID="2" presetClass="entr" presetSubtype="2" fill="hold" grpId="0" nodeType="afterEffect">
                                  <p:stCondLst>
                                    <p:cond delay="0"/>
                                  </p:stCondLst>
                                  <p:childTnLst>
                                    <p:set>
                                      <p:cBhvr>
                                        <p:cTn id="50" dur="1" fill="hold">
                                          <p:stCondLst>
                                            <p:cond delay="0"/>
                                          </p:stCondLst>
                                        </p:cTn>
                                        <p:tgtEl>
                                          <p:spTgt spid="14"/>
                                        </p:tgtEl>
                                        <p:attrNameLst>
                                          <p:attrName>style.visibility</p:attrName>
                                        </p:attrNameLst>
                                      </p:cBhvr>
                                      <p:to>
                                        <p:strVal val="visible"/>
                                      </p:to>
                                    </p:set>
                                    <p:anim calcmode="lin" valueType="num">
                                      <p:cBhvr additive="base">
                                        <p:cTn id="51" dur="1000" fill="hold"/>
                                        <p:tgtEl>
                                          <p:spTgt spid="14"/>
                                        </p:tgtEl>
                                        <p:attrNameLst>
                                          <p:attrName>ppt_x</p:attrName>
                                        </p:attrNameLst>
                                      </p:cBhvr>
                                      <p:tavLst>
                                        <p:tav tm="0">
                                          <p:val>
                                            <p:strVal val="1+#ppt_w/2"/>
                                          </p:val>
                                        </p:tav>
                                        <p:tav tm="100000">
                                          <p:val>
                                            <p:strVal val="#ppt_x"/>
                                          </p:val>
                                        </p:tav>
                                      </p:tavLst>
                                    </p:anim>
                                    <p:anim calcmode="lin" valueType="num">
                                      <p:cBhvr additive="base">
                                        <p:cTn id="52" dur="1000" fill="hold"/>
                                        <p:tgtEl>
                                          <p:spTgt spid="14"/>
                                        </p:tgtEl>
                                        <p:attrNameLst>
                                          <p:attrName>ppt_y</p:attrName>
                                        </p:attrNameLst>
                                      </p:cBhvr>
                                      <p:tavLst>
                                        <p:tav tm="0">
                                          <p:val>
                                            <p:strVal val="#ppt_y"/>
                                          </p:val>
                                        </p:tav>
                                        <p:tav tm="100000">
                                          <p:val>
                                            <p:strVal val="#ppt_y"/>
                                          </p:val>
                                        </p:tav>
                                      </p:tavLst>
                                    </p:anim>
                                  </p:childTnLst>
                                </p:cTn>
                              </p:par>
                            </p:childTnLst>
                          </p:cTn>
                        </p:par>
                        <p:par>
                          <p:cTn id="53" fill="hold">
                            <p:stCondLst>
                              <p:cond delay="1500"/>
                            </p:stCondLst>
                            <p:childTnLst>
                              <p:par>
                                <p:cTn id="54" presetID="9" presetClass="entr" presetSubtype="0" fill="hold" grpId="0" nodeType="afterEffect">
                                  <p:stCondLst>
                                    <p:cond delay="0"/>
                                  </p:stCondLst>
                                  <p:childTnLst>
                                    <p:set>
                                      <p:cBhvr>
                                        <p:cTn id="55" dur="1" fill="hold">
                                          <p:stCondLst>
                                            <p:cond delay="0"/>
                                          </p:stCondLst>
                                        </p:cTn>
                                        <p:tgtEl>
                                          <p:spTgt spid="15"/>
                                        </p:tgtEl>
                                        <p:attrNameLst>
                                          <p:attrName>style.visibility</p:attrName>
                                        </p:attrNameLst>
                                      </p:cBhvr>
                                      <p:to>
                                        <p:strVal val="visible"/>
                                      </p:to>
                                    </p:set>
                                    <p:animEffect transition="in" filter="dissolve">
                                      <p:cBhvr>
                                        <p:cTn id="56" dur="1000"/>
                                        <p:tgtEl>
                                          <p:spTgt spid="15"/>
                                        </p:tgtEl>
                                      </p:cBhvr>
                                    </p:animEffect>
                                  </p:childTnLst>
                                </p:cTn>
                              </p:par>
                            </p:childTnLst>
                          </p:cTn>
                        </p:par>
                        <p:par>
                          <p:cTn id="57" fill="hold">
                            <p:stCondLst>
                              <p:cond delay="2500"/>
                            </p:stCondLst>
                            <p:childTnLst>
                              <p:par>
                                <p:cTn id="58" presetID="9" presetClass="entr" presetSubtype="0" fill="hold" grpId="0" nodeType="afterEffect">
                                  <p:stCondLst>
                                    <p:cond delay="0"/>
                                  </p:stCondLst>
                                  <p:childTnLst>
                                    <p:set>
                                      <p:cBhvr>
                                        <p:cTn id="59" dur="1" fill="hold">
                                          <p:stCondLst>
                                            <p:cond delay="0"/>
                                          </p:stCondLst>
                                        </p:cTn>
                                        <p:tgtEl>
                                          <p:spTgt spid="22">
                                            <p:bg/>
                                          </p:spTgt>
                                        </p:tgtEl>
                                        <p:attrNameLst>
                                          <p:attrName>style.visibility</p:attrName>
                                        </p:attrNameLst>
                                      </p:cBhvr>
                                      <p:to>
                                        <p:strVal val="visible"/>
                                      </p:to>
                                    </p:set>
                                    <p:animEffect transition="in" filter="dissolve">
                                      <p:cBhvr>
                                        <p:cTn id="60" dur="500"/>
                                        <p:tgtEl>
                                          <p:spTgt spid="22">
                                            <p:bg/>
                                          </p:spTgt>
                                        </p:tgtEl>
                                      </p:cBhvr>
                                    </p:animEffect>
                                  </p:childTnLst>
                                </p:cTn>
                              </p:par>
                            </p:childTnLst>
                          </p:cTn>
                        </p:par>
                      </p:childTnLst>
                    </p:cTn>
                  </p:par>
                  <p:par>
                    <p:cTn id="61" fill="hold">
                      <p:stCondLst>
                        <p:cond delay="indefinite"/>
                      </p:stCondLst>
                      <p:childTnLst>
                        <p:par>
                          <p:cTn id="62" fill="hold">
                            <p:stCondLst>
                              <p:cond delay="0"/>
                            </p:stCondLst>
                            <p:childTnLst>
                              <p:par>
                                <p:cTn id="63" presetID="9" presetClass="entr" presetSubtype="0" fill="hold" grpId="0" nodeType="clickEffect">
                                  <p:stCondLst>
                                    <p:cond delay="0"/>
                                  </p:stCondLst>
                                  <p:childTnLst>
                                    <p:set>
                                      <p:cBhvr>
                                        <p:cTn id="64" dur="1" fill="hold">
                                          <p:stCondLst>
                                            <p:cond delay="0"/>
                                          </p:stCondLst>
                                        </p:cTn>
                                        <p:tgtEl>
                                          <p:spTgt spid="22">
                                            <p:txEl>
                                              <p:pRg st="0" end="0"/>
                                            </p:txEl>
                                          </p:spTgt>
                                        </p:tgtEl>
                                        <p:attrNameLst>
                                          <p:attrName>style.visibility</p:attrName>
                                        </p:attrNameLst>
                                      </p:cBhvr>
                                      <p:to>
                                        <p:strVal val="visible"/>
                                      </p:to>
                                    </p:set>
                                    <p:animEffect transition="in" filter="dissolve">
                                      <p:cBhvr>
                                        <p:cTn id="65" dur="500"/>
                                        <p:tgtEl>
                                          <p:spTgt spid="22">
                                            <p:txEl>
                                              <p:pRg st="0" end="0"/>
                                            </p:txEl>
                                          </p:spTgt>
                                        </p:tgtEl>
                                      </p:cBhvr>
                                    </p:animEffect>
                                  </p:childTnLst>
                                </p:cTn>
                              </p:par>
                            </p:childTnLst>
                          </p:cTn>
                        </p:par>
                      </p:childTnLst>
                    </p:cTn>
                  </p:par>
                  <p:par>
                    <p:cTn id="66" fill="hold">
                      <p:stCondLst>
                        <p:cond delay="indefinite"/>
                      </p:stCondLst>
                      <p:childTnLst>
                        <p:par>
                          <p:cTn id="67" fill="hold">
                            <p:stCondLst>
                              <p:cond delay="0"/>
                            </p:stCondLst>
                            <p:childTnLst>
                              <p:par>
                                <p:cTn id="68" presetID="9" presetClass="entr" presetSubtype="0" fill="hold" grpId="0" nodeType="clickEffect">
                                  <p:stCondLst>
                                    <p:cond delay="0"/>
                                  </p:stCondLst>
                                  <p:childTnLst>
                                    <p:set>
                                      <p:cBhvr>
                                        <p:cTn id="69" dur="1" fill="hold">
                                          <p:stCondLst>
                                            <p:cond delay="0"/>
                                          </p:stCondLst>
                                        </p:cTn>
                                        <p:tgtEl>
                                          <p:spTgt spid="22">
                                            <p:txEl>
                                              <p:pRg st="1" end="1"/>
                                            </p:txEl>
                                          </p:spTgt>
                                        </p:tgtEl>
                                        <p:attrNameLst>
                                          <p:attrName>style.visibility</p:attrName>
                                        </p:attrNameLst>
                                      </p:cBhvr>
                                      <p:to>
                                        <p:strVal val="visible"/>
                                      </p:to>
                                    </p:set>
                                    <p:animEffect transition="in" filter="dissolve">
                                      <p:cBhvr>
                                        <p:cTn id="70" dur="500"/>
                                        <p:tgtEl>
                                          <p:spTgt spid="22">
                                            <p:txEl>
                                              <p:pRg st="1" end="1"/>
                                            </p:txEl>
                                          </p:spTgt>
                                        </p:tgtEl>
                                      </p:cBhvr>
                                    </p:animEffect>
                                  </p:childTnLst>
                                </p:cTn>
                              </p:par>
                            </p:childTnLst>
                          </p:cTn>
                        </p:par>
                      </p:childTnLst>
                    </p:cTn>
                  </p:par>
                  <p:par>
                    <p:cTn id="71" fill="hold">
                      <p:stCondLst>
                        <p:cond delay="indefinite"/>
                      </p:stCondLst>
                      <p:childTnLst>
                        <p:par>
                          <p:cTn id="72" fill="hold">
                            <p:stCondLst>
                              <p:cond delay="0"/>
                            </p:stCondLst>
                            <p:childTnLst>
                              <p:par>
                                <p:cTn id="73" presetID="9" presetClass="entr" presetSubtype="0" fill="hold" grpId="0" nodeType="clickEffect">
                                  <p:stCondLst>
                                    <p:cond delay="0"/>
                                  </p:stCondLst>
                                  <p:childTnLst>
                                    <p:set>
                                      <p:cBhvr>
                                        <p:cTn id="74" dur="1" fill="hold">
                                          <p:stCondLst>
                                            <p:cond delay="0"/>
                                          </p:stCondLst>
                                        </p:cTn>
                                        <p:tgtEl>
                                          <p:spTgt spid="22">
                                            <p:txEl>
                                              <p:pRg st="2" end="2"/>
                                            </p:txEl>
                                          </p:spTgt>
                                        </p:tgtEl>
                                        <p:attrNameLst>
                                          <p:attrName>style.visibility</p:attrName>
                                        </p:attrNameLst>
                                      </p:cBhvr>
                                      <p:to>
                                        <p:strVal val="visible"/>
                                      </p:to>
                                    </p:set>
                                    <p:animEffect transition="in" filter="dissolve">
                                      <p:cBhvr>
                                        <p:cTn id="75" dur="500"/>
                                        <p:tgtEl>
                                          <p:spTgt spid="22">
                                            <p:txEl>
                                              <p:pRg st="2" end="2"/>
                                            </p:txEl>
                                          </p:spTgt>
                                        </p:tgtEl>
                                      </p:cBhvr>
                                    </p:animEffect>
                                  </p:childTnLst>
                                </p:cTn>
                              </p:par>
                              <p:par>
                                <p:cTn id="76" presetID="9" presetClass="entr" presetSubtype="0" fill="hold" grpId="0" nodeType="withEffect">
                                  <p:stCondLst>
                                    <p:cond delay="0"/>
                                  </p:stCondLst>
                                  <p:childTnLst>
                                    <p:set>
                                      <p:cBhvr>
                                        <p:cTn id="77" dur="1" fill="hold">
                                          <p:stCondLst>
                                            <p:cond delay="0"/>
                                          </p:stCondLst>
                                        </p:cTn>
                                        <p:tgtEl>
                                          <p:spTgt spid="22">
                                            <p:txEl>
                                              <p:pRg st="3" end="3"/>
                                            </p:txEl>
                                          </p:spTgt>
                                        </p:tgtEl>
                                        <p:attrNameLst>
                                          <p:attrName>style.visibility</p:attrName>
                                        </p:attrNameLst>
                                      </p:cBhvr>
                                      <p:to>
                                        <p:strVal val="visible"/>
                                      </p:to>
                                    </p:set>
                                    <p:animEffect transition="in" filter="dissolve">
                                      <p:cBhvr>
                                        <p:cTn id="78" dur="500"/>
                                        <p:tgtEl>
                                          <p:spTgt spid="22">
                                            <p:txEl>
                                              <p:pRg st="3" end="3"/>
                                            </p:txEl>
                                          </p:spTgt>
                                        </p:tgtEl>
                                      </p:cBhvr>
                                    </p:animEffect>
                                  </p:childTnLst>
                                </p:cTn>
                              </p:par>
                            </p:childTnLst>
                          </p:cTn>
                        </p:par>
                      </p:childTnLst>
                    </p:cTn>
                  </p:par>
                  <p:par>
                    <p:cTn id="79" fill="hold">
                      <p:stCondLst>
                        <p:cond delay="indefinite"/>
                      </p:stCondLst>
                      <p:childTnLst>
                        <p:par>
                          <p:cTn id="80" fill="hold">
                            <p:stCondLst>
                              <p:cond delay="0"/>
                            </p:stCondLst>
                            <p:childTnLst>
                              <p:par>
                                <p:cTn id="81" presetID="9" presetClass="entr" presetSubtype="0" fill="hold" grpId="0" nodeType="clickEffect">
                                  <p:stCondLst>
                                    <p:cond delay="0"/>
                                  </p:stCondLst>
                                  <p:childTnLst>
                                    <p:set>
                                      <p:cBhvr>
                                        <p:cTn id="82" dur="1" fill="hold">
                                          <p:stCondLst>
                                            <p:cond delay="0"/>
                                          </p:stCondLst>
                                        </p:cTn>
                                        <p:tgtEl>
                                          <p:spTgt spid="22">
                                            <p:txEl>
                                              <p:pRg st="4" end="4"/>
                                            </p:txEl>
                                          </p:spTgt>
                                        </p:tgtEl>
                                        <p:attrNameLst>
                                          <p:attrName>style.visibility</p:attrName>
                                        </p:attrNameLst>
                                      </p:cBhvr>
                                      <p:to>
                                        <p:strVal val="visible"/>
                                      </p:to>
                                    </p:set>
                                    <p:animEffect transition="in" filter="dissolve">
                                      <p:cBhvr>
                                        <p:cTn id="83" dur="500"/>
                                        <p:tgtEl>
                                          <p:spTgt spid="22">
                                            <p:txEl>
                                              <p:pRg st="4" end="4"/>
                                            </p:txEl>
                                          </p:spTgt>
                                        </p:tgtEl>
                                      </p:cBhvr>
                                    </p:animEffect>
                                  </p:childTnLst>
                                </p:cTn>
                              </p:par>
                            </p:childTnLst>
                          </p:cTn>
                        </p:par>
                      </p:childTnLst>
                    </p:cTn>
                  </p:par>
                  <p:par>
                    <p:cTn id="84" fill="hold">
                      <p:stCondLst>
                        <p:cond delay="indefinite"/>
                      </p:stCondLst>
                      <p:childTnLst>
                        <p:par>
                          <p:cTn id="85" fill="hold">
                            <p:stCondLst>
                              <p:cond delay="0"/>
                            </p:stCondLst>
                            <p:childTnLst>
                              <p:par>
                                <p:cTn id="86" presetID="9" presetClass="entr" presetSubtype="0" fill="hold" grpId="0" nodeType="clickEffect">
                                  <p:stCondLst>
                                    <p:cond delay="0"/>
                                  </p:stCondLst>
                                  <p:childTnLst>
                                    <p:set>
                                      <p:cBhvr>
                                        <p:cTn id="87" dur="1" fill="hold">
                                          <p:stCondLst>
                                            <p:cond delay="0"/>
                                          </p:stCondLst>
                                        </p:cTn>
                                        <p:tgtEl>
                                          <p:spTgt spid="22">
                                            <p:txEl>
                                              <p:pRg st="5" end="5"/>
                                            </p:txEl>
                                          </p:spTgt>
                                        </p:tgtEl>
                                        <p:attrNameLst>
                                          <p:attrName>style.visibility</p:attrName>
                                        </p:attrNameLst>
                                      </p:cBhvr>
                                      <p:to>
                                        <p:strVal val="visible"/>
                                      </p:to>
                                    </p:set>
                                    <p:animEffect transition="in" filter="dissolve">
                                      <p:cBhvr>
                                        <p:cTn id="88" dur="500"/>
                                        <p:tgtEl>
                                          <p:spTgt spid="22">
                                            <p:txEl>
                                              <p:pRg st="5" end="5"/>
                                            </p:txEl>
                                          </p:spTgt>
                                        </p:tgtEl>
                                      </p:cBhvr>
                                    </p:animEffect>
                                  </p:childTnLst>
                                </p:cTn>
                              </p:par>
                            </p:childTnLst>
                          </p:cTn>
                        </p:par>
                      </p:childTnLst>
                    </p:cTn>
                  </p:par>
                  <p:par>
                    <p:cTn id="89" fill="hold">
                      <p:stCondLst>
                        <p:cond delay="indefinite"/>
                      </p:stCondLst>
                      <p:childTnLst>
                        <p:par>
                          <p:cTn id="90" fill="hold">
                            <p:stCondLst>
                              <p:cond delay="0"/>
                            </p:stCondLst>
                            <p:childTnLst>
                              <p:par>
                                <p:cTn id="91" presetID="9" presetClass="entr" presetSubtype="0" fill="hold" grpId="0" nodeType="clickEffect">
                                  <p:stCondLst>
                                    <p:cond delay="0"/>
                                  </p:stCondLst>
                                  <p:childTnLst>
                                    <p:set>
                                      <p:cBhvr>
                                        <p:cTn id="92" dur="1" fill="hold">
                                          <p:stCondLst>
                                            <p:cond delay="0"/>
                                          </p:stCondLst>
                                        </p:cTn>
                                        <p:tgtEl>
                                          <p:spTgt spid="22">
                                            <p:txEl>
                                              <p:pRg st="6" end="6"/>
                                            </p:txEl>
                                          </p:spTgt>
                                        </p:tgtEl>
                                        <p:attrNameLst>
                                          <p:attrName>style.visibility</p:attrName>
                                        </p:attrNameLst>
                                      </p:cBhvr>
                                      <p:to>
                                        <p:strVal val="visible"/>
                                      </p:to>
                                    </p:set>
                                    <p:animEffect transition="in" filter="dissolve">
                                      <p:cBhvr>
                                        <p:cTn id="93" dur="500"/>
                                        <p:tgtEl>
                                          <p:spTgt spid="22">
                                            <p:txEl>
                                              <p:pRg st="6" end="6"/>
                                            </p:txEl>
                                          </p:spTgt>
                                        </p:tgtEl>
                                      </p:cBhvr>
                                    </p:animEffect>
                                  </p:childTnLst>
                                </p:cTn>
                              </p:par>
                              <p:par>
                                <p:cTn id="94" presetID="9" presetClass="entr" presetSubtype="0" fill="hold" grpId="0" nodeType="withEffect">
                                  <p:stCondLst>
                                    <p:cond delay="0"/>
                                  </p:stCondLst>
                                  <p:childTnLst>
                                    <p:set>
                                      <p:cBhvr>
                                        <p:cTn id="95" dur="1" fill="hold">
                                          <p:stCondLst>
                                            <p:cond delay="0"/>
                                          </p:stCondLst>
                                        </p:cTn>
                                        <p:tgtEl>
                                          <p:spTgt spid="22">
                                            <p:txEl>
                                              <p:pRg st="7" end="7"/>
                                            </p:txEl>
                                          </p:spTgt>
                                        </p:tgtEl>
                                        <p:attrNameLst>
                                          <p:attrName>style.visibility</p:attrName>
                                        </p:attrNameLst>
                                      </p:cBhvr>
                                      <p:to>
                                        <p:strVal val="visible"/>
                                      </p:to>
                                    </p:set>
                                    <p:animEffect transition="in" filter="dissolve">
                                      <p:cBhvr>
                                        <p:cTn id="96" dur="500"/>
                                        <p:tgtEl>
                                          <p:spTgt spid="22">
                                            <p:txEl>
                                              <p:pRg st="7" end="7"/>
                                            </p:txEl>
                                          </p:spTgt>
                                        </p:tgtEl>
                                      </p:cBhvr>
                                    </p:animEffect>
                                  </p:childTnLst>
                                </p:cTn>
                              </p:par>
                              <p:par>
                                <p:cTn id="97" presetID="9" presetClass="entr" presetSubtype="0" fill="hold" grpId="0" nodeType="withEffect">
                                  <p:stCondLst>
                                    <p:cond delay="0"/>
                                  </p:stCondLst>
                                  <p:childTnLst>
                                    <p:set>
                                      <p:cBhvr>
                                        <p:cTn id="98" dur="1" fill="hold">
                                          <p:stCondLst>
                                            <p:cond delay="0"/>
                                          </p:stCondLst>
                                        </p:cTn>
                                        <p:tgtEl>
                                          <p:spTgt spid="22">
                                            <p:txEl>
                                              <p:pRg st="8" end="8"/>
                                            </p:txEl>
                                          </p:spTgt>
                                        </p:tgtEl>
                                        <p:attrNameLst>
                                          <p:attrName>style.visibility</p:attrName>
                                        </p:attrNameLst>
                                      </p:cBhvr>
                                      <p:to>
                                        <p:strVal val="visible"/>
                                      </p:to>
                                    </p:set>
                                    <p:animEffect transition="in" filter="dissolve">
                                      <p:cBhvr>
                                        <p:cTn id="99" dur="500"/>
                                        <p:tgtEl>
                                          <p:spTgt spid="22">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build="p" animBg="1"/>
      <p:bldP spid="7" grpId="0" animBg="1"/>
      <p:bldP spid="7" grpId="1" animBg="1"/>
      <p:bldP spid="8" grpId="0" animBg="1"/>
      <p:bldP spid="8" grpId="1" animBg="1"/>
      <p:bldP spid="9" grpId="0" animBg="1"/>
      <p:bldP spid="10" grpId="0"/>
      <p:bldP spid="11" grpId="0"/>
      <p:bldP spid="12" grpId="0" animBg="1"/>
      <p:bldP spid="13" grpId="0"/>
      <p:bldP spid="14" grpId="0" animBg="1"/>
      <p:bldP spid="15"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152400" y="609600"/>
            <a:ext cx="8915400" cy="5943600"/>
          </a:xfrm>
        </p:spPr>
        <p:style>
          <a:lnRef idx="2">
            <a:schemeClr val="accent1"/>
          </a:lnRef>
          <a:fillRef idx="1">
            <a:schemeClr val="lt1"/>
          </a:fillRef>
          <a:effectRef idx="0">
            <a:schemeClr val="accent1"/>
          </a:effectRef>
          <a:fontRef idx="minor">
            <a:schemeClr val="dk1"/>
          </a:fontRef>
        </p:style>
        <p:txBody>
          <a:bodyPr>
            <a:normAutofit lnSpcReduction="10000"/>
          </a:bodyPr>
          <a:lstStyle/>
          <a:p>
            <a:r>
              <a:rPr lang="en-US" sz="2000" dirty="0">
                <a:latin typeface="Calibri" pitchFamily="34" charset="0"/>
              </a:rPr>
              <a:t>When it is time to load or swap a process into main memory, and if there is more than one free block of memory of sufficient size, then the operating system must decide which free block to allocate.</a:t>
            </a:r>
          </a:p>
          <a:p>
            <a:endParaRPr lang="en-US" sz="2000" dirty="0">
              <a:latin typeface="Calibri" pitchFamily="34" charset="0"/>
            </a:endParaRPr>
          </a:p>
          <a:p>
            <a:r>
              <a:rPr lang="en-US" sz="2000" dirty="0">
                <a:latin typeface="Calibri" pitchFamily="34" charset="0"/>
              </a:rPr>
              <a:t>Three placement algorithms that might be considered are best-fit, first-fit, and</a:t>
            </a:r>
          </a:p>
          <a:p>
            <a:pPr>
              <a:buNone/>
            </a:pPr>
            <a:r>
              <a:rPr lang="en-US" sz="2000" dirty="0">
                <a:latin typeface="Calibri" pitchFamily="34" charset="0"/>
              </a:rPr>
              <a:t>       next-fit.</a:t>
            </a:r>
          </a:p>
          <a:p>
            <a:r>
              <a:rPr lang="en-US" sz="2000" b="1" dirty="0">
                <a:latin typeface="Calibri" pitchFamily="34" charset="0"/>
              </a:rPr>
              <a:t>Best-fit algorithm</a:t>
            </a:r>
          </a:p>
          <a:p>
            <a:pPr lvl="1"/>
            <a:r>
              <a:rPr lang="en-US" sz="2000" dirty="0">
                <a:latin typeface="Calibri" pitchFamily="34" charset="0"/>
              </a:rPr>
              <a:t>Chooses the block that is closest in size to the request</a:t>
            </a:r>
          </a:p>
          <a:p>
            <a:pPr lvl="1"/>
            <a:r>
              <a:rPr lang="en-US" sz="2000" dirty="0">
                <a:latin typeface="Calibri" pitchFamily="34" charset="0"/>
              </a:rPr>
              <a:t>Worst performer overall</a:t>
            </a:r>
          </a:p>
          <a:p>
            <a:pPr lvl="1"/>
            <a:r>
              <a:rPr lang="en-US" sz="2000" dirty="0">
                <a:latin typeface="Calibri" pitchFamily="34" charset="0"/>
              </a:rPr>
              <a:t>Since smallest block is found for process, the smallest amount of fragmentation is left</a:t>
            </a:r>
          </a:p>
          <a:p>
            <a:pPr lvl="1"/>
            <a:r>
              <a:rPr lang="en-US" sz="2000" dirty="0">
                <a:latin typeface="Calibri" pitchFamily="34" charset="0"/>
              </a:rPr>
              <a:t>Memory compaction must be done more often</a:t>
            </a:r>
          </a:p>
          <a:p>
            <a:r>
              <a:rPr lang="en-US" sz="2000" b="1" dirty="0">
                <a:latin typeface="Calibri" pitchFamily="34" charset="0"/>
              </a:rPr>
              <a:t>First-fit algorithm</a:t>
            </a:r>
          </a:p>
          <a:p>
            <a:pPr lvl="1"/>
            <a:r>
              <a:rPr lang="en-US" sz="2000" dirty="0">
                <a:latin typeface="Calibri" pitchFamily="34" charset="0"/>
              </a:rPr>
              <a:t>Scans memory form the beginning and chooses the first available block that is large enough</a:t>
            </a:r>
          </a:p>
          <a:p>
            <a:pPr lvl="1"/>
            <a:r>
              <a:rPr lang="en-US" sz="2000" dirty="0">
                <a:latin typeface="Calibri" pitchFamily="34" charset="0"/>
              </a:rPr>
              <a:t>Fastest</a:t>
            </a:r>
          </a:p>
          <a:p>
            <a:pPr lvl="1"/>
            <a:r>
              <a:rPr lang="en-US" sz="2000" dirty="0">
                <a:latin typeface="Calibri" pitchFamily="34" charset="0"/>
              </a:rPr>
              <a:t>May have many process loaded in the front end of memory that must be searched over when trying to find a free block</a:t>
            </a:r>
          </a:p>
          <a:p>
            <a:pPr>
              <a:buNone/>
            </a:pPr>
            <a:endParaRPr lang="en-US" sz="2000" dirty="0">
              <a:latin typeface="Calibri" pitchFamily="34" charset="0"/>
            </a:endParaRPr>
          </a:p>
        </p:txBody>
      </p:sp>
      <p:sp>
        <p:nvSpPr>
          <p:cNvPr id="4" name="Title 1"/>
          <p:cNvSpPr txBox="1">
            <a:spLocks/>
          </p:cNvSpPr>
          <p:nvPr/>
        </p:nvSpPr>
        <p:spPr bwMode="auto">
          <a:xfrm>
            <a:off x="914400" y="0"/>
            <a:ext cx="7239000" cy="487362"/>
          </a:xfrm>
          <a:prstGeom prst="rect">
            <a:avLst/>
          </a:prstGeom>
          <a:solidFill>
            <a:schemeClr val="accent3">
              <a:lumMod val="60000"/>
              <a:lumOff val="40000"/>
            </a:schemeClr>
          </a:solidFill>
          <a:ln>
            <a:headEnd/>
            <a:tailEnd/>
          </a:ln>
        </p:spPr>
        <p:style>
          <a:lnRef idx="3">
            <a:schemeClr val="lt1"/>
          </a:lnRef>
          <a:fillRef idx="1">
            <a:schemeClr val="accent1"/>
          </a:fillRef>
          <a:effectRef idx="1">
            <a:schemeClr val="accent1"/>
          </a:effectRef>
          <a:fontRef idx="minor">
            <a:schemeClr val="lt1"/>
          </a:fontRef>
        </p:style>
        <p:txBody>
          <a:bodyPr vert="horz" wrap="square" lIns="91440" tIns="45720" rIns="91440" bIns="45720" numCol="1"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NZ" b="1" i="0" u="none" strike="noStrike" kern="1200" cap="none" spc="0" normalizeH="0" baseline="0" noProof="0" dirty="0">
                <a:ln>
                  <a:noFill/>
                </a:ln>
                <a:solidFill>
                  <a:schemeClr val="bg1"/>
                </a:solidFill>
                <a:effectLst>
                  <a:outerShdw blurRad="38100" dist="38100" dir="2700000" algn="tl">
                    <a:srgbClr val="000000">
                      <a:alpha val="43137"/>
                    </a:srgbClr>
                  </a:outerShdw>
                </a:effectLst>
                <a:uLnTx/>
                <a:uFillTx/>
                <a:latin typeface="Calibri" pitchFamily="34" charset="0"/>
                <a:ea typeface="+mn-ea"/>
                <a:cs typeface="+mn-cs"/>
              </a:rPr>
              <a:t>Placement Algorithm for Dynamic Partitioning</a:t>
            </a:r>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152400" y="533400"/>
            <a:ext cx="8763000" cy="2514600"/>
          </a:xfrm>
        </p:spPr>
        <p:style>
          <a:lnRef idx="2">
            <a:schemeClr val="accent1"/>
          </a:lnRef>
          <a:fillRef idx="1">
            <a:schemeClr val="lt1"/>
          </a:fillRef>
          <a:effectRef idx="0">
            <a:schemeClr val="accent1"/>
          </a:effectRef>
          <a:fontRef idx="minor">
            <a:schemeClr val="dk1"/>
          </a:fontRef>
        </p:style>
        <p:txBody>
          <a:bodyPr/>
          <a:lstStyle/>
          <a:p>
            <a:r>
              <a:rPr lang="en-US" sz="2000" b="1" dirty="0">
                <a:latin typeface="Calibri" pitchFamily="34" charset="0"/>
              </a:rPr>
              <a:t>Next-fit</a:t>
            </a:r>
          </a:p>
          <a:p>
            <a:pPr lvl="1"/>
            <a:r>
              <a:rPr lang="en-US" sz="2000" dirty="0">
                <a:latin typeface="Calibri" pitchFamily="34" charset="0"/>
              </a:rPr>
              <a:t>Scans memory from the location of the last placement</a:t>
            </a:r>
          </a:p>
          <a:p>
            <a:pPr lvl="1"/>
            <a:r>
              <a:rPr lang="en-US" sz="2000" dirty="0">
                <a:latin typeface="Calibri" pitchFamily="34" charset="0"/>
              </a:rPr>
              <a:t>More often allocate a block of memory at the end of memory where the largest block is found</a:t>
            </a:r>
          </a:p>
          <a:p>
            <a:pPr lvl="1"/>
            <a:r>
              <a:rPr lang="en-US" sz="2000" dirty="0">
                <a:latin typeface="Calibri" pitchFamily="34" charset="0"/>
              </a:rPr>
              <a:t>The largest block of memory is broken up into smaller blocks</a:t>
            </a:r>
          </a:p>
          <a:p>
            <a:pPr lvl="1"/>
            <a:r>
              <a:rPr lang="en-US" sz="2000" dirty="0">
                <a:latin typeface="Calibri" pitchFamily="34" charset="0"/>
              </a:rPr>
              <a:t>Compaction is required to obtain a large block at the end of memory</a:t>
            </a:r>
          </a:p>
          <a:p>
            <a:endParaRPr lang="en-US" sz="2000" dirty="0">
              <a:latin typeface="Calibri" pitchFamily="34" charset="0"/>
            </a:endParaRPr>
          </a:p>
        </p:txBody>
      </p:sp>
      <p:sp>
        <p:nvSpPr>
          <p:cNvPr id="4" name="Title 1"/>
          <p:cNvSpPr txBox="1">
            <a:spLocks/>
          </p:cNvSpPr>
          <p:nvPr/>
        </p:nvSpPr>
        <p:spPr bwMode="auto">
          <a:xfrm>
            <a:off x="1371600" y="0"/>
            <a:ext cx="6858000" cy="381000"/>
          </a:xfrm>
          <a:prstGeom prst="rect">
            <a:avLst/>
          </a:prstGeom>
          <a:solidFill>
            <a:schemeClr val="accent3">
              <a:lumMod val="60000"/>
              <a:lumOff val="40000"/>
            </a:schemeClr>
          </a:solidFill>
          <a:ln>
            <a:headEnd/>
            <a:tailEnd/>
          </a:ln>
        </p:spPr>
        <p:style>
          <a:lnRef idx="3">
            <a:schemeClr val="lt1"/>
          </a:lnRef>
          <a:fillRef idx="1">
            <a:schemeClr val="accent1"/>
          </a:fillRef>
          <a:effectRef idx="1">
            <a:schemeClr val="accent1"/>
          </a:effectRef>
          <a:fontRef idx="minor">
            <a:schemeClr val="lt1"/>
          </a:fontRef>
        </p:style>
        <p:txBody>
          <a:bodyPr vert="horz" wrap="square" lIns="91440" tIns="45720" rIns="91440" bIns="45720" numCol="1"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NZ" sz="2600" b="1" i="0" u="none" strike="noStrike" kern="1200" cap="none" spc="0" normalizeH="0" baseline="0" noProof="0">
                <a:ln>
                  <a:noFill/>
                </a:ln>
                <a:solidFill>
                  <a:schemeClr val="bg1"/>
                </a:solidFill>
                <a:effectLst>
                  <a:outerShdw blurRad="38100" dist="38100" dir="2700000" algn="tl">
                    <a:srgbClr val="000000">
                      <a:alpha val="43137"/>
                    </a:srgbClr>
                  </a:outerShdw>
                </a:effectLst>
                <a:uLnTx/>
                <a:uFillTx/>
                <a:latin typeface="Calibri" pitchFamily="34" charset="0"/>
                <a:ea typeface="+mn-ea"/>
                <a:cs typeface="+mn-cs"/>
              </a:rPr>
              <a:t>Placement Algorithm</a:t>
            </a:r>
            <a:endParaRPr kumimoji="0" lang="en-NZ" sz="2600" b="1" i="0" u="none" strike="noStrike" kern="1200" cap="none" spc="0" normalizeH="0" baseline="0" noProof="0" dirty="0">
              <a:ln>
                <a:noFill/>
              </a:ln>
              <a:solidFill>
                <a:schemeClr val="bg1"/>
              </a:solidFill>
              <a:effectLst>
                <a:outerShdw blurRad="38100" dist="38100" dir="2700000" algn="tl">
                  <a:srgbClr val="000000">
                    <a:alpha val="43137"/>
                  </a:srgbClr>
                </a:outerShdw>
              </a:effectLst>
              <a:uLnTx/>
              <a:uFillTx/>
              <a:latin typeface="Calibri" pitchFamily="34" charset="0"/>
              <a:ea typeface="+mn-ea"/>
              <a:cs typeface="+mn-cs"/>
            </a:endParaRPr>
          </a:p>
        </p:txBody>
      </p:sp>
      <p:sp>
        <p:nvSpPr>
          <p:cNvPr id="5" name="Title 1"/>
          <p:cNvSpPr txBox="1">
            <a:spLocks/>
          </p:cNvSpPr>
          <p:nvPr/>
        </p:nvSpPr>
        <p:spPr bwMode="auto">
          <a:xfrm>
            <a:off x="152400" y="3170238"/>
            <a:ext cx="6934200" cy="334962"/>
          </a:xfrm>
          <a:prstGeom prst="rect">
            <a:avLst/>
          </a:prstGeom>
          <a:solidFill>
            <a:schemeClr val="accent3">
              <a:lumMod val="60000"/>
              <a:lumOff val="40000"/>
            </a:schemeClr>
          </a:solidFill>
          <a:ln>
            <a:headEnd/>
            <a:tailEnd/>
          </a:ln>
        </p:spPr>
        <p:style>
          <a:lnRef idx="2">
            <a:schemeClr val="accent1">
              <a:shade val="50000"/>
            </a:schemeClr>
          </a:lnRef>
          <a:fillRef idx="1">
            <a:schemeClr val="accent1"/>
          </a:fillRef>
          <a:effectRef idx="0">
            <a:schemeClr val="accent1"/>
          </a:effectRef>
          <a:fontRef idx="minor">
            <a:schemeClr val="lt1"/>
          </a:fontRef>
        </p:style>
        <p:txBody>
          <a:bodyPr vert="horz" wrap="square" lIns="91440" tIns="45720" rIns="91440" bIns="45720" numCol="1"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2600" b="1" i="0" u="none" strike="noStrike" kern="1200" cap="none" spc="0" normalizeH="0" baseline="0" noProof="0" dirty="0">
                <a:ln>
                  <a:noFill/>
                </a:ln>
                <a:solidFill>
                  <a:schemeClr val="bg1"/>
                </a:solidFill>
                <a:effectLst>
                  <a:outerShdw blurRad="38100" dist="38100" dir="2700000" algn="tl">
                    <a:srgbClr val="000000">
                      <a:alpha val="43137"/>
                    </a:srgbClr>
                  </a:outerShdw>
                </a:effectLst>
                <a:uLnTx/>
                <a:uFillTx/>
                <a:latin typeface="Calibri" pitchFamily="34" charset="0"/>
                <a:ea typeface="+mn-ea"/>
                <a:cs typeface="+mn-cs"/>
              </a:rPr>
              <a:t>Allocation</a:t>
            </a:r>
          </a:p>
        </p:txBody>
      </p:sp>
      <p:sp>
        <p:nvSpPr>
          <p:cNvPr id="6" name="Rectangle 5"/>
          <p:cNvSpPr/>
          <p:nvPr/>
        </p:nvSpPr>
        <p:spPr>
          <a:xfrm>
            <a:off x="381000" y="3733800"/>
            <a:ext cx="4953000" cy="2252924"/>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r>
              <a:rPr lang="en-NZ" sz="2600" dirty="0">
                <a:latin typeface="Calibri" pitchFamily="34" charset="0"/>
              </a:rPr>
              <a:t>Slide shows Fig 7.5 - an example memory configuration  </a:t>
            </a:r>
          </a:p>
          <a:p>
            <a:pPr>
              <a:buNone/>
            </a:pPr>
            <a:r>
              <a:rPr lang="en-NZ" sz="2600" dirty="0">
                <a:latin typeface="Calibri" pitchFamily="34" charset="0"/>
              </a:rPr>
              <a:t>  after a number of placement and swapping-out   </a:t>
            </a:r>
          </a:p>
          <a:p>
            <a:pPr>
              <a:buNone/>
            </a:pPr>
            <a:r>
              <a:rPr lang="en-NZ" sz="2600" dirty="0">
                <a:latin typeface="Calibri" pitchFamily="34" charset="0"/>
              </a:rPr>
              <a:t>  operations. </a:t>
            </a:r>
          </a:p>
        </p:txBody>
      </p:sp>
      <p:pic>
        <p:nvPicPr>
          <p:cNvPr id="8194" name="Picture 2" descr="E:\gp image\question_mark_serious_thinker_sm_wm.gif"/>
          <p:cNvPicPr>
            <a:picLocks noChangeAspect="1" noChangeArrowheads="1" noCrop="1"/>
          </p:cNvPicPr>
          <p:nvPr/>
        </p:nvPicPr>
        <p:blipFill>
          <a:blip r:embed="rId2"/>
          <a:srcRect/>
          <a:stretch>
            <a:fillRect/>
          </a:stretch>
        </p:blipFill>
        <p:spPr bwMode="auto">
          <a:xfrm>
            <a:off x="6553200" y="4114800"/>
            <a:ext cx="2133600" cy="2133600"/>
          </a:xfrm>
          <a:prstGeom prst="rect">
            <a:avLst/>
          </a:prstGeom>
          <a:noFill/>
        </p:spPr>
      </p:pic>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Title 1"/>
          <p:cNvSpPr>
            <a:spLocks noGrp="1"/>
          </p:cNvSpPr>
          <p:nvPr>
            <p:ph type="title"/>
          </p:nvPr>
        </p:nvSpPr>
        <p:spPr>
          <a:xfrm>
            <a:off x="457200" y="0"/>
            <a:ext cx="6934200" cy="411162"/>
          </a:xfrm>
          <a:solidFill>
            <a:schemeClr val="accent3">
              <a:lumMod val="60000"/>
              <a:lumOff val="40000"/>
            </a:schemeClr>
          </a:solidFill>
        </p:spPr>
        <p:style>
          <a:lnRef idx="3">
            <a:schemeClr val="lt1"/>
          </a:lnRef>
          <a:fillRef idx="1">
            <a:schemeClr val="accent1"/>
          </a:fillRef>
          <a:effectRef idx="1">
            <a:schemeClr val="accent1"/>
          </a:effectRef>
          <a:fontRef idx="minor">
            <a:schemeClr val="lt1"/>
          </a:fontRef>
        </p:style>
        <p:txBody>
          <a:bodyPr>
            <a:normAutofit fontScale="90000"/>
          </a:bodyPr>
          <a:lstStyle/>
          <a:p>
            <a:pPr algn="ctr"/>
            <a:r>
              <a:rPr lang="en-US" sz="2800" b="1" dirty="0">
                <a:solidFill>
                  <a:schemeClr val="bg1"/>
                </a:solidFill>
                <a:effectLst>
                  <a:outerShdw blurRad="38100" dist="38100" dir="2700000" algn="tl">
                    <a:srgbClr val="000000">
                      <a:alpha val="43137"/>
                    </a:srgbClr>
                  </a:outerShdw>
                </a:effectLst>
                <a:latin typeface="Calibri" pitchFamily="34" charset="0"/>
              </a:rPr>
              <a:t>Allocation</a:t>
            </a:r>
          </a:p>
        </p:txBody>
      </p:sp>
      <p:pic>
        <p:nvPicPr>
          <p:cNvPr id="28675" name="Content Placeholder 3" descr="Fig07_05.gif"/>
          <p:cNvPicPr>
            <a:picLocks noGrp="1" noChangeAspect="1"/>
          </p:cNvPicPr>
          <p:nvPr>
            <p:ph sz="quarter" idx="1"/>
          </p:nvPr>
        </p:nvPicPr>
        <p:blipFill>
          <a:blip r:embed="rId3"/>
          <a:srcRect/>
          <a:stretch>
            <a:fillRect/>
          </a:stretch>
        </p:blipFill>
        <p:spPr>
          <a:xfrm>
            <a:off x="76200" y="457200"/>
            <a:ext cx="5181600" cy="640080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28676" name="TextBox 3"/>
          <p:cNvSpPr txBox="1">
            <a:spLocks noChangeArrowheads="1"/>
          </p:cNvSpPr>
          <p:nvPr/>
        </p:nvSpPr>
        <p:spPr bwMode="auto">
          <a:xfrm>
            <a:off x="5410200" y="533400"/>
            <a:ext cx="3733800" cy="5878532"/>
          </a:xfrm>
          <a:prstGeom prst="rect">
            <a:avLst/>
          </a:prstGeom>
          <a:ln>
            <a:headEnd/>
            <a:tailEnd/>
          </a:ln>
        </p:spPr>
        <p:style>
          <a:lnRef idx="2">
            <a:schemeClr val="accent1"/>
          </a:lnRef>
          <a:fillRef idx="1">
            <a:schemeClr val="lt1"/>
          </a:fillRef>
          <a:effectRef idx="0">
            <a:schemeClr val="accent1"/>
          </a:effectRef>
          <a:fontRef idx="minor">
            <a:schemeClr val="dk1"/>
          </a:fontRef>
        </p:style>
        <p:txBody>
          <a:bodyPr wrap="square">
            <a:spAutoFit/>
          </a:bodyPr>
          <a:lstStyle/>
          <a:p>
            <a:pPr>
              <a:buFontTx/>
              <a:buChar char="•"/>
            </a:pPr>
            <a:r>
              <a:rPr lang="en-NZ" sz="2000" dirty="0">
                <a:latin typeface="Calibri" pitchFamily="34" charset="0"/>
              </a:rPr>
              <a:t> The last block that was used was </a:t>
            </a:r>
          </a:p>
          <a:p>
            <a:pPr>
              <a:buNone/>
            </a:pPr>
            <a:r>
              <a:rPr lang="en-NZ" sz="2000" dirty="0">
                <a:latin typeface="Calibri" pitchFamily="34" charset="0"/>
              </a:rPr>
              <a:t>a 22-Mbyte block from which a 14- </a:t>
            </a:r>
            <a:r>
              <a:rPr lang="en-NZ" sz="2000" dirty="0" err="1">
                <a:latin typeface="Calibri" pitchFamily="34" charset="0"/>
              </a:rPr>
              <a:t>Mbyte</a:t>
            </a:r>
            <a:r>
              <a:rPr lang="en-NZ" sz="2000" dirty="0">
                <a:latin typeface="Calibri" pitchFamily="34" charset="0"/>
              </a:rPr>
              <a:t> partition was created. </a:t>
            </a:r>
          </a:p>
          <a:p>
            <a:pPr>
              <a:buFontTx/>
              <a:buChar char="•"/>
            </a:pPr>
            <a:r>
              <a:rPr lang="en-NZ" sz="2000" dirty="0">
                <a:latin typeface="Calibri" pitchFamily="34" charset="0"/>
              </a:rPr>
              <a:t> Figure 7.5b shows the difference  </a:t>
            </a:r>
          </a:p>
          <a:p>
            <a:pPr>
              <a:buNone/>
            </a:pPr>
            <a:r>
              <a:rPr lang="en-NZ" sz="2000" dirty="0">
                <a:latin typeface="Calibri" pitchFamily="34" charset="0"/>
              </a:rPr>
              <a:t>   between the best, first, and next-fit placement algorithms in satisfying a 16-Mbyte allocation request.</a:t>
            </a:r>
          </a:p>
          <a:p>
            <a:pPr>
              <a:buFontTx/>
              <a:buChar char="•"/>
            </a:pPr>
            <a:r>
              <a:rPr lang="en-NZ" sz="2000" b="1" dirty="0">
                <a:latin typeface="Calibri" pitchFamily="34" charset="0"/>
              </a:rPr>
              <a:t>Best-fit </a:t>
            </a:r>
            <a:r>
              <a:rPr lang="en-NZ" sz="2000" dirty="0">
                <a:latin typeface="Calibri" pitchFamily="34" charset="0"/>
              </a:rPr>
              <a:t>will search the entire list of available blocks and make use of the 18-Mbyte block, leaving a 2-Mbyte fragment.</a:t>
            </a:r>
          </a:p>
          <a:p>
            <a:pPr>
              <a:buFontTx/>
              <a:buChar char="•"/>
            </a:pPr>
            <a:r>
              <a:rPr lang="en-NZ" sz="2000" b="1" dirty="0">
                <a:latin typeface="Calibri" pitchFamily="34" charset="0"/>
              </a:rPr>
              <a:t>First-fit </a:t>
            </a:r>
            <a:r>
              <a:rPr lang="en-NZ" sz="2000" dirty="0">
                <a:latin typeface="Calibri" pitchFamily="34" charset="0"/>
              </a:rPr>
              <a:t>results in a 6-Mbyte </a:t>
            </a:r>
          </a:p>
          <a:p>
            <a:pPr>
              <a:buNone/>
            </a:pPr>
            <a:r>
              <a:rPr lang="en-NZ" sz="2000" dirty="0">
                <a:latin typeface="Calibri" pitchFamily="34" charset="0"/>
              </a:rPr>
              <a:t>  fragment, and </a:t>
            </a:r>
          </a:p>
          <a:p>
            <a:pPr>
              <a:buFont typeface="Arial" pitchFamily="34" charset="0"/>
              <a:buChar char="•"/>
            </a:pPr>
            <a:r>
              <a:rPr lang="en-NZ" sz="2000" b="1" dirty="0">
                <a:latin typeface="Calibri" pitchFamily="34" charset="0"/>
              </a:rPr>
              <a:t>Next-fit </a:t>
            </a:r>
            <a:r>
              <a:rPr lang="en-NZ" sz="2000" dirty="0">
                <a:latin typeface="Calibri" pitchFamily="34" charset="0"/>
              </a:rPr>
              <a:t>results in a 20-Mbyte </a:t>
            </a:r>
          </a:p>
          <a:p>
            <a:pPr>
              <a:buNone/>
            </a:pPr>
            <a:r>
              <a:rPr lang="en-NZ" sz="2000" dirty="0">
                <a:latin typeface="Calibri" pitchFamily="34" charset="0"/>
              </a:rPr>
              <a:t>  fragment.</a:t>
            </a:r>
            <a:endParaRPr lang="en-US" sz="2000" dirty="0">
              <a:latin typeface="Calibri" pitchFamily="34" charset="0"/>
            </a:endParaRPr>
          </a:p>
          <a:p>
            <a:endParaRPr lang="en-US" sz="2000" dirty="0">
              <a:latin typeface="Calibri" pitchFamily="34" charset="0"/>
            </a:endParaRPr>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Title 1"/>
          <p:cNvSpPr>
            <a:spLocks noGrp="1"/>
          </p:cNvSpPr>
          <p:nvPr>
            <p:ph type="title"/>
          </p:nvPr>
        </p:nvSpPr>
        <p:spPr>
          <a:xfrm>
            <a:off x="1752600" y="76200"/>
            <a:ext cx="5029200" cy="533400"/>
          </a:xfrm>
          <a:solidFill>
            <a:schemeClr val="accent3">
              <a:lumMod val="60000"/>
              <a:lumOff val="40000"/>
            </a:schemeClr>
          </a:solidFill>
          <a:ln/>
        </p:spPr>
        <p:style>
          <a:lnRef idx="3">
            <a:schemeClr val="lt1"/>
          </a:lnRef>
          <a:fillRef idx="1">
            <a:schemeClr val="accent1"/>
          </a:fillRef>
          <a:effectRef idx="1">
            <a:schemeClr val="accent1"/>
          </a:effectRef>
          <a:fontRef idx="minor">
            <a:schemeClr val="lt1"/>
          </a:fontRef>
        </p:style>
        <p:txBody>
          <a:bodyPr>
            <a:noAutofit/>
          </a:bodyPr>
          <a:lstStyle/>
          <a:p>
            <a:pPr algn="ctr"/>
            <a:r>
              <a:rPr lang="en-NZ" sz="3200" b="1" dirty="0">
                <a:solidFill>
                  <a:schemeClr val="bg1"/>
                </a:solidFill>
                <a:effectLst>
                  <a:outerShdw blurRad="38100" dist="38100" dir="2700000" algn="tl">
                    <a:srgbClr val="000000">
                      <a:alpha val="43137"/>
                    </a:srgbClr>
                  </a:outerShdw>
                </a:effectLst>
                <a:latin typeface="Calibri" pitchFamily="34" charset="0"/>
              </a:rPr>
              <a:t>Roadmap</a:t>
            </a:r>
          </a:p>
        </p:txBody>
      </p:sp>
      <p:sp>
        <p:nvSpPr>
          <p:cNvPr id="4099" name="Content Placeholder 2"/>
          <p:cNvSpPr>
            <a:spLocks noGrp="1"/>
          </p:cNvSpPr>
          <p:nvPr>
            <p:ph sz="quarter" idx="1"/>
          </p:nvPr>
        </p:nvSpPr>
        <p:spPr>
          <a:xfrm>
            <a:off x="283464" y="914400"/>
            <a:ext cx="6400800" cy="5638800"/>
          </a:xfrm>
          <a:ln/>
        </p:spPr>
        <p:style>
          <a:lnRef idx="2">
            <a:schemeClr val="accent1"/>
          </a:lnRef>
          <a:fillRef idx="1">
            <a:schemeClr val="lt1"/>
          </a:fillRef>
          <a:effectRef idx="0">
            <a:schemeClr val="accent1"/>
          </a:effectRef>
          <a:fontRef idx="minor">
            <a:schemeClr val="dk1"/>
          </a:fontRef>
        </p:style>
        <p:txBody>
          <a:bodyPr>
            <a:normAutofit fontScale="92500" lnSpcReduction="10000"/>
          </a:bodyPr>
          <a:lstStyle/>
          <a:p>
            <a:pPr>
              <a:lnSpc>
                <a:spcPct val="150000"/>
              </a:lnSpc>
            </a:pPr>
            <a:r>
              <a:rPr lang="en-NZ" dirty="0">
                <a:solidFill>
                  <a:schemeClr val="tx1"/>
                </a:solidFill>
                <a:latin typeface="Comic Sans MS" panose="030F0702030302020204" pitchFamily="66" charset="0"/>
              </a:rPr>
              <a:t>Basic requirements of Memory Management</a:t>
            </a:r>
          </a:p>
          <a:p>
            <a:pPr>
              <a:lnSpc>
                <a:spcPct val="150000"/>
              </a:lnSpc>
            </a:pPr>
            <a:r>
              <a:rPr lang="en-NZ" dirty="0">
                <a:solidFill>
                  <a:schemeClr val="tx1"/>
                </a:solidFill>
                <a:latin typeface="Comic Sans MS" panose="030F0702030302020204" pitchFamily="66" charset="0"/>
              </a:rPr>
              <a:t>Memory Partitioning</a:t>
            </a:r>
          </a:p>
          <a:p>
            <a:pPr>
              <a:lnSpc>
                <a:spcPct val="150000"/>
              </a:lnSpc>
            </a:pPr>
            <a:r>
              <a:rPr lang="en-NZ" b="1" dirty="0">
                <a:solidFill>
                  <a:schemeClr val="accent3">
                    <a:lumMod val="60000"/>
                    <a:lumOff val="40000"/>
                  </a:schemeClr>
                </a:solidFill>
                <a:effectLst>
                  <a:outerShdw blurRad="38100" dist="38100" dir="2700000" algn="tl">
                    <a:srgbClr val="000000">
                      <a:alpha val="43137"/>
                    </a:srgbClr>
                  </a:outerShdw>
                </a:effectLst>
                <a:latin typeface="Comic Sans MS" panose="030F0702030302020204" pitchFamily="66" charset="0"/>
              </a:rPr>
              <a:t>Buddy System</a:t>
            </a:r>
          </a:p>
          <a:p>
            <a:pPr>
              <a:lnSpc>
                <a:spcPct val="150000"/>
              </a:lnSpc>
            </a:pPr>
            <a:r>
              <a:rPr lang="en-NZ" dirty="0">
                <a:latin typeface="Comic Sans MS" panose="030F0702030302020204" pitchFamily="66" charset="0"/>
              </a:rPr>
              <a:t>Simple Paging and Segmentation</a:t>
            </a:r>
          </a:p>
          <a:p>
            <a:pPr>
              <a:lnSpc>
                <a:spcPct val="150000"/>
              </a:lnSpc>
            </a:pPr>
            <a:r>
              <a:rPr lang="en-US" dirty="0">
                <a:latin typeface="Comic Sans MS" panose="030F0702030302020204" pitchFamily="66" charset="0"/>
              </a:rPr>
              <a:t>Need of Virtual Memory</a:t>
            </a:r>
          </a:p>
          <a:p>
            <a:pPr>
              <a:lnSpc>
                <a:spcPct val="150000"/>
              </a:lnSpc>
            </a:pPr>
            <a:r>
              <a:rPr lang="en-US" dirty="0">
                <a:latin typeface="Comic Sans MS" panose="030F0702030302020204" pitchFamily="66" charset="0"/>
              </a:rPr>
              <a:t>Virtual memory Paging and Segmentation</a:t>
            </a:r>
          </a:p>
          <a:p>
            <a:pPr>
              <a:lnSpc>
                <a:spcPct val="150000"/>
              </a:lnSpc>
            </a:pPr>
            <a:r>
              <a:rPr lang="en-US" dirty="0">
                <a:latin typeface="Comic Sans MS" panose="030F0702030302020204" pitchFamily="66" charset="0"/>
              </a:rPr>
              <a:t>Address translation in Paging</a:t>
            </a:r>
          </a:p>
          <a:p>
            <a:pPr>
              <a:lnSpc>
                <a:spcPct val="150000"/>
              </a:lnSpc>
            </a:pPr>
            <a:r>
              <a:rPr lang="en-US" dirty="0">
                <a:latin typeface="Comic Sans MS" panose="030F0702030302020204" pitchFamily="66" charset="0"/>
              </a:rPr>
              <a:t>Address translation in Segmentation</a:t>
            </a:r>
          </a:p>
          <a:p>
            <a:pPr>
              <a:lnSpc>
                <a:spcPct val="150000"/>
              </a:lnSpc>
            </a:pPr>
            <a:r>
              <a:rPr lang="en-US" dirty="0">
                <a:latin typeface="Comic Sans MS" panose="030F0702030302020204" pitchFamily="66" charset="0"/>
              </a:rPr>
              <a:t>Page Replacement Algorithms (FIFO, LRU, Optimal)</a:t>
            </a:r>
            <a:endParaRPr lang="en-NZ" dirty="0">
              <a:latin typeface="Comic Sans MS" panose="030F0702030302020204" pitchFamily="66" charset="0"/>
            </a:endParaRPr>
          </a:p>
        </p:txBody>
      </p:sp>
      <p:sp>
        <p:nvSpPr>
          <p:cNvPr id="4" name="Right Arrow 3"/>
          <p:cNvSpPr/>
          <p:nvPr/>
        </p:nvSpPr>
        <p:spPr>
          <a:xfrm>
            <a:off x="120396" y="2133600"/>
            <a:ext cx="445008" cy="381000"/>
          </a:xfrm>
          <a:prstGeom prst="rightArrow">
            <a:avLst/>
          </a:prstGeom>
          <a:solidFill>
            <a:schemeClr val="accent3">
              <a:lumMod val="60000"/>
              <a:lumOff val="40000"/>
            </a:schemeClr>
          </a:solidFill>
          <a:ln w="127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51" name="Picture 3" descr="E:\gp image\stick_figure_drawing_three_check_marks_sm_wm.gif"/>
          <p:cNvPicPr>
            <a:picLocks noChangeAspect="1" noChangeArrowheads="1" noCrop="1"/>
          </p:cNvPicPr>
          <p:nvPr/>
        </p:nvPicPr>
        <p:blipFill>
          <a:blip r:embed="rId3"/>
          <a:srcRect/>
          <a:stretch>
            <a:fillRect/>
          </a:stretch>
        </p:blipFill>
        <p:spPr bwMode="auto">
          <a:xfrm>
            <a:off x="6879336" y="1447800"/>
            <a:ext cx="1807464" cy="3276600"/>
          </a:xfrm>
          <a:prstGeom prst="rect">
            <a:avLst/>
          </a:prstGeom>
          <a:noFill/>
        </p:spPr>
      </p:pic>
    </p:spTree>
    <p:extLst>
      <p:ext uri="{BB962C8B-B14F-4D97-AF65-F5344CB8AC3E}">
        <p14:creationId xmlns:p14="http://schemas.microsoft.com/office/powerpoint/2010/main" val="71260526"/>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Title 1"/>
          <p:cNvSpPr>
            <a:spLocks noGrp="1"/>
          </p:cNvSpPr>
          <p:nvPr>
            <p:ph type="title"/>
          </p:nvPr>
        </p:nvSpPr>
        <p:spPr>
          <a:xfrm>
            <a:off x="1752600" y="0"/>
            <a:ext cx="4114800" cy="411162"/>
          </a:xfrm>
          <a:solidFill>
            <a:schemeClr val="accent3">
              <a:lumMod val="60000"/>
              <a:lumOff val="40000"/>
            </a:schemeClr>
          </a:solidFill>
        </p:spPr>
        <p:style>
          <a:lnRef idx="3">
            <a:schemeClr val="lt1"/>
          </a:lnRef>
          <a:fillRef idx="1">
            <a:schemeClr val="accent1"/>
          </a:fillRef>
          <a:effectRef idx="1">
            <a:schemeClr val="accent1"/>
          </a:effectRef>
          <a:fontRef idx="minor">
            <a:schemeClr val="lt1"/>
          </a:fontRef>
        </p:style>
        <p:txBody>
          <a:bodyPr>
            <a:normAutofit fontScale="90000"/>
          </a:bodyPr>
          <a:lstStyle/>
          <a:p>
            <a:pPr algn="ctr"/>
            <a:r>
              <a:rPr lang="en-US" sz="2800" b="1" dirty="0">
                <a:solidFill>
                  <a:schemeClr val="bg1"/>
                </a:solidFill>
                <a:effectLst>
                  <a:outerShdw blurRad="38100" dist="38100" dir="2700000" algn="tl">
                    <a:srgbClr val="000000">
                      <a:alpha val="43137"/>
                    </a:srgbClr>
                  </a:outerShdw>
                </a:effectLst>
                <a:latin typeface="Calibri" pitchFamily="34" charset="0"/>
              </a:rPr>
              <a:t>Buddy System</a:t>
            </a:r>
          </a:p>
        </p:txBody>
      </p:sp>
      <p:sp>
        <p:nvSpPr>
          <p:cNvPr id="29699" name="Content Placeholder 2"/>
          <p:cNvSpPr>
            <a:spLocks noGrp="1"/>
          </p:cNvSpPr>
          <p:nvPr>
            <p:ph sz="quarter" idx="1"/>
          </p:nvPr>
        </p:nvSpPr>
        <p:spPr>
          <a:xfrm>
            <a:off x="152400" y="609600"/>
            <a:ext cx="8839200" cy="5334000"/>
          </a:xfrm>
        </p:spPr>
        <p:style>
          <a:lnRef idx="2">
            <a:schemeClr val="accent1"/>
          </a:lnRef>
          <a:fillRef idx="1">
            <a:schemeClr val="lt1"/>
          </a:fillRef>
          <a:effectRef idx="0">
            <a:schemeClr val="accent1"/>
          </a:effectRef>
          <a:fontRef idx="minor">
            <a:schemeClr val="dk1"/>
          </a:fontRef>
        </p:style>
        <p:txBody>
          <a:bodyPr>
            <a:noAutofit/>
          </a:bodyPr>
          <a:lstStyle/>
          <a:p>
            <a:r>
              <a:rPr lang="en-US" sz="2000" dirty="0">
                <a:latin typeface="Calibri" pitchFamily="34" charset="0"/>
              </a:rPr>
              <a:t>Both fixed and dynamic partitioning schemes have drawbacks.</a:t>
            </a:r>
          </a:p>
          <a:p>
            <a:r>
              <a:rPr lang="en-US" sz="2000" dirty="0">
                <a:latin typeface="Calibri" pitchFamily="34" charset="0"/>
              </a:rPr>
              <a:t> A fixed partitioning scheme limits the number of active processes and may use space inefficiently if there is a poor match between available partition sizes and process sizes.</a:t>
            </a:r>
          </a:p>
          <a:p>
            <a:r>
              <a:rPr lang="en-US" sz="2000" dirty="0">
                <a:latin typeface="Calibri" pitchFamily="34" charset="0"/>
              </a:rPr>
              <a:t>A dynamic partitioning scheme is more complex to maintain and includes the overhead of compaction.</a:t>
            </a:r>
          </a:p>
          <a:p>
            <a:r>
              <a:rPr lang="en-US" sz="2000" dirty="0">
                <a:latin typeface="Calibri" pitchFamily="34" charset="0"/>
              </a:rPr>
              <a:t>An interesting compromise is the buddy system.</a:t>
            </a:r>
          </a:p>
          <a:p>
            <a:r>
              <a:rPr lang="en-US" sz="2000" dirty="0">
                <a:latin typeface="Calibri" pitchFamily="34" charset="0"/>
              </a:rPr>
              <a:t>Entire space available is treated as a single block of 2</a:t>
            </a:r>
            <a:r>
              <a:rPr lang="en-US" sz="2000" baseline="30000" dirty="0">
                <a:latin typeface="Calibri" pitchFamily="34" charset="0"/>
              </a:rPr>
              <a:t>U.</a:t>
            </a:r>
          </a:p>
          <a:p>
            <a:r>
              <a:rPr lang="en-US" sz="2000" i="1" dirty="0">
                <a:latin typeface="Calibri" pitchFamily="34" charset="0"/>
              </a:rPr>
              <a:t>If a request of size s such that </a:t>
            </a:r>
            <a:r>
              <a:rPr lang="en-US" sz="2000" dirty="0">
                <a:latin typeface="Calibri" pitchFamily="34" charset="0"/>
              </a:rPr>
              <a:t>2</a:t>
            </a:r>
            <a:r>
              <a:rPr lang="en-US" sz="2000" baseline="30000" dirty="0">
                <a:latin typeface="Calibri" pitchFamily="34" charset="0"/>
              </a:rPr>
              <a:t>U</a:t>
            </a:r>
            <a:r>
              <a:rPr lang="en-US" sz="2000" i="1" baseline="30000" dirty="0">
                <a:latin typeface="Calibri" pitchFamily="34" charset="0"/>
              </a:rPr>
              <a:t>-1</a:t>
            </a:r>
            <a:r>
              <a:rPr lang="en-US" sz="2000" i="1" dirty="0">
                <a:latin typeface="Calibri" pitchFamily="34" charset="0"/>
              </a:rPr>
              <a:t> &lt; s&lt;= </a:t>
            </a:r>
            <a:r>
              <a:rPr lang="en-US" sz="2000" dirty="0">
                <a:latin typeface="Calibri" pitchFamily="34" charset="0"/>
              </a:rPr>
              <a:t>2</a:t>
            </a:r>
            <a:r>
              <a:rPr lang="en-US" sz="2000" baseline="30000" dirty="0">
                <a:latin typeface="Calibri" pitchFamily="34" charset="0"/>
              </a:rPr>
              <a:t>U</a:t>
            </a:r>
            <a:r>
              <a:rPr lang="en-US" sz="2000" dirty="0">
                <a:latin typeface="Calibri" pitchFamily="34" charset="0"/>
              </a:rPr>
              <a:t> </a:t>
            </a:r>
            <a:r>
              <a:rPr lang="en-US" sz="2000" i="1" dirty="0">
                <a:latin typeface="Calibri" pitchFamily="34" charset="0"/>
              </a:rPr>
              <a:t>is made, then the entire block is </a:t>
            </a:r>
            <a:r>
              <a:rPr lang="en-US" sz="2000" dirty="0">
                <a:latin typeface="Calibri" pitchFamily="34" charset="0"/>
              </a:rPr>
              <a:t>allocated. </a:t>
            </a:r>
          </a:p>
          <a:p>
            <a:r>
              <a:rPr lang="en-US" sz="2000" dirty="0">
                <a:latin typeface="Calibri" pitchFamily="34" charset="0"/>
              </a:rPr>
              <a:t>Otherwise, the block is split into two equal buddies of size 2</a:t>
            </a:r>
            <a:r>
              <a:rPr lang="en-US" sz="2000" baseline="30000" dirty="0">
                <a:latin typeface="Calibri" pitchFamily="34" charset="0"/>
              </a:rPr>
              <a:t>U-1</a:t>
            </a:r>
            <a:r>
              <a:rPr lang="en-US" sz="2000" i="1" dirty="0">
                <a:latin typeface="Calibri" pitchFamily="34" charset="0"/>
              </a:rPr>
              <a:t>.</a:t>
            </a:r>
          </a:p>
          <a:p>
            <a:r>
              <a:rPr lang="en-US" sz="2000" i="1" dirty="0">
                <a:latin typeface="Calibri" pitchFamily="34" charset="0"/>
              </a:rPr>
              <a:t> If </a:t>
            </a:r>
            <a:r>
              <a:rPr lang="en-US" sz="2000" dirty="0">
                <a:latin typeface="Calibri" pitchFamily="34" charset="0"/>
              </a:rPr>
              <a:t>2</a:t>
            </a:r>
            <a:r>
              <a:rPr lang="en-US" sz="2000" baseline="30000" dirty="0">
                <a:latin typeface="Calibri" pitchFamily="34" charset="0"/>
              </a:rPr>
              <a:t>U</a:t>
            </a:r>
            <a:r>
              <a:rPr lang="en-US" sz="2000" i="1" baseline="30000" dirty="0">
                <a:latin typeface="Calibri" pitchFamily="34" charset="0"/>
              </a:rPr>
              <a:t>-2</a:t>
            </a:r>
            <a:r>
              <a:rPr lang="en-US" sz="2000" i="1" dirty="0">
                <a:latin typeface="Calibri" pitchFamily="34" charset="0"/>
              </a:rPr>
              <a:t> &lt; s &lt;= </a:t>
            </a:r>
            <a:r>
              <a:rPr lang="en-US" sz="2000" dirty="0">
                <a:latin typeface="Calibri" pitchFamily="34" charset="0"/>
              </a:rPr>
              <a:t>2</a:t>
            </a:r>
            <a:r>
              <a:rPr lang="en-US" sz="2000" baseline="30000" dirty="0">
                <a:latin typeface="Calibri" pitchFamily="34" charset="0"/>
              </a:rPr>
              <a:t>U</a:t>
            </a:r>
            <a:r>
              <a:rPr lang="en-US" sz="2000" i="1" baseline="30000" dirty="0">
                <a:latin typeface="Calibri" pitchFamily="34" charset="0"/>
              </a:rPr>
              <a:t>-1</a:t>
            </a:r>
            <a:r>
              <a:rPr lang="en-US" sz="2000" i="1" dirty="0">
                <a:latin typeface="Calibri" pitchFamily="34" charset="0"/>
              </a:rPr>
              <a:t>, then the request is allocated to one of the two buddies. </a:t>
            </a:r>
          </a:p>
          <a:p>
            <a:r>
              <a:rPr lang="en-US" sz="2000" i="1" dirty="0">
                <a:latin typeface="Calibri" pitchFamily="34" charset="0"/>
              </a:rPr>
              <a:t>Otherwise, one of the </a:t>
            </a:r>
            <a:r>
              <a:rPr lang="en-US" sz="2000" dirty="0">
                <a:latin typeface="Calibri" pitchFamily="34" charset="0"/>
              </a:rPr>
              <a:t>buddies is split in half again.</a:t>
            </a:r>
            <a:endParaRPr lang="en-NZ" sz="2000" dirty="0">
              <a:latin typeface="Calibri" pitchFamily="34" charset="0"/>
            </a:endParaRPr>
          </a:p>
          <a:p>
            <a:r>
              <a:rPr lang="en-US" sz="2000" dirty="0">
                <a:latin typeface="Calibri" pitchFamily="34" charset="0"/>
              </a:rPr>
              <a:t>Process continues until smallest block greater than or equal to </a:t>
            </a:r>
            <a:r>
              <a:rPr lang="en-US" sz="2000" i="1" dirty="0">
                <a:latin typeface="Calibri" pitchFamily="34" charset="0"/>
              </a:rPr>
              <a:t>s </a:t>
            </a:r>
            <a:r>
              <a:rPr lang="en-US" sz="2000" dirty="0">
                <a:latin typeface="Calibri" pitchFamily="34" charset="0"/>
              </a:rPr>
              <a:t>is generated.</a:t>
            </a:r>
          </a:p>
          <a:p>
            <a:endParaRPr lang="en-US" sz="2000" dirty="0">
              <a:latin typeface="Calibri" pitchFamily="34" charset="0"/>
            </a:endParaRPr>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Title 1"/>
          <p:cNvSpPr>
            <a:spLocks noGrp="1"/>
          </p:cNvSpPr>
          <p:nvPr>
            <p:ph type="title"/>
          </p:nvPr>
        </p:nvSpPr>
        <p:spPr>
          <a:xfrm>
            <a:off x="1447800" y="0"/>
            <a:ext cx="6019800" cy="381000"/>
          </a:xfrm>
          <a:solidFill>
            <a:schemeClr val="accent3">
              <a:lumMod val="60000"/>
              <a:lumOff val="40000"/>
            </a:schemeClr>
          </a:solidFill>
        </p:spPr>
        <p:style>
          <a:lnRef idx="3">
            <a:schemeClr val="lt1"/>
          </a:lnRef>
          <a:fillRef idx="1">
            <a:schemeClr val="accent1"/>
          </a:fillRef>
          <a:effectRef idx="1">
            <a:schemeClr val="accent1"/>
          </a:effectRef>
          <a:fontRef idx="minor">
            <a:schemeClr val="lt1"/>
          </a:fontRef>
        </p:style>
        <p:txBody>
          <a:bodyPr>
            <a:normAutofit fontScale="90000"/>
          </a:bodyPr>
          <a:lstStyle/>
          <a:p>
            <a:pPr algn="ctr"/>
            <a:r>
              <a:rPr lang="en-US" sz="2800" b="1" dirty="0">
                <a:solidFill>
                  <a:schemeClr val="bg1"/>
                </a:solidFill>
                <a:latin typeface="Calibri" pitchFamily="34" charset="0"/>
              </a:rPr>
              <a:t>Example of Buddy System</a:t>
            </a:r>
          </a:p>
        </p:txBody>
      </p:sp>
      <p:pic>
        <p:nvPicPr>
          <p:cNvPr id="30723" name="Content Placeholder 3" descr="Fig07_06.gif"/>
          <p:cNvPicPr>
            <a:picLocks noGrp="1" noChangeAspect="1"/>
          </p:cNvPicPr>
          <p:nvPr>
            <p:ph sz="quarter" idx="1"/>
          </p:nvPr>
        </p:nvPicPr>
        <p:blipFill>
          <a:blip r:embed="rId3"/>
          <a:srcRect/>
          <a:stretch>
            <a:fillRect/>
          </a:stretch>
        </p:blipFill>
        <p:spPr>
          <a:xfrm>
            <a:off x="122237" y="457200"/>
            <a:ext cx="8716963" cy="640080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152400" y="533400"/>
            <a:ext cx="6324600" cy="6248400"/>
          </a:xfrm>
        </p:spPr>
        <p:style>
          <a:lnRef idx="2">
            <a:schemeClr val="accent1"/>
          </a:lnRef>
          <a:fillRef idx="1">
            <a:schemeClr val="lt1"/>
          </a:fillRef>
          <a:effectRef idx="0">
            <a:schemeClr val="accent1"/>
          </a:effectRef>
          <a:fontRef idx="minor">
            <a:schemeClr val="dk1"/>
          </a:fontRef>
        </p:style>
        <p:txBody>
          <a:bodyPr>
            <a:normAutofit/>
          </a:bodyPr>
          <a:lstStyle/>
          <a:p>
            <a:r>
              <a:rPr lang="en-NZ" sz="2000" dirty="0">
                <a:latin typeface="Calibri" pitchFamily="34" charset="0"/>
              </a:rPr>
              <a:t>Figure 7.6 gives an example using a 1-Mbyte initial block.</a:t>
            </a:r>
          </a:p>
          <a:p>
            <a:r>
              <a:rPr lang="en-NZ" sz="2000" dirty="0">
                <a:latin typeface="Calibri" pitchFamily="34" charset="0"/>
              </a:rPr>
              <a:t>The first request , A , is for 100 Kbytes, for which a 128K block is needed.</a:t>
            </a:r>
          </a:p>
          <a:p>
            <a:endParaRPr lang="en-NZ" sz="2000" dirty="0">
              <a:latin typeface="Calibri" pitchFamily="34" charset="0"/>
            </a:endParaRPr>
          </a:p>
          <a:p>
            <a:pPr>
              <a:buFontTx/>
              <a:buChar char="•"/>
            </a:pPr>
            <a:r>
              <a:rPr lang="en-NZ" sz="2000" dirty="0">
                <a:latin typeface="Calibri" pitchFamily="34" charset="0"/>
              </a:rPr>
              <a:t>The initial block is divided into two 512K buddies.</a:t>
            </a:r>
          </a:p>
          <a:p>
            <a:pPr>
              <a:buFontTx/>
              <a:buChar char="•"/>
            </a:pPr>
            <a:r>
              <a:rPr lang="en-NZ" sz="2000" dirty="0">
                <a:latin typeface="Calibri" pitchFamily="34" charset="0"/>
              </a:rPr>
              <a:t>The first of these is divided into two 256K buddies, </a:t>
            </a:r>
          </a:p>
          <a:p>
            <a:pPr>
              <a:buFontTx/>
              <a:buChar char="•"/>
            </a:pPr>
            <a:r>
              <a:rPr lang="en-NZ" sz="2000" dirty="0">
                <a:latin typeface="Calibri" pitchFamily="34" charset="0"/>
              </a:rPr>
              <a:t>and the first of these is divided into two 128K buddies,</a:t>
            </a:r>
          </a:p>
          <a:p>
            <a:pPr>
              <a:buFontTx/>
              <a:buChar char="•"/>
            </a:pPr>
            <a:r>
              <a:rPr lang="en-NZ" sz="2000" dirty="0">
                <a:latin typeface="Calibri" pitchFamily="34" charset="0"/>
              </a:rPr>
              <a:t> one of which is allocated to A.</a:t>
            </a:r>
          </a:p>
          <a:p>
            <a:pPr>
              <a:buFontTx/>
              <a:buChar char="•"/>
            </a:pPr>
            <a:r>
              <a:rPr lang="en-NZ" sz="2000" dirty="0">
                <a:latin typeface="Calibri" pitchFamily="34" charset="0"/>
              </a:rPr>
              <a:t>The next request ,B, requires a 256K block.</a:t>
            </a:r>
          </a:p>
          <a:p>
            <a:pPr>
              <a:buFontTx/>
              <a:buChar char="•"/>
            </a:pPr>
            <a:r>
              <a:rPr lang="en-NZ" sz="2000" dirty="0">
                <a:latin typeface="Calibri" pitchFamily="34" charset="0"/>
              </a:rPr>
              <a:t> Such a block is already available and is allocated.  </a:t>
            </a:r>
          </a:p>
          <a:p>
            <a:pPr>
              <a:buFontTx/>
              <a:buChar char="•"/>
            </a:pPr>
            <a:r>
              <a:rPr lang="en-NZ" sz="2000" dirty="0">
                <a:latin typeface="Calibri" pitchFamily="34" charset="0"/>
              </a:rPr>
              <a:t>The process continues with splitting and coalescing occurring as needed.</a:t>
            </a:r>
          </a:p>
          <a:p>
            <a:pPr>
              <a:buFontTx/>
              <a:buChar char="•"/>
            </a:pPr>
            <a:r>
              <a:rPr lang="en-NZ" sz="2000" dirty="0">
                <a:latin typeface="Calibri" pitchFamily="34" charset="0"/>
              </a:rPr>
              <a:t>Note that when E is released, two 128K buddies are coalesced into a 256K block, which is immediately coalesced with its buddy.</a:t>
            </a:r>
            <a:endParaRPr lang="en-US" sz="2000" dirty="0">
              <a:latin typeface="Calibri" pitchFamily="34" charset="0"/>
            </a:endParaRPr>
          </a:p>
          <a:p>
            <a:endParaRPr lang="en-US" sz="2000" dirty="0">
              <a:latin typeface="Calibri" pitchFamily="34" charset="0"/>
            </a:endParaRPr>
          </a:p>
        </p:txBody>
      </p:sp>
      <p:sp>
        <p:nvSpPr>
          <p:cNvPr id="5" name="Title 1"/>
          <p:cNvSpPr>
            <a:spLocks noGrp="1"/>
          </p:cNvSpPr>
          <p:nvPr>
            <p:ph type="title"/>
          </p:nvPr>
        </p:nvSpPr>
        <p:spPr>
          <a:xfrm>
            <a:off x="1371600" y="76200"/>
            <a:ext cx="5638800" cy="381000"/>
          </a:xfrm>
          <a:solidFill>
            <a:schemeClr val="accent3">
              <a:lumMod val="60000"/>
              <a:lumOff val="40000"/>
            </a:schemeClr>
          </a:solidFill>
        </p:spPr>
        <p:style>
          <a:lnRef idx="3">
            <a:schemeClr val="lt1"/>
          </a:lnRef>
          <a:fillRef idx="1">
            <a:schemeClr val="accent1"/>
          </a:fillRef>
          <a:effectRef idx="1">
            <a:schemeClr val="accent1"/>
          </a:effectRef>
          <a:fontRef idx="minor">
            <a:schemeClr val="lt1"/>
          </a:fontRef>
        </p:style>
        <p:txBody>
          <a:bodyPr>
            <a:normAutofit fontScale="90000"/>
          </a:bodyPr>
          <a:lstStyle/>
          <a:p>
            <a:pPr algn="ctr"/>
            <a:r>
              <a:rPr lang="en-US" sz="2800" b="1" dirty="0">
                <a:solidFill>
                  <a:schemeClr val="bg1"/>
                </a:solidFill>
                <a:latin typeface="Calibri" pitchFamily="34" charset="0"/>
              </a:rPr>
              <a:t>Example of Buddy System</a:t>
            </a:r>
          </a:p>
        </p:txBody>
      </p:sp>
      <p:pic>
        <p:nvPicPr>
          <p:cNvPr id="9218" name="Picture 2" descr="E:\gp image\stick_figure_binoculars_md_wm.gif"/>
          <p:cNvPicPr>
            <a:picLocks noChangeAspect="1" noChangeArrowheads="1" noCrop="1"/>
          </p:cNvPicPr>
          <p:nvPr/>
        </p:nvPicPr>
        <p:blipFill>
          <a:blip r:embed="rId2"/>
          <a:srcRect/>
          <a:stretch>
            <a:fillRect/>
          </a:stretch>
        </p:blipFill>
        <p:spPr bwMode="auto">
          <a:xfrm>
            <a:off x="6591300" y="1104900"/>
            <a:ext cx="2095500" cy="2857500"/>
          </a:xfrm>
          <a:prstGeom prst="rect">
            <a:avLst/>
          </a:prstGeom>
          <a:noFill/>
        </p:spPr>
      </p:pic>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Title 1"/>
          <p:cNvSpPr>
            <a:spLocks noGrp="1"/>
          </p:cNvSpPr>
          <p:nvPr>
            <p:ph type="title"/>
          </p:nvPr>
        </p:nvSpPr>
        <p:spPr>
          <a:xfrm>
            <a:off x="1066800" y="0"/>
            <a:ext cx="7315200" cy="381000"/>
          </a:xfrm>
          <a:solidFill>
            <a:schemeClr val="accent3">
              <a:lumMod val="60000"/>
              <a:lumOff val="40000"/>
            </a:schemeClr>
          </a:solidFill>
        </p:spPr>
        <p:style>
          <a:lnRef idx="3">
            <a:schemeClr val="lt1"/>
          </a:lnRef>
          <a:fillRef idx="1">
            <a:schemeClr val="accent1"/>
          </a:fillRef>
          <a:effectRef idx="1">
            <a:schemeClr val="accent1"/>
          </a:effectRef>
          <a:fontRef idx="minor">
            <a:schemeClr val="lt1"/>
          </a:fontRef>
        </p:style>
        <p:txBody>
          <a:bodyPr>
            <a:normAutofit fontScale="90000"/>
          </a:bodyPr>
          <a:lstStyle/>
          <a:p>
            <a:pPr algn="ctr"/>
            <a:r>
              <a:rPr lang="en-US" sz="2800" b="1" dirty="0">
                <a:solidFill>
                  <a:schemeClr val="bg1"/>
                </a:solidFill>
                <a:latin typeface="Calibri" pitchFamily="34" charset="0"/>
              </a:rPr>
              <a:t>Tree Representation of Buddy System</a:t>
            </a:r>
          </a:p>
        </p:txBody>
      </p:sp>
      <p:pic>
        <p:nvPicPr>
          <p:cNvPr id="32771" name="Content Placeholder 3" descr="Fig07_07.gif"/>
          <p:cNvPicPr>
            <a:picLocks noGrp="1" noChangeAspect="1"/>
          </p:cNvPicPr>
          <p:nvPr>
            <p:ph sz="quarter" idx="1"/>
          </p:nvPr>
        </p:nvPicPr>
        <p:blipFill>
          <a:blip r:embed="rId3"/>
          <a:srcRect/>
          <a:stretch>
            <a:fillRect/>
          </a:stretch>
        </p:blipFill>
        <p:spPr>
          <a:xfrm>
            <a:off x="152400" y="533400"/>
            <a:ext cx="8839200" cy="617220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76200" y="533400"/>
            <a:ext cx="8991600" cy="5257800"/>
          </a:xfrm>
        </p:spPr>
        <p:style>
          <a:lnRef idx="2">
            <a:schemeClr val="accent1"/>
          </a:lnRef>
          <a:fillRef idx="1">
            <a:schemeClr val="lt1"/>
          </a:fillRef>
          <a:effectRef idx="0">
            <a:schemeClr val="accent1"/>
          </a:effectRef>
          <a:fontRef idx="minor">
            <a:schemeClr val="dk1"/>
          </a:fontRef>
        </p:style>
        <p:txBody>
          <a:bodyPr/>
          <a:lstStyle/>
          <a:p>
            <a:r>
              <a:rPr lang="en-NZ" sz="2000" dirty="0">
                <a:latin typeface="Calibri" pitchFamily="34" charset="0"/>
              </a:rPr>
              <a:t>Figure 7.7 shows a binary tree representation of the buddy allocation immediately after the Release B request.</a:t>
            </a:r>
          </a:p>
          <a:p>
            <a:endParaRPr lang="en-NZ" sz="2000" dirty="0">
              <a:latin typeface="Calibri" pitchFamily="34" charset="0"/>
            </a:endParaRPr>
          </a:p>
          <a:p>
            <a:r>
              <a:rPr lang="en-NZ" sz="2000" dirty="0">
                <a:latin typeface="Calibri" pitchFamily="34" charset="0"/>
              </a:rPr>
              <a:t>The leaf nodes represent the current partitioning the memory. </a:t>
            </a:r>
          </a:p>
          <a:p>
            <a:endParaRPr lang="en-NZ" sz="2000" dirty="0">
              <a:latin typeface="Calibri" pitchFamily="34" charset="0"/>
            </a:endParaRPr>
          </a:p>
          <a:p>
            <a:r>
              <a:rPr lang="en-NZ" sz="2000" dirty="0">
                <a:latin typeface="Calibri" pitchFamily="34" charset="0"/>
              </a:rPr>
              <a:t>If two buddies are leaf nodes, then at least one must be allocated</a:t>
            </a:r>
            <a:r>
              <a:rPr lang="en-NZ" sz="2000" b="1" dirty="0">
                <a:latin typeface="Calibri" pitchFamily="34" charset="0"/>
              </a:rPr>
              <a:t>;</a:t>
            </a:r>
          </a:p>
          <a:p>
            <a:pPr lvl="1"/>
            <a:r>
              <a:rPr lang="en-NZ" sz="2000" dirty="0">
                <a:latin typeface="Calibri" pitchFamily="34" charset="0"/>
              </a:rPr>
              <a:t>otherwise they would be coalesced into a larger block.</a:t>
            </a:r>
          </a:p>
          <a:p>
            <a:endParaRPr lang="en-NZ" sz="2000" dirty="0">
              <a:latin typeface="Calibri" pitchFamily="34" charset="0"/>
            </a:endParaRPr>
          </a:p>
          <a:p>
            <a:pPr>
              <a:buFontTx/>
              <a:buChar char="•"/>
            </a:pPr>
            <a:r>
              <a:rPr lang="en-NZ" sz="2000" dirty="0">
                <a:latin typeface="Calibri" pitchFamily="34" charset="0"/>
              </a:rPr>
              <a:t>The buddy system is a reasonable compromise to overcome the disadvantages of both the fixed and variable partitioning schemes, </a:t>
            </a:r>
          </a:p>
          <a:p>
            <a:pPr>
              <a:buFontTx/>
              <a:buChar char="•"/>
            </a:pPr>
            <a:r>
              <a:rPr lang="en-NZ" sz="2000" dirty="0">
                <a:latin typeface="Calibri" pitchFamily="34" charset="0"/>
              </a:rPr>
              <a:t> But in contemporary operating systems, virtual memory based on paging and segmentation is superior. </a:t>
            </a:r>
          </a:p>
          <a:p>
            <a:pPr>
              <a:buFontTx/>
              <a:buChar char="•"/>
            </a:pPr>
            <a:r>
              <a:rPr lang="en-NZ" sz="2000" dirty="0">
                <a:latin typeface="Calibri" pitchFamily="34" charset="0"/>
              </a:rPr>
              <a:t>However, the buddy system has found application in parallel systems as an efficient means of allocation and release for parallel programs. </a:t>
            </a:r>
          </a:p>
          <a:p>
            <a:endParaRPr lang="en-US" sz="2000" dirty="0">
              <a:latin typeface="Calibri" pitchFamily="34" charset="0"/>
            </a:endParaRPr>
          </a:p>
        </p:txBody>
      </p:sp>
      <p:sp>
        <p:nvSpPr>
          <p:cNvPr id="5" name="Title 1"/>
          <p:cNvSpPr>
            <a:spLocks noGrp="1"/>
          </p:cNvSpPr>
          <p:nvPr>
            <p:ph type="title"/>
          </p:nvPr>
        </p:nvSpPr>
        <p:spPr>
          <a:xfrm>
            <a:off x="1066800" y="0"/>
            <a:ext cx="7315200" cy="381000"/>
          </a:xfrm>
          <a:solidFill>
            <a:schemeClr val="accent3">
              <a:lumMod val="60000"/>
              <a:lumOff val="40000"/>
            </a:schemeClr>
          </a:solidFill>
        </p:spPr>
        <p:style>
          <a:lnRef idx="3">
            <a:schemeClr val="lt1"/>
          </a:lnRef>
          <a:fillRef idx="1">
            <a:schemeClr val="accent1"/>
          </a:fillRef>
          <a:effectRef idx="1">
            <a:schemeClr val="accent1"/>
          </a:effectRef>
          <a:fontRef idx="minor">
            <a:schemeClr val="lt1"/>
          </a:fontRef>
        </p:style>
        <p:txBody>
          <a:bodyPr>
            <a:normAutofit fontScale="90000"/>
          </a:bodyPr>
          <a:lstStyle/>
          <a:p>
            <a:pPr algn="ctr"/>
            <a:r>
              <a:rPr lang="en-US" sz="2800" b="1" dirty="0">
                <a:solidFill>
                  <a:schemeClr val="bg1"/>
                </a:solidFill>
                <a:latin typeface="Calibri" pitchFamily="34" charset="0"/>
              </a:rPr>
              <a:t>Tree Representation of Buddy System</a:t>
            </a:r>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Title 1"/>
          <p:cNvSpPr>
            <a:spLocks noGrp="1"/>
          </p:cNvSpPr>
          <p:nvPr>
            <p:ph type="title"/>
          </p:nvPr>
        </p:nvSpPr>
        <p:spPr>
          <a:xfrm>
            <a:off x="1752600" y="76200"/>
            <a:ext cx="5029200" cy="533400"/>
          </a:xfrm>
          <a:solidFill>
            <a:schemeClr val="accent3">
              <a:lumMod val="60000"/>
              <a:lumOff val="40000"/>
            </a:schemeClr>
          </a:solidFill>
          <a:ln/>
        </p:spPr>
        <p:style>
          <a:lnRef idx="3">
            <a:schemeClr val="lt1"/>
          </a:lnRef>
          <a:fillRef idx="1">
            <a:schemeClr val="accent1"/>
          </a:fillRef>
          <a:effectRef idx="1">
            <a:schemeClr val="accent1"/>
          </a:effectRef>
          <a:fontRef idx="minor">
            <a:schemeClr val="lt1"/>
          </a:fontRef>
        </p:style>
        <p:txBody>
          <a:bodyPr>
            <a:noAutofit/>
          </a:bodyPr>
          <a:lstStyle/>
          <a:p>
            <a:pPr algn="ctr"/>
            <a:r>
              <a:rPr lang="en-NZ" sz="3200" b="1" dirty="0">
                <a:solidFill>
                  <a:schemeClr val="bg1"/>
                </a:solidFill>
                <a:effectLst>
                  <a:outerShdw blurRad="38100" dist="38100" dir="2700000" algn="tl">
                    <a:srgbClr val="000000">
                      <a:alpha val="43137"/>
                    </a:srgbClr>
                  </a:outerShdw>
                </a:effectLst>
                <a:latin typeface="Calibri" pitchFamily="34" charset="0"/>
              </a:rPr>
              <a:t>Roadmap</a:t>
            </a:r>
          </a:p>
        </p:txBody>
      </p:sp>
      <p:sp>
        <p:nvSpPr>
          <p:cNvPr id="4099" name="Content Placeholder 2"/>
          <p:cNvSpPr>
            <a:spLocks noGrp="1"/>
          </p:cNvSpPr>
          <p:nvPr>
            <p:ph sz="quarter" idx="1"/>
          </p:nvPr>
        </p:nvSpPr>
        <p:spPr>
          <a:xfrm>
            <a:off x="342900" y="838200"/>
            <a:ext cx="6400800" cy="5638800"/>
          </a:xfrm>
          <a:ln/>
        </p:spPr>
        <p:style>
          <a:lnRef idx="2">
            <a:schemeClr val="accent1"/>
          </a:lnRef>
          <a:fillRef idx="1">
            <a:schemeClr val="lt1"/>
          </a:fillRef>
          <a:effectRef idx="0">
            <a:schemeClr val="accent1"/>
          </a:effectRef>
          <a:fontRef idx="minor">
            <a:schemeClr val="dk1"/>
          </a:fontRef>
        </p:style>
        <p:txBody>
          <a:bodyPr>
            <a:normAutofit fontScale="92500" lnSpcReduction="10000"/>
          </a:bodyPr>
          <a:lstStyle/>
          <a:p>
            <a:pPr>
              <a:lnSpc>
                <a:spcPct val="150000"/>
              </a:lnSpc>
            </a:pPr>
            <a:r>
              <a:rPr lang="en-NZ" dirty="0">
                <a:solidFill>
                  <a:schemeClr val="tx1"/>
                </a:solidFill>
                <a:latin typeface="Comic Sans MS" panose="030F0702030302020204" pitchFamily="66" charset="0"/>
              </a:rPr>
              <a:t>Basic requirements of Memory Management</a:t>
            </a:r>
          </a:p>
          <a:p>
            <a:pPr>
              <a:lnSpc>
                <a:spcPct val="150000"/>
              </a:lnSpc>
            </a:pPr>
            <a:r>
              <a:rPr lang="en-NZ" dirty="0">
                <a:solidFill>
                  <a:schemeClr val="tx1"/>
                </a:solidFill>
                <a:latin typeface="Comic Sans MS" panose="030F0702030302020204" pitchFamily="66" charset="0"/>
              </a:rPr>
              <a:t>Memory Partitioning</a:t>
            </a:r>
          </a:p>
          <a:p>
            <a:pPr>
              <a:lnSpc>
                <a:spcPct val="150000"/>
              </a:lnSpc>
            </a:pPr>
            <a:r>
              <a:rPr lang="en-NZ" dirty="0">
                <a:solidFill>
                  <a:schemeClr val="tx1"/>
                </a:solidFill>
                <a:latin typeface="Comic Sans MS" panose="030F0702030302020204" pitchFamily="66" charset="0"/>
              </a:rPr>
              <a:t>Buddy System</a:t>
            </a:r>
          </a:p>
          <a:p>
            <a:pPr>
              <a:lnSpc>
                <a:spcPct val="150000"/>
              </a:lnSpc>
            </a:pPr>
            <a:r>
              <a:rPr lang="en-NZ" b="1" dirty="0">
                <a:solidFill>
                  <a:schemeClr val="accent3">
                    <a:lumMod val="60000"/>
                    <a:lumOff val="40000"/>
                  </a:schemeClr>
                </a:solidFill>
                <a:effectLst>
                  <a:outerShdw blurRad="38100" dist="38100" dir="2700000" algn="tl">
                    <a:srgbClr val="000000">
                      <a:alpha val="43137"/>
                    </a:srgbClr>
                  </a:outerShdw>
                </a:effectLst>
                <a:latin typeface="Comic Sans MS" panose="030F0702030302020204" pitchFamily="66" charset="0"/>
              </a:rPr>
              <a:t>Simple Paging and Segmentation</a:t>
            </a:r>
          </a:p>
          <a:p>
            <a:pPr>
              <a:lnSpc>
                <a:spcPct val="150000"/>
              </a:lnSpc>
            </a:pPr>
            <a:r>
              <a:rPr lang="en-US" dirty="0">
                <a:latin typeface="Comic Sans MS" panose="030F0702030302020204" pitchFamily="66" charset="0"/>
              </a:rPr>
              <a:t>Need of Virtual Memory</a:t>
            </a:r>
          </a:p>
          <a:p>
            <a:pPr>
              <a:lnSpc>
                <a:spcPct val="150000"/>
              </a:lnSpc>
            </a:pPr>
            <a:r>
              <a:rPr lang="en-US" dirty="0">
                <a:latin typeface="Comic Sans MS" panose="030F0702030302020204" pitchFamily="66" charset="0"/>
              </a:rPr>
              <a:t>Virtual memory Paging and Segmentation</a:t>
            </a:r>
          </a:p>
          <a:p>
            <a:pPr>
              <a:lnSpc>
                <a:spcPct val="150000"/>
              </a:lnSpc>
            </a:pPr>
            <a:r>
              <a:rPr lang="en-US" dirty="0">
                <a:latin typeface="Comic Sans MS" panose="030F0702030302020204" pitchFamily="66" charset="0"/>
              </a:rPr>
              <a:t>Address translation in Paging</a:t>
            </a:r>
          </a:p>
          <a:p>
            <a:pPr>
              <a:lnSpc>
                <a:spcPct val="150000"/>
              </a:lnSpc>
            </a:pPr>
            <a:r>
              <a:rPr lang="en-US" dirty="0">
                <a:latin typeface="Comic Sans MS" panose="030F0702030302020204" pitchFamily="66" charset="0"/>
              </a:rPr>
              <a:t>Address translation in Segmentation</a:t>
            </a:r>
          </a:p>
          <a:p>
            <a:pPr>
              <a:lnSpc>
                <a:spcPct val="150000"/>
              </a:lnSpc>
            </a:pPr>
            <a:r>
              <a:rPr lang="en-US" dirty="0">
                <a:latin typeface="Comic Sans MS" panose="030F0702030302020204" pitchFamily="66" charset="0"/>
              </a:rPr>
              <a:t>Page Replacement Algorithms (FIFO, LRU, Optimal)</a:t>
            </a:r>
            <a:endParaRPr lang="en-NZ" dirty="0">
              <a:latin typeface="Comic Sans MS" panose="030F0702030302020204" pitchFamily="66" charset="0"/>
            </a:endParaRPr>
          </a:p>
        </p:txBody>
      </p:sp>
      <p:sp>
        <p:nvSpPr>
          <p:cNvPr id="4" name="Right Arrow 3"/>
          <p:cNvSpPr/>
          <p:nvPr/>
        </p:nvSpPr>
        <p:spPr>
          <a:xfrm>
            <a:off x="234696" y="2590800"/>
            <a:ext cx="445008" cy="381000"/>
          </a:xfrm>
          <a:prstGeom prst="rightArrow">
            <a:avLst/>
          </a:prstGeom>
          <a:solidFill>
            <a:schemeClr val="accent3">
              <a:lumMod val="60000"/>
              <a:lumOff val="40000"/>
            </a:schemeClr>
          </a:solidFill>
          <a:ln w="127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51" name="Picture 3" descr="E:\gp image\stick_figure_drawing_three_check_marks_sm_wm.gif"/>
          <p:cNvPicPr>
            <a:picLocks noChangeAspect="1" noChangeArrowheads="1" noCrop="1"/>
          </p:cNvPicPr>
          <p:nvPr/>
        </p:nvPicPr>
        <p:blipFill>
          <a:blip r:embed="rId3"/>
          <a:srcRect/>
          <a:stretch>
            <a:fillRect/>
          </a:stretch>
        </p:blipFill>
        <p:spPr bwMode="auto">
          <a:xfrm>
            <a:off x="6879336" y="1447800"/>
            <a:ext cx="1807464" cy="3276600"/>
          </a:xfrm>
          <a:prstGeom prst="rect">
            <a:avLst/>
          </a:prstGeom>
          <a:noFill/>
        </p:spPr>
      </p:pic>
    </p:spTree>
    <p:extLst>
      <p:ext uri="{BB962C8B-B14F-4D97-AF65-F5344CB8AC3E}">
        <p14:creationId xmlns:p14="http://schemas.microsoft.com/office/powerpoint/2010/main" val="2434746905"/>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Title 1"/>
          <p:cNvSpPr>
            <a:spLocks noGrp="1"/>
          </p:cNvSpPr>
          <p:nvPr>
            <p:ph type="title"/>
          </p:nvPr>
        </p:nvSpPr>
        <p:spPr>
          <a:xfrm>
            <a:off x="1066800" y="76200"/>
            <a:ext cx="6019800" cy="457200"/>
          </a:xfrm>
          <a:solidFill>
            <a:schemeClr val="accent3">
              <a:lumMod val="60000"/>
              <a:lumOff val="40000"/>
            </a:schemeClr>
          </a:solidFill>
        </p:spPr>
        <p:style>
          <a:lnRef idx="3">
            <a:schemeClr val="lt1"/>
          </a:lnRef>
          <a:fillRef idx="1">
            <a:schemeClr val="accent1"/>
          </a:fillRef>
          <a:effectRef idx="1">
            <a:schemeClr val="accent1"/>
          </a:effectRef>
          <a:fontRef idx="minor">
            <a:schemeClr val="lt1"/>
          </a:fontRef>
        </p:style>
        <p:txBody>
          <a:bodyPr>
            <a:noAutofit/>
          </a:bodyPr>
          <a:lstStyle/>
          <a:p>
            <a:pPr algn="ctr"/>
            <a:r>
              <a:rPr lang="en-US" sz="3200" b="1" dirty="0">
                <a:solidFill>
                  <a:schemeClr val="bg1"/>
                </a:solidFill>
                <a:effectLst>
                  <a:outerShdw blurRad="38100" dist="38100" dir="2700000" algn="tl">
                    <a:srgbClr val="000000">
                      <a:alpha val="43137"/>
                    </a:srgbClr>
                  </a:outerShdw>
                </a:effectLst>
                <a:latin typeface="Calibri" pitchFamily="34" charset="0"/>
              </a:rPr>
              <a:t>Paging</a:t>
            </a:r>
          </a:p>
        </p:txBody>
      </p:sp>
      <p:sp>
        <p:nvSpPr>
          <p:cNvPr id="38915" name="Content Placeholder 2"/>
          <p:cNvSpPr>
            <a:spLocks noGrp="1"/>
          </p:cNvSpPr>
          <p:nvPr>
            <p:ph sz="quarter" idx="1"/>
          </p:nvPr>
        </p:nvSpPr>
        <p:spPr>
          <a:xfrm>
            <a:off x="152400" y="685800"/>
            <a:ext cx="5562600" cy="5334000"/>
          </a:xfrm>
        </p:spPr>
        <p:style>
          <a:lnRef idx="2">
            <a:schemeClr val="accent1"/>
          </a:lnRef>
          <a:fillRef idx="1">
            <a:schemeClr val="lt1"/>
          </a:fillRef>
          <a:effectRef idx="0">
            <a:schemeClr val="accent1"/>
          </a:effectRef>
          <a:fontRef idx="minor">
            <a:schemeClr val="dk1"/>
          </a:fontRef>
        </p:style>
        <p:txBody>
          <a:bodyPr>
            <a:noAutofit/>
          </a:bodyPr>
          <a:lstStyle/>
          <a:p>
            <a:r>
              <a:rPr lang="en-US" sz="2000" dirty="0">
                <a:latin typeface="Comic Sans MS" pitchFamily="66" charset="0"/>
              </a:rPr>
              <a:t>Partition memory into small equal fixed-size chunks and The chunks of memory are called </a:t>
            </a:r>
            <a:r>
              <a:rPr lang="en-US" sz="2000" b="1" i="1" dirty="0">
                <a:latin typeface="Comic Sans MS" pitchFamily="66" charset="0"/>
              </a:rPr>
              <a:t>frames.</a:t>
            </a:r>
          </a:p>
          <a:p>
            <a:endParaRPr lang="en-US" sz="2000" dirty="0">
              <a:latin typeface="Comic Sans MS" pitchFamily="66" charset="0"/>
            </a:endParaRPr>
          </a:p>
          <a:p>
            <a:r>
              <a:rPr lang="en-US" sz="2000" dirty="0">
                <a:latin typeface="Comic Sans MS" pitchFamily="66" charset="0"/>
              </a:rPr>
              <a:t>Divide each process into the same size chunks and the chunks of a process are called </a:t>
            </a:r>
            <a:r>
              <a:rPr lang="en-US" sz="2000" b="1" i="1" dirty="0">
                <a:latin typeface="Comic Sans MS" pitchFamily="66" charset="0"/>
              </a:rPr>
              <a:t>pages.</a:t>
            </a:r>
          </a:p>
          <a:p>
            <a:endParaRPr lang="en-US" sz="2000" dirty="0">
              <a:latin typeface="Comic Sans MS" pitchFamily="66" charset="0"/>
            </a:endParaRPr>
          </a:p>
          <a:p>
            <a:r>
              <a:rPr lang="en-US" sz="2200" dirty="0">
                <a:latin typeface="Calibri" pitchFamily="34" charset="0"/>
              </a:rPr>
              <a:t>Operating system maintains a page table for each process</a:t>
            </a:r>
          </a:p>
          <a:p>
            <a:pPr lvl="1"/>
            <a:r>
              <a:rPr lang="en-US" sz="2200" dirty="0">
                <a:latin typeface="Calibri" pitchFamily="34" charset="0"/>
              </a:rPr>
              <a:t>Contains the frame location for each page in the process</a:t>
            </a:r>
          </a:p>
          <a:p>
            <a:pPr lvl="1"/>
            <a:r>
              <a:rPr lang="en-US" sz="2200" dirty="0">
                <a:latin typeface="Calibri" pitchFamily="34" charset="0"/>
              </a:rPr>
              <a:t>Memory address consist of a page number and offset within the page</a:t>
            </a:r>
          </a:p>
          <a:p>
            <a:endParaRPr lang="en-US" sz="2200" b="1" i="1" dirty="0">
              <a:latin typeface="Calibri" pitchFamily="34" charset="0"/>
            </a:endParaRPr>
          </a:p>
          <a:p>
            <a:endParaRPr lang="en-US" sz="2200" dirty="0">
              <a:latin typeface="Calibri" pitchFamily="34" charset="0"/>
            </a:endParaRPr>
          </a:p>
        </p:txBody>
      </p:sp>
      <p:pic>
        <p:nvPicPr>
          <p:cNvPr id="12290" name="Picture 2" descr="E:\gp image\reading_a_book_PA_sm_wm.gif"/>
          <p:cNvPicPr>
            <a:picLocks noChangeAspect="1" noChangeArrowheads="1" noCrop="1"/>
          </p:cNvPicPr>
          <p:nvPr/>
        </p:nvPicPr>
        <p:blipFill>
          <a:blip r:embed="rId3"/>
          <a:srcRect/>
          <a:stretch>
            <a:fillRect/>
          </a:stretch>
        </p:blipFill>
        <p:spPr bwMode="auto">
          <a:xfrm>
            <a:off x="6477000" y="1524000"/>
            <a:ext cx="2133600" cy="2133600"/>
          </a:xfrm>
          <a:prstGeom prst="rect">
            <a:avLst/>
          </a:prstGeom>
          <a:noFill/>
        </p:spPr>
      </p:pic>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a:srcRect/>
          <a:stretch>
            <a:fillRect/>
          </a:stretch>
        </p:blipFill>
        <p:spPr bwMode="auto">
          <a:xfrm>
            <a:off x="0" y="76201"/>
            <a:ext cx="9144000" cy="6781799"/>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a:xfrm>
            <a:off x="2743200" y="76200"/>
            <a:ext cx="3733800" cy="381000"/>
          </a:xfrm>
          <a:solidFill>
            <a:schemeClr val="accent3">
              <a:lumMod val="60000"/>
              <a:lumOff val="40000"/>
            </a:schemeClr>
          </a:solidFill>
        </p:spPr>
        <p:style>
          <a:lnRef idx="3">
            <a:schemeClr val="lt1"/>
          </a:lnRef>
          <a:fillRef idx="1">
            <a:schemeClr val="accent1"/>
          </a:fillRef>
          <a:effectRef idx="1">
            <a:schemeClr val="accent1"/>
          </a:effectRef>
          <a:fontRef idx="minor">
            <a:schemeClr val="lt1"/>
          </a:fontRef>
        </p:style>
        <p:txBody>
          <a:bodyPr>
            <a:noAutofit/>
          </a:bodyPr>
          <a:lstStyle/>
          <a:p>
            <a:pPr algn="ctr"/>
            <a:r>
              <a:rPr lang="en-US" sz="2500" b="1" dirty="0">
                <a:solidFill>
                  <a:schemeClr val="bg1"/>
                </a:solidFill>
                <a:effectLst>
                  <a:outerShdw blurRad="38100" dist="38100" dir="2700000" algn="tl">
                    <a:srgbClr val="000000">
                      <a:alpha val="43137"/>
                    </a:srgbClr>
                  </a:outerShdw>
                </a:effectLst>
                <a:latin typeface="Calibri" pitchFamily="34" charset="0"/>
              </a:rPr>
              <a:t>Paging Example</a:t>
            </a:r>
          </a:p>
        </p:txBody>
      </p:sp>
      <p:sp>
        <p:nvSpPr>
          <p:cNvPr id="5" name="Content Placeholder 2"/>
          <p:cNvSpPr>
            <a:spLocks noGrp="1"/>
          </p:cNvSpPr>
          <p:nvPr>
            <p:ph sz="quarter" idx="1"/>
          </p:nvPr>
        </p:nvSpPr>
        <p:spPr>
          <a:xfrm>
            <a:off x="152400" y="609600"/>
            <a:ext cx="5410200" cy="6096000"/>
          </a:xfrm>
        </p:spPr>
        <p:style>
          <a:lnRef idx="2">
            <a:schemeClr val="accent1"/>
          </a:lnRef>
          <a:fillRef idx="1">
            <a:schemeClr val="lt1"/>
          </a:fillRef>
          <a:effectRef idx="0">
            <a:schemeClr val="accent1"/>
          </a:effectRef>
          <a:fontRef idx="minor">
            <a:schemeClr val="dk1"/>
          </a:fontRef>
        </p:style>
        <p:txBody>
          <a:bodyPr>
            <a:normAutofit lnSpcReduction="10000"/>
          </a:bodyPr>
          <a:lstStyle/>
          <a:p>
            <a:pPr marL="228600" indent="-228600">
              <a:buFont typeface="+mj-lt"/>
              <a:buAutoNum type="arabicPeriod"/>
              <a:defRPr/>
            </a:pPr>
            <a:r>
              <a:rPr lang="en-NZ" sz="2000" dirty="0">
                <a:latin typeface="Calibri" pitchFamily="34" charset="0"/>
              </a:rPr>
              <a:t>System with a number of frames allocated.</a:t>
            </a:r>
          </a:p>
          <a:p>
            <a:pPr marL="228600" indent="-228600">
              <a:buFont typeface="+mj-lt"/>
              <a:buAutoNum type="arabicPeriod"/>
              <a:defRPr/>
            </a:pPr>
            <a:endParaRPr lang="en-NZ" sz="2000" dirty="0">
              <a:latin typeface="Calibri" pitchFamily="34" charset="0"/>
            </a:endParaRPr>
          </a:p>
          <a:p>
            <a:pPr marL="228600" indent="-228600">
              <a:buFont typeface="+mj-lt"/>
              <a:buAutoNum type="arabicPeriod"/>
              <a:defRPr/>
            </a:pPr>
            <a:r>
              <a:rPr lang="en-NZ" sz="2000" dirty="0">
                <a:latin typeface="Calibri" pitchFamily="34" charset="0"/>
              </a:rPr>
              <a:t>Process A, stored on disk, consists of four pages. </a:t>
            </a:r>
          </a:p>
          <a:p>
            <a:pPr marL="228600" indent="-228600">
              <a:buNone/>
              <a:defRPr/>
            </a:pPr>
            <a:r>
              <a:rPr lang="en-NZ" sz="2000" dirty="0">
                <a:latin typeface="Calibri" pitchFamily="34" charset="0"/>
              </a:rPr>
              <a:t>    When it comes time to load this process, the operating system finds four free frames and loads the four pages of process A into the four frames.</a:t>
            </a:r>
          </a:p>
          <a:p>
            <a:pPr marL="228600" indent="-228600">
              <a:buNone/>
              <a:defRPr/>
            </a:pPr>
            <a:r>
              <a:rPr lang="en-NZ" sz="2000" dirty="0">
                <a:latin typeface="Calibri" pitchFamily="34" charset="0"/>
              </a:rPr>
              <a:t>3. Process B, consisting of three pages, and process C, consisting of four pages, are subsequently loaded.</a:t>
            </a:r>
          </a:p>
          <a:p>
            <a:pPr marL="228600" indent="-228600">
              <a:buNone/>
              <a:defRPr/>
            </a:pPr>
            <a:r>
              <a:rPr lang="en-NZ" sz="2000" dirty="0">
                <a:latin typeface="Calibri" pitchFamily="34" charset="0"/>
              </a:rPr>
              <a:t>4. Then process B is suspended and is swapped out of main memory. </a:t>
            </a:r>
          </a:p>
          <a:p>
            <a:pPr marL="228600" indent="-228600">
              <a:buNone/>
              <a:defRPr/>
            </a:pPr>
            <a:r>
              <a:rPr lang="en-NZ" sz="2000" dirty="0">
                <a:latin typeface="Calibri" pitchFamily="34" charset="0"/>
              </a:rPr>
              <a:t>5.Later, all of the processes in main memory are blocked, and the operating system needs to bring in a new process, process D, which consists of five pages. </a:t>
            </a:r>
          </a:p>
          <a:p>
            <a:pPr marL="228600" indent="-228600">
              <a:buNone/>
              <a:defRPr/>
            </a:pPr>
            <a:endParaRPr lang="en-NZ" sz="2000" dirty="0">
              <a:latin typeface="Calibri" pitchFamily="34" charset="0"/>
            </a:endParaRPr>
          </a:p>
          <a:p>
            <a:pPr marL="228600" indent="-228600">
              <a:defRPr/>
            </a:pPr>
            <a:r>
              <a:rPr lang="en-NZ" sz="2000" dirty="0">
                <a:latin typeface="Calibri" pitchFamily="34" charset="0"/>
              </a:rPr>
              <a:t>The Operating System loads the pages into the available frames and updates the </a:t>
            </a:r>
            <a:r>
              <a:rPr lang="en-NZ" sz="2000" b="1" i="1" dirty="0">
                <a:latin typeface="Calibri" pitchFamily="34" charset="0"/>
              </a:rPr>
              <a:t>page table</a:t>
            </a:r>
            <a:endParaRPr lang="en-US" sz="2000" dirty="0">
              <a:latin typeface="Calibri" pitchFamily="34" charset="0"/>
            </a:endParaRPr>
          </a:p>
        </p:txBody>
      </p:sp>
      <p:pic>
        <p:nvPicPr>
          <p:cNvPr id="13314" name="Picture 2" descr="E:\gp image\spray_painting_wall_anim_md_wm.gif"/>
          <p:cNvPicPr>
            <a:picLocks noChangeAspect="1" noChangeArrowheads="1" noCrop="1"/>
          </p:cNvPicPr>
          <p:nvPr/>
        </p:nvPicPr>
        <p:blipFill>
          <a:blip r:embed="rId2"/>
          <a:srcRect/>
          <a:stretch>
            <a:fillRect/>
          </a:stretch>
        </p:blipFill>
        <p:spPr bwMode="auto">
          <a:xfrm>
            <a:off x="5943600" y="1676400"/>
            <a:ext cx="2476500" cy="2362200"/>
          </a:xfrm>
          <a:prstGeom prst="rect">
            <a:avLst/>
          </a:prstGeom>
          <a:noFill/>
        </p:spPr>
      </p:pic>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Title 1"/>
          <p:cNvSpPr>
            <a:spLocks noGrp="1"/>
          </p:cNvSpPr>
          <p:nvPr>
            <p:ph type="title"/>
          </p:nvPr>
        </p:nvSpPr>
        <p:spPr>
          <a:xfrm>
            <a:off x="457200" y="274638"/>
            <a:ext cx="7467600" cy="487362"/>
          </a:xfrm>
          <a:solidFill>
            <a:schemeClr val="accent3">
              <a:lumMod val="60000"/>
              <a:lumOff val="40000"/>
            </a:schemeClr>
          </a:solidFill>
        </p:spPr>
        <p:style>
          <a:lnRef idx="3">
            <a:schemeClr val="lt1"/>
          </a:lnRef>
          <a:fillRef idx="1">
            <a:schemeClr val="accent1"/>
          </a:fillRef>
          <a:effectRef idx="1">
            <a:schemeClr val="accent1"/>
          </a:effectRef>
          <a:fontRef idx="minor">
            <a:schemeClr val="lt1"/>
          </a:fontRef>
        </p:style>
        <p:txBody>
          <a:bodyPr>
            <a:normAutofit fontScale="90000"/>
          </a:bodyPr>
          <a:lstStyle/>
          <a:p>
            <a:pPr algn="ctr"/>
            <a:r>
              <a:rPr lang="en-NZ" b="1" dirty="0">
                <a:latin typeface="Comic Sans MS" pitchFamily="66" charset="0"/>
              </a:rPr>
              <a:t>Processes and Frames</a:t>
            </a:r>
          </a:p>
        </p:txBody>
      </p:sp>
      <p:pic>
        <p:nvPicPr>
          <p:cNvPr id="40963" name="Picture 2"/>
          <p:cNvPicPr>
            <a:picLocks noChangeAspect="1" noChangeArrowheads="1"/>
          </p:cNvPicPr>
          <p:nvPr/>
        </p:nvPicPr>
        <p:blipFill>
          <a:blip r:embed="rId3"/>
          <a:srcRect/>
          <a:stretch>
            <a:fillRect/>
          </a:stretch>
        </p:blipFill>
        <p:spPr bwMode="auto">
          <a:xfrm>
            <a:off x="990600" y="1447800"/>
            <a:ext cx="4419600" cy="5410200"/>
          </a:xfrm>
          <a:prstGeom prst="rect">
            <a:avLst/>
          </a:prstGeom>
          <a:noFill/>
          <a:ln w="9525">
            <a:noFill/>
            <a:miter lim="800000"/>
            <a:headEnd/>
            <a:tailEnd/>
          </a:ln>
        </p:spPr>
      </p:pic>
      <p:sp>
        <p:nvSpPr>
          <p:cNvPr id="6" name="Rectangle 5"/>
          <p:cNvSpPr/>
          <p:nvPr/>
        </p:nvSpPr>
        <p:spPr>
          <a:xfrm>
            <a:off x="2514600" y="1981200"/>
            <a:ext cx="2286000" cy="304800"/>
          </a:xfrm>
          <a:prstGeom prst="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NZ">
                <a:solidFill>
                  <a:schemeClr val="tx1"/>
                </a:solidFill>
              </a:rPr>
              <a:t>A.0</a:t>
            </a:r>
            <a:endParaRPr lang="en-NZ" dirty="0">
              <a:solidFill>
                <a:schemeClr val="tx1"/>
              </a:solidFill>
            </a:endParaRPr>
          </a:p>
        </p:txBody>
      </p:sp>
      <p:sp>
        <p:nvSpPr>
          <p:cNvPr id="7" name="Rectangle 6"/>
          <p:cNvSpPr/>
          <p:nvPr/>
        </p:nvSpPr>
        <p:spPr>
          <a:xfrm>
            <a:off x="2514600" y="2286000"/>
            <a:ext cx="2286000" cy="304800"/>
          </a:xfrm>
          <a:prstGeom prst="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NZ">
                <a:solidFill>
                  <a:schemeClr val="tx1"/>
                </a:solidFill>
              </a:rPr>
              <a:t>A.1</a:t>
            </a:r>
            <a:endParaRPr lang="en-NZ" dirty="0">
              <a:solidFill>
                <a:schemeClr val="tx1"/>
              </a:solidFill>
            </a:endParaRPr>
          </a:p>
        </p:txBody>
      </p:sp>
      <p:sp>
        <p:nvSpPr>
          <p:cNvPr id="8" name="Rectangle 7"/>
          <p:cNvSpPr/>
          <p:nvPr/>
        </p:nvSpPr>
        <p:spPr>
          <a:xfrm>
            <a:off x="2514600" y="2590800"/>
            <a:ext cx="2286000" cy="304800"/>
          </a:xfrm>
          <a:prstGeom prst="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NZ">
                <a:solidFill>
                  <a:schemeClr val="tx1"/>
                </a:solidFill>
              </a:rPr>
              <a:t>A.2</a:t>
            </a:r>
            <a:endParaRPr lang="en-NZ" dirty="0">
              <a:solidFill>
                <a:schemeClr val="tx1"/>
              </a:solidFill>
            </a:endParaRPr>
          </a:p>
        </p:txBody>
      </p:sp>
      <p:sp>
        <p:nvSpPr>
          <p:cNvPr id="9" name="Rectangle 8"/>
          <p:cNvSpPr/>
          <p:nvPr/>
        </p:nvSpPr>
        <p:spPr>
          <a:xfrm>
            <a:off x="2514600" y="2895600"/>
            <a:ext cx="2286000" cy="304800"/>
          </a:xfrm>
          <a:prstGeom prst="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NZ">
                <a:solidFill>
                  <a:schemeClr val="tx1"/>
                </a:solidFill>
              </a:rPr>
              <a:t>A.3</a:t>
            </a:r>
            <a:endParaRPr lang="en-NZ" dirty="0">
              <a:solidFill>
                <a:schemeClr val="tx1"/>
              </a:solidFill>
            </a:endParaRPr>
          </a:p>
        </p:txBody>
      </p:sp>
      <p:sp>
        <p:nvSpPr>
          <p:cNvPr id="10" name="Rectangle 9"/>
          <p:cNvSpPr/>
          <p:nvPr/>
        </p:nvSpPr>
        <p:spPr>
          <a:xfrm>
            <a:off x="2514600" y="3200400"/>
            <a:ext cx="2286000" cy="304800"/>
          </a:xfrm>
          <a:prstGeom prst="rect">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NZ" dirty="0">
                <a:solidFill>
                  <a:schemeClr val="tx1"/>
                </a:solidFill>
              </a:rPr>
              <a:t>B.0</a:t>
            </a:r>
          </a:p>
        </p:txBody>
      </p:sp>
      <p:sp>
        <p:nvSpPr>
          <p:cNvPr id="11" name="Rectangle 10"/>
          <p:cNvSpPr/>
          <p:nvPr/>
        </p:nvSpPr>
        <p:spPr>
          <a:xfrm>
            <a:off x="2514600" y="3505200"/>
            <a:ext cx="2286000" cy="304800"/>
          </a:xfrm>
          <a:prstGeom prst="rect">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NZ" dirty="0">
                <a:solidFill>
                  <a:schemeClr val="tx1"/>
                </a:solidFill>
              </a:rPr>
              <a:t>B.1</a:t>
            </a:r>
          </a:p>
        </p:txBody>
      </p:sp>
      <p:sp>
        <p:nvSpPr>
          <p:cNvPr id="12" name="Rectangle 11"/>
          <p:cNvSpPr/>
          <p:nvPr/>
        </p:nvSpPr>
        <p:spPr>
          <a:xfrm>
            <a:off x="2514600" y="3810000"/>
            <a:ext cx="2286000" cy="304800"/>
          </a:xfrm>
          <a:prstGeom prst="rect">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NZ" dirty="0">
                <a:solidFill>
                  <a:schemeClr val="tx1"/>
                </a:solidFill>
              </a:rPr>
              <a:t>B.2</a:t>
            </a:r>
          </a:p>
        </p:txBody>
      </p:sp>
      <p:sp>
        <p:nvSpPr>
          <p:cNvPr id="13" name="Rectangle 12"/>
          <p:cNvSpPr/>
          <p:nvPr/>
        </p:nvSpPr>
        <p:spPr>
          <a:xfrm>
            <a:off x="2514600" y="4154488"/>
            <a:ext cx="2286000" cy="304800"/>
          </a:xfrm>
          <a:prstGeom prst="rect">
            <a:avLst/>
          </a:prstGeom>
          <a:solidFill>
            <a:schemeClr val="accent3">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NZ" dirty="0">
                <a:solidFill>
                  <a:schemeClr val="tx1"/>
                </a:solidFill>
              </a:rPr>
              <a:t>C.0</a:t>
            </a:r>
          </a:p>
        </p:txBody>
      </p:sp>
      <p:sp>
        <p:nvSpPr>
          <p:cNvPr id="14" name="Rectangle 13"/>
          <p:cNvSpPr/>
          <p:nvPr/>
        </p:nvSpPr>
        <p:spPr>
          <a:xfrm>
            <a:off x="2514600" y="4459288"/>
            <a:ext cx="2286000" cy="304800"/>
          </a:xfrm>
          <a:prstGeom prst="rect">
            <a:avLst/>
          </a:prstGeom>
          <a:solidFill>
            <a:schemeClr val="accent3">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NZ" dirty="0">
                <a:solidFill>
                  <a:schemeClr val="tx1"/>
                </a:solidFill>
              </a:rPr>
              <a:t>C.1</a:t>
            </a:r>
          </a:p>
        </p:txBody>
      </p:sp>
      <p:sp>
        <p:nvSpPr>
          <p:cNvPr id="15" name="Rectangle 14"/>
          <p:cNvSpPr/>
          <p:nvPr/>
        </p:nvSpPr>
        <p:spPr>
          <a:xfrm>
            <a:off x="2514600" y="4764088"/>
            <a:ext cx="2286000" cy="304800"/>
          </a:xfrm>
          <a:prstGeom prst="rect">
            <a:avLst/>
          </a:prstGeom>
          <a:solidFill>
            <a:schemeClr val="accent3">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NZ" dirty="0">
                <a:solidFill>
                  <a:schemeClr val="tx1"/>
                </a:solidFill>
              </a:rPr>
              <a:t>C.2</a:t>
            </a:r>
          </a:p>
        </p:txBody>
      </p:sp>
      <p:sp>
        <p:nvSpPr>
          <p:cNvPr id="16" name="Rectangle 15"/>
          <p:cNvSpPr/>
          <p:nvPr/>
        </p:nvSpPr>
        <p:spPr>
          <a:xfrm>
            <a:off x="2514600" y="5068888"/>
            <a:ext cx="2286000" cy="304800"/>
          </a:xfrm>
          <a:prstGeom prst="rect">
            <a:avLst/>
          </a:prstGeom>
          <a:solidFill>
            <a:schemeClr val="accent3">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NZ" dirty="0">
                <a:solidFill>
                  <a:schemeClr val="tx1"/>
                </a:solidFill>
              </a:rPr>
              <a:t>C.3</a:t>
            </a:r>
          </a:p>
        </p:txBody>
      </p:sp>
      <p:sp>
        <p:nvSpPr>
          <p:cNvPr id="17" name="Rectangle 16"/>
          <p:cNvSpPr/>
          <p:nvPr/>
        </p:nvSpPr>
        <p:spPr>
          <a:xfrm>
            <a:off x="2514600" y="3200400"/>
            <a:ext cx="2286000" cy="304800"/>
          </a:xfrm>
          <a:prstGeom prst="rect">
            <a:avLst/>
          </a:prstGeom>
          <a:solidFill>
            <a:schemeClr val="accent4">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NZ" dirty="0">
                <a:solidFill>
                  <a:schemeClr val="tx1"/>
                </a:solidFill>
              </a:rPr>
              <a:t>D.0</a:t>
            </a:r>
          </a:p>
        </p:txBody>
      </p:sp>
      <p:sp>
        <p:nvSpPr>
          <p:cNvPr id="18" name="Rectangle 17"/>
          <p:cNvSpPr/>
          <p:nvPr/>
        </p:nvSpPr>
        <p:spPr>
          <a:xfrm>
            <a:off x="2514600" y="3505200"/>
            <a:ext cx="2286000" cy="304800"/>
          </a:xfrm>
          <a:prstGeom prst="rect">
            <a:avLst/>
          </a:prstGeom>
          <a:solidFill>
            <a:schemeClr val="accent4">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NZ" dirty="0">
                <a:solidFill>
                  <a:schemeClr val="tx1"/>
                </a:solidFill>
              </a:rPr>
              <a:t>D.1</a:t>
            </a:r>
          </a:p>
        </p:txBody>
      </p:sp>
      <p:sp>
        <p:nvSpPr>
          <p:cNvPr id="19" name="Rectangle 18"/>
          <p:cNvSpPr/>
          <p:nvPr/>
        </p:nvSpPr>
        <p:spPr>
          <a:xfrm>
            <a:off x="2514600" y="3810000"/>
            <a:ext cx="2286000" cy="304800"/>
          </a:xfrm>
          <a:prstGeom prst="rect">
            <a:avLst/>
          </a:prstGeom>
          <a:solidFill>
            <a:schemeClr val="accent4">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NZ" dirty="0">
                <a:solidFill>
                  <a:schemeClr val="tx1"/>
                </a:solidFill>
              </a:rPr>
              <a:t>D.2</a:t>
            </a:r>
          </a:p>
        </p:txBody>
      </p:sp>
      <p:sp>
        <p:nvSpPr>
          <p:cNvPr id="20" name="Rectangle 19"/>
          <p:cNvSpPr/>
          <p:nvPr/>
        </p:nvSpPr>
        <p:spPr>
          <a:xfrm>
            <a:off x="2514600" y="5410200"/>
            <a:ext cx="2286000" cy="304800"/>
          </a:xfrm>
          <a:prstGeom prst="rect">
            <a:avLst/>
          </a:prstGeom>
          <a:solidFill>
            <a:schemeClr val="accent4">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NZ" dirty="0">
                <a:solidFill>
                  <a:schemeClr val="tx1"/>
                </a:solidFill>
              </a:rPr>
              <a:t>D.3</a:t>
            </a:r>
          </a:p>
        </p:txBody>
      </p:sp>
      <p:sp>
        <p:nvSpPr>
          <p:cNvPr id="21" name="Rectangle 20"/>
          <p:cNvSpPr/>
          <p:nvPr/>
        </p:nvSpPr>
        <p:spPr>
          <a:xfrm>
            <a:off x="2514600" y="5715000"/>
            <a:ext cx="2286000" cy="304800"/>
          </a:xfrm>
          <a:prstGeom prst="rect">
            <a:avLst/>
          </a:prstGeom>
          <a:solidFill>
            <a:schemeClr val="accent4">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NZ" dirty="0">
                <a:solidFill>
                  <a:schemeClr val="tx1"/>
                </a:solidFill>
              </a:rPr>
              <a:t>D.4</a:t>
            </a:r>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6"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1+#ppt_w/2"/>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 presetClass="entr" presetSubtype="6" fill="hold" grpId="0" nodeType="afterEffect">
                                  <p:stCondLst>
                                    <p:cond delay="0"/>
                                  </p:stCondLst>
                                  <p:childTnLst>
                                    <p:set>
                                      <p:cBhvr>
                                        <p:cTn id="11" dur="1" fill="hold">
                                          <p:stCondLst>
                                            <p:cond delay="0"/>
                                          </p:stCondLst>
                                        </p:cTn>
                                        <p:tgtEl>
                                          <p:spTgt spid="7"/>
                                        </p:tgtEl>
                                        <p:attrNameLst>
                                          <p:attrName>style.visibility</p:attrName>
                                        </p:attrNameLst>
                                      </p:cBhvr>
                                      <p:to>
                                        <p:strVal val="visible"/>
                                      </p:to>
                                    </p:set>
                                    <p:anim calcmode="lin" valueType="num">
                                      <p:cBhvr additive="base">
                                        <p:cTn id="12" dur="500" fill="hold"/>
                                        <p:tgtEl>
                                          <p:spTgt spid="7"/>
                                        </p:tgtEl>
                                        <p:attrNameLst>
                                          <p:attrName>ppt_x</p:attrName>
                                        </p:attrNameLst>
                                      </p:cBhvr>
                                      <p:tavLst>
                                        <p:tav tm="0">
                                          <p:val>
                                            <p:strVal val="1+#ppt_w/2"/>
                                          </p:val>
                                        </p:tav>
                                        <p:tav tm="100000">
                                          <p:val>
                                            <p:strVal val="#ppt_x"/>
                                          </p:val>
                                        </p:tav>
                                      </p:tavLst>
                                    </p:anim>
                                    <p:anim calcmode="lin" valueType="num">
                                      <p:cBhvr additive="base">
                                        <p:cTn id="13" dur="500" fill="hold"/>
                                        <p:tgtEl>
                                          <p:spTgt spid="7"/>
                                        </p:tgtEl>
                                        <p:attrNameLst>
                                          <p:attrName>ppt_y</p:attrName>
                                        </p:attrNameLst>
                                      </p:cBhvr>
                                      <p:tavLst>
                                        <p:tav tm="0">
                                          <p:val>
                                            <p:strVal val="1+#ppt_h/2"/>
                                          </p:val>
                                        </p:tav>
                                        <p:tav tm="100000">
                                          <p:val>
                                            <p:strVal val="#ppt_y"/>
                                          </p:val>
                                        </p:tav>
                                      </p:tavLst>
                                    </p:anim>
                                  </p:childTnLst>
                                </p:cTn>
                              </p:par>
                            </p:childTnLst>
                          </p:cTn>
                        </p:par>
                        <p:par>
                          <p:cTn id="14" fill="hold">
                            <p:stCondLst>
                              <p:cond delay="1000"/>
                            </p:stCondLst>
                            <p:childTnLst>
                              <p:par>
                                <p:cTn id="15" presetID="2" presetClass="entr" presetSubtype="6" fill="hold" grpId="0" nodeType="afterEffect">
                                  <p:stCondLst>
                                    <p:cond delay="0"/>
                                  </p:stCondLst>
                                  <p:childTnLst>
                                    <p:set>
                                      <p:cBhvr>
                                        <p:cTn id="16" dur="1" fill="hold">
                                          <p:stCondLst>
                                            <p:cond delay="0"/>
                                          </p:stCondLst>
                                        </p:cTn>
                                        <p:tgtEl>
                                          <p:spTgt spid="8"/>
                                        </p:tgtEl>
                                        <p:attrNameLst>
                                          <p:attrName>style.visibility</p:attrName>
                                        </p:attrNameLst>
                                      </p:cBhvr>
                                      <p:to>
                                        <p:strVal val="visible"/>
                                      </p:to>
                                    </p:set>
                                    <p:anim calcmode="lin" valueType="num">
                                      <p:cBhvr additive="base">
                                        <p:cTn id="17" dur="500" fill="hold"/>
                                        <p:tgtEl>
                                          <p:spTgt spid="8"/>
                                        </p:tgtEl>
                                        <p:attrNameLst>
                                          <p:attrName>ppt_x</p:attrName>
                                        </p:attrNameLst>
                                      </p:cBhvr>
                                      <p:tavLst>
                                        <p:tav tm="0">
                                          <p:val>
                                            <p:strVal val="1+#ppt_w/2"/>
                                          </p:val>
                                        </p:tav>
                                        <p:tav tm="100000">
                                          <p:val>
                                            <p:strVal val="#ppt_x"/>
                                          </p:val>
                                        </p:tav>
                                      </p:tavLst>
                                    </p:anim>
                                    <p:anim calcmode="lin" valueType="num">
                                      <p:cBhvr additive="base">
                                        <p:cTn id="18" dur="500" fill="hold"/>
                                        <p:tgtEl>
                                          <p:spTgt spid="8"/>
                                        </p:tgtEl>
                                        <p:attrNameLst>
                                          <p:attrName>ppt_y</p:attrName>
                                        </p:attrNameLst>
                                      </p:cBhvr>
                                      <p:tavLst>
                                        <p:tav tm="0">
                                          <p:val>
                                            <p:strVal val="1+#ppt_h/2"/>
                                          </p:val>
                                        </p:tav>
                                        <p:tav tm="100000">
                                          <p:val>
                                            <p:strVal val="#ppt_y"/>
                                          </p:val>
                                        </p:tav>
                                      </p:tavLst>
                                    </p:anim>
                                  </p:childTnLst>
                                </p:cTn>
                              </p:par>
                            </p:childTnLst>
                          </p:cTn>
                        </p:par>
                        <p:par>
                          <p:cTn id="19" fill="hold">
                            <p:stCondLst>
                              <p:cond delay="1500"/>
                            </p:stCondLst>
                            <p:childTnLst>
                              <p:par>
                                <p:cTn id="20" presetID="2" presetClass="entr" presetSubtype="6" fill="hold" grpId="0" nodeType="afterEffect">
                                  <p:stCondLst>
                                    <p:cond delay="0"/>
                                  </p:stCondLst>
                                  <p:childTnLst>
                                    <p:set>
                                      <p:cBhvr>
                                        <p:cTn id="21" dur="1" fill="hold">
                                          <p:stCondLst>
                                            <p:cond delay="0"/>
                                          </p:stCondLst>
                                        </p:cTn>
                                        <p:tgtEl>
                                          <p:spTgt spid="9"/>
                                        </p:tgtEl>
                                        <p:attrNameLst>
                                          <p:attrName>style.visibility</p:attrName>
                                        </p:attrNameLst>
                                      </p:cBhvr>
                                      <p:to>
                                        <p:strVal val="visible"/>
                                      </p:to>
                                    </p:set>
                                    <p:anim calcmode="lin" valueType="num">
                                      <p:cBhvr additive="base">
                                        <p:cTn id="22" dur="500" fill="hold"/>
                                        <p:tgtEl>
                                          <p:spTgt spid="9"/>
                                        </p:tgtEl>
                                        <p:attrNameLst>
                                          <p:attrName>ppt_x</p:attrName>
                                        </p:attrNameLst>
                                      </p:cBhvr>
                                      <p:tavLst>
                                        <p:tav tm="0">
                                          <p:val>
                                            <p:strVal val="1+#ppt_w/2"/>
                                          </p:val>
                                        </p:tav>
                                        <p:tav tm="100000">
                                          <p:val>
                                            <p:strVal val="#ppt_x"/>
                                          </p:val>
                                        </p:tav>
                                      </p:tavLst>
                                    </p:anim>
                                    <p:anim calcmode="lin" valueType="num">
                                      <p:cBhvr additive="base">
                                        <p:cTn id="23"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2" presetClass="entr" presetSubtype="4" fill="hold" grpId="0" nodeType="clickEffect">
                                  <p:stCondLst>
                                    <p:cond delay="0"/>
                                  </p:stCondLst>
                                  <p:childTnLst>
                                    <p:set>
                                      <p:cBhvr>
                                        <p:cTn id="27" dur="1" fill="hold">
                                          <p:stCondLst>
                                            <p:cond delay="0"/>
                                          </p:stCondLst>
                                        </p:cTn>
                                        <p:tgtEl>
                                          <p:spTgt spid="10"/>
                                        </p:tgtEl>
                                        <p:attrNameLst>
                                          <p:attrName>style.visibility</p:attrName>
                                        </p:attrNameLst>
                                      </p:cBhvr>
                                      <p:to>
                                        <p:strVal val="visible"/>
                                      </p:to>
                                    </p:set>
                                    <p:anim calcmode="lin" valueType="num">
                                      <p:cBhvr additive="base">
                                        <p:cTn id="28" dur="500" fill="hold"/>
                                        <p:tgtEl>
                                          <p:spTgt spid="10"/>
                                        </p:tgtEl>
                                        <p:attrNameLst>
                                          <p:attrName>ppt_x</p:attrName>
                                        </p:attrNameLst>
                                      </p:cBhvr>
                                      <p:tavLst>
                                        <p:tav tm="0">
                                          <p:val>
                                            <p:strVal val="#ppt_x"/>
                                          </p:val>
                                        </p:tav>
                                        <p:tav tm="100000">
                                          <p:val>
                                            <p:strVal val="#ppt_x"/>
                                          </p:val>
                                        </p:tav>
                                      </p:tavLst>
                                    </p:anim>
                                    <p:anim calcmode="lin" valueType="num">
                                      <p:cBhvr additive="base">
                                        <p:cTn id="29" dur="500" fill="hold"/>
                                        <p:tgtEl>
                                          <p:spTgt spid="10"/>
                                        </p:tgtEl>
                                        <p:attrNameLst>
                                          <p:attrName>ppt_y</p:attrName>
                                        </p:attrNameLst>
                                      </p:cBhvr>
                                      <p:tavLst>
                                        <p:tav tm="0">
                                          <p:val>
                                            <p:strVal val="1+#ppt_h/2"/>
                                          </p:val>
                                        </p:tav>
                                        <p:tav tm="100000">
                                          <p:val>
                                            <p:strVal val="#ppt_y"/>
                                          </p:val>
                                        </p:tav>
                                      </p:tavLst>
                                    </p:anim>
                                  </p:childTnLst>
                                </p:cTn>
                              </p:par>
                            </p:childTnLst>
                          </p:cTn>
                        </p:par>
                        <p:par>
                          <p:cTn id="30" fill="hold">
                            <p:stCondLst>
                              <p:cond delay="500"/>
                            </p:stCondLst>
                            <p:childTnLst>
                              <p:par>
                                <p:cTn id="31" presetID="2" presetClass="entr" presetSubtype="6" fill="hold" grpId="0" nodeType="afterEffect">
                                  <p:stCondLst>
                                    <p:cond delay="0"/>
                                  </p:stCondLst>
                                  <p:childTnLst>
                                    <p:set>
                                      <p:cBhvr>
                                        <p:cTn id="32" dur="1" fill="hold">
                                          <p:stCondLst>
                                            <p:cond delay="0"/>
                                          </p:stCondLst>
                                        </p:cTn>
                                        <p:tgtEl>
                                          <p:spTgt spid="11"/>
                                        </p:tgtEl>
                                        <p:attrNameLst>
                                          <p:attrName>style.visibility</p:attrName>
                                        </p:attrNameLst>
                                      </p:cBhvr>
                                      <p:to>
                                        <p:strVal val="visible"/>
                                      </p:to>
                                    </p:set>
                                    <p:anim calcmode="lin" valueType="num">
                                      <p:cBhvr additive="base">
                                        <p:cTn id="33" dur="500" fill="hold"/>
                                        <p:tgtEl>
                                          <p:spTgt spid="11"/>
                                        </p:tgtEl>
                                        <p:attrNameLst>
                                          <p:attrName>ppt_x</p:attrName>
                                        </p:attrNameLst>
                                      </p:cBhvr>
                                      <p:tavLst>
                                        <p:tav tm="0">
                                          <p:val>
                                            <p:strVal val="1+#ppt_w/2"/>
                                          </p:val>
                                        </p:tav>
                                        <p:tav tm="100000">
                                          <p:val>
                                            <p:strVal val="#ppt_x"/>
                                          </p:val>
                                        </p:tav>
                                      </p:tavLst>
                                    </p:anim>
                                    <p:anim calcmode="lin" valueType="num">
                                      <p:cBhvr additive="base">
                                        <p:cTn id="34" dur="500" fill="hold"/>
                                        <p:tgtEl>
                                          <p:spTgt spid="11"/>
                                        </p:tgtEl>
                                        <p:attrNameLst>
                                          <p:attrName>ppt_y</p:attrName>
                                        </p:attrNameLst>
                                      </p:cBhvr>
                                      <p:tavLst>
                                        <p:tav tm="0">
                                          <p:val>
                                            <p:strVal val="1+#ppt_h/2"/>
                                          </p:val>
                                        </p:tav>
                                        <p:tav tm="100000">
                                          <p:val>
                                            <p:strVal val="#ppt_y"/>
                                          </p:val>
                                        </p:tav>
                                      </p:tavLst>
                                    </p:anim>
                                  </p:childTnLst>
                                </p:cTn>
                              </p:par>
                            </p:childTnLst>
                          </p:cTn>
                        </p:par>
                        <p:par>
                          <p:cTn id="35" fill="hold">
                            <p:stCondLst>
                              <p:cond delay="1000"/>
                            </p:stCondLst>
                            <p:childTnLst>
                              <p:par>
                                <p:cTn id="36" presetID="2" presetClass="entr" presetSubtype="6" fill="hold" grpId="0" nodeType="afterEffect">
                                  <p:stCondLst>
                                    <p:cond delay="0"/>
                                  </p:stCondLst>
                                  <p:childTnLst>
                                    <p:set>
                                      <p:cBhvr>
                                        <p:cTn id="37" dur="1" fill="hold">
                                          <p:stCondLst>
                                            <p:cond delay="0"/>
                                          </p:stCondLst>
                                        </p:cTn>
                                        <p:tgtEl>
                                          <p:spTgt spid="12"/>
                                        </p:tgtEl>
                                        <p:attrNameLst>
                                          <p:attrName>style.visibility</p:attrName>
                                        </p:attrNameLst>
                                      </p:cBhvr>
                                      <p:to>
                                        <p:strVal val="visible"/>
                                      </p:to>
                                    </p:set>
                                    <p:anim calcmode="lin" valueType="num">
                                      <p:cBhvr additive="base">
                                        <p:cTn id="38" dur="500" fill="hold"/>
                                        <p:tgtEl>
                                          <p:spTgt spid="12"/>
                                        </p:tgtEl>
                                        <p:attrNameLst>
                                          <p:attrName>ppt_x</p:attrName>
                                        </p:attrNameLst>
                                      </p:cBhvr>
                                      <p:tavLst>
                                        <p:tav tm="0">
                                          <p:val>
                                            <p:strVal val="1+#ppt_w/2"/>
                                          </p:val>
                                        </p:tav>
                                        <p:tav tm="100000">
                                          <p:val>
                                            <p:strVal val="#ppt_x"/>
                                          </p:val>
                                        </p:tav>
                                      </p:tavLst>
                                    </p:anim>
                                    <p:anim calcmode="lin" valueType="num">
                                      <p:cBhvr additive="base">
                                        <p:cTn id="39" dur="500" fill="hold"/>
                                        <p:tgtEl>
                                          <p:spTgt spid="12"/>
                                        </p:tgtEl>
                                        <p:attrNameLst>
                                          <p:attrName>ppt_y</p:attrName>
                                        </p:attrNameLst>
                                      </p:cBhvr>
                                      <p:tavLst>
                                        <p:tav tm="0">
                                          <p:val>
                                            <p:strVal val="1+#ppt_h/2"/>
                                          </p:val>
                                        </p:tav>
                                        <p:tav tm="100000">
                                          <p:val>
                                            <p:strVal val="#ppt_y"/>
                                          </p:val>
                                        </p:tav>
                                      </p:tavLst>
                                    </p:anim>
                                  </p:childTnLst>
                                </p:cTn>
                              </p:par>
                            </p:childTnLst>
                          </p:cTn>
                        </p:par>
                        <p:par>
                          <p:cTn id="40" fill="hold">
                            <p:stCondLst>
                              <p:cond delay="1500"/>
                            </p:stCondLst>
                            <p:childTnLst>
                              <p:par>
                                <p:cTn id="41" presetID="2" presetClass="entr" presetSubtype="6" fill="hold" grpId="0" nodeType="afterEffect">
                                  <p:stCondLst>
                                    <p:cond delay="0"/>
                                  </p:stCondLst>
                                  <p:childTnLst>
                                    <p:set>
                                      <p:cBhvr>
                                        <p:cTn id="42" dur="1" fill="hold">
                                          <p:stCondLst>
                                            <p:cond delay="0"/>
                                          </p:stCondLst>
                                        </p:cTn>
                                        <p:tgtEl>
                                          <p:spTgt spid="13"/>
                                        </p:tgtEl>
                                        <p:attrNameLst>
                                          <p:attrName>style.visibility</p:attrName>
                                        </p:attrNameLst>
                                      </p:cBhvr>
                                      <p:to>
                                        <p:strVal val="visible"/>
                                      </p:to>
                                    </p:set>
                                    <p:anim calcmode="lin" valueType="num">
                                      <p:cBhvr additive="base">
                                        <p:cTn id="43" dur="500" fill="hold"/>
                                        <p:tgtEl>
                                          <p:spTgt spid="13"/>
                                        </p:tgtEl>
                                        <p:attrNameLst>
                                          <p:attrName>ppt_x</p:attrName>
                                        </p:attrNameLst>
                                      </p:cBhvr>
                                      <p:tavLst>
                                        <p:tav tm="0">
                                          <p:val>
                                            <p:strVal val="1+#ppt_w/2"/>
                                          </p:val>
                                        </p:tav>
                                        <p:tav tm="100000">
                                          <p:val>
                                            <p:strVal val="#ppt_x"/>
                                          </p:val>
                                        </p:tav>
                                      </p:tavLst>
                                    </p:anim>
                                    <p:anim calcmode="lin" valueType="num">
                                      <p:cBhvr additive="base">
                                        <p:cTn id="44" dur="500" fill="hold"/>
                                        <p:tgtEl>
                                          <p:spTgt spid="13"/>
                                        </p:tgtEl>
                                        <p:attrNameLst>
                                          <p:attrName>ppt_y</p:attrName>
                                        </p:attrNameLst>
                                      </p:cBhvr>
                                      <p:tavLst>
                                        <p:tav tm="0">
                                          <p:val>
                                            <p:strVal val="1+#ppt_h/2"/>
                                          </p:val>
                                        </p:tav>
                                        <p:tav tm="100000">
                                          <p:val>
                                            <p:strVal val="#ppt_y"/>
                                          </p:val>
                                        </p:tav>
                                      </p:tavLst>
                                    </p:anim>
                                  </p:childTnLst>
                                </p:cTn>
                              </p:par>
                            </p:childTnLst>
                          </p:cTn>
                        </p:par>
                        <p:par>
                          <p:cTn id="45" fill="hold">
                            <p:stCondLst>
                              <p:cond delay="2000"/>
                            </p:stCondLst>
                            <p:childTnLst>
                              <p:par>
                                <p:cTn id="46" presetID="2" presetClass="entr" presetSubtype="6" fill="hold" grpId="0" nodeType="afterEffect">
                                  <p:stCondLst>
                                    <p:cond delay="0"/>
                                  </p:stCondLst>
                                  <p:childTnLst>
                                    <p:set>
                                      <p:cBhvr>
                                        <p:cTn id="47" dur="1" fill="hold">
                                          <p:stCondLst>
                                            <p:cond delay="0"/>
                                          </p:stCondLst>
                                        </p:cTn>
                                        <p:tgtEl>
                                          <p:spTgt spid="14"/>
                                        </p:tgtEl>
                                        <p:attrNameLst>
                                          <p:attrName>style.visibility</p:attrName>
                                        </p:attrNameLst>
                                      </p:cBhvr>
                                      <p:to>
                                        <p:strVal val="visible"/>
                                      </p:to>
                                    </p:set>
                                    <p:anim calcmode="lin" valueType="num">
                                      <p:cBhvr additive="base">
                                        <p:cTn id="48" dur="500" fill="hold"/>
                                        <p:tgtEl>
                                          <p:spTgt spid="14"/>
                                        </p:tgtEl>
                                        <p:attrNameLst>
                                          <p:attrName>ppt_x</p:attrName>
                                        </p:attrNameLst>
                                      </p:cBhvr>
                                      <p:tavLst>
                                        <p:tav tm="0">
                                          <p:val>
                                            <p:strVal val="1+#ppt_w/2"/>
                                          </p:val>
                                        </p:tav>
                                        <p:tav tm="100000">
                                          <p:val>
                                            <p:strVal val="#ppt_x"/>
                                          </p:val>
                                        </p:tav>
                                      </p:tavLst>
                                    </p:anim>
                                    <p:anim calcmode="lin" valueType="num">
                                      <p:cBhvr additive="base">
                                        <p:cTn id="49" dur="500" fill="hold"/>
                                        <p:tgtEl>
                                          <p:spTgt spid="14"/>
                                        </p:tgtEl>
                                        <p:attrNameLst>
                                          <p:attrName>ppt_y</p:attrName>
                                        </p:attrNameLst>
                                      </p:cBhvr>
                                      <p:tavLst>
                                        <p:tav tm="0">
                                          <p:val>
                                            <p:strVal val="1+#ppt_h/2"/>
                                          </p:val>
                                        </p:tav>
                                        <p:tav tm="100000">
                                          <p:val>
                                            <p:strVal val="#ppt_y"/>
                                          </p:val>
                                        </p:tav>
                                      </p:tavLst>
                                    </p:anim>
                                  </p:childTnLst>
                                </p:cTn>
                              </p:par>
                            </p:childTnLst>
                          </p:cTn>
                        </p:par>
                        <p:par>
                          <p:cTn id="50" fill="hold">
                            <p:stCondLst>
                              <p:cond delay="2500"/>
                            </p:stCondLst>
                            <p:childTnLst>
                              <p:par>
                                <p:cTn id="51" presetID="2" presetClass="entr" presetSubtype="6" fill="hold" grpId="0" nodeType="afterEffect">
                                  <p:stCondLst>
                                    <p:cond delay="0"/>
                                  </p:stCondLst>
                                  <p:childTnLst>
                                    <p:set>
                                      <p:cBhvr>
                                        <p:cTn id="52" dur="1" fill="hold">
                                          <p:stCondLst>
                                            <p:cond delay="0"/>
                                          </p:stCondLst>
                                        </p:cTn>
                                        <p:tgtEl>
                                          <p:spTgt spid="15"/>
                                        </p:tgtEl>
                                        <p:attrNameLst>
                                          <p:attrName>style.visibility</p:attrName>
                                        </p:attrNameLst>
                                      </p:cBhvr>
                                      <p:to>
                                        <p:strVal val="visible"/>
                                      </p:to>
                                    </p:set>
                                    <p:anim calcmode="lin" valueType="num">
                                      <p:cBhvr additive="base">
                                        <p:cTn id="53" dur="500" fill="hold"/>
                                        <p:tgtEl>
                                          <p:spTgt spid="15"/>
                                        </p:tgtEl>
                                        <p:attrNameLst>
                                          <p:attrName>ppt_x</p:attrName>
                                        </p:attrNameLst>
                                      </p:cBhvr>
                                      <p:tavLst>
                                        <p:tav tm="0">
                                          <p:val>
                                            <p:strVal val="1+#ppt_w/2"/>
                                          </p:val>
                                        </p:tav>
                                        <p:tav tm="100000">
                                          <p:val>
                                            <p:strVal val="#ppt_x"/>
                                          </p:val>
                                        </p:tav>
                                      </p:tavLst>
                                    </p:anim>
                                    <p:anim calcmode="lin" valueType="num">
                                      <p:cBhvr additive="base">
                                        <p:cTn id="54" dur="500" fill="hold"/>
                                        <p:tgtEl>
                                          <p:spTgt spid="15"/>
                                        </p:tgtEl>
                                        <p:attrNameLst>
                                          <p:attrName>ppt_y</p:attrName>
                                        </p:attrNameLst>
                                      </p:cBhvr>
                                      <p:tavLst>
                                        <p:tav tm="0">
                                          <p:val>
                                            <p:strVal val="1+#ppt_h/2"/>
                                          </p:val>
                                        </p:tav>
                                        <p:tav tm="100000">
                                          <p:val>
                                            <p:strVal val="#ppt_y"/>
                                          </p:val>
                                        </p:tav>
                                      </p:tavLst>
                                    </p:anim>
                                  </p:childTnLst>
                                </p:cTn>
                              </p:par>
                            </p:childTnLst>
                          </p:cTn>
                        </p:par>
                        <p:par>
                          <p:cTn id="55" fill="hold">
                            <p:stCondLst>
                              <p:cond delay="3000"/>
                            </p:stCondLst>
                            <p:childTnLst>
                              <p:par>
                                <p:cTn id="56" presetID="2" presetClass="entr" presetSubtype="6" fill="hold" grpId="0" nodeType="afterEffect">
                                  <p:stCondLst>
                                    <p:cond delay="0"/>
                                  </p:stCondLst>
                                  <p:childTnLst>
                                    <p:set>
                                      <p:cBhvr>
                                        <p:cTn id="57" dur="1" fill="hold">
                                          <p:stCondLst>
                                            <p:cond delay="0"/>
                                          </p:stCondLst>
                                        </p:cTn>
                                        <p:tgtEl>
                                          <p:spTgt spid="16"/>
                                        </p:tgtEl>
                                        <p:attrNameLst>
                                          <p:attrName>style.visibility</p:attrName>
                                        </p:attrNameLst>
                                      </p:cBhvr>
                                      <p:to>
                                        <p:strVal val="visible"/>
                                      </p:to>
                                    </p:set>
                                    <p:anim calcmode="lin" valueType="num">
                                      <p:cBhvr additive="base">
                                        <p:cTn id="58" dur="500" fill="hold"/>
                                        <p:tgtEl>
                                          <p:spTgt spid="16"/>
                                        </p:tgtEl>
                                        <p:attrNameLst>
                                          <p:attrName>ppt_x</p:attrName>
                                        </p:attrNameLst>
                                      </p:cBhvr>
                                      <p:tavLst>
                                        <p:tav tm="0">
                                          <p:val>
                                            <p:strVal val="1+#ppt_w/2"/>
                                          </p:val>
                                        </p:tav>
                                        <p:tav tm="100000">
                                          <p:val>
                                            <p:strVal val="#ppt_x"/>
                                          </p:val>
                                        </p:tav>
                                      </p:tavLst>
                                    </p:anim>
                                    <p:anim calcmode="lin" valueType="num">
                                      <p:cBhvr additive="base">
                                        <p:cTn id="59" dur="500" fill="hold"/>
                                        <p:tgtEl>
                                          <p:spTgt spid="16"/>
                                        </p:tgtEl>
                                        <p:attrNameLst>
                                          <p:attrName>ppt_y</p:attrName>
                                        </p:attrNameLst>
                                      </p:cBhvr>
                                      <p:tavLst>
                                        <p:tav tm="0">
                                          <p:val>
                                            <p:strVal val="1+#ppt_h/2"/>
                                          </p:val>
                                        </p:tav>
                                        <p:tav tm="100000">
                                          <p:val>
                                            <p:strVal val="#ppt_y"/>
                                          </p:val>
                                        </p:tav>
                                      </p:tavLst>
                                    </p:anim>
                                  </p:childTnLst>
                                </p:cTn>
                              </p:par>
                            </p:childTnLst>
                          </p:cTn>
                        </p:par>
                      </p:childTnLst>
                    </p:cTn>
                  </p:par>
                  <p:par>
                    <p:cTn id="60" fill="hold">
                      <p:stCondLst>
                        <p:cond delay="indefinite"/>
                      </p:stCondLst>
                      <p:childTnLst>
                        <p:par>
                          <p:cTn id="61" fill="hold">
                            <p:stCondLst>
                              <p:cond delay="0"/>
                            </p:stCondLst>
                            <p:childTnLst>
                              <p:par>
                                <p:cTn id="62" presetID="2" presetClass="exit" presetSubtype="6" fill="hold" grpId="1" nodeType="clickEffect">
                                  <p:stCondLst>
                                    <p:cond delay="0"/>
                                  </p:stCondLst>
                                  <p:childTnLst>
                                    <p:anim calcmode="lin" valueType="num">
                                      <p:cBhvr additive="base">
                                        <p:cTn id="63" dur="500"/>
                                        <p:tgtEl>
                                          <p:spTgt spid="10"/>
                                        </p:tgtEl>
                                        <p:attrNameLst>
                                          <p:attrName>ppt_x</p:attrName>
                                        </p:attrNameLst>
                                      </p:cBhvr>
                                      <p:tavLst>
                                        <p:tav tm="0">
                                          <p:val>
                                            <p:strVal val="ppt_x"/>
                                          </p:val>
                                        </p:tav>
                                        <p:tav tm="100000">
                                          <p:val>
                                            <p:strVal val="1+ppt_w/2"/>
                                          </p:val>
                                        </p:tav>
                                      </p:tavLst>
                                    </p:anim>
                                    <p:anim calcmode="lin" valueType="num">
                                      <p:cBhvr additive="base">
                                        <p:cTn id="64" dur="500"/>
                                        <p:tgtEl>
                                          <p:spTgt spid="10"/>
                                        </p:tgtEl>
                                        <p:attrNameLst>
                                          <p:attrName>ppt_y</p:attrName>
                                        </p:attrNameLst>
                                      </p:cBhvr>
                                      <p:tavLst>
                                        <p:tav tm="0">
                                          <p:val>
                                            <p:strVal val="ppt_y"/>
                                          </p:val>
                                        </p:tav>
                                        <p:tav tm="100000">
                                          <p:val>
                                            <p:strVal val="1+ppt_h/2"/>
                                          </p:val>
                                        </p:tav>
                                      </p:tavLst>
                                    </p:anim>
                                    <p:set>
                                      <p:cBhvr>
                                        <p:cTn id="65" dur="1" fill="hold">
                                          <p:stCondLst>
                                            <p:cond delay="499"/>
                                          </p:stCondLst>
                                        </p:cTn>
                                        <p:tgtEl>
                                          <p:spTgt spid="10"/>
                                        </p:tgtEl>
                                        <p:attrNameLst>
                                          <p:attrName>style.visibility</p:attrName>
                                        </p:attrNameLst>
                                      </p:cBhvr>
                                      <p:to>
                                        <p:strVal val="hidden"/>
                                      </p:to>
                                    </p:set>
                                  </p:childTnLst>
                                </p:cTn>
                              </p:par>
                              <p:par>
                                <p:cTn id="66" presetID="2" presetClass="exit" presetSubtype="6" fill="hold" grpId="1" nodeType="withEffect">
                                  <p:stCondLst>
                                    <p:cond delay="0"/>
                                  </p:stCondLst>
                                  <p:childTnLst>
                                    <p:anim calcmode="lin" valueType="num">
                                      <p:cBhvr additive="base">
                                        <p:cTn id="67" dur="500"/>
                                        <p:tgtEl>
                                          <p:spTgt spid="11"/>
                                        </p:tgtEl>
                                        <p:attrNameLst>
                                          <p:attrName>ppt_x</p:attrName>
                                        </p:attrNameLst>
                                      </p:cBhvr>
                                      <p:tavLst>
                                        <p:tav tm="0">
                                          <p:val>
                                            <p:strVal val="ppt_x"/>
                                          </p:val>
                                        </p:tav>
                                        <p:tav tm="100000">
                                          <p:val>
                                            <p:strVal val="1+ppt_w/2"/>
                                          </p:val>
                                        </p:tav>
                                      </p:tavLst>
                                    </p:anim>
                                    <p:anim calcmode="lin" valueType="num">
                                      <p:cBhvr additive="base">
                                        <p:cTn id="68" dur="500"/>
                                        <p:tgtEl>
                                          <p:spTgt spid="11"/>
                                        </p:tgtEl>
                                        <p:attrNameLst>
                                          <p:attrName>ppt_y</p:attrName>
                                        </p:attrNameLst>
                                      </p:cBhvr>
                                      <p:tavLst>
                                        <p:tav tm="0">
                                          <p:val>
                                            <p:strVal val="ppt_y"/>
                                          </p:val>
                                        </p:tav>
                                        <p:tav tm="100000">
                                          <p:val>
                                            <p:strVal val="1+ppt_h/2"/>
                                          </p:val>
                                        </p:tav>
                                      </p:tavLst>
                                    </p:anim>
                                    <p:set>
                                      <p:cBhvr>
                                        <p:cTn id="69" dur="1" fill="hold">
                                          <p:stCondLst>
                                            <p:cond delay="499"/>
                                          </p:stCondLst>
                                        </p:cTn>
                                        <p:tgtEl>
                                          <p:spTgt spid="11"/>
                                        </p:tgtEl>
                                        <p:attrNameLst>
                                          <p:attrName>style.visibility</p:attrName>
                                        </p:attrNameLst>
                                      </p:cBhvr>
                                      <p:to>
                                        <p:strVal val="hidden"/>
                                      </p:to>
                                    </p:set>
                                  </p:childTnLst>
                                </p:cTn>
                              </p:par>
                              <p:par>
                                <p:cTn id="70" presetID="2" presetClass="exit" presetSubtype="6" fill="hold" grpId="1" nodeType="withEffect">
                                  <p:stCondLst>
                                    <p:cond delay="0"/>
                                  </p:stCondLst>
                                  <p:childTnLst>
                                    <p:anim calcmode="lin" valueType="num">
                                      <p:cBhvr additive="base">
                                        <p:cTn id="71" dur="500"/>
                                        <p:tgtEl>
                                          <p:spTgt spid="12"/>
                                        </p:tgtEl>
                                        <p:attrNameLst>
                                          <p:attrName>ppt_x</p:attrName>
                                        </p:attrNameLst>
                                      </p:cBhvr>
                                      <p:tavLst>
                                        <p:tav tm="0">
                                          <p:val>
                                            <p:strVal val="ppt_x"/>
                                          </p:val>
                                        </p:tav>
                                        <p:tav tm="100000">
                                          <p:val>
                                            <p:strVal val="1+ppt_w/2"/>
                                          </p:val>
                                        </p:tav>
                                      </p:tavLst>
                                    </p:anim>
                                    <p:anim calcmode="lin" valueType="num">
                                      <p:cBhvr additive="base">
                                        <p:cTn id="72" dur="500"/>
                                        <p:tgtEl>
                                          <p:spTgt spid="12"/>
                                        </p:tgtEl>
                                        <p:attrNameLst>
                                          <p:attrName>ppt_y</p:attrName>
                                        </p:attrNameLst>
                                      </p:cBhvr>
                                      <p:tavLst>
                                        <p:tav tm="0">
                                          <p:val>
                                            <p:strVal val="ppt_y"/>
                                          </p:val>
                                        </p:tav>
                                        <p:tav tm="100000">
                                          <p:val>
                                            <p:strVal val="1+ppt_h/2"/>
                                          </p:val>
                                        </p:tav>
                                      </p:tavLst>
                                    </p:anim>
                                    <p:set>
                                      <p:cBhvr>
                                        <p:cTn id="73" dur="1" fill="hold">
                                          <p:stCondLst>
                                            <p:cond delay="499"/>
                                          </p:stCondLst>
                                        </p:cTn>
                                        <p:tgtEl>
                                          <p:spTgt spid="12"/>
                                        </p:tgtEl>
                                        <p:attrNameLst>
                                          <p:attrName>style.visibility</p:attrName>
                                        </p:attrNameLst>
                                      </p:cBhvr>
                                      <p:to>
                                        <p:strVal val="hidden"/>
                                      </p:to>
                                    </p:set>
                                  </p:childTnLst>
                                </p:cTn>
                              </p:par>
                            </p:childTnLst>
                          </p:cTn>
                        </p:par>
                      </p:childTnLst>
                    </p:cTn>
                  </p:par>
                  <p:par>
                    <p:cTn id="74" fill="hold">
                      <p:stCondLst>
                        <p:cond delay="indefinite"/>
                      </p:stCondLst>
                      <p:childTnLst>
                        <p:par>
                          <p:cTn id="75" fill="hold">
                            <p:stCondLst>
                              <p:cond delay="0"/>
                            </p:stCondLst>
                            <p:childTnLst>
                              <p:par>
                                <p:cTn id="76" presetID="2" presetClass="entr" presetSubtype="6" fill="hold" grpId="0" nodeType="clickEffect">
                                  <p:stCondLst>
                                    <p:cond delay="0"/>
                                  </p:stCondLst>
                                  <p:childTnLst>
                                    <p:set>
                                      <p:cBhvr>
                                        <p:cTn id="77" dur="1" fill="hold">
                                          <p:stCondLst>
                                            <p:cond delay="0"/>
                                          </p:stCondLst>
                                        </p:cTn>
                                        <p:tgtEl>
                                          <p:spTgt spid="17"/>
                                        </p:tgtEl>
                                        <p:attrNameLst>
                                          <p:attrName>style.visibility</p:attrName>
                                        </p:attrNameLst>
                                      </p:cBhvr>
                                      <p:to>
                                        <p:strVal val="visible"/>
                                      </p:to>
                                    </p:set>
                                    <p:anim calcmode="lin" valueType="num">
                                      <p:cBhvr additive="base">
                                        <p:cTn id="78" dur="500" fill="hold"/>
                                        <p:tgtEl>
                                          <p:spTgt spid="17"/>
                                        </p:tgtEl>
                                        <p:attrNameLst>
                                          <p:attrName>ppt_x</p:attrName>
                                        </p:attrNameLst>
                                      </p:cBhvr>
                                      <p:tavLst>
                                        <p:tav tm="0">
                                          <p:val>
                                            <p:strVal val="1+#ppt_w/2"/>
                                          </p:val>
                                        </p:tav>
                                        <p:tav tm="100000">
                                          <p:val>
                                            <p:strVal val="#ppt_x"/>
                                          </p:val>
                                        </p:tav>
                                      </p:tavLst>
                                    </p:anim>
                                    <p:anim calcmode="lin" valueType="num">
                                      <p:cBhvr additive="base">
                                        <p:cTn id="79" dur="500" fill="hold"/>
                                        <p:tgtEl>
                                          <p:spTgt spid="17"/>
                                        </p:tgtEl>
                                        <p:attrNameLst>
                                          <p:attrName>ppt_y</p:attrName>
                                        </p:attrNameLst>
                                      </p:cBhvr>
                                      <p:tavLst>
                                        <p:tav tm="0">
                                          <p:val>
                                            <p:strVal val="1+#ppt_h/2"/>
                                          </p:val>
                                        </p:tav>
                                        <p:tav tm="100000">
                                          <p:val>
                                            <p:strVal val="#ppt_y"/>
                                          </p:val>
                                        </p:tav>
                                      </p:tavLst>
                                    </p:anim>
                                  </p:childTnLst>
                                </p:cTn>
                              </p:par>
                            </p:childTnLst>
                          </p:cTn>
                        </p:par>
                        <p:par>
                          <p:cTn id="80" fill="hold">
                            <p:stCondLst>
                              <p:cond delay="500"/>
                            </p:stCondLst>
                            <p:childTnLst>
                              <p:par>
                                <p:cTn id="81" presetID="2" presetClass="entr" presetSubtype="6" fill="hold" grpId="0" nodeType="afterEffect">
                                  <p:stCondLst>
                                    <p:cond delay="0"/>
                                  </p:stCondLst>
                                  <p:childTnLst>
                                    <p:set>
                                      <p:cBhvr>
                                        <p:cTn id="82" dur="1" fill="hold">
                                          <p:stCondLst>
                                            <p:cond delay="0"/>
                                          </p:stCondLst>
                                        </p:cTn>
                                        <p:tgtEl>
                                          <p:spTgt spid="18"/>
                                        </p:tgtEl>
                                        <p:attrNameLst>
                                          <p:attrName>style.visibility</p:attrName>
                                        </p:attrNameLst>
                                      </p:cBhvr>
                                      <p:to>
                                        <p:strVal val="visible"/>
                                      </p:to>
                                    </p:set>
                                    <p:anim calcmode="lin" valueType="num">
                                      <p:cBhvr additive="base">
                                        <p:cTn id="83" dur="500" fill="hold"/>
                                        <p:tgtEl>
                                          <p:spTgt spid="18"/>
                                        </p:tgtEl>
                                        <p:attrNameLst>
                                          <p:attrName>ppt_x</p:attrName>
                                        </p:attrNameLst>
                                      </p:cBhvr>
                                      <p:tavLst>
                                        <p:tav tm="0">
                                          <p:val>
                                            <p:strVal val="1+#ppt_w/2"/>
                                          </p:val>
                                        </p:tav>
                                        <p:tav tm="100000">
                                          <p:val>
                                            <p:strVal val="#ppt_x"/>
                                          </p:val>
                                        </p:tav>
                                      </p:tavLst>
                                    </p:anim>
                                    <p:anim calcmode="lin" valueType="num">
                                      <p:cBhvr additive="base">
                                        <p:cTn id="84" dur="500" fill="hold"/>
                                        <p:tgtEl>
                                          <p:spTgt spid="18"/>
                                        </p:tgtEl>
                                        <p:attrNameLst>
                                          <p:attrName>ppt_y</p:attrName>
                                        </p:attrNameLst>
                                      </p:cBhvr>
                                      <p:tavLst>
                                        <p:tav tm="0">
                                          <p:val>
                                            <p:strVal val="1+#ppt_h/2"/>
                                          </p:val>
                                        </p:tav>
                                        <p:tav tm="100000">
                                          <p:val>
                                            <p:strVal val="#ppt_y"/>
                                          </p:val>
                                        </p:tav>
                                      </p:tavLst>
                                    </p:anim>
                                  </p:childTnLst>
                                </p:cTn>
                              </p:par>
                            </p:childTnLst>
                          </p:cTn>
                        </p:par>
                        <p:par>
                          <p:cTn id="85" fill="hold">
                            <p:stCondLst>
                              <p:cond delay="1000"/>
                            </p:stCondLst>
                            <p:childTnLst>
                              <p:par>
                                <p:cTn id="86" presetID="2" presetClass="entr" presetSubtype="6" fill="hold" grpId="0" nodeType="afterEffect">
                                  <p:stCondLst>
                                    <p:cond delay="0"/>
                                  </p:stCondLst>
                                  <p:childTnLst>
                                    <p:set>
                                      <p:cBhvr>
                                        <p:cTn id="87" dur="1" fill="hold">
                                          <p:stCondLst>
                                            <p:cond delay="0"/>
                                          </p:stCondLst>
                                        </p:cTn>
                                        <p:tgtEl>
                                          <p:spTgt spid="19"/>
                                        </p:tgtEl>
                                        <p:attrNameLst>
                                          <p:attrName>style.visibility</p:attrName>
                                        </p:attrNameLst>
                                      </p:cBhvr>
                                      <p:to>
                                        <p:strVal val="visible"/>
                                      </p:to>
                                    </p:set>
                                    <p:anim calcmode="lin" valueType="num">
                                      <p:cBhvr additive="base">
                                        <p:cTn id="88" dur="500" fill="hold"/>
                                        <p:tgtEl>
                                          <p:spTgt spid="19"/>
                                        </p:tgtEl>
                                        <p:attrNameLst>
                                          <p:attrName>ppt_x</p:attrName>
                                        </p:attrNameLst>
                                      </p:cBhvr>
                                      <p:tavLst>
                                        <p:tav tm="0">
                                          <p:val>
                                            <p:strVal val="1+#ppt_w/2"/>
                                          </p:val>
                                        </p:tav>
                                        <p:tav tm="100000">
                                          <p:val>
                                            <p:strVal val="#ppt_x"/>
                                          </p:val>
                                        </p:tav>
                                      </p:tavLst>
                                    </p:anim>
                                    <p:anim calcmode="lin" valueType="num">
                                      <p:cBhvr additive="base">
                                        <p:cTn id="89" dur="500" fill="hold"/>
                                        <p:tgtEl>
                                          <p:spTgt spid="19"/>
                                        </p:tgtEl>
                                        <p:attrNameLst>
                                          <p:attrName>ppt_y</p:attrName>
                                        </p:attrNameLst>
                                      </p:cBhvr>
                                      <p:tavLst>
                                        <p:tav tm="0">
                                          <p:val>
                                            <p:strVal val="1+#ppt_h/2"/>
                                          </p:val>
                                        </p:tav>
                                        <p:tav tm="100000">
                                          <p:val>
                                            <p:strVal val="#ppt_y"/>
                                          </p:val>
                                        </p:tav>
                                      </p:tavLst>
                                    </p:anim>
                                  </p:childTnLst>
                                </p:cTn>
                              </p:par>
                            </p:childTnLst>
                          </p:cTn>
                        </p:par>
                        <p:par>
                          <p:cTn id="90" fill="hold">
                            <p:stCondLst>
                              <p:cond delay="1500"/>
                            </p:stCondLst>
                            <p:childTnLst>
                              <p:par>
                                <p:cTn id="91" presetID="2" presetClass="entr" presetSubtype="6" fill="hold" grpId="0" nodeType="afterEffect">
                                  <p:stCondLst>
                                    <p:cond delay="0"/>
                                  </p:stCondLst>
                                  <p:childTnLst>
                                    <p:set>
                                      <p:cBhvr>
                                        <p:cTn id="92" dur="1" fill="hold">
                                          <p:stCondLst>
                                            <p:cond delay="0"/>
                                          </p:stCondLst>
                                        </p:cTn>
                                        <p:tgtEl>
                                          <p:spTgt spid="20"/>
                                        </p:tgtEl>
                                        <p:attrNameLst>
                                          <p:attrName>style.visibility</p:attrName>
                                        </p:attrNameLst>
                                      </p:cBhvr>
                                      <p:to>
                                        <p:strVal val="visible"/>
                                      </p:to>
                                    </p:set>
                                    <p:anim calcmode="lin" valueType="num">
                                      <p:cBhvr additive="base">
                                        <p:cTn id="93" dur="500" fill="hold"/>
                                        <p:tgtEl>
                                          <p:spTgt spid="20"/>
                                        </p:tgtEl>
                                        <p:attrNameLst>
                                          <p:attrName>ppt_x</p:attrName>
                                        </p:attrNameLst>
                                      </p:cBhvr>
                                      <p:tavLst>
                                        <p:tav tm="0">
                                          <p:val>
                                            <p:strVal val="1+#ppt_w/2"/>
                                          </p:val>
                                        </p:tav>
                                        <p:tav tm="100000">
                                          <p:val>
                                            <p:strVal val="#ppt_x"/>
                                          </p:val>
                                        </p:tav>
                                      </p:tavLst>
                                    </p:anim>
                                    <p:anim calcmode="lin" valueType="num">
                                      <p:cBhvr additive="base">
                                        <p:cTn id="94" dur="500" fill="hold"/>
                                        <p:tgtEl>
                                          <p:spTgt spid="20"/>
                                        </p:tgtEl>
                                        <p:attrNameLst>
                                          <p:attrName>ppt_y</p:attrName>
                                        </p:attrNameLst>
                                      </p:cBhvr>
                                      <p:tavLst>
                                        <p:tav tm="0">
                                          <p:val>
                                            <p:strVal val="1+#ppt_h/2"/>
                                          </p:val>
                                        </p:tav>
                                        <p:tav tm="100000">
                                          <p:val>
                                            <p:strVal val="#ppt_y"/>
                                          </p:val>
                                        </p:tav>
                                      </p:tavLst>
                                    </p:anim>
                                  </p:childTnLst>
                                </p:cTn>
                              </p:par>
                            </p:childTnLst>
                          </p:cTn>
                        </p:par>
                      </p:childTnLst>
                    </p:cTn>
                  </p:par>
                  <p:par>
                    <p:cTn id="95" fill="hold">
                      <p:stCondLst>
                        <p:cond delay="indefinite"/>
                      </p:stCondLst>
                      <p:childTnLst>
                        <p:par>
                          <p:cTn id="96" fill="hold">
                            <p:stCondLst>
                              <p:cond delay="0"/>
                            </p:stCondLst>
                            <p:childTnLst>
                              <p:par>
                                <p:cTn id="97" presetID="2" presetClass="entr" presetSubtype="4" fill="hold" grpId="0" nodeType="clickEffect">
                                  <p:stCondLst>
                                    <p:cond delay="0"/>
                                  </p:stCondLst>
                                  <p:childTnLst>
                                    <p:set>
                                      <p:cBhvr>
                                        <p:cTn id="98" dur="1" fill="hold">
                                          <p:stCondLst>
                                            <p:cond delay="0"/>
                                          </p:stCondLst>
                                        </p:cTn>
                                        <p:tgtEl>
                                          <p:spTgt spid="21"/>
                                        </p:tgtEl>
                                        <p:attrNameLst>
                                          <p:attrName>style.visibility</p:attrName>
                                        </p:attrNameLst>
                                      </p:cBhvr>
                                      <p:to>
                                        <p:strVal val="visible"/>
                                      </p:to>
                                    </p:set>
                                    <p:anim calcmode="lin" valueType="num">
                                      <p:cBhvr additive="base">
                                        <p:cTn id="99" dur="500" fill="hold"/>
                                        <p:tgtEl>
                                          <p:spTgt spid="21"/>
                                        </p:tgtEl>
                                        <p:attrNameLst>
                                          <p:attrName>ppt_x</p:attrName>
                                        </p:attrNameLst>
                                      </p:cBhvr>
                                      <p:tavLst>
                                        <p:tav tm="0">
                                          <p:val>
                                            <p:strVal val="#ppt_x"/>
                                          </p:val>
                                        </p:tav>
                                        <p:tav tm="100000">
                                          <p:val>
                                            <p:strVal val="#ppt_x"/>
                                          </p:val>
                                        </p:tav>
                                      </p:tavLst>
                                    </p:anim>
                                    <p:anim calcmode="lin" valueType="num">
                                      <p:cBhvr additive="base">
                                        <p:cTn id="100" dur="500" fill="hold"/>
                                        <p:tgtEl>
                                          <p:spTgt spid="2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9" grpId="0" animBg="1"/>
      <p:bldP spid="10" grpId="0" animBg="1"/>
      <p:bldP spid="10" grpId="1" animBg="1"/>
      <p:bldP spid="11" grpId="0" animBg="1"/>
      <p:bldP spid="11" grpId="1" animBg="1"/>
      <p:bldP spid="12" grpId="0" animBg="1"/>
      <p:bldP spid="12" grpId="1" animBg="1"/>
      <p:bldP spid="13" grpId="0" animBg="1"/>
      <p:bldP spid="14" grpId="0" animBg="1"/>
      <p:bldP spid="15" grpId="0" animBg="1"/>
      <p:bldP spid="16" grpId="0" animBg="1"/>
      <p:bldP spid="17" grpId="0" animBg="1"/>
      <p:bldP spid="18" grpId="0" animBg="1"/>
      <p:bldP spid="19" grpId="0" animBg="1"/>
      <p:bldP spid="20" grpId="0" animBg="1"/>
      <p:bldP spid="21"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Title 1"/>
          <p:cNvSpPr>
            <a:spLocks noGrp="1"/>
          </p:cNvSpPr>
          <p:nvPr>
            <p:ph type="title"/>
          </p:nvPr>
        </p:nvSpPr>
        <p:spPr>
          <a:xfrm>
            <a:off x="3200400" y="0"/>
            <a:ext cx="2590800" cy="381000"/>
          </a:xfrm>
          <a:solidFill>
            <a:schemeClr val="accent3">
              <a:lumMod val="60000"/>
              <a:lumOff val="40000"/>
            </a:schemeClr>
          </a:solidFill>
        </p:spPr>
        <p:style>
          <a:lnRef idx="3">
            <a:schemeClr val="lt1"/>
          </a:lnRef>
          <a:fillRef idx="1">
            <a:schemeClr val="accent1"/>
          </a:fillRef>
          <a:effectRef idx="1">
            <a:schemeClr val="accent1"/>
          </a:effectRef>
          <a:fontRef idx="minor">
            <a:schemeClr val="lt1"/>
          </a:fontRef>
        </p:style>
        <p:txBody>
          <a:bodyPr>
            <a:noAutofit/>
          </a:bodyPr>
          <a:lstStyle/>
          <a:p>
            <a:pPr algn="ctr"/>
            <a:r>
              <a:rPr lang="en-US" sz="2400" b="1" dirty="0">
                <a:solidFill>
                  <a:schemeClr val="bg1"/>
                </a:solidFill>
                <a:effectLst>
                  <a:outerShdw blurRad="38100" dist="38100" dir="2700000" algn="tl">
                    <a:srgbClr val="000000">
                      <a:alpha val="43137"/>
                    </a:srgbClr>
                  </a:outerShdw>
                </a:effectLst>
                <a:latin typeface="Comic Sans MS" pitchFamily="66" charset="0"/>
              </a:rPr>
              <a:t>Page Table</a:t>
            </a:r>
          </a:p>
        </p:txBody>
      </p:sp>
      <p:pic>
        <p:nvPicPr>
          <p:cNvPr id="2050" name="Picture 2"/>
          <p:cNvPicPr>
            <a:picLocks noChangeAspect="1" noChangeArrowheads="1"/>
          </p:cNvPicPr>
          <p:nvPr/>
        </p:nvPicPr>
        <p:blipFill>
          <a:blip r:embed="rId3"/>
          <a:srcRect/>
          <a:stretch>
            <a:fillRect/>
          </a:stretch>
        </p:blipFill>
        <p:spPr bwMode="auto">
          <a:xfrm>
            <a:off x="228600" y="533400"/>
            <a:ext cx="8534400" cy="350520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6" name="Rectangle 5"/>
          <p:cNvSpPr/>
          <p:nvPr/>
        </p:nvSpPr>
        <p:spPr>
          <a:xfrm>
            <a:off x="0" y="4191000"/>
            <a:ext cx="9144000" cy="2616101"/>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r>
              <a:rPr lang="en-US" sz="2000" dirty="0">
                <a:latin typeface="Calibri" pitchFamily="34" charset="0"/>
              </a:rPr>
              <a:t>Figure 7.10 shows the various page tables at this time. </a:t>
            </a:r>
          </a:p>
          <a:p>
            <a:r>
              <a:rPr lang="en-US" sz="2000" dirty="0">
                <a:latin typeface="Calibri" pitchFamily="34" charset="0"/>
              </a:rPr>
              <a:t>A page table contains one entry for each page of the process, so that the table is </a:t>
            </a:r>
          </a:p>
          <a:p>
            <a:pPr>
              <a:buNone/>
            </a:pPr>
            <a:r>
              <a:rPr lang="en-US" sz="2000" dirty="0">
                <a:latin typeface="Calibri" pitchFamily="34" charset="0"/>
              </a:rPr>
              <a:t>  easily indexed by the page number (starting at page 0). </a:t>
            </a:r>
          </a:p>
          <a:p>
            <a:pPr>
              <a:buFont typeface="Arial" pitchFamily="34" charset="0"/>
              <a:buChar char="•"/>
            </a:pPr>
            <a:r>
              <a:rPr lang="en-US" sz="2000" dirty="0">
                <a:latin typeface="Calibri" pitchFamily="34" charset="0"/>
              </a:rPr>
              <a:t>Each page table entry contains the number of the frame in main memory, if any, that </a:t>
            </a:r>
          </a:p>
          <a:p>
            <a:pPr>
              <a:buNone/>
            </a:pPr>
            <a:r>
              <a:rPr lang="en-US" sz="2000" dirty="0">
                <a:latin typeface="Calibri" pitchFamily="34" charset="0"/>
              </a:rPr>
              <a:t>  holds the corresponding page. </a:t>
            </a:r>
          </a:p>
          <a:p>
            <a:pPr>
              <a:buFont typeface="Arial" pitchFamily="34" charset="0"/>
              <a:buChar char="•"/>
            </a:pPr>
            <a:r>
              <a:rPr lang="en-US" sz="2000" dirty="0">
                <a:latin typeface="Calibri" pitchFamily="34" charset="0"/>
              </a:rPr>
              <a:t>Operating system maintains a single free-frame list of all frames in main memory</a:t>
            </a:r>
          </a:p>
          <a:p>
            <a:pPr>
              <a:buNone/>
            </a:pPr>
            <a:r>
              <a:rPr lang="en-US" sz="2000" dirty="0">
                <a:latin typeface="Calibri" pitchFamily="34" charset="0"/>
              </a:rPr>
              <a:t>  that are currently unoccupied and available for pages.</a:t>
            </a:r>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76200" y="457200"/>
            <a:ext cx="8991600" cy="1877437"/>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r>
              <a:rPr lang="en-US" sz="2000" dirty="0">
                <a:latin typeface="Calibri" pitchFamily="34" charset="0"/>
              </a:rPr>
              <a:t>In our example, we have the logical address 0000010111011110, which is page  </a:t>
            </a:r>
          </a:p>
          <a:p>
            <a:pPr>
              <a:buNone/>
            </a:pPr>
            <a:r>
              <a:rPr lang="en-US" sz="2000" dirty="0">
                <a:latin typeface="Calibri" pitchFamily="34" charset="0"/>
              </a:rPr>
              <a:t>  number 1, offset 478. </a:t>
            </a:r>
          </a:p>
          <a:p>
            <a:pPr>
              <a:buFont typeface="Arial" pitchFamily="34" charset="0"/>
              <a:buChar char="•"/>
            </a:pPr>
            <a:r>
              <a:rPr lang="en-US" sz="2000" dirty="0">
                <a:latin typeface="Calibri" pitchFamily="34" charset="0"/>
              </a:rPr>
              <a:t>Suppose that this page is residing in main memory frame 6 binary 000110. </a:t>
            </a:r>
          </a:p>
          <a:p>
            <a:pPr>
              <a:buFont typeface="Arial" pitchFamily="34" charset="0"/>
              <a:buChar char="•"/>
            </a:pPr>
            <a:r>
              <a:rPr lang="en-US" sz="2000" dirty="0">
                <a:latin typeface="Calibri" pitchFamily="34" charset="0"/>
              </a:rPr>
              <a:t>Then the physical address is frame number 6, offset 478 =0001100111011110 (Figure 7.12a).</a:t>
            </a:r>
          </a:p>
        </p:txBody>
      </p:sp>
      <p:sp>
        <p:nvSpPr>
          <p:cNvPr id="5" name="Title 1"/>
          <p:cNvSpPr>
            <a:spLocks noGrp="1"/>
          </p:cNvSpPr>
          <p:nvPr>
            <p:ph type="title"/>
          </p:nvPr>
        </p:nvSpPr>
        <p:spPr>
          <a:xfrm>
            <a:off x="1295400" y="0"/>
            <a:ext cx="6172200" cy="381000"/>
          </a:xfrm>
          <a:solidFill>
            <a:schemeClr val="accent3">
              <a:lumMod val="60000"/>
              <a:lumOff val="40000"/>
            </a:schemeClr>
          </a:solidFill>
        </p:spPr>
        <p:style>
          <a:lnRef idx="3">
            <a:schemeClr val="lt1"/>
          </a:lnRef>
          <a:fillRef idx="1">
            <a:schemeClr val="accent1"/>
          </a:fillRef>
          <a:effectRef idx="1">
            <a:schemeClr val="accent1"/>
          </a:effectRef>
          <a:fontRef idx="minor">
            <a:schemeClr val="lt1"/>
          </a:fontRef>
        </p:style>
        <p:txBody>
          <a:bodyPr>
            <a:noAutofit/>
          </a:bodyPr>
          <a:lstStyle/>
          <a:p>
            <a:r>
              <a:rPr lang="en-US" sz="2400" b="1" dirty="0">
                <a:solidFill>
                  <a:schemeClr val="bg1"/>
                </a:solidFill>
                <a:effectLst>
                  <a:outerShdw blurRad="38100" dist="38100" dir="2700000" algn="tl">
                    <a:srgbClr val="000000">
                      <a:alpha val="43137"/>
                    </a:srgbClr>
                  </a:outerShdw>
                </a:effectLst>
                <a:latin typeface="Calibri" pitchFamily="34" charset="0"/>
              </a:rPr>
              <a:t>Logical to Physical Address Translation Example</a:t>
            </a:r>
          </a:p>
        </p:txBody>
      </p:sp>
      <p:pic>
        <p:nvPicPr>
          <p:cNvPr id="2050" name="Picture 2"/>
          <p:cNvPicPr>
            <a:picLocks noChangeAspect="1" noChangeArrowheads="1"/>
          </p:cNvPicPr>
          <p:nvPr/>
        </p:nvPicPr>
        <p:blipFill>
          <a:blip r:embed="rId2"/>
          <a:srcRect/>
          <a:stretch>
            <a:fillRect/>
          </a:stretch>
        </p:blipFill>
        <p:spPr bwMode="auto">
          <a:xfrm>
            <a:off x="76200" y="2438400"/>
            <a:ext cx="9067800" cy="381000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2051" name="Picture 3"/>
          <p:cNvPicPr>
            <a:picLocks noChangeAspect="1" noChangeArrowheads="1"/>
          </p:cNvPicPr>
          <p:nvPr/>
        </p:nvPicPr>
        <p:blipFill>
          <a:blip r:embed="rId3"/>
          <a:srcRect/>
          <a:stretch>
            <a:fillRect/>
          </a:stretch>
        </p:blipFill>
        <p:spPr bwMode="auto">
          <a:xfrm>
            <a:off x="1828800" y="6324600"/>
            <a:ext cx="5295900" cy="53340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a:spLocks/>
          </p:cNvSpPr>
          <p:nvPr/>
        </p:nvSpPr>
        <p:spPr>
          <a:xfrm>
            <a:off x="2133600" y="0"/>
            <a:ext cx="4800600" cy="457200"/>
          </a:xfrm>
          <a:prstGeom prst="rect">
            <a:avLst/>
          </a:prstGeom>
          <a:solidFill>
            <a:schemeClr val="accent3">
              <a:lumMod val="60000"/>
              <a:lumOff val="40000"/>
            </a:schemeClr>
          </a:solidFill>
        </p:spPr>
        <p:style>
          <a:lnRef idx="3">
            <a:schemeClr val="lt1"/>
          </a:lnRef>
          <a:fillRef idx="1">
            <a:schemeClr val="accent1"/>
          </a:fillRef>
          <a:effectRef idx="1">
            <a:schemeClr val="accent1"/>
          </a:effectRef>
          <a:fontRef idx="minor">
            <a:schemeClr val="lt1"/>
          </a:fontRef>
        </p:style>
        <p:txBody>
          <a:bodyPr vert="horz" anchor="b">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800" b="1" i="0" u="none" strike="noStrike" kern="1200" cap="small" spc="0" normalizeH="0" baseline="0" noProof="0" dirty="0">
                <a:ln>
                  <a:noFill/>
                </a:ln>
                <a:solidFill>
                  <a:schemeClr val="bg1"/>
                </a:solidFill>
                <a:effectLst>
                  <a:outerShdw blurRad="38100" dist="38100" dir="2700000" algn="tl">
                    <a:srgbClr val="000000">
                      <a:alpha val="43137"/>
                    </a:srgbClr>
                  </a:outerShdw>
                </a:effectLst>
                <a:uLnTx/>
                <a:uFillTx/>
                <a:latin typeface="Calibri" pitchFamily="34" charset="0"/>
                <a:ea typeface="+mn-ea"/>
                <a:cs typeface="+mn-cs"/>
              </a:rPr>
              <a:t>Segmentation</a:t>
            </a:r>
          </a:p>
        </p:txBody>
      </p:sp>
      <p:sp>
        <p:nvSpPr>
          <p:cNvPr id="6" name="Content Placeholder 2"/>
          <p:cNvSpPr>
            <a:spLocks noGrp="1"/>
          </p:cNvSpPr>
          <p:nvPr>
            <p:ph sz="quarter" idx="1"/>
          </p:nvPr>
        </p:nvSpPr>
        <p:spPr>
          <a:xfrm>
            <a:off x="152400" y="533400"/>
            <a:ext cx="8763000" cy="2362200"/>
          </a:xfrm>
        </p:spPr>
        <p:style>
          <a:lnRef idx="2">
            <a:schemeClr val="accent1"/>
          </a:lnRef>
          <a:fillRef idx="1">
            <a:schemeClr val="lt1"/>
          </a:fillRef>
          <a:effectRef idx="0">
            <a:schemeClr val="accent1"/>
          </a:effectRef>
          <a:fontRef idx="minor">
            <a:schemeClr val="dk1"/>
          </a:fontRef>
        </p:style>
        <p:txBody>
          <a:bodyPr>
            <a:normAutofit lnSpcReduction="10000"/>
          </a:bodyPr>
          <a:lstStyle/>
          <a:p>
            <a:r>
              <a:rPr lang="en-US" sz="2000" dirty="0">
                <a:latin typeface="Comic Sans MS" pitchFamily="66" charset="0"/>
              </a:rPr>
              <a:t>A user program can be subdivided using segmentation, in which the program and its associated data are divided into a number of </a:t>
            </a:r>
            <a:r>
              <a:rPr lang="en-US" sz="2000" b="1" dirty="0">
                <a:latin typeface="Comic Sans MS" pitchFamily="66" charset="0"/>
              </a:rPr>
              <a:t>segments.</a:t>
            </a:r>
          </a:p>
          <a:p>
            <a:r>
              <a:rPr lang="en-US" sz="2000" dirty="0">
                <a:latin typeface="Calibri" pitchFamily="34" charset="0"/>
              </a:rPr>
              <a:t>It is not required that all segments of all programs be of the same length, although there is a maximum segment length.</a:t>
            </a:r>
          </a:p>
          <a:p>
            <a:r>
              <a:rPr lang="en-US" sz="2000" dirty="0">
                <a:latin typeface="Calibri" pitchFamily="34" charset="0"/>
              </a:rPr>
              <a:t>As with paging, a logical address using segmentation consists of two parts, in</a:t>
            </a:r>
          </a:p>
          <a:p>
            <a:pPr>
              <a:buNone/>
            </a:pPr>
            <a:r>
              <a:rPr lang="en-US" sz="2000" dirty="0">
                <a:latin typeface="Calibri" pitchFamily="34" charset="0"/>
              </a:rPr>
              <a:t>      this case a segment number and an offset.</a:t>
            </a:r>
          </a:p>
        </p:txBody>
      </p:sp>
      <p:sp>
        <p:nvSpPr>
          <p:cNvPr id="7" name="Rectangle 6"/>
          <p:cNvSpPr/>
          <p:nvPr/>
        </p:nvSpPr>
        <p:spPr>
          <a:xfrm>
            <a:off x="76200" y="3075563"/>
            <a:ext cx="5334000" cy="3600986"/>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r>
              <a:rPr lang="en-US" sz="2000" dirty="0">
                <a:latin typeface="Calibri" pitchFamily="34" charset="0"/>
              </a:rPr>
              <a:t>Segmentation is usually visible and is provided as a convenience for organizing programs and data. </a:t>
            </a:r>
          </a:p>
          <a:p>
            <a:endParaRPr lang="en-US" sz="2000" dirty="0">
              <a:latin typeface="Calibri" pitchFamily="34" charset="0"/>
            </a:endParaRPr>
          </a:p>
          <a:p>
            <a:r>
              <a:rPr lang="en-US" sz="2000" dirty="0">
                <a:latin typeface="Calibri" pitchFamily="34" charset="0"/>
              </a:rPr>
              <a:t> The programmer or compiler will assign  </a:t>
            </a:r>
          </a:p>
          <a:p>
            <a:pPr>
              <a:buNone/>
            </a:pPr>
            <a:r>
              <a:rPr lang="en-US" sz="2000" dirty="0">
                <a:latin typeface="Calibri" pitchFamily="34" charset="0"/>
              </a:rPr>
              <a:t> programs and data to different segments.</a:t>
            </a:r>
          </a:p>
          <a:p>
            <a:pPr>
              <a:buNone/>
            </a:pPr>
            <a:endParaRPr lang="en-US" sz="2000" dirty="0">
              <a:latin typeface="Calibri" pitchFamily="34" charset="0"/>
            </a:endParaRPr>
          </a:p>
          <a:p>
            <a:r>
              <a:rPr lang="en-US" sz="2000" dirty="0">
                <a:latin typeface="Calibri" pitchFamily="34" charset="0"/>
              </a:rPr>
              <a:t> For purposes of modular programming, the  </a:t>
            </a:r>
          </a:p>
          <a:p>
            <a:pPr>
              <a:buNone/>
            </a:pPr>
            <a:r>
              <a:rPr lang="en-US" sz="2000" dirty="0">
                <a:latin typeface="Calibri" pitchFamily="34" charset="0"/>
              </a:rPr>
              <a:t>  program or data may be further  broken down into multiple segments.</a:t>
            </a:r>
          </a:p>
        </p:txBody>
      </p:sp>
      <p:pic>
        <p:nvPicPr>
          <p:cNvPr id="16386" name="Picture 2" descr="E:\gp image\bullseye_target_miss_anim_md_wm.gif"/>
          <p:cNvPicPr>
            <a:picLocks noChangeAspect="1" noChangeArrowheads="1" noCrop="1"/>
          </p:cNvPicPr>
          <p:nvPr/>
        </p:nvPicPr>
        <p:blipFill>
          <a:blip r:embed="rId2"/>
          <a:srcRect/>
          <a:stretch>
            <a:fillRect/>
          </a:stretch>
        </p:blipFill>
        <p:spPr bwMode="auto">
          <a:xfrm>
            <a:off x="5715000" y="3429000"/>
            <a:ext cx="2933700" cy="2933700"/>
          </a:xfrm>
          <a:prstGeom prst="rect">
            <a:avLst/>
          </a:prstGeom>
          <a:noFill/>
        </p:spPr>
      </p:pic>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txBox="1">
            <a:spLocks/>
          </p:cNvSpPr>
          <p:nvPr/>
        </p:nvSpPr>
        <p:spPr>
          <a:xfrm>
            <a:off x="1524000" y="76200"/>
            <a:ext cx="5943600" cy="381000"/>
          </a:xfrm>
          <a:prstGeom prst="rect">
            <a:avLst/>
          </a:prstGeom>
          <a:solidFill>
            <a:schemeClr val="accent3">
              <a:lumMod val="60000"/>
              <a:lumOff val="40000"/>
            </a:schemeClr>
          </a:solidFill>
        </p:spPr>
        <p:style>
          <a:lnRef idx="3">
            <a:schemeClr val="lt1"/>
          </a:lnRef>
          <a:fillRef idx="1">
            <a:schemeClr val="accent1"/>
          </a:fillRef>
          <a:effectRef idx="1">
            <a:schemeClr val="accent1"/>
          </a:effectRef>
          <a:fontRef idx="minor">
            <a:schemeClr val="lt1"/>
          </a:fontRef>
        </p:style>
        <p:txBody>
          <a:bodyPr vert="horz" anchor="b">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600" b="1" i="0" u="none" strike="noStrike" kern="1200" cap="small" spc="0" normalizeH="0" baseline="0" noProof="0" dirty="0">
                <a:ln>
                  <a:noFill/>
                </a:ln>
                <a:solidFill>
                  <a:schemeClr val="bg1"/>
                </a:solidFill>
                <a:effectLst>
                  <a:outerShdw blurRad="38100" dist="38100" dir="2700000" algn="tl">
                    <a:srgbClr val="000000">
                      <a:alpha val="43137"/>
                    </a:srgbClr>
                  </a:outerShdw>
                </a:effectLst>
                <a:uLnTx/>
                <a:uFillTx/>
                <a:latin typeface="Calibri" pitchFamily="34" charset="0"/>
                <a:ea typeface="+mn-ea"/>
                <a:cs typeface="+mn-cs"/>
              </a:rPr>
              <a:t>Segmentation addressing</a:t>
            </a:r>
          </a:p>
        </p:txBody>
      </p:sp>
      <p:sp>
        <p:nvSpPr>
          <p:cNvPr id="8" name="Rectangle 7"/>
          <p:cNvSpPr/>
          <p:nvPr/>
        </p:nvSpPr>
        <p:spPr>
          <a:xfrm>
            <a:off x="228600" y="636687"/>
            <a:ext cx="5257800" cy="5816977"/>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pPr>
              <a:buFont typeface="Arial" pitchFamily="34" charset="0"/>
              <a:buChar char="•"/>
            </a:pPr>
            <a:r>
              <a:rPr lang="en-US" sz="2000" dirty="0">
                <a:latin typeface="Calibri" pitchFamily="34" charset="0"/>
              </a:rPr>
              <a:t>The following steps are needed for address translation:-</a:t>
            </a:r>
          </a:p>
          <a:p>
            <a:pPr marL="457200" indent="-457200">
              <a:buAutoNum type="arabicParenBoth"/>
            </a:pPr>
            <a:r>
              <a:rPr lang="en-US" sz="2000" dirty="0">
                <a:latin typeface="Calibri" pitchFamily="34" charset="0"/>
              </a:rPr>
              <a:t>Extract the segment number as the leftmost </a:t>
            </a:r>
            <a:r>
              <a:rPr lang="en-US" sz="2000" i="1" dirty="0">
                <a:latin typeface="Calibri" pitchFamily="34" charset="0"/>
              </a:rPr>
              <a:t>n bits of the logical address.</a:t>
            </a:r>
          </a:p>
          <a:p>
            <a:pPr marL="457200" indent="-457200">
              <a:buAutoNum type="arabicParenBoth"/>
            </a:pPr>
            <a:endParaRPr lang="en-US" sz="2000" i="1" dirty="0">
              <a:latin typeface="Calibri" pitchFamily="34" charset="0"/>
            </a:endParaRPr>
          </a:p>
          <a:p>
            <a:pPr marL="457200" indent="-457200">
              <a:buNone/>
            </a:pPr>
            <a:r>
              <a:rPr lang="en-US" sz="2000" i="1" dirty="0">
                <a:latin typeface="Calibri" pitchFamily="34" charset="0"/>
              </a:rPr>
              <a:t>(2) </a:t>
            </a:r>
            <a:r>
              <a:rPr lang="en-US" sz="2000" dirty="0">
                <a:latin typeface="Calibri" pitchFamily="34" charset="0"/>
              </a:rPr>
              <a:t>Use the segment number as an index into the process segment table to find the starting physical address of the segment.</a:t>
            </a:r>
          </a:p>
          <a:p>
            <a:pPr marL="457200" indent="-457200">
              <a:buNone/>
            </a:pPr>
            <a:endParaRPr lang="en-US" sz="2000" dirty="0">
              <a:latin typeface="Calibri" pitchFamily="34" charset="0"/>
            </a:endParaRPr>
          </a:p>
          <a:p>
            <a:pPr marL="457200" indent="-457200">
              <a:buNone/>
            </a:pPr>
            <a:r>
              <a:rPr lang="en-US" sz="2000" dirty="0">
                <a:latin typeface="Calibri" pitchFamily="34" charset="0"/>
              </a:rPr>
              <a:t>(3) Compare the offset, expressed in the rightmost </a:t>
            </a:r>
            <a:r>
              <a:rPr lang="en-US" sz="2000" i="1" dirty="0">
                <a:latin typeface="Calibri" pitchFamily="34" charset="0"/>
              </a:rPr>
              <a:t>m bits, to the length of the segment. </a:t>
            </a:r>
            <a:r>
              <a:rPr lang="en-US" sz="2000" dirty="0">
                <a:latin typeface="Calibri" pitchFamily="34" charset="0"/>
              </a:rPr>
              <a:t>If the offset is greater than or equal to the length, the address is invalid.</a:t>
            </a:r>
          </a:p>
          <a:p>
            <a:pPr marL="457200" indent="-457200">
              <a:buNone/>
            </a:pPr>
            <a:endParaRPr lang="en-US" sz="2000" dirty="0">
              <a:latin typeface="Calibri" pitchFamily="34" charset="0"/>
            </a:endParaRPr>
          </a:p>
          <a:p>
            <a:pPr marL="457200" indent="-457200">
              <a:buAutoNum type="arabicParenBoth" startAt="4"/>
            </a:pPr>
            <a:r>
              <a:rPr lang="en-US" sz="2000" dirty="0">
                <a:latin typeface="Calibri" pitchFamily="34" charset="0"/>
              </a:rPr>
              <a:t>The desired physical address is the sum of the starting physical address of the segment plus the offset.</a:t>
            </a:r>
          </a:p>
        </p:txBody>
      </p:sp>
      <p:pic>
        <p:nvPicPr>
          <p:cNvPr id="2050" name="Picture 2" descr="E:\gp image\stick_figure_cranking_screwdriver_md_wm.gif"/>
          <p:cNvPicPr>
            <a:picLocks noChangeAspect="1" noChangeArrowheads="1" noCrop="1"/>
          </p:cNvPicPr>
          <p:nvPr/>
        </p:nvPicPr>
        <p:blipFill>
          <a:blip r:embed="rId2"/>
          <a:srcRect/>
          <a:stretch>
            <a:fillRect/>
          </a:stretch>
        </p:blipFill>
        <p:spPr bwMode="auto">
          <a:xfrm>
            <a:off x="6096000" y="1143000"/>
            <a:ext cx="2247900" cy="3505200"/>
          </a:xfrm>
          <a:prstGeom prst="rect">
            <a:avLst/>
          </a:prstGeom>
          <a:noFill/>
        </p:spPr>
      </p:pic>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a:xfrm>
            <a:off x="533400" y="0"/>
            <a:ext cx="8077200" cy="381000"/>
          </a:xfrm>
          <a:solidFill>
            <a:schemeClr val="accent3">
              <a:lumMod val="60000"/>
              <a:lumOff val="40000"/>
            </a:schemeClr>
          </a:solidFill>
        </p:spPr>
        <p:style>
          <a:lnRef idx="3">
            <a:schemeClr val="lt1"/>
          </a:lnRef>
          <a:fillRef idx="1">
            <a:schemeClr val="accent1"/>
          </a:fillRef>
          <a:effectRef idx="1">
            <a:schemeClr val="accent1"/>
          </a:effectRef>
          <a:fontRef idx="minor">
            <a:schemeClr val="lt1"/>
          </a:fontRef>
        </p:style>
        <p:txBody>
          <a:bodyPr>
            <a:noAutofit/>
          </a:bodyPr>
          <a:lstStyle/>
          <a:p>
            <a:pPr algn="ctr"/>
            <a:r>
              <a:rPr lang="en-US" sz="2300" b="1" dirty="0">
                <a:solidFill>
                  <a:schemeClr val="bg1"/>
                </a:solidFill>
                <a:effectLst>
                  <a:outerShdw blurRad="38100" dist="38100" dir="2700000" algn="tl">
                    <a:srgbClr val="000000">
                      <a:alpha val="43137"/>
                    </a:srgbClr>
                  </a:outerShdw>
                </a:effectLst>
                <a:latin typeface="Calibri" pitchFamily="34" charset="0"/>
              </a:rPr>
              <a:t>Logical to Physical Address Translation Example</a:t>
            </a:r>
          </a:p>
        </p:txBody>
      </p:sp>
      <p:sp>
        <p:nvSpPr>
          <p:cNvPr id="5" name="Rectangle 4"/>
          <p:cNvSpPr/>
          <p:nvPr/>
        </p:nvSpPr>
        <p:spPr>
          <a:xfrm>
            <a:off x="152400" y="496431"/>
            <a:ext cx="8839200" cy="2246769"/>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r>
              <a:rPr lang="en-US" sz="2000" dirty="0">
                <a:latin typeface="Calibri" pitchFamily="34" charset="0"/>
              </a:rPr>
              <a:t>In our example, we have the logical address 0001001011110000, which is segment</a:t>
            </a:r>
          </a:p>
          <a:p>
            <a:pPr>
              <a:buNone/>
            </a:pPr>
            <a:r>
              <a:rPr lang="en-US" sz="2000" dirty="0">
                <a:latin typeface="Calibri" pitchFamily="34" charset="0"/>
              </a:rPr>
              <a:t>  number 1, offset 752. </a:t>
            </a:r>
          </a:p>
          <a:p>
            <a:pPr>
              <a:buFont typeface="Arial" pitchFamily="34" charset="0"/>
              <a:buChar char="•"/>
            </a:pPr>
            <a:r>
              <a:rPr lang="en-US" sz="2000" dirty="0">
                <a:latin typeface="Calibri" pitchFamily="34" charset="0"/>
              </a:rPr>
              <a:t>Suppose that this segment is residing in main memory starting at physical address </a:t>
            </a:r>
          </a:p>
          <a:p>
            <a:pPr>
              <a:buNone/>
            </a:pPr>
            <a:r>
              <a:rPr lang="en-US" sz="2000" dirty="0">
                <a:latin typeface="Calibri" pitchFamily="34" charset="0"/>
              </a:rPr>
              <a:t>  0010000000100000.</a:t>
            </a:r>
          </a:p>
          <a:p>
            <a:pPr>
              <a:buFont typeface="Arial" pitchFamily="34" charset="0"/>
              <a:buChar char="•"/>
            </a:pPr>
            <a:r>
              <a:rPr lang="en-US" sz="2000" dirty="0">
                <a:latin typeface="Calibri" pitchFamily="34" charset="0"/>
              </a:rPr>
              <a:t>Then the physical address is </a:t>
            </a:r>
          </a:p>
          <a:p>
            <a:pPr>
              <a:buFont typeface="Arial" pitchFamily="34" charset="0"/>
              <a:buChar char="•"/>
            </a:pPr>
            <a:r>
              <a:rPr lang="en-US" sz="2000" dirty="0">
                <a:latin typeface="Calibri" pitchFamily="34" charset="0"/>
              </a:rPr>
              <a:t>0010000000100000  + 001011110000 =  0010001100010000 (Figure 7.12b).</a:t>
            </a:r>
          </a:p>
        </p:txBody>
      </p:sp>
      <p:pic>
        <p:nvPicPr>
          <p:cNvPr id="2050" name="Picture 2"/>
          <p:cNvPicPr>
            <a:picLocks noChangeAspect="1" noChangeArrowheads="1"/>
          </p:cNvPicPr>
          <p:nvPr/>
        </p:nvPicPr>
        <p:blipFill>
          <a:blip r:embed="rId2"/>
          <a:srcRect/>
          <a:stretch>
            <a:fillRect/>
          </a:stretch>
        </p:blipFill>
        <p:spPr bwMode="auto">
          <a:xfrm>
            <a:off x="47625" y="2895600"/>
            <a:ext cx="8867775" cy="396240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a:srcRect/>
          <a:stretch>
            <a:fillRect/>
          </a:stretch>
        </p:blipFill>
        <p:spPr bwMode="auto">
          <a:xfrm>
            <a:off x="76200" y="152400"/>
            <a:ext cx="9001125" cy="647700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2"/>
          <a:srcRect/>
          <a:stretch>
            <a:fillRect/>
          </a:stretch>
        </p:blipFill>
        <p:spPr bwMode="auto">
          <a:xfrm>
            <a:off x="0" y="0"/>
            <a:ext cx="9144000" cy="685800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Title 1"/>
          <p:cNvSpPr>
            <a:spLocks noGrp="1"/>
          </p:cNvSpPr>
          <p:nvPr>
            <p:ph type="title"/>
          </p:nvPr>
        </p:nvSpPr>
        <p:spPr>
          <a:xfrm>
            <a:off x="1752600" y="76200"/>
            <a:ext cx="5029200" cy="533400"/>
          </a:xfrm>
          <a:solidFill>
            <a:schemeClr val="accent3">
              <a:lumMod val="60000"/>
              <a:lumOff val="40000"/>
            </a:schemeClr>
          </a:solidFill>
          <a:ln/>
        </p:spPr>
        <p:style>
          <a:lnRef idx="3">
            <a:schemeClr val="lt1"/>
          </a:lnRef>
          <a:fillRef idx="1">
            <a:schemeClr val="accent1"/>
          </a:fillRef>
          <a:effectRef idx="1">
            <a:schemeClr val="accent1"/>
          </a:effectRef>
          <a:fontRef idx="minor">
            <a:schemeClr val="lt1"/>
          </a:fontRef>
        </p:style>
        <p:txBody>
          <a:bodyPr>
            <a:noAutofit/>
          </a:bodyPr>
          <a:lstStyle/>
          <a:p>
            <a:pPr algn="ctr"/>
            <a:r>
              <a:rPr lang="en-NZ" sz="3200" b="1" dirty="0">
                <a:solidFill>
                  <a:schemeClr val="bg1"/>
                </a:solidFill>
                <a:effectLst>
                  <a:outerShdw blurRad="38100" dist="38100" dir="2700000" algn="tl">
                    <a:srgbClr val="000000">
                      <a:alpha val="43137"/>
                    </a:srgbClr>
                  </a:outerShdw>
                </a:effectLst>
                <a:latin typeface="Calibri" pitchFamily="34" charset="0"/>
              </a:rPr>
              <a:t>Roadmap</a:t>
            </a:r>
          </a:p>
        </p:txBody>
      </p:sp>
      <p:sp>
        <p:nvSpPr>
          <p:cNvPr id="4099" name="Content Placeholder 2"/>
          <p:cNvSpPr>
            <a:spLocks noGrp="1"/>
          </p:cNvSpPr>
          <p:nvPr>
            <p:ph sz="quarter" idx="1"/>
          </p:nvPr>
        </p:nvSpPr>
        <p:spPr>
          <a:xfrm>
            <a:off x="342900" y="838200"/>
            <a:ext cx="6400800" cy="5638800"/>
          </a:xfrm>
          <a:ln/>
        </p:spPr>
        <p:style>
          <a:lnRef idx="2">
            <a:schemeClr val="accent1"/>
          </a:lnRef>
          <a:fillRef idx="1">
            <a:schemeClr val="lt1"/>
          </a:fillRef>
          <a:effectRef idx="0">
            <a:schemeClr val="accent1"/>
          </a:effectRef>
          <a:fontRef idx="minor">
            <a:schemeClr val="dk1"/>
          </a:fontRef>
        </p:style>
        <p:txBody>
          <a:bodyPr>
            <a:normAutofit fontScale="92500" lnSpcReduction="10000"/>
          </a:bodyPr>
          <a:lstStyle/>
          <a:p>
            <a:pPr>
              <a:lnSpc>
                <a:spcPct val="150000"/>
              </a:lnSpc>
            </a:pPr>
            <a:r>
              <a:rPr lang="en-NZ" dirty="0">
                <a:solidFill>
                  <a:schemeClr val="tx1"/>
                </a:solidFill>
                <a:latin typeface="Comic Sans MS" panose="030F0702030302020204" pitchFamily="66" charset="0"/>
              </a:rPr>
              <a:t>Basic requirements of Memory Management</a:t>
            </a:r>
          </a:p>
          <a:p>
            <a:pPr>
              <a:lnSpc>
                <a:spcPct val="150000"/>
              </a:lnSpc>
            </a:pPr>
            <a:r>
              <a:rPr lang="en-NZ" dirty="0">
                <a:solidFill>
                  <a:schemeClr val="tx1"/>
                </a:solidFill>
                <a:latin typeface="Comic Sans MS" panose="030F0702030302020204" pitchFamily="66" charset="0"/>
              </a:rPr>
              <a:t>Memory Partitioning</a:t>
            </a:r>
          </a:p>
          <a:p>
            <a:pPr>
              <a:lnSpc>
                <a:spcPct val="150000"/>
              </a:lnSpc>
            </a:pPr>
            <a:r>
              <a:rPr lang="en-NZ" dirty="0">
                <a:solidFill>
                  <a:schemeClr val="tx1"/>
                </a:solidFill>
                <a:latin typeface="Comic Sans MS" panose="030F0702030302020204" pitchFamily="66" charset="0"/>
              </a:rPr>
              <a:t>Buddy System</a:t>
            </a:r>
          </a:p>
          <a:p>
            <a:pPr>
              <a:lnSpc>
                <a:spcPct val="150000"/>
              </a:lnSpc>
            </a:pPr>
            <a:r>
              <a:rPr lang="en-NZ" dirty="0">
                <a:solidFill>
                  <a:schemeClr val="tx1"/>
                </a:solidFill>
                <a:latin typeface="Comic Sans MS" panose="030F0702030302020204" pitchFamily="66" charset="0"/>
              </a:rPr>
              <a:t>Simple Paging and Segmentation</a:t>
            </a:r>
          </a:p>
          <a:p>
            <a:pPr>
              <a:lnSpc>
                <a:spcPct val="150000"/>
              </a:lnSpc>
            </a:pPr>
            <a:r>
              <a:rPr lang="en-US" b="1" dirty="0">
                <a:solidFill>
                  <a:schemeClr val="accent3">
                    <a:lumMod val="60000"/>
                    <a:lumOff val="40000"/>
                  </a:schemeClr>
                </a:solidFill>
                <a:effectLst>
                  <a:outerShdw blurRad="38100" dist="38100" dir="2700000" algn="tl">
                    <a:srgbClr val="000000">
                      <a:alpha val="43137"/>
                    </a:srgbClr>
                  </a:outerShdw>
                </a:effectLst>
                <a:latin typeface="Comic Sans MS" panose="030F0702030302020204" pitchFamily="66" charset="0"/>
              </a:rPr>
              <a:t>Need of Virtual Memory</a:t>
            </a:r>
          </a:p>
          <a:p>
            <a:pPr>
              <a:lnSpc>
                <a:spcPct val="150000"/>
              </a:lnSpc>
            </a:pPr>
            <a:r>
              <a:rPr lang="en-US" dirty="0">
                <a:latin typeface="Comic Sans MS" panose="030F0702030302020204" pitchFamily="66" charset="0"/>
              </a:rPr>
              <a:t>Virtual memory Paging and Segmentation</a:t>
            </a:r>
          </a:p>
          <a:p>
            <a:pPr>
              <a:lnSpc>
                <a:spcPct val="150000"/>
              </a:lnSpc>
            </a:pPr>
            <a:r>
              <a:rPr lang="en-US" dirty="0">
                <a:latin typeface="Comic Sans MS" panose="030F0702030302020204" pitchFamily="66" charset="0"/>
              </a:rPr>
              <a:t>Address translation in Paging</a:t>
            </a:r>
          </a:p>
          <a:p>
            <a:pPr>
              <a:lnSpc>
                <a:spcPct val="150000"/>
              </a:lnSpc>
            </a:pPr>
            <a:r>
              <a:rPr lang="en-US" dirty="0">
                <a:latin typeface="Comic Sans MS" panose="030F0702030302020204" pitchFamily="66" charset="0"/>
              </a:rPr>
              <a:t>Address translation in Segmentation</a:t>
            </a:r>
          </a:p>
          <a:p>
            <a:pPr>
              <a:lnSpc>
                <a:spcPct val="150000"/>
              </a:lnSpc>
            </a:pPr>
            <a:r>
              <a:rPr lang="en-US" dirty="0">
                <a:latin typeface="Comic Sans MS" panose="030F0702030302020204" pitchFamily="66" charset="0"/>
              </a:rPr>
              <a:t>Page Replacement Algorithms (FIFO, LRU, Optimal)</a:t>
            </a:r>
            <a:endParaRPr lang="en-NZ" dirty="0">
              <a:latin typeface="Comic Sans MS" panose="030F0702030302020204" pitchFamily="66" charset="0"/>
            </a:endParaRPr>
          </a:p>
        </p:txBody>
      </p:sp>
      <p:sp>
        <p:nvSpPr>
          <p:cNvPr id="4" name="Right Arrow 3"/>
          <p:cNvSpPr/>
          <p:nvPr/>
        </p:nvSpPr>
        <p:spPr>
          <a:xfrm>
            <a:off x="240792" y="3124200"/>
            <a:ext cx="445008" cy="381000"/>
          </a:xfrm>
          <a:prstGeom prst="rightArrow">
            <a:avLst/>
          </a:prstGeom>
          <a:solidFill>
            <a:schemeClr val="accent3">
              <a:lumMod val="60000"/>
              <a:lumOff val="40000"/>
            </a:schemeClr>
          </a:solidFill>
          <a:ln w="127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51" name="Picture 3" descr="E:\gp image\stick_figure_drawing_three_check_marks_sm_wm.gif"/>
          <p:cNvPicPr>
            <a:picLocks noChangeAspect="1" noChangeArrowheads="1" noCrop="1"/>
          </p:cNvPicPr>
          <p:nvPr/>
        </p:nvPicPr>
        <p:blipFill>
          <a:blip r:embed="rId3"/>
          <a:srcRect/>
          <a:stretch>
            <a:fillRect/>
          </a:stretch>
        </p:blipFill>
        <p:spPr bwMode="auto">
          <a:xfrm>
            <a:off x="6879336" y="1447800"/>
            <a:ext cx="1807464" cy="3276600"/>
          </a:xfrm>
          <a:prstGeom prst="rect">
            <a:avLst/>
          </a:prstGeom>
          <a:noFill/>
        </p:spPr>
      </p:pic>
    </p:spTree>
    <p:extLst>
      <p:ext uri="{BB962C8B-B14F-4D97-AF65-F5344CB8AC3E}">
        <p14:creationId xmlns:p14="http://schemas.microsoft.com/office/powerpoint/2010/main" val="3056241855"/>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0E4AB1-30D8-4F32-B0ED-0AACA7438968}"/>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24F88C35-E8A5-4B68-BD41-7075469AA883}"/>
              </a:ext>
            </a:extLst>
          </p:cNvPr>
          <p:cNvSpPr>
            <a:spLocks noGrp="1"/>
          </p:cNvSpPr>
          <p:nvPr>
            <p:ph sz="quarter" idx="1"/>
          </p:nvPr>
        </p:nvSpPr>
        <p:spPr/>
        <p:txBody>
          <a:bodyPr/>
          <a:lstStyle/>
          <a:p>
            <a:endParaRPr lang="en-IN"/>
          </a:p>
        </p:txBody>
      </p:sp>
      <p:pic>
        <p:nvPicPr>
          <p:cNvPr id="4" name="Picture 2">
            <a:extLst>
              <a:ext uri="{FF2B5EF4-FFF2-40B4-BE49-F238E27FC236}">
                <a16:creationId xmlns:a16="http://schemas.microsoft.com/office/drawing/2014/main" id="{4F905390-1B01-41BB-8FC5-47CDC02C2473}"/>
              </a:ext>
            </a:extLst>
          </p:cNvPr>
          <p:cNvPicPr>
            <a:picLocks noChangeAspect="1" noChangeArrowheads="1"/>
          </p:cNvPicPr>
          <p:nvPr/>
        </p:nvPicPr>
        <p:blipFill>
          <a:blip r:embed="rId2"/>
          <a:srcRect/>
          <a:stretch>
            <a:fillRect/>
          </a:stretch>
        </p:blipFill>
        <p:spPr bwMode="auto">
          <a:xfrm>
            <a:off x="76200" y="274638"/>
            <a:ext cx="8991599" cy="624840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243029414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6200" y="685800"/>
            <a:ext cx="7467600" cy="6019800"/>
          </a:xfrm>
        </p:spPr>
        <p:style>
          <a:lnRef idx="2">
            <a:schemeClr val="accent1"/>
          </a:lnRef>
          <a:fillRef idx="1">
            <a:schemeClr val="lt1"/>
          </a:fillRef>
          <a:effectRef idx="0">
            <a:schemeClr val="accent1"/>
          </a:effectRef>
          <a:fontRef idx="minor">
            <a:schemeClr val="dk1"/>
          </a:fontRef>
        </p:style>
        <p:txBody>
          <a:bodyPr>
            <a:noAutofit/>
          </a:bodyPr>
          <a:lstStyle/>
          <a:p>
            <a:pPr algn="just"/>
            <a:r>
              <a:rPr lang="en-NZ" sz="2400" dirty="0">
                <a:latin typeface="Calibri" pitchFamily="34" charset="0"/>
              </a:rPr>
              <a:t>The portion of a process that is actually in main memory at any time is defined to be the </a:t>
            </a:r>
            <a:r>
              <a:rPr lang="en-NZ" sz="2400" b="1" dirty="0">
                <a:latin typeface="Calibri" pitchFamily="34" charset="0"/>
              </a:rPr>
              <a:t>resident set of the process</a:t>
            </a:r>
            <a:r>
              <a:rPr lang="en-NZ" sz="2400" dirty="0">
                <a:latin typeface="Calibri" pitchFamily="34" charset="0"/>
              </a:rPr>
              <a:t>.</a:t>
            </a:r>
          </a:p>
          <a:p>
            <a:pPr algn="just">
              <a:buFontTx/>
              <a:buChar char="•"/>
            </a:pPr>
            <a:r>
              <a:rPr lang="en-NZ" sz="2400" dirty="0">
                <a:latin typeface="Calibri" pitchFamily="34" charset="0"/>
              </a:rPr>
              <a:t>Using the segment or page table, the processor always is able to deter mine whether page or segment is in main memory or not.</a:t>
            </a:r>
          </a:p>
          <a:p>
            <a:pPr algn="just"/>
            <a:r>
              <a:rPr lang="en-NZ" sz="2400" dirty="0">
                <a:latin typeface="Calibri" pitchFamily="34" charset="0"/>
              </a:rPr>
              <a:t>If the processor encounters a logical address that </a:t>
            </a:r>
            <a:r>
              <a:rPr lang="en-NZ" sz="2400" b="1" dirty="0">
                <a:latin typeface="Calibri" pitchFamily="34" charset="0"/>
              </a:rPr>
              <a:t>is not </a:t>
            </a:r>
            <a:r>
              <a:rPr lang="en-NZ" sz="2400" dirty="0">
                <a:latin typeface="Calibri" pitchFamily="34" charset="0"/>
              </a:rPr>
              <a:t>in main memory, </a:t>
            </a:r>
          </a:p>
          <a:p>
            <a:pPr lvl="1" algn="just">
              <a:buFontTx/>
              <a:buChar char="•"/>
            </a:pPr>
            <a:r>
              <a:rPr lang="en-NZ" sz="2400" dirty="0">
                <a:latin typeface="Calibri" pitchFamily="34" charset="0"/>
              </a:rPr>
              <a:t> it generates an interrupt indicating a memory access fault.</a:t>
            </a:r>
          </a:p>
          <a:p>
            <a:pPr algn="just"/>
            <a:endParaRPr lang="en-NZ" sz="2400" dirty="0">
              <a:latin typeface="Calibri" pitchFamily="34" charset="0"/>
            </a:endParaRPr>
          </a:p>
          <a:p>
            <a:pPr algn="just"/>
            <a:r>
              <a:rPr lang="en-NZ" sz="2400" dirty="0">
                <a:latin typeface="Calibri" pitchFamily="34" charset="0"/>
              </a:rPr>
              <a:t>The operating system puts the interrupted process in a blocking state and takes control. </a:t>
            </a:r>
          </a:p>
          <a:p>
            <a:pPr algn="just"/>
            <a:endParaRPr lang="en-US" sz="2400" dirty="0">
              <a:latin typeface="Calibri" pitchFamily="34" charset="0"/>
            </a:endParaRPr>
          </a:p>
        </p:txBody>
      </p:sp>
      <p:sp>
        <p:nvSpPr>
          <p:cNvPr id="4" name="Title 1"/>
          <p:cNvSpPr txBox="1">
            <a:spLocks/>
          </p:cNvSpPr>
          <p:nvPr/>
        </p:nvSpPr>
        <p:spPr>
          <a:xfrm>
            <a:off x="533400" y="76200"/>
            <a:ext cx="8229600" cy="457200"/>
          </a:xfrm>
          <a:prstGeom prst="rect">
            <a:avLst/>
          </a:prstGeom>
          <a:solidFill>
            <a:schemeClr val="accent3">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vert="horz" lIns="91440" tIns="45720" rIns="91440" bIns="45720" rtlCol="0" anchor="ctr">
            <a:normAutofit fontScale="92500" lnSpcReduction="10000"/>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800" b="1" i="0" u="none" strike="noStrike" kern="1200" cap="none" spc="0" normalizeH="0" baseline="0" noProof="0" dirty="0">
                <a:ln>
                  <a:noFill/>
                </a:ln>
                <a:solidFill>
                  <a:schemeClr val="bg1">
                    <a:lumMod val="95000"/>
                  </a:schemeClr>
                </a:solidFill>
                <a:effectLst/>
                <a:uLnTx/>
                <a:uFillTx/>
                <a:latin typeface="Calibri" pitchFamily="34" charset="0"/>
                <a:ea typeface="+mj-ea"/>
                <a:cs typeface="+mj-cs"/>
              </a:rPr>
              <a:t>Execution of a Process</a:t>
            </a:r>
          </a:p>
        </p:txBody>
      </p:sp>
      <p:pic>
        <p:nvPicPr>
          <p:cNvPr id="2050" name="Picture 2" descr="E:\gp image\stick_figure_binoculars_md_wm.gif"/>
          <p:cNvPicPr>
            <a:picLocks noChangeAspect="1" noChangeArrowheads="1" noCrop="1"/>
          </p:cNvPicPr>
          <p:nvPr/>
        </p:nvPicPr>
        <p:blipFill>
          <a:blip r:embed="rId2"/>
          <a:srcRect/>
          <a:stretch>
            <a:fillRect/>
          </a:stretch>
        </p:blipFill>
        <p:spPr bwMode="auto">
          <a:xfrm>
            <a:off x="7696200" y="1066800"/>
            <a:ext cx="1447800" cy="2095500"/>
          </a:xfrm>
          <a:prstGeom prst="rect">
            <a:avLst/>
          </a:prstGeom>
          <a:noFill/>
        </p:spPr>
      </p:pic>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6200" y="533400"/>
            <a:ext cx="6324600" cy="5943600"/>
          </a:xfrm>
        </p:spPr>
        <p:style>
          <a:lnRef idx="2">
            <a:schemeClr val="accent1"/>
          </a:lnRef>
          <a:fillRef idx="1">
            <a:schemeClr val="lt1"/>
          </a:fillRef>
          <a:effectRef idx="0">
            <a:schemeClr val="accent1"/>
          </a:effectRef>
          <a:fontRef idx="minor">
            <a:schemeClr val="dk1"/>
          </a:fontRef>
        </p:style>
        <p:txBody>
          <a:bodyPr>
            <a:noAutofit/>
          </a:bodyPr>
          <a:lstStyle/>
          <a:p>
            <a:r>
              <a:rPr lang="en-US" sz="2000" dirty="0"/>
              <a:t>There are two implications- both lead to improved system utilization:</a:t>
            </a:r>
            <a:endParaRPr lang="en-NZ" sz="2000" b="1" dirty="0">
              <a:latin typeface="Calibri" pitchFamily="34" charset="0"/>
            </a:endParaRPr>
          </a:p>
          <a:p>
            <a:pPr marL="228600" indent="-228600">
              <a:buFontTx/>
              <a:buAutoNum type="arabicPeriod"/>
              <a:defRPr/>
            </a:pPr>
            <a:r>
              <a:rPr lang="en-NZ" sz="2000" b="1" dirty="0">
                <a:latin typeface="Calibri" pitchFamily="34" charset="0"/>
              </a:rPr>
              <a:t>More processes may be maintained in main memory. </a:t>
            </a:r>
          </a:p>
          <a:p>
            <a:pPr marL="685800" lvl="1" indent="-228600">
              <a:buFont typeface="Arial" pitchFamily="34" charset="0"/>
              <a:buChar char="•"/>
              <a:defRPr/>
            </a:pPr>
            <a:r>
              <a:rPr lang="en-NZ" sz="2000" dirty="0">
                <a:latin typeface="Calibri" pitchFamily="34" charset="0"/>
              </a:rPr>
              <a:t>Because we are only going to load some of the pieces of any particular process, there is room for more processes. </a:t>
            </a:r>
          </a:p>
          <a:p>
            <a:pPr>
              <a:buNone/>
              <a:defRPr/>
            </a:pPr>
            <a:r>
              <a:rPr lang="en-NZ" sz="2000" dirty="0">
                <a:latin typeface="Calibri" pitchFamily="34" charset="0"/>
              </a:rPr>
              <a:t>2. </a:t>
            </a:r>
            <a:r>
              <a:rPr lang="en-NZ" sz="2000" b="1" dirty="0">
                <a:latin typeface="Calibri" pitchFamily="34" charset="0"/>
              </a:rPr>
              <a:t>A process may be larger than all of main memory</a:t>
            </a:r>
            <a:r>
              <a:rPr lang="en-NZ" sz="2000" dirty="0">
                <a:latin typeface="Calibri" pitchFamily="34" charset="0"/>
              </a:rPr>
              <a:t>.</a:t>
            </a:r>
          </a:p>
          <a:p>
            <a:pPr lvl="1">
              <a:buFont typeface="Arial" pitchFamily="34" charset="0"/>
              <a:buChar char="•"/>
              <a:defRPr/>
            </a:pPr>
            <a:r>
              <a:rPr lang="en-NZ" sz="2000" dirty="0">
                <a:latin typeface="Calibri" pitchFamily="34" charset="0"/>
              </a:rPr>
              <a:t>If the program being written is too large, the programmer must devise ways to structure the program into pieces that can be loaded separately in some sort of overlay strategy. </a:t>
            </a:r>
          </a:p>
          <a:p>
            <a:pPr lvl="1">
              <a:buFont typeface="Arial" pitchFamily="34" charset="0"/>
              <a:buChar char="•"/>
              <a:defRPr/>
            </a:pPr>
            <a:r>
              <a:rPr lang="en-NZ" sz="2000" dirty="0">
                <a:latin typeface="Calibri" pitchFamily="34" charset="0"/>
              </a:rPr>
              <a:t> With virtual memory based on paging or segmentation, that job is left to the operating system and the hardware. </a:t>
            </a:r>
          </a:p>
          <a:p>
            <a:pPr lvl="1">
              <a:buFont typeface="Arial" pitchFamily="34" charset="0"/>
              <a:buChar char="•"/>
              <a:defRPr/>
            </a:pPr>
            <a:r>
              <a:rPr lang="en-NZ" sz="2000" dirty="0">
                <a:latin typeface="Calibri" pitchFamily="34" charset="0"/>
              </a:rPr>
              <a:t> The operating system automatically loads pieces of a process into main memory as required.</a:t>
            </a:r>
            <a:endParaRPr lang="en-US" sz="2000" dirty="0">
              <a:latin typeface="Calibri" pitchFamily="34" charset="0"/>
            </a:endParaRPr>
          </a:p>
        </p:txBody>
      </p:sp>
      <p:sp>
        <p:nvSpPr>
          <p:cNvPr id="4" name="Title 1"/>
          <p:cNvSpPr>
            <a:spLocks noGrp="1"/>
          </p:cNvSpPr>
          <p:nvPr>
            <p:ph type="title"/>
          </p:nvPr>
        </p:nvSpPr>
        <p:spPr>
          <a:xfrm>
            <a:off x="457200" y="0"/>
            <a:ext cx="8229600" cy="381000"/>
          </a:xfrm>
          <a:solidFill>
            <a:schemeClr val="accent3">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a:noAutofit/>
          </a:bodyPr>
          <a:lstStyle/>
          <a:p>
            <a:r>
              <a:rPr lang="en-NZ" sz="2600" b="1" dirty="0">
                <a:latin typeface="Calibri" pitchFamily="34" charset="0"/>
              </a:rPr>
              <a:t>Implications of this new strategy</a:t>
            </a:r>
            <a:endParaRPr lang="en-US" sz="2600" b="1" dirty="0">
              <a:latin typeface="Calibri" pitchFamily="34" charset="0"/>
            </a:endParaRPr>
          </a:p>
        </p:txBody>
      </p:sp>
      <p:pic>
        <p:nvPicPr>
          <p:cNvPr id="3074" name="Picture 2" descr="E:\gp image\megaphone_protest_md_wm.gif"/>
          <p:cNvPicPr>
            <a:picLocks noChangeAspect="1" noChangeArrowheads="1" noCrop="1"/>
          </p:cNvPicPr>
          <p:nvPr/>
        </p:nvPicPr>
        <p:blipFill>
          <a:blip r:embed="rId2"/>
          <a:srcRect/>
          <a:stretch>
            <a:fillRect/>
          </a:stretch>
        </p:blipFill>
        <p:spPr bwMode="auto">
          <a:xfrm>
            <a:off x="6629400" y="1676400"/>
            <a:ext cx="2095500" cy="2095500"/>
          </a:xfrm>
          <a:prstGeom prst="rect">
            <a:avLst/>
          </a:prstGeom>
          <a:noFill/>
        </p:spPr>
      </p:pic>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itle 1"/>
          <p:cNvSpPr>
            <a:spLocks noGrp="1"/>
          </p:cNvSpPr>
          <p:nvPr>
            <p:ph type="title"/>
          </p:nvPr>
        </p:nvSpPr>
        <p:spPr>
          <a:xfrm>
            <a:off x="457200" y="46038"/>
            <a:ext cx="8229600" cy="563562"/>
          </a:xfrm>
          <a:solidFill>
            <a:schemeClr val="accent3">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a:normAutofit/>
          </a:bodyPr>
          <a:lstStyle/>
          <a:p>
            <a:r>
              <a:rPr lang="en-US" sz="2800" b="1" dirty="0">
                <a:latin typeface="Calibri" pitchFamily="34" charset="0"/>
              </a:rPr>
              <a:t>Real and Virtual Memory</a:t>
            </a:r>
          </a:p>
        </p:txBody>
      </p:sp>
      <p:sp>
        <p:nvSpPr>
          <p:cNvPr id="11267" name="Content Placeholder 2"/>
          <p:cNvSpPr>
            <a:spLocks noGrp="1"/>
          </p:cNvSpPr>
          <p:nvPr>
            <p:ph idx="1"/>
          </p:nvPr>
        </p:nvSpPr>
        <p:spPr>
          <a:xfrm>
            <a:off x="76200" y="762000"/>
            <a:ext cx="5791200" cy="3962399"/>
          </a:xfrm>
        </p:spPr>
        <p:style>
          <a:lnRef idx="2">
            <a:schemeClr val="accent1"/>
          </a:lnRef>
          <a:fillRef idx="1">
            <a:schemeClr val="lt1"/>
          </a:fillRef>
          <a:effectRef idx="0">
            <a:schemeClr val="accent1"/>
          </a:effectRef>
          <a:fontRef idx="minor">
            <a:schemeClr val="dk1"/>
          </a:fontRef>
        </p:style>
        <p:txBody>
          <a:bodyPr>
            <a:normAutofit/>
          </a:bodyPr>
          <a:lstStyle/>
          <a:p>
            <a:r>
              <a:rPr lang="en-US" sz="2200" dirty="0">
                <a:latin typeface="Calibri" pitchFamily="34" charset="0"/>
              </a:rPr>
              <a:t>Real memory</a:t>
            </a:r>
          </a:p>
          <a:p>
            <a:pPr lvl="1"/>
            <a:r>
              <a:rPr lang="en-US" sz="2200" dirty="0">
                <a:latin typeface="Calibri" pitchFamily="34" charset="0"/>
              </a:rPr>
              <a:t>Main memory, the actual RAM</a:t>
            </a:r>
          </a:p>
          <a:p>
            <a:pPr lvl="1"/>
            <a:endParaRPr lang="en-US" sz="2200" dirty="0">
              <a:latin typeface="Calibri" pitchFamily="34" charset="0"/>
            </a:endParaRPr>
          </a:p>
          <a:p>
            <a:r>
              <a:rPr lang="en-US" sz="2200" dirty="0">
                <a:latin typeface="Calibri" pitchFamily="34" charset="0"/>
              </a:rPr>
              <a:t>Virtual memory</a:t>
            </a:r>
          </a:p>
          <a:p>
            <a:pPr lvl="1"/>
            <a:r>
              <a:rPr lang="en-US" sz="2200" dirty="0">
                <a:latin typeface="Calibri" pitchFamily="34" charset="0"/>
              </a:rPr>
              <a:t>Memory on disk</a:t>
            </a:r>
          </a:p>
          <a:p>
            <a:pPr lvl="1"/>
            <a:r>
              <a:rPr lang="en-US" sz="2200" dirty="0">
                <a:latin typeface="Calibri" pitchFamily="34" charset="0"/>
              </a:rPr>
              <a:t>Allows for effective multiprogramming and relieves the user of tight constraints of main memory</a:t>
            </a:r>
          </a:p>
          <a:p>
            <a:endParaRPr lang="en-US" sz="2200" dirty="0">
              <a:latin typeface="Calibri" pitchFamily="34" charset="0"/>
            </a:endParaRPr>
          </a:p>
        </p:txBody>
      </p:sp>
      <p:sp>
        <p:nvSpPr>
          <p:cNvPr id="4" name="Rectangle 3"/>
          <p:cNvSpPr/>
          <p:nvPr/>
        </p:nvSpPr>
        <p:spPr>
          <a:xfrm>
            <a:off x="228600" y="5029200"/>
            <a:ext cx="7772400" cy="769441"/>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r>
              <a:rPr lang="en-US" sz="2200" dirty="0"/>
              <a:t>Table 8.2 summarizes characteristics of paging and segmentation, with and without the use of virtual memory.</a:t>
            </a:r>
          </a:p>
        </p:txBody>
      </p:sp>
      <p:pic>
        <p:nvPicPr>
          <p:cNvPr id="4098" name="Picture 2" descr="E:\gp image\stick_figure_walking_reading_book_sm_wm.gif"/>
          <p:cNvPicPr>
            <a:picLocks noChangeAspect="1" noChangeArrowheads="1" noCrop="1"/>
          </p:cNvPicPr>
          <p:nvPr/>
        </p:nvPicPr>
        <p:blipFill>
          <a:blip r:embed="rId3"/>
          <a:srcRect/>
          <a:stretch>
            <a:fillRect/>
          </a:stretch>
        </p:blipFill>
        <p:spPr bwMode="auto">
          <a:xfrm>
            <a:off x="6934200" y="1447800"/>
            <a:ext cx="2057400" cy="2057400"/>
          </a:xfrm>
          <a:prstGeom prst="rect">
            <a:avLst/>
          </a:prstGeom>
          <a:noFill/>
        </p:spPr>
      </p:pic>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a:srcRect/>
          <a:stretch>
            <a:fillRect/>
          </a:stretch>
        </p:blipFill>
        <p:spPr bwMode="auto">
          <a:xfrm>
            <a:off x="0" y="1"/>
            <a:ext cx="9143999" cy="6857999"/>
          </a:xfrm>
          <a:prstGeom prst="rect">
            <a:avLst/>
          </a:prstGeom>
          <a:noFill/>
          <a:ln w="9525">
            <a:noFill/>
            <a:miter lim="800000"/>
            <a:headEnd/>
            <a:tailEnd/>
          </a:ln>
          <a:effectLst/>
        </p:spPr>
      </p:pic>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6200" y="609600"/>
            <a:ext cx="5334000" cy="5867400"/>
          </a:xfrm>
        </p:spPr>
        <p:style>
          <a:lnRef idx="2">
            <a:schemeClr val="accent1"/>
          </a:lnRef>
          <a:fillRef idx="1">
            <a:schemeClr val="lt1"/>
          </a:fillRef>
          <a:effectRef idx="0">
            <a:schemeClr val="accent1"/>
          </a:effectRef>
          <a:fontRef idx="minor">
            <a:schemeClr val="dk1"/>
          </a:fontRef>
        </p:style>
        <p:txBody>
          <a:bodyPr>
            <a:noAutofit/>
          </a:bodyPr>
          <a:lstStyle/>
          <a:p>
            <a:r>
              <a:rPr lang="en-NZ" sz="2000" dirty="0">
                <a:latin typeface="Calibri" pitchFamily="34" charset="0"/>
              </a:rPr>
              <a:t> In the steady state, practically all of main memory will be occupied with process pieces, so that the processor and operating system have direct access to as many processes as possible.</a:t>
            </a:r>
          </a:p>
          <a:p>
            <a:endParaRPr lang="en-NZ" sz="2000" dirty="0">
              <a:latin typeface="Calibri" pitchFamily="34" charset="0"/>
            </a:endParaRPr>
          </a:p>
          <a:p>
            <a:r>
              <a:rPr lang="en-NZ" sz="2000" dirty="0">
                <a:latin typeface="Calibri" pitchFamily="34" charset="0"/>
              </a:rPr>
              <a:t>Thus, when the operating system brings one piece in, it must throw another out.</a:t>
            </a:r>
          </a:p>
          <a:p>
            <a:endParaRPr lang="en-NZ" sz="2000" dirty="0">
              <a:latin typeface="Calibri" pitchFamily="34" charset="0"/>
            </a:endParaRPr>
          </a:p>
          <a:p>
            <a:r>
              <a:rPr lang="en-NZ" sz="2000" dirty="0">
                <a:latin typeface="Calibri" pitchFamily="34" charset="0"/>
              </a:rPr>
              <a:t>If it throws out a piece just before it is used, then it will just have to go get that piece again almost immediately.</a:t>
            </a:r>
          </a:p>
          <a:p>
            <a:pPr lvl="1">
              <a:buFontTx/>
              <a:buChar char="•"/>
            </a:pPr>
            <a:r>
              <a:rPr lang="en-NZ" sz="2000" dirty="0">
                <a:latin typeface="Calibri" pitchFamily="34" charset="0"/>
              </a:rPr>
              <a:t> Too much of this leads to a condition known as </a:t>
            </a:r>
            <a:r>
              <a:rPr lang="en-NZ" sz="2000" b="1" dirty="0">
                <a:latin typeface="Calibri" pitchFamily="34" charset="0"/>
              </a:rPr>
              <a:t>thrashing</a:t>
            </a:r>
          </a:p>
          <a:p>
            <a:pPr lvl="1">
              <a:buFontTx/>
              <a:buChar char="•"/>
            </a:pPr>
            <a:r>
              <a:rPr lang="en-NZ" sz="2000" dirty="0">
                <a:latin typeface="Calibri" pitchFamily="34" charset="0"/>
              </a:rPr>
              <a:t> The system spends most of its time swapping pieces rather than executing instructions.</a:t>
            </a:r>
          </a:p>
          <a:p>
            <a:endParaRPr lang="en-US" sz="2000" dirty="0">
              <a:latin typeface="Calibri" pitchFamily="34" charset="0"/>
            </a:endParaRPr>
          </a:p>
        </p:txBody>
      </p:sp>
      <p:sp>
        <p:nvSpPr>
          <p:cNvPr id="4" name="Title 1"/>
          <p:cNvSpPr>
            <a:spLocks noGrp="1"/>
          </p:cNvSpPr>
          <p:nvPr>
            <p:ph type="title"/>
          </p:nvPr>
        </p:nvSpPr>
        <p:spPr>
          <a:xfrm>
            <a:off x="457200" y="46038"/>
            <a:ext cx="8229600" cy="411162"/>
          </a:xfrm>
          <a:solidFill>
            <a:schemeClr val="accent3">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a:noAutofit/>
          </a:bodyPr>
          <a:lstStyle/>
          <a:p>
            <a:pPr algn="ctr"/>
            <a:r>
              <a:rPr lang="en-US" sz="2800" b="1" dirty="0">
                <a:latin typeface="Calibri" pitchFamily="34" charset="0"/>
              </a:rPr>
              <a:t>Thrashing</a:t>
            </a:r>
          </a:p>
        </p:txBody>
      </p:sp>
      <p:pic>
        <p:nvPicPr>
          <p:cNvPr id="5122" name="Picture 2" descr="E:\gp image\stick_figure_tighten_bolt_wrench_md_wm.gif"/>
          <p:cNvPicPr>
            <a:picLocks noChangeAspect="1" noChangeArrowheads="1" noCrop="1"/>
          </p:cNvPicPr>
          <p:nvPr/>
        </p:nvPicPr>
        <p:blipFill>
          <a:blip r:embed="rId2"/>
          <a:srcRect/>
          <a:stretch>
            <a:fillRect/>
          </a:stretch>
        </p:blipFill>
        <p:spPr bwMode="auto">
          <a:xfrm>
            <a:off x="5810250" y="609600"/>
            <a:ext cx="2095500" cy="1714500"/>
          </a:xfrm>
          <a:prstGeom prst="rect">
            <a:avLst/>
          </a:prstGeom>
          <a:noFill/>
        </p:spPr>
      </p:pic>
      <p:sp>
        <p:nvSpPr>
          <p:cNvPr id="2" name="Rectangle 1">
            <a:extLst>
              <a:ext uri="{FF2B5EF4-FFF2-40B4-BE49-F238E27FC236}">
                <a16:creationId xmlns:a16="http://schemas.microsoft.com/office/drawing/2014/main" id="{78E7D7F3-7FF9-4417-B89D-A3F1620E3330}"/>
              </a:ext>
            </a:extLst>
          </p:cNvPr>
          <p:cNvSpPr/>
          <p:nvPr/>
        </p:nvSpPr>
        <p:spPr>
          <a:xfrm>
            <a:off x="5619750" y="2501582"/>
            <a:ext cx="2762250" cy="2031325"/>
          </a:xfrm>
          <a:prstGeom prst="rect">
            <a:avLst/>
          </a:prstGeom>
        </p:spPr>
        <p:txBody>
          <a:bodyPr wrap="square">
            <a:spAutoFit/>
          </a:bodyPr>
          <a:lstStyle/>
          <a:p>
            <a:pPr algn="just"/>
            <a:r>
              <a:rPr lang="en-US" i="1" dirty="0"/>
              <a:t>Thrashing</a:t>
            </a:r>
            <a:r>
              <a:rPr lang="en-US" dirty="0"/>
              <a:t> is a condition in which excessive paging operations are taking place</a:t>
            </a:r>
            <a:r>
              <a:rPr lang="en-US"/>
              <a:t>. </a:t>
            </a:r>
          </a:p>
          <a:p>
            <a:pPr algn="just"/>
            <a:r>
              <a:rPr lang="en-US"/>
              <a:t>A </a:t>
            </a:r>
            <a:r>
              <a:rPr lang="en-US" dirty="0"/>
              <a:t>system that is </a:t>
            </a:r>
            <a:r>
              <a:rPr lang="en-US" i="1" dirty="0"/>
              <a:t>thrashing</a:t>
            </a:r>
            <a:r>
              <a:rPr lang="en-US" dirty="0"/>
              <a:t> can be perceived as either a very slow system or one that has come to a halt.</a:t>
            </a:r>
            <a:endParaRPr lang="en-IN" dirty="0"/>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a:xfrm>
            <a:off x="457200" y="152400"/>
            <a:ext cx="8229600" cy="563562"/>
          </a:xfrm>
          <a:solidFill>
            <a:schemeClr val="accent3">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a:normAutofit/>
          </a:bodyPr>
          <a:lstStyle/>
          <a:p>
            <a:pPr algn="ctr"/>
            <a:r>
              <a:rPr lang="en-US" sz="2800" b="1" dirty="0">
                <a:latin typeface="Calibri" pitchFamily="34" charset="0"/>
              </a:rPr>
              <a:t>Principle of Locality</a:t>
            </a:r>
          </a:p>
        </p:txBody>
      </p:sp>
      <p:sp>
        <p:nvSpPr>
          <p:cNvPr id="13315" name="Content Placeholder 2"/>
          <p:cNvSpPr>
            <a:spLocks noGrp="1"/>
          </p:cNvSpPr>
          <p:nvPr>
            <p:ph idx="1"/>
          </p:nvPr>
        </p:nvSpPr>
        <p:spPr>
          <a:xfrm>
            <a:off x="228600" y="1066800"/>
            <a:ext cx="4419600" cy="5181600"/>
          </a:xfrm>
        </p:spPr>
        <p:style>
          <a:lnRef idx="2">
            <a:schemeClr val="accent1"/>
          </a:lnRef>
          <a:fillRef idx="1">
            <a:schemeClr val="lt1"/>
          </a:fillRef>
          <a:effectRef idx="0">
            <a:schemeClr val="accent1"/>
          </a:effectRef>
          <a:fontRef idx="minor">
            <a:schemeClr val="dk1"/>
          </a:fontRef>
        </p:style>
        <p:txBody>
          <a:bodyPr>
            <a:normAutofit lnSpcReduction="10000"/>
          </a:bodyPr>
          <a:lstStyle/>
          <a:p>
            <a:r>
              <a:rPr lang="en-US" sz="2200" dirty="0">
                <a:latin typeface="Calibri" pitchFamily="34" charset="0"/>
              </a:rPr>
              <a:t>Program and data references within a process tend to cluster</a:t>
            </a:r>
          </a:p>
          <a:p>
            <a:endParaRPr lang="en-US" sz="2200" dirty="0">
              <a:latin typeface="Calibri" pitchFamily="34" charset="0"/>
            </a:endParaRPr>
          </a:p>
          <a:p>
            <a:r>
              <a:rPr lang="en-US" sz="2200" dirty="0">
                <a:latin typeface="Calibri" pitchFamily="34" charset="0"/>
              </a:rPr>
              <a:t>Only a few pieces of a process will be needed over a short period of time</a:t>
            </a:r>
          </a:p>
          <a:p>
            <a:endParaRPr lang="en-US" sz="2200" dirty="0">
              <a:latin typeface="Calibri" pitchFamily="34" charset="0"/>
            </a:endParaRPr>
          </a:p>
          <a:p>
            <a:r>
              <a:rPr lang="en-US" sz="2200" dirty="0">
                <a:latin typeface="Calibri" pitchFamily="34" charset="0"/>
              </a:rPr>
              <a:t>Therefore it is possible to make intelligent guesses about which pieces will be needed in the future.</a:t>
            </a:r>
          </a:p>
          <a:p>
            <a:endParaRPr lang="en-US" sz="2200" dirty="0">
              <a:latin typeface="Calibri" pitchFamily="34" charset="0"/>
            </a:endParaRPr>
          </a:p>
          <a:p>
            <a:r>
              <a:rPr lang="en-US" sz="2200" dirty="0">
                <a:latin typeface="Calibri" pitchFamily="34" charset="0"/>
              </a:rPr>
              <a:t>This suggests that virtual memory may work efficiently.</a:t>
            </a:r>
          </a:p>
          <a:p>
            <a:endParaRPr lang="en-US" sz="2200" dirty="0">
              <a:latin typeface="Calibri" pitchFamily="34" charset="0"/>
            </a:endParaRPr>
          </a:p>
        </p:txBody>
      </p:sp>
      <p:pic>
        <p:nvPicPr>
          <p:cNvPr id="6146" name="Picture 2" descr="E:\gp image\mail.png"/>
          <p:cNvPicPr>
            <a:picLocks noChangeAspect="1" noChangeArrowheads="1"/>
          </p:cNvPicPr>
          <p:nvPr/>
        </p:nvPicPr>
        <p:blipFill>
          <a:blip r:embed="rId3"/>
          <a:srcRect/>
          <a:stretch>
            <a:fillRect/>
          </a:stretch>
        </p:blipFill>
        <p:spPr bwMode="auto">
          <a:xfrm>
            <a:off x="5181601" y="1524000"/>
            <a:ext cx="2514600" cy="2506668"/>
          </a:xfrm>
          <a:prstGeom prst="rect">
            <a:avLst/>
          </a:prstGeom>
          <a:noFill/>
        </p:spPr>
      </p:pic>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1"/>
          <p:cNvSpPr>
            <a:spLocks noGrp="1"/>
          </p:cNvSpPr>
          <p:nvPr>
            <p:ph type="title"/>
          </p:nvPr>
        </p:nvSpPr>
        <p:spPr>
          <a:xfrm>
            <a:off x="685800" y="76200"/>
            <a:ext cx="8229600" cy="457200"/>
          </a:xfrm>
          <a:solidFill>
            <a:schemeClr val="accent3">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a:normAutofit fontScale="90000"/>
          </a:bodyPr>
          <a:lstStyle/>
          <a:p>
            <a:r>
              <a:rPr lang="en-NZ" sz="2800" b="1" dirty="0">
                <a:latin typeface="Calibri" pitchFamily="34" charset="0"/>
              </a:rPr>
              <a:t>A Processes Performance in VM Environment</a:t>
            </a:r>
          </a:p>
        </p:txBody>
      </p:sp>
      <p:sp>
        <p:nvSpPr>
          <p:cNvPr id="14339" name="Content Placeholder 2"/>
          <p:cNvSpPr>
            <a:spLocks noGrp="1"/>
          </p:cNvSpPr>
          <p:nvPr>
            <p:ph idx="1"/>
          </p:nvPr>
        </p:nvSpPr>
        <p:spPr>
          <a:xfrm>
            <a:off x="4572000" y="762000"/>
            <a:ext cx="4419600" cy="5029200"/>
          </a:xfrm>
        </p:spPr>
        <p:style>
          <a:lnRef idx="2">
            <a:schemeClr val="accent1"/>
          </a:lnRef>
          <a:fillRef idx="1">
            <a:schemeClr val="lt1"/>
          </a:fillRef>
          <a:effectRef idx="0">
            <a:schemeClr val="accent1"/>
          </a:effectRef>
          <a:fontRef idx="minor">
            <a:schemeClr val="dk1"/>
          </a:fontRef>
        </p:style>
        <p:txBody>
          <a:bodyPr>
            <a:normAutofit lnSpcReduction="10000"/>
          </a:bodyPr>
          <a:lstStyle/>
          <a:p>
            <a:r>
              <a:rPr lang="en-US" sz="2200" dirty="0"/>
              <a:t>One way to confirm the principle of locality is to look at the performance of processes in a virtual memory environment. </a:t>
            </a:r>
          </a:p>
          <a:p>
            <a:endParaRPr lang="en-US" sz="2200" dirty="0"/>
          </a:p>
          <a:p>
            <a:r>
              <a:rPr lang="en-US" sz="2200" dirty="0"/>
              <a:t>Figure 8.1 is a rather famous diagram that dramatically illustrates the principle of locality.</a:t>
            </a:r>
          </a:p>
          <a:p>
            <a:endParaRPr lang="en-NZ" sz="2200" dirty="0"/>
          </a:p>
          <a:p>
            <a:r>
              <a:rPr lang="en-NZ" sz="2200" dirty="0"/>
              <a:t>Note that during the lifetime of the process, references are confined to a subset of pages.</a:t>
            </a:r>
          </a:p>
        </p:txBody>
      </p:sp>
      <p:pic>
        <p:nvPicPr>
          <p:cNvPr id="14340" name="Picture 2"/>
          <p:cNvPicPr>
            <a:picLocks noChangeAspect="1" noChangeArrowheads="1"/>
          </p:cNvPicPr>
          <p:nvPr/>
        </p:nvPicPr>
        <p:blipFill>
          <a:blip r:embed="rId3"/>
          <a:srcRect/>
          <a:stretch>
            <a:fillRect/>
          </a:stretch>
        </p:blipFill>
        <p:spPr bwMode="auto">
          <a:xfrm>
            <a:off x="152400" y="838200"/>
            <a:ext cx="4295775" cy="529590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838200"/>
            <a:ext cx="4648200" cy="5638800"/>
          </a:xfrm>
        </p:spPr>
        <p:style>
          <a:lnRef idx="2">
            <a:schemeClr val="accent1"/>
          </a:lnRef>
          <a:fillRef idx="1">
            <a:schemeClr val="lt1"/>
          </a:fillRef>
          <a:effectRef idx="0">
            <a:schemeClr val="accent1"/>
          </a:effectRef>
          <a:fontRef idx="minor">
            <a:schemeClr val="dk1"/>
          </a:fontRef>
        </p:style>
        <p:txBody>
          <a:bodyPr>
            <a:normAutofit/>
          </a:bodyPr>
          <a:lstStyle/>
          <a:p>
            <a:pPr>
              <a:defRPr/>
            </a:pPr>
            <a:r>
              <a:rPr lang="en-NZ" sz="2200" dirty="0"/>
              <a:t>For virtual memory to be practical and effective, two ingredients are needed. </a:t>
            </a:r>
          </a:p>
          <a:p>
            <a:pPr>
              <a:defRPr/>
            </a:pPr>
            <a:endParaRPr lang="en-NZ" sz="2200" dirty="0"/>
          </a:p>
          <a:p>
            <a:pPr marL="228600" indent="-228600">
              <a:buFontTx/>
              <a:buAutoNum type="arabicParenR"/>
              <a:defRPr/>
            </a:pPr>
            <a:r>
              <a:rPr lang="en-NZ" sz="2200" dirty="0"/>
              <a:t>There must be hardware support for the paging and/or segmentation scheme to be employed. </a:t>
            </a:r>
          </a:p>
          <a:p>
            <a:pPr marL="228600" indent="-228600">
              <a:buFontTx/>
              <a:buAutoNum type="arabicParenR"/>
              <a:defRPr/>
            </a:pPr>
            <a:endParaRPr lang="en-NZ" sz="2200" dirty="0"/>
          </a:p>
          <a:p>
            <a:pPr marL="228600" indent="-228600">
              <a:buFontTx/>
              <a:buAutoNum type="arabicParenR"/>
              <a:defRPr/>
            </a:pPr>
            <a:r>
              <a:rPr lang="en-NZ" sz="2200" dirty="0"/>
              <a:t>The operating system must include software for managing the movement of pages and/or segments between secondary memory and main memory. </a:t>
            </a:r>
          </a:p>
          <a:p>
            <a:pPr>
              <a:defRPr/>
            </a:pPr>
            <a:endParaRPr lang="en-NZ" sz="2200" dirty="0"/>
          </a:p>
          <a:p>
            <a:endParaRPr lang="en-US" sz="2200" dirty="0">
              <a:latin typeface="Calibri" pitchFamily="34" charset="0"/>
            </a:endParaRPr>
          </a:p>
        </p:txBody>
      </p:sp>
      <p:sp>
        <p:nvSpPr>
          <p:cNvPr id="4" name="Title 1"/>
          <p:cNvSpPr>
            <a:spLocks noGrp="1"/>
          </p:cNvSpPr>
          <p:nvPr>
            <p:ph type="title"/>
          </p:nvPr>
        </p:nvSpPr>
        <p:spPr>
          <a:xfrm>
            <a:off x="457200" y="0"/>
            <a:ext cx="8229600" cy="563562"/>
          </a:xfrm>
          <a:solidFill>
            <a:schemeClr val="accent3">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a:normAutofit/>
          </a:bodyPr>
          <a:lstStyle/>
          <a:p>
            <a:r>
              <a:rPr lang="en-US" sz="2800" b="1" dirty="0">
                <a:latin typeface="Calibri" pitchFamily="34" charset="0"/>
              </a:rPr>
              <a:t>Support Needed for Virtual Memory</a:t>
            </a:r>
          </a:p>
        </p:txBody>
      </p:sp>
      <p:pic>
        <p:nvPicPr>
          <p:cNvPr id="7170" name="Picture 2" descr="E:\gp image\adm.png"/>
          <p:cNvPicPr>
            <a:picLocks noChangeAspect="1" noChangeArrowheads="1"/>
          </p:cNvPicPr>
          <p:nvPr/>
        </p:nvPicPr>
        <p:blipFill>
          <a:blip r:embed="rId2"/>
          <a:srcRect/>
          <a:stretch>
            <a:fillRect/>
          </a:stretch>
        </p:blipFill>
        <p:spPr bwMode="auto">
          <a:xfrm>
            <a:off x="5486400" y="1447800"/>
            <a:ext cx="3162300" cy="2847975"/>
          </a:xfrm>
          <a:prstGeom prst="rect">
            <a:avLst/>
          </a:prstGeom>
          <a:noFill/>
        </p:spPr>
      </p:pic>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Title 1"/>
          <p:cNvSpPr>
            <a:spLocks noGrp="1"/>
          </p:cNvSpPr>
          <p:nvPr>
            <p:ph type="title"/>
          </p:nvPr>
        </p:nvSpPr>
        <p:spPr>
          <a:xfrm>
            <a:off x="1752600" y="76200"/>
            <a:ext cx="5029200" cy="533400"/>
          </a:xfrm>
          <a:solidFill>
            <a:schemeClr val="accent3">
              <a:lumMod val="60000"/>
              <a:lumOff val="40000"/>
            </a:schemeClr>
          </a:solidFill>
          <a:ln/>
        </p:spPr>
        <p:style>
          <a:lnRef idx="3">
            <a:schemeClr val="lt1"/>
          </a:lnRef>
          <a:fillRef idx="1">
            <a:schemeClr val="accent1"/>
          </a:fillRef>
          <a:effectRef idx="1">
            <a:schemeClr val="accent1"/>
          </a:effectRef>
          <a:fontRef idx="minor">
            <a:schemeClr val="lt1"/>
          </a:fontRef>
        </p:style>
        <p:txBody>
          <a:bodyPr>
            <a:noAutofit/>
          </a:bodyPr>
          <a:lstStyle/>
          <a:p>
            <a:pPr algn="ctr"/>
            <a:r>
              <a:rPr lang="en-NZ" sz="3200" b="1" dirty="0">
                <a:solidFill>
                  <a:schemeClr val="bg1"/>
                </a:solidFill>
                <a:effectLst>
                  <a:outerShdw blurRad="38100" dist="38100" dir="2700000" algn="tl">
                    <a:srgbClr val="000000">
                      <a:alpha val="43137"/>
                    </a:srgbClr>
                  </a:outerShdw>
                </a:effectLst>
                <a:latin typeface="Calibri" pitchFamily="34" charset="0"/>
              </a:rPr>
              <a:t>Roadmap</a:t>
            </a:r>
          </a:p>
        </p:txBody>
      </p:sp>
      <p:sp>
        <p:nvSpPr>
          <p:cNvPr id="4099" name="Content Placeholder 2"/>
          <p:cNvSpPr>
            <a:spLocks noGrp="1"/>
          </p:cNvSpPr>
          <p:nvPr>
            <p:ph sz="quarter" idx="1"/>
          </p:nvPr>
        </p:nvSpPr>
        <p:spPr>
          <a:xfrm>
            <a:off x="342900" y="838200"/>
            <a:ext cx="6400800" cy="5638800"/>
          </a:xfrm>
          <a:ln/>
        </p:spPr>
        <p:style>
          <a:lnRef idx="2">
            <a:schemeClr val="accent1"/>
          </a:lnRef>
          <a:fillRef idx="1">
            <a:schemeClr val="lt1"/>
          </a:fillRef>
          <a:effectRef idx="0">
            <a:schemeClr val="accent1"/>
          </a:effectRef>
          <a:fontRef idx="minor">
            <a:schemeClr val="dk1"/>
          </a:fontRef>
        </p:style>
        <p:txBody>
          <a:bodyPr>
            <a:normAutofit fontScale="92500" lnSpcReduction="10000"/>
          </a:bodyPr>
          <a:lstStyle/>
          <a:p>
            <a:pPr>
              <a:lnSpc>
                <a:spcPct val="150000"/>
              </a:lnSpc>
            </a:pPr>
            <a:r>
              <a:rPr lang="en-NZ" dirty="0">
                <a:solidFill>
                  <a:schemeClr val="tx1"/>
                </a:solidFill>
                <a:latin typeface="Comic Sans MS" panose="030F0702030302020204" pitchFamily="66" charset="0"/>
              </a:rPr>
              <a:t>Basic requirements of Memory Management</a:t>
            </a:r>
          </a:p>
          <a:p>
            <a:pPr>
              <a:lnSpc>
                <a:spcPct val="150000"/>
              </a:lnSpc>
            </a:pPr>
            <a:r>
              <a:rPr lang="en-NZ" dirty="0">
                <a:solidFill>
                  <a:schemeClr val="tx1"/>
                </a:solidFill>
                <a:latin typeface="Comic Sans MS" panose="030F0702030302020204" pitchFamily="66" charset="0"/>
              </a:rPr>
              <a:t>Memory Partitioning</a:t>
            </a:r>
          </a:p>
          <a:p>
            <a:pPr>
              <a:lnSpc>
                <a:spcPct val="150000"/>
              </a:lnSpc>
            </a:pPr>
            <a:r>
              <a:rPr lang="en-NZ" dirty="0">
                <a:solidFill>
                  <a:schemeClr val="tx1"/>
                </a:solidFill>
                <a:latin typeface="Comic Sans MS" panose="030F0702030302020204" pitchFamily="66" charset="0"/>
              </a:rPr>
              <a:t>Buddy System</a:t>
            </a:r>
          </a:p>
          <a:p>
            <a:pPr>
              <a:lnSpc>
                <a:spcPct val="150000"/>
              </a:lnSpc>
            </a:pPr>
            <a:r>
              <a:rPr lang="en-NZ" dirty="0">
                <a:solidFill>
                  <a:schemeClr val="tx1"/>
                </a:solidFill>
                <a:latin typeface="Comic Sans MS" panose="030F0702030302020204" pitchFamily="66" charset="0"/>
              </a:rPr>
              <a:t>Simple Paging and Segmentation</a:t>
            </a:r>
          </a:p>
          <a:p>
            <a:pPr>
              <a:lnSpc>
                <a:spcPct val="150000"/>
              </a:lnSpc>
            </a:pPr>
            <a:r>
              <a:rPr lang="en-US" dirty="0">
                <a:solidFill>
                  <a:schemeClr val="tx1"/>
                </a:solidFill>
                <a:latin typeface="Comic Sans MS" panose="030F0702030302020204" pitchFamily="66" charset="0"/>
              </a:rPr>
              <a:t>Need of Virtual Memory</a:t>
            </a:r>
          </a:p>
          <a:p>
            <a:pPr>
              <a:lnSpc>
                <a:spcPct val="150000"/>
              </a:lnSpc>
            </a:pPr>
            <a:r>
              <a:rPr lang="en-US" b="1" dirty="0">
                <a:solidFill>
                  <a:schemeClr val="accent3">
                    <a:lumMod val="60000"/>
                    <a:lumOff val="40000"/>
                  </a:schemeClr>
                </a:solidFill>
                <a:effectLst>
                  <a:outerShdw blurRad="38100" dist="38100" dir="2700000" algn="tl">
                    <a:srgbClr val="000000">
                      <a:alpha val="43137"/>
                    </a:srgbClr>
                  </a:outerShdw>
                </a:effectLst>
                <a:latin typeface="Comic Sans MS" panose="030F0702030302020204" pitchFamily="66" charset="0"/>
              </a:rPr>
              <a:t>Virtual memory Paging and Segmentation</a:t>
            </a:r>
          </a:p>
          <a:p>
            <a:pPr>
              <a:lnSpc>
                <a:spcPct val="150000"/>
              </a:lnSpc>
            </a:pPr>
            <a:r>
              <a:rPr lang="en-US" dirty="0">
                <a:latin typeface="Comic Sans MS" panose="030F0702030302020204" pitchFamily="66" charset="0"/>
              </a:rPr>
              <a:t>Address translation in Paging</a:t>
            </a:r>
          </a:p>
          <a:p>
            <a:pPr>
              <a:lnSpc>
                <a:spcPct val="150000"/>
              </a:lnSpc>
            </a:pPr>
            <a:r>
              <a:rPr lang="en-US" dirty="0">
                <a:latin typeface="Comic Sans MS" panose="030F0702030302020204" pitchFamily="66" charset="0"/>
              </a:rPr>
              <a:t>Address translation in Segmentation</a:t>
            </a:r>
          </a:p>
          <a:p>
            <a:pPr>
              <a:lnSpc>
                <a:spcPct val="150000"/>
              </a:lnSpc>
            </a:pPr>
            <a:r>
              <a:rPr lang="en-US" dirty="0">
                <a:latin typeface="Comic Sans MS" panose="030F0702030302020204" pitchFamily="66" charset="0"/>
              </a:rPr>
              <a:t>Page Replacement Algorithms (FIFO, LRU, Optimal)</a:t>
            </a:r>
            <a:endParaRPr lang="en-NZ" dirty="0">
              <a:latin typeface="Comic Sans MS" panose="030F0702030302020204" pitchFamily="66" charset="0"/>
            </a:endParaRPr>
          </a:p>
        </p:txBody>
      </p:sp>
      <p:sp>
        <p:nvSpPr>
          <p:cNvPr id="4" name="Right Arrow 3"/>
          <p:cNvSpPr/>
          <p:nvPr/>
        </p:nvSpPr>
        <p:spPr>
          <a:xfrm>
            <a:off x="207264" y="3657600"/>
            <a:ext cx="445008" cy="381000"/>
          </a:xfrm>
          <a:prstGeom prst="rightArrow">
            <a:avLst/>
          </a:prstGeom>
          <a:solidFill>
            <a:schemeClr val="accent3">
              <a:lumMod val="60000"/>
              <a:lumOff val="40000"/>
            </a:schemeClr>
          </a:solidFill>
          <a:ln w="127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51" name="Picture 3" descr="E:\gp image\stick_figure_drawing_three_check_marks_sm_wm.gif"/>
          <p:cNvPicPr>
            <a:picLocks noChangeAspect="1" noChangeArrowheads="1" noCrop="1"/>
          </p:cNvPicPr>
          <p:nvPr/>
        </p:nvPicPr>
        <p:blipFill>
          <a:blip r:embed="rId3"/>
          <a:srcRect/>
          <a:stretch>
            <a:fillRect/>
          </a:stretch>
        </p:blipFill>
        <p:spPr bwMode="auto">
          <a:xfrm>
            <a:off x="6879336" y="1447800"/>
            <a:ext cx="1807464" cy="3276600"/>
          </a:xfrm>
          <a:prstGeom prst="rect">
            <a:avLst/>
          </a:prstGeom>
          <a:noFill/>
        </p:spPr>
      </p:pic>
    </p:spTree>
    <p:extLst>
      <p:ext uri="{BB962C8B-B14F-4D97-AF65-F5344CB8AC3E}">
        <p14:creationId xmlns:p14="http://schemas.microsoft.com/office/powerpoint/2010/main" val="2955196014"/>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6200" y="914400"/>
            <a:ext cx="6553200" cy="5638800"/>
          </a:xfrm>
        </p:spPr>
        <p:style>
          <a:lnRef idx="2">
            <a:schemeClr val="accent1"/>
          </a:lnRef>
          <a:fillRef idx="1">
            <a:schemeClr val="lt1"/>
          </a:fillRef>
          <a:effectRef idx="0">
            <a:schemeClr val="accent1"/>
          </a:effectRef>
          <a:fontRef idx="minor">
            <a:schemeClr val="dk1"/>
          </a:fontRef>
        </p:style>
        <p:txBody>
          <a:bodyPr>
            <a:noAutofit/>
          </a:bodyPr>
          <a:lstStyle/>
          <a:p>
            <a:pPr>
              <a:defRPr/>
            </a:pPr>
            <a:r>
              <a:rPr lang="en-NZ" sz="2000" dirty="0">
                <a:latin typeface="Calibri" pitchFamily="34" charset="0"/>
              </a:rPr>
              <a:t>In the discussion of simple paging, we indicated that each process has its own page table. </a:t>
            </a:r>
          </a:p>
          <a:p>
            <a:pPr lvl="1">
              <a:buFont typeface="Arial" pitchFamily="34" charset="0"/>
              <a:buChar char="•"/>
              <a:defRPr/>
            </a:pPr>
            <a:r>
              <a:rPr lang="en-NZ" sz="2000" dirty="0">
                <a:latin typeface="Calibri" pitchFamily="34" charset="0"/>
              </a:rPr>
              <a:t> When all of its pages are loaded into main memory, the page table for a process is created and loaded into main memory.</a:t>
            </a:r>
          </a:p>
          <a:p>
            <a:pPr>
              <a:defRPr/>
            </a:pPr>
            <a:r>
              <a:rPr lang="en-NZ" sz="2000" dirty="0">
                <a:latin typeface="Calibri" pitchFamily="34" charset="0"/>
              </a:rPr>
              <a:t>Each page table entry contains the frame number of the corresponding page in main memory.</a:t>
            </a:r>
          </a:p>
          <a:p>
            <a:pPr>
              <a:defRPr/>
            </a:pPr>
            <a:r>
              <a:rPr lang="en-NZ" sz="2000" dirty="0">
                <a:latin typeface="Calibri" pitchFamily="34" charset="0"/>
              </a:rPr>
              <a:t>A page table is also needed for a virtual memory scheme based on paging.</a:t>
            </a:r>
          </a:p>
          <a:p>
            <a:pPr>
              <a:defRPr/>
            </a:pPr>
            <a:r>
              <a:rPr lang="en-NZ" sz="2000" dirty="0">
                <a:latin typeface="Calibri" pitchFamily="34" charset="0"/>
              </a:rPr>
              <a:t>Again, it is typical to associate a unique page table with each process. </a:t>
            </a:r>
          </a:p>
          <a:p>
            <a:pPr>
              <a:defRPr/>
            </a:pPr>
            <a:r>
              <a:rPr lang="en-NZ" sz="2000" b="1" dirty="0">
                <a:latin typeface="Calibri" pitchFamily="34" charset="0"/>
              </a:rPr>
              <a:t>(Figure 8.2a – next slide). </a:t>
            </a:r>
          </a:p>
          <a:p>
            <a:pPr lvl="1">
              <a:buFont typeface="Arial" pitchFamily="34" charset="0"/>
              <a:buChar char="•"/>
              <a:defRPr/>
            </a:pPr>
            <a:r>
              <a:rPr lang="en-NZ" sz="2000" dirty="0">
                <a:latin typeface="Calibri" pitchFamily="34" charset="0"/>
              </a:rPr>
              <a:t> The page table entries become more complex because only some of the pages of a process may be in main memory.</a:t>
            </a:r>
          </a:p>
          <a:p>
            <a:pPr lvl="1">
              <a:buNone/>
              <a:defRPr/>
            </a:pPr>
            <a:endParaRPr lang="en-US" sz="2000" dirty="0">
              <a:latin typeface="Calibri" pitchFamily="34" charset="0"/>
            </a:endParaRPr>
          </a:p>
        </p:txBody>
      </p:sp>
      <p:sp>
        <p:nvSpPr>
          <p:cNvPr id="4" name="Title 1"/>
          <p:cNvSpPr>
            <a:spLocks noGrp="1"/>
          </p:cNvSpPr>
          <p:nvPr>
            <p:ph type="title"/>
          </p:nvPr>
        </p:nvSpPr>
        <p:spPr>
          <a:xfrm>
            <a:off x="457200" y="46038"/>
            <a:ext cx="8229600" cy="715962"/>
          </a:xfrm>
          <a:solidFill>
            <a:schemeClr val="accent3">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a:noAutofit/>
          </a:bodyPr>
          <a:lstStyle/>
          <a:p>
            <a:pPr algn="ctr"/>
            <a:r>
              <a:rPr lang="en-US" sz="3200" b="1" dirty="0">
                <a:latin typeface="Calibri" pitchFamily="34" charset="0"/>
              </a:rPr>
              <a:t>Paging</a:t>
            </a:r>
          </a:p>
        </p:txBody>
      </p:sp>
      <p:pic>
        <p:nvPicPr>
          <p:cNvPr id="8194" name="Picture 2" descr="E:\gp image\rotating_gears_PA_md_wm.gif"/>
          <p:cNvPicPr>
            <a:picLocks noChangeAspect="1" noChangeArrowheads="1" noCrop="1"/>
          </p:cNvPicPr>
          <p:nvPr/>
        </p:nvPicPr>
        <p:blipFill>
          <a:blip r:embed="rId2"/>
          <a:srcRect/>
          <a:stretch>
            <a:fillRect/>
          </a:stretch>
        </p:blipFill>
        <p:spPr bwMode="auto">
          <a:xfrm>
            <a:off x="6629400" y="2209800"/>
            <a:ext cx="2095500" cy="2095500"/>
          </a:xfrm>
          <a:prstGeom prst="rect">
            <a:avLst/>
          </a:prstGeom>
          <a:noFill/>
        </p:spPr>
      </p:pic>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itle 1"/>
          <p:cNvSpPr>
            <a:spLocks noGrp="1"/>
          </p:cNvSpPr>
          <p:nvPr>
            <p:ph type="title"/>
          </p:nvPr>
        </p:nvSpPr>
        <p:spPr>
          <a:xfrm>
            <a:off x="457200" y="274638"/>
            <a:ext cx="8229600" cy="411162"/>
          </a:xfrm>
          <a:solidFill>
            <a:schemeClr val="accent3">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a:noAutofit/>
          </a:bodyPr>
          <a:lstStyle/>
          <a:p>
            <a:pPr algn="ctr"/>
            <a:r>
              <a:rPr lang="en-US" sz="2800" b="1" dirty="0">
                <a:effectLst>
                  <a:outerShdw blurRad="38100" dist="38100" dir="2700000" algn="tl">
                    <a:srgbClr val="000000">
                      <a:alpha val="43137"/>
                    </a:srgbClr>
                  </a:outerShdw>
                </a:effectLst>
                <a:latin typeface="Calibri" pitchFamily="34" charset="0"/>
              </a:rPr>
              <a:t>Paging Table</a:t>
            </a:r>
          </a:p>
        </p:txBody>
      </p:sp>
      <p:pic>
        <p:nvPicPr>
          <p:cNvPr id="17411" name="Content Placeholder 3" descr="Fig08_02a.gif"/>
          <p:cNvPicPr>
            <a:picLocks noGrp="1" noChangeAspect="1"/>
          </p:cNvPicPr>
          <p:nvPr>
            <p:ph idx="1"/>
          </p:nvPr>
        </p:nvPicPr>
        <p:blipFill>
          <a:blip r:embed="rId3"/>
          <a:srcRect/>
          <a:stretch>
            <a:fillRect/>
          </a:stretch>
        </p:blipFill>
        <p:spPr>
          <a:xfrm>
            <a:off x="647700" y="723900"/>
            <a:ext cx="7848600" cy="240030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4" name="Rectangle 3"/>
          <p:cNvSpPr/>
          <p:nvPr/>
        </p:nvSpPr>
        <p:spPr>
          <a:xfrm>
            <a:off x="114300" y="3243673"/>
            <a:ext cx="8915400" cy="3003899"/>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pPr algn="just"/>
            <a:r>
              <a:rPr lang="en-NZ" dirty="0">
                <a:latin typeface="Calibri" pitchFamily="34" charset="0"/>
              </a:rPr>
              <a:t>It is typical to associate a unique page table with each process. </a:t>
            </a:r>
            <a:endParaRPr lang="en-NZ" b="1" dirty="0">
              <a:latin typeface="Calibri" pitchFamily="34" charset="0"/>
            </a:endParaRPr>
          </a:p>
          <a:p>
            <a:pPr algn="just"/>
            <a:r>
              <a:rPr lang="en-NZ" dirty="0">
                <a:latin typeface="Calibri" pitchFamily="34" charset="0"/>
              </a:rPr>
              <a:t>  A bit is needed in each page table entry to indicate whether the corresponding page is  </a:t>
            </a:r>
          </a:p>
          <a:p>
            <a:pPr algn="just"/>
            <a:r>
              <a:rPr lang="en-NZ" dirty="0">
                <a:latin typeface="Calibri" pitchFamily="34" charset="0"/>
              </a:rPr>
              <a:t>    present (P) in main memory or not , If the bit indicates that the page is in memory, then the entry also includes the frame   number of that page.</a:t>
            </a:r>
          </a:p>
          <a:p>
            <a:pPr algn="just"/>
            <a:r>
              <a:rPr lang="en-NZ" dirty="0">
                <a:latin typeface="Calibri" pitchFamily="34" charset="0"/>
              </a:rPr>
              <a:t>  The page table entry includes a modify (M) bit, indicating whether the contents of the corresponding page have been altered since the page was last loaded</a:t>
            </a:r>
            <a:endParaRPr lang="en-US" dirty="0">
              <a:latin typeface="Calibri" pitchFamily="34" charset="0"/>
            </a:endParaRPr>
          </a:p>
        </p:txBody>
      </p:sp>
      <p:pic>
        <p:nvPicPr>
          <p:cNvPr id="2050" name="Picture 2"/>
          <p:cNvPicPr>
            <a:picLocks noChangeAspect="1" noChangeArrowheads="1"/>
          </p:cNvPicPr>
          <p:nvPr/>
        </p:nvPicPr>
        <p:blipFill>
          <a:blip r:embed="rId4"/>
          <a:srcRect/>
          <a:stretch>
            <a:fillRect/>
          </a:stretch>
        </p:blipFill>
        <p:spPr bwMode="auto">
          <a:xfrm>
            <a:off x="666750" y="2667000"/>
            <a:ext cx="4095750" cy="30480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14300" y="731520"/>
            <a:ext cx="9029700" cy="6126480"/>
          </a:xfrm>
        </p:spPr>
        <p:style>
          <a:lnRef idx="2">
            <a:schemeClr val="accent1"/>
          </a:lnRef>
          <a:fillRef idx="1">
            <a:schemeClr val="lt1"/>
          </a:fillRef>
          <a:effectRef idx="0">
            <a:schemeClr val="accent1"/>
          </a:effectRef>
          <a:fontRef idx="minor">
            <a:schemeClr val="dk1"/>
          </a:fontRef>
        </p:style>
        <p:txBody>
          <a:bodyPr>
            <a:noAutofit/>
          </a:bodyPr>
          <a:lstStyle/>
          <a:p>
            <a:pPr>
              <a:defRPr/>
            </a:pPr>
            <a:r>
              <a:rPr lang="en-NZ" sz="2000" dirty="0">
                <a:latin typeface="Calibri" pitchFamily="34" charset="0"/>
              </a:rPr>
              <a:t>Segmentation allows the programmer to view memory as consisting of multiple address spaces or segments. Segments may be of unequal, indeed dynamic, size. </a:t>
            </a:r>
          </a:p>
          <a:p>
            <a:pPr>
              <a:defRPr/>
            </a:pPr>
            <a:r>
              <a:rPr lang="en-NZ" sz="2000" dirty="0">
                <a:latin typeface="Calibri" pitchFamily="34" charset="0"/>
              </a:rPr>
              <a:t>Memory references consist of a form of address (segment number, offset).</a:t>
            </a:r>
          </a:p>
          <a:p>
            <a:pPr>
              <a:defRPr/>
            </a:pPr>
            <a:r>
              <a:rPr lang="en-NZ" sz="2000" dirty="0">
                <a:latin typeface="Calibri" pitchFamily="34" charset="0"/>
              </a:rPr>
              <a:t>This organization has a number of advantages to the programmer over a non segmented address space:</a:t>
            </a:r>
          </a:p>
          <a:p>
            <a:pPr marL="228600" indent="-228600">
              <a:buFontTx/>
              <a:buAutoNum type="arabicPeriod"/>
              <a:defRPr/>
            </a:pPr>
            <a:r>
              <a:rPr lang="en-NZ" sz="2000" b="1" dirty="0">
                <a:latin typeface="Calibri" pitchFamily="34" charset="0"/>
              </a:rPr>
              <a:t>It simplifies the handling of growing data structures</a:t>
            </a:r>
            <a:r>
              <a:rPr lang="en-NZ" sz="2000" dirty="0">
                <a:latin typeface="Calibri" pitchFamily="34" charset="0"/>
              </a:rPr>
              <a:t>. </a:t>
            </a:r>
          </a:p>
          <a:p>
            <a:pPr marL="685800" lvl="1" indent="-228600">
              <a:buFont typeface="Arial" pitchFamily="34" charset="0"/>
              <a:buChar char="•"/>
              <a:defRPr/>
            </a:pPr>
            <a:r>
              <a:rPr lang="en-NZ" sz="2000" dirty="0">
                <a:latin typeface="Calibri" pitchFamily="34" charset="0"/>
              </a:rPr>
              <a:t>With segmented virtual memory, the data structure can be assigned its own segment, and the operating system will expand or shrink the segment as needed. </a:t>
            </a:r>
          </a:p>
          <a:p>
            <a:pPr>
              <a:buNone/>
              <a:defRPr/>
            </a:pPr>
            <a:r>
              <a:rPr lang="en-NZ" sz="2000" dirty="0">
                <a:latin typeface="Calibri" pitchFamily="34" charset="0"/>
              </a:rPr>
              <a:t>2. </a:t>
            </a:r>
            <a:r>
              <a:rPr lang="en-NZ" sz="2000" b="1" dirty="0">
                <a:latin typeface="Calibri" pitchFamily="34" charset="0"/>
              </a:rPr>
              <a:t>It allows programs to be altered and recompiled independently, </a:t>
            </a:r>
            <a:r>
              <a:rPr lang="en-NZ" sz="2000" dirty="0">
                <a:latin typeface="Calibri" pitchFamily="34" charset="0"/>
              </a:rPr>
              <a:t>Without requiring the entire set of programs to be reloaded.  Again, this is accomplished using multiple segments.</a:t>
            </a:r>
          </a:p>
          <a:p>
            <a:pPr>
              <a:buNone/>
              <a:defRPr/>
            </a:pPr>
            <a:r>
              <a:rPr lang="en-NZ" sz="2000" dirty="0">
                <a:latin typeface="Calibri" pitchFamily="34" charset="0"/>
              </a:rPr>
              <a:t>3. </a:t>
            </a:r>
            <a:r>
              <a:rPr lang="en-NZ" sz="2000" b="1" dirty="0">
                <a:latin typeface="Calibri" pitchFamily="34" charset="0"/>
              </a:rPr>
              <a:t>It lends itself to sharing among processes</a:t>
            </a:r>
            <a:r>
              <a:rPr lang="en-NZ" sz="2000" dirty="0">
                <a:latin typeface="Calibri" pitchFamily="34" charset="0"/>
              </a:rPr>
              <a:t>. </a:t>
            </a:r>
          </a:p>
          <a:p>
            <a:pPr lvl="1">
              <a:buFont typeface="Arial" pitchFamily="34" charset="0"/>
              <a:buChar char="•"/>
              <a:defRPr/>
            </a:pPr>
            <a:r>
              <a:rPr lang="en-NZ" sz="2000" dirty="0">
                <a:latin typeface="Calibri" pitchFamily="34" charset="0"/>
              </a:rPr>
              <a:t> A programmer can place a utility program or a useful table of data in a segment that can be referenced by other processes.</a:t>
            </a:r>
          </a:p>
          <a:p>
            <a:pPr>
              <a:buNone/>
              <a:defRPr/>
            </a:pPr>
            <a:r>
              <a:rPr lang="en-NZ" sz="2000" dirty="0">
                <a:latin typeface="Calibri" pitchFamily="34" charset="0"/>
              </a:rPr>
              <a:t>4. </a:t>
            </a:r>
            <a:r>
              <a:rPr lang="en-NZ" sz="2000" b="1" dirty="0">
                <a:latin typeface="Calibri" pitchFamily="34" charset="0"/>
              </a:rPr>
              <a:t>It lends itself to protection.</a:t>
            </a:r>
          </a:p>
          <a:p>
            <a:pPr lvl="1">
              <a:buFont typeface="Arial" pitchFamily="34" charset="0"/>
              <a:buChar char="•"/>
              <a:defRPr/>
            </a:pPr>
            <a:r>
              <a:rPr lang="en-NZ" sz="2000" dirty="0">
                <a:latin typeface="Calibri" pitchFamily="34" charset="0"/>
              </a:rPr>
              <a:t>The programmer or system administrator can assign access </a:t>
            </a:r>
            <a:r>
              <a:rPr lang="en-NZ" sz="2000" dirty="0" err="1">
                <a:latin typeface="Calibri" pitchFamily="34" charset="0"/>
              </a:rPr>
              <a:t>priviledges</a:t>
            </a:r>
            <a:r>
              <a:rPr lang="en-NZ" sz="2000" dirty="0">
                <a:latin typeface="Calibri" pitchFamily="34" charset="0"/>
              </a:rPr>
              <a:t> in a convenient fashion.</a:t>
            </a:r>
            <a:endParaRPr lang="en-US" sz="2000" dirty="0">
              <a:latin typeface="Calibri" pitchFamily="34" charset="0"/>
            </a:endParaRPr>
          </a:p>
          <a:p>
            <a:endParaRPr lang="en-US" sz="2000" dirty="0">
              <a:latin typeface="Calibri" pitchFamily="34" charset="0"/>
            </a:endParaRPr>
          </a:p>
        </p:txBody>
      </p:sp>
      <p:sp>
        <p:nvSpPr>
          <p:cNvPr id="4" name="Title 1"/>
          <p:cNvSpPr>
            <a:spLocks noGrp="1"/>
          </p:cNvSpPr>
          <p:nvPr>
            <p:ph type="title"/>
          </p:nvPr>
        </p:nvSpPr>
        <p:spPr>
          <a:xfrm>
            <a:off x="419100" y="106680"/>
            <a:ext cx="8229600" cy="579120"/>
          </a:xfrm>
          <a:solidFill>
            <a:schemeClr val="accent3">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a:noAutofit/>
          </a:bodyPr>
          <a:lstStyle/>
          <a:p>
            <a:pPr algn="ctr"/>
            <a:r>
              <a:rPr lang="en-US" sz="2800" b="1" dirty="0">
                <a:latin typeface="Calibri" pitchFamily="34" charset="0"/>
              </a:rPr>
              <a:t>Segmentation</a:t>
            </a:r>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457200"/>
            <a:ext cx="8763000" cy="2895600"/>
          </a:xfrm>
        </p:spPr>
        <p:style>
          <a:lnRef idx="2">
            <a:schemeClr val="accent1"/>
          </a:lnRef>
          <a:fillRef idx="1">
            <a:schemeClr val="lt1"/>
          </a:fillRef>
          <a:effectRef idx="0">
            <a:schemeClr val="accent1"/>
          </a:effectRef>
          <a:fontRef idx="minor">
            <a:schemeClr val="dk1"/>
          </a:fontRef>
        </p:style>
        <p:txBody>
          <a:bodyPr>
            <a:noAutofit/>
          </a:bodyPr>
          <a:lstStyle/>
          <a:p>
            <a:pPr>
              <a:defRPr/>
            </a:pPr>
            <a:r>
              <a:rPr lang="en-NZ" sz="2000" dirty="0">
                <a:latin typeface="Calibri" pitchFamily="34" charset="0"/>
              </a:rPr>
              <a:t>Each segment table entry contains the starting address of the corresponding segment in main memory, as well as the length of the segment.</a:t>
            </a:r>
          </a:p>
          <a:p>
            <a:pPr>
              <a:defRPr/>
            </a:pPr>
            <a:r>
              <a:rPr lang="en-NZ" sz="2000" dirty="0">
                <a:latin typeface="Calibri" pitchFamily="34" charset="0"/>
              </a:rPr>
              <a:t>A P bit is needed in each segment table entry to indicate whether the corresponding segment is present in main memory or not.</a:t>
            </a:r>
          </a:p>
          <a:p>
            <a:pPr>
              <a:defRPr/>
            </a:pPr>
            <a:r>
              <a:rPr lang="en-NZ" sz="2000" dirty="0">
                <a:latin typeface="Calibri" pitchFamily="34" charset="0"/>
              </a:rPr>
              <a:t> If the bit indicates that the segment is in memory, then the entry also includes the starting address and length of that segment.</a:t>
            </a:r>
          </a:p>
          <a:p>
            <a:pPr>
              <a:defRPr/>
            </a:pPr>
            <a:r>
              <a:rPr lang="en-NZ" sz="2000" dirty="0">
                <a:latin typeface="Calibri" pitchFamily="34" charset="0"/>
              </a:rPr>
              <a:t>A </a:t>
            </a:r>
            <a:r>
              <a:rPr lang="en-NZ" sz="2000" b="1" dirty="0">
                <a:latin typeface="Calibri" pitchFamily="34" charset="0"/>
              </a:rPr>
              <a:t>modify bit</a:t>
            </a:r>
            <a:r>
              <a:rPr lang="en-NZ" sz="2000" dirty="0">
                <a:latin typeface="Calibri" pitchFamily="34" charset="0"/>
              </a:rPr>
              <a:t> indicates whether the contents of the corresponding segment have been altered.</a:t>
            </a:r>
            <a:endParaRPr lang="en-US" sz="2000" dirty="0">
              <a:latin typeface="Calibri" pitchFamily="34" charset="0"/>
            </a:endParaRPr>
          </a:p>
        </p:txBody>
      </p:sp>
      <p:pic>
        <p:nvPicPr>
          <p:cNvPr id="5" name="Content Placeholder 3" descr="Fig08_02b.gif"/>
          <p:cNvPicPr>
            <a:picLocks noChangeAspect="1"/>
          </p:cNvPicPr>
          <p:nvPr/>
        </p:nvPicPr>
        <p:blipFill>
          <a:blip r:embed="rId2"/>
          <a:srcRect/>
          <a:stretch>
            <a:fillRect/>
          </a:stretch>
        </p:blipFill>
        <p:spPr>
          <a:xfrm>
            <a:off x="76200" y="3429000"/>
            <a:ext cx="8915400" cy="335280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7" name="Title 1"/>
          <p:cNvSpPr txBox="1">
            <a:spLocks/>
          </p:cNvSpPr>
          <p:nvPr/>
        </p:nvSpPr>
        <p:spPr>
          <a:xfrm>
            <a:off x="457200" y="0"/>
            <a:ext cx="8153400" cy="381000"/>
          </a:xfrm>
          <a:prstGeom prst="rect">
            <a:avLst/>
          </a:prstGeom>
          <a:solidFill>
            <a:schemeClr val="accent3">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vert="horz" lIns="91440" tIns="45720" rIns="91440" bIns="45720" rtlCol="0" anchor="ctr">
            <a:normAutofit fontScale="82500" lnSpcReduction="20000"/>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800" b="1" i="0" u="none" strike="noStrike" kern="1200" cap="none" spc="0" normalizeH="0" baseline="0" noProof="0">
                <a:ln>
                  <a:noFill/>
                </a:ln>
                <a:solidFill>
                  <a:schemeClr val="lt1"/>
                </a:solidFill>
                <a:effectLst/>
                <a:uLnTx/>
                <a:uFillTx/>
                <a:latin typeface="Calibri" pitchFamily="34" charset="0"/>
                <a:ea typeface="+mn-ea"/>
                <a:cs typeface="+mn-cs"/>
              </a:rPr>
              <a:t>Segment Table Entries</a:t>
            </a:r>
            <a:endParaRPr kumimoji="0" lang="en-US" sz="2800" b="1" i="0" u="none" strike="noStrike" kern="1200" cap="none" spc="0" normalizeH="0" baseline="0" noProof="0" dirty="0">
              <a:ln>
                <a:noFill/>
              </a:ln>
              <a:solidFill>
                <a:schemeClr val="lt1"/>
              </a:solidFill>
              <a:effectLst/>
              <a:uLnTx/>
              <a:uFillTx/>
              <a:latin typeface="Calibri" pitchFamily="34" charset="0"/>
              <a:ea typeface="+mn-ea"/>
              <a:cs typeface="+mn-cs"/>
            </a:endParaRPr>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Title 1"/>
          <p:cNvSpPr>
            <a:spLocks noGrp="1"/>
          </p:cNvSpPr>
          <p:nvPr>
            <p:ph type="title"/>
          </p:nvPr>
        </p:nvSpPr>
        <p:spPr>
          <a:xfrm>
            <a:off x="1752600" y="76200"/>
            <a:ext cx="5029200" cy="533400"/>
          </a:xfrm>
          <a:solidFill>
            <a:schemeClr val="accent3">
              <a:lumMod val="60000"/>
              <a:lumOff val="40000"/>
            </a:schemeClr>
          </a:solidFill>
          <a:ln/>
        </p:spPr>
        <p:style>
          <a:lnRef idx="3">
            <a:schemeClr val="lt1"/>
          </a:lnRef>
          <a:fillRef idx="1">
            <a:schemeClr val="accent1"/>
          </a:fillRef>
          <a:effectRef idx="1">
            <a:schemeClr val="accent1"/>
          </a:effectRef>
          <a:fontRef idx="minor">
            <a:schemeClr val="lt1"/>
          </a:fontRef>
        </p:style>
        <p:txBody>
          <a:bodyPr>
            <a:noAutofit/>
          </a:bodyPr>
          <a:lstStyle/>
          <a:p>
            <a:pPr algn="ctr"/>
            <a:r>
              <a:rPr lang="en-NZ" sz="3200" b="1" dirty="0">
                <a:solidFill>
                  <a:schemeClr val="bg1"/>
                </a:solidFill>
                <a:effectLst>
                  <a:outerShdw blurRad="38100" dist="38100" dir="2700000" algn="tl">
                    <a:srgbClr val="000000">
                      <a:alpha val="43137"/>
                    </a:srgbClr>
                  </a:outerShdw>
                </a:effectLst>
                <a:latin typeface="Calibri" pitchFamily="34" charset="0"/>
              </a:rPr>
              <a:t>Roadmap</a:t>
            </a:r>
          </a:p>
        </p:txBody>
      </p:sp>
      <p:sp>
        <p:nvSpPr>
          <p:cNvPr id="4099" name="Content Placeholder 2"/>
          <p:cNvSpPr>
            <a:spLocks noGrp="1"/>
          </p:cNvSpPr>
          <p:nvPr>
            <p:ph sz="quarter" idx="1"/>
          </p:nvPr>
        </p:nvSpPr>
        <p:spPr>
          <a:xfrm>
            <a:off x="342900" y="838200"/>
            <a:ext cx="6400800" cy="5638800"/>
          </a:xfrm>
          <a:ln/>
        </p:spPr>
        <p:style>
          <a:lnRef idx="2">
            <a:schemeClr val="accent1"/>
          </a:lnRef>
          <a:fillRef idx="1">
            <a:schemeClr val="lt1"/>
          </a:fillRef>
          <a:effectRef idx="0">
            <a:schemeClr val="accent1"/>
          </a:effectRef>
          <a:fontRef idx="minor">
            <a:schemeClr val="dk1"/>
          </a:fontRef>
        </p:style>
        <p:txBody>
          <a:bodyPr>
            <a:normAutofit fontScale="92500" lnSpcReduction="10000"/>
          </a:bodyPr>
          <a:lstStyle/>
          <a:p>
            <a:pPr>
              <a:lnSpc>
                <a:spcPct val="150000"/>
              </a:lnSpc>
            </a:pPr>
            <a:r>
              <a:rPr lang="en-NZ" dirty="0">
                <a:solidFill>
                  <a:schemeClr val="tx1"/>
                </a:solidFill>
                <a:latin typeface="Comic Sans MS" panose="030F0702030302020204" pitchFamily="66" charset="0"/>
              </a:rPr>
              <a:t>Basic requirements of Memory Management</a:t>
            </a:r>
          </a:p>
          <a:p>
            <a:pPr>
              <a:lnSpc>
                <a:spcPct val="150000"/>
              </a:lnSpc>
            </a:pPr>
            <a:r>
              <a:rPr lang="en-NZ" dirty="0">
                <a:solidFill>
                  <a:schemeClr val="tx1"/>
                </a:solidFill>
                <a:latin typeface="Comic Sans MS" panose="030F0702030302020204" pitchFamily="66" charset="0"/>
              </a:rPr>
              <a:t>Memory Partitioning</a:t>
            </a:r>
          </a:p>
          <a:p>
            <a:pPr>
              <a:lnSpc>
                <a:spcPct val="150000"/>
              </a:lnSpc>
            </a:pPr>
            <a:r>
              <a:rPr lang="en-NZ" dirty="0">
                <a:solidFill>
                  <a:schemeClr val="tx1"/>
                </a:solidFill>
                <a:latin typeface="Comic Sans MS" panose="030F0702030302020204" pitchFamily="66" charset="0"/>
              </a:rPr>
              <a:t>Buddy System</a:t>
            </a:r>
          </a:p>
          <a:p>
            <a:pPr>
              <a:lnSpc>
                <a:spcPct val="150000"/>
              </a:lnSpc>
            </a:pPr>
            <a:r>
              <a:rPr lang="en-NZ" dirty="0">
                <a:solidFill>
                  <a:schemeClr val="tx1"/>
                </a:solidFill>
                <a:latin typeface="Comic Sans MS" panose="030F0702030302020204" pitchFamily="66" charset="0"/>
              </a:rPr>
              <a:t>Simple Paging and Segmentation</a:t>
            </a:r>
          </a:p>
          <a:p>
            <a:pPr>
              <a:lnSpc>
                <a:spcPct val="150000"/>
              </a:lnSpc>
            </a:pPr>
            <a:r>
              <a:rPr lang="en-US" dirty="0">
                <a:solidFill>
                  <a:schemeClr val="tx1"/>
                </a:solidFill>
                <a:latin typeface="Comic Sans MS" panose="030F0702030302020204" pitchFamily="66" charset="0"/>
              </a:rPr>
              <a:t>Need of Virtual Memory</a:t>
            </a:r>
          </a:p>
          <a:p>
            <a:pPr>
              <a:lnSpc>
                <a:spcPct val="150000"/>
              </a:lnSpc>
            </a:pPr>
            <a:r>
              <a:rPr lang="en-US" dirty="0">
                <a:solidFill>
                  <a:schemeClr val="tx1"/>
                </a:solidFill>
                <a:latin typeface="Comic Sans MS" panose="030F0702030302020204" pitchFamily="66" charset="0"/>
              </a:rPr>
              <a:t>Virtual memory Paging and Segmentation</a:t>
            </a:r>
          </a:p>
          <a:p>
            <a:pPr>
              <a:lnSpc>
                <a:spcPct val="150000"/>
              </a:lnSpc>
            </a:pPr>
            <a:r>
              <a:rPr lang="en-US" b="1" dirty="0">
                <a:solidFill>
                  <a:schemeClr val="accent3">
                    <a:lumMod val="60000"/>
                    <a:lumOff val="40000"/>
                  </a:schemeClr>
                </a:solidFill>
                <a:effectLst>
                  <a:outerShdw blurRad="38100" dist="38100" dir="2700000" algn="tl">
                    <a:srgbClr val="000000">
                      <a:alpha val="43137"/>
                    </a:srgbClr>
                  </a:outerShdw>
                </a:effectLst>
                <a:latin typeface="Comic Sans MS" panose="030F0702030302020204" pitchFamily="66" charset="0"/>
              </a:rPr>
              <a:t>Address translation in Paging</a:t>
            </a:r>
          </a:p>
          <a:p>
            <a:pPr>
              <a:lnSpc>
                <a:spcPct val="150000"/>
              </a:lnSpc>
            </a:pPr>
            <a:r>
              <a:rPr lang="en-US" dirty="0">
                <a:latin typeface="Comic Sans MS" panose="030F0702030302020204" pitchFamily="66" charset="0"/>
              </a:rPr>
              <a:t>Address translation in Segmentation</a:t>
            </a:r>
          </a:p>
          <a:p>
            <a:pPr>
              <a:lnSpc>
                <a:spcPct val="150000"/>
              </a:lnSpc>
            </a:pPr>
            <a:r>
              <a:rPr lang="en-US" dirty="0">
                <a:latin typeface="Comic Sans MS" panose="030F0702030302020204" pitchFamily="66" charset="0"/>
              </a:rPr>
              <a:t>Page Replacement Algorithms (FIFO, LRU, Optimal)</a:t>
            </a:r>
            <a:endParaRPr lang="en-NZ" dirty="0">
              <a:latin typeface="Comic Sans MS" panose="030F0702030302020204" pitchFamily="66" charset="0"/>
            </a:endParaRPr>
          </a:p>
        </p:txBody>
      </p:sp>
      <p:sp>
        <p:nvSpPr>
          <p:cNvPr id="4" name="Right Arrow 3"/>
          <p:cNvSpPr/>
          <p:nvPr/>
        </p:nvSpPr>
        <p:spPr>
          <a:xfrm>
            <a:off x="234696" y="4191000"/>
            <a:ext cx="445008" cy="381000"/>
          </a:xfrm>
          <a:prstGeom prst="rightArrow">
            <a:avLst/>
          </a:prstGeom>
          <a:solidFill>
            <a:schemeClr val="accent3">
              <a:lumMod val="60000"/>
              <a:lumOff val="40000"/>
            </a:schemeClr>
          </a:solidFill>
          <a:ln w="127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51" name="Picture 3" descr="E:\gp image\stick_figure_drawing_three_check_marks_sm_wm.gif"/>
          <p:cNvPicPr>
            <a:picLocks noChangeAspect="1" noChangeArrowheads="1" noCrop="1"/>
          </p:cNvPicPr>
          <p:nvPr/>
        </p:nvPicPr>
        <p:blipFill>
          <a:blip r:embed="rId3"/>
          <a:srcRect/>
          <a:stretch>
            <a:fillRect/>
          </a:stretch>
        </p:blipFill>
        <p:spPr bwMode="auto">
          <a:xfrm>
            <a:off x="6879336" y="1447800"/>
            <a:ext cx="1807464" cy="3276600"/>
          </a:xfrm>
          <a:prstGeom prst="rect">
            <a:avLst/>
          </a:prstGeom>
          <a:noFill/>
        </p:spPr>
      </p:pic>
    </p:spTree>
    <p:extLst>
      <p:ext uri="{BB962C8B-B14F-4D97-AF65-F5344CB8AC3E}">
        <p14:creationId xmlns:p14="http://schemas.microsoft.com/office/powerpoint/2010/main" val="1086418148"/>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p:cNvSpPr>
            <a:spLocks noGrp="1"/>
          </p:cNvSpPr>
          <p:nvPr>
            <p:ph type="title"/>
          </p:nvPr>
        </p:nvSpPr>
        <p:spPr>
          <a:xfrm>
            <a:off x="457200" y="76200"/>
            <a:ext cx="8229600" cy="457200"/>
          </a:xfrm>
          <a:solidFill>
            <a:schemeClr val="accent3">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a:normAutofit fontScale="90000"/>
          </a:bodyPr>
          <a:lstStyle/>
          <a:p>
            <a:r>
              <a:rPr lang="en-US" sz="2800" b="1" dirty="0">
                <a:latin typeface="Calibri" pitchFamily="34" charset="0"/>
              </a:rPr>
              <a:t>Address Translation In A Paging System</a:t>
            </a:r>
          </a:p>
        </p:txBody>
      </p:sp>
      <p:pic>
        <p:nvPicPr>
          <p:cNvPr id="18435" name="Content Placeholder 3" descr="Fig08_03.gif"/>
          <p:cNvPicPr>
            <a:picLocks noGrp="1" noChangeAspect="1"/>
          </p:cNvPicPr>
          <p:nvPr>
            <p:ph idx="1"/>
          </p:nvPr>
        </p:nvPicPr>
        <p:blipFill>
          <a:blip r:embed="rId3"/>
          <a:srcRect/>
          <a:stretch>
            <a:fillRect/>
          </a:stretch>
        </p:blipFill>
        <p:spPr>
          <a:xfrm>
            <a:off x="114300" y="762000"/>
            <a:ext cx="8915400" cy="571500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6200" y="457200"/>
            <a:ext cx="8915400" cy="5791200"/>
          </a:xfrm>
        </p:spPr>
        <p:style>
          <a:lnRef idx="2">
            <a:schemeClr val="accent1"/>
          </a:lnRef>
          <a:fillRef idx="1">
            <a:schemeClr val="lt1"/>
          </a:fillRef>
          <a:effectRef idx="0">
            <a:schemeClr val="accent1"/>
          </a:effectRef>
          <a:fontRef idx="minor">
            <a:schemeClr val="dk1"/>
          </a:fontRef>
        </p:style>
        <p:txBody>
          <a:bodyPr>
            <a:noAutofit/>
          </a:bodyPr>
          <a:lstStyle/>
          <a:p>
            <a:pPr>
              <a:defRPr/>
            </a:pPr>
            <a:r>
              <a:rPr lang="en-NZ" sz="2000" dirty="0">
                <a:latin typeface="Calibri" pitchFamily="34" charset="0"/>
              </a:rPr>
              <a:t>The basic mechanism for reading a word from memory involves using a page table to translate a virtual/logical address, </a:t>
            </a:r>
          </a:p>
          <a:p>
            <a:pPr lvl="1">
              <a:defRPr/>
            </a:pPr>
            <a:r>
              <a:rPr lang="en-NZ" sz="2000" dirty="0">
                <a:latin typeface="Calibri" pitchFamily="34" charset="0"/>
              </a:rPr>
              <a:t>consisting of page number and offset, </a:t>
            </a:r>
          </a:p>
          <a:p>
            <a:pPr>
              <a:defRPr/>
            </a:pPr>
            <a:r>
              <a:rPr lang="en-NZ" sz="2000" dirty="0">
                <a:latin typeface="Calibri" pitchFamily="34" charset="0"/>
              </a:rPr>
              <a:t>Into a physical address, </a:t>
            </a:r>
          </a:p>
          <a:p>
            <a:pPr lvl="1">
              <a:defRPr/>
            </a:pPr>
            <a:r>
              <a:rPr lang="en-NZ" sz="2000" dirty="0">
                <a:latin typeface="Calibri" pitchFamily="34" charset="0"/>
              </a:rPr>
              <a:t>consisting of frame number and offset, </a:t>
            </a:r>
          </a:p>
          <a:p>
            <a:pPr>
              <a:defRPr/>
            </a:pPr>
            <a:r>
              <a:rPr lang="en-NZ" sz="2000" dirty="0">
                <a:latin typeface="Calibri" pitchFamily="34" charset="0"/>
              </a:rPr>
              <a:t>Because the page table is of variable length, depending on the size of the process, we cannot expect to hold it in registers.</a:t>
            </a:r>
          </a:p>
          <a:p>
            <a:pPr lvl="1">
              <a:defRPr/>
            </a:pPr>
            <a:r>
              <a:rPr lang="en-NZ" sz="2000" dirty="0">
                <a:latin typeface="Calibri" pitchFamily="34" charset="0"/>
              </a:rPr>
              <a:t>Instead, it must be in main memory to be accessed.</a:t>
            </a:r>
          </a:p>
          <a:p>
            <a:pPr>
              <a:defRPr/>
            </a:pPr>
            <a:r>
              <a:rPr lang="en-NZ" sz="2000" dirty="0">
                <a:latin typeface="Calibri" pitchFamily="34" charset="0"/>
              </a:rPr>
              <a:t>Figure 8.3 suggests a hardware implementation.</a:t>
            </a:r>
          </a:p>
          <a:p>
            <a:pPr>
              <a:defRPr/>
            </a:pPr>
            <a:r>
              <a:rPr lang="en-NZ" sz="2000" dirty="0">
                <a:latin typeface="Calibri" pitchFamily="34" charset="0"/>
              </a:rPr>
              <a:t>When a particular process is running, a register holds the starting address of the page table for that process.</a:t>
            </a:r>
          </a:p>
          <a:p>
            <a:pPr lvl="1">
              <a:buFont typeface="Arial" pitchFamily="34" charset="0"/>
              <a:buChar char="•"/>
              <a:defRPr/>
            </a:pPr>
            <a:r>
              <a:rPr lang="en-NZ" sz="2000" dirty="0">
                <a:latin typeface="Calibri" pitchFamily="34" charset="0"/>
              </a:rPr>
              <a:t> The page number of a virtual address is used to index that table and look up the corresponding frame number.</a:t>
            </a:r>
          </a:p>
          <a:p>
            <a:pPr lvl="1">
              <a:buFont typeface="Arial" pitchFamily="34" charset="0"/>
              <a:buChar char="•"/>
              <a:defRPr/>
            </a:pPr>
            <a:r>
              <a:rPr lang="en-NZ" sz="2000" dirty="0">
                <a:latin typeface="Calibri" pitchFamily="34" charset="0"/>
              </a:rPr>
              <a:t> This is combined with the offset portion of the virtual address to produce the desired real address. </a:t>
            </a:r>
          </a:p>
          <a:p>
            <a:pPr>
              <a:buNone/>
              <a:defRPr/>
            </a:pPr>
            <a:r>
              <a:rPr lang="en-NZ" sz="2000" dirty="0">
                <a:latin typeface="Calibri" pitchFamily="34" charset="0"/>
              </a:rPr>
              <a:t>Typically, the page number field is longer than the frame number field (n &gt; m).</a:t>
            </a:r>
            <a:endParaRPr lang="en-US" sz="2000" dirty="0">
              <a:latin typeface="Calibri" pitchFamily="34" charset="0"/>
            </a:endParaRPr>
          </a:p>
        </p:txBody>
      </p:sp>
      <p:sp>
        <p:nvSpPr>
          <p:cNvPr id="6" name="Title 1"/>
          <p:cNvSpPr>
            <a:spLocks noGrp="1"/>
          </p:cNvSpPr>
          <p:nvPr>
            <p:ph type="title"/>
          </p:nvPr>
        </p:nvSpPr>
        <p:spPr>
          <a:xfrm>
            <a:off x="457200" y="0"/>
            <a:ext cx="8229600" cy="334962"/>
          </a:xfrm>
          <a:solidFill>
            <a:schemeClr val="accent3">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a:normAutofit fontScale="90000"/>
          </a:bodyPr>
          <a:lstStyle/>
          <a:p>
            <a:r>
              <a:rPr lang="en-US" sz="2800" b="1" dirty="0">
                <a:latin typeface="Calibri" pitchFamily="34" charset="0"/>
              </a:rPr>
              <a:t>Address Translation In A Paging System</a:t>
            </a:r>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Title 1"/>
          <p:cNvSpPr>
            <a:spLocks noGrp="1"/>
          </p:cNvSpPr>
          <p:nvPr>
            <p:ph type="title"/>
          </p:nvPr>
        </p:nvSpPr>
        <p:spPr>
          <a:xfrm>
            <a:off x="1752600" y="76200"/>
            <a:ext cx="5029200" cy="533400"/>
          </a:xfrm>
          <a:solidFill>
            <a:schemeClr val="accent3">
              <a:lumMod val="60000"/>
              <a:lumOff val="40000"/>
            </a:schemeClr>
          </a:solidFill>
          <a:ln/>
        </p:spPr>
        <p:style>
          <a:lnRef idx="3">
            <a:schemeClr val="lt1"/>
          </a:lnRef>
          <a:fillRef idx="1">
            <a:schemeClr val="accent1"/>
          </a:fillRef>
          <a:effectRef idx="1">
            <a:schemeClr val="accent1"/>
          </a:effectRef>
          <a:fontRef idx="minor">
            <a:schemeClr val="lt1"/>
          </a:fontRef>
        </p:style>
        <p:txBody>
          <a:bodyPr>
            <a:noAutofit/>
          </a:bodyPr>
          <a:lstStyle/>
          <a:p>
            <a:pPr algn="ctr"/>
            <a:r>
              <a:rPr lang="en-NZ" sz="3200" b="1" dirty="0">
                <a:solidFill>
                  <a:schemeClr val="bg1"/>
                </a:solidFill>
                <a:effectLst>
                  <a:outerShdw blurRad="38100" dist="38100" dir="2700000" algn="tl">
                    <a:srgbClr val="000000">
                      <a:alpha val="43137"/>
                    </a:srgbClr>
                  </a:outerShdw>
                </a:effectLst>
                <a:latin typeface="Calibri" pitchFamily="34" charset="0"/>
              </a:rPr>
              <a:t>Roadmap</a:t>
            </a:r>
          </a:p>
        </p:txBody>
      </p:sp>
      <p:sp>
        <p:nvSpPr>
          <p:cNvPr id="4099" name="Content Placeholder 2"/>
          <p:cNvSpPr>
            <a:spLocks noGrp="1"/>
          </p:cNvSpPr>
          <p:nvPr>
            <p:ph sz="quarter" idx="1"/>
          </p:nvPr>
        </p:nvSpPr>
        <p:spPr>
          <a:xfrm>
            <a:off x="342900" y="838200"/>
            <a:ext cx="6400800" cy="5638800"/>
          </a:xfrm>
          <a:ln/>
        </p:spPr>
        <p:style>
          <a:lnRef idx="2">
            <a:schemeClr val="accent1"/>
          </a:lnRef>
          <a:fillRef idx="1">
            <a:schemeClr val="lt1"/>
          </a:fillRef>
          <a:effectRef idx="0">
            <a:schemeClr val="accent1"/>
          </a:effectRef>
          <a:fontRef idx="minor">
            <a:schemeClr val="dk1"/>
          </a:fontRef>
        </p:style>
        <p:txBody>
          <a:bodyPr>
            <a:normAutofit fontScale="92500" lnSpcReduction="10000"/>
          </a:bodyPr>
          <a:lstStyle/>
          <a:p>
            <a:pPr>
              <a:lnSpc>
                <a:spcPct val="150000"/>
              </a:lnSpc>
            </a:pPr>
            <a:r>
              <a:rPr lang="en-NZ" dirty="0">
                <a:solidFill>
                  <a:schemeClr val="tx1"/>
                </a:solidFill>
                <a:latin typeface="Comic Sans MS" panose="030F0702030302020204" pitchFamily="66" charset="0"/>
              </a:rPr>
              <a:t>Basic requirements of Memory Management</a:t>
            </a:r>
          </a:p>
          <a:p>
            <a:pPr>
              <a:lnSpc>
                <a:spcPct val="150000"/>
              </a:lnSpc>
            </a:pPr>
            <a:r>
              <a:rPr lang="en-NZ" dirty="0">
                <a:solidFill>
                  <a:schemeClr val="tx1"/>
                </a:solidFill>
                <a:latin typeface="Comic Sans MS" panose="030F0702030302020204" pitchFamily="66" charset="0"/>
              </a:rPr>
              <a:t>Memory Partitioning</a:t>
            </a:r>
          </a:p>
          <a:p>
            <a:pPr>
              <a:lnSpc>
                <a:spcPct val="150000"/>
              </a:lnSpc>
            </a:pPr>
            <a:r>
              <a:rPr lang="en-NZ" dirty="0">
                <a:solidFill>
                  <a:schemeClr val="tx1"/>
                </a:solidFill>
                <a:latin typeface="Comic Sans MS" panose="030F0702030302020204" pitchFamily="66" charset="0"/>
              </a:rPr>
              <a:t>Buddy System</a:t>
            </a:r>
          </a:p>
          <a:p>
            <a:pPr>
              <a:lnSpc>
                <a:spcPct val="150000"/>
              </a:lnSpc>
            </a:pPr>
            <a:r>
              <a:rPr lang="en-NZ" dirty="0">
                <a:solidFill>
                  <a:schemeClr val="tx1"/>
                </a:solidFill>
                <a:latin typeface="Comic Sans MS" panose="030F0702030302020204" pitchFamily="66" charset="0"/>
              </a:rPr>
              <a:t>Simple Paging and Segmentation</a:t>
            </a:r>
          </a:p>
          <a:p>
            <a:pPr>
              <a:lnSpc>
                <a:spcPct val="150000"/>
              </a:lnSpc>
            </a:pPr>
            <a:r>
              <a:rPr lang="en-US" dirty="0">
                <a:solidFill>
                  <a:schemeClr val="tx1"/>
                </a:solidFill>
                <a:latin typeface="Comic Sans MS" panose="030F0702030302020204" pitchFamily="66" charset="0"/>
              </a:rPr>
              <a:t>Need of Virtual Memory</a:t>
            </a:r>
          </a:p>
          <a:p>
            <a:pPr>
              <a:lnSpc>
                <a:spcPct val="150000"/>
              </a:lnSpc>
            </a:pPr>
            <a:r>
              <a:rPr lang="en-US" dirty="0">
                <a:solidFill>
                  <a:schemeClr val="tx1"/>
                </a:solidFill>
                <a:latin typeface="Comic Sans MS" panose="030F0702030302020204" pitchFamily="66" charset="0"/>
              </a:rPr>
              <a:t>Virtual memory Paging and Segmentation</a:t>
            </a:r>
          </a:p>
          <a:p>
            <a:pPr>
              <a:lnSpc>
                <a:spcPct val="150000"/>
              </a:lnSpc>
            </a:pPr>
            <a:r>
              <a:rPr lang="en-US" dirty="0">
                <a:solidFill>
                  <a:schemeClr val="tx1"/>
                </a:solidFill>
                <a:latin typeface="Comic Sans MS" panose="030F0702030302020204" pitchFamily="66" charset="0"/>
              </a:rPr>
              <a:t>Address translation in Paging</a:t>
            </a:r>
          </a:p>
          <a:p>
            <a:pPr>
              <a:lnSpc>
                <a:spcPct val="150000"/>
              </a:lnSpc>
            </a:pPr>
            <a:r>
              <a:rPr lang="en-US" b="1" dirty="0">
                <a:solidFill>
                  <a:schemeClr val="accent3">
                    <a:lumMod val="60000"/>
                    <a:lumOff val="40000"/>
                  </a:schemeClr>
                </a:solidFill>
                <a:effectLst>
                  <a:outerShdw blurRad="38100" dist="38100" dir="2700000" algn="tl">
                    <a:srgbClr val="000000">
                      <a:alpha val="43137"/>
                    </a:srgbClr>
                  </a:outerShdw>
                </a:effectLst>
                <a:latin typeface="Comic Sans MS" panose="030F0702030302020204" pitchFamily="66" charset="0"/>
              </a:rPr>
              <a:t>Address translation in Segmentation</a:t>
            </a:r>
          </a:p>
          <a:p>
            <a:pPr>
              <a:lnSpc>
                <a:spcPct val="150000"/>
              </a:lnSpc>
            </a:pPr>
            <a:r>
              <a:rPr lang="en-US" dirty="0">
                <a:latin typeface="Comic Sans MS" panose="030F0702030302020204" pitchFamily="66" charset="0"/>
              </a:rPr>
              <a:t>Page Replacement Algorithms (FIFO, LRU, Optimal)</a:t>
            </a:r>
            <a:endParaRPr lang="en-NZ" dirty="0">
              <a:latin typeface="Comic Sans MS" panose="030F0702030302020204" pitchFamily="66" charset="0"/>
            </a:endParaRPr>
          </a:p>
        </p:txBody>
      </p:sp>
      <p:sp>
        <p:nvSpPr>
          <p:cNvPr id="4" name="Right Arrow 3"/>
          <p:cNvSpPr/>
          <p:nvPr/>
        </p:nvSpPr>
        <p:spPr>
          <a:xfrm>
            <a:off x="234696" y="4747260"/>
            <a:ext cx="445008" cy="381000"/>
          </a:xfrm>
          <a:prstGeom prst="rightArrow">
            <a:avLst/>
          </a:prstGeom>
          <a:solidFill>
            <a:schemeClr val="accent3">
              <a:lumMod val="60000"/>
              <a:lumOff val="40000"/>
            </a:schemeClr>
          </a:solidFill>
          <a:ln w="127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51" name="Picture 3" descr="E:\gp image\stick_figure_drawing_three_check_marks_sm_wm.gif"/>
          <p:cNvPicPr>
            <a:picLocks noChangeAspect="1" noChangeArrowheads="1" noCrop="1"/>
          </p:cNvPicPr>
          <p:nvPr/>
        </p:nvPicPr>
        <p:blipFill>
          <a:blip r:embed="rId3"/>
          <a:srcRect/>
          <a:stretch>
            <a:fillRect/>
          </a:stretch>
        </p:blipFill>
        <p:spPr bwMode="auto">
          <a:xfrm>
            <a:off x="6879336" y="1447800"/>
            <a:ext cx="1807464" cy="3276600"/>
          </a:xfrm>
          <a:prstGeom prst="rect">
            <a:avLst/>
          </a:prstGeom>
          <a:noFill/>
        </p:spPr>
      </p:pic>
    </p:spTree>
    <p:extLst>
      <p:ext uri="{BB962C8B-B14F-4D97-AF65-F5344CB8AC3E}">
        <p14:creationId xmlns:p14="http://schemas.microsoft.com/office/powerpoint/2010/main" val="1261109262"/>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Title 1"/>
          <p:cNvSpPr>
            <a:spLocks noGrp="1"/>
          </p:cNvSpPr>
          <p:nvPr>
            <p:ph type="title"/>
          </p:nvPr>
        </p:nvSpPr>
        <p:spPr>
          <a:xfrm>
            <a:off x="457200" y="76200"/>
            <a:ext cx="8229600" cy="381000"/>
          </a:xfrm>
          <a:solidFill>
            <a:schemeClr val="accent3">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a:normAutofit fontScale="90000"/>
          </a:bodyPr>
          <a:lstStyle/>
          <a:p>
            <a:r>
              <a:rPr lang="en-US" sz="2800" b="1" dirty="0">
                <a:latin typeface="Calibri" pitchFamily="34" charset="0"/>
              </a:rPr>
              <a:t>Address Translation in Segmentation</a:t>
            </a:r>
          </a:p>
        </p:txBody>
      </p:sp>
      <p:pic>
        <p:nvPicPr>
          <p:cNvPr id="43011" name="Content Placeholder 3" descr="Fig08_12.gif"/>
          <p:cNvPicPr>
            <a:picLocks noGrp="1" noChangeAspect="1"/>
          </p:cNvPicPr>
          <p:nvPr>
            <p:ph idx="1"/>
          </p:nvPr>
        </p:nvPicPr>
        <p:blipFill>
          <a:blip r:embed="rId3"/>
          <a:srcRect/>
          <a:stretch>
            <a:fillRect/>
          </a:stretch>
        </p:blipFill>
        <p:spPr>
          <a:xfrm>
            <a:off x="228600" y="533400"/>
            <a:ext cx="8610600" cy="617220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581400" y="685800"/>
            <a:ext cx="5334000" cy="5257800"/>
          </a:xfrm>
        </p:spPr>
        <p:style>
          <a:lnRef idx="2">
            <a:schemeClr val="accent1"/>
          </a:lnRef>
          <a:fillRef idx="1">
            <a:schemeClr val="lt1"/>
          </a:fillRef>
          <a:effectRef idx="0">
            <a:schemeClr val="accent1"/>
          </a:effectRef>
          <a:fontRef idx="minor">
            <a:schemeClr val="dk1"/>
          </a:fontRef>
        </p:style>
        <p:txBody>
          <a:bodyPr>
            <a:noAutofit/>
          </a:bodyPr>
          <a:lstStyle/>
          <a:p>
            <a:pPr>
              <a:defRPr/>
            </a:pPr>
            <a:r>
              <a:rPr lang="en-NZ" sz="2000" dirty="0">
                <a:latin typeface="Calibri" pitchFamily="34" charset="0"/>
              </a:rPr>
              <a:t>Reading a word from memory involves the translation of a virtual, or logical, address, into a physical address, using a segment table. </a:t>
            </a:r>
          </a:p>
          <a:p>
            <a:pPr lvl="1">
              <a:buFont typeface="Arial" pitchFamily="34" charset="0"/>
              <a:buChar char="•"/>
              <a:defRPr/>
            </a:pPr>
            <a:endParaRPr lang="en-NZ" sz="2000" dirty="0">
              <a:latin typeface="Calibri" pitchFamily="34" charset="0"/>
            </a:endParaRPr>
          </a:p>
          <a:p>
            <a:pPr>
              <a:defRPr/>
            </a:pPr>
            <a:r>
              <a:rPr lang="en-NZ" sz="2000" dirty="0">
                <a:latin typeface="Calibri" pitchFamily="34" charset="0"/>
              </a:rPr>
              <a:t>When a particular process is running, a register holds the starting address of the segment table for that process.</a:t>
            </a:r>
          </a:p>
          <a:p>
            <a:pPr>
              <a:defRPr/>
            </a:pPr>
            <a:endParaRPr lang="en-NZ" sz="2000" dirty="0">
              <a:latin typeface="Calibri" pitchFamily="34" charset="0"/>
            </a:endParaRPr>
          </a:p>
          <a:p>
            <a:pPr lvl="1">
              <a:buFont typeface="Arial" pitchFamily="34" charset="0"/>
              <a:buChar char="•"/>
              <a:defRPr/>
            </a:pPr>
            <a:r>
              <a:rPr lang="en-NZ" sz="2000" dirty="0">
                <a:latin typeface="Calibri" pitchFamily="34" charset="0"/>
              </a:rPr>
              <a:t>The segment number of a virtual address is used to index that table and look up the corresponding main memory address for the start of the segment.</a:t>
            </a:r>
          </a:p>
          <a:p>
            <a:pPr lvl="1">
              <a:buFont typeface="Arial" pitchFamily="34" charset="0"/>
              <a:buChar char="•"/>
              <a:defRPr/>
            </a:pPr>
            <a:r>
              <a:rPr lang="en-NZ" sz="2000" dirty="0">
                <a:latin typeface="Calibri" pitchFamily="34" charset="0"/>
              </a:rPr>
              <a:t> This is added to the offset portion of the virtual address to produce the desired real address.</a:t>
            </a:r>
            <a:endParaRPr lang="en-US" sz="2000" dirty="0">
              <a:latin typeface="Calibri" pitchFamily="34" charset="0"/>
            </a:endParaRPr>
          </a:p>
          <a:p>
            <a:endParaRPr lang="en-US" sz="2000" dirty="0">
              <a:latin typeface="Calibri" pitchFamily="34" charset="0"/>
            </a:endParaRPr>
          </a:p>
        </p:txBody>
      </p:sp>
      <p:sp>
        <p:nvSpPr>
          <p:cNvPr id="4" name="Title 1"/>
          <p:cNvSpPr>
            <a:spLocks noGrp="1"/>
          </p:cNvSpPr>
          <p:nvPr>
            <p:ph type="title"/>
          </p:nvPr>
        </p:nvSpPr>
        <p:spPr>
          <a:xfrm>
            <a:off x="457200" y="0"/>
            <a:ext cx="8229600" cy="457200"/>
          </a:xfrm>
          <a:solidFill>
            <a:schemeClr val="accent3">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a:normAutofit fontScale="90000"/>
          </a:bodyPr>
          <a:lstStyle/>
          <a:p>
            <a:r>
              <a:rPr lang="en-US" sz="2800" b="1" dirty="0">
                <a:latin typeface="Calibri" pitchFamily="34" charset="0"/>
              </a:rPr>
              <a:t>Address Translation in Segmentation</a:t>
            </a:r>
          </a:p>
        </p:txBody>
      </p:sp>
      <p:pic>
        <p:nvPicPr>
          <p:cNvPr id="16386" name="Picture 2" descr="E:\gp image\lil_blue_men_arrow_PA_sm_wm.gif"/>
          <p:cNvPicPr>
            <a:picLocks noChangeAspect="1" noChangeArrowheads="1" noCrop="1"/>
          </p:cNvPicPr>
          <p:nvPr/>
        </p:nvPicPr>
        <p:blipFill>
          <a:blip r:embed="rId2"/>
          <a:srcRect/>
          <a:stretch>
            <a:fillRect/>
          </a:stretch>
        </p:blipFill>
        <p:spPr bwMode="auto">
          <a:xfrm>
            <a:off x="381000" y="838200"/>
            <a:ext cx="2209800" cy="2209800"/>
          </a:xfrm>
          <a:prstGeom prst="rect">
            <a:avLst/>
          </a:prstGeom>
          <a:noFill/>
        </p:spPr>
      </p:pic>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1295400"/>
            <a:ext cx="8763000" cy="5410200"/>
          </a:xfrm>
        </p:spPr>
        <p:style>
          <a:lnRef idx="2">
            <a:schemeClr val="accent1"/>
          </a:lnRef>
          <a:fillRef idx="1">
            <a:schemeClr val="lt1"/>
          </a:fillRef>
          <a:effectRef idx="0">
            <a:schemeClr val="accent1"/>
          </a:effectRef>
          <a:fontRef idx="minor">
            <a:schemeClr val="dk1"/>
          </a:fontRef>
        </p:style>
        <p:txBody>
          <a:bodyPr>
            <a:normAutofit/>
          </a:bodyPr>
          <a:lstStyle/>
          <a:p>
            <a:r>
              <a:rPr lang="en-NZ" sz="2000" dirty="0">
                <a:latin typeface="Calibri" pitchFamily="34" charset="0"/>
              </a:rPr>
              <a:t>In a combined paging/segmentation system, a user’s address space is broken up into a number of segments, </a:t>
            </a:r>
          </a:p>
          <a:p>
            <a:r>
              <a:rPr lang="en-NZ" sz="2000" dirty="0">
                <a:latin typeface="Calibri" pitchFamily="34" charset="0"/>
              </a:rPr>
              <a:t>Each segment is, in turn, broken up into a number of fixed-size pages, </a:t>
            </a:r>
          </a:p>
          <a:p>
            <a:pPr lvl="1">
              <a:buFontTx/>
              <a:buChar char="•"/>
            </a:pPr>
            <a:r>
              <a:rPr lang="en-NZ" sz="2000" dirty="0">
                <a:latin typeface="Calibri" pitchFamily="34" charset="0"/>
              </a:rPr>
              <a:t> which are equal in length to a main memory frame.</a:t>
            </a:r>
          </a:p>
          <a:p>
            <a:endParaRPr lang="en-NZ" sz="2000" dirty="0">
              <a:latin typeface="Calibri" pitchFamily="34" charset="0"/>
            </a:endParaRPr>
          </a:p>
          <a:p>
            <a:r>
              <a:rPr lang="en-NZ" sz="2000" dirty="0">
                <a:latin typeface="Calibri" pitchFamily="34" charset="0"/>
              </a:rPr>
              <a:t> If a segment has length less than that of a page, the segment occupies just one page. </a:t>
            </a:r>
          </a:p>
          <a:p>
            <a:endParaRPr lang="en-NZ" sz="2000" dirty="0">
              <a:latin typeface="Calibri" pitchFamily="34" charset="0"/>
            </a:endParaRPr>
          </a:p>
          <a:p>
            <a:r>
              <a:rPr lang="en-NZ" sz="2000" dirty="0">
                <a:latin typeface="Calibri" pitchFamily="34" charset="0"/>
              </a:rPr>
              <a:t>From the programmer’s point of view, a logical address still consists of a segment number and a segment offset. </a:t>
            </a:r>
          </a:p>
          <a:p>
            <a:endParaRPr lang="en-NZ" sz="2000" dirty="0">
              <a:latin typeface="Calibri" pitchFamily="34" charset="0"/>
            </a:endParaRPr>
          </a:p>
          <a:p>
            <a:r>
              <a:rPr lang="en-NZ" sz="2000" dirty="0">
                <a:latin typeface="Calibri" pitchFamily="34" charset="0"/>
              </a:rPr>
              <a:t>From the system’s point of view, the segment offset is viewed as a page number and page offset for a page within the specified segment.</a:t>
            </a:r>
            <a:endParaRPr lang="en-US" sz="2000" dirty="0">
              <a:latin typeface="Calibri" pitchFamily="34" charset="0"/>
            </a:endParaRPr>
          </a:p>
          <a:p>
            <a:endParaRPr lang="en-US" sz="2000" dirty="0">
              <a:latin typeface="Calibri" pitchFamily="34" charset="0"/>
            </a:endParaRPr>
          </a:p>
        </p:txBody>
      </p:sp>
      <p:sp>
        <p:nvSpPr>
          <p:cNvPr id="4" name="Title 1"/>
          <p:cNvSpPr>
            <a:spLocks noGrp="1"/>
          </p:cNvSpPr>
          <p:nvPr>
            <p:ph type="title"/>
          </p:nvPr>
        </p:nvSpPr>
        <p:spPr>
          <a:xfrm>
            <a:off x="457200" y="0"/>
            <a:ext cx="8229600" cy="457200"/>
          </a:xfrm>
        </p:spPr>
        <p:style>
          <a:lnRef idx="2">
            <a:schemeClr val="accent1">
              <a:shade val="50000"/>
            </a:schemeClr>
          </a:lnRef>
          <a:fillRef idx="1">
            <a:schemeClr val="accent1"/>
          </a:fillRef>
          <a:effectRef idx="0">
            <a:schemeClr val="accent1"/>
          </a:effectRef>
          <a:fontRef idx="minor">
            <a:schemeClr val="lt1"/>
          </a:fontRef>
        </p:style>
        <p:txBody>
          <a:bodyPr>
            <a:normAutofit fontScale="90000"/>
          </a:bodyPr>
          <a:lstStyle/>
          <a:p>
            <a:r>
              <a:rPr lang="en-US" sz="2800" b="1" dirty="0">
                <a:latin typeface="Calibri" pitchFamily="34" charset="0"/>
              </a:rPr>
              <a:t>Combined Paging and Segmentation</a:t>
            </a:r>
          </a:p>
        </p:txBody>
      </p:sp>
    </p:spTree>
    <p:extLst>
      <p:ext uri="{BB962C8B-B14F-4D97-AF65-F5344CB8AC3E}">
        <p14:creationId xmlns:p14="http://schemas.microsoft.com/office/powerpoint/2010/main" val="423961115"/>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5059" name="Content Placeholder 3" descr="Fig08_02c.gif"/>
          <p:cNvPicPr>
            <a:picLocks noGrp="1" noChangeAspect="1"/>
          </p:cNvPicPr>
          <p:nvPr>
            <p:ph idx="1"/>
          </p:nvPr>
        </p:nvPicPr>
        <p:blipFill>
          <a:blip r:embed="rId3"/>
          <a:srcRect/>
          <a:stretch>
            <a:fillRect/>
          </a:stretch>
        </p:blipFill>
        <p:spPr>
          <a:xfrm>
            <a:off x="381000" y="2743200"/>
            <a:ext cx="8534400" cy="3762375"/>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5" name="Title 1"/>
          <p:cNvSpPr>
            <a:spLocks noGrp="1"/>
          </p:cNvSpPr>
          <p:nvPr>
            <p:ph type="title"/>
          </p:nvPr>
        </p:nvSpPr>
        <p:spPr>
          <a:xfrm>
            <a:off x="457200" y="76200"/>
            <a:ext cx="8229600" cy="563562"/>
          </a:xfrm>
        </p:spPr>
        <p:style>
          <a:lnRef idx="2">
            <a:schemeClr val="accent1">
              <a:shade val="50000"/>
            </a:schemeClr>
          </a:lnRef>
          <a:fillRef idx="1">
            <a:schemeClr val="accent1"/>
          </a:fillRef>
          <a:effectRef idx="0">
            <a:schemeClr val="accent1"/>
          </a:effectRef>
          <a:fontRef idx="minor">
            <a:schemeClr val="lt1"/>
          </a:fontRef>
        </p:style>
        <p:txBody>
          <a:bodyPr>
            <a:normAutofit/>
          </a:bodyPr>
          <a:lstStyle/>
          <a:p>
            <a:r>
              <a:rPr lang="en-US" sz="2800" b="1" dirty="0">
                <a:latin typeface="Calibri" pitchFamily="34" charset="0"/>
              </a:rPr>
              <a:t>Combined Paging and Segmentation</a:t>
            </a:r>
          </a:p>
        </p:txBody>
      </p:sp>
      <p:pic>
        <p:nvPicPr>
          <p:cNvPr id="17410" name="Picture 2" descr="E:\gp image\adm.png"/>
          <p:cNvPicPr>
            <a:picLocks noChangeAspect="1" noChangeArrowheads="1"/>
          </p:cNvPicPr>
          <p:nvPr/>
        </p:nvPicPr>
        <p:blipFill>
          <a:blip r:embed="rId4"/>
          <a:srcRect/>
          <a:stretch>
            <a:fillRect/>
          </a:stretch>
        </p:blipFill>
        <p:spPr bwMode="auto">
          <a:xfrm>
            <a:off x="381000" y="762000"/>
            <a:ext cx="1981200" cy="1784273"/>
          </a:xfrm>
          <a:prstGeom prst="rect">
            <a:avLst/>
          </a:prstGeom>
          <a:noFill/>
        </p:spPr>
      </p:pic>
    </p:spTree>
    <p:extLst>
      <p:ext uri="{BB962C8B-B14F-4D97-AF65-F5344CB8AC3E}">
        <p14:creationId xmlns:p14="http://schemas.microsoft.com/office/powerpoint/2010/main" val="3304956806"/>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762000"/>
            <a:ext cx="8686800" cy="4267200"/>
          </a:xfrm>
        </p:spPr>
        <p:style>
          <a:lnRef idx="2">
            <a:schemeClr val="accent1"/>
          </a:lnRef>
          <a:fillRef idx="1">
            <a:schemeClr val="lt1"/>
          </a:fillRef>
          <a:effectRef idx="0">
            <a:schemeClr val="accent1"/>
          </a:effectRef>
          <a:fontRef idx="minor">
            <a:schemeClr val="dk1"/>
          </a:fontRef>
        </p:style>
        <p:txBody>
          <a:bodyPr>
            <a:noAutofit/>
          </a:bodyPr>
          <a:lstStyle/>
          <a:p>
            <a:r>
              <a:rPr lang="en-NZ" sz="2000" dirty="0">
                <a:latin typeface="Calibri" pitchFamily="34" charset="0"/>
              </a:rPr>
              <a:t>This figure (8.2c) suggests the segment table entry and page table entry formats.</a:t>
            </a:r>
          </a:p>
          <a:p>
            <a:r>
              <a:rPr lang="en-NZ" sz="2000" dirty="0">
                <a:latin typeface="Calibri" pitchFamily="34" charset="0"/>
              </a:rPr>
              <a:t>As before, the segment table entry contains the length of the segment.</a:t>
            </a:r>
          </a:p>
          <a:p>
            <a:r>
              <a:rPr lang="en-NZ" sz="2000" dirty="0">
                <a:latin typeface="Calibri" pitchFamily="34" charset="0"/>
              </a:rPr>
              <a:t>It also contains a base field, which now refers to a page table.</a:t>
            </a:r>
          </a:p>
          <a:p>
            <a:pPr>
              <a:buFontTx/>
              <a:buChar char="•"/>
            </a:pPr>
            <a:r>
              <a:rPr lang="en-NZ" sz="2000" dirty="0">
                <a:latin typeface="Calibri" pitchFamily="34" charset="0"/>
              </a:rPr>
              <a:t>Other control bits may be used, for purposes of sharing and protection.</a:t>
            </a:r>
          </a:p>
          <a:p>
            <a:pPr lvl="1">
              <a:buFontTx/>
              <a:buChar char="•"/>
            </a:pPr>
            <a:endParaRPr lang="en-NZ" sz="2000" dirty="0">
              <a:latin typeface="Calibri" pitchFamily="34" charset="0"/>
            </a:endParaRPr>
          </a:p>
          <a:p>
            <a:r>
              <a:rPr lang="en-NZ" sz="2000" dirty="0">
                <a:latin typeface="Calibri" pitchFamily="34" charset="0"/>
              </a:rPr>
              <a:t>The page table entry is essentially the same as is used in a pure paging system. </a:t>
            </a:r>
          </a:p>
          <a:p>
            <a:pPr lvl="1">
              <a:buFontTx/>
              <a:buChar char="•"/>
            </a:pPr>
            <a:r>
              <a:rPr lang="en-NZ" sz="2000" dirty="0">
                <a:latin typeface="Calibri" pitchFamily="34" charset="0"/>
              </a:rPr>
              <a:t> Each page number is mapped into a corresponding frame number if the page is present in main memory.</a:t>
            </a:r>
          </a:p>
          <a:p>
            <a:pPr lvl="1">
              <a:buFontTx/>
              <a:buChar char="•"/>
            </a:pPr>
            <a:r>
              <a:rPr lang="en-NZ" sz="2000" dirty="0">
                <a:latin typeface="Calibri" pitchFamily="34" charset="0"/>
              </a:rPr>
              <a:t> The modified bit indicates whether this page is modified or not.</a:t>
            </a:r>
          </a:p>
          <a:p>
            <a:pPr lvl="1">
              <a:buFontTx/>
              <a:buChar char="•"/>
            </a:pPr>
            <a:r>
              <a:rPr lang="en-NZ" sz="2000" dirty="0">
                <a:latin typeface="Calibri" pitchFamily="34" charset="0"/>
              </a:rPr>
              <a:t> There may be other control bits dealing with protection or other aspects of memory management.</a:t>
            </a:r>
            <a:endParaRPr lang="en-US" sz="2000" dirty="0">
              <a:latin typeface="Calibri" pitchFamily="34" charset="0"/>
            </a:endParaRPr>
          </a:p>
          <a:p>
            <a:endParaRPr lang="en-US" sz="2000" dirty="0">
              <a:latin typeface="Calibri" pitchFamily="34" charset="0"/>
            </a:endParaRPr>
          </a:p>
        </p:txBody>
      </p:sp>
      <p:sp>
        <p:nvSpPr>
          <p:cNvPr id="4" name="Title 1"/>
          <p:cNvSpPr txBox="1">
            <a:spLocks/>
          </p:cNvSpPr>
          <p:nvPr/>
        </p:nvSpPr>
        <p:spPr>
          <a:xfrm>
            <a:off x="457200" y="76200"/>
            <a:ext cx="8229600" cy="56356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vert="horz" lIns="91440" tIns="45720" rIns="91440" bIns="45720" rtlCol="0" anchor="ctr">
            <a:norm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800" b="1" i="0" u="none" strike="noStrike" kern="1200" cap="none" spc="0" normalizeH="0" baseline="0" noProof="0">
                <a:ln>
                  <a:noFill/>
                </a:ln>
                <a:solidFill>
                  <a:schemeClr val="lt1"/>
                </a:solidFill>
                <a:effectLst/>
                <a:uLnTx/>
                <a:uFillTx/>
                <a:latin typeface="Calibri" pitchFamily="34" charset="0"/>
                <a:ea typeface="+mn-ea"/>
                <a:cs typeface="+mn-cs"/>
              </a:rPr>
              <a:t>Combined Paging and Segmentation</a:t>
            </a:r>
            <a:endParaRPr kumimoji="0" lang="en-US" sz="2800" b="1" i="0" u="none" strike="noStrike" kern="1200" cap="none" spc="0" normalizeH="0" baseline="0" noProof="0" dirty="0">
              <a:ln>
                <a:noFill/>
              </a:ln>
              <a:solidFill>
                <a:schemeClr val="lt1"/>
              </a:solidFill>
              <a:effectLst/>
              <a:uLnTx/>
              <a:uFillTx/>
              <a:latin typeface="Calibri" pitchFamily="34" charset="0"/>
              <a:ea typeface="+mn-ea"/>
              <a:cs typeface="+mn-cs"/>
            </a:endParaRPr>
          </a:p>
        </p:txBody>
      </p:sp>
    </p:spTree>
    <p:extLst>
      <p:ext uri="{BB962C8B-B14F-4D97-AF65-F5344CB8AC3E}">
        <p14:creationId xmlns:p14="http://schemas.microsoft.com/office/powerpoint/2010/main" val="1673016992"/>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Title 1"/>
          <p:cNvSpPr>
            <a:spLocks noGrp="1"/>
          </p:cNvSpPr>
          <p:nvPr>
            <p:ph type="title"/>
          </p:nvPr>
        </p:nvSpPr>
        <p:spPr>
          <a:xfrm>
            <a:off x="457200" y="76200"/>
            <a:ext cx="8229600" cy="381000"/>
          </a:xfrm>
        </p:spPr>
        <p:style>
          <a:lnRef idx="2">
            <a:schemeClr val="accent1">
              <a:shade val="50000"/>
            </a:schemeClr>
          </a:lnRef>
          <a:fillRef idx="1">
            <a:schemeClr val="accent1"/>
          </a:fillRef>
          <a:effectRef idx="0">
            <a:schemeClr val="accent1"/>
          </a:effectRef>
          <a:fontRef idx="minor">
            <a:schemeClr val="lt1"/>
          </a:fontRef>
        </p:style>
        <p:txBody>
          <a:bodyPr>
            <a:normAutofit fontScale="90000"/>
          </a:bodyPr>
          <a:lstStyle/>
          <a:p>
            <a:r>
              <a:rPr lang="en-US" sz="2800" b="1" dirty="0">
                <a:latin typeface="Calibri" pitchFamily="34" charset="0"/>
              </a:rPr>
              <a:t>Address Translation</a:t>
            </a:r>
          </a:p>
        </p:txBody>
      </p:sp>
      <p:pic>
        <p:nvPicPr>
          <p:cNvPr id="46083" name="Content Placeholder 3" descr="Fig08_13.gif"/>
          <p:cNvPicPr>
            <a:picLocks noGrp="1" noChangeAspect="1"/>
          </p:cNvPicPr>
          <p:nvPr>
            <p:ph idx="1"/>
          </p:nvPr>
        </p:nvPicPr>
        <p:blipFill>
          <a:blip r:embed="rId3"/>
          <a:srcRect/>
          <a:stretch>
            <a:fillRect/>
          </a:stretch>
        </p:blipFill>
        <p:spPr>
          <a:xfrm>
            <a:off x="76200" y="762000"/>
            <a:ext cx="8915400" cy="579120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713827410"/>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533400"/>
            <a:ext cx="8686800" cy="5562600"/>
          </a:xfrm>
        </p:spPr>
        <p:style>
          <a:lnRef idx="2">
            <a:schemeClr val="accent1"/>
          </a:lnRef>
          <a:fillRef idx="1">
            <a:schemeClr val="lt1"/>
          </a:fillRef>
          <a:effectRef idx="0">
            <a:schemeClr val="accent1"/>
          </a:effectRef>
          <a:fontRef idx="minor">
            <a:schemeClr val="dk1"/>
          </a:fontRef>
        </p:style>
        <p:txBody>
          <a:bodyPr>
            <a:normAutofit/>
          </a:bodyPr>
          <a:lstStyle/>
          <a:p>
            <a:r>
              <a:rPr lang="en-NZ" sz="2000" dirty="0">
                <a:latin typeface="Calibri" pitchFamily="34" charset="0"/>
              </a:rPr>
              <a:t>This figure suggests a structure to support combined paging/segmentation (note similarity to Figure 8.5).</a:t>
            </a:r>
          </a:p>
          <a:p>
            <a:endParaRPr lang="en-NZ" sz="2000" dirty="0">
              <a:latin typeface="Calibri" pitchFamily="34" charset="0"/>
            </a:endParaRPr>
          </a:p>
          <a:p>
            <a:r>
              <a:rPr lang="en-NZ" sz="2000" dirty="0">
                <a:latin typeface="Calibri" pitchFamily="34" charset="0"/>
              </a:rPr>
              <a:t>Associated with each process is a segment table and a number of page tables, one per process segment.</a:t>
            </a:r>
          </a:p>
          <a:p>
            <a:endParaRPr lang="en-NZ" sz="2000" dirty="0">
              <a:latin typeface="Calibri" pitchFamily="34" charset="0"/>
            </a:endParaRPr>
          </a:p>
          <a:p>
            <a:r>
              <a:rPr lang="en-NZ" sz="2000" dirty="0">
                <a:latin typeface="Calibri" pitchFamily="34" charset="0"/>
              </a:rPr>
              <a:t>When a particular process is running, a register holds the starting address of the segment table for that process. </a:t>
            </a:r>
          </a:p>
          <a:p>
            <a:endParaRPr lang="en-NZ" sz="2000" dirty="0">
              <a:latin typeface="Calibri" pitchFamily="34" charset="0"/>
            </a:endParaRPr>
          </a:p>
          <a:p>
            <a:r>
              <a:rPr lang="en-NZ" sz="2000" dirty="0">
                <a:latin typeface="Calibri" pitchFamily="34" charset="0"/>
              </a:rPr>
              <a:t>Presented with a virtual address, the processor uses the segment number portion to index into the process segment table to find the page table for that segment.</a:t>
            </a:r>
          </a:p>
          <a:p>
            <a:pPr lvl="1">
              <a:buFontTx/>
              <a:buChar char="•"/>
            </a:pPr>
            <a:r>
              <a:rPr lang="en-NZ" sz="2000" dirty="0">
                <a:latin typeface="Calibri" pitchFamily="34" charset="0"/>
              </a:rPr>
              <a:t> Then the page number portion of the virtual address is used to index the page table and look up the corresponding frame number.</a:t>
            </a:r>
          </a:p>
          <a:p>
            <a:pPr lvl="1">
              <a:buFontTx/>
              <a:buChar char="•"/>
            </a:pPr>
            <a:r>
              <a:rPr lang="en-NZ" sz="2000" dirty="0">
                <a:latin typeface="Calibri" pitchFamily="34" charset="0"/>
              </a:rPr>
              <a:t> This is combined with the offset portion of the virtual address to produce the desired real address.</a:t>
            </a:r>
            <a:endParaRPr lang="en-US" sz="2000" dirty="0">
              <a:latin typeface="Calibri" pitchFamily="34" charset="0"/>
            </a:endParaRPr>
          </a:p>
          <a:p>
            <a:endParaRPr lang="en-US" sz="2000" dirty="0">
              <a:latin typeface="Calibri" pitchFamily="34" charset="0"/>
            </a:endParaRPr>
          </a:p>
        </p:txBody>
      </p:sp>
      <p:sp>
        <p:nvSpPr>
          <p:cNvPr id="4" name="Title 1"/>
          <p:cNvSpPr txBox="1">
            <a:spLocks/>
          </p:cNvSpPr>
          <p:nvPr/>
        </p:nvSpPr>
        <p:spPr>
          <a:xfrm>
            <a:off x="457200" y="0"/>
            <a:ext cx="8229600" cy="48736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vert="horz" lIns="91440" tIns="45720" rIns="91440" bIns="45720" rtlCol="0" anchor="ctr">
            <a:normAutofit fontScale="97500" lnSpcReduction="10000"/>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800" b="1" i="0" u="none" strike="noStrike" kern="1200" cap="none" spc="0" normalizeH="0" baseline="0" noProof="0">
                <a:ln>
                  <a:noFill/>
                </a:ln>
                <a:solidFill>
                  <a:schemeClr val="lt1"/>
                </a:solidFill>
                <a:effectLst/>
                <a:uLnTx/>
                <a:uFillTx/>
                <a:latin typeface="Calibri" pitchFamily="34" charset="0"/>
                <a:ea typeface="+mn-ea"/>
                <a:cs typeface="+mn-cs"/>
              </a:rPr>
              <a:t>Address Translation</a:t>
            </a:r>
            <a:endParaRPr kumimoji="0" lang="en-US" sz="2800" b="1" i="0" u="none" strike="noStrike" kern="1200" cap="none" spc="0" normalizeH="0" baseline="0" noProof="0" dirty="0">
              <a:ln>
                <a:noFill/>
              </a:ln>
              <a:solidFill>
                <a:schemeClr val="lt1"/>
              </a:solidFill>
              <a:effectLst/>
              <a:uLnTx/>
              <a:uFillTx/>
              <a:latin typeface="Calibri" pitchFamily="34" charset="0"/>
              <a:ea typeface="+mn-ea"/>
              <a:cs typeface="+mn-cs"/>
            </a:endParaRPr>
          </a:p>
        </p:txBody>
      </p:sp>
    </p:spTree>
    <p:extLst>
      <p:ext uri="{BB962C8B-B14F-4D97-AF65-F5344CB8AC3E}">
        <p14:creationId xmlns:p14="http://schemas.microsoft.com/office/powerpoint/2010/main" val="2679223282"/>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Title 1"/>
          <p:cNvSpPr>
            <a:spLocks noGrp="1"/>
          </p:cNvSpPr>
          <p:nvPr>
            <p:ph type="title"/>
          </p:nvPr>
        </p:nvSpPr>
        <p:spPr>
          <a:xfrm>
            <a:off x="1752600" y="76200"/>
            <a:ext cx="5029200" cy="533400"/>
          </a:xfrm>
          <a:solidFill>
            <a:schemeClr val="accent3">
              <a:lumMod val="60000"/>
              <a:lumOff val="40000"/>
            </a:schemeClr>
          </a:solidFill>
          <a:ln/>
        </p:spPr>
        <p:style>
          <a:lnRef idx="3">
            <a:schemeClr val="lt1"/>
          </a:lnRef>
          <a:fillRef idx="1">
            <a:schemeClr val="accent1"/>
          </a:fillRef>
          <a:effectRef idx="1">
            <a:schemeClr val="accent1"/>
          </a:effectRef>
          <a:fontRef idx="minor">
            <a:schemeClr val="lt1"/>
          </a:fontRef>
        </p:style>
        <p:txBody>
          <a:bodyPr>
            <a:noAutofit/>
          </a:bodyPr>
          <a:lstStyle/>
          <a:p>
            <a:pPr algn="ctr"/>
            <a:r>
              <a:rPr lang="en-NZ" sz="3200" b="1" dirty="0">
                <a:solidFill>
                  <a:schemeClr val="bg1"/>
                </a:solidFill>
                <a:effectLst>
                  <a:outerShdw blurRad="38100" dist="38100" dir="2700000" algn="tl">
                    <a:srgbClr val="000000">
                      <a:alpha val="43137"/>
                    </a:srgbClr>
                  </a:outerShdw>
                </a:effectLst>
                <a:latin typeface="Calibri" pitchFamily="34" charset="0"/>
              </a:rPr>
              <a:t>Roadmap</a:t>
            </a:r>
          </a:p>
        </p:txBody>
      </p:sp>
      <p:sp>
        <p:nvSpPr>
          <p:cNvPr id="4099" name="Content Placeholder 2"/>
          <p:cNvSpPr>
            <a:spLocks noGrp="1"/>
          </p:cNvSpPr>
          <p:nvPr>
            <p:ph sz="quarter" idx="1"/>
          </p:nvPr>
        </p:nvSpPr>
        <p:spPr>
          <a:xfrm>
            <a:off x="342900" y="838200"/>
            <a:ext cx="6400800" cy="5638800"/>
          </a:xfrm>
          <a:ln/>
        </p:spPr>
        <p:style>
          <a:lnRef idx="2">
            <a:schemeClr val="accent1"/>
          </a:lnRef>
          <a:fillRef idx="1">
            <a:schemeClr val="lt1"/>
          </a:fillRef>
          <a:effectRef idx="0">
            <a:schemeClr val="accent1"/>
          </a:effectRef>
          <a:fontRef idx="minor">
            <a:schemeClr val="dk1"/>
          </a:fontRef>
        </p:style>
        <p:txBody>
          <a:bodyPr>
            <a:normAutofit fontScale="92500" lnSpcReduction="10000"/>
          </a:bodyPr>
          <a:lstStyle/>
          <a:p>
            <a:pPr>
              <a:lnSpc>
                <a:spcPct val="150000"/>
              </a:lnSpc>
            </a:pPr>
            <a:r>
              <a:rPr lang="en-NZ" dirty="0">
                <a:solidFill>
                  <a:schemeClr val="tx1"/>
                </a:solidFill>
                <a:latin typeface="Comic Sans MS" panose="030F0702030302020204" pitchFamily="66" charset="0"/>
              </a:rPr>
              <a:t>Basic requirements of Memory Management</a:t>
            </a:r>
          </a:p>
          <a:p>
            <a:pPr>
              <a:lnSpc>
                <a:spcPct val="150000"/>
              </a:lnSpc>
            </a:pPr>
            <a:r>
              <a:rPr lang="en-NZ" dirty="0">
                <a:solidFill>
                  <a:schemeClr val="tx1"/>
                </a:solidFill>
                <a:latin typeface="Comic Sans MS" panose="030F0702030302020204" pitchFamily="66" charset="0"/>
              </a:rPr>
              <a:t>Memory Partitioning</a:t>
            </a:r>
          </a:p>
          <a:p>
            <a:pPr>
              <a:lnSpc>
                <a:spcPct val="150000"/>
              </a:lnSpc>
            </a:pPr>
            <a:r>
              <a:rPr lang="en-NZ" dirty="0">
                <a:solidFill>
                  <a:schemeClr val="tx1"/>
                </a:solidFill>
                <a:latin typeface="Comic Sans MS" panose="030F0702030302020204" pitchFamily="66" charset="0"/>
              </a:rPr>
              <a:t>Buddy System</a:t>
            </a:r>
          </a:p>
          <a:p>
            <a:pPr>
              <a:lnSpc>
                <a:spcPct val="150000"/>
              </a:lnSpc>
            </a:pPr>
            <a:r>
              <a:rPr lang="en-NZ" dirty="0">
                <a:solidFill>
                  <a:schemeClr val="tx1"/>
                </a:solidFill>
                <a:latin typeface="Comic Sans MS" panose="030F0702030302020204" pitchFamily="66" charset="0"/>
              </a:rPr>
              <a:t>Simple Paging and Segmentation</a:t>
            </a:r>
          </a:p>
          <a:p>
            <a:pPr>
              <a:lnSpc>
                <a:spcPct val="150000"/>
              </a:lnSpc>
            </a:pPr>
            <a:r>
              <a:rPr lang="en-US" dirty="0">
                <a:solidFill>
                  <a:schemeClr val="tx1"/>
                </a:solidFill>
                <a:latin typeface="Comic Sans MS" panose="030F0702030302020204" pitchFamily="66" charset="0"/>
              </a:rPr>
              <a:t>Need of Virtual Memory</a:t>
            </a:r>
          </a:p>
          <a:p>
            <a:pPr>
              <a:lnSpc>
                <a:spcPct val="150000"/>
              </a:lnSpc>
            </a:pPr>
            <a:r>
              <a:rPr lang="en-US" dirty="0">
                <a:solidFill>
                  <a:schemeClr val="tx1"/>
                </a:solidFill>
                <a:latin typeface="Comic Sans MS" panose="030F0702030302020204" pitchFamily="66" charset="0"/>
              </a:rPr>
              <a:t>Virtual memory Paging and Segmentation</a:t>
            </a:r>
          </a:p>
          <a:p>
            <a:pPr>
              <a:lnSpc>
                <a:spcPct val="150000"/>
              </a:lnSpc>
            </a:pPr>
            <a:r>
              <a:rPr lang="en-US" dirty="0">
                <a:solidFill>
                  <a:schemeClr val="tx1"/>
                </a:solidFill>
                <a:latin typeface="Comic Sans MS" panose="030F0702030302020204" pitchFamily="66" charset="0"/>
              </a:rPr>
              <a:t>Address translation in Paging</a:t>
            </a:r>
          </a:p>
          <a:p>
            <a:pPr>
              <a:lnSpc>
                <a:spcPct val="150000"/>
              </a:lnSpc>
            </a:pPr>
            <a:r>
              <a:rPr lang="en-US" dirty="0">
                <a:solidFill>
                  <a:schemeClr val="tx1"/>
                </a:solidFill>
                <a:latin typeface="Comic Sans MS" panose="030F0702030302020204" pitchFamily="66" charset="0"/>
              </a:rPr>
              <a:t>Address translation in Segmentation</a:t>
            </a:r>
          </a:p>
          <a:p>
            <a:pPr>
              <a:lnSpc>
                <a:spcPct val="150000"/>
              </a:lnSpc>
            </a:pPr>
            <a:r>
              <a:rPr lang="en-US" b="1" dirty="0">
                <a:solidFill>
                  <a:schemeClr val="accent3">
                    <a:lumMod val="60000"/>
                    <a:lumOff val="40000"/>
                  </a:schemeClr>
                </a:solidFill>
                <a:effectLst>
                  <a:outerShdw blurRad="38100" dist="38100" dir="2700000" algn="tl">
                    <a:srgbClr val="000000">
                      <a:alpha val="43137"/>
                    </a:srgbClr>
                  </a:outerShdw>
                </a:effectLst>
                <a:latin typeface="Comic Sans MS" panose="030F0702030302020204" pitchFamily="66" charset="0"/>
              </a:rPr>
              <a:t>Page Replacement Algorithms (FIFO, LRU, Optimal)</a:t>
            </a:r>
            <a:endParaRPr lang="en-NZ" b="1" dirty="0">
              <a:solidFill>
                <a:schemeClr val="accent3">
                  <a:lumMod val="60000"/>
                  <a:lumOff val="40000"/>
                </a:schemeClr>
              </a:solidFill>
              <a:effectLst>
                <a:outerShdw blurRad="38100" dist="38100" dir="2700000" algn="tl">
                  <a:srgbClr val="000000">
                    <a:alpha val="43137"/>
                  </a:srgbClr>
                </a:outerShdw>
              </a:effectLst>
              <a:latin typeface="Comic Sans MS" panose="030F0702030302020204" pitchFamily="66" charset="0"/>
            </a:endParaRPr>
          </a:p>
        </p:txBody>
      </p:sp>
      <p:sp>
        <p:nvSpPr>
          <p:cNvPr id="4" name="Right Arrow 3"/>
          <p:cNvSpPr/>
          <p:nvPr/>
        </p:nvSpPr>
        <p:spPr>
          <a:xfrm>
            <a:off x="207264" y="5334000"/>
            <a:ext cx="445008" cy="381000"/>
          </a:xfrm>
          <a:prstGeom prst="rightArrow">
            <a:avLst/>
          </a:prstGeom>
          <a:solidFill>
            <a:schemeClr val="accent3">
              <a:lumMod val="60000"/>
              <a:lumOff val="40000"/>
            </a:schemeClr>
          </a:solidFill>
          <a:ln w="127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51" name="Picture 3" descr="E:\gp image\stick_figure_drawing_three_check_marks_sm_wm.gif"/>
          <p:cNvPicPr>
            <a:picLocks noChangeAspect="1" noChangeArrowheads="1" noCrop="1"/>
          </p:cNvPicPr>
          <p:nvPr/>
        </p:nvPicPr>
        <p:blipFill>
          <a:blip r:embed="rId3"/>
          <a:srcRect/>
          <a:stretch>
            <a:fillRect/>
          </a:stretch>
        </p:blipFill>
        <p:spPr bwMode="auto">
          <a:xfrm>
            <a:off x="6879336" y="1447800"/>
            <a:ext cx="1807464" cy="3276600"/>
          </a:xfrm>
          <a:prstGeom prst="rect">
            <a:avLst/>
          </a:prstGeom>
          <a:noFill/>
        </p:spPr>
      </p:pic>
    </p:spTree>
    <p:extLst>
      <p:ext uri="{BB962C8B-B14F-4D97-AF65-F5344CB8AC3E}">
        <p14:creationId xmlns:p14="http://schemas.microsoft.com/office/powerpoint/2010/main" val="642873313"/>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609601"/>
            <a:ext cx="8915400" cy="2057399"/>
          </a:xfrm>
        </p:spPr>
        <p:style>
          <a:lnRef idx="2">
            <a:schemeClr val="accent1"/>
          </a:lnRef>
          <a:fillRef idx="1">
            <a:schemeClr val="lt1"/>
          </a:fillRef>
          <a:effectRef idx="0">
            <a:schemeClr val="accent1"/>
          </a:effectRef>
          <a:fontRef idx="minor">
            <a:schemeClr val="dk1"/>
          </a:fontRef>
        </p:style>
        <p:txBody>
          <a:bodyPr>
            <a:normAutofit/>
          </a:bodyPr>
          <a:lstStyle/>
          <a:p>
            <a:pPr>
              <a:defRPr/>
            </a:pPr>
            <a:r>
              <a:rPr lang="en-NZ" sz="2000" dirty="0">
                <a:latin typeface="Calibri" pitchFamily="34" charset="0"/>
              </a:rPr>
              <a:t>When all of the frames in main memory are occupied and it is necessary to bring in a new page to satisfy a page fault, </a:t>
            </a:r>
          </a:p>
          <a:p>
            <a:pPr lvl="1">
              <a:defRPr/>
            </a:pPr>
            <a:r>
              <a:rPr lang="en-NZ" sz="2000" dirty="0">
                <a:latin typeface="Calibri" pitchFamily="34" charset="0"/>
              </a:rPr>
              <a:t>the replacement policy determines which page currently in memory is to be replaced.</a:t>
            </a:r>
          </a:p>
          <a:p>
            <a:pPr lvl="1">
              <a:defRPr/>
            </a:pPr>
            <a:r>
              <a:rPr lang="en-NZ" sz="2000" dirty="0">
                <a:latin typeface="Calibri" pitchFamily="34" charset="0"/>
              </a:rPr>
              <a:t>Among the set of pages considered, which particular page should be selected for replacement</a:t>
            </a:r>
          </a:p>
          <a:p>
            <a:pPr lvl="1">
              <a:buNone/>
              <a:defRPr/>
            </a:pPr>
            <a:endParaRPr lang="en-NZ" sz="2000" b="1" dirty="0">
              <a:latin typeface="Calibri" pitchFamily="34" charset="0"/>
            </a:endParaRPr>
          </a:p>
          <a:p>
            <a:endParaRPr lang="en-US" sz="2000" dirty="0">
              <a:latin typeface="Calibri" pitchFamily="34" charset="0"/>
            </a:endParaRPr>
          </a:p>
        </p:txBody>
      </p:sp>
      <p:sp>
        <p:nvSpPr>
          <p:cNvPr id="4" name="Title 1"/>
          <p:cNvSpPr>
            <a:spLocks noGrp="1"/>
          </p:cNvSpPr>
          <p:nvPr>
            <p:ph type="title"/>
          </p:nvPr>
        </p:nvSpPr>
        <p:spPr>
          <a:xfrm>
            <a:off x="457200" y="0"/>
            <a:ext cx="8229600" cy="411162"/>
          </a:xfrm>
          <a:solidFill>
            <a:schemeClr val="accent3">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a:normAutofit fontScale="90000"/>
          </a:bodyPr>
          <a:lstStyle/>
          <a:p>
            <a:pPr algn="ctr"/>
            <a:r>
              <a:rPr lang="en-US" sz="2800" b="1" dirty="0">
                <a:latin typeface="Calibri" pitchFamily="34" charset="0"/>
              </a:rPr>
              <a:t>Replacement Policy</a:t>
            </a:r>
          </a:p>
        </p:txBody>
      </p:sp>
      <p:sp>
        <p:nvSpPr>
          <p:cNvPr id="5" name="Content Placeholder 2"/>
          <p:cNvSpPr txBox="1">
            <a:spLocks/>
          </p:cNvSpPr>
          <p:nvPr/>
        </p:nvSpPr>
        <p:spPr>
          <a:xfrm>
            <a:off x="152400" y="3124200"/>
            <a:ext cx="8839200" cy="2286000"/>
          </a:xfrm>
          <a:prstGeom prst="rect">
            <a:avLst/>
          </a:prstGeom>
        </p:spPr>
        <p:style>
          <a:lnRef idx="2">
            <a:schemeClr val="accent1"/>
          </a:lnRef>
          <a:fillRef idx="1">
            <a:schemeClr val="lt1"/>
          </a:fillRef>
          <a:effectRef idx="0">
            <a:schemeClr val="accent1"/>
          </a:effectRef>
          <a:fontRef idx="minor">
            <a:schemeClr val="dk1"/>
          </a:fontRef>
        </p:style>
        <p:txBody>
          <a:bodyPr vert="horz" lIns="91440" tIns="45720" rIns="91440" bIns="45720" rtlCol="0">
            <a:norm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sz="2000" b="0" i="0" u="none" strike="noStrike" kern="1200" cap="none" spc="0" normalizeH="0" baseline="0" noProof="0">
                <a:ln>
                  <a:noFill/>
                </a:ln>
                <a:solidFill>
                  <a:schemeClr val="dk1"/>
                </a:solidFill>
                <a:effectLst/>
                <a:uLnTx/>
                <a:uFillTx/>
                <a:latin typeface="Calibri" pitchFamily="34" charset="0"/>
                <a:ea typeface="+mn-ea"/>
                <a:cs typeface="+mn-cs"/>
              </a:rPr>
              <a:t>Which page is replaced?</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sz="2000" b="0" i="0" u="none" strike="noStrike" kern="1200" cap="none" spc="0" normalizeH="0" baseline="0" noProof="0">
                <a:ln>
                  <a:noFill/>
                </a:ln>
                <a:solidFill>
                  <a:schemeClr val="dk1"/>
                </a:solidFill>
                <a:effectLst/>
                <a:uLnTx/>
                <a:uFillTx/>
                <a:latin typeface="Calibri" pitchFamily="34" charset="0"/>
                <a:ea typeface="+mn-ea"/>
                <a:cs typeface="+mn-cs"/>
              </a:rPr>
              <a:t>Page removed should be the page least likely to be referenced in the near future </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sz="2000" b="0" i="0" u="none" strike="noStrike" kern="1200" cap="none" spc="0" normalizeH="0" baseline="0" noProof="0">
                <a:ln>
                  <a:noFill/>
                </a:ln>
                <a:solidFill>
                  <a:schemeClr val="dk1"/>
                </a:solidFill>
                <a:effectLst/>
                <a:uLnTx/>
                <a:uFillTx/>
                <a:latin typeface="Calibri" pitchFamily="34" charset="0"/>
                <a:ea typeface="+mn-ea"/>
                <a:cs typeface="+mn-cs"/>
              </a:rPr>
              <a:t>How is that determined?</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sz="2000" b="0" i="0" u="none" strike="noStrike" kern="1200" cap="none" spc="0" normalizeH="0" baseline="0" noProof="0">
                <a:ln>
                  <a:noFill/>
                </a:ln>
                <a:solidFill>
                  <a:schemeClr val="dk1"/>
                </a:solidFill>
                <a:effectLst/>
                <a:uLnTx/>
                <a:uFillTx/>
                <a:latin typeface="Calibri" pitchFamily="34" charset="0"/>
                <a:ea typeface="+mn-ea"/>
                <a:cs typeface="+mn-cs"/>
              </a:rPr>
              <a:t>Principal of locality again</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sz="2000" b="0" i="0" u="none" strike="noStrike" kern="1200" cap="none" spc="0" normalizeH="0" baseline="0" noProof="0">
                <a:ln>
                  <a:noFill/>
                </a:ln>
                <a:solidFill>
                  <a:schemeClr val="dk1"/>
                </a:solidFill>
                <a:effectLst/>
                <a:uLnTx/>
                <a:uFillTx/>
                <a:latin typeface="Calibri" pitchFamily="34" charset="0"/>
                <a:ea typeface="+mn-ea"/>
                <a:cs typeface="+mn-cs"/>
              </a:rPr>
              <a:t>Most policies predict the future behavior on the basis of past behavior</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US" sz="2000" b="0" i="0" u="none" strike="noStrike" kern="1200" cap="none" spc="0" normalizeH="0" baseline="0" noProof="0">
              <a:ln>
                <a:noFill/>
              </a:ln>
              <a:solidFill>
                <a:schemeClr val="dk1"/>
              </a:solidFill>
              <a:effectLst/>
              <a:uLnTx/>
              <a:uFillTx/>
              <a:latin typeface="Calibri" pitchFamily="34" charset="0"/>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US" sz="2000" b="0" i="0" u="none" strike="noStrike" kern="1200" cap="none" spc="0" normalizeH="0" baseline="0" noProof="0">
              <a:ln>
                <a:noFill/>
              </a:ln>
              <a:solidFill>
                <a:schemeClr val="dk1"/>
              </a:solidFill>
              <a:effectLst/>
              <a:uLnTx/>
              <a:uFillTx/>
              <a:latin typeface="Calibri" pitchFamily="34" charset="0"/>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NZ" sz="2000" b="0" i="0" u="none" strike="noStrike" kern="1200" cap="none" spc="0" normalizeH="0" baseline="0" noProof="0" dirty="0">
              <a:ln>
                <a:noFill/>
              </a:ln>
              <a:solidFill>
                <a:schemeClr val="dk1"/>
              </a:solidFill>
              <a:effectLst/>
              <a:uLnTx/>
              <a:uFillTx/>
              <a:latin typeface="Calibri" pitchFamily="34" charset="0"/>
              <a:ea typeface="+mn-ea"/>
              <a:cs typeface="+mn-cs"/>
            </a:endParaRPr>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762000"/>
            <a:ext cx="8839200" cy="5791200"/>
          </a:xfrm>
        </p:spPr>
        <p:style>
          <a:lnRef idx="2">
            <a:schemeClr val="accent1"/>
          </a:lnRef>
          <a:fillRef idx="1">
            <a:schemeClr val="lt1"/>
          </a:fillRef>
          <a:effectRef idx="0">
            <a:schemeClr val="accent1"/>
          </a:effectRef>
          <a:fontRef idx="minor">
            <a:schemeClr val="dk1"/>
          </a:fontRef>
        </p:style>
        <p:txBody>
          <a:bodyPr>
            <a:normAutofit/>
          </a:bodyPr>
          <a:lstStyle/>
          <a:p>
            <a:r>
              <a:rPr lang="en-NZ" sz="2000" dirty="0">
                <a:latin typeface="Calibri" pitchFamily="34" charset="0"/>
              </a:rPr>
              <a:t>One restriction on replacement policy needs to be mentioned before looking at various algorithms: </a:t>
            </a:r>
          </a:p>
          <a:p>
            <a:pPr lvl="1">
              <a:buFontTx/>
              <a:buChar char="•"/>
            </a:pPr>
            <a:r>
              <a:rPr lang="en-NZ" sz="2000" dirty="0">
                <a:latin typeface="Calibri" pitchFamily="34" charset="0"/>
              </a:rPr>
              <a:t> Some of the frames in main memory may be locked.</a:t>
            </a:r>
          </a:p>
          <a:p>
            <a:pPr lvl="1">
              <a:buFontTx/>
              <a:buChar char="•"/>
            </a:pPr>
            <a:r>
              <a:rPr lang="en-NZ" sz="2000" dirty="0">
                <a:latin typeface="Calibri" pitchFamily="34" charset="0"/>
              </a:rPr>
              <a:t> When a frame is locked, the page currently stored in that frame may not be replaced. </a:t>
            </a:r>
          </a:p>
          <a:p>
            <a:pPr lvl="1">
              <a:buFontTx/>
              <a:buChar char="•"/>
            </a:pPr>
            <a:r>
              <a:rPr lang="en-NZ" sz="2000" dirty="0">
                <a:latin typeface="Calibri" pitchFamily="34" charset="0"/>
              </a:rPr>
              <a:t> Much of the kernel of the operating system is held on locked frames, as well as key control structures. </a:t>
            </a:r>
          </a:p>
          <a:p>
            <a:pPr lvl="1">
              <a:buFontTx/>
              <a:buChar char="•"/>
            </a:pPr>
            <a:r>
              <a:rPr lang="en-NZ" sz="2000" dirty="0">
                <a:latin typeface="Calibri" pitchFamily="34" charset="0"/>
              </a:rPr>
              <a:t> In addition, I/O buffers and other time-critical areas may be locked into main memory frames.</a:t>
            </a:r>
          </a:p>
          <a:p>
            <a:pPr lvl="1">
              <a:buFontTx/>
              <a:buChar char="•"/>
            </a:pPr>
            <a:endParaRPr lang="en-NZ" sz="2000" dirty="0">
              <a:latin typeface="Calibri" pitchFamily="34" charset="0"/>
            </a:endParaRPr>
          </a:p>
          <a:p>
            <a:r>
              <a:rPr lang="en-NZ" sz="2000" dirty="0">
                <a:latin typeface="Calibri" pitchFamily="34" charset="0"/>
              </a:rPr>
              <a:t>Locking is achieved by associating a lock bit with each frame. </a:t>
            </a:r>
          </a:p>
          <a:p>
            <a:endParaRPr lang="en-NZ" sz="2000" dirty="0">
              <a:latin typeface="Calibri" pitchFamily="34" charset="0"/>
            </a:endParaRPr>
          </a:p>
          <a:p>
            <a:r>
              <a:rPr lang="en-NZ" sz="2000" dirty="0">
                <a:latin typeface="Calibri" pitchFamily="34" charset="0"/>
              </a:rPr>
              <a:t>This bit may be kept in a frame table as well as being included in the current page table.</a:t>
            </a:r>
            <a:endParaRPr lang="en-US" sz="2000" dirty="0">
              <a:latin typeface="Calibri" pitchFamily="34" charset="0"/>
            </a:endParaRPr>
          </a:p>
          <a:p>
            <a:endParaRPr lang="en-US" sz="2000" dirty="0">
              <a:latin typeface="Calibri" pitchFamily="34" charset="0"/>
            </a:endParaRPr>
          </a:p>
        </p:txBody>
      </p:sp>
      <p:sp>
        <p:nvSpPr>
          <p:cNvPr id="4" name="Title 1"/>
          <p:cNvSpPr>
            <a:spLocks noGrp="1"/>
          </p:cNvSpPr>
          <p:nvPr>
            <p:ph type="title"/>
          </p:nvPr>
        </p:nvSpPr>
        <p:spPr>
          <a:xfrm>
            <a:off x="457200" y="152400"/>
            <a:ext cx="8229600" cy="411162"/>
          </a:xfrm>
          <a:solidFill>
            <a:schemeClr val="accent3">
              <a:lumMod val="60000"/>
              <a:lumOff val="40000"/>
            </a:schemeClr>
          </a:solidFill>
        </p:spPr>
        <p:style>
          <a:lnRef idx="3">
            <a:schemeClr val="lt1"/>
          </a:lnRef>
          <a:fillRef idx="1">
            <a:schemeClr val="accent1"/>
          </a:fillRef>
          <a:effectRef idx="1">
            <a:schemeClr val="accent1"/>
          </a:effectRef>
          <a:fontRef idx="minor">
            <a:schemeClr val="lt1"/>
          </a:fontRef>
        </p:style>
        <p:txBody>
          <a:bodyPr>
            <a:noAutofit/>
          </a:bodyPr>
          <a:lstStyle/>
          <a:p>
            <a:pPr algn="ctr"/>
            <a:r>
              <a:rPr lang="en-US" sz="2400" b="1" dirty="0">
                <a:latin typeface="Calibri" pitchFamily="34" charset="0"/>
              </a:rPr>
              <a:t>Replacement Policy: Frame Locking</a:t>
            </a:r>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Title 1"/>
          <p:cNvSpPr>
            <a:spLocks noGrp="1"/>
          </p:cNvSpPr>
          <p:nvPr>
            <p:ph type="title"/>
          </p:nvPr>
        </p:nvSpPr>
        <p:spPr>
          <a:xfrm>
            <a:off x="457200" y="76200"/>
            <a:ext cx="8229600" cy="381000"/>
          </a:xfrm>
          <a:solidFill>
            <a:schemeClr val="accent3">
              <a:lumMod val="60000"/>
              <a:lumOff val="40000"/>
            </a:schemeClr>
          </a:solidFill>
        </p:spPr>
        <p:style>
          <a:lnRef idx="3">
            <a:schemeClr val="lt1"/>
          </a:lnRef>
          <a:fillRef idx="1">
            <a:schemeClr val="accent1"/>
          </a:fillRef>
          <a:effectRef idx="1">
            <a:schemeClr val="accent1"/>
          </a:effectRef>
          <a:fontRef idx="minor">
            <a:schemeClr val="lt1"/>
          </a:fontRef>
        </p:style>
        <p:txBody>
          <a:bodyPr>
            <a:normAutofit fontScale="90000"/>
          </a:bodyPr>
          <a:lstStyle/>
          <a:p>
            <a:pPr algn="ctr"/>
            <a:r>
              <a:rPr lang="en-NZ" sz="2400" b="1" dirty="0">
                <a:latin typeface="Calibri" pitchFamily="34" charset="0"/>
              </a:rPr>
              <a:t>Basic Replacement Algorithms</a:t>
            </a:r>
          </a:p>
        </p:txBody>
      </p:sp>
      <p:sp>
        <p:nvSpPr>
          <p:cNvPr id="58371" name="Content Placeholder 2"/>
          <p:cNvSpPr>
            <a:spLocks noGrp="1"/>
          </p:cNvSpPr>
          <p:nvPr>
            <p:ph idx="1"/>
          </p:nvPr>
        </p:nvSpPr>
        <p:spPr>
          <a:xfrm>
            <a:off x="0" y="1219200"/>
            <a:ext cx="9067800" cy="2209800"/>
          </a:xfrm>
        </p:spPr>
        <p:style>
          <a:lnRef idx="2">
            <a:schemeClr val="accent1"/>
          </a:lnRef>
          <a:fillRef idx="1">
            <a:schemeClr val="lt1"/>
          </a:fillRef>
          <a:effectRef idx="0">
            <a:schemeClr val="accent1"/>
          </a:effectRef>
          <a:fontRef idx="minor">
            <a:schemeClr val="dk1"/>
          </a:fontRef>
        </p:style>
        <p:txBody>
          <a:bodyPr>
            <a:normAutofit/>
          </a:bodyPr>
          <a:lstStyle/>
          <a:p>
            <a:r>
              <a:rPr lang="en-NZ" sz="2000" dirty="0">
                <a:latin typeface="Calibri" pitchFamily="34" charset="0"/>
              </a:rPr>
              <a:t>There are certain basic algorithms that are used for the selection of a page to replace, they include</a:t>
            </a:r>
          </a:p>
          <a:p>
            <a:pPr lvl="1"/>
            <a:r>
              <a:rPr lang="en-NZ" sz="2000" dirty="0">
                <a:latin typeface="Calibri" pitchFamily="34" charset="0"/>
              </a:rPr>
              <a:t>Optimal</a:t>
            </a:r>
          </a:p>
          <a:p>
            <a:pPr lvl="1"/>
            <a:r>
              <a:rPr lang="en-NZ" sz="2000" dirty="0">
                <a:latin typeface="Calibri" pitchFamily="34" charset="0"/>
              </a:rPr>
              <a:t>Least recently used (LRU)</a:t>
            </a:r>
          </a:p>
          <a:p>
            <a:pPr lvl="1"/>
            <a:r>
              <a:rPr lang="en-NZ" sz="2000" dirty="0">
                <a:latin typeface="Calibri" pitchFamily="34" charset="0"/>
              </a:rPr>
              <a:t>First-in-first-out (FIFO)</a:t>
            </a:r>
          </a:p>
          <a:p>
            <a:pPr lvl="1"/>
            <a:r>
              <a:rPr lang="en-NZ" sz="2000" dirty="0">
                <a:latin typeface="Calibri" pitchFamily="34" charset="0"/>
              </a:rPr>
              <a:t>Clock</a:t>
            </a:r>
          </a:p>
        </p:txBody>
      </p:sp>
      <p:sp>
        <p:nvSpPr>
          <p:cNvPr id="4" name="Title 1"/>
          <p:cNvSpPr txBox="1">
            <a:spLocks/>
          </p:cNvSpPr>
          <p:nvPr/>
        </p:nvSpPr>
        <p:spPr>
          <a:xfrm>
            <a:off x="152400" y="3581400"/>
            <a:ext cx="2819400" cy="381000"/>
          </a:xfrm>
          <a:prstGeom prst="rect">
            <a:avLst/>
          </a:prstGeom>
          <a:solidFill>
            <a:schemeClr val="accent3">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vert="horz" lIns="91440" tIns="45720" rIns="91440" bIns="45720" rtlCol="0" anchor="ctr">
            <a:normAutofit fontScale="82500" lnSpcReduction="20000"/>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NZ" sz="2800" b="1" i="0" u="none" strike="noStrike" kern="1200" cap="none" spc="0" normalizeH="0" baseline="0" noProof="0" dirty="0">
                <a:ln>
                  <a:noFill/>
                </a:ln>
                <a:solidFill>
                  <a:schemeClr val="bg1"/>
                </a:solidFill>
                <a:effectLst/>
                <a:uLnTx/>
                <a:uFillTx/>
                <a:latin typeface="Calibri" pitchFamily="34" charset="0"/>
                <a:ea typeface="+mn-ea"/>
                <a:cs typeface="+mn-cs"/>
              </a:rPr>
              <a:t>Examples</a:t>
            </a:r>
          </a:p>
        </p:txBody>
      </p:sp>
      <p:sp>
        <p:nvSpPr>
          <p:cNvPr id="5" name="Content Placeholder 2"/>
          <p:cNvSpPr txBox="1">
            <a:spLocks/>
          </p:cNvSpPr>
          <p:nvPr/>
        </p:nvSpPr>
        <p:spPr>
          <a:xfrm>
            <a:off x="76200" y="4191000"/>
            <a:ext cx="8686800" cy="2438400"/>
          </a:xfrm>
          <a:prstGeom prst="rect">
            <a:avLst/>
          </a:prstGeom>
        </p:spPr>
        <p:style>
          <a:lnRef idx="2">
            <a:schemeClr val="accent1"/>
          </a:lnRef>
          <a:fillRef idx="1">
            <a:schemeClr val="lt1"/>
          </a:fillRef>
          <a:effectRef idx="0">
            <a:schemeClr val="accent1"/>
          </a:effectRef>
          <a:fontRef idx="minor">
            <a:schemeClr val="dk1"/>
          </a:fontRef>
        </p:style>
        <p:txBody>
          <a:bodyPr vert="horz" lIns="91440" tIns="45720" rIns="91440" bIns="45720" rtlCol="0">
            <a:norm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NZ" sz="2000" b="0" i="0" u="none" strike="noStrike" kern="1200" cap="none" spc="0" normalizeH="0" baseline="0" noProof="0" dirty="0">
                <a:ln>
                  <a:noFill/>
                </a:ln>
                <a:solidFill>
                  <a:schemeClr val="dk1"/>
                </a:solidFill>
                <a:effectLst/>
                <a:uLnTx/>
                <a:uFillTx/>
                <a:latin typeface="Calibri" pitchFamily="34" charset="0"/>
                <a:ea typeface="+mn-ea"/>
                <a:cs typeface="+mn-cs"/>
              </a:rPr>
              <a:t>An example of the implementation of these policies will use a page address stream formed by executing the program is</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NZ" sz="2000" b="0" i="0" u="none" strike="noStrike" kern="1200" cap="none" spc="0" normalizeH="0" baseline="0" noProof="0" dirty="0">
                <a:ln>
                  <a:noFill/>
                </a:ln>
                <a:solidFill>
                  <a:schemeClr val="dk1"/>
                </a:solidFill>
                <a:effectLst/>
                <a:uLnTx/>
                <a:uFillTx/>
                <a:latin typeface="Calibri" pitchFamily="34" charset="0"/>
                <a:ea typeface="+mn-ea"/>
                <a:cs typeface="+mn-cs"/>
              </a:rPr>
              <a:t>2 3 2 1 5 2 4 5 3 2 5 2</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NZ" sz="2000" b="0" i="0" u="none" strike="noStrike" kern="1200" cap="none" spc="0" normalizeH="0" baseline="0" noProof="0" dirty="0">
                <a:ln>
                  <a:noFill/>
                </a:ln>
                <a:solidFill>
                  <a:schemeClr val="dk1"/>
                </a:solidFill>
                <a:effectLst/>
                <a:uLnTx/>
                <a:uFillTx/>
                <a:latin typeface="Calibri" pitchFamily="34" charset="0"/>
                <a:ea typeface="+mn-ea"/>
                <a:cs typeface="+mn-cs"/>
              </a:rPr>
              <a:t>Which means that the first page referenced is 2, </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NZ" sz="2000" b="0" i="0" u="none" strike="noStrike" kern="1200" cap="none" spc="0" normalizeH="0" baseline="0" noProof="0" dirty="0">
                <a:ln>
                  <a:noFill/>
                </a:ln>
                <a:solidFill>
                  <a:schemeClr val="dk1"/>
                </a:solidFill>
                <a:effectLst/>
                <a:uLnTx/>
                <a:uFillTx/>
                <a:latin typeface="Calibri" pitchFamily="34" charset="0"/>
                <a:ea typeface="+mn-ea"/>
                <a:cs typeface="+mn-cs"/>
              </a:rPr>
              <a:t>the second page referenced is 3, </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NZ" sz="2000" b="0" i="0" u="none" strike="noStrike" kern="1200" cap="none" spc="0" normalizeH="0" baseline="0" noProof="0" dirty="0">
                <a:ln>
                  <a:noFill/>
                </a:ln>
                <a:solidFill>
                  <a:schemeClr val="dk1"/>
                </a:solidFill>
                <a:effectLst/>
                <a:uLnTx/>
                <a:uFillTx/>
                <a:latin typeface="Calibri" pitchFamily="34" charset="0"/>
                <a:ea typeface="+mn-ea"/>
                <a:cs typeface="+mn-cs"/>
              </a:rPr>
              <a:t>And so on. </a:t>
            </a:r>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609600"/>
            <a:ext cx="8686800" cy="2590800"/>
          </a:xfrm>
        </p:spPr>
        <p:style>
          <a:lnRef idx="2">
            <a:schemeClr val="accent1"/>
          </a:lnRef>
          <a:fillRef idx="1">
            <a:schemeClr val="lt1"/>
          </a:fillRef>
          <a:effectRef idx="0">
            <a:schemeClr val="accent1"/>
          </a:effectRef>
          <a:fontRef idx="minor">
            <a:schemeClr val="dk1"/>
          </a:fontRef>
        </p:style>
        <p:txBody>
          <a:bodyPr>
            <a:normAutofit lnSpcReduction="10000"/>
          </a:bodyPr>
          <a:lstStyle/>
          <a:p>
            <a:r>
              <a:rPr lang="en-NZ" sz="2000" dirty="0">
                <a:latin typeface="Calibri" pitchFamily="34" charset="0"/>
              </a:rPr>
              <a:t>The optimal policy selects for replacement that page for which the time to the next reference is the longest. </a:t>
            </a:r>
          </a:p>
          <a:p>
            <a:pPr lvl="1">
              <a:buFontTx/>
              <a:buChar char="•"/>
            </a:pPr>
            <a:r>
              <a:rPr lang="en-NZ" sz="2000" dirty="0">
                <a:latin typeface="Calibri" pitchFamily="34" charset="0"/>
              </a:rPr>
              <a:t> This policy results in the fewest number of page faults. </a:t>
            </a:r>
          </a:p>
          <a:p>
            <a:pPr lvl="1">
              <a:buFontTx/>
              <a:buChar char="•"/>
            </a:pPr>
            <a:r>
              <a:rPr lang="en-NZ" sz="2000" dirty="0">
                <a:latin typeface="Calibri" pitchFamily="34" charset="0"/>
              </a:rPr>
              <a:t> </a:t>
            </a:r>
            <a:r>
              <a:rPr lang="en-NZ" sz="2000" b="1" dirty="0">
                <a:latin typeface="Calibri" pitchFamily="34" charset="0"/>
              </a:rPr>
              <a:t>BUT </a:t>
            </a:r>
            <a:r>
              <a:rPr lang="en-NZ" sz="2000" dirty="0">
                <a:latin typeface="Calibri" pitchFamily="34" charset="0"/>
              </a:rPr>
              <a:t>Clearly, this policy is impossible to implement, because it would require the operating system to have perfect knowledge of future events. </a:t>
            </a:r>
          </a:p>
          <a:p>
            <a:pPr lvl="1">
              <a:buFontTx/>
              <a:buChar char="•"/>
            </a:pPr>
            <a:r>
              <a:rPr lang="en-NZ" sz="2000" dirty="0">
                <a:latin typeface="Calibri" pitchFamily="34" charset="0"/>
              </a:rPr>
              <a:t>However, it does serve as a standard against which to judge real world algorithms.</a:t>
            </a:r>
            <a:br>
              <a:rPr lang="en-NZ" sz="2000" dirty="0">
                <a:latin typeface="Calibri" pitchFamily="34" charset="0"/>
              </a:rPr>
            </a:br>
            <a:endParaRPr lang="en-NZ" sz="2000" dirty="0">
              <a:latin typeface="Calibri" pitchFamily="34" charset="0"/>
            </a:endParaRPr>
          </a:p>
          <a:p>
            <a:endParaRPr lang="en-US" sz="2000" dirty="0">
              <a:latin typeface="Calibri" pitchFamily="34" charset="0"/>
            </a:endParaRPr>
          </a:p>
        </p:txBody>
      </p:sp>
      <p:sp>
        <p:nvSpPr>
          <p:cNvPr id="4" name="Title 1"/>
          <p:cNvSpPr>
            <a:spLocks noGrp="1"/>
          </p:cNvSpPr>
          <p:nvPr>
            <p:ph type="title"/>
          </p:nvPr>
        </p:nvSpPr>
        <p:spPr>
          <a:xfrm>
            <a:off x="304800" y="46038"/>
            <a:ext cx="8229600" cy="487362"/>
          </a:xfrm>
          <a:solidFill>
            <a:schemeClr val="accent3">
              <a:lumMod val="60000"/>
              <a:lumOff val="40000"/>
            </a:schemeClr>
          </a:solidFill>
        </p:spPr>
        <p:style>
          <a:lnRef idx="3">
            <a:schemeClr val="lt1"/>
          </a:lnRef>
          <a:fillRef idx="1">
            <a:schemeClr val="accent1"/>
          </a:fillRef>
          <a:effectRef idx="1">
            <a:schemeClr val="accent1"/>
          </a:effectRef>
          <a:fontRef idx="minor">
            <a:schemeClr val="lt1"/>
          </a:fontRef>
        </p:style>
        <p:txBody>
          <a:bodyPr>
            <a:noAutofit/>
          </a:bodyPr>
          <a:lstStyle/>
          <a:p>
            <a:r>
              <a:rPr lang="en-US" sz="2300" b="1" dirty="0">
                <a:latin typeface="Calibri" pitchFamily="34" charset="0"/>
              </a:rPr>
              <a:t>(1) Optimal policy</a:t>
            </a:r>
          </a:p>
        </p:txBody>
      </p:sp>
      <p:pic>
        <p:nvPicPr>
          <p:cNvPr id="2050" name="Picture 2"/>
          <p:cNvPicPr>
            <a:picLocks noChangeAspect="1" noChangeArrowheads="1"/>
          </p:cNvPicPr>
          <p:nvPr/>
        </p:nvPicPr>
        <p:blipFill>
          <a:blip r:embed="rId2"/>
          <a:srcRect/>
          <a:stretch>
            <a:fillRect/>
          </a:stretch>
        </p:blipFill>
        <p:spPr bwMode="auto">
          <a:xfrm>
            <a:off x="152400" y="3276600"/>
            <a:ext cx="8763000" cy="228600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2051" name="Picture 3"/>
          <p:cNvPicPr>
            <a:picLocks noChangeAspect="1" noChangeArrowheads="1"/>
          </p:cNvPicPr>
          <p:nvPr/>
        </p:nvPicPr>
        <p:blipFill>
          <a:blip r:embed="rId3"/>
          <a:srcRect/>
          <a:stretch>
            <a:fillRect/>
          </a:stretch>
        </p:blipFill>
        <p:spPr bwMode="auto">
          <a:xfrm>
            <a:off x="4114800" y="2819400"/>
            <a:ext cx="4543425" cy="257175"/>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2052" name="Picture 4"/>
          <p:cNvPicPr>
            <a:picLocks noChangeAspect="1" noChangeArrowheads="1"/>
          </p:cNvPicPr>
          <p:nvPr/>
        </p:nvPicPr>
        <p:blipFill>
          <a:blip r:embed="rId4"/>
          <a:srcRect/>
          <a:stretch>
            <a:fillRect/>
          </a:stretch>
        </p:blipFill>
        <p:spPr bwMode="auto">
          <a:xfrm>
            <a:off x="685800" y="6400800"/>
            <a:ext cx="6553200" cy="38100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8" name="Content Placeholder 2"/>
          <p:cNvSpPr txBox="1">
            <a:spLocks/>
          </p:cNvSpPr>
          <p:nvPr/>
        </p:nvSpPr>
        <p:spPr>
          <a:xfrm>
            <a:off x="0" y="5943600"/>
            <a:ext cx="9144000" cy="381000"/>
          </a:xfrm>
          <a:prstGeom prst="rect">
            <a:avLst/>
          </a:prstGeom>
        </p:spPr>
        <p:style>
          <a:lnRef idx="2">
            <a:schemeClr val="accent1"/>
          </a:lnRef>
          <a:fillRef idx="1">
            <a:schemeClr val="lt1"/>
          </a:fillRef>
          <a:effectRef idx="0">
            <a:schemeClr val="accent1"/>
          </a:effectRef>
          <a:fontRef idx="minor">
            <a:schemeClr val="dk1"/>
          </a:fontRef>
        </p:style>
        <p:txBody>
          <a:bodyPr vert="horz" lIns="91440" tIns="45720" rIns="91440" bIns="45720" rtlCol="0">
            <a:normAutofit lnSpcReduction="10000"/>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NZ" sz="2000" b="0" i="0" u="none" strike="noStrike" kern="1200" cap="none" spc="0" normalizeH="0" baseline="0" noProof="0" dirty="0">
                <a:ln>
                  <a:noFill/>
                </a:ln>
                <a:solidFill>
                  <a:schemeClr val="dk1"/>
                </a:solidFill>
                <a:effectLst/>
                <a:uLnTx/>
                <a:uFillTx/>
                <a:latin typeface="Calibri" pitchFamily="34" charset="0"/>
                <a:ea typeface="+mn-ea"/>
                <a:cs typeface="+mn-cs"/>
              </a:rPr>
              <a:t> The optimal policy produces three page faults</a:t>
            </a:r>
          </a:p>
        </p:txBody>
      </p:sp>
      <p:sp>
        <p:nvSpPr>
          <p:cNvPr id="9" name="Rectangle 8"/>
          <p:cNvSpPr/>
          <p:nvPr/>
        </p:nvSpPr>
        <p:spPr>
          <a:xfrm>
            <a:off x="1125442" y="5533934"/>
            <a:ext cx="7789958" cy="400110"/>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pPr lvl="1">
              <a:spcBef>
                <a:spcPct val="20000"/>
              </a:spcBef>
              <a:buNone/>
              <a:defRPr/>
            </a:pPr>
            <a:r>
              <a:rPr lang="en-NZ" sz="2000">
                <a:solidFill>
                  <a:schemeClr val="dk1"/>
                </a:solidFill>
                <a:latin typeface="Calibri" pitchFamily="34" charset="0"/>
              </a:rPr>
              <a:t>    2         3       </a:t>
            </a:r>
            <a:r>
              <a:rPr lang="en-NZ" sz="2000" dirty="0">
                <a:solidFill>
                  <a:schemeClr val="dk1"/>
                </a:solidFill>
                <a:latin typeface="Calibri" pitchFamily="34" charset="0"/>
              </a:rPr>
              <a:t>2         </a:t>
            </a:r>
            <a:r>
              <a:rPr lang="en-NZ" sz="2000">
                <a:solidFill>
                  <a:schemeClr val="dk1"/>
                </a:solidFill>
                <a:latin typeface="Calibri" pitchFamily="34" charset="0"/>
              </a:rPr>
              <a:t>1        5        2        </a:t>
            </a:r>
            <a:r>
              <a:rPr lang="en-NZ" sz="2000" dirty="0">
                <a:solidFill>
                  <a:schemeClr val="dk1"/>
                </a:solidFill>
                <a:latin typeface="Calibri" pitchFamily="34" charset="0"/>
              </a:rPr>
              <a:t>4         5        </a:t>
            </a:r>
            <a:r>
              <a:rPr lang="en-NZ" sz="2000">
                <a:solidFill>
                  <a:schemeClr val="dk1"/>
                </a:solidFill>
                <a:latin typeface="Calibri" pitchFamily="34" charset="0"/>
              </a:rPr>
              <a:t>3         2       5           2</a:t>
            </a:r>
            <a:endParaRPr lang="en-NZ" sz="2000" dirty="0">
              <a:solidFill>
                <a:schemeClr val="dk1"/>
              </a:solidFill>
              <a:latin typeface="Calibri" pitchFamily="34" charset="0"/>
            </a:endParaRPr>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6200" y="609600"/>
            <a:ext cx="8839200" cy="5791200"/>
          </a:xfrm>
        </p:spPr>
        <p:style>
          <a:lnRef idx="2">
            <a:schemeClr val="accent1"/>
          </a:lnRef>
          <a:fillRef idx="1">
            <a:schemeClr val="lt1"/>
          </a:fillRef>
          <a:effectRef idx="0">
            <a:schemeClr val="accent1"/>
          </a:effectRef>
          <a:fontRef idx="minor">
            <a:schemeClr val="dk1"/>
          </a:fontRef>
        </p:style>
        <p:txBody>
          <a:bodyPr>
            <a:normAutofit/>
          </a:bodyPr>
          <a:lstStyle/>
          <a:p>
            <a:r>
              <a:rPr lang="en-NZ" sz="2000" dirty="0">
                <a:latin typeface="Calibri" pitchFamily="34" charset="0"/>
              </a:rPr>
              <a:t>The least recently used (LRU) policy replaces the page in memory that has not been referenced for the longest time. </a:t>
            </a:r>
          </a:p>
          <a:p>
            <a:endParaRPr lang="en-NZ" sz="2000" dirty="0">
              <a:latin typeface="Calibri" pitchFamily="34" charset="0"/>
            </a:endParaRPr>
          </a:p>
          <a:p>
            <a:r>
              <a:rPr lang="en-NZ" sz="2000" dirty="0">
                <a:latin typeface="Calibri" pitchFamily="34" charset="0"/>
              </a:rPr>
              <a:t>By the principle of locality, this should be the page least likely to be referenced in the near future.</a:t>
            </a:r>
          </a:p>
          <a:p>
            <a:pPr lvl="1"/>
            <a:r>
              <a:rPr lang="en-NZ" sz="2000" dirty="0">
                <a:latin typeface="Calibri" pitchFamily="34" charset="0"/>
              </a:rPr>
              <a:t>And, in fact, the LRU policy does nearly as well as the optimal policy.</a:t>
            </a:r>
          </a:p>
          <a:p>
            <a:pPr lvl="1"/>
            <a:endParaRPr lang="en-NZ" sz="2000" dirty="0">
              <a:latin typeface="Calibri" pitchFamily="34" charset="0"/>
            </a:endParaRPr>
          </a:p>
          <a:p>
            <a:r>
              <a:rPr lang="en-NZ" sz="2000" dirty="0">
                <a:latin typeface="Calibri" pitchFamily="34" charset="0"/>
              </a:rPr>
              <a:t>The problem with this approach is the difficulty in implementation.</a:t>
            </a:r>
          </a:p>
          <a:p>
            <a:endParaRPr lang="en-NZ" sz="2000" dirty="0">
              <a:latin typeface="Calibri" pitchFamily="34" charset="0"/>
            </a:endParaRPr>
          </a:p>
          <a:p>
            <a:r>
              <a:rPr lang="en-NZ" sz="2000" dirty="0">
                <a:latin typeface="Calibri" pitchFamily="34" charset="0"/>
              </a:rPr>
              <a:t>One approach would be to tag each page with the time of its last reference; </a:t>
            </a:r>
          </a:p>
          <a:p>
            <a:pPr lvl="1">
              <a:buFontTx/>
              <a:buChar char="•"/>
            </a:pPr>
            <a:r>
              <a:rPr lang="en-NZ" sz="2000" dirty="0">
                <a:latin typeface="Calibri" pitchFamily="34" charset="0"/>
              </a:rPr>
              <a:t> this would have to be done at each memory reference, both instruction and data.</a:t>
            </a:r>
          </a:p>
          <a:p>
            <a:pPr lvl="1">
              <a:buFontTx/>
              <a:buChar char="•"/>
            </a:pPr>
            <a:r>
              <a:rPr lang="en-NZ" sz="2000" dirty="0">
                <a:latin typeface="Calibri" pitchFamily="34" charset="0"/>
              </a:rPr>
              <a:t> Even if the hardware would support such a scheme, the overhead would be tremendous.</a:t>
            </a:r>
          </a:p>
          <a:p>
            <a:pPr lvl="1">
              <a:buFontTx/>
              <a:buChar char="•"/>
            </a:pPr>
            <a:r>
              <a:rPr lang="en-NZ" sz="2000" dirty="0">
                <a:latin typeface="Calibri" pitchFamily="34" charset="0"/>
              </a:rPr>
              <a:t> Alternatively, one could maintain a stack of page references, again an expensive prospect.</a:t>
            </a:r>
            <a:endParaRPr lang="en-US" sz="2000" dirty="0">
              <a:latin typeface="Calibri" pitchFamily="34" charset="0"/>
            </a:endParaRPr>
          </a:p>
          <a:p>
            <a:endParaRPr lang="en-US" sz="2000" dirty="0">
              <a:latin typeface="Calibri" pitchFamily="34" charset="0"/>
            </a:endParaRPr>
          </a:p>
        </p:txBody>
      </p:sp>
      <p:sp>
        <p:nvSpPr>
          <p:cNvPr id="4" name="Title 1"/>
          <p:cNvSpPr>
            <a:spLocks noGrp="1"/>
          </p:cNvSpPr>
          <p:nvPr>
            <p:ph type="title"/>
          </p:nvPr>
        </p:nvSpPr>
        <p:spPr>
          <a:xfrm>
            <a:off x="457200" y="46038"/>
            <a:ext cx="8229600" cy="411162"/>
          </a:xfrm>
          <a:solidFill>
            <a:schemeClr val="accent3">
              <a:lumMod val="60000"/>
              <a:lumOff val="40000"/>
            </a:schemeClr>
          </a:solidFill>
        </p:spPr>
        <p:style>
          <a:lnRef idx="3">
            <a:schemeClr val="lt1"/>
          </a:lnRef>
          <a:fillRef idx="1">
            <a:schemeClr val="accent1"/>
          </a:fillRef>
          <a:effectRef idx="1">
            <a:schemeClr val="accent1"/>
          </a:effectRef>
          <a:fontRef idx="minor">
            <a:schemeClr val="lt1"/>
          </a:fontRef>
        </p:style>
        <p:txBody>
          <a:bodyPr>
            <a:noAutofit/>
          </a:bodyPr>
          <a:lstStyle/>
          <a:p>
            <a:r>
              <a:rPr lang="en-US" sz="2300" b="1" dirty="0">
                <a:latin typeface="Calibri" pitchFamily="34" charset="0"/>
              </a:rPr>
              <a:t>(2) Least Recently Used (LRU)</a:t>
            </a:r>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Title 1"/>
          <p:cNvSpPr>
            <a:spLocks noGrp="1"/>
          </p:cNvSpPr>
          <p:nvPr>
            <p:ph type="title"/>
          </p:nvPr>
        </p:nvSpPr>
        <p:spPr>
          <a:xfrm>
            <a:off x="457200" y="76200"/>
            <a:ext cx="8229600" cy="411162"/>
          </a:xfrm>
          <a:solidFill>
            <a:schemeClr val="accent3">
              <a:lumMod val="60000"/>
              <a:lumOff val="40000"/>
            </a:schemeClr>
          </a:solidFill>
        </p:spPr>
        <p:style>
          <a:lnRef idx="3">
            <a:schemeClr val="lt1"/>
          </a:lnRef>
          <a:fillRef idx="1">
            <a:schemeClr val="accent1"/>
          </a:fillRef>
          <a:effectRef idx="1">
            <a:schemeClr val="accent1"/>
          </a:effectRef>
          <a:fontRef idx="minor">
            <a:schemeClr val="lt1"/>
          </a:fontRef>
        </p:style>
        <p:txBody>
          <a:bodyPr>
            <a:noAutofit/>
          </a:bodyPr>
          <a:lstStyle/>
          <a:p>
            <a:r>
              <a:rPr lang="en-NZ" sz="2200" b="1" dirty="0">
                <a:latin typeface="Calibri" pitchFamily="34" charset="0"/>
              </a:rPr>
              <a:t>LRU Example</a:t>
            </a:r>
          </a:p>
        </p:txBody>
      </p:sp>
      <p:sp>
        <p:nvSpPr>
          <p:cNvPr id="63491" name="Content Placeholder 2"/>
          <p:cNvSpPr>
            <a:spLocks noGrp="1"/>
          </p:cNvSpPr>
          <p:nvPr>
            <p:ph idx="1"/>
          </p:nvPr>
        </p:nvSpPr>
        <p:spPr>
          <a:xfrm>
            <a:off x="457200" y="4419600"/>
            <a:ext cx="8229600" cy="1371600"/>
          </a:xfrm>
        </p:spPr>
        <p:style>
          <a:lnRef idx="2">
            <a:schemeClr val="accent1"/>
          </a:lnRef>
          <a:fillRef idx="1">
            <a:schemeClr val="lt1"/>
          </a:fillRef>
          <a:effectRef idx="0">
            <a:schemeClr val="accent1"/>
          </a:effectRef>
          <a:fontRef idx="minor">
            <a:schemeClr val="dk1"/>
          </a:fontRef>
        </p:style>
        <p:txBody>
          <a:bodyPr>
            <a:normAutofit/>
          </a:bodyPr>
          <a:lstStyle/>
          <a:p>
            <a:r>
              <a:rPr lang="en-NZ" sz="2000" dirty="0">
                <a:latin typeface="Calibri" pitchFamily="34" charset="0"/>
              </a:rPr>
              <a:t>The LRU policy does nearly as well as the optimal policy.</a:t>
            </a:r>
          </a:p>
          <a:p>
            <a:pPr lvl="1"/>
            <a:r>
              <a:rPr lang="en-NZ" sz="2000" dirty="0">
                <a:latin typeface="Calibri" pitchFamily="34" charset="0"/>
              </a:rPr>
              <a:t>In this example, there are four page faults</a:t>
            </a:r>
          </a:p>
        </p:txBody>
      </p:sp>
      <p:pic>
        <p:nvPicPr>
          <p:cNvPr id="3074" name="Picture 2"/>
          <p:cNvPicPr>
            <a:picLocks noChangeAspect="1" noChangeArrowheads="1"/>
          </p:cNvPicPr>
          <p:nvPr/>
        </p:nvPicPr>
        <p:blipFill>
          <a:blip r:embed="rId2"/>
          <a:srcRect/>
          <a:stretch>
            <a:fillRect/>
          </a:stretch>
        </p:blipFill>
        <p:spPr bwMode="auto">
          <a:xfrm>
            <a:off x="228600" y="609600"/>
            <a:ext cx="8686800" cy="213360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6" name="Picture 3"/>
          <p:cNvPicPr>
            <a:picLocks noChangeAspect="1" noChangeArrowheads="1"/>
          </p:cNvPicPr>
          <p:nvPr/>
        </p:nvPicPr>
        <p:blipFill>
          <a:blip r:embed="rId3"/>
          <a:srcRect/>
          <a:stretch>
            <a:fillRect/>
          </a:stretch>
        </p:blipFill>
        <p:spPr bwMode="auto">
          <a:xfrm>
            <a:off x="3810000" y="3324225"/>
            <a:ext cx="4543425" cy="257175"/>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7" name="Picture 4"/>
          <p:cNvPicPr>
            <a:picLocks noChangeAspect="1" noChangeArrowheads="1"/>
          </p:cNvPicPr>
          <p:nvPr/>
        </p:nvPicPr>
        <p:blipFill>
          <a:blip r:embed="rId4"/>
          <a:srcRect/>
          <a:stretch>
            <a:fillRect/>
          </a:stretch>
        </p:blipFill>
        <p:spPr bwMode="auto">
          <a:xfrm>
            <a:off x="838200" y="3733800"/>
            <a:ext cx="6553200" cy="38100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8" name="Rectangle 7"/>
          <p:cNvSpPr/>
          <p:nvPr/>
        </p:nvSpPr>
        <p:spPr>
          <a:xfrm>
            <a:off x="1219200" y="2743200"/>
            <a:ext cx="7086600" cy="400110"/>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pPr marL="742950" lvl="1" indent="-285750">
              <a:spcBef>
                <a:spcPct val="20000"/>
              </a:spcBef>
              <a:defRPr/>
            </a:pPr>
            <a:r>
              <a:rPr lang="en-NZ" sz="2000" dirty="0">
                <a:solidFill>
                  <a:schemeClr val="dk1"/>
                </a:solidFill>
                <a:latin typeface="Calibri" pitchFamily="34" charset="0"/>
              </a:rPr>
              <a:t>2     3       2         1       5         2        4         5        3         2       5       2</a:t>
            </a:r>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6200" y="609600"/>
            <a:ext cx="8763000" cy="5181600"/>
          </a:xfrm>
        </p:spPr>
        <p:style>
          <a:lnRef idx="2">
            <a:schemeClr val="accent1"/>
          </a:lnRef>
          <a:fillRef idx="1">
            <a:schemeClr val="lt1"/>
          </a:fillRef>
          <a:effectRef idx="0">
            <a:schemeClr val="accent1"/>
          </a:effectRef>
          <a:fontRef idx="minor">
            <a:schemeClr val="dk1"/>
          </a:fontRef>
        </p:style>
        <p:txBody>
          <a:bodyPr>
            <a:normAutofit/>
          </a:bodyPr>
          <a:lstStyle/>
          <a:p>
            <a:r>
              <a:rPr lang="en-NZ" sz="2000" dirty="0">
                <a:latin typeface="Calibri" pitchFamily="34" charset="0"/>
              </a:rPr>
              <a:t>The first-in-first-out (FIFO) policy treats the page frames allocated to a process as a circular buffer, and pages are removed in round-robin style.</a:t>
            </a:r>
          </a:p>
          <a:p>
            <a:endParaRPr lang="en-NZ" sz="2000" dirty="0">
              <a:latin typeface="Calibri" pitchFamily="34" charset="0"/>
            </a:endParaRPr>
          </a:p>
          <a:p>
            <a:r>
              <a:rPr lang="en-NZ" sz="2000" dirty="0">
                <a:latin typeface="Calibri" pitchFamily="34" charset="0"/>
              </a:rPr>
              <a:t>All that is required is a pointer that circles through the page frames of the process. </a:t>
            </a:r>
          </a:p>
          <a:p>
            <a:pPr lvl="1"/>
            <a:r>
              <a:rPr lang="en-NZ" sz="2000" dirty="0">
                <a:latin typeface="Calibri" pitchFamily="34" charset="0"/>
              </a:rPr>
              <a:t>This is one of the simplest page replacement policies to implement.</a:t>
            </a:r>
          </a:p>
          <a:p>
            <a:pPr lvl="1"/>
            <a:endParaRPr lang="en-NZ" sz="2000" dirty="0">
              <a:latin typeface="Calibri" pitchFamily="34" charset="0"/>
            </a:endParaRPr>
          </a:p>
          <a:p>
            <a:r>
              <a:rPr lang="en-NZ" sz="2000" dirty="0">
                <a:latin typeface="Calibri" pitchFamily="34" charset="0"/>
              </a:rPr>
              <a:t>The logic behind this choice is that one is replacing the page that has been in memory the longest:</a:t>
            </a:r>
          </a:p>
          <a:p>
            <a:pPr lvl="1">
              <a:buFontTx/>
              <a:buChar char="•"/>
            </a:pPr>
            <a:r>
              <a:rPr lang="en-NZ" sz="2000" dirty="0">
                <a:latin typeface="Calibri" pitchFamily="34" charset="0"/>
              </a:rPr>
              <a:t>A page fetched into memory a long time ago may have now fallen out of use.</a:t>
            </a:r>
          </a:p>
          <a:p>
            <a:pPr lvl="1">
              <a:buFontTx/>
              <a:buChar char="•"/>
            </a:pPr>
            <a:r>
              <a:rPr lang="en-NZ" sz="2000" dirty="0">
                <a:latin typeface="Calibri" pitchFamily="34" charset="0"/>
              </a:rPr>
              <a:t> This reasoning will often be wrong, because there will often be regions of program or data that are heavily used throughout the life of a program.</a:t>
            </a:r>
          </a:p>
          <a:p>
            <a:pPr lvl="1">
              <a:buFontTx/>
              <a:buChar char="•"/>
            </a:pPr>
            <a:r>
              <a:rPr lang="en-NZ" sz="2000" dirty="0">
                <a:latin typeface="Calibri" pitchFamily="34" charset="0"/>
              </a:rPr>
              <a:t> Those pages will be repeatedly paged in and out by the FIFO algorithm.</a:t>
            </a:r>
          </a:p>
          <a:p>
            <a:endParaRPr lang="en-US" sz="2000" dirty="0">
              <a:latin typeface="Calibri" pitchFamily="34" charset="0"/>
            </a:endParaRPr>
          </a:p>
        </p:txBody>
      </p:sp>
      <p:sp>
        <p:nvSpPr>
          <p:cNvPr id="4" name="Title 1"/>
          <p:cNvSpPr>
            <a:spLocks noGrp="1"/>
          </p:cNvSpPr>
          <p:nvPr>
            <p:ph type="title"/>
          </p:nvPr>
        </p:nvSpPr>
        <p:spPr>
          <a:xfrm>
            <a:off x="457200" y="76200"/>
            <a:ext cx="8229600" cy="381000"/>
          </a:xfrm>
          <a:solidFill>
            <a:schemeClr val="accent3">
              <a:lumMod val="60000"/>
              <a:lumOff val="40000"/>
            </a:schemeClr>
          </a:solidFill>
        </p:spPr>
        <p:style>
          <a:lnRef idx="3">
            <a:schemeClr val="lt1"/>
          </a:lnRef>
          <a:fillRef idx="1">
            <a:schemeClr val="accent1"/>
          </a:fillRef>
          <a:effectRef idx="1">
            <a:schemeClr val="accent1"/>
          </a:effectRef>
          <a:fontRef idx="minor">
            <a:schemeClr val="lt1"/>
          </a:fontRef>
        </p:style>
        <p:txBody>
          <a:bodyPr>
            <a:normAutofit fontScale="90000"/>
          </a:bodyPr>
          <a:lstStyle/>
          <a:p>
            <a:r>
              <a:rPr lang="en-US" sz="2400" b="1" dirty="0">
                <a:latin typeface="Calibri" pitchFamily="34" charset="0"/>
              </a:rPr>
              <a:t>(3) First-in, first-out (FIFO)</a:t>
            </a:r>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a:xfrm>
            <a:off x="457200" y="0"/>
            <a:ext cx="8229600" cy="457200"/>
          </a:xfrm>
          <a:solidFill>
            <a:schemeClr val="accent3">
              <a:lumMod val="60000"/>
              <a:lumOff val="40000"/>
            </a:schemeClr>
          </a:solidFill>
        </p:spPr>
        <p:style>
          <a:lnRef idx="3">
            <a:schemeClr val="lt1"/>
          </a:lnRef>
          <a:fillRef idx="1">
            <a:schemeClr val="accent1"/>
          </a:fillRef>
          <a:effectRef idx="1">
            <a:schemeClr val="accent1"/>
          </a:effectRef>
          <a:fontRef idx="minor">
            <a:schemeClr val="lt1"/>
          </a:fontRef>
        </p:style>
        <p:txBody>
          <a:bodyPr>
            <a:normAutofit/>
          </a:bodyPr>
          <a:lstStyle/>
          <a:p>
            <a:r>
              <a:rPr lang="en-NZ" sz="2400" b="1" dirty="0">
                <a:latin typeface="Calibri" pitchFamily="34" charset="0"/>
              </a:rPr>
              <a:t>FIFO Example</a:t>
            </a:r>
          </a:p>
        </p:txBody>
      </p:sp>
      <p:sp>
        <p:nvSpPr>
          <p:cNvPr id="6" name="Rectangle 5"/>
          <p:cNvSpPr/>
          <p:nvPr/>
        </p:nvSpPr>
        <p:spPr>
          <a:xfrm>
            <a:off x="76200" y="3718679"/>
            <a:ext cx="9067800" cy="3139321"/>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pPr>
              <a:buFont typeface="Arial" pitchFamily="34" charset="0"/>
              <a:buChar char="•"/>
            </a:pPr>
            <a:r>
              <a:rPr lang="en-NZ" dirty="0">
                <a:latin typeface="Calibri" pitchFamily="34" charset="0"/>
              </a:rPr>
              <a:t>Continuing our example in Figure 8.15, the FIFO policy results in six page faults.</a:t>
            </a:r>
          </a:p>
          <a:p>
            <a:pPr>
              <a:buFont typeface="Arial" pitchFamily="34" charset="0"/>
              <a:buChar char="•"/>
            </a:pPr>
            <a:r>
              <a:rPr lang="en-NZ" dirty="0">
                <a:latin typeface="Calibri" pitchFamily="34" charset="0"/>
              </a:rPr>
              <a:t>Note that LRU recognizes that pages 2 and 5 are referenced more frequently than other pages, whereas FIFO does not.</a:t>
            </a:r>
          </a:p>
          <a:p>
            <a:pPr>
              <a:buFont typeface="Arial" pitchFamily="34" charset="0"/>
              <a:buChar char="•"/>
            </a:pPr>
            <a:endParaRPr lang="en-NZ" dirty="0">
              <a:latin typeface="Calibri" pitchFamily="34" charset="0"/>
            </a:endParaRPr>
          </a:p>
          <a:p>
            <a:pPr>
              <a:buFont typeface="Arial" pitchFamily="34" charset="0"/>
              <a:buChar char="•"/>
            </a:pPr>
            <a:r>
              <a:rPr lang="en-NZ" dirty="0">
                <a:latin typeface="Calibri" pitchFamily="34" charset="0"/>
              </a:rPr>
              <a:t>Although the LRU policy does nearly as well as an optimal policy, it is difficult to implement and imposes significant overhead.</a:t>
            </a:r>
          </a:p>
          <a:p>
            <a:pPr lvl="1">
              <a:buFontTx/>
              <a:buChar char="•"/>
            </a:pPr>
            <a:r>
              <a:rPr lang="en-NZ" dirty="0">
                <a:latin typeface="Calibri" pitchFamily="34" charset="0"/>
              </a:rPr>
              <a:t> On the other hand, the FIFO policy is very simple to implement but performs relatively poorly. </a:t>
            </a:r>
          </a:p>
          <a:p>
            <a:pPr>
              <a:buFont typeface="Arial" pitchFamily="34" charset="0"/>
              <a:buChar char="•"/>
            </a:pPr>
            <a:endParaRPr lang="en-NZ" dirty="0">
              <a:latin typeface="Calibri" pitchFamily="34" charset="0"/>
            </a:endParaRPr>
          </a:p>
          <a:p>
            <a:pPr>
              <a:buFont typeface="Arial" pitchFamily="34" charset="0"/>
              <a:buChar char="•"/>
            </a:pPr>
            <a:r>
              <a:rPr lang="en-NZ" dirty="0">
                <a:latin typeface="Calibri" pitchFamily="34" charset="0"/>
              </a:rPr>
              <a:t>Over the years, operating system designers have tried a number of other algorithms to approximate the performance of LRU while imposing little overhead.</a:t>
            </a:r>
            <a:endParaRPr lang="en-US" dirty="0">
              <a:latin typeface="Calibri" pitchFamily="34" charset="0"/>
            </a:endParaRPr>
          </a:p>
        </p:txBody>
      </p:sp>
      <p:pic>
        <p:nvPicPr>
          <p:cNvPr id="4098" name="Picture 2"/>
          <p:cNvPicPr>
            <a:picLocks noChangeAspect="1" noChangeArrowheads="1"/>
          </p:cNvPicPr>
          <p:nvPr/>
        </p:nvPicPr>
        <p:blipFill>
          <a:blip r:embed="rId2"/>
          <a:srcRect/>
          <a:stretch>
            <a:fillRect/>
          </a:stretch>
        </p:blipFill>
        <p:spPr bwMode="auto">
          <a:xfrm>
            <a:off x="76200" y="609600"/>
            <a:ext cx="8839200" cy="175260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7" name="Picture 3"/>
          <p:cNvPicPr>
            <a:picLocks noChangeAspect="1" noChangeArrowheads="1"/>
          </p:cNvPicPr>
          <p:nvPr/>
        </p:nvPicPr>
        <p:blipFill>
          <a:blip r:embed="rId3"/>
          <a:srcRect/>
          <a:stretch>
            <a:fillRect/>
          </a:stretch>
        </p:blipFill>
        <p:spPr bwMode="auto">
          <a:xfrm>
            <a:off x="4038600" y="2867025"/>
            <a:ext cx="4543425" cy="257175"/>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8" name="Picture 4"/>
          <p:cNvPicPr>
            <a:picLocks noChangeAspect="1" noChangeArrowheads="1"/>
          </p:cNvPicPr>
          <p:nvPr/>
        </p:nvPicPr>
        <p:blipFill>
          <a:blip r:embed="rId4"/>
          <a:srcRect/>
          <a:stretch>
            <a:fillRect/>
          </a:stretch>
        </p:blipFill>
        <p:spPr bwMode="auto">
          <a:xfrm>
            <a:off x="1066800" y="3200400"/>
            <a:ext cx="6553200" cy="38100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9" name="Rectangle 8"/>
          <p:cNvSpPr/>
          <p:nvPr/>
        </p:nvSpPr>
        <p:spPr>
          <a:xfrm>
            <a:off x="1219200" y="2438400"/>
            <a:ext cx="7086600" cy="400110"/>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pPr marL="742950" lvl="1" indent="-285750">
              <a:spcBef>
                <a:spcPct val="20000"/>
              </a:spcBef>
              <a:defRPr/>
            </a:pPr>
            <a:r>
              <a:rPr lang="en-NZ" sz="2000" dirty="0">
                <a:solidFill>
                  <a:schemeClr val="dk1"/>
                </a:solidFill>
                <a:latin typeface="Calibri" pitchFamily="34" charset="0"/>
              </a:rPr>
              <a:t>2     3       2         1       5         2        4         5        3         2       5       2</a:t>
            </a:r>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6200" y="609600"/>
            <a:ext cx="8915400" cy="6172200"/>
          </a:xfrm>
        </p:spPr>
        <p:style>
          <a:lnRef idx="2">
            <a:schemeClr val="accent1"/>
          </a:lnRef>
          <a:fillRef idx="1">
            <a:schemeClr val="lt1"/>
          </a:fillRef>
          <a:effectRef idx="0">
            <a:schemeClr val="accent1"/>
          </a:effectRef>
          <a:fontRef idx="minor">
            <a:schemeClr val="dk1"/>
          </a:fontRef>
        </p:style>
        <p:txBody>
          <a:bodyPr>
            <a:noAutofit/>
          </a:bodyPr>
          <a:lstStyle/>
          <a:p>
            <a:pPr>
              <a:defRPr/>
            </a:pPr>
            <a:r>
              <a:rPr lang="en-NZ" sz="1800" dirty="0">
                <a:latin typeface="Calibri" pitchFamily="34" charset="0"/>
              </a:rPr>
              <a:t>The simplest form of clock policy requires the association of an additional bit with each frame, referred to as the use bit.</a:t>
            </a:r>
          </a:p>
          <a:p>
            <a:pPr>
              <a:defRPr/>
            </a:pPr>
            <a:r>
              <a:rPr lang="en-NZ" sz="1800" dirty="0">
                <a:latin typeface="Calibri" pitchFamily="34" charset="0"/>
              </a:rPr>
              <a:t>When a page is first loaded into a frame in memory, the  </a:t>
            </a:r>
            <a:r>
              <a:rPr lang="en-NZ" sz="1800" b="1" dirty="0">
                <a:latin typeface="Calibri" pitchFamily="34" charset="0"/>
              </a:rPr>
              <a:t>use bit = 1.</a:t>
            </a:r>
          </a:p>
          <a:p>
            <a:pPr lvl="1">
              <a:buFont typeface="Arial" pitchFamily="34" charset="0"/>
              <a:buChar char="•"/>
              <a:defRPr/>
            </a:pPr>
            <a:r>
              <a:rPr lang="en-NZ" sz="1800" dirty="0">
                <a:latin typeface="Calibri" pitchFamily="34" charset="0"/>
              </a:rPr>
              <a:t> Whenever the page is subsequently referenced, its use bit is set to 1.</a:t>
            </a:r>
          </a:p>
          <a:p>
            <a:pPr>
              <a:buNone/>
              <a:defRPr/>
            </a:pPr>
            <a:r>
              <a:rPr lang="en-NZ" sz="1800" dirty="0">
                <a:latin typeface="Calibri" pitchFamily="34" charset="0"/>
              </a:rPr>
              <a:t>The set of frames that are candidates for replacement is considered to be a circular buffer, with which a pointer is associated.</a:t>
            </a:r>
          </a:p>
          <a:p>
            <a:pPr lvl="1">
              <a:buFont typeface="Arial" pitchFamily="34" charset="0"/>
              <a:buChar char="•"/>
              <a:defRPr/>
            </a:pPr>
            <a:r>
              <a:rPr lang="en-NZ" sz="1800" dirty="0">
                <a:latin typeface="Calibri" pitchFamily="34" charset="0"/>
              </a:rPr>
              <a:t> When a page is replaced, the pointer is set to indicate the next frame in the buffer after the one just updated.</a:t>
            </a:r>
          </a:p>
          <a:p>
            <a:pPr lvl="1">
              <a:buFont typeface="Arial" pitchFamily="34" charset="0"/>
              <a:buChar char="•"/>
              <a:defRPr/>
            </a:pPr>
            <a:r>
              <a:rPr lang="en-NZ" sz="1800" dirty="0">
                <a:latin typeface="Calibri" pitchFamily="34" charset="0"/>
              </a:rPr>
              <a:t> When it comes time to replace a page, the operating system scans the buffer to find a frame with a     </a:t>
            </a:r>
            <a:r>
              <a:rPr lang="en-NZ" sz="1800" b="1" dirty="0">
                <a:latin typeface="Calibri" pitchFamily="34" charset="0"/>
              </a:rPr>
              <a:t>use bit = 0.</a:t>
            </a:r>
          </a:p>
          <a:p>
            <a:pPr lvl="1">
              <a:buFont typeface="Arial" pitchFamily="34" charset="0"/>
              <a:buChar char="•"/>
              <a:defRPr/>
            </a:pPr>
            <a:r>
              <a:rPr lang="en-NZ" sz="1800" dirty="0">
                <a:latin typeface="Calibri" pitchFamily="34" charset="0"/>
              </a:rPr>
              <a:t> Each time it encounters a frame with a </a:t>
            </a:r>
            <a:r>
              <a:rPr lang="en-NZ" sz="1800" b="1" dirty="0">
                <a:latin typeface="Calibri" pitchFamily="34" charset="0"/>
              </a:rPr>
              <a:t>use bit = 1</a:t>
            </a:r>
            <a:r>
              <a:rPr lang="en-NZ" sz="1800" dirty="0">
                <a:latin typeface="Calibri" pitchFamily="34" charset="0"/>
              </a:rPr>
              <a:t>, it resets that bit to zero and continues on. </a:t>
            </a:r>
          </a:p>
          <a:p>
            <a:pPr lvl="1">
              <a:buFont typeface="Arial" pitchFamily="34" charset="0"/>
              <a:buChar char="•"/>
              <a:defRPr/>
            </a:pPr>
            <a:r>
              <a:rPr lang="en-NZ" sz="1800" dirty="0">
                <a:latin typeface="Calibri" pitchFamily="34" charset="0"/>
              </a:rPr>
              <a:t> If any of the frames in the buffer have a use bit of zero at the beginning of this process, the first such frame encountered is chosen for replacement.</a:t>
            </a:r>
          </a:p>
          <a:p>
            <a:pPr lvl="1">
              <a:buFont typeface="Arial" pitchFamily="34" charset="0"/>
              <a:buChar char="•"/>
              <a:defRPr/>
            </a:pPr>
            <a:r>
              <a:rPr lang="en-NZ" sz="1800" dirty="0">
                <a:latin typeface="Calibri" pitchFamily="34" charset="0"/>
              </a:rPr>
              <a:t>If all of the frames have a use bit of 1, then the pointer will make one complete cycle through the buffer, setting all the use bits to zero, and stop at its original position, replacing the page in that frame.</a:t>
            </a:r>
          </a:p>
          <a:p>
            <a:pPr>
              <a:buNone/>
              <a:defRPr/>
            </a:pPr>
            <a:r>
              <a:rPr lang="en-NZ" sz="1800" dirty="0">
                <a:latin typeface="Calibri" pitchFamily="34" charset="0"/>
              </a:rPr>
              <a:t>This policy is similar to FIFO, except that, in the clock policy, any frame with a use bit of 1 is passed over by the algorithm.</a:t>
            </a:r>
          </a:p>
          <a:p>
            <a:endParaRPr lang="en-US" sz="1800" dirty="0">
              <a:latin typeface="Calibri" pitchFamily="34" charset="0"/>
            </a:endParaRPr>
          </a:p>
        </p:txBody>
      </p:sp>
      <p:sp>
        <p:nvSpPr>
          <p:cNvPr id="4" name="Title 1"/>
          <p:cNvSpPr>
            <a:spLocks noGrp="1"/>
          </p:cNvSpPr>
          <p:nvPr>
            <p:ph type="title"/>
          </p:nvPr>
        </p:nvSpPr>
        <p:spPr>
          <a:xfrm>
            <a:off x="457200" y="46038"/>
            <a:ext cx="8229600" cy="411162"/>
          </a:xfrm>
          <a:solidFill>
            <a:schemeClr val="accent3">
              <a:lumMod val="60000"/>
              <a:lumOff val="40000"/>
            </a:schemeClr>
          </a:solidFill>
        </p:spPr>
        <p:style>
          <a:lnRef idx="3">
            <a:schemeClr val="lt1"/>
          </a:lnRef>
          <a:fillRef idx="1">
            <a:schemeClr val="accent1"/>
          </a:fillRef>
          <a:effectRef idx="1">
            <a:schemeClr val="accent1"/>
          </a:effectRef>
          <a:fontRef idx="minor">
            <a:schemeClr val="lt1"/>
          </a:fontRef>
        </p:style>
        <p:txBody>
          <a:bodyPr>
            <a:noAutofit/>
          </a:bodyPr>
          <a:lstStyle/>
          <a:p>
            <a:r>
              <a:rPr lang="en-US" sz="2400" b="1" dirty="0">
                <a:latin typeface="Calibri" pitchFamily="34" charset="0"/>
              </a:rPr>
              <a:t>(4) Clock Policy</a:t>
            </a:r>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Title 1"/>
          <p:cNvSpPr>
            <a:spLocks noGrp="1"/>
          </p:cNvSpPr>
          <p:nvPr>
            <p:ph type="title"/>
          </p:nvPr>
        </p:nvSpPr>
        <p:spPr>
          <a:xfrm>
            <a:off x="457200" y="46038"/>
            <a:ext cx="8229600" cy="411162"/>
          </a:xfrm>
          <a:solidFill>
            <a:schemeClr val="accent3">
              <a:lumMod val="60000"/>
              <a:lumOff val="40000"/>
            </a:schemeClr>
          </a:solidFill>
        </p:spPr>
        <p:style>
          <a:lnRef idx="3">
            <a:schemeClr val="lt1"/>
          </a:lnRef>
          <a:fillRef idx="1">
            <a:schemeClr val="accent1"/>
          </a:fillRef>
          <a:effectRef idx="1">
            <a:schemeClr val="accent1"/>
          </a:effectRef>
          <a:fontRef idx="minor">
            <a:schemeClr val="lt1"/>
          </a:fontRef>
        </p:style>
        <p:txBody>
          <a:bodyPr>
            <a:noAutofit/>
          </a:bodyPr>
          <a:lstStyle/>
          <a:p>
            <a:r>
              <a:rPr lang="en-NZ" sz="2400" b="1" dirty="0">
                <a:latin typeface="Calibri" pitchFamily="34" charset="0"/>
              </a:rPr>
              <a:t>Clock Policy Example</a:t>
            </a:r>
          </a:p>
        </p:txBody>
      </p:sp>
      <p:sp>
        <p:nvSpPr>
          <p:cNvPr id="67587" name="Content Placeholder 2"/>
          <p:cNvSpPr>
            <a:spLocks noGrp="1"/>
          </p:cNvSpPr>
          <p:nvPr>
            <p:ph idx="1"/>
          </p:nvPr>
        </p:nvSpPr>
        <p:spPr>
          <a:xfrm>
            <a:off x="76200" y="4267200"/>
            <a:ext cx="8991600" cy="1905000"/>
          </a:xfrm>
        </p:spPr>
        <p:style>
          <a:lnRef idx="2">
            <a:schemeClr val="accent1"/>
          </a:lnRef>
          <a:fillRef idx="1">
            <a:schemeClr val="lt1"/>
          </a:fillRef>
          <a:effectRef idx="0">
            <a:schemeClr val="accent1"/>
          </a:effectRef>
          <a:fontRef idx="minor">
            <a:schemeClr val="dk1"/>
          </a:fontRef>
        </p:style>
        <p:txBody>
          <a:bodyPr>
            <a:normAutofit lnSpcReduction="10000"/>
          </a:bodyPr>
          <a:lstStyle/>
          <a:p>
            <a:r>
              <a:rPr lang="en-NZ" sz="2200" dirty="0">
                <a:latin typeface="Calibri" pitchFamily="34" charset="0"/>
              </a:rPr>
              <a:t>The presence of an asterisk indicates that the corresponding use bit is equal to 1,</a:t>
            </a:r>
          </a:p>
          <a:p>
            <a:pPr lvl="1"/>
            <a:r>
              <a:rPr lang="en-NZ" sz="2200" dirty="0">
                <a:latin typeface="Calibri" pitchFamily="34" charset="0"/>
              </a:rPr>
              <a:t>and the arrow indicates the current position of the pointer. </a:t>
            </a:r>
          </a:p>
          <a:p>
            <a:endParaRPr lang="en-NZ" sz="2000" dirty="0">
              <a:latin typeface="Calibri" pitchFamily="34" charset="0"/>
            </a:endParaRPr>
          </a:p>
          <a:p>
            <a:r>
              <a:rPr lang="en-NZ" sz="2000" dirty="0">
                <a:latin typeface="Calibri" pitchFamily="34" charset="0"/>
              </a:rPr>
              <a:t>Note that the clock policy is adept at protecting frames 2 and 5 from replacement.</a:t>
            </a:r>
          </a:p>
        </p:txBody>
      </p:sp>
      <p:pic>
        <p:nvPicPr>
          <p:cNvPr id="5122" name="Picture 2"/>
          <p:cNvPicPr>
            <a:picLocks noChangeAspect="1" noChangeArrowheads="1"/>
          </p:cNvPicPr>
          <p:nvPr/>
        </p:nvPicPr>
        <p:blipFill>
          <a:blip r:embed="rId3"/>
          <a:srcRect/>
          <a:stretch>
            <a:fillRect/>
          </a:stretch>
        </p:blipFill>
        <p:spPr bwMode="auto">
          <a:xfrm>
            <a:off x="114300" y="1609755"/>
            <a:ext cx="8915400" cy="228600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5" name="Rectangle 4"/>
          <p:cNvSpPr/>
          <p:nvPr/>
        </p:nvSpPr>
        <p:spPr>
          <a:xfrm>
            <a:off x="1295400" y="1209645"/>
            <a:ext cx="7848600" cy="400110"/>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pPr lvl="1">
              <a:spcBef>
                <a:spcPct val="20000"/>
              </a:spcBef>
              <a:buNone/>
              <a:defRPr/>
            </a:pPr>
            <a:r>
              <a:rPr lang="en-NZ" sz="2000" dirty="0">
                <a:solidFill>
                  <a:schemeClr val="dk1"/>
                </a:solidFill>
                <a:latin typeface="Calibri" pitchFamily="34" charset="0"/>
              </a:rPr>
              <a:t>2          3       2         1       5         2         4         5        3         2       5        2</a:t>
            </a:r>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8610" name="Content Placeholder 3" descr="Fig08_16a.gif"/>
          <p:cNvPicPr>
            <a:picLocks noGrp="1" noChangeAspect="1"/>
          </p:cNvPicPr>
          <p:nvPr>
            <p:ph idx="1"/>
          </p:nvPr>
        </p:nvPicPr>
        <p:blipFill>
          <a:blip r:embed="rId3"/>
          <a:srcRect/>
          <a:stretch>
            <a:fillRect/>
          </a:stretch>
        </p:blipFill>
        <p:spPr>
          <a:xfrm>
            <a:off x="76200" y="609600"/>
            <a:ext cx="8458200" cy="579120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5" name="Title 1"/>
          <p:cNvSpPr>
            <a:spLocks noGrp="1"/>
          </p:cNvSpPr>
          <p:nvPr>
            <p:ph type="title"/>
          </p:nvPr>
        </p:nvSpPr>
        <p:spPr>
          <a:xfrm>
            <a:off x="457200" y="76200"/>
            <a:ext cx="8229600" cy="411162"/>
          </a:xfrm>
          <a:solidFill>
            <a:schemeClr val="accent3">
              <a:lumMod val="60000"/>
              <a:lumOff val="40000"/>
            </a:schemeClr>
          </a:solidFill>
        </p:spPr>
        <p:style>
          <a:lnRef idx="3">
            <a:schemeClr val="lt1"/>
          </a:lnRef>
          <a:fillRef idx="1">
            <a:schemeClr val="accent1"/>
          </a:fillRef>
          <a:effectRef idx="1">
            <a:schemeClr val="accent1"/>
          </a:effectRef>
          <a:fontRef idx="minor">
            <a:schemeClr val="lt1"/>
          </a:fontRef>
        </p:style>
        <p:txBody>
          <a:bodyPr>
            <a:noAutofit/>
          </a:bodyPr>
          <a:lstStyle/>
          <a:p>
            <a:r>
              <a:rPr lang="en-US" sz="2400" b="1" dirty="0">
                <a:latin typeface="Calibri" pitchFamily="34" charset="0"/>
              </a:rPr>
              <a:t>Clock Policy</a:t>
            </a:r>
          </a:p>
        </p:txBody>
      </p:sp>
      <p:pic>
        <p:nvPicPr>
          <p:cNvPr id="6146" name="Picture 2"/>
          <p:cNvPicPr>
            <a:picLocks noChangeAspect="1" noChangeArrowheads="1"/>
          </p:cNvPicPr>
          <p:nvPr/>
        </p:nvPicPr>
        <p:blipFill>
          <a:blip r:embed="rId4"/>
          <a:srcRect/>
          <a:stretch>
            <a:fillRect/>
          </a:stretch>
        </p:blipFill>
        <p:spPr bwMode="auto">
          <a:xfrm>
            <a:off x="990600" y="6553200"/>
            <a:ext cx="5105400" cy="30480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Fig08_16b.gif"/>
          <p:cNvPicPr>
            <a:picLocks noChangeAspect="1"/>
          </p:cNvPicPr>
          <p:nvPr/>
        </p:nvPicPr>
        <p:blipFill>
          <a:blip r:embed="rId2"/>
          <a:srcRect/>
          <a:stretch>
            <a:fillRect/>
          </a:stretch>
        </p:blipFill>
        <p:spPr bwMode="auto">
          <a:xfrm>
            <a:off x="228600" y="685800"/>
            <a:ext cx="8686800" cy="594360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5" name="Title 1"/>
          <p:cNvSpPr>
            <a:spLocks noGrp="1"/>
          </p:cNvSpPr>
          <p:nvPr>
            <p:ph type="title"/>
          </p:nvPr>
        </p:nvSpPr>
        <p:spPr>
          <a:xfrm>
            <a:off x="457200" y="76200"/>
            <a:ext cx="8229600" cy="411162"/>
          </a:xfrm>
          <a:solidFill>
            <a:schemeClr val="accent3">
              <a:lumMod val="60000"/>
              <a:lumOff val="40000"/>
            </a:schemeClr>
          </a:solidFill>
        </p:spPr>
        <p:style>
          <a:lnRef idx="3">
            <a:schemeClr val="lt1"/>
          </a:lnRef>
          <a:fillRef idx="1">
            <a:schemeClr val="accent1"/>
          </a:fillRef>
          <a:effectRef idx="1">
            <a:schemeClr val="accent1"/>
          </a:effectRef>
          <a:fontRef idx="minor">
            <a:schemeClr val="lt1"/>
          </a:fontRef>
        </p:style>
        <p:txBody>
          <a:bodyPr>
            <a:noAutofit/>
          </a:bodyPr>
          <a:lstStyle/>
          <a:p>
            <a:r>
              <a:rPr lang="en-US" sz="2400" b="1" dirty="0">
                <a:latin typeface="Calibri" pitchFamily="34" charset="0"/>
              </a:rPr>
              <a:t>Clock Policy</a:t>
            </a:r>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6200" y="609600"/>
            <a:ext cx="8839200" cy="5410200"/>
          </a:xfrm>
        </p:spPr>
        <p:style>
          <a:lnRef idx="2">
            <a:schemeClr val="accent1"/>
          </a:lnRef>
          <a:fillRef idx="1">
            <a:schemeClr val="lt1"/>
          </a:fillRef>
          <a:effectRef idx="0">
            <a:schemeClr val="accent1"/>
          </a:effectRef>
          <a:fontRef idx="minor">
            <a:schemeClr val="dk1"/>
          </a:fontRef>
        </p:style>
        <p:txBody>
          <a:bodyPr>
            <a:noAutofit/>
          </a:bodyPr>
          <a:lstStyle/>
          <a:p>
            <a:pPr>
              <a:defRPr/>
            </a:pPr>
            <a:r>
              <a:rPr lang="en-NZ" sz="2000" dirty="0">
                <a:latin typeface="Calibri" pitchFamily="34" charset="0"/>
              </a:rPr>
              <a:t>This figure (8.16) provides an example of the simple clock policy mechanism.</a:t>
            </a:r>
          </a:p>
          <a:p>
            <a:pPr>
              <a:defRPr/>
            </a:pPr>
            <a:r>
              <a:rPr lang="en-NZ" sz="2000" dirty="0">
                <a:latin typeface="Calibri" pitchFamily="34" charset="0"/>
              </a:rPr>
              <a:t>A circular buffer of </a:t>
            </a:r>
            <a:r>
              <a:rPr lang="en-NZ" sz="2000" i="1" dirty="0">
                <a:latin typeface="Calibri" pitchFamily="34" charset="0"/>
              </a:rPr>
              <a:t>n</a:t>
            </a:r>
            <a:r>
              <a:rPr lang="en-NZ" sz="2000" dirty="0">
                <a:latin typeface="Calibri" pitchFamily="34" charset="0"/>
              </a:rPr>
              <a:t> main memory frames is available for page replacement. </a:t>
            </a:r>
          </a:p>
          <a:p>
            <a:pPr>
              <a:defRPr/>
            </a:pPr>
            <a:r>
              <a:rPr lang="en-NZ" sz="2000" dirty="0">
                <a:latin typeface="Calibri" pitchFamily="34" charset="0"/>
              </a:rPr>
              <a:t>Just prior to the replacement of a page from the buffer with incoming page 727, </a:t>
            </a:r>
          </a:p>
          <a:p>
            <a:pPr lvl="1">
              <a:buFont typeface="Arial" pitchFamily="34" charset="0"/>
              <a:buChar char="•"/>
              <a:defRPr/>
            </a:pPr>
            <a:r>
              <a:rPr lang="en-NZ" sz="2000" dirty="0">
                <a:latin typeface="Calibri" pitchFamily="34" charset="0"/>
              </a:rPr>
              <a:t> the next frame pointer points at frame 2, which contains page 45.</a:t>
            </a:r>
          </a:p>
          <a:p>
            <a:pPr>
              <a:buNone/>
              <a:defRPr/>
            </a:pPr>
            <a:endParaRPr lang="en-NZ" sz="2000" dirty="0">
              <a:latin typeface="Calibri" pitchFamily="34" charset="0"/>
            </a:endParaRPr>
          </a:p>
          <a:p>
            <a:pPr>
              <a:buNone/>
              <a:defRPr/>
            </a:pPr>
            <a:r>
              <a:rPr lang="en-NZ" sz="2000" dirty="0">
                <a:latin typeface="Calibri" pitchFamily="34" charset="0"/>
              </a:rPr>
              <a:t>The clock policy is now executed.</a:t>
            </a:r>
          </a:p>
          <a:p>
            <a:pPr lvl="1">
              <a:buFont typeface="Arial" pitchFamily="34" charset="0"/>
              <a:buChar char="•"/>
              <a:defRPr/>
            </a:pPr>
            <a:r>
              <a:rPr lang="en-NZ" sz="2000" dirty="0">
                <a:latin typeface="Calibri" pitchFamily="34" charset="0"/>
              </a:rPr>
              <a:t> Because the use bit for page 45 in frame 2 is equal to 1, this page is not replaced.</a:t>
            </a:r>
          </a:p>
          <a:p>
            <a:pPr lvl="1">
              <a:buFont typeface="Arial" pitchFamily="34" charset="0"/>
              <a:buChar char="•"/>
              <a:defRPr/>
            </a:pPr>
            <a:r>
              <a:rPr lang="en-NZ" sz="2000" dirty="0">
                <a:latin typeface="Calibri" pitchFamily="34" charset="0"/>
              </a:rPr>
              <a:t> Instead, the use bit is set to zero and the pointer advances. </a:t>
            </a:r>
          </a:p>
          <a:p>
            <a:pPr lvl="1">
              <a:buFont typeface="Arial" pitchFamily="34" charset="0"/>
              <a:buChar char="•"/>
              <a:defRPr/>
            </a:pPr>
            <a:r>
              <a:rPr lang="en-NZ" sz="2000" dirty="0">
                <a:latin typeface="Calibri" pitchFamily="34" charset="0"/>
              </a:rPr>
              <a:t> Similarly, page 191 in frame 3 is not replaced; its use bit is set to zero and the pointer advances. </a:t>
            </a:r>
          </a:p>
          <a:p>
            <a:pPr lvl="1">
              <a:buFont typeface="Arial" pitchFamily="34" charset="0"/>
              <a:buChar char="•"/>
              <a:defRPr/>
            </a:pPr>
            <a:r>
              <a:rPr lang="en-NZ" sz="2000" dirty="0">
                <a:latin typeface="Calibri" pitchFamily="34" charset="0"/>
              </a:rPr>
              <a:t> In the next frame, frame 4, the use bit is set to 0.Therefore, page 556 is replaced with page 727.</a:t>
            </a:r>
          </a:p>
          <a:p>
            <a:pPr lvl="1">
              <a:buFont typeface="Arial" pitchFamily="34" charset="0"/>
              <a:buChar char="•"/>
              <a:defRPr/>
            </a:pPr>
            <a:r>
              <a:rPr lang="en-NZ" sz="2000" dirty="0">
                <a:latin typeface="Calibri" pitchFamily="34" charset="0"/>
              </a:rPr>
              <a:t>The use bit is set to 1 for this frame and the pointer advances to frame 5, completing the page replacement procedure.</a:t>
            </a:r>
            <a:endParaRPr lang="en-US" sz="2000" dirty="0">
              <a:latin typeface="Calibri" pitchFamily="34" charset="0"/>
            </a:endParaRPr>
          </a:p>
          <a:p>
            <a:endParaRPr lang="en-US" sz="2000" dirty="0">
              <a:latin typeface="Calibri" pitchFamily="34" charset="0"/>
            </a:endParaRPr>
          </a:p>
        </p:txBody>
      </p:sp>
      <p:sp>
        <p:nvSpPr>
          <p:cNvPr id="4" name="Title 1"/>
          <p:cNvSpPr txBox="1">
            <a:spLocks/>
          </p:cNvSpPr>
          <p:nvPr/>
        </p:nvSpPr>
        <p:spPr>
          <a:xfrm>
            <a:off x="457200" y="76200"/>
            <a:ext cx="8229600" cy="411162"/>
          </a:xfrm>
          <a:prstGeom prst="rect">
            <a:avLst/>
          </a:prstGeom>
          <a:solidFill>
            <a:schemeClr val="accent3">
              <a:lumMod val="60000"/>
              <a:lumOff val="40000"/>
            </a:schemeClr>
          </a:solidFill>
        </p:spPr>
        <p:style>
          <a:lnRef idx="3">
            <a:schemeClr val="lt1"/>
          </a:lnRef>
          <a:fillRef idx="1">
            <a:schemeClr val="accent1"/>
          </a:fillRef>
          <a:effectRef idx="1">
            <a:schemeClr val="accent1"/>
          </a:effectRef>
          <a:fontRef idx="minor">
            <a:schemeClr val="lt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400" b="1" i="0" u="none" strike="noStrike" kern="1200" cap="none" spc="0" normalizeH="0" baseline="0" noProof="0" dirty="0">
                <a:ln>
                  <a:noFill/>
                </a:ln>
                <a:solidFill>
                  <a:schemeClr val="bg1"/>
                </a:solidFill>
                <a:effectLst/>
                <a:uLnTx/>
                <a:uFillTx/>
                <a:latin typeface="Calibri" pitchFamily="34" charset="0"/>
                <a:ea typeface="+mn-ea"/>
                <a:cs typeface="+mn-cs"/>
              </a:rPr>
              <a:t>Clock Policy</a:t>
            </a:r>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Title 1"/>
          <p:cNvSpPr>
            <a:spLocks noGrp="1"/>
          </p:cNvSpPr>
          <p:nvPr>
            <p:ph type="title"/>
          </p:nvPr>
        </p:nvSpPr>
        <p:spPr>
          <a:xfrm>
            <a:off x="457200" y="76200"/>
            <a:ext cx="8229600" cy="411162"/>
          </a:xfrm>
          <a:solidFill>
            <a:schemeClr val="accent3">
              <a:lumMod val="60000"/>
              <a:lumOff val="40000"/>
            </a:schemeClr>
          </a:solidFill>
        </p:spPr>
        <p:style>
          <a:lnRef idx="3">
            <a:schemeClr val="lt1"/>
          </a:lnRef>
          <a:fillRef idx="1">
            <a:schemeClr val="accent1"/>
          </a:fillRef>
          <a:effectRef idx="1">
            <a:schemeClr val="accent1"/>
          </a:effectRef>
          <a:fontRef idx="minor">
            <a:schemeClr val="lt1"/>
          </a:fontRef>
        </p:style>
        <p:txBody>
          <a:bodyPr>
            <a:normAutofit fontScale="90000"/>
          </a:bodyPr>
          <a:lstStyle/>
          <a:p>
            <a:r>
              <a:rPr lang="en-NZ" sz="2800" b="1" dirty="0">
                <a:latin typeface="Calibri" pitchFamily="34" charset="0"/>
              </a:rPr>
              <a:t>Combined Examples</a:t>
            </a:r>
          </a:p>
        </p:txBody>
      </p:sp>
      <p:pic>
        <p:nvPicPr>
          <p:cNvPr id="71683" name="Picture 2"/>
          <p:cNvPicPr>
            <a:picLocks noChangeAspect="1" noChangeArrowheads="1"/>
          </p:cNvPicPr>
          <p:nvPr/>
        </p:nvPicPr>
        <p:blipFill>
          <a:blip r:embed="rId3"/>
          <a:srcRect/>
          <a:stretch>
            <a:fillRect/>
          </a:stretch>
        </p:blipFill>
        <p:spPr bwMode="auto">
          <a:xfrm>
            <a:off x="76200" y="381000"/>
            <a:ext cx="9067800" cy="624840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Title 1"/>
          <p:cNvSpPr>
            <a:spLocks noGrp="1"/>
          </p:cNvSpPr>
          <p:nvPr>
            <p:ph type="title"/>
          </p:nvPr>
        </p:nvSpPr>
        <p:spPr>
          <a:xfrm>
            <a:off x="457200" y="46038"/>
            <a:ext cx="8229600" cy="487362"/>
          </a:xfrm>
          <a:solidFill>
            <a:schemeClr val="accent3">
              <a:lumMod val="60000"/>
              <a:lumOff val="40000"/>
            </a:schemeClr>
          </a:solidFill>
        </p:spPr>
        <p:style>
          <a:lnRef idx="3">
            <a:schemeClr val="lt1"/>
          </a:lnRef>
          <a:fillRef idx="1">
            <a:schemeClr val="accent1"/>
          </a:fillRef>
          <a:effectRef idx="1">
            <a:schemeClr val="accent1"/>
          </a:effectRef>
          <a:fontRef idx="minor">
            <a:schemeClr val="lt1"/>
          </a:fontRef>
        </p:style>
        <p:txBody>
          <a:bodyPr>
            <a:noAutofit/>
          </a:bodyPr>
          <a:lstStyle/>
          <a:p>
            <a:r>
              <a:rPr lang="en-US" sz="2400" b="1" dirty="0">
                <a:latin typeface="Calibri" pitchFamily="34" charset="0"/>
              </a:rPr>
              <a:t>Comparison</a:t>
            </a:r>
          </a:p>
        </p:txBody>
      </p:sp>
      <p:pic>
        <p:nvPicPr>
          <p:cNvPr id="72707" name="Content Placeholder 3" descr="Fig08_17.gif"/>
          <p:cNvPicPr>
            <a:picLocks noGrp="1" noChangeAspect="1"/>
          </p:cNvPicPr>
          <p:nvPr>
            <p:ph idx="1"/>
          </p:nvPr>
        </p:nvPicPr>
        <p:blipFill>
          <a:blip r:embed="rId3"/>
          <a:srcRect/>
          <a:stretch>
            <a:fillRect/>
          </a:stretch>
        </p:blipFill>
        <p:spPr>
          <a:xfrm>
            <a:off x="76200" y="685800"/>
            <a:ext cx="8988425" cy="548640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9E5F18-A039-2D76-81DE-7F1D5B580361}"/>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E33F4AE7-2D20-2282-106C-2D6D0269F9FE}"/>
              </a:ext>
            </a:extLst>
          </p:cNvPr>
          <p:cNvSpPr>
            <a:spLocks noGrp="1"/>
          </p:cNvSpPr>
          <p:nvPr>
            <p:ph sz="quarter" idx="1"/>
          </p:nvPr>
        </p:nvSpPr>
        <p:spPr/>
        <p:txBody>
          <a:bodyPr/>
          <a:lstStyle/>
          <a:p>
            <a:r>
              <a:rPr lang="en-US" b="0" i="0" dirty="0">
                <a:solidFill>
                  <a:srgbClr val="273239"/>
                </a:solidFill>
                <a:effectLst/>
                <a:latin typeface="urw-din"/>
              </a:rPr>
              <a:t>Example – </a:t>
            </a:r>
          </a:p>
          <a:p>
            <a:r>
              <a:rPr lang="en-US" b="0" i="0" dirty="0">
                <a:solidFill>
                  <a:srgbClr val="273239"/>
                </a:solidFill>
                <a:effectLst/>
                <a:latin typeface="urw-din"/>
              </a:rPr>
              <a:t>Consider the page references 7, 0, 1, 2, 0, 3, 0, 4, 2, 3, 0, 3, 2, 3 with 4 page frame. Find number of page fault. </a:t>
            </a:r>
          </a:p>
          <a:p>
            <a:r>
              <a:rPr lang="en-US" dirty="0">
                <a:solidFill>
                  <a:srgbClr val="273239"/>
                </a:solidFill>
                <a:latin typeface="urw-din"/>
              </a:rPr>
              <a:t>OPT – 2 page faults</a:t>
            </a:r>
          </a:p>
          <a:p>
            <a:r>
              <a:rPr lang="en-US" dirty="0">
                <a:solidFill>
                  <a:srgbClr val="273239"/>
                </a:solidFill>
                <a:latin typeface="urw-din"/>
              </a:rPr>
              <a:t>LRU -2</a:t>
            </a:r>
          </a:p>
          <a:p>
            <a:r>
              <a:rPr lang="en-US" dirty="0">
                <a:solidFill>
                  <a:srgbClr val="273239"/>
                </a:solidFill>
                <a:latin typeface="urw-din"/>
              </a:rPr>
              <a:t>FIFO – 3</a:t>
            </a:r>
          </a:p>
          <a:p>
            <a:r>
              <a:rPr lang="en-IN" b="0" i="0" dirty="0">
                <a:solidFill>
                  <a:srgbClr val="000000"/>
                </a:solidFill>
                <a:effectLst/>
                <a:latin typeface="Nunito Sans" panose="020B0604020202020204" pitchFamily="2" charset="0"/>
              </a:rPr>
              <a:t>6, 7, 8, 9, 6, 7, 1, 6, 7, 8, 9, 1</a:t>
            </a:r>
            <a:endParaRPr lang="en-US" b="0" i="0" dirty="0">
              <a:solidFill>
                <a:srgbClr val="273239"/>
              </a:solidFill>
              <a:effectLst/>
              <a:latin typeface="urw-din"/>
            </a:endParaRPr>
          </a:p>
          <a:p>
            <a:r>
              <a:rPr lang="en-US" dirty="0">
                <a:solidFill>
                  <a:srgbClr val="273239"/>
                </a:solidFill>
                <a:latin typeface="urw-din"/>
              </a:rPr>
              <a:t>FRAMES -3 </a:t>
            </a:r>
          </a:p>
          <a:p>
            <a:r>
              <a:rPr lang="en-US" dirty="0">
                <a:solidFill>
                  <a:srgbClr val="273239"/>
                </a:solidFill>
                <a:latin typeface="urw-din"/>
              </a:rPr>
              <a:t>OPT </a:t>
            </a:r>
            <a:r>
              <a:rPr lang="en-US">
                <a:solidFill>
                  <a:srgbClr val="273239"/>
                </a:solidFill>
                <a:latin typeface="urw-din"/>
              </a:rPr>
              <a:t>– 4</a:t>
            </a:r>
            <a:endParaRPr lang="en-US" dirty="0">
              <a:solidFill>
                <a:srgbClr val="273239"/>
              </a:solidFill>
              <a:latin typeface="urw-din"/>
            </a:endParaRPr>
          </a:p>
          <a:p>
            <a:r>
              <a:rPr lang="en-US" dirty="0">
                <a:solidFill>
                  <a:srgbClr val="273239"/>
                </a:solidFill>
                <a:latin typeface="urw-din"/>
              </a:rPr>
              <a:t>LRU –  9</a:t>
            </a:r>
          </a:p>
          <a:p>
            <a:r>
              <a:rPr lang="en-US" dirty="0">
                <a:solidFill>
                  <a:srgbClr val="273239"/>
                </a:solidFill>
                <a:latin typeface="urw-din"/>
              </a:rPr>
              <a:t>FIFO - 6</a:t>
            </a:r>
          </a:p>
          <a:p>
            <a:endParaRPr lang="en-IN" dirty="0"/>
          </a:p>
        </p:txBody>
      </p:sp>
    </p:spTree>
    <p:extLst>
      <p:ext uri="{BB962C8B-B14F-4D97-AF65-F5344CB8AC3E}">
        <p14:creationId xmlns:p14="http://schemas.microsoft.com/office/powerpoint/2010/main" val="2924162885"/>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Oriel">
  <a:themeElements>
    <a:clrScheme name="Oriel">
      <a:dk1>
        <a:sysClr val="windowText" lastClr="000000"/>
      </a:dk1>
      <a:lt1>
        <a:sysClr val="window" lastClr="FFFFFF"/>
      </a:lt1>
      <a:dk2>
        <a:srgbClr val="575F6D"/>
      </a:dk2>
      <a:lt2>
        <a:srgbClr val="FFF39D"/>
      </a:lt2>
      <a:accent1>
        <a:srgbClr val="FE8637"/>
      </a:accent1>
      <a:accent2>
        <a:srgbClr val="7598D9"/>
      </a:accent2>
      <a:accent3>
        <a:srgbClr val="B32C16"/>
      </a:accent3>
      <a:accent4>
        <a:srgbClr val="F5CD2D"/>
      </a:accent4>
      <a:accent5>
        <a:srgbClr val="AEBAD5"/>
      </a:accent5>
      <a:accent6>
        <a:srgbClr val="777C84"/>
      </a:accent6>
      <a:hlink>
        <a:srgbClr val="D2611C"/>
      </a:hlink>
      <a:folHlink>
        <a:srgbClr val="3B435B"/>
      </a:folHlink>
    </a:clrScheme>
    <a:fontScheme name="Oriel">
      <a:majorFont>
        <a:latin typeface="Century Schoolbook"/>
        <a:ea typeface=""/>
        <a:cs typeface=""/>
        <a:font script="Jpan" typeface="ＭＳ Ｐ明朝"/>
        <a:font script="Hang" typeface="휴먼매직체"/>
        <a:font script="Hans" typeface="华文楷体"/>
        <a:font script="Hant" typeface="新細明體"/>
        <a:font script="Arab" typeface="Times New Roman"/>
        <a:font script="Hebr" typeface="Times New Roman"/>
        <a:font script="Thai" typeface="Kodchiang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entury Schoolbook"/>
        <a:ea typeface=""/>
        <a:cs typeface=""/>
        <a:font script="Jpan" typeface="ＭＳ Ｐ明朝"/>
        <a:font script="Hang" typeface="휴먼매직체"/>
        <a:font script="Hans" typeface="宋体"/>
        <a:font script="Hant" typeface="新細明體"/>
        <a:font script="Arab" typeface="Times New Roman"/>
        <a:font script="Hebr" typeface="Times New Roman"/>
        <a:font script="Thai" typeface="Kodchiang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Oriel">
      <a:fillStyleLst>
        <a:solidFill>
          <a:schemeClr val="phClr"/>
        </a:solidFill>
        <a:gradFill rotWithShape="1">
          <a:gsLst>
            <a:gs pos="0">
              <a:schemeClr val="phClr">
                <a:tint val="35000"/>
                <a:satMod val="260000"/>
              </a:schemeClr>
            </a:gs>
            <a:gs pos="30000">
              <a:schemeClr val="phClr">
                <a:tint val="38000"/>
                <a:satMod val="260000"/>
              </a:schemeClr>
            </a:gs>
            <a:gs pos="75000">
              <a:schemeClr val="phClr">
                <a:tint val="55000"/>
                <a:satMod val="255000"/>
              </a:schemeClr>
            </a:gs>
            <a:gs pos="100000">
              <a:schemeClr val="phClr">
                <a:tint val="70000"/>
                <a:satMod val="255000"/>
              </a:schemeClr>
            </a:gs>
          </a:gsLst>
          <a:path path="circle">
            <a:fillToRect l="5000" t="100000" r="120000" b="10000"/>
          </a:path>
        </a:gradFill>
        <a:gradFill rotWithShape="1">
          <a:gsLst>
            <a:gs pos="0">
              <a:schemeClr val="phClr">
                <a:shade val="63000"/>
                <a:satMod val="165000"/>
              </a:schemeClr>
            </a:gs>
            <a:gs pos="30000">
              <a:schemeClr val="phClr">
                <a:shade val="58000"/>
                <a:satMod val="165000"/>
              </a:schemeClr>
            </a:gs>
            <a:gs pos="75000">
              <a:schemeClr val="phClr">
                <a:shade val="30000"/>
                <a:satMod val="175000"/>
              </a:schemeClr>
            </a:gs>
            <a:gs pos="100000">
              <a:schemeClr val="phClr">
                <a:shade val="15000"/>
                <a:satMod val="175000"/>
              </a:schemeClr>
            </a:gs>
          </a:gsLst>
          <a:path path="circle">
            <a:fillToRect l="5000" t="100000" r="120000" b="10000"/>
          </a:path>
        </a:gradFill>
      </a:fillStyleLst>
      <a:lnStyleLst>
        <a:ln w="12700" cap="flat" cmpd="sng" algn="ctr">
          <a:solidFill>
            <a:schemeClr val="phClr">
              <a:shade val="70000"/>
              <a:satMod val="150000"/>
            </a:schemeClr>
          </a:solidFill>
          <a:prstDash val="solid"/>
        </a:ln>
        <a:ln w="25400" cap="flat" cmpd="sng" algn="ctr">
          <a:solidFill>
            <a:schemeClr val="phClr"/>
          </a:solidFill>
          <a:prstDash val="solid"/>
        </a:ln>
        <a:ln w="34925" cap="flat" cmpd="sng" algn="ctr">
          <a:solidFill>
            <a:schemeClr val="phClr"/>
          </a:solidFill>
          <a:prstDash val="solid"/>
        </a:ln>
      </a:lnStyleLst>
      <a:effectStyleLst>
        <a:effectStyle>
          <a:effectLst>
            <a:outerShdw blurRad="50800" dist="25000" dir="5400000" rotWithShape="0">
              <a:srgbClr val="000000">
                <a:alpha val="40000"/>
              </a:srgbClr>
            </a:outerShdw>
          </a:effectLst>
        </a:effectStyle>
        <a:effectStyle>
          <a:effectLst>
            <a:outerShdw blurRad="50800" dist="20000" dir="5400000" rotWithShape="0">
              <a:srgbClr val="000000">
                <a:alpha val="42000"/>
              </a:srgbClr>
            </a:outerShdw>
          </a:effectLst>
        </a:effectStyle>
        <a:effectStyle>
          <a:effectLst>
            <a:outerShdw blurRad="50800" dist="20000" dir="5400000" rotWithShape="0">
              <a:srgbClr val="000000">
                <a:alpha val="42000"/>
              </a:srgbClr>
            </a:outerShdw>
          </a:effectLst>
          <a:scene3d>
            <a:camera prst="orthographicFront">
              <a:rot lat="0" lon="0" rev="0"/>
            </a:camera>
            <a:lightRig rig="balanced" dir="t">
              <a:rot lat="0" lon="0" rev="0"/>
            </a:lightRig>
          </a:scene3d>
          <a:sp3d>
            <a:bevelT w="47625" h="69850"/>
            <a:contourClr>
              <a:schemeClr val="lt1"/>
            </a:contourClr>
          </a:sp3d>
        </a:effectStyle>
      </a:effectStyleLst>
      <a:bgFillStyleLst>
        <a:solidFill>
          <a:schemeClr val="phClr"/>
        </a:solidFill>
        <a:gradFill rotWithShape="1">
          <a:gsLst>
            <a:gs pos="0">
              <a:schemeClr val="phClr">
                <a:shade val="58000"/>
                <a:satMod val="125000"/>
              </a:schemeClr>
            </a:gs>
            <a:gs pos="40000">
              <a:schemeClr val="phClr">
                <a:tint val="90000"/>
                <a:shade val="90000"/>
                <a:satMod val="120000"/>
              </a:schemeClr>
            </a:gs>
            <a:gs pos="100000">
              <a:schemeClr val="phClr">
                <a:tint val="50000"/>
              </a:schemeClr>
            </a:gs>
          </a:gsLst>
          <a:lin ang="16200000" scaled="1"/>
        </a:gradFill>
        <a:blipFill>
          <a:blip xmlns:r="http://schemas.openxmlformats.org/officeDocument/2006/relationships" r:embed="rId1">
            <a:duotone>
              <a:schemeClr val="phClr">
                <a:shade val="80000"/>
              </a:schemeClr>
              <a:schemeClr val="phClr">
                <a:tint val="91000"/>
              </a:schemeClr>
            </a:duotone>
          </a:blip>
          <a:tile tx="0" ty="0" sx="40000" sy="50000" flip="y"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Origin</Template>
  <TotalTime>4587</TotalTime>
  <Words>8971</Words>
  <Application>Microsoft Office PowerPoint</Application>
  <PresentationFormat>On-screen Show (4:3)</PresentationFormat>
  <Paragraphs>871</Paragraphs>
  <Slides>83</Slides>
  <Notes>35</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83</vt:i4>
      </vt:variant>
    </vt:vector>
  </HeadingPairs>
  <TitlesOfParts>
    <vt:vector size="93" baseType="lpstr">
      <vt:lpstr>Arial</vt:lpstr>
      <vt:lpstr>Calibri</vt:lpstr>
      <vt:lpstr>Century Schoolbook</vt:lpstr>
      <vt:lpstr>Comic Sans MS</vt:lpstr>
      <vt:lpstr>Courier New</vt:lpstr>
      <vt:lpstr>Nunito Sans</vt:lpstr>
      <vt:lpstr>urw-din</vt:lpstr>
      <vt:lpstr>Wingdings</vt:lpstr>
      <vt:lpstr>Wingdings 2</vt:lpstr>
      <vt:lpstr>Oriel</vt:lpstr>
      <vt:lpstr>PowerPoint Presentation</vt:lpstr>
      <vt:lpstr>Roadmap</vt:lpstr>
      <vt:lpstr>PowerPoint Presentation</vt:lpstr>
      <vt:lpstr>Addressing</vt:lpstr>
      <vt:lpstr>(1) Relocation:-</vt:lpstr>
      <vt:lpstr>(2) Protection:-</vt:lpstr>
      <vt:lpstr>(4) Logical Organization:-</vt:lpstr>
      <vt:lpstr>PowerPoint Presentation</vt:lpstr>
      <vt:lpstr>Roadmap</vt:lpstr>
      <vt:lpstr>Memory  Partitioning</vt:lpstr>
      <vt:lpstr>(1) Fixed Partitioning</vt:lpstr>
      <vt:lpstr>PowerPoint Presentation</vt:lpstr>
      <vt:lpstr>Solution – Unequal Size Partitions</vt:lpstr>
      <vt:lpstr>PowerPoint Presentation</vt:lpstr>
      <vt:lpstr>Placement Algorithm</vt:lpstr>
      <vt:lpstr>Remaining Problems with Fixed Partitions</vt:lpstr>
      <vt:lpstr>PowerPoint Presentation</vt:lpstr>
      <vt:lpstr>PowerPoint Presentation</vt:lpstr>
      <vt:lpstr>Dynamic Partitioning Example</vt:lpstr>
      <vt:lpstr>PowerPoint Presentation</vt:lpstr>
      <vt:lpstr>PowerPoint Presentation</vt:lpstr>
      <vt:lpstr>Allocation</vt:lpstr>
      <vt:lpstr>Roadmap</vt:lpstr>
      <vt:lpstr>Buddy System</vt:lpstr>
      <vt:lpstr>Example of Buddy System</vt:lpstr>
      <vt:lpstr>Example of Buddy System</vt:lpstr>
      <vt:lpstr>Tree Representation of Buddy System</vt:lpstr>
      <vt:lpstr>Tree Representation of Buddy System</vt:lpstr>
      <vt:lpstr>Roadmap</vt:lpstr>
      <vt:lpstr>Paging</vt:lpstr>
      <vt:lpstr>PowerPoint Presentation</vt:lpstr>
      <vt:lpstr>Paging Example</vt:lpstr>
      <vt:lpstr>Processes and Frames</vt:lpstr>
      <vt:lpstr>Page Table</vt:lpstr>
      <vt:lpstr>Logical to Physical Address Translation Example</vt:lpstr>
      <vt:lpstr>PowerPoint Presentation</vt:lpstr>
      <vt:lpstr>PowerPoint Presentation</vt:lpstr>
      <vt:lpstr>Logical to Physical Address Translation Example</vt:lpstr>
      <vt:lpstr>PowerPoint Presentation</vt:lpstr>
      <vt:lpstr>PowerPoint Presentation</vt:lpstr>
      <vt:lpstr>Roadmap</vt:lpstr>
      <vt:lpstr>PowerPoint Presentation</vt:lpstr>
      <vt:lpstr>PowerPoint Presentation</vt:lpstr>
      <vt:lpstr>Implications of this new strategy</vt:lpstr>
      <vt:lpstr>Real and Virtual Memory</vt:lpstr>
      <vt:lpstr>PowerPoint Presentation</vt:lpstr>
      <vt:lpstr>Thrashing</vt:lpstr>
      <vt:lpstr>Principle of Locality</vt:lpstr>
      <vt:lpstr>A Processes Performance in VM Environment</vt:lpstr>
      <vt:lpstr>Support Needed for Virtual Memory</vt:lpstr>
      <vt:lpstr>Roadmap</vt:lpstr>
      <vt:lpstr>Paging</vt:lpstr>
      <vt:lpstr>Paging Table</vt:lpstr>
      <vt:lpstr>Segmentation</vt:lpstr>
      <vt:lpstr>PowerPoint Presentation</vt:lpstr>
      <vt:lpstr>Roadmap</vt:lpstr>
      <vt:lpstr>Address Translation In A Paging System</vt:lpstr>
      <vt:lpstr>Address Translation In A Paging System</vt:lpstr>
      <vt:lpstr>Roadmap</vt:lpstr>
      <vt:lpstr>Address Translation in Segmentation</vt:lpstr>
      <vt:lpstr>Address Translation in Segmentation</vt:lpstr>
      <vt:lpstr>Combined Paging and Segmentation</vt:lpstr>
      <vt:lpstr>Combined Paging and Segmentation</vt:lpstr>
      <vt:lpstr>PowerPoint Presentation</vt:lpstr>
      <vt:lpstr>Address Translation</vt:lpstr>
      <vt:lpstr>PowerPoint Presentation</vt:lpstr>
      <vt:lpstr>Roadmap</vt:lpstr>
      <vt:lpstr>Replacement Policy</vt:lpstr>
      <vt:lpstr>Replacement Policy: Frame Locking</vt:lpstr>
      <vt:lpstr>Basic Replacement Algorithms</vt:lpstr>
      <vt:lpstr>(1) Optimal policy</vt:lpstr>
      <vt:lpstr>(2) Least Recently Used (LRU)</vt:lpstr>
      <vt:lpstr>LRU Example</vt:lpstr>
      <vt:lpstr>(3) First-in, first-out (FIFO)</vt:lpstr>
      <vt:lpstr>FIFO Example</vt:lpstr>
      <vt:lpstr>(4) Clock Policy</vt:lpstr>
      <vt:lpstr>Clock Policy Example</vt:lpstr>
      <vt:lpstr>Clock Policy</vt:lpstr>
      <vt:lpstr>Clock Policy</vt:lpstr>
      <vt:lpstr>PowerPoint Presentation</vt:lpstr>
      <vt:lpstr>Combined Examples</vt:lpstr>
      <vt:lpstr>Comparison</vt:lpstr>
      <vt:lpstr>PowerPoint Presentation</vt:lpstr>
    </vt:vector>
  </TitlesOfParts>
  <Company>joshi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  NAME</dc:title>
  <dc:creator>hemal</dc:creator>
  <cp:lastModifiedBy>Lenovo</cp:lastModifiedBy>
  <cp:revision>983</cp:revision>
  <dcterms:created xsi:type="dcterms:W3CDTF">2011-05-30T19:03:01Z</dcterms:created>
  <dcterms:modified xsi:type="dcterms:W3CDTF">2022-12-22T06:06:17Z</dcterms:modified>
</cp:coreProperties>
</file>