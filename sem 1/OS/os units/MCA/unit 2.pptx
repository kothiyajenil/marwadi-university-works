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92"/>
  </p:notesMasterIdLst>
  <p:handoutMasterIdLst>
    <p:handoutMasterId r:id="rId93"/>
  </p:handoutMasterIdLst>
  <p:sldIdLst>
    <p:sldId id="386" r:id="rId2"/>
    <p:sldId id="257" r:id="rId3"/>
    <p:sldId id="260" r:id="rId4"/>
    <p:sldId id="384" r:id="rId5"/>
    <p:sldId id="263" r:id="rId6"/>
    <p:sldId id="269" r:id="rId7"/>
    <p:sldId id="425" r:id="rId8"/>
    <p:sldId id="296" r:id="rId9"/>
    <p:sldId id="297" r:id="rId10"/>
    <p:sldId id="396" r:id="rId11"/>
    <p:sldId id="397" r:id="rId12"/>
    <p:sldId id="398" r:id="rId13"/>
    <p:sldId id="399" r:id="rId14"/>
    <p:sldId id="400" r:id="rId15"/>
    <p:sldId id="401" r:id="rId16"/>
    <p:sldId id="389" r:id="rId17"/>
    <p:sldId id="298" r:id="rId18"/>
    <p:sldId id="300" r:id="rId19"/>
    <p:sldId id="390" r:id="rId20"/>
    <p:sldId id="391" r:id="rId21"/>
    <p:sldId id="392" r:id="rId22"/>
    <p:sldId id="393" r:id="rId23"/>
    <p:sldId id="394" r:id="rId24"/>
    <p:sldId id="305" r:id="rId25"/>
    <p:sldId id="307" r:id="rId26"/>
    <p:sldId id="487" r:id="rId27"/>
    <p:sldId id="309" r:id="rId28"/>
    <p:sldId id="403" r:id="rId29"/>
    <p:sldId id="312" r:id="rId30"/>
    <p:sldId id="318" r:id="rId31"/>
    <p:sldId id="319" r:id="rId32"/>
    <p:sldId id="404" r:id="rId33"/>
    <p:sldId id="405" r:id="rId34"/>
    <p:sldId id="406" r:id="rId35"/>
    <p:sldId id="322" r:id="rId36"/>
    <p:sldId id="486" r:id="rId37"/>
    <p:sldId id="374" r:id="rId38"/>
    <p:sldId id="375" r:id="rId39"/>
    <p:sldId id="376" r:id="rId40"/>
    <p:sldId id="415" r:id="rId41"/>
    <p:sldId id="413" r:id="rId42"/>
    <p:sldId id="416" r:id="rId43"/>
    <p:sldId id="426" r:id="rId44"/>
    <p:sldId id="428" r:id="rId45"/>
    <p:sldId id="429" r:id="rId46"/>
    <p:sldId id="430" r:id="rId47"/>
    <p:sldId id="431" r:id="rId48"/>
    <p:sldId id="432" r:id="rId49"/>
    <p:sldId id="440" r:id="rId50"/>
    <p:sldId id="441" r:id="rId51"/>
    <p:sldId id="442" r:id="rId52"/>
    <p:sldId id="443" r:id="rId53"/>
    <p:sldId id="444" r:id="rId54"/>
    <p:sldId id="445" r:id="rId55"/>
    <p:sldId id="446" r:id="rId56"/>
    <p:sldId id="472" r:id="rId57"/>
    <p:sldId id="474" r:id="rId58"/>
    <p:sldId id="448" r:id="rId59"/>
    <p:sldId id="473" r:id="rId60"/>
    <p:sldId id="475" r:id="rId61"/>
    <p:sldId id="476" r:id="rId62"/>
    <p:sldId id="451" r:id="rId63"/>
    <p:sldId id="452" r:id="rId64"/>
    <p:sldId id="453" r:id="rId65"/>
    <p:sldId id="454" r:id="rId66"/>
    <p:sldId id="455" r:id="rId67"/>
    <p:sldId id="456" r:id="rId68"/>
    <p:sldId id="458" r:id="rId69"/>
    <p:sldId id="459" r:id="rId70"/>
    <p:sldId id="457" r:id="rId71"/>
    <p:sldId id="477" r:id="rId72"/>
    <p:sldId id="460" r:id="rId73"/>
    <p:sldId id="439" r:id="rId74"/>
    <p:sldId id="461" r:id="rId75"/>
    <p:sldId id="488" r:id="rId76"/>
    <p:sldId id="463" r:id="rId77"/>
    <p:sldId id="464" r:id="rId78"/>
    <p:sldId id="462" r:id="rId79"/>
    <p:sldId id="478" r:id="rId80"/>
    <p:sldId id="479" r:id="rId81"/>
    <p:sldId id="480" r:id="rId82"/>
    <p:sldId id="481" r:id="rId83"/>
    <p:sldId id="482" r:id="rId84"/>
    <p:sldId id="483" r:id="rId85"/>
    <p:sldId id="484" r:id="rId86"/>
    <p:sldId id="485" r:id="rId87"/>
    <p:sldId id="467" r:id="rId88"/>
    <p:sldId id="469" r:id="rId89"/>
    <p:sldId id="470" r:id="rId90"/>
    <p:sldId id="471" r:id="rId9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67" d="100"/>
          <a:sy n="67" d="100"/>
        </p:scale>
        <p:origin x="1716" y="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6A129F6-36D4-47D0-ACD4-DBFDC6435700}" type="datetimeFigureOut">
              <a:rPr lang="en-US" smtClean="0"/>
              <a:pPr/>
              <a:t>9/22/2025</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439B9ED-918A-41F2-B50C-91035F5970E7}" type="slidenum">
              <a:rPr lang="en-GB" smtClean="0"/>
              <a:pPr/>
              <a:t>‹#›</a:t>
            </a:fld>
            <a:endParaRPr lang="en-GB"/>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649849F-19C3-451E-823E-32E5AF8DE8FA}" type="datetimeFigureOut">
              <a:rPr lang="en-US" smtClean="0"/>
              <a:pPr/>
              <a:t>9/22/2025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2E1DCD-36AE-4CA4-871B-C50C7BF862CA}"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04A3A493-93E3-491C-82D2-A9668D0AEF5F}"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A program that will provide a character echo procedure; </a:t>
            </a:r>
          </a:p>
          <a:p>
            <a:pPr lvl="1">
              <a:buFontTx/>
              <a:buChar char="•"/>
            </a:pPr>
            <a:r>
              <a:rPr lang="en-NZ" dirty="0"/>
              <a:t> input is obtained from a keyboard one keystroke at a time.</a:t>
            </a:r>
          </a:p>
          <a:p>
            <a:pPr lvl="1">
              <a:buFontTx/>
              <a:buChar char="•"/>
            </a:pPr>
            <a:r>
              <a:rPr lang="en-NZ" dirty="0"/>
              <a:t> Each input character is stored in variable chin. </a:t>
            </a:r>
          </a:p>
          <a:p>
            <a:pPr lvl="1">
              <a:buFontTx/>
              <a:buChar char="•"/>
            </a:pPr>
            <a:r>
              <a:rPr lang="en-NZ" dirty="0"/>
              <a:t> It is then transferred to variable </a:t>
            </a:r>
            <a:r>
              <a:rPr lang="en-NZ" dirty="0" err="1"/>
              <a:t>chout</a:t>
            </a:r>
            <a:r>
              <a:rPr lang="en-NZ" dirty="0"/>
              <a:t> </a:t>
            </a:r>
          </a:p>
          <a:p>
            <a:pPr lvl="1">
              <a:buFontTx/>
              <a:buChar char="•"/>
            </a:pPr>
            <a:r>
              <a:rPr lang="en-NZ" dirty="0"/>
              <a:t> and finally sent to the display. </a:t>
            </a:r>
          </a:p>
          <a:p>
            <a:endParaRPr lang="en-NZ" dirty="0"/>
          </a:p>
          <a:p>
            <a:r>
              <a:rPr lang="en-NZ" dirty="0"/>
              <a:t>Any program can call this procedure repeatedly to accept user input and display it on the user’s screen.</a:t>
            </a:r>
          </a:p>
          <a:p>
            <a:endParaRPr lang="en-NZ" dirty="0"/>
          </a:p>
          <a:p>
            <a:r>
              <a:rPr lang="en-NZ" dirty="0"/>
              <a:t>Now consider that we have a single-processor multiprogramming system supporting a single user. </a:t>
            </a:r>
          </a:p>
          <a:p>
            <a:pPr lvl="1">
              <a:buFontTx/>
              <a:buChar char="•"/>
            </a:pPr>
            <a:r>
              <a:rPr lang="en-NZ" dirty="0"/>
              <a:t> The user can jump from one application to another, and each application uses the same keyboard for input and the same screen for output. </a:t>
            </a:r>
          </a:p>
          <a:p>
            <a:endParaRPr lang="en-NZ" dirty="0"/>
          </a:p>
          <a:p>
            <a:r>
              <a:rPr lang="en-NZ" dirty="0"/>
              <a:t>Each application needs to use the procedure echo, </a:t>
            </a:r>
          </a:p>
          <a:p>
            <a:pPr lvl="1">
              <a:buFontTx/>
              <a:buChar char="•"/>
            </a:pPr>
            <a:r>
              <a:rPr lang="en-NZ" dirty="0"/>
              <a:t> So it makes sense for it to be a shared procedure that is loaded into a portion of memory global to all applications.</a:t>
            </a:r>
          </a:p>
          <a:p>
            <a:pPr lvl="1">
              <a:buFontTx/>
              <a:buChar char="•"/>
            </a:pPr>
            <a:r>
              <a:rPr lang="en-NZ" dirty="0"/>
              <a:t> Thus, only a single copy of the echo procedure is used, saving space.</a:t>
            </a:r>
            <a:endParaRPr lang="en-US" dirty="0"/>
          </a:p>
        </p:txBody>
      </p:sp>
      <p:sp>
        <p:nvSpPr>
          <p:cNvPr id="4" name="Slide Number Placeholder 3"/>
          <p:cNvSpPr>
            <a:spLocks noGrp="1"/>
          </p:cNvSpPr>
          <p:nvPr>
            <p:ph type="sldNum" sz="quarter" idx="5"/>
          </p:nvPr>
        </p:nvSpPr>
        <p:spPr/>
        <p:txBody>
          <a:bodyPr/>
          <a:lstStyle/>
          <a:p>
            <a:pPr>
              <a:defRPr/>
            </a:pPr>
            <a:fld id="{E2BC05C6-D98A-4E63-8D40-63787E906828}" type="slidenum">
              <a:rPr lang="en-US" smtClean="0"/>
              <a:pPr>
                <a:defRPr/>
              </a:pPr>
              <a:t>5</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p:spPr>
      </p:sp>
      <p:sp>
        <p:nvSpPr>
          <p:cNvPr id="88067"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The result is that the character input to P1 is lost before being displayed,</a:t>
            </a:r>
          </a:p>
          <a:p>
            <a:pPr lvl="1"/>
            <a:r>
              <a:rPr lang="en-NZ" dirty="0"/>
              <a:t>and the character input to P2 is displayed by both P1 and P2.</a:t>
            </a:r>
            <a:endParaRPr lang="en-US" dirty="0"/>
          </a:p>
        </p:txBody>
      </p:sp>
      <p:sp>
        <p:nvSpPr>
          <p:cNvPr id="4" name="Slide Number Placeholder 3"/>
          <p:cNvSpPr>
            <a:spLocks noGrp="1"/>
          </p:cNvSpPr>
          <p:nvPr>
            <p:ph type="sldNum" sz="quarter" idx="5"/>
          </p:nvPr>
        </p:nvSpPr>
        <p:spPr/>
        <p:txBody>
          <a:bodyPr/>
          <a:lstStyle/>
          <a:p>
            <a:pPr>
              <a:defRPr/>
            </a:pPr>
            <a:fld id="{DD246034-28C0-4BE7-8753-AA9F75DC3482}" type="slidenum">
              <a:rPr lang="en-US" smtClean="0"/>
              <a:pPr>
                <a:defRPr/>
              </a:pPr>
              <a:t>6</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04A3A493-93E3-491C-82D2-A9668D0AEF5F}" type="slidenum">
              <a:rPr lang="en-US" smtClean="0"/>
              <a:pPr>
                <a:defRPr/>
              </a:pPr>
              <a:t>7</a:t>
            </a:fld>
            <a:endParaRPr lang="en-US" dirty="0"/>
          </a:p>
        </p:txBody>
      </p:sp>
    </p:spTree>
    <p:extLst>
      <p:ext uri="{BB962C8B-B14F-4D97-AF65-F5344CB8AC3E}">
        <p14:creationId xmlns:p14="http://schemas.microsoft.com/office/powerpoint/2010/main" val="3594896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p:spPr>
      </p:sp>
      <p:sp>
        <p:nvSpPr>
          <p:cNvPr id="10752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An example of a semaphore</a:t>
            </a:r>
          </a:p>
        </p:txBody>
      </p:sp>
      <p:sp>
        <p:nvSpPr>
          <p:cNvPr id="4" name="Slide Number Placeholder 3"/>
          <p:cNvSpPr>
            <a:spLocks noGrp="1"/>
          </p:cNvSpPr>
          <p:nvPr>
            <p:ph type="sldNum" sz="quarter" idx="5"/>
          </p:nvPr>
        </p:nvSpPr>
        <p:spPr/>
        <p:txBody>
          <a:bodyPr/>
          <a:lstStyle/>
          <a:p>
            <a:pPr>
              <a:defRPr/>
            </a:pPr>
            <a:fld id="{50B3928A-EB00-452F-B79C-BDDB028248EA}" type="slidenum">
              <a:rPr lang="en-US" smtClean="0"/>
              <a:pPr>
                <a:defRPr/>
              </a:pPr>
              <a:t>9</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xfrm>
            <a:off x="913805" y="4343704"/>
            <a:ext cx="5030391" cy="4113892"/>
          </a:xfrm>
          <a:noFill/>
          <a:ln/>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xfrm>
            <a:off x="913805" y="4343704"/>
            <a:ext cx="5030391" cy="4113892"/>
          </a:xfrm>
          <a:noFill/>
          <a:ln/>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xfrm>
            <a:off x="913805" y="4343704"/>
            <a:ext cx="5030391" cy="4113892"/>
          </a:xfrm>
          <a:noFill/>
          <a:ln/>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xfrm>
            <a:off x="913805" y="4343704"/>
            <a:ext cx="5030391" cy="4113892"/>
          </a:xfrm>
          <a:noFill/>
          <a:ln/>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xfrm>
            <a:off x="913805" y="4343704"/>
            <a:ext cx="5030391" cy="4113892"/>
          </a:xfrm>
          <a:noFill/>
          <a:ln/>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xfrm>
            <a:off x="913805" y="4343704"/>
            <a:ext cx="5030391" cy="4113892"/>
          </a:xfrm>
          <a:noFill/>
          <a:ln/>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bwMode="auto">
          <a:noFill/>
          <a:ln>
            <a:solidFill>
              <a:srgbClr val="000000"/>
            </a:solidFill>
            <a:miter lim="800000"/>
            <a:headEnd/>
            <a:tailEnd/>
          </a:ln>
        </p:spPr>
      </p:sp>
      <p:sp>
        <p:nvSpPr>
          <p:cNvPr id="108547" name="Notes Placeholder 2"/>
          <p:cNvSpPr>
            <a:spLocks noGrp="1"/>
          </p:cNvSpPr>
          <p:nvPr>
            <p:ph type="body" idx="1"/>
          </p:nvPr>
        </p:nvSpPr>
        <p:spPr bwMode="auto">
          <a:noFill/>
        </p:spPr>
        <p:txBody>
          <a:bodyPr wrap="square" numCol="1" anchor="t" anchorCtr="0" compatLnSpc="1">
            <a:prstTxWarp prst="textNoShape">
              <a:avLst/>
            </a:prstTxWarp>
          </a:bodyPr>
          <a:lstStyle/>
          <a:p>
            <a:br>
              <a:rPr lang="en-US"/>
            </a:br>
            <a:r>
              <a:rPr lang="en-US"/>
              <a:t>A more restrictive semaphore which may only have the value of 0 or 1</a:t>
            </a:r>
          </a:p>
          <a:p>
            <a:endParaRPr lang="en-US"/>
          </a:p>
          <a:p>
            <a:r>
              <a:rPr lang="en-NZ"/>
              <a:t>A similar concept related to the binary semaphore is the </a:t>
            </a:r>
            <a:r>
              <a:rPr lang="en-NZ" b="1"/>
              <a:t>mutex</a:t>
            </a:r>
            <a:r>
              <a:rPr lang="en-NZ"/>
              <a:t>.</a:t>
            </a:r>
          </a:p>
          <a:p>
            <a:pPr lvl="1">
              <a:buFontTx/>
              <a:buChar char="•"/>
            </a:pPr>
            <a:r>
              <a:rPr lang="en-NZ"/>
              <a:t> A key difference between the two is that the process that locks the mutex (sets the value to zero) must be the one to unlock it (sets the value to 1). </a:t>
            </a:r>
          </a:p>
          <a:p>
            <a:pPr lvl="1">
              <a:buFontTx/>
              <a:buChar char="•"/>
            </a:pPr>
            <a:r>
              <a:rPr lang="en-NZ"/>
              <a:t> In contrast, it is possible for one process to lock a binary semaphore and for another to unlock it.</a:t>
            </a:r>
            <a:endParaRPr lang="en-US"/>
          </a:p>
        </p:txBody>
      </p:sp>
      <p:sp>
        <p:nvSpPr>
          <p:cNvPr id="4" name="Slide Number Placeholder 3"/>
          <p:cNvSpPr>
            <a:spLocks noGrp="1"/>
          </p:cNvSpPr>
          <p:nvPr>
            <p:ph type="sldNum" sz="quarter" idx="5"/>
          </p:nvPr>
        </p:nvSpPr>
        <p:spPr/>
        <p:txBody>
          <a:bodyPr/>
          <a:lstStyle/>
          <a:p>
            <a:pPr>
              <a:defRPr/>
            </a:pPr>
            <a:fld id="{71E84BE6-26A7-4465-B31C-44841E672380}" type="slidenum">
              <a:rPr lang="en-US" smtClean="0"/>
              <a:pPr>
                <a:defRPr/>
              </a:pPr>
              <a:t>17</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p:spPr>
      </p:sp>
      <p:sp>
        <p:nvSpPr>
          <p:cNvPr id="113667"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Figure 5.7, shows a possible sequence for three processes using the mutual exclusion discipline of Figure 5.6.</a:t>
            </a:r>
          </a:p>
          <a:p>
            <a:endParaRPr lang="en-NZ" dirty="0"/>
          </a:p>
          <a:p>
            <a:r>
              <a:rPr lang="en-NZ" dirty="0"/>
              <a:t>Three processes (A,B, C) access a shared resource protected by the semaphore </a:t>
            </a:r>
            <a:r>
              <a:rPr lang="en-NZ" i="1" dirty="0"/>
              <a:t>lock. </a:t>
            </a:r>
          </a:p>
          <a:p>
            <a:pPr lvl="1">
              <a:buFontTx/>
              <a:buChar char="•"/>
            </a:pPr>
            <a:r>
              <a:rPr lang="en-NZ" i="1" dirty="0"/>
              <a:t>Process-</a:t>
            </a:r>
            <a:r>
              <a:rPr lang="en-NZ" dirty="0"/>
              <a:t>A executes semWait(lock); </a:t>
            </a:r>
          </a:p>
          <a:p>
            <a:pPr lvl="2">
              <a:buFontTx/>
              <a:buChar char="•"/>
            </a:pPr>
            <a:r>
              <a:rPr lang="en-NZ" dirty="0"/>
              <a:t> because the semaphore has a value of 1 at the time of the semWait operation, A can immediately enter its critical section and the semaphore takes on the value 0.</a:t>
            </a:r>
          </a:p>
          <a:p>
            <a:pPr lvl="1">
              <a:buFontTx/>
              <a:buChar char="•"/>
            </a:pPr>
            <a:endParaRPr lang="en-NZ" dirty="0"/>
          </a:p>
          <a:p>
            <a:pPr lvl="1">
              <a:buFontTx/>
              <a:buChar char="•"/>
            </a:pPr>
            <a:r>
              <a:rPr lang="en-NZ" dirty="0"/>
              <a:t>While A is in its critical section, both B and C perform a semWait operation and are blocked pending the availability of the semaphore. </a:t>
            </a:r>
          </a:p>
          <a:p>
            <a:pPr lvl="1">
              <a:buFontTx/>
              <a:buChar char="•"/>
            </a:pPr>
            <a:endParaRPr lang="en-NZ" dirty="0"/>
          </a:p>
          <a:p>
            <a:pPr lvl="1">
              <a:buFontTx/>
              <a:buChar char="•"/>
            </a:pPr>
            <a:r>
              <a:rPr lang="en-NZ" dirty="0"/>
              <a:t>When A exits its critical section and performs </a:t>
            </a:r>
            <a:r>
              <a:rPr lang="en-NZ" dirty="0" err="1"/>
              <a:t>semSignal</a:t>
            </a:r>
            <a:r>
              <a:rPr lang="en-NZ" dirty="0"/>
              <a:t>(lock), B, which was the first process in the queue, can now enter its critical section.</a:t>
            </a:r>
          </a:p>
        </p:txBody>
      </p:sp>
      <p:sp>
        <p:nvSpPr>
          <p:cNvPr id="4" name="Slide Number Placeholder 3"/>
          <p:cNvSpPr>
            <a:spLocks noGrp="1"/>
          </p:cNvSpPr>
          <p:nvPr>
            <p:ph type="sldNum" sz="quarter" idx="5"/>
          </p:nvPr>
        </p:nvSpPr>
        <p:spPr/>
        <p:txBody>
          <a:bodyPr/>
          <a:lstStyle/>
          <a:p>
            <a:pPr>
              <a:defRPr/>
            </a:pPr>
            <a:fld id="{345DEC60-E7C1-43C3-B13C-46A9528314CA}" type="slidenum">
              <a:rPr lang="en-US" smtClean="0"/>
              <a:pPr>
                <a:defRPr/>
              </a:pPr>
              <a:t>25</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C1B25-D1CB-C72C-7706-710ECD3CE007}"/>
            </a:ext>
          </a:extLst>
        </p:cNvPr>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6CB0CE47-C616-A760-5E80-9A258ECFBC67}"/>
              </a:ext>
            </a:extLst>
          </p:cNvPr>
          <p:cNvSpPr>
            <a:spLocks noGrp="1" noRot="1" noChangeAspect="1" noTextEdit="1"/>
          </p:cNvSpPr>
          <p:nvPr>
            <p:ph type="sldImg"/>
          </p:nvPr>
        </p:nvSpPr>
        <p:spPr bwMode="auto">
          <a:noFill/>
          <a:ln>
            <a:solidFill>
              <a:srgbClr val="000000"/>
            </a:solidFill>
            <a:miter lim="800000"/>
            <a:headEnd/>
            <a:tailEnd/>
          </a:ln>
        </p:spPr>
      </p:sp>
      <p:sp>
        <p:nvSpPr>
          <p:cNvPr id="81923" name="Notes Placeholder 2">
            <a:extLst>
              <a:ext uri="{FF2B5EF4-FFF2-40B4-BE49-F238E27FC236}">
                <a16:creationId xmlns:a16="http://schemas.microsoft.com/office/drawing/2014/main" id="{CA5FC55F-EF75-C531-7BFD-45EDB4ACA2A7}"/>
              </a:ext>
            </a:extLst>
          </p:cNvPr>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663DD47A-D1E1-1861-F16B-6D2ED2815044}"/>
              </a:ext>
            </a:extLst>
          </p:cNvPr>
          <p:cNvSpPr>
            <a:spLocks noGrp="1"/>
          </p:cNvSpPr>
          <p:nvPr>
            <p:ph type="sldNum" sz="quarter" idx="5"/>
          </p:nvPr>
        </p:nvSpPr>
        <p:spPr/>
        <p:txBody>
          <a:bodyPr/>
          <a:lstStyle/>
          <a:p>
            <a:pPr>
              <a:defRPr/>
            </a:pPr>
            <a:fld id="{04A3A493-93E3-491C-82D2-A9668D0AEF5F}" type="slidenum">
              <a:rPr lang="en-US" smtClean="0"/>
              <a:pPr>
                <a:defRPr/>
              </a:pPr>
              <a:t>26</a:t>
            </a:fld>
            <a:endParaRPr lang="en-US" dirty="0"/>
          </a:p>
        </p:txBody>
      </p:sp>
    </p:spTree>
    <p:extLst>
      <p:ext uri="{BB962C8B-B14F-4D97-AF65-F5344CB8AC3E}">
        <p14:creationId xmlns:p14="http://schemas.microsoft.com/office/powerpoint/2010/main" val="656838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bwMode="auto">
          <a:noFill/>
          <a:ln>
            <a:solidFill>
              <a:srgbClr val="000000"/>
            </a:solidFill>
            <a:miter lim="800000"/>
            <a:headEnd/>
            <a:tailEnd/>
          </a:ln>
        </p:spPr>
      </p:sp>
      <p:sp>
        <p:nvSpPr>
          <p:cNvPr id="11571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The producer can generate items and store them in the buffer at its own pace. </a:t>
            </a:r>
          </a:p>
          <a:p>
            <a:pPr lvl="1"/>
            <a:r>
              <a:rPr lang="en-NZ" dirty="0"/>
              <a:t>Each time, an index (in) into the buffer is incremented.</a:t>
            </a:r>
          </a:p>
          <a:p>
            <a:pPr lvl="1"/>
            <a:endParaRPr lang="en-NZ" dirty="0"/>
          </a:p>
          <a:p>
            <a:r>
              <a:rPr lang="en-NZ" dirty="0"/>
              <a:t>The consumer proceeds in a similar fashion but must make sure that it does not attempt to read from an empty buffer.</a:t>
            </a:r>
          </a:p>
          <a:p>
            <a:endParaRPr lang="en-NZ" dirty="0"/>
          </a:p>
          <a:p>
            <a:endParaRPr lang="en-US" dirty="0"/>
          </a:p>
        </p:txBody>
      </p:sp>
      <p:sp>
        <p:nvSpPr>
          <p:cNvPr id="4" name="Slide Number Placeholder 3"/>
          <p:cNvSpPr>
            <a:spLocks noGrp="1"/>
          </p:cNvSpPr>
          <p:nvPr>
            <p:ph type="sldNum" sz="quarter" idx="5"/>
          </p:nvPr>
        </p:nvSpPr>
        <p:spPr/>
        <p:txBody>
          <a:bodyPr/>
          <a:lstStyle/>
          <a:p>
            <a:pPr>
              <a:defRPr/>
            </a:pPr>
            <a:fld id="{286607B4-C475-4EF2-BEB5-A5CF16AA23BE}" type="slidenum">
              <a:rPr lang="en-US" smtClean="0"/>
              <a:pPr>
                <a:defRPr/>
              </a:pPr>
              <a:t>29</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bwMode="auto">
          <a:noFill/>
          <a:ln>
            <a:solidFill>
              <a:srgbClr val="000000"/>
            </a:solidFill>
            <a:miter lim="800000"/>
            <a:headEnd/>
            <a:tailEnd/>
          </a:ln>
        </p:spPr>
      </p:sp>
      <p:sp>
        <p:nvSpPr>
          <p:cNvPr id="119811"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A somewhat cleaner solution can be obtained if general semaphores (also called counting semaphores) are used</a:t>
            </a:r>
          </a:p>
          <a:p>
            <a:endParaRPr lang="en-NZ"/>
          </a:p>
          <a:p>
            <a:r>
              <a:rPr lang="en-NZ"/>
              <a:t>The variable </a:t>
            </a:r>
            <a:r>
              <a:rPr lang="en-NZ" i="1"/>
              <a:t>n </a:t>
            </a:r>
            <a:r>
              <a:rPr lang="en-NZ"/>
              <a:t>is now a semaphore. </a:t>
            </a:r>
          </a:p>
          <a:p>
            <a:pPr lvl="1"/>
            <a:r>
              <a:rPr lang="en-NZ"/>
              <a:t>Its value still is equal to the number of items in the buffer. </a:t>
            </a:r>
          </a:p>
          <a:p>
            <a:endParaRPr lang="en-NZ"/>
          </a:p>
          <a:p>
            <a:r>
              <a:rPr lang="en-NZ"/>
              <a:t>Suppose now that in transcribing this program, a mistake is made and the operations </a:t>
            </a:r>
            <a:r>
              <a:rPr lang="en-NZ" i="1"/>
              <a:t>semSignal(s)</a:t>
            </a:r>
            <a:r>
              <a:rPr lang="en-NZ"/>
              <a:t> and </a:t>
            </a:r>
            <a:r>
              <a:rPr lang="en-NZ" i="1"/>
              <a:t>semSignal(n) </a:t>
            </a:r>
            <a:r>
              <a:rPr lang="en-NZ"/>
              <a:t>are interchanged.</a:t>
            </a:r>
          </a:p>
          <a:p>
            <a:pPr lvl="1"/>
            <a:r>
              <a:rPr lang="en-NZ"/>
              <a:t>This would require that the </a:t>
            </a:r>
            <a:r>
              <a:rPr lang="en-NZ" i="1"/>
              <a:t>semSignal(n) </a:t>
            </a:r>
            <a:r>
              <a:rPr lang="en-NZ"/>
              <a:t>operation be performed in the producer’s critical section without interruption by the consumer or another producer.</a:t>
            </a:r>
          </a:p>
          <a:p>
            <a:endParaRPr lang="en-NZ"/>
          </a:p>
          <a:p>
            <a:r>
              <a:rPr lang="en-NZ"/>
              <a:t>Would this affect the program?</a:t>
            </a:r>
          </a:p>
          <a:p>
            <a:pPr lvl="1"/>
            <a:r>
              <a:rPr lang="en-NZ"/>
              <a:t>No, because the consumer must wait on both semaphores before proceeding in any case.</a:t>
            </a:r>
            <a:endParaRPr lang="en-US"/>
          </a:p>
        </p:txBody>
      </p:sp>
      <p:sp>
        <p:nvSpPr>
          <p:cNvPr id="4" name="Slide Number Placeholder 3"/>
          <p:cNvSpPr>
            <a:spLocks noGrp="1"/>
          </p:cNvSpPr>
          <p:nvPr>
            <p:ph type="sldNum" sz="quarter" idx="5"/>
          </p:nvPr>
        </p:nvSpPr>
        <p:spPr/>
        <p:txBody>
          <a:bodyPr/>
          <a:lstStyle/>
          <a:p>
            <a:pPr>
              <a:defRPr/>
            </a:pPr>
            <a:fld id="{28E8C051-76CD-4F66-9665-6A4183980B52}" type="slidenum">
              <a:rPr lang="en-US" smtClean="0"/>
              <a:pPr>
                <a:defRPr/>
              </a:pPr>
              <a:t>30</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p:spPr>
      </p:sp>
      <p:sp>
        <p:nvSpPr>
          <p:cNvPr id="12185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15A120E4-27AA-4C4B-B07D-235245917701}" type="slidenum">
              <a:rPr lang="en-US" smtClean="0"/>
              <a:pPr>
                <a:defRPr/>
              </a:pPr>
              <a:t>35</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04A3A493-93E3-491C-82D2-A9668D0AEF5F}" type="slidenum">
              <a:rPr lang="en-US" smtClean="0"/>
              <a:pPr>
                <a:defRPr/>
              </a:pPr>
              <a:t>36</a:t>
            </a:fld>
            <a:endParaRPr lang="en-US" dirty="0"/>
          </a:p>
        </p:txBody>
      </p:sp>
    </p:spTree>
    <p:extLst>
      <p:ext uri="{BB962C8B-B14F-4D97-AF65-F5344CB8AC3E}">
        <p14:creationId xmlns:p14="http://schemas.microsoft.com/office/powerpoint/2010/main" val="15228780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bwMode="auto">
          <a:noFill/>
          <a:ln>
            <a:solidFill>
              <a:srgbClr val="000000"/>
            </a:solidFill>
            <a:miter lim="800000"/>
            <a:headEnd/>
            <a:tailEnd/>
          </a:ln>
        </p:spPr>
      </p:sp>
      <p:sp>
        <p:nvSpPr>
          <p:cNvPr id="14643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This </a:t>
            </a:r>
            <a:r>
              <a:rPr lang="en-NZ"/>
              <a:t>solution uses semaphores, showing one instance each of a reader and a writer; the solution does not change for multiple readers and writers. </a:t>
            </a:r>
          </a:p>
          <a:p>
            <a:endParaRPr lang="en-US"/>
          </a:p>
          <a:p>
            <a:r>
              <a:rPr lang="en-NZ"/>
              <a:t>Once a single reader has begun to access the data area, it is possible for readers to retain control of the data area as long as there is at least one reader in the act of reading.</a:t>
            </a:r>
          </a:p>
          <a:p>
            <a:pPr lvl="1"/>
            <a:r>
              <a:rPr lang="en-NZ"/>
              <a:t>Therefore, writers are subject to starvation.</a:t>
            </a:r>
            <a:endParaRPr lang="en-US"/>
          </a:p>
        </p:txBody>
      </p:sp>
      <p:sp>
        <p:nvSpPr>
          <p:cNvPr id="4" name="Slide Number Placeholder 3"/>
          <p:cNvSpPr>
            <a:spLocks noGrp="1"/>
          </p:cNvSpPr>
          <p:nvPr>
            <p:ph type="sldNum" sz="quarter" idx="5"/>
          </p:nvPr>
        </p:nvSpPr>
        <p:spPr/>
        <p:txBody>
          <a:bodyPr/>
          <a:lstStyle/>
          <a:p>
            <a:pPr>
              <a:defRPr/>
            </a:pPr>
            <a:fld id="{1CEC9BEC-CE66-4747-A072-B59358AAD8B9}" type="slidenum">
              <a:rPr lang="en-US" smtClean="0"/>
              <a:pPr>
                <a:defRPr/>
              </a:pPr>
              <a:t>38</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04A3A493-93E3-491C-82D2-A9668D0AEF5F}" type="slidenum">
              <a:rPr lang="en-US" smtClean="0"/>
              <a:pPr>
                <a:defRPr/>
              </a:pPr>
              <a:t>43</a:t>
            </a:fld>
            <a:endParaRPr lang="en-US" dirty="0"/>
          </a:p>
        </p:txBody>
      </p:sp>
    </p:spTree>
    <p:extLst>
      <p:ext uri="{BB962C8B-B14F-4D97-AF65-F5344CB8AC3E}">
        <p14:creationId xmlns:p14="http://schemas.microsoft.com/office/powerpoint/2010/main" val="31389168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r>
              <a:rPr lang="en-NZ" b="1" dirty="0"/>
              <a:t>Animated Slide</a:t>
            </a:r>
          </a:p>
          <a:p>
            <a:pPr>
              <a:buFont typeface="Arial" pitchFamily="34" charset="0"/>
              <a:buNone/>
              <a:defRPr/>
            </a:pPr>
            <a:r>
              <a:rPr lang="en-NZ" b="1" i="1" dirty="0"/>
              <a:t>Click 1</a:t>
            </a:r>
            <a:r>
              <a:rPr lang="en-NZ" dirty="0"/>
              <a:t> Cars approach intersection</a:t>
            </a:r>
          </a:p>
          <a:p>
            <a:pPr>
              <a:buFont typeface="Arial" pitchFamily="34" charset="0"/>
              <a:buNone/>
              <a:defRPr/>
            </a:pPr>
            <a:r>
              <a:rPr lang="en-NZ" dirty="0"/>
              <a:t> </a:t>
            </a:r>
            <a:r>
              <a:rPr lang="en-NZ" b="1" i="1" dirty="0"/>
              <a:t>Then </a:t>
            </a:r>
            <a:r>
              <a:rPr lang="en-NZ" dirty="0"/>
              <a:t>Cars announce their resource needs</a:t>
            </a:r>
          </a:p>
          <a:p>
            <a:pPr>
              <a:defRPr/>
            </a:pPr>
            <a:endParaRPr lang="en-NZ" dirty="0"/>
          </a:p>
          <a:p>
            <a:pPr>
              <a:defRPr/>
            </a:pPr>
            <a:r>
              <a:rPr lang="en-NZ" dirty="0"/>
              <a:t>All deadlocks involve conflicting needs for resources by two or more processes.   A common example is the traffic deadlock. </a:t>
            </a:r>
          </a:p>
          <a:p>
            <a:pPr>
              <a:buFont typeface="Arial" pitchFamily="34" charset="0"/>
              <a:buNone/>
              <a:defRPr/>
            </a:pPr>
            <a:r>
              <a:rPr lang="en-NZ" dirty="0"/>
              <a:t>The typical rule of the road in the United States is that a car at a four-way stop should defer to a car immediately to its right.</a:t>
            </a:r>
          </a:p>
          <a:p>
            <a:pPr>
              <a:buFont typeface="Arial" pitchFamily="34" charset="0"/>
              <a:buNone/>
              <a:defRPr/>
            </a:pPr>
            <a:endParaRPr lang="en-NZ" dirty="0"/>
          </a:p>
          <a:p>
            <a:pPr>
              <a:defRPr/>
            </a:pPr>
            <a:r>
              <a:rPr lang="en-NZ" dirty="0"/>
              <a:t>This rule works if there are only two or three cars at the intersection. </a:t>
            </a:r>
          </a:p>
          <a:p>
            <a:pPr>
              <a:buFont typeface="Arial" pitchFamily="34" charset="0"/>
              <a:buNone/>
              <a:defRPr/>
            </a:pPr>
            <a:endParaRPr lang="en-NZ" dirty="0"/>
          </a:p>
          <a:p>
            <a:pPr>
              <a:buFont typeface="Arial" pitchFamily="34" charset="0"/>
              <a:buNone/>
              <a:defRPr/>
            </a:pPr>
            <a:r>
              <a:rPr lang="en-NZ" dirty="0"/>
              <a:t>If all four cars arrive at about the same time, each will refrain from entering the intersection, this causes a  </a:t>
            </a:r>
            <a:r>
              <a:rPr lang="en-NZ" b="1" dirty="0"/>
              <a:t>potential deadlock.</a:t>
            </a:r>
          </a:p>
          <a:p>
            <a:pPr lvl="1">
              <a:buFont typeface="Arial" pitchFamily="34" charset="0"/>
              <a:buChar char="•"/>
              <a:defRPr/>
            </a:pPr>
            <a:r>
              <a:rPr lang="en-NZ" dirty="0"/>
              <a:t>The deadlock is only potential, not actual, because the necessary resources are available for any of the cars to proceed. </a:t>
            </a:r>
          </a:p>
          <a:p>
            <a:pPr lvl="1">
              <a:buFont typeface="Arial" pitchFamily="34" charset="0"/>
              <a:buChar char="•"/>
              <a:defRPr/>
            </a:pPr>
            <a:r>
              <a:rPr lang="en-NZ" dirty="0"/>
              <a:t>If one car eventually does proceed, it can do so.</a:t>
            </a:r>
          </a:p>
        </p:txBody>
      </p:sp>
      <p:sp>
        <p:nvSpPr>
          <p:cNvPr id="4" name="Slide Number Placeholder 3"/>
          <p:cNvSpPr>
            <a:spLocks noGrp="1"/>
          </p:cNvSpPr>
          <p:nvPr>
            <p:ph type="sldNum" sz="quarter" idx="5"/>
          </p:nvPr>
        </p:nvSpPr>
        <p:spPr/>
        <p:txBody>
          <a:bodyPr/>
          <a:lstStyle/>
          <a:p>
            <a:pPr>
              <a:defRPr/>
            </a:pPr>
            <a:fld id="{A98B62BB-A92E-4358-A733-3910A933133D}" type="slidenum">
              <a:rPr lang="en-US" smtClean="0"/>
              <a:pPr>
                <a:defRPr/>
              </a:pPr>
              <a:t>45</a:t>
            </a:fld>
            <a:endParaRPr lang="en-US" dirty="0"/>
          </a:p>
        </p:txBody>
      </p:sp>
    </p:spTree>
    <p:extLst>
      <p:ext uri="{BB962C8B-B14F-4D97-AF65-F5344CB8AC3E}">
        <p14:creationId xmlns:p14="http://schemas.microsoft.com/office/powerpoint/2010/main" val="21054881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p:spPr>
      </p:sp>
      <p:sp>
        <p:nvSpPr>
          <p:cNvPr id="75779"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b="1"/>
              <a:t>Animated Slide</a:t>
            </a:r>
          </a:p>
          <a:p>
            <a:r>
              <a:rPr lang="en-NZ" b="1" i="1"/>
              <a:t>Click 1</a:t>
            </a:r>
            <a:r>
              <a:rPr lang="en-NZ"/>
              <a:t> Cars move to deadlock</a:t>
            </a:r>
          </a:p>
          <a:p>
            <a:r>
              <a:rPr lang="en-NZ" b="1" i="1"/>
              <a:t>Then  </a:t>
            </a:r>
            <a:r>
              <a:rPr lang="en-NZ"/>
              <a:t>Cars announce their resource need</a:t>
            </a:r>
          </a:p>
          <a:p>
            <a:endParaRPr lang="en-NZ"/>
          </a:p>
          <a:p>
            <a:r>
              <a:rPr lang="en-NZ" b="1" i="1"/>
              <a:t>But </a:t>
            </a:r>
            <a:r>
              <a:rPr lang="en-NZ"/>
              <a:t>if all four cars ignore the rules and proceed (cautiously) into the intersection at the same time, then </a:t>
            </a:r>
            <a:r>
              <a:rPr lang="en-NZ" b="1"/>
              <a:t>each car seizes one resource </a:t>
            </a:r>
            <a:r>
              <a:rPr lang="en-NZ"/>
              <a:t>(one quadrant) but cannot proceed because the required second resource has already been seized by another car.</a:t>
            </a:r>
          </a:p>
          <a:p>
            <a:endParaRPr lang="en-NZ"/>
          </a:p>
          <a:p>
            <a:r>
              <a:rPr lang="en-NZ"/>
              <a:t>This is an actual deadlock.</a:t>
            </a:r>
          </a:p>
          <a:p>
            <a:endParaRPr lang="en-NZ"/>
          </a:p>
        </p:txBody>
      </p:sp>
      <p:sp>
        <p:nvSpPr>
          <p:cNvPr id="4" name="Slide Number Placeholder 3"/>
          <p:cNvSpPr>
            <a:spLocks noGrp="1"/>
          </p:cNvSpPr>
          <p:nvPr>
            <p:ph type="sldNum" sz="quarter" idx="5"/>
          </p:nvPr>
        </p:nvSpPr>
        <p:spPr/>
        <p:txBody>
          <a:bodyPr/>
          <a:lstStyle/>
          <a:p>
            <a:pPr>
              <a:defRPr/>
            </a:pPr>
            <a:fld id="{9156F776-708C-4B05-85E0-64640A9F01C0}" type="slidenum">
              <a:rPr lang="en-US" smtClean="0"/>
              <a:pPr>
                <a:defRPr/>
              </a:pPr>
              <a:t>47</a:t>
            </a:fld>
            <a:endParaRPr lang="en-US" dirty="0"/>
          </a:p>
        </p:txBody>
      </p:sp>
    </p:spTree>
    <p:extLst>
      <p:ext uri="{BB962C8B-B14F-4D97-AF65-F5344CB8AC3E}">
        <p14:creationId xmlns:p14="http://schemas.microsoft.com/office/powerpoint/2010/main" val="5083981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All three must be present for deadlock to occur.</a:t>
            </a:r>
          </a:p>
        </p:txBody>
      </p:sp>
      <p:sp>
        <p:nvSpPr>
          <p:cNvPr id="4" name="Slide Number Placeholder 3"/>
          <p:cNvSpPr>
            <a:spLocks noGrp="1"/>
          </p:cNvSpPr>
          <p:nvPr>
            <p:ph type="sldNum" sz="quarter" idx="5"/>
          </p:nvPr>
        </p:nvSpPr>
        <p:spPr/>
        <p:txBody>
          <a:bodyPr/>
          <a:lstStyle/>
          <a:p>
            <a:pPr>
              <a:defRPr/>
            </a:pPr>
            <a:fld id="{AC6D2DBB-616E-47A0-BDF3-A9DC59675592}" type="slidenum">
              <a:rPr lang="en-US" smtClean="0"/>
              <a:pPr>
                <a:defRPr/>
              </a:pPr>
              <a:t>49</a:t>
            </a:fld>
            <a:endParaRPr lang="en-US" dirty="0"/>
          </a:p>
        </p:txBody>
      </p:sp>
    </p:spTree>
    <p:extLst>
      <p:ext uri="{BB962C8B-B14F-4D97-AF65-F5344CB8AC3E}">
        <p14:creationId xmlns:p14="http://schemas.microsoft.com/office/powerpoint/2010/main" val="41240043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p:spPr>
      </p:sp>
      <p:sp>
        <p:nvSpPr>
          <p:cNvPr id="88067"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This is actually a potential consequence of the first three.</a:t>
            </a:r>
          </a:p>
          <a:p>
            <a:endParaRPr lang="en-NZ" dirty="0"/>
          </a:p>
          <a:p>
            <a:r>
              <a:rPr lang="en-NZ" dirty="0"/>
              <a:t>Given that the first three conditions exist, a sequence of events may occur that lead to an unresolvable circular wait. </a:t>
            </a:r>
          </a:p>
          <a:p>
            <a:endParaRPr lang="en-NZ" dirty="0"/>
          </a:p>
          <a:p>
            <a:r>
              <a:rPr lang="en-NZ" dirty="0"/>
              <a:t>The unresolvable circular wait is in fact the definition of deadlock.</a:t>
            </a:r>
          </a:p>
          <a:p>
            <a:pPr lvl="1">
              <a:buFontTx/>
              <a:buChar char="•"/>
            </a:pPr>
            <a:r>
              <a:rPr lang="en-NZ" dirty="0"/>
              <a:t> The circular wait listed as condition 4 is unresolvable because the first three conditions hold.</a:t>
            </a:r>
          </a:p>
          <a:p>
            <a:pPr lvl="1">
              <a:buFontTx/>
              <a:buChar char="•"/>
            </a:pPr>
            <a:r>
              <a:rPr lang="en-NZ" dirty="0"/>
              <a:t> Thus, the four conditions, taken together, constitute necessary and sufficient conditions for deadlock.</a:t>
            </a:r>
            <a:endParaRPr lang="en-US" dirty="0"/>
          </a:p>
        </p:txBody>
      </p:sp>
      <p:sp>
        <p:nvSpPr>
          <p:cNvPr id="4" name="Slide Number Placeholder 3"/>
          <p:cNvSpPr>
            <a:spLocks noGrp="1"/>
          </p:cNvSpPr>
          <p:nvPr>
            <p:ph type="sldNum" sz="quarter" idx="5"/>
          </p:nvPr>
        </p:nvSpPr>
        <p:spPr/>
        <p:txBody>
          <a:bodyPr/>
          <a:lstStyle/>
          <a:p>
            <a:pPr>
              <a:defRPr/>
            </a:pPr>
            <a:fld id="{E2B9F9B0-1A14-469B-B57A-66ED94A50468}" type="slidenum">
              <a:rPr lang="en-US" smtClean="0"/>
              <a:pPr>
                <a:defRPr/>
              </a:pPr>
              <a:t>50</a:t>
            </a:fld>
            <a:endParaRPr lang="en-US" dirty="0"/>
          </a:p>
        </p:txBody>
      </p:sp>
    </p:spTree>
    <p:extLst>
      <p:ext uri="{BB962C8B-B14F-4D97-AF65-F5344CB8AC3E}">
        <p14:creationId xmlns:p14="http://schemas.microsoft.com/office/powerpoint/2010/main" val="38366941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04A3A493-93E3-491C-82D2-A9668D0AEF5F}" type="slidenum">
              <a:rPr lang="en-US" smtClean="0"/>
              <a:pPr>
                <a:defRPr/>
              </a:pPr>
              <a:t>51</a:t>
            </a:fld>
            <a:endParaRPr lang="en-US" dirty="0"/>
          </a:p>
        </p:txBody>
      </p:sp>
    </p:spTree>
    <p:extLst>
      <p:ext uri="{BB962C8B-B14F-4D97-AF65-F5344CB8AC3E}">
        <p14:creationId xmlns:p14="http://schemas.microsoft.com/office/powerpoint/2010/main" val="35589321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04A3A493-93E3-491C-82D2-A9668D0AEF5F}" type="slidenum">
              <a:rPr lang="en-US" smtClean="0"/>
              <a:pPr>
                <a:defRPr/>
              </a:pPr>
              <a:t>55</a:t>
            </a:fld>
            <a:endParaRPr lang="en-US" dirty="0"/>
          </a:p>
        </p:txBody>
      </p:sp>
    </p:spTree>
    <p:extLst>
      <p:ext uri="{BB962C8B-B14F-4D97-AF65-F5344CB8AC3E}">
        <p14:creationId xmlns:p14="http://schemas.microsoft.com/office/powerpoint/2010/main" val="28922465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r>
              <a:rPr lang="en-NZ" b="1" dirty="0"/>
              <a:t>Animation:</a:t>
            </a:r>
            <a:r>
              <a:rPr lang="en-NZ" dirty="0"/>
              <a:t> Callouts explain resource parts of figure</a:t>
            </a:r>
          </a:p>
          <a:p>
            <a:pPr>
              <a:defRPr/>
            </a:pPr>
            <a:endParaRPr lang="en-NZ" b="1" dirty="0"/>
          </a:p>
          <a:p>
            <a:pPr>
              <a:defRPr/>
            </a:pPr>
            <a:r>
              <a:rPr lang="en-NZ" dirty="0"/>
              <a:t>This figure shows the state of a system consisting of four processes and three resources. </a:t>
            </a:r>
          </a:p>
          <a:p>
            <a:pPr>
              <a:defRPr/>
            </a:pPr>
            <a:endParaRPr lang="en-NZ" dirty="0"/>
          </a:p>
          <a:p>
            <a:pPr>
              <a:defRPr/>
            </a:pPr>
            <a:r>
              <a:rPr lang="en-NZ" dirty="0"/>
              <a:t>Total amount of resources</a:t>
            </a:r>
          </a:p>
          <a:p>
            <a:pPr lvl="1">
              <a:buFont typeface="Arial" pitchFamily="34" charset="0"/>
              <a:buChar char="•"/>
              <a:defRPr/>
            </a:pPr>
            <a:r>
              <a:rPr lang="en-NZ" dirty="0"/>
              <a:t> R1 = 9</a:t>
            </a:r>
          </a:p>
          <a:p>
            <a:pPr lvl="1">
              <a:buFont typeface="Arial" pitchFamily="34" charset="0"/>
              <a:buChar char="•"/>
              <a:defRPr/>
            </a:pPr>
            <a:r>
              <a:rPr lang="en-NZ" dirty="0"/>
              <a:t> R2 = 3 </a:t>
            </a:r>
          </a:p>
          <a:p>
            <a:pPr lvl="1">
              <a:buFont typeface="Arial" pitchFamily="34" charset="0"/>
              <a:buChar char="•"/>
              <a:defRPr/>
            </a:pPr>
            <a:r>
              <a:rPr lang="en-NZ" dirty="0"/>
              <a:t> R3 = 6</a:t>
            </a:r>
          </a:p>
          <a:p>
            <a:pPr lvl="1">
              <a:buFont typeface="Arial" pitchFamily="34" charset="0"/>
              <a:buChar char="•"/>
              <a:defRPr/>
            </a:pPr>
            <a:endParaRPr lang="en-NZ" dirty="0"/>
          </a:p>
          <a:p>
            <a:pPr>
              <a:buFont typeface="Arial" pitchFamily="34" charset="0"/>
              <a:buNone/>
              <a:defRPr/>
            </a:pPr>
            <a:r>
              <a:rPr lang="en-NZ" dirty="0"/>
              <a:t>In the current state allocations have been made to the four processes, leaving available</a:t>
            </a:r>
          </a:p>
          <a:p>
            <a:pPr lvl="1">
              <a:buFont typeface="Arial" pitchFamily="34" charset="0"/>
              <a:buChar char="•"/>
              <a:defRPr/>
            </a:pPr>
            <a:r>
              <a:rPr lang="en-NZ" dirty="0"/>
              <a:t> 1 unit of R2 </a:t>
            </a:r>
          </a:p>
          <a:p>
            <a:pPr lvl="1">
              <a:buFont typeface="Arial" pitchFamily="34" charset="0"/>
              <a:buChar char="•"/>
              <a:defRPr/>
            </a:pPr>
            <a:r>
              <a:rPr lang="en-NZ" dirty="0"/>
              <a:t> 1 unit of R3</a:t>
            </a:r>
          </a:p>
          <a:p>
            <a:pPr>
              <a:defRPr/>
            </a:pPr>
            <a:endParaRPr lang="en-NZ" dirty="0"/>
          </a:p>
          <a:p>
            <a:pPr>
              <a:defRPr/>
            </a:pPr>
            <a:r>
              <a:rPr lang="en-NZ" b="1" dirty="0"/>
              <a:t>Is this a safe state? </a:t>
            </a:r>
          </a:p>
          <a:p>
            <a:pPr>
              <a:defRPr/>
            </a:pPr>
            <a:endParaRPr lang="en-NZ" b="1" dirty="0"/>
          </a:p>
          <a:p>
            <a:pPr>
              <a:defRPr/>
            </a:pPr>
            <a:r>
              <a:rPr lang="en-NZ" dirty="0"/>
              <a:t>To answer this question, we ask an intermediate question:</a:t>
            </a:r>
          </a:p>
          <a:p>
            <a:pPr lvl="1">
              <a:buFont typeface="Arial" pitchFamily="34" charset="0"/>
              <a:buChar char="•"/>
              <a:defRPr/>
            </a:pPr>
            <a:r>
              <a:rPr lang="en-NZ" dirty="0"/>
              <a:t> Can any of the four processes be run to completion with the resources available? </a:t>
            </a:r>
          </a:p>
          <a:p>
            <a:pPr lvl="1">
              <a:buFont typeface="Arial" pitchFamily="34" charset="0"/>
              <a:buChar char="•"/>
              <a:defRPr/>
            </a:pPr>
            <a:r>
              <a:rPr lang="en-NZ" dirty="0"/>
              <a:t> That is, can the difference between the maximum requirement and current allocation for any process be met with the available resources?</a:t>
            </a:r>
            <a:endParaRPr lang="en-US" dirty="0"/>
          </a:p>
          <a:p>
            <a:pPr>
              <a:defRPr/>
            </a:pPr>
            <a:endParaRPr lang="en-NZ" dirty="0"/>
          </a:p>
        </p:txBody>
      </p:sp>
      <p:sp>
        <p:nvSpPr>
          <p:cNvPr id="4" name="Slide Number Placeholder 3"/>
          <p:cNvSpPr>
            <a:spLocks noGrp="1"/>
          </p:cNvSpPr>
          <p:nvPr>
            <p:ph type="sldNum" sz="quarter" idx="5"/>
          </p:nvPr>
        </p:nvSpPr>
        <p:spPr/>
        <p:txBody>
          <a:bodyPr/>
          <a:lstStyle/>
          <a:p>
            <a:pPr>
              <a:defRPr/>
            </a:pPr>
            <a:fld id="{452D9A96-9D88-4E78-AE40-FB75E3A4F28D}" type="slidenum">
              <a:rPr lang="en-US" smtClean="0"/>
              <a:pPr>
                <a:defRPr/>
              </a:pPr>
              <a:t>62</a:t>
            </a:fld>
            <a:endParaRPr lang="en-US" dirty="0"/>
          </a:p>
        </p:txBody>
      </p:sp>
    </p:spTree>
    <p:extLst>
      <p:ext uri="{BB962C8B-B14F-4D97-AF65-F5344CB8AC3E}">
        <p14:creationId xmlns:p14="http://schemas.microsoft.com/office/powerpoint/2010/main" val="11997408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noFill/>
          <a:ln>
            <a:solidFill>
              <a:srgbClr val="000000"/>
            </a:solidFill>
            <a:miter lim="800000"/>
            <a:headEnd/>
            <a:tailEnd/>
          </a:ln>
        </p:spPr>
      </p:sp>
      <p:sp>
        <p:nvSpPr>
          <p:cNvPr id="10240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In this case, each of the remaining processes could be completed as shown on the next slides</a:t>
            </a:r>
          </a:p>
        </p:txBody>
      </p:sp>
      <p:sp>
        <p:nvSpPr>
          <p:cNvPr id="4" name="Slide Number Placeholder 3"/>
          <p:cNvSpPr>
            <a:spLocks noGrp="1"/>
          </p:cNvSpPr>
          <p:nvPr>
            <p:ph type="sldNum" sz="quarter" idx="5"/>
          </p:nvPr>
        </p:nvSpPr>
        <p:spPr/>
        <p:txBody>
          <a:bodyPr/>
          <a:lstStyle/>
          <a:p>
            <a:pPr>
              <a:defRPr/>
            </a:pPr>
            <a:fld id="{0C2A4A51-6373-4A7F-8DC8-3776D9E31D6D}" type="slidenum">
              <a:rPr lang="en-US" smtClean="0"/>
              <a:pPr>
                <a:defRPr/>
              </a:pPr>
              <a:t>64</a:t>
            </a:fld>
            <a:endParaRPr lang="en-US" dirty="0"/>
          </a:p>
        </p:txBody>
      </p:sp>
    </p:spTree>
    <p:extLst>
      <p:ext uri="{BB962C8B-B14F-4D97-AF65-F5344CB8AC3E}">
        <p14:creationId xmlns:p14="http://schemas.microsoft.com/office/powerpoint/2010/main" val="26684214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bwMode="auto">
          <a:noFill/>
          <a:ln>
            <a:solidFill>
              <a:srgbClr val="000000"/>
            </a:solidFill>
            <a:miter lim="800000"/>
            <a:headEnd/>
            <a:tailEnd/>
          </a:ln>
        </p:spPr>
      </p:sp>
      <p:sp>
        <p:nvSpPr>
          <p:cNvPr id="103427"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Suppose we choose P1, </a:t>
            </a:r>
          </a:p>
          <a:p>
            <a:pPr lvl="1">
              <a:buFontTx/>
              <a:buChar char="•"/>
            </a:pPr>
            <a:r>
              <a:rPr lang="en-NZ" dirty="0"/>
              <a:t> allocate the required resources, </a:t>
            </a:r>
          </a:p>
          <a:p>
            <a:pPr lvl="1">
              <a:buFontTx/>
              <a:buChar char="•"/>
            </a:pPr>
            <a:r>
              <a:rPr lang="en-NZ" dirty="0"/>
              <a:t> complete P1, </a:t>
            </a:r>
          </a:p>
          <a:p>
            <a:pPr lvl="1">
              <a:buFontTx/>
              <a:buChar char="•"/>
            </a:pPr>
            <a:r>
              <a:rPr lang="en-NZ" dirty="0"/>
              <a:t> and return all of P1’s resources to the available pool.</a:t>
            </a:r>
          </a:p>
          <a:p>
            <a:endParaRPr lang="en-NZ" dirty="0"/>
          </a:p>
          <a:p>
            <a:r>
              <a:rPr lang="en-NZ" dirty="0"/>
              <a:t>We are left in the state shown in Figure 6.7c on this slide</a:t>
            </a:r>
            <a:endParaRPr lang="en-US" dirty="0"/>
          </a:p>
        </p:txBody>
      </p:sp>
      <p:sp>
        <p:nvSpPr>
          <p:cNvPr id="4" name="Slide Number Placeholder 3"/>
          <p:cNvSpPr>
            <a:spLocks noGrp="1"/>
          </p:cNvSpPr>
          <p:nvPr>
            <p:ph type="sldNum" sz="quarter" idx="5"/>
          </p:nvPr>
        </p:nvSpPr>
        <p:spPr/>
        <p:txBody>
          <a:bodyPr/>
          <a:lstStyle/>
          <a:p>
            <a:pPr>
              <a:defRPr/>
            </a:pPr>
            <a:fld id="{F8968331-3794-4E05-8975-72549F0187A0}" type="slidenum">
              <a:rPr lang="en-US" smtClean="0"/>
              <a:pPr>
                <a:defRPr/>
              </a:pPr>
              <a:t>65</a:t>
            </a:fld>
            <a:endParaRPr lang="en-US" dirty="0"/>
          </a:p>
        </p:txBody>
      </p:sp>
    </p:spTree>
    <p:extLst>
      <p:ext uri="{BB962C8B-B14F-4D97-AF65-F5344CB8AC3E}">
        <p14:creationId xmlns:p14="http://schemas.microsoft.com/office/powerpoint/2010/main" val="28645531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bwMode="auto">
          <a:noFill/>
          <a:ln>
            <a:solidFill>
              <a:srgbClr val="000000"/>
            </a:solidFill>
            <a:miter lim="800000"/>
            <a:headEnd/>
            <a:tailEnd/>
          </a:ln>
        </p:spPr>
      </p:sp>
      <p:sp>
        <p:nvSpPr>
          <p:cNvPr id="104451"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P3 completes, resulting in the state of Figure 6.7d shown on this slide</a:t>
            </a:r>
          </a:p>
          <a:p>
            <a:endParaRPr lang="en-NZ" dirty="0"/>
          </a:p>
          <a:p>
            <a:r>
              <a:rPr lang="en-NZ" dirty="0"/>
              <a:t>Finally, we can complete P4. At this point, all of the processes have been run to completion. </a:t>
            </a:r>
          </a:p>
          <a:p>
            <a:endParaRPr lang="en-NZ" dirty="0"/>
          </a:p>
          <a:p>
            <a:r>
              <a:rPr lang="en-NZ" dirty="0"/>
              <a:t>Thus, the state defined by Figure 6.7a is a safe state.</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402917B0-1585-4D3B-9ACE-80127C2C8858}" type="slidenum">
              <a:rPr lang="en-US" smtClean="0"/>
              <a:pPr>
                <a:defRPr/>
              </a:pPr>
              <a:t>66</a:t>
            </a:fld>
            <a:endParaRPr lang="en-US" dirty="0"/>
          </a:p>
        </p:txBody>
      </p:sp>
    </p:spTree>
    <p:extLst>
      <p:ext uri="{BB962C8B-B14F-4D97-AF65-F5344CB8AC3E}">
        <p14:creationId xmlns:p14="http://schemas.microsoft.com/office/powerpoint/2010/main" val="42774902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p:spPr>
      </p:sp>
      <p:sp>
        <p:nvSpPr>
          <p:cNvPr id="10752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This slide gives an abstract version of the deadlock avoidance logic. </a:t>
            </a:r>
          </a:p>
          <a:p>
            <a:pPr lvl="1"/>
            <a:r>
              <a:rPr lang="en-NZ" dirty="0"/>
              <a:t>The main algorithm is shown in part (b).</a:t>
            </a:r>
          </a:p>
          <a:p>
            <a:endParaRPr lang="en-NZ" dirty="0"/>
          </a:p>
          <a:p>
            <a:r>
              <a:rPr lang="en-NZ" dirty="0"/>
              <a:t>With the state of the system defined by the data structure state, request[*] is a vector defining the resources requested by process </a:t>
            </a:r>
            <a:r>
              <a:rPr lang="en-NZ" dirty="0" err="1"/>
              <a:t>i</a:t>
            </a:r>
            <a:r>
              <a:rPr lang="en-NZ" dirty="0"/>
              <a:t>.</a:t>
            </a:r>
          </a:p>
          <a:p>
            <a:endParaRPr lang="en-NZ" dirty="0"/>
          </a:p>
          <a:p>
            <a:r>
              <a:rPr lang="en-NZ" dirty="0"/>
              <a:t>First, a check is made to assure that the request does not exceed the original claim of the process. </a:t>
            </a:r>
          </a:p>
          <a:p>
            <a:pPr lvl="1">
              <a:buFontTx/>
              <a:buChar char="•"/>
            </a:pPr>
            <a:r>
              <a:rPr lang="en-NZ" dirty="0"/>
              <a:t> If the request is valid, the next step is to determine if it is possible to </a:t>
            </a:r>
            <a:r>
              <a:rPr lang="en-NZ" dirty="0" err="1"/>
              <a:t>fulfill</a:t>
            </a:r>
            <a:r>
              <a:rPr lang="en-NZ" dirty="0"/>
              <a:t> the request (i.e., there are sufficient resources available). </a:t>
            </a:r>
          </a:p>
          <a:p>
            <a:pPr lvl="2">
              <a:buFontTx/>
              <a:buChar char="•"/>
            </a:pPr>
            <a:r>
              <a:rPr lang="en-NZ" dirty="0"/>
              <a:t> If it is not possible, then the process is suspended. </a:t>
            </a:r>
          </a:p>
          <a:p>
            <a:pPr lvl="2">
              <a:buFontTx/>
              <a:buChar char="•"/>
            </a:pPr>
            <a:r>
              <a:rPr lang="en-NZ" dirty="0"/>
              <a:t> If it is possible, the final step is to determine if it is safe to </a:t>
            </a:r>
            <a:r>
              <a:rPr lang="en-NZ" dirty="0" err="1"/>
              <a:t>fulfill</a:t>
            </a:r>
            <a:r>
              <a:rPr lang="en-NZ" dirty="0"/>
              <a:t> the request. To do this, the resources are tentatively assigned to process </a:t>
            </a:r>
            <a:r>
              <a:rPr lang="en-NZ" dirty="0" err="1"/>
              <a:t>i</a:t>
            </a:r>
            <a:r>
              <a:rPr lang="en-NZ" dirty="0"/>
              <a:t> to form </a:t>
            </a:r>
            <a:r>
              <a:rPr lang="en-NZ" dirty="0" err="1"/>
              <a:t>newstate</a:t>
            </a:r>
            <a:r>
              <a:rPr lang="en-NZ" dirty="0"/>
              <a:t>.</a:t>
            </a:r>
            <a:endParaRPr lang="en-US" dirty="0"/>
          </a:p>
        </p:txBody>
      </p:sp>
      <p:sp>
        <p:nvSpPr>
          <p:cNvPr id="4" name="Slide Number Placeholder 3"/>
          <p:cNvSpPr>
            <a:spLocks noGrp="1"/>
          </p:cNvSpPr>
          <p:nvPr>
            <p:ph type="sldNum" sz="quarter" idx="5"/>
          </p:nvPr>
        </p:nvSpPr>
        <p:spPr/>
        <p:txBody>
          <a:bodyPr/>
          <a:lstStyle/>
          <a:p>
            <a:pPr>
              <a:defRPr/>
            </a:pPr>
            <a:fld id="{3BCBD451-CE64-433F-8766-4492669FB200}" type="slidenum">
              <a:rPr lang="en-US" smtClean="0"/>
              <a:pPr>
                <a:defRPr/>
              </a:pPr>
              <a:t>68</a:t>
            </a:fld>
            <a:endParaRPr lang="en-US" dirty="0"/>
          </a:p>
        </p:txBody>
      </p:sp>
    </p:spTree>
    <p:extLst>
      <p:ext uri="{BB962C8B-B14F-4D97-AF65-F5344CB8AC3E}">
        <p14:creationId xmlns:p14="http://schemas.microsoft.com/office/powerpoint/2010/main" val="3734757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bwMode="auto">
          <a:noFill/>
          <a:ln>
            <a:solidFill>
              <a:srgbClr val="000000"/>
            </a:solidFill>
            <a:miter lim="800000"/>
            <a:headEnd/>
            <a:tailEnd/>
          </a:ln>
        </p:spPr>
      </p:sp>
      <p:sp>
        <p:nvSpPr>
          <p:cNvPr id="108547"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Then a test for safety is made using the algorithm in Figure 6.9c.</a:t>
            </a:r>
            <a:endParaRPr lang="en-US"/>
          </a:p>
        </p:txBody>
      </p:sp>
      <p:sp>
        <p:nvSpPr>
          <p:cNvPr id="4" name="Slide Number Placeholder 3"/>
          <p:cNvSpPr>
            <a:spLocks noGrp="1"/>
          </p:cNvSpPr>
          <p:nvPr>
            <p:ph type="sldNum" sz="quarter" idx="5"/>
          </p:nvPr>
        </p:nvSpPr>
        <p:spPr/>
        <p:txBody>
          <a:bodyPr/>
          <a:lstStyle/>
          <a:p>
            <a:pPr>
              <a:defRPr/>
            </a:pPr>
            <a:fld id="{5C501958-049F-4219-82D1-0A9F3DD7B150}" type="slidenum">
              <a:rPr lang="en-US" smtClean="0"/>
              <a:pPr>
                <a:defRPr/>
              </a:pPr>
              <a:t>69</a:t>
            </a:fld>
            <a:endParaRPr lang="en-US" dirty="0"/>
          </a:p>
        </p:txBody>
      </p:sp>
    </p:spTree>
    <p:extLst>
      <p:ext uri="{BB962C8B-B14F-4D97-AF65-F5344CB8AC3E}">
        <p14:creationId xmlns:p14="http://schemas.microsoft.com/office/powerpoint/2010/main" val="20052961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p:spPr>
      </p:sp>
      <p:sp>
        <p:nvSpPr>
          <p:cNvPr id="106499"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This suggests the following deadlock avoidance strategy, </a:t>
            </a:r>
          </a:p>
          <a:p>
            <a:pPr lvl="1"/>
            <a:r>
              <a:rPr lang="en-NZ" dirty="0"/>
              <a:t>which ensures that the system of processes and resources is always in a safe state. </a:t>
            </a:r>
          </a:p>
          <a:p>
            <a:pPr lvl="1"/>
            <a:endParaRPr lang="en-NZ" dirty="0"/>
          </a:p>
          <a:p>
            <a:r>
              <a:rPr lang="en-NZ" dirty="0"/>
              <a:t>When a process makes a request for a set of resources, assume that the request is granted, update</a:t>
            </a:r>
          </a:p>
          <a:p>
            <a:r>
              <a:rPr lang="en-NZ" dirty="0"/>
              <a:t>the system state accordingly, and then determine if the result is a safe state. If so,</a:t>
            </a:r>
          </a:p>
          <a:p>
            <a:r>
              <a:rPr lang="en-NZ" dirty="0"/>
              <a:t>grant the request and, if not, block the process until it is safe to grant the request.</a:t>
            </a:r>
          </a:p>
        </p:txBody>
      </p:sp>
      <p:sp>
        <p:nvSpPr>
          <p:cNvPr id="4" name="Slide Number Placeholder 3"/>
          <p:cNvSpPr>
            <a:spLocks noGrp="1"/>
          </p:cNvSpPr>
          <p:nvPr>
            <p:ph type="sldNum" sz="quarter" idx="5"/>
          </p:nvPr>
        </p:nvSpPr>
        <p:spPr/>
        <p:txBody>
          <a:bodyPr/>
          <a:lstStyle/>
          <a:p>
            <a:pPr>
              <a:defRPr/>
            </a:pPr>
            <a:fld id="{3F53842F-A8A8-4C00-AC2D-8F9EFD98DD4D}" type="slidenum">
              <a:rPr lang="en-US" smtClean="0"/>
              <a:pPr>
                <a:defRPr/>
              </a:pPr>
              <a:t>70</a:t>
            </a:fld>
            <a:endParaRPr lang="en-US" dirty="0"/>
          </a:p>
        </p:txBody>
      </p:sp>
    </p:spTree>
    <p:extLst>
      <p:ext uri="{BB962C8B-B14F-4D97-AF65-F5344CB8AC3E}">
        <p14:creationId xmlns:p14="http://schemas.microsoft.com/office/powerpoint/2010/main" val="7553615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p:spPr>
      </p:sp>
      <p:sp>
        <p:nvSpPr>
          <p:cNvPr id="106499"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This suggests the following deadlock avoidance strategy, </a:t>
            </a:r>
          </a:p>
          <a:p>
            <a:pPr lvl="1"/>
            <a:r>
              <a:rPr lang="en-NZ" dirty="0"/>
              <a:t>which ensures that the system of processes and resources is always in a safe state. </a:t>
            </a:r>
          </a:p>
          <a:p>
            <a:pPr lvl="1"/>
            <a:endParaRPr lang="en-NZ" dirty="0"/>
          </a:p>
          <a:p>
            <a:r>
              <a:rPr lang="en-NZ" dirty="0"/>
              <a:t>When a process makes a request for a set of resources, assume that the request is granted, update</a:t>
            </a:r>
          </a:p>
          <a:p>
            <a:r>
              <a:rPr lang="en-NZ" dirty="0"/>
              <a:t>the system state accordingly, and then determine if the result is a safe state. If so,</a:t>
            </a:r>
          </a:p>
          <a:p>
            <a:r>
              <a:rPr lang="en-NZ" dirty="0"/>
              <a:t>grant the request and, if not, block the process until it is safe to grant the request.</a:t>
            </a:r>
          </a:p>
        </p:txBody>
      </p:sp>
      <p:sp>
        <p:nvSpPr>
          <p:cNvPr id="4" name="Slide Number Placeholder 3"/>
          <p:cNvSpPr>
            <a:spLocks noGrp="1"/>
          </p:cNvSpPr>
          <p:nvPr>
            <p:ph type="sldNum" sz="quarter" idx="5"/>
          </p:nvPr>
        </p:nvSpPr>
        <p:spPr/>
        <p:txBody>
          <a:bodyPr/>
          <a:lstStyle/>
          <a:p>
            <a:pPr>
              <a:defRPr/>
            </a:pPr>
            <a:fld id="{3F53842F-A8A8-4C00-AC2D-8F9EFD98DD4D}" type="slidenum">
              <a:rPr lang="en-US" smtClean="0"/>
              <a:pPr>
                <a:defRPr/>
              </a:pPr>
              <a:t>71</a:t>
            </a:fld>
            <a:endParaRPr lang="en-US" dirty="0"/>
          </a:p>
        </p:txBody>
      </p:sp>
    </p:spTree>
    <p:extLst>
      <p:ext uri="{BB962C8B-B14F-4D97-AF65-F5344CB8AC3E}">
        <p14:creationId xmlns:p14="http://schemas.microsoft.com/office/powerpoint/2010/main" val="7553615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bwMode="auto">
          <a:noFill/>
          <a:ln>
            <a:solidFill>
              <a:srgbClr val="000000"/>
            </a:solidFill>
            <a:miter lim="800000"/>
            <a:headEnd/>
            <a:tailEnd/>
          </a:ln>
        </p:spPr>
      </p:sp>
      <p:sp>
        <p:nvSpPr>
          <p:cNvPr id="109571"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Deadlock avoidance has the advantage that it is not necessary to preempt and</a:t>
            </a:r>
          </a:p>
          <a:p>
            <a:r>
              <a:rPr lang="en-NZ"/>
              <a:t>rollback processes, as in deadlock detection, and is less restrictive than deadlock</a:t>
            </a:r>
          </a:p>
          <a:p>
            <a:r>
              <a:rPr lang="en-NZ"/>
              <a:t>prevention. </a:t>
            </a:r>
            <a:endParaRPr lang="en-US"/>
          </a:p>
        </p:txBody>
      </p:sp>
      <p:sp>
        <p:nvSpPr>
          <p:cNvPr id="4" name="Slide Number Placeholder 3"/>
          <p:cNvSpPr>
            <a:spLocks noGrp="1"/>
          </p:cNvSpPr>
          <p:nvPr>
            <p:ph type="sldNum" sz="quarter" idx="5"/>
          </p:nvPr>
        </p:nvSpPr>
        <p:spPr/>
        <p:txBody>
          <a:bodyPr/>
          <a:lstStyle/>
          <a:p>
            <a:pPr>
              <a:defRPr/>
            </a:pPr>
            <a:fld id="{D7DDC020-7D5E-44CB-84B6-152096A9AD18}" type="slidenum">
              <a:rPr lang="en-US" smtClean="0"/>
              <a:pPr>
                <a:defRPr/>
              </a:pPr>
              <a:t>72</a:t>
            </a:fld>
            <a:endParaRPr lang="en-US" dirty="0"/>
          </a:p>
        </p:txBody>
      </p:sp>
    </p:spTree>
    <p:extLst>
      <p:ext uri="{BB962C8B-B14F-4D97-AF65-F5344CB8AC3E}">
        <p14:creationId xmlns:p14="http://schemas.microsoft.com/office/powerpoint/2010/main" val="42276995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04A3A493-93E3-491C-82D2-A9668D0AEF5F}" type="slidenum">
              <a:rPr lang="en-US" smtClean="0"/>
              <a:pPr>
                <a:defRPr/>
              </a:pPr>
              <a:t>73</a:t>
            </a:fld>
            <a:endParaRPr lang="en-US" dirty="0"/>
          </a:p>
        </p:txBody>
      </p:sp>
    </p:spTree>
    <p:extLst>
      <p:ext uri="{BB962C8B-B14F-4D97-AF65-F5344CB8AC3E}">
        <p14:creationId xmlns:p14="http://schemas.microsoft.com/office/powerpoint/2010/main" val="20746205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p:spPr>
      </p:sp>
      <p:sp>
        <p:nvSpPr>
          <p:cNvPr id="11264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Deadlock checks can be made as frequently as each resource request or, less frequently, depending on how likely it is for a deadlock to occur. </a:t>
            </a:r>
          </a:p>
          <a:p>
            <a:endParaRPr lang="en-NZ" dirty="0"/>
          </a:p>
          <a:p>
            <a:r>
              <a:rPr lang="en-NZ" dirty="0"/>
              <a:t>Checking at each resource request has two advantages: </a:t>
            </a:r>
          </a:p>
          <a:p>
            <a:pPr lvl="1">
              <a:buFontTx/>
              <a:buChar char="•"/>
            </a:pPr>
            <a:r>
              <a:rPr lang="en-NZ" dirty="0"/>
              <a:t> it leads to early detection, </a:t>
            </a:r>
          </a:p>
          <a:p>
            <a:pPr lvl="1">
              <a:buFontTx/>
              <a:buChar char="•"/>
            </a:pPr>
            <a:r>
              <a:rPr lang="en-NZ" dirty="0"/>
              <a:t> the algorithm is relatively simple because it is based on incremental changes to the state of the system.</a:t>
            </a:r>
          </a:p>
          <a:p>
            <a:pPr lvl="1"/>
            <a:endParaRPr lang="en-NZ" dirty="0"/>
          </a:p>
          <a:p>
            <a:r>
              <a:rPr lang="en-NZ" dirty="0"/>
              <a:t>On the other hand, such frequent checks consume considerable processor time.</a:t>
            </a:r>
          </a:p>
        </p:txBody>
      </p:sp>
      <p:sp>
        <p:nvSpPr>
          <p:cNvPr id="4" name="Slide Number Placeholder 3"/>
          <p:cNvSpPr>
            <a:spLocks noGrp="1"/>
          </p:cNvSpPr>
          <p:nvPr>
            <p:ph type="sldNum" sz="quarter" idx="5"/>
          </p:nvPr>
        </p:nvSpPr>
        <p:spPr/>
        <p:txBody>
          <a:bodyPr/>
          <a:lstStyle/>
          <a:p>
            <a:pPr>
              <a:defRPr/>
            </a:pPr>
            <a:fld id="{E435CBF7-3E79-42C9-A509-1CEED273F3E8}" type="slidenum">
              <a:rPr lang="en-US" smtClean="0"/>
              <a:pPr>
                <a:defRPr/>
              </a:pPr>
              <a:t>74</a:t>
            </a:fld>
            <a:endParaRPr lang="en-US" dirty="0"/>
          </a:p>
        </p:txBody>
      </p:sp>
    </p:spTree>
    <p:extLst>
      <p:ext uri="{BB962C8B-B14F-4D97-AF65-F5344CB8AC3E}">
        <p14:creationId xmlns:p14="http://schemas.microsoft.com/office/powerpoint/2010/main" val="38566815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r>
              <a:rPr lang="en-NZ" dirty="0"/>
              <a:t>A common algorithm for deadlock detection is one described in [COFF71].</a:t>
            </a:r>
          </a:p>
          <a:p>
            <a:pPr>
              <a:defRPr/>
            </a:pPr>
            <a:endParaRPr lang="en-NZ" dirty="0"/>
          </a:p>
          <a:p>
            <a:pPr>
              <a:defRPr/>
            </a:pPr>
            <a:r>
              <a:rPr lang="en-NZ" dirty="0"/>
              <a:t>The Allocation matrix and Available vector described in the previous section are used. </a:t>
            </a:r>
          </a:p>
          <a:p>
            <a:pPr>
              <a:defRPr/>
            </a:pPr>
            <a:endParaRPr lang="en-NZ" dirty="0"/>
          </a:p>
          <a:p>
            <a:pPr>
              <a:defRPr/>
            </a:pPr>
            <a:r>
              <a:rPr lang="en-NZ" dirty="0"/>
              <a:t>In addition, a request matrix </a:t>
            </a:r>
            <a:r>
              <a:rPr lang="en-NZ" b="1" dirty="0"/>
              <a:t>Q</a:t>
            </a:r>
            <a:r>
              <a:rPr lang="en-NZ" dirty="0"/>
              <a:t> is defined such that </a:t>
            </a:r>
            <a:r>
              <a:rPr lang="en-NZ" b="1" i="1" dirty="0"/>
              <a:t>Qij</a:t>
            </a:r>
            <a:r>
              <a:rPr lang="en-NZ" dirty="0"/>
              <a:t> represents the amount of resources of type </a:t>
            </a:r>
            <a:r>
              <a:rPr lang="en-NZ" i="1" dirty="0"/>
              <a:t>j </a:t>
            </a:r>
            <a:r>
              <a:rPr lang="en-NZ" dirty="0"/>
              <a:t>requested by process </a:t>
            </a:r>
            <a:r>
              <a:rPr lang="en-NZ" i="1" dirty="0"/>
              <a:t>i. </a:t>
            </a:r>
          </a:p>
          <a:p>
            <a:pPr>
              <a:defRPr/>
            </a:pPr>
            <a:endParaRPr lang="en-NZ" i="1" dirty="0"/>
          </a:p>
          <a:p>
            <a:pPr>
              <a:defRPr/>
            </a:pPr>
            <a:r>
              <a:rPr lang="en-NZ" dirty="0"/>
              <a:t>The algorithm proceeds by marking processes that are not deadlocked. Initially, all processes are unmarked. </a:t>
            </a:r>
          </a:p>
        </p:txBody>
      </p:sp>
      <p:sp>
        <p:nvSpPr>
          <p:cNvPr id="4" name="Slide Number Placeholder 3"/>
          <p:cNvSpPr>
            <a:spLocks noGrp="1"/>
          </p:cNvSpPr>
          <p:nvPr>
            <p:ph type="sldNum" sz="quarter" idx="5"/>
          </p:nvPr>
        </p:nvSpPr>
        <p:spPr/>
        <p:txBody>
          <a:bodyPr/>
          <a:lstStyle/>
          <a:p>
            <a:pPr>
              <a:defRPr/>
            </a:pPr>
            <a:fld id="{57945593-5F6E-4857-808A-68A379BC7F2A}" type="slidenum">
              <a:rPr lang="en-US" smtClean="0"/>
              <a:pPr>
                <a:defRPr/>
              </a:pPr>
              <a:t>75</a:t>
            </a:fld>
            <a:endParaRPr lang="en-US" dirty="0"/>
          </a:p>
        </p:txBody>
      </p:sp>
    </p:spTree>
    <p:extLst>
      <p:ext uri="{BB962C8B-B14F-4D97-AF65-F5344CB8AC3E}">
        <p14:creationId xmlns:p14="http://schemas.microsoft.com/office/powerpoint/2010/main" val="27694746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bwMode="auto">
          <a:noFill/>
          <a:ln>
            <a:solidFill>
              <a:srgbClr val="000000"/>
            </a:solidFill>
            <a:miter lim="800000"/>
            <a:headEnd/>
            <a:tailEnd/>
          </a:ln>
        </p:spPr>
      </p:sp>
      <p:sp>
        <p:nvSpPr>
          <p:cNvPr id="116739"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1.  Mark P4, because P4 has no allocated resources.</a:t>
            </a:r>
          </a:p>
          <a:p>
            <a:endParaRPr lang="en-NZ"/>
          </a:p>
          <a:p>
            <a:r>
              <a:rPr lang="pl-PL"/>
              <a:t>2. Set </a:t>
            </a:r>
            <a:r>
              <a:rPr lang="pl-PL" b="1"/>
              <a:t>W</a:t>
            </a:r>
            <a:r>
              <a:rPr lang="en-NZ" b="1"/>
              <a:t> </a:t>
            </a:r>
            <a:r>
              <a:rPr lang="en-NZ"/>
              <a:t>=</a:t>
            </a:r>
            <a:r>
              <a:rPr lang="pl-PL"/>
              <a:t> (0 0 0 0 1).</a:t>
            </a:r>
          </a:p>
          <a:p>
            <a:endParaRPr lang="en-NZ"/>
          </a:p>
          <a:p>
            <a:r>
              <a:rPr lang="en-NZ"/>
              <a:t>3. The request of process P3 is less than or equal to </a:t>
            </a:r>
            <a:r>
              <a:rPr lang="en-NZ" b="1"/>
              <a:t>W</a:t>
            </a:r>
            <a:r>
              <a:rPr lang="en-NZ"/>
              <a:t>, so mark P3 and set W=W + (0 0 0 1 0) = (0 0 0 1 1).</a:t>
            </a:r>
          </a:p>
          <a:p>
            <a:endParaRPr lang="en-NZ"/>
          </a:p>
          <a:p>
            <a:r>
              <a:rPr lang="en-NZ"/>
              <a:t>4. No other unmarked process has a row in Q that is less than or equal to W.</a:t>
            </a:r>
          </a:p>
          <a:p>
            <a:pPr lvl="1"/>
            <a:r>
              <a:rPr lang="en-NZ"/>
              <a:t>Therefore, terminate the algorithm.</a:t>
            </a:r>
          </a:p>
          <a:p>
            <a:pPr lvl="1"/>
            <a:endParaRPr lang="en-NZ"/>
          </a:p>
          <a:p>
            <a:r>
              <a:rPr lang="en-NZ"/>
              <a:t>The algorithm concludes with P1 and P2 unmarked, indicating that these processes are deadlocked.</a:t>
            </a:r>
          </a:p>
        </p:txBody>
      </p:sp>
      <p:sp>
        <p:nvSpPr>
          <p:cNvPr id="4" name="Slide Number Placeholder 3"/>
          <p:cNvSpPr>
            <a:spLocks noGrp="1"/>
          </p:cNvSpPr>
          <p:nvPr>
            <p:ph type="sldNum" sz="quarter" idx="5"/>
          </p:nvPr>
        </p:nvSpPr>
        <p:spPr/>
        <p:txBody>
          <a:bodyPr/>
          <a:lstStyle/>
          <a:p>
            <a:pPr>
              <a:defRPr/>
            </a:pPr>
            <a:fld id="{1B065DEA-1313-472C-B47B-E5C81E062A85}" type="slidenum">
              <a:rPr lang="en-US" smtClean="0"/>
              <a:pPr>
                <a:defRPr/>
              </a:pPr>
              <a:t>76</a:t>
            </a:fld>
            <a:endParaRPr lang="en-US" dirty="0"/>
          </a:p>
        </p:txBody>
      </p:sp>
    </p:spTree>
    <p:extLst>
      <p:ext uri="{BB962C8B-B14F-4D97-AF65-F5344CB8AC3E}">
        <p14:creationId xmlns:p14="http://schemas.microsoft.com/office/powerpoint/2010/main" val="34677731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r>
              <a:rPr lang="en-NZ" dirty="0"/>
              <a:t>A common algorithm for deadlock detection is one described in [COFF71].</a:t>
            </a:r>
          </a:p>
          <a:p>
            <a:pPr>
              <a:defRPr/>
            </a:pPr>
            <a:endParaRPr lang="en-NZ" dirty="0"/>
          </a:p>
          <a:p>
            <a:pPr>
              <a:defRPr/>
            </a:pPr>
            <a:r>
              <a:rPr lang="en-NZ" dirty="0"/>
              <a:t>The Allocation matrix and Available vector described in the previous section are used. </a:t>
            </a:r>
          </a:p>
          <a:p>
            <a:pPr>
              <a:defRPr/>
            </a:pPr>
            <a:endParaRPr lang="en-NZ" dirty="0"/>
          </a:p>
          <a:p>
            <a:pPr>
              <a:defRPr/>
            </a:pPr>
            <a:r>
              <a:rPr lang="en-NZ" dirty="0"/>
              <a:t>In addition, a request matrix </a:t>
            </a:r>
            <a:r>
              <a:rPr lang="en-NZ" b="1" dirty="0"/>
              <a:t>Q</a:t>
            </a:r>
            <a:r>
              <a:rPr lang="en-NZ" dirty="0"/>
              <a:t> is defined such that </a:t>
            </a:r>
            <a:r>
              <a:rPr lang="en-NZ" b="1" i="1" dirty="0"/>
              <a:t>Qij</a:t>
            </a:r>
            <a:r>
              <a:rPr lang="en-NZ" dirty="0"/>
              <a:t> represents the amount of resources of type </a:t>
            </a:r>
            <a:r>
              <a:rPr lang="en-NZ" i="1" dirty="0"/>
              <a:t>j </a:t>
            </a:r>
            <a:r>
              <a:rPr lang="en-NZ" dirty="0"/>
              <a:t>requested by process </a:t>
            </a:r>
            <a:r>
              <a:rPr lang="en-NZ" i="1" dirty="0"/>
              <a:t>i. </a:t>
            </a:r>
          </a:p>
          <a:p>
            <a:pPr>
              <a:defRPr/>
            </a:pPr>
            <a:endParaRPr lang="en-NZ" i="1" dirty="0"/>
          </a:p>
          <a:p>
            <a:pPr>
              <a:defRPr/>
            </a:pPr>
            <a:r>
              <a:rPr lang="en-NZ" dirty="0"/>
              <a:t>The algorithm proceeds by marking processes that are not deadlocked. Initially, all processes are unmarked. </a:t>
            </a:r>
          </a:p>
        </p:txBody>
      </p:sp>
      <p:sp>
        <p:nvSpPr>
          <p:cNvPr id="4" name="Slide Number Placeholder 3"/>
          <p:cNvSpPr>
            <a:spLocks noGrp="1"/>
          </p:cNvSpPr>
          <p:nvPr>
            <p:ph type="sldNum" sz="quarter" idx="5"/>
          </p:nvPr>
        </p:nvSpPr>
        <p:spPr/>
        <p:txBody>
          <a:bodyPr/>
          <a:lstStyle/>
          <a:p>
            <a:pPr>
              <a:defRPr/>
            </a:pPr>
            <a:fld id="{57945593-5F6E-4857-808A-68A379BC7F2A}" type="slidenum">
              <a:rPr lang="en-US" smtClean="0"/>
              <a:pPr>
                <a:defRPr/>
              </a:pPr>
              <a:t>78</a:t>
            </a:fld>
            <a:endParaRPr lang="en-US" dirty="0"/>
          </a:p>
        </p:txBody>
      </p:sp>
    </p:spTree>
    <p:extLst>
      <p:ext uri="{BB962C8B-B14F-4D97-AF65-F5344CB8AC3E}">
        <p14:creationId xmlns:p14="http://schemas.microsoft.com/office/powerpoint/2010/main" val="27694746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r>
              <a:rPr lang="en-NZ" dirty="0"/>
              <a:t>A common algorithm for deadlock detection is one described in [COFF71].</a:t>
            </a:r>
          </a:p>
          <a:p>
            <a:pPr>
              <a:defRPr/>
            </a:pPr>
            <a:endParaRPr lang="en-NZ" dirty="0"/>
          </a:p>
          <a:p>
            <a:pPr>
              <a:defRPr/>
            </a:pPr>
            <a:r>
              <a:rPr lang="en-NZ" dirty="0"/>
              <a:t>The Allocation matrix and Available vector described in the previous section are used. </a:t>
            </a:r>
          </a:p>
          <a:p>
            <a:pPr>
              <a:defRPr/>
            </a:pPr>
            <a:endParaRPr lang="en-NZ" dirty="0"/>
          </a:p>
          <a:p>
            <a:pPr>
              <a:defRPr/>
            </a:pPr>
            <a:r>
              <a:rPr lang="en-NZ" dirty="0"/>
              <a:t>In addition, a request matrix </a:t>
            </a:r>
            <a:r>
              <a:rPr lang="en-NZ" b="1" dirty="0"/>
              <a:t>Q</a:t>
            </a:r>
            <a:r>
              <a:rPr lang="en-NZ" dirty="0"/>
              <a:t> is defined such that </a:t>
            </a:r>
            <a:r>
              <a:rPr lang="en-NZ" b="1" i="1" dirty="0"/>
              <a:t>Qij</a:t>
            </a:r>
            <a:r>
              <a:rPr lang="en-NZ" dirty="0"/>
              <a:t> represents the amount of resources of type </a:t>
            </a:r>
            <a:r>
              <a:rPr lang="en-NZ" i="1" dirty="0"/>
              <a:t>j </a:t>
            </a:r>
            <a:r>
              <a:rPr lang="en-NZ" dirty="0"/>
              <a:t>requested by process </a:t>
            </a:r>
            <a:r>
              <a:rPr lang="en-NZ" i="1" dirty="0"/>
              <a:t>i. </a:t>
            </a:r>
          </a:p>
          <a:p>
            <a:pPr>
              <a:defRPr/>
            </a:pPr>
            <a:endParaRPr lang="en-NZ" i="1" dirty="0"/>
          </a:p>
          <a:p>
            <a:pPr>
              <a:defRPr/>
            </a:pPr>
            <a:r>
              <a:rPr lang="en-NZ" dirty="0"/>
              <a:t>The algorithm proceeds by marking processes that are not deadlocked. Initially, all processes are unmarked. </a:t>
            </a:r>
          </a:p>
        </p:txBody>
      </p:sp>
      <p:sp>
        <p:nvSpPr>
          <p:cNvPr id="4" name="Slide Number Placeholder 3"/>
          <p:cNvSpPr>
            <a:spLocks noGrp="1"/>
          </p:cNvSpPr>
          <p:nvPr>
            <p:ph type="sldNum" sz="quarter" idx="5"/>
          </p:nvPr>
        </p:nvSpPr>
        <p:spPr/>
        <p:txBody>
          <a:bodyPr/>
          <a:lstStyle/>
          <a:p>
            <a:pPr>
              <a:defRPr/>
            </a:pPr>
            <a:fld id="{57945593-5F6E-4857-808A-68A379BC7F2A}" type="slidenum">
              <a:rPr lang="en-US" smtClean="0"/>
              <a:pPr>
                <a:defRPr/>
              </a:pPr>
              <a:t>79</a:t>
            </a:fld>
            <a:endParaRPr lang="en-US" dirty="0"/>
          </a:p>
        </p:txBody>
      </p:sp>
    </p:spTree>
    <p:extLst>
      <p:ext uri="{BB962C8B-B14F-4D97-AF65-F5344CB8AC3E}">
        <p14:creationId xmlns:p14="http://schemas.microsoft.com/office/powerpoint/2010/main" val="27694746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r>
              <a:rPr lang="en-NZ" dirty="0"/>
              <a:t>A common algorithm for deadlock detection is one described in [COFF71].</a:t>
            </a:r>
          </a:p>
          <a:p>
            <a:pPr>
              <a:defRPr/>
            </a:pPr>
            <a:endParaRPr lang="en-NZ" dirty="0"/>
          </a:p>
          <a:p>
            <a:pPr>
              <a:defRPr/>
            </a:pPr>
            <a:r>
              <a:rPr lang="en-NZ" dirty="0"/>
              <a:t>The Allocation matrix and Available vector described in the previous section are used. </a:t>
            </a:r>
          </a:p>
          <a:p>
            <a:pPr>
              <a:defRPr/>
            </a:pPr>
            <a:endParaRPr lang="en-NZ" dirty="0"/>
          </a:p>
          <a:p>
            <a:pPr>
              <a:defRPr/>
            </a:pPr>
            <a:r>
              <a:rPr lang="en-NZ" dirty="0"/>
              <a:t>In addition, a request matrix </a:t>
            </a:r>
            <a:r>
              <a:rPr lang="en-NZ" b="1" dirty="0"/>
              <a:t>Q</a:t>
            </a:r>
            <a:r>
              <a:rPr lang="en-NZ" dirty="0"/>
              <a:t> is defined such that </a:t>
            </a:r>
            <a:r>
              <a:rPr lang="en-NZ" b="1" i="1" dirty="0"/>
              <a:t>Qij</a:t>
            </a:r>
            <a:r>
              <a:rPr lang="en-NZ" dirty="0"/>
              <a:t> represents the amount of resources of type </a:t>
            </a:r>
            <a:r>
              <a:rPr lang="en-NZ" i="1" dirty="0"/>
              <a:t>j </a:t>
            </a:r>
            <a:r>
              <a:rPr lang="en-NZ" dirty="0"/>
              <a:t>requested by process </a:t>
            </a:r>
            <a:r>
              <a:rPr lang="en-NZ" i="1" dirty="0"/>
              <a:t>i. </a:t>
            </a:r>
          </a:p>
          <a:p>
            <a:pPr>
              <a:defRPr/>
            </a:pPr>
            <a:endParaRPr lang="en-NZ" i="1" dirty="0"/>
          </a:p>
          <a:p>
            <a:pPr>
              <a:defRPr/>
            </a:pPr>
            <a:r>
              <a:rPr lang="en-NZ" dirty="0"/>
              <a:t>The algorithm proceeds by marking processes that are not deadlocked. Initially, all processes are unmarked. </a:t>
            </a:r>
          </a:p>
        </p:txBody>
      </p:sp>
      <p:sp>
        <p:nvSpPr>
          <p:cNvPr id="4" name="Slide Number Placeholder 3"/>
          <p:cNvSpPr>
            <a:spLocks noGrp="1"/>
          </p:cNvSpPr>
          <p:nvPr>
            <p:ph type="sldNum" sz="quarter" idx="5"/>
          </p:nvPr>
        </p:nvSpPr>
        <p:spPr/>
        <p:txBody>
          <a:bodyPr/>
          <a:lstStyle/>
          <a:p>
            <a:pPr>
              <a:defRPr/>
            </a:pPr>
            <a:fld id="{57945593-5F6E-4857-808A-68A379BC7F2A}" type="slidenum">
              <a:rPr lang="en-US" smtClean="0"/>
              <a:pPr>
                <a:defRPr/>
              </a:pPr>
              <a:t>80</a:t>
            </a:fld>
            <a:endParaRPr lang="en-US" dirty="0"/>
          </a:p>
        </p:txBody>
      </p:sp>
    </p:spTree>
    <p:extLst>
      <p:ext uri="{BB962C8B-B14F-4D97-AF65-F5344CB8AC3E}">
        <p14:creationId xmlns:p14="http://schemas.microsoft.com/office/powerpoint/2010/main" val="27694746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r>
              <a:rPr lang="en-NZ" dirty="0"/>
              <a:t>A common algorithm for deadlock detection is one described in [COFF71].</a:t>
            </a:r>
          </a:p>
          <a:p>
            <a:pPr>
              <a:defRPr/>
            </a:pPr>
            <a:endParaRPr lang="en-NZ" dirty="0"/>
          </a:p>
          <a:p>
            <a:pPr>
              <a:defRPr/>
            </a:pPr>
            <a:r>
              <a:rPr lang="en-NZ" dirty="0"/>
              <a:t>The Allocation matrix and Available vector described in the previous section are used. </a:t>
            </a:r>
          </a:p>
          <a:p>
            <a:pPr>
              <a:defRPr/>
            </a:pPr>
            <a:endParaRPr lang="en-NZ" dirty="0"/>
          </a:p>
          <a:p>
            <a:pPr>
              <a:defRPr/>
            </a:pPr>
            <a:r>
              <a:rPr lang="en-NZ" dirty="0"/>
              <a:t>In addition, a request matrix </a:t>
            </a:r>
            <a:r>
              <a:rPr lang="en-NZ" b="1" dirty="0"/>
              <a:t>Q</a:t>
            </a:r>
            <a:r>
              <a:rPr lang="en-NZ" dirty="0"/>
              <a:t> is defined such that </a:t>
            </a:r>
            <a:r>
              <a:rPr lang="en-NZ" b="1" i="1" dirty="0"/>
              <a:t>Qij</a:t>
            </a:r>
            <a:r>
              <a:rPr lang="en-NZ" dirty="0"/>
              <a:t> represents the amount of resources of type </a:t>
            </a:r>
            <a:r>
              <a:rPr lang="en-NZ" i="1" dirty="0"/>
              <a:t>j </a:t>
            </a:r>
            <a:r>
              <a:rPr lang="en-NZ" dirty="0"/>
              <a:t>requested by process </a:t>
            </a:r>
            <a:r>
              <a:rPr lang="en-NZ" i="1" dirty="0"/>
              <a:t>i. </a:t>
            </a:r>
          </a:p>
          <a:p>
            <a:pPr>
              <a:defRPr/>
            </a:pPr>
            <a:endParaRPr lang="en-NZ" i="1" dirty="0"/>
          </a:p>
          <a:p>
            <a:pPr>
              <a:defRPr/>
            </a:pPr>
            <a:r>
              <a:rPr lang="en-NZ" dirty="0"/>
              <a:t>The algorithm proceeds by marking processes that are not deadlocked. Initially, all processes are unmarked. </a:t>
            </a:r>
          </a:p>
        </p:txBody>
      </p:sp>
      <p:sp>
        <p:nvSpPr>
          <p:cNvPr id="4" name="Slide Number Placeholder 3"/>
          <p:cNvSpPr>
            <a:spLocks noGrp="1"/>
          </p:cNvSpPr>
          <p:nvPr>
            <p:ph type="sldNum" sz="quarter" idx="5"/>
          </p:nvPr>
        </p:nvSpPr>
        <p:spPr/>
        <p:txBody>
          <a:bodyPr/>
          <a:lstStyle/>
          <a:p>
            <a:pPr>
              <a:defRPr/>
            </a:pPr>
            <a:fld id="{57945593-5F6E-4857-808A-68A379BC7F2A}" type="slidenum">
              <a:rPr lang="en-US" smtClean="0"/>
              <a:pPr>
                <a:defRPr/>
              </a:pPr>
              <a:t>81</a:t>
            </a:fld>
            <a:endParaRPr lang="en-US" dirty="0"/>
          </a:p>
        </p:txBody>
      </p:sp>
    </p:spTree>
    <p:extLst>
      <p:ext uri="{BB962C8B-B14F-4D97-AF65-F5344CB8AC3E}">
        <p14:creationId xmlns:p14="http://schemas.microsoft.com/office/powerpoint/2010/main" val="27694746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r>
              <a:rPr lang="en-NZ" dirty="0"/>
              <a:t>A common algorithm for deadlock detection is one described in [COFF71].</a:t>
            </a:r>
          </a:p>
          <a:p>
            <a:pPr>
              <a:defRPr/>
            </a:pPr>
            <a:endParaRPr lang="en-NZ" dirty="0"/>
          </a:p>
          <a:p>
            <a:pPr>
              <a:defRPr/>
            </a:pPr>
            <a:r>
              <a:rPr lang="en-NZ" dirty="0"/>
              <a:t>The Allocation matrix and Available vector described in the previous section are used. </a:t>
            </a:r>
          </a:p>
          <a:p>
            <a:pPr>
              <a:defRPr/>
            </a:pPr>
            <a:endParaRPr lang="en-NZ" dirty="0"/>
          </a:p>
          <a:p>
            <a:pPr>
              <a:defRPr/>
            </a:pPr>
            <a:r>
              <a:rPr lang="en-NZ" dirty="0"/>
              <a:t>In addition, a request matrix </a:t>
            </a:r>
            <a:r>
              <a:rPr lang="en-NZ" b="1" dirty="0"/>
              <a:t>Q</a:t>
            </a:r>
            <a:r>
              <a:rPr lang="en-NZ" dirty="0"/>
              <a:t> is defined such that </a:t>
            </a:r>
            <a:r>
              <a:rPr lang="en-NZ" b="1" i="1" dirty="0"/>
              <a:t>Qij</a:t>
            </a:r>
            <a:r>
              <a:rPr lang="en-NZ" dirty="0"/>
              <a:t> represents the amount of resources of type </a:t>
            </a:r>
            <a:r>
              <a:rPr lang="en-NZ" i="1" dirty="0"/>
              <a:t>j </a:t>
            </a:r>
            <a:r>
              <a:rPr lang="en-NZ" dirty="0"/>
              <a:t>requested by process </a:t>
            </a:r>
            <a:r>
              <a:rPr lang="en-NZ" i="1" dirty="0"/>
              <a:t>i. </a:t>
            </a:r>
          </a:p>
          <a:p>
            <a:pPr>
              <a:defRPr/>
            </a:pPr>
            <a:endParaRPr lang="en-NZ" i="1" dirty="0"/>
          </a:p>
          <a:p>
            <a:pPr>
              <a:defRPr/>
            </a:pPr>
            <a:r>
              <a:rPr lang="en-NZ" dirty="0"/>
              <a:t>The algorithm proceeds by marking processes that are not deadlocked. Initially, all processes are unmarked. </a:t>
            </a:r>
          </a:p>
        </p:txBody>
      </p:sp>
      <p:sp>
        <p:nvSpPr>
          <p:cNvPr id="4" name="Slide Number Placeholder 3"/>
          <p:cNvSpPr>
            <a:spLocks noGrp="1"/>
          </p:cNvSpPr>
          <p:nvPr>
            <p:ph type="sldNum" sz="quarter" idx="5"/>
          </p:nvPr>
        </p:nvSpPr>
        <p:spPr/>
        <p:txBody>
          <a:bodyPr/>
          <a:lstStyle/>
          <a:p>
            <a:pPr>
              <a:defRPr/>
            </a:pPr>
            <a:fld id="{57945593-5F6E-4857-808A-68A379BC7F2A}" type="slidenum">
              <a:rPr lang="en-US" smtClean="0"/>
              <a:pPr>
                <a:defRPr/>
              </a:pPr>
              <a:t>82</a:t>
            </a:fld>
            <a:endParaRPr lang="en-US" dirty="0"/>
          </a:p>
        </p:txBody>
      </p:sp>
    </p:spTree>
    <p:extLst>
      <p:ext uri="{BB962C8B-B14F-4D97-AF65-F5344CB8AC3E}">
        <p14:creationId xmlns:p14="http://schemas.microsoft.com/office/powerpoint/2010/main" val="27694746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r>
              <a:rPr lang="en-NZ" dirty="0"/>
              <a:t>A common algorithm for deadlock detection is one described in [COFF71].</a:t>
            </a:r>
          </a:p>
          <a:p>
            <a:pPr>
              <a:defRPr/>
            </a:pPr>
            <a:endParaRPr lang="en-NZ" dirty="0"/>
          </a:p>
          <a:p>
            <a:pPr>
              <a:defRPr/>
            </a:pPr>
            <a:r>
              <a:rPr lang="en-NZ" dirty="0"/>
              <a:t>The Allocation matrix and Available vector described in the previous section are used. </a:t>
            </a:r>
          </a:p>
          <a:p>
            <a:pPr>
              <a:defRPr/>
            </a:pPr>
            <a:endParaRPr lang="en-NZ" dirty="0"/>
          </a:p>
          <a:p>
            <a:pPr>
              <a:defRPr/>
            </a:pPr>
            <a:r>
              <a:rPr lang="en-NZ" dirty="0"/>
              <a:t>In addition, a request matrix </a:t>
            </a:r>
            <a:r>
              <a:rPr lang="en-NZ" b="1" dirty="0"/>
              <a:t>Q</a:t>
            </a:r>
            <a:r>
              <a:rPr lang="en-NZ" dirty="0"/>
              <a:t> is defined such that </a:t>
            </a:r>
            <a:r>
              <a:rPr lang="en-NZ" b="1" i="1" dirty="0"/>
              <a:t>Qij</a:t>
            </a:r>
            <a:r>
              <a:rPr lang="en-NZ" dirty="0"/>
              <a:t> represents the amount of resources of type </a:t>
            </a:r>
            <a:r>
              <a:rPr lang="en-NZ" i="1" dirty="0"/>
              <a:t>j </a:t>
            </a:r>
            <a:r>
              <a:rPr lang="en-NZ" dirty="0"/>
              <a:t>requested by process </a:t>
            </a:r>
            <a:r>
              <a:rPr lang="en-NZ" i="1" dirty="0"/>
              <a:t>i. </a:t>
            </a:r>
          </a:p>
          <a:p>
            <a:pPr>
              <a:defRPr/>
            </a:pPr>
            <a:endParaRPr lang="en-NZ" i="1" dirty="0"/>
          </a:p>
          <a:p>
            <a:pPr>
              <a:defRPr/>
            </a:pPr>
            <a:r>
              <a:rPr lang="en-NZ" dirty="0"/>
              <a:t>The algorithm proceeds by marking processes that are not deadlocked. Initially, all processes are unmarked. </a:t>
            </a:r>
          </a:p>
        </p:txBody>
      </p:sp>
      <p:sp>
        <p:nvSpPr>
          <p:cNvPr id="4" name="Slide Number Placeholder 3"/>
          <p:cNvSpPr>
            <a:spLocks noGrp="1"/>
          </p:cNvSpPr>
          <p:nvPr>
            <p:ph type="sldNum" sz="quarter" idx="5"/>
          </p:nvPr>
        </p:nvSpPr>
        <p:spPr/>
        <p:txBody>
          <a:bodyPr/>
          <a:lstStyle/>
          <a:p>
            <a:pPr>
              <a:defRPr/>
            </a:pPr>
            <a:fld id="{57945593-5F6E-4857-808A-68A379BC7F2A}" type="slidenum">
              <a:rPr lang="en-US" smtClean="0"/>
              <a:pPr>
                <a:defRPr/>
              </a:pPr>
              <a:t>83</a:t>
            </a:fld>
            <a:endParaRPr lang="en-US" dirty="0"/>
          </a:p>
        </p:txBody>
      </p:sp>
    </p:spTree>
    <p:extLst>
      <p:ext uri="{BB962C8B-B14F-4D97-AF65-F5344CB8AC3E}">
        <p14:creationId xmlns:p14="http://schemas.microsoft.com/office/powerpoint/2010/main" val="27694746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r>
              <a:rPr lang="en-NZ" dirty="0"/>
              <a:t>A common algorithm for deadlock detection is one described in [COFF71].</a:t>
            </a:r>
          </a:p>
          <a:p>
            <a:pPr>
              <a:defRPr/>
            </a:pPr>
            <a:endParaRPr lang="en-NZ" dirty="0"/>
          </a:p>
          <a:p>
            <a:pPr>
              <a:defRPr/>
            </a:pPr>
            <a:r>
              <a:rPr lang="en-NZ" dirty="0"/>
              <a:t>The Allocation matrix and Available vector described in the previous section are used. </a:t>
            </a:r>
          </a:p>
          <a:p>
            <a:pPr>
              <a:defRPr/>
            </a:pPr>
            <a:endParaRPr lang="en-NZ" dirty="0"/>
          </a:p>
          <a:p>
            <a:pPr>
              <a:defRPr/>
            </a:pPr>
            <a:r>
              <a:rPr lang="en-NZ" dirty="0"/>
              <a:t>In addition, a request matrix </a:t>
            </a:r>
            <a:r>
              <a:rPr lang="en-NZ" b="1" dirty="0"/>
              <a:t>Q</a:t>
            </a:r>
            <a:r>
              <a:rPr lang="en-NZ" dirty="0"/>
              <a:t> is defined such that </a:t>
            </a:r>
            <a:r>
              <a:rPr lang="en-NZ" b="1" i="1" dirty="0"/>
              <a:t>Qij</a:t>
            </a:r>
            <a:r>
              <a:rPr lang="en-NZ" dirty="0"/>
              <a:t> represents the amount of resources of type </a:t>
            </a:r>
            <a:r>
              <a:rPr lang="en-NZ" i="1" dirty="0"/>
              <a:t>j </a:t>
            </a:r>
            <a:r>
              <a:rPr lang="en-NZ" dirty="0"/>
              <a:t>requested by process </a:t>
            </a:r>
            <a:r>
              <a:rPr lang="en-NZ" i="1" dirty="0"/>
              <a:t>i. </a:t>
            </a:r>
          </a:p>
          <a:p>
            <a:pPr>
              <a:defRPr/>
            </a:pPr>
            <a:endParaRPr lang="en-NZ" i="1" dirty="0"/>
          </a:p>
          <a:p>
            <a:pPr>
              <a:defRPr/>
            </a:pPr>
            <a:r>
              <a:rPr lang="en-NZ" dirty="0"/>
              <a:t>The algorithm proceeds by marking processes that are not deadlocked. Initially, all processes are unmarked. </a:t>
            </a:r>
          </a:p>
        </p:txBody>
      </p:sp>
      <p:sp>
        <p:nvSpPr>
          <p:cNvPr id="4" name="Slide Number Placeholder 3"/>
          <p:cNvSpPr>
            <a:spLocks noGrp="1"/>
          </p:cNvSpPr>
          <p:nvPr>
            <p:ph type="sldNum" sz="quarter" idx="5"/>
          </p:nvPr>
        </p:nvSpPr>
        <p:spPr/>
        <p:txBody>
          <a:bodyPr/>
          <a:lstStyle/>
          <a:p>
            <a:pPr>
              <a:defRPr/>
            </a:pPr>
            <a:fld id="{57945593-5F6E-4857-808A-68A379BC7F2A}" type="slidenum">
              <a:rPr lang="en-US" smtClean="0"/>
              <a:pPr>
                <a:defRPr/>
              </a:pPr>
              <a:t>84</a:t>
            </a:fld>
            <a:endParaRPr lang="en-US" dirty="0"/>
          </a:p>
        </p:txBody>
      </p:sp>
    </p:spTree>
    <p:extLst>
      <p:ext uri="{BB962C8B-B14F-4D97-AF65-F5344CB8AC3E}">
        <p14:creationId xmlns:p14="http://schemas.microsoft.com/office/powerpoint/2010/main" val="27694746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r>
              <a:rPr lang="en-NZ" dirty="0"/>
              <a:t>A common algorithm for deadlock detection is one described in [COFF71].</a:t>
            </a:r>
          </a:p>
          <a:p>
            <a:pPr>
              <a:defRPr/>
            </a:pPr>
            <a:endParaRPr lang="en-NZ" dirty="0"/>
          </a:p>
          <a:p>
            <a:pPr>
              <a:defRPr/>
            </a:pPr>
            <a:r>
              <a:rPr lang="en-NZ" dirty="0"/>
              <a:t>The Allocation matrix and Available vector described in the previous section are used. </a:t>
            </a:r>
          </a:p>
          <a:p>
            <a:pPr>
              <a:defRPr/>
            </a:pPr>
            <a:endParaRPr lang="en-NZ" dirty="0"/>
          </a:p>
          <a:p>
            <a:pPr>
              <a:defRPr/>
            </a:pPr>
            <a:r>
              <a:rPr lang="en-NZ" dirty="0"/>
              <a:t>In addition, a request matrix </a:t>
            </a:r>
            <a:r>
              <a:rPr lang="en-NZ" b="1" dirty="0"/>
              <a:t>Q</a:t>
            </a:r>
            <a:r>
              <a:rPr lang="en-NZ" dirty="0"/>
              <a:t> is defined such that </a:t>
            </a:r>
            <a:r>
              <a:rPr lang="en-NZ" b="1" i="1" dirty="0"/>
              <a:t>Qij</a:t>
            </a:r>
            <a:r>
              <a:rPr lang="en-NZ" dirty="0"/>
              <a:t> represents the amount of resources of type </a:t>
            </a:r>
            <a:r>
              <a:rPr lang="en-NZ" i="1" dirty="0"/>
              <a:t>j </a:t>
            </a:r>
            <a:r>
              <a:rPr lang="en-NZ" dirty="0"/>
              <a:t>requested by process </a:t>
            </a:r>
            <a:r>
              <a:rPr lang="en-NZ" i="1" dirty="0"/>
              <a:t>i. </a:t>
            </a:r>
          </a:p>
          <a:p>
            <a:pPr>
              <a:defRPr/>
            </a:pPr>
            <a:endParaRPr lang="en-NZ" i="1" dirty="0"/>
          </a:p>
          <a:p>
            <a:pPr>
              <a:defRPr/>
            </a:pPr>
            <a:r>
              <a:rPr lang="en-NZ" dirty="0"/>
              <a:t>The algorithm proceeds by marking processes that are not deadlocked. Initially, all processes are unmarked. </a:t>
            </a:r>
          </a:p>
        </p:txBody>
      </p:sp>
      <p:sp>
        <p:nvSpPr>
          <p:cNvPr id="4" name="Slide Number Placeholder 3"/>
          <p:cNvSpPr>
            <a:spLocks noGrp="1"/>
          </p:cNvSpPr>
          <p:nvPr>
            <p:ph type="sldNum" sz="quarter" idx="5"/>
          </p:nvPr>
        </p:nvSpPr>
        <p:spPr/>
        <p:txBody>
          <a:bodyPr/>
          <a:lstStyle/>
          <a:p>
            <a:pPr>
              <a:defRPr/>
            </a:pPr>
            <a:fld id="{57945593-5F6E-4857-808A-68A379BC7F2A}" type="slidenum">
              <a:rPr lang="en-US" smtClean="0"/>
              <a:pPr>
                <a:defRPr/>
              </a:pPr>
              <a:t>85</a:t>
            </a:fld>
            <a:endParaRPr lang="en-US" dirty="0"/>
          </a:p>
        </p:txBody>
      </p:sp>
    </p:spTree>
    <p:extLst>
      <p:ext uri="{BB962C8B-B14F-4D97-AF65-F5344CB8AC3E}">
        <p14:creationId xmlns:p14="http://schemas.microsoft.com/office/powerpoint/2010/main" val="27694746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a:bodyPr>
          <a:lstStyle/>
          <a:p>
            <a:pPr>
              <a:defRPr/>
            </a:pPr>
            <a:r>
              <a:rPr lang="en-NZ" dirty="0"/>
              <a:t>A common algorithm for deadlock detection is one described in [COFF71].</a:t>
            </a:r>
          </a:p>
          <a:p>
            <a:pPr>
              <a:defRPr/>
            </a:pPr>
            <a:endParaRPr lang="en-NZ" dirty="0"/>
          </a:p>
          <a:p>
            <a:pPr>
              <a:defRPr/>
            </a:pPr>
            <a:r>
              <a:rPr lang="en-NZ" dirty="0"/>
              <a:t>The Allocation matrix and Available vector described in the previous section are used. </a:t>
            </a:r>
          </a:p>
          <a:p>
            <a:pPr>
              <a:defRPr/>
            </a:pPr>
            <a:endParaRPr lang="en-NZ" dirty="0"/>
          </a:p>
          <a:p>
            <a:pPr>
              <a:defRPr/>
            </a:pPr>
            <a:r>
              <a:rPr lang="en-NZ" dirty="0"/>
              <a:t>In addition, a request matrix </a:t>
            </a:r>
            <a:r>
              <a:rPr lang="en-NZ" b="1" dirty="0"/>
              <a:t>Q</a:t>
            </a:r>
            <a:r>
              <a:rPr lang="en-NZ" dirty="0"/>
              <a:t> is defined such that </a:t>
            </a:r>
            <a:r>
              <a:rPr lang="en-NZ" b="1" i="1" dirty="0"/>
              <a:t>Qij</a:t>
            </a:r>
            <a:r>
              <a:rPr lang="en-NZ" dirty="0"/>
              <a:t> represents the amount of resources of type </a:t>
            </a:r>
            <a:r>
              <a:rPr lang="en-NZ" i="1" dirty="0"/>
              <a:t>j </a:t>
            </a:r>
            <a:r>
              <a:rPr lang="en-NZ" dirty="0"/>
              <a:t>requested by process </a:t>
            </a:r>
            <a:r>
              <a:rPr lang="en-NZ" i="1" dirty="0"/>
              <a:t>i. </a:t>
            </a:r>
          </a:p>
          <a:p>
            <a:pPr>
              <a:defRPr/>
            </a:pPr>
            <a:endParaRPr lang="en-NZ" i="1" dirty="0"/>
          </a:p>
          <a:p>
            <a:pPr>
              <a:defRPr/>
            </a:pPr>
            <a:r>
              <a:rPr lang="en-NZ" dirty="0"/>
              <a:t>The algorithm proceeds by marking processes that are not deadlocked. Initially, all processes are unmarked. </a:t>
            </a:r>
          </a:p>
        </p:txBody>
      </p:sp>
      <p:sp>
        <p:nvSpPr>
          <p:cNvPr id="4" name="Slide Number Placeholder 3"/>
          <p:cNvSpPr>
            <a:spLocks noGrp="1"/>
          </p:cNvSpPr>
          <p:nvPr>
            <p:ph type="sldNum" sz="quarter" idx="5"/>
          </p:nvPr>
        </p:nvSpPr>
        <p:spPr/>
        <p:txBody>
          <a:bodyPr/>
          <a:lstStyle/>
          <a:p>
            <a:pPr>
              <a:defRPr/>
            </a:pPr>
            <a:fld id="{57945593-5F6E-4857-808A-68A379BC7F2A}" type="slidenum">
              <a:rPr lang="en-US" smtClean="0"/>
              <a:pPr>
                <a:defRPr/>
              </a:pPr>
              <a:t>86</a:t>
            </a:fld>
            <a:endParaRPr lang="en-US" dirty="0"/>
          </a:p>
        </p:txBody>
      </p:sp>
    </p:spTree>
    <p:extLst>
      <p:ext uri="{BB962C8B-B14F-4D97-AF65-F5344CB8AC3E}">
        <p14:creationId xmlns:p14="http://schemas.microsoft.com/office/powerpoint/2010/main" val="27694746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04A3A493-93E3-491C-82D2-A9668D0AEF5F}" type="slidenum">
              <a:rPr lang="en-US" smtClean="0"/>
              <a:pPr>
                <a:defRPr/>
              </a:pPr>
              <a:t>87</a:t>
            </a:fld>
            <a:endParaRPr lang="en-US" dirty="0"/>
          </a:p>
        </p:txBody>
      </p:sp>
    </p:spTree>
    <p:extLst>
      <p:ext uri="{BB962C8B-B14F-4D97-AF65-F5344CB8AC3E}">
        <p14:creationId xmlns:p14="http://schemas.microsoft.com/office/powerpoint/2010/main" val="37297657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p:spPr>
      </p:sp>
      <p:sp>
        <p:nvSpPr>
          <p:cNvPr id="120835"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dirty="0"/>
              <a:t>Five philosophers live in a house, where a table is laid for them. </a:t>
            </a:r>
          </a:p>
          <a:p>
            <a:endParaRPr lang="en-NZ" dirty="0"/>
          </a:p>
          <a:p>
            <a:r>
              <a:rPr lang="en-NZ" dirty="0"/>
              <a:t>The life of each philosopher consists principally of thinking and eating, and through years of thought, all of the philosophers had agreed that the only food that contributed to their thinking efforts was spaghetti. </a:t>
            </a:r>
          </a:p>
          <a:p>
            <a:endParaRPr lang="en-NZ" dirty="0"/>
          </a:p>
          <a:p>
            <a:r>
              <a:rPr lang="en-NZ" dirty="0"/>
              <a:t>Due to a lack of manual skill, each philosopher requires two forks to eat spaghetti.</a:t>
            </a:r>
          </a:p>
          <a:p>
            <a:endParaRPr lang="en-NZ" dirty="0"/>
          </a:p>
          <a:p>
            <a:r>
              <a:rPr lang="en-NZ" dirty="0"/>
              <a:t>A philosopher wishing to eat goes to his or her assigned place at the table and, using the two forks on either side of the plate, takes and eats some spaghetti.</a:t>
            </a:r>
          </a:p>
        </p:txBody>
      </p:sp>
      <p:sp>
        <p:nvSpPr>
          <p:cNvPr id="4" name="Slide Number Placeholder 3"/>
          <p:cNvSpPr>
            <a:spLocks noGrp="1"/>
          </p:cNvSpPr>
          <p:nvPr>
            <p:ph type="sldNum" sz="quarter" idx="5"/>
          </p:nvPr>
        </p:nvSpPr>
        <p:spPr/>
        <p:txBody>
          <a:bodyPr/>
          <a:lstStyle/>
          <a:p>
            <a:pPr>
              <a:defRPr/>
            </a:pPr>
            <a:fld id="{E1CF60DF-D5EE-4264-8AEE-3E85477D3F0A}" type="slidenum">
              <a:rPr lang="en-US" smtClean="0"/>
              <a:pPr>
                <a:defRPr/>
              </a:pPr>
              <a:t>88</a:t>
            </a:fld>
            <a:endParaRPr lang="en-US" dirty="0"/>
          </a:p>
        </p:txBody>
      </p:sp>
    </p:spTree>
    <p:extLst>
      <p:ext uri="{BB962C8B-B14F-4D97-AF65-F5344CB8AC3E}">
        <p14:creationId xmlns:p14="http://schemas.microsoft.com/office/powerpoint/2010/main" val="8370649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bwMode="auto">
          <a:noFill/>
          <a:ln>
            <a:solidFill>
              <a:srgbClr val="000000"/>
            </a:solidFill>
            <a:miter lim="800000"/>
            <a:headEnd/>
            <a:tailEnd/>
          </a:ln>
        </p:spPr>
      </p:sp>
      <p:sp>
        <p:nvSpPr>
          <p:cNvPr id="122883" name="Notes Placeholder 2"/>
          <p:cNvSpPr>
            <a:spLocks noGrp="1"/>
          </p:cNvSpPr>
          <p:nvPr>
            <p:ph type="body" idx="1"/>
          </p:nvPr>
        </p:nvSpPr>
        <p:spPr bwMode="auto">
          <a:noFill/>
        </p:spPr>
        <p:txBody>
          <a:bodyPr wrap="square" numCol="1" anchor="t" anchorCtr="0" compatLnSpc="1">
            <a:prstTxWarp prst="textNoShape">
              <a:avLst/>
            </a:prstTxWarp>
          </a:bodyPr>
          <a:lstStyle/>
          <a:p>
            <a:r>
              <a:rPr lang="en-NZ"/>
              <a:t>We could consider adding an attendant who only allows four philosophers at a time into the dining room.</a:t>
            </a:r>
          </a:p>
          <a:p>
            <a:endParaRPr lang="en-NZ"/>
          </a:p>
          <a:p>
            <a:r>
              <a:rPr lang="en-NZ"/>
              <a:t>With at most four seated philosophers, at least one philosopher will have access to two forks. </a:t>
            </a:r>
          </a:p>
          <a:p>
            <a:endParaRPr lang="en-NZ"/>
          </a:p>
          <a:p>
            <a:r>
              <a:rPr lang="en-NZ"/>
              <a:t>This slide shows such a solution, again using semaphores. This solution is free of deadlock and starvation.</a:t>
            </a:r>
            <a:endParaRPr lang="en-US"/>
          </a:p>
        </p:txBody>
      </p:sp>
      <p:sp>
        <p:nvSpPr>
          <p:cNvPr id="4" name="Slide Number Placeholder 3"/>
          <p:cNvSpPr>
            <a:spLocks noGrp="1"/>
          </p:cNvSpPr>
          <p:nvPr>
            <p:ph type="sldNum" sz="quarter" idx="5"/>
          </p:nvPr>
        </p:nvSpPr>
        <p:spPr/>
        <p:txBody>
          <a:bodyPr/>
          <a:lstStyle/>
          <a:p>
            <a:pPr>
              <a:defRPr/>
            </a:pPr>
            <a:fld id="{C9F95DE8-ACE1-4A93-930C-9C2A8A25D5F4}" type="slidenum">
              <a:rPr lang="en-US" smtClean="0"/>
              <a:pPr>
                <a:defRPr/>
              </a:pPr>
              <a:t>90</a:t>
            </a:fld>
            <a:endParaRPr lang="en-US" dirty="0"/>
          </a:p>
        </p:txBody>
      </p:sp>
    </p:spTree>
    <p:extLst>
      <p:ext uri="{BB962C8B-B14F-4D97-AF65-F5344CB8AC3E}">
        <p14:creationId xmlns:p14="http://schemas.microsoft.com/office/powerpoint/2010/main" val="552525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F47D38F-692F-4F83-BA54-C1A4CDEC862E}" type="datetime1">
              <a:rPr lang="en-US" smtClean="0"/>
              <a:pPr/>
              <a:t>9/22/2025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21AD9F-4A2E-478F-ACDB-FC9429174183}"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558CD7-1A4D-4D9F-A6D8-3553D272AAA7}" type="datetime1">
              <a:rPr lang="en-US" smtClean="0"/>
              <a:pPr/>
              <a:t>9/22/2025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21AD9F-4A2E-478F-ACDB-FC9429174183}"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1B6FCD-5D07-4A8F-8C04-B5CA42EFA2E0}" type="datetime1">
              <a:rPr lang="en-US" smtClean="0"/>
              <a:pPr/>
              <a:t>9/22/2025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21AD9F-4A2E-478F-ACDB-FC9429174183}"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FE3C24-8856-4CA3-B5DB-5DF5CD8D3F1D}" type="datetime1">
              <a:rPr lang="en-US" smtClean="0"/>
              <a:pPr/>
              <a:t>9/22/2025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21AD9F-4A2E-478F-ACDB-FC9429174183}"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5A270F-3C30-4A83-8B26-0B213CC3EACF}" type="datetime1">
              <a:rPr lang="en-US" smtClean="0"/>
              <a:pPr/>
              <a:t>9/22/2025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721AD9F-4A2E-478F-ACDB-FC9429174183}"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1FD73B8-FC47-4A21-8B67-8186FD6569F7}" type="datetime1">
              <a:rPr lang="en-US" smtClean="0"/>
              <a:pPr/>
              <a:t>9/22/2025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721AD9F-4A2E-478F-ACDB-FC9429174183}"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7559BB-67C9-4059-A59A-26CA3C594353}" type="datetime1">
              <a:rPr lang="en-US" smtClean="0"/>
              <a:pPr/>
              <a:t>9/22/2025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721AD9F-4A2E-478F-ACDB-FC9429174183}"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B9B687-C43C-4A8D-9897-9AB64239FA7C}" type="datetime1">
              <a:rPr lang="en-US" smtClean="0"/>
              <a:pPr/>
              <a:t>9/22/2025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21AD9F-4A2E-478F-ACDB-FC9429174183}"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156CCE-A8CA-41AA-9A1D-9719E0E17FDD}" type="datetime1">
              <a:rPr lang="en-US" smtClean="0"/>
              <a:pPr/>
              <a:t>9/22/2025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721AD9F-4A2E-478F-ACDB-FC9429174183}"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3D67CA-C146-4FB8-B3D0-2CFA118FA21A}" type="datetime1">
              <a:rPr lang="en-US" smtClean="0"/>
              <a:pPr/>
              <a:t>9/22/2025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21AD9F-4A2E-478F-ACDB-FC9429174183}"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FE7B31-DE32-4F77-AB83-B967F52B91A0}" type="datetime1">
              <a:rPr lang="en-US" smtClean="0"/>
              <a:pPr/>
              <a:t>9/22/2025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721AD9F-4A2E-478F-ACDB-FC9429174183}"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0E13AA-35D1-4687-9BC1-DD246A67FA27}" type="datetime1">
              <a:rPr lang="en-US" smtClean="0"/>
              <a:pPr/>
              <a:t>9/22/2025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1AD9F-4A2E-478F-ACDB-FC9429174183}"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www.geeksforgeeks.org/operating-system-bankers-algorithm" TargetMode="External"/><Relationship Id="rId2" Type="http://schemas.openxmlformats.org/officeDocument/2006/relationships/hyperlink" Target="https://www.geeksforgeeks.org/kernel-in-operating-system/"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6.gi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8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8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6.gi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928670"/>
            <a:ext cx="6643734" cy="4500594"/>
          </a:xfrm>
        </p:spPr>
        <p:style>
          <a:lnRef idx="2">
            <a:schemeClr val="accent5"/>
          </a:lnRef>
          <a:fillRef idx="1">
            <a:schemeClr val="lt1"/>
          </a:fillRef>
          <a:effectRef idx="0">
            <a:schemeClr val="accent5"/>
          </a:effectRef>
          <a:fontRef idx="minor">
            <a:schemeClr val="dk1"/>
          </a:fontRef>
        </p:style>
        <p:txBody>
          <a:bodyPr>
            <a:normAutofit/>
          </a:bodyPr>
          <a:lstStyle/>
          <a:p>
            <a:pPr>
              <a:buClr>
                <a:schemeClr val="accent5">
                  <a:lumMod val="75000"/>
                </a:schemeClr>
              </a:buClr>
              <a:defRPr/>
            </a:pPr>
            <a:endParaRPr lang="en-NZ" b="1" dirty="0">
              <a:solidFill>
                <a:schemeClr val="accent1">
                  <a:lumMod val="75000"/>
                </a:schemeClr>
              </a:solidFill>
              <a:latin typeface="Calibri" pitchFamily="34" charset="0"/>
            </a:endParaRPr>
          </a:p>
          <a:p>
            <a:pPr>
              <a:buClr>
                <a:schemeClr val="accent5">
                  <a:lumMod val="75000"/>
                </a:schemeClr>
              </a:buClr>
              <a:defRPr/>
            </a:pPr>
            <a:r>
              <a:rPr lang="en-NZ" b="1" dirty="0">
                <a:solidFill>
                  <a:schemeClr val="tx2">
                    <a:lumMod val="60000"/>
                    <a:lumOff val="40000"/>
                  </a:schemeClr>
                </a:solidFill>
                <a:latin typeface="Calibri" pitchFamily="34" charset="0"/>
              </a:rPr>
              <a:t>Key terms</a:t>
            </a:r>
          </a:p>
          <a:p>
            <a:pPr>
              <a:buClr>
                <a:schemeClr val="accent5">
                  <a:lumMod val="75000"/>
                </a:schemeClr>
              </a:buClr>
              <a:defRPr/>
            </a:pPr>
            <a:r>
              <a:rPr lang="en-NZ" b="1" dirty="0">
                <a:solidFill>
                  <a:schemeClr val="tx2">
                    <a:lumMod val="60000"/>
                    <a:lumOff val="40000"/>
                  </a:schemeClr>
                </a:solidFill>
                <a:latin typeface="Calibri" pitchFamily="34" charset="0"/>
              </a:rPr>
              <a:t>Principles of concurrency :</a:t>
            </a:r>
          </a:p>
          <a:p>
            <a:pPr>
              <a:buClr>
                <a:schemeClr val="accent5">
                  <a:lumMod val="75000"/>
                </a:schemeClr>
              </a:buClr>
              <a:defRPr/>
            </a:pPr>
            <a:r>
              <a:rPr lang="en-NZ" b="1" dirty="0">
                <a:solidFill>
                  <a:schemeClr val="tx2">
                    <a:lumMod val="60000"/>
                    <a:lumOff val="40000"/>
                  </a:schemeClr>
                </a:solidFill>
                <a:latin typeface="Calibri" pitchFamily="34" charset="0"/>
              </a:rPr>
              <a:t>Requirement of mutual exclusion</a:t>
            </a:r>
          </a:p>
          <a:p>
            <a:pPr>
              <a:buClr>
                <a:schemeClr val="accent5">
                  <a:lumMod val="75000"/>
                </a:schemeClr>
              </a:buClr>
              <a:defRPr/>
            </a:pPr>
            <a:r>
              <a:rPr lang="en-NZ" dirty="0">
                <a:latin typeface="Calibri" pitchFamily="34" charset="0"/>
              </a:rPr>
              <a:t>Semaphores</a:t>
            </a:r>
          </a:p>
          <a:p>
            <a:pPr>
              <a:buClr>
                <a:schemeClr val="accent5">
                  <a:lumMod val="75000"/>
                </a:schemeClr>
              </a:buClr>
              <a:defRPr/>
            </a:pPr>
            <a:endParaRPr lang="en-NZ" dirty="0">
              <a:latin typeface="Calibri" pitchFamily="34" charset="0"/>
            </a:endParaRPr>
          </a:p>
        </p:txBody>
      </p:sp>
      <p:sp>
        <p:nvSpPr>
          <p:cNvPr id="5" name="Slide Number Placeholder 4"/>
          <p:cNvSpPr>
            <a:spLocks noGrp="1"/>
          </p:cNvSpPr>
          <p:nvPr>
            <p:ph type="sldNum" sz="quarter" idx="12"/>
          </p:nvPr>
        </p:nvSpPr>
        <p:spPr/>
        <p:txBody>
          <a:bodyPr/>
          <a:lstStyle/>
          <a:p>
            <a:fld id="{8721AD9F-4A2E-478F-ACDB-FC9429174183}" type="slidenum">
              <a:rPr lang="en-GB" smtClean="0"/>
              <a:pPr/>
              <a:t>1</a:t>
            </a:fld>
            <a:endParaRPr lang="en-GB"/>
          </a:p>
        </p:txBody>
      </p:sp>
      <p:sp>
        <p:nvSpPr>
          <p:cNvPr id="4" name="Title 1"/>
          <p:cNvSpPr txBox="1">
            <a:spLocks/>
          </p:cNvSpPr>
          <p:nvPr/>
        </p:nvSpPr>
        <p:spPr>
          <a:xfrm>
            <a:off x="1357290" y="214290"/>
            <a:ext cx="6072230" cy="50005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solidFill>
                  <a:schemeClr val="bg1">
                    <a:lumMod val="95000"/>
                  </a:schemeClr>
                </a:solidFill>
                <a:effectLst>
                  <a:outerShdw blurRad="38100" dist="38100" dir="2700000" algn="tl">
                    <a:srgbClr val="000000">
                      <a:alpha val="43137"/>
                    </a:srgbClr>
                  </a:outerShdw>
                </a:effectLst>
                <a:latin typeface="+mj-lt"/>
              </a:rPr>
              <a:t>ROADMAP - Concurrency</a:t>
            </a:r>
            <a:endParaRPr kumimoji="0" lang="en-GB" sz="2800" b="1" i="0" u="none" strike="noStrike" kern="1200" cap="none" spc="0" normalizeH="0" baseline="0" noProof="0" dirty="0">
              <a:ln>
                <a:noFill/>
              </a:ln>
              <a:solidFill>
                <a:schemeClr val="bg1">
                  <a:lumMod val="95000"/>
                </a:schemeClr>
              </a:solidFill>
              <a:effectLst>
                <a:outerShdw blurRad="38100" dist="38100" dir="2700000" algn="tl">
                  <a:srgbClr val="000000">
                    <a:alpha val="43137"/>
                  </a:srgbClr>
                </a:outerShdw>
              </a:effectLst>
              <a:uLnTx/>
              <a:uFillTx/>
              <a:latin typeface="+mj-lt"/>
              <a:ea typeface="+mn-ea"/>
              <a:cs typeface="+mn-cs"/>
            </a:endParaRPr>
          </a:p>
        </p:txBody>
      </p:sp>
      <p:sp>
        <p:nvSpPr>
          <p:cNvPr id="6" name="Right Arrow 5"/>
          <p:cNvSpPr/>
          <p:nvPr/>
        </p:nvSpPr>
        <p:spPr>
          <a:xfrm>
            <a:off x="357158" y="1643050"/>
            <a:ext cx="357190" cy="285752"/>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06" y="500042"/>
            <a:ext cx="8858312" cy="6286496"/>
          </a:xfrm>
        </p:spPr>
        <p:style>
          <a:lnRef idx="2">
            <a:schemeClr val="accent5"/>
          </a:lnRef>
          <a:fillRef idx="1">
            <a:schemeClr val="lt1"/>
          </a:fillRef>
          <a:effectRef idx="0">
            <a:schemeClr val="accent5"/>
          </a:effectRef>
          <a:fontRef idx="minor">
            <a:schemeClr val="dk1"/>
          </a:fontRef>
        </p:style>
        <p:txBody>
          <a:bodyPr>
            <a:noAutofit/>
          </a:bodyPr>
          <a:lstStyle/>
          <a:p>
            <a:r>
              <a:rPr lang="en-GB" sz="2000" dirty="0">
                <a:latin typeface="Calibri" pitchFamily="34" charset="0"/>
              </a:rPr>
              <a:t>The central themes of operating system design are all concerned with the management of processes and threads:</a:t>
            </a:r>
          </a:p>
          <a:p>
            <a:r>
              <a:rPr lang="en-GB" sz="2000" b="1" dirty="0">
                <a:latin typeface="Calibri" pitchFamily="34" charset="0"/>
              </a:rPr>
              <a:t>Multiprogramming: </a:t>
            </a:r>
          </a:p>
          <a:p>
            <a:pPr lvl="2"/>
            <a:r>
              <a:rPr lang="en-GB" sz="2000" dirty="0">
                <a:latin typeface="Calibri" pitchFamily="34" charset="0"/>
              </a:rPr>
              <a:t>The management of multiple processes within a uniprocessor system.</a:t>
            </a:r>
          </a:p>
          <a:p>
            <a:r>
              <a:rPr lang="en-GB" sz="2000" b="1" dirty="0">
                <a:latin typeface="Calibri" pitchFamily="34" charset="0"/>
              </a:rPr>
              <a:t>Multiprocessing:</a:t>
            </a:r>
            <a:r>
              <a:rPr lang="en-GB" sz="2000" dirty="0">
                <a:latin typeface="Calibri" pitchFamily="34" charset="0"/>
              </a:rPr>
              <a:t> </a:t>
            </a:r>
          </a:p>
          <a:p>
            <a:pPr lvl="2"/>
            <a:r>
              <a:rPr lang="en-GB" sz="2000" dirty="0">
                <a:latin typeface="Calibri" pitchFamily="34" charset="0"/>
              </a:rPr>
              <a:t>The management of multiple processes within a multiprocessor.</a:t>
            </a:r>
          </a:p>
          <a:p>
            <a:r>
              <a:rPr lang="en-GB" sz="2000" b="1" dirty="0">
                <a:latin typeface="Calibri" pitchFamily="34" charset="0"/>
              </a:rPr>
              <a:t>Distributed processing</a:t>
            </a:r>
            <a:r>
              <a:rPr lang="en-GB" sz="2000" dirty="0">
                <a:latin typeface="Calibri" pitchFamily="34" charset="0"/>
              </a:rPr>
              <a:t>: </a:t>
            </a:r>
          </a:p>
          <a:p>
            <a:pPr lvl="2"/>
            <a:r>
              <a:rPr lang="en-GB" sz="2000" dirty="0">
                <a:latin typeface="Calibri" pitchFamily="34" charset="0"/>
              </a:rPr>
              <a:t>The management of multiple processes executing on multiple, distributed computer systems.</a:t>
            </a:r>
          </a:p>
          <a:p>
            <a:r>
              <a:rPr lang="en-US" sz="2000" b="1" dirty="0">
                <a:latin typeface="Calibri" pitchFamily="34" charset="0"/>
              </a:rPr>
              <a:t>Concurrency: </a:t>
            </a:r>
            <a:r>
              <a:rPr lang="en-US" sz="2000" dirty="0">
                <a:latin typeface="Calibri" pitchFamily="34" charset="0"/>
              </a:rPr>
              <a:t>It is a property of systems in which several computations are executing simultaneously, and potentially interacting with each other.</a:t>
            </a:r>
            <a:endParaRPr lang="en-GB" sz="2000" dirty="0">
              <a:latin typeface="Calibri" pitchFamily="34" charset="0"/>
            </a:endParaRPr>
          </a:p>
          <a:p>
            <a:pPr lvl="1"/>
            <a:r>
              <a:rPr lang="en-US" sz="2000" dirty="0">
                <a:latin typeface="Calibri" pitchFamily="34" charset="0"/>
              </a:rPr>
              <a:t>It means managing the interaction of all of the processes.</a:t>
            </a:r>
          </a:p>
        </p:txBody>
      </p:sp>
      <p:sp>
        <p:nvSpPr>
          <p:cNvPr id="5" name="Slide Number Placeholder 4"/>
          <p:cNvSpPr>
            <a:spLocks noGrp="1"/>
          </p:cNvSpPr>
          <p:nvPr>
            <p:ph type="sldNum" sz="quarter" idx="12"/>
          </p:nvPr>
        </p:nvSpPr>
        <p:spPr/>
        <p:txBody>
          <a:bodyPr/>
          <a:lstStyle/>
          <a:p>
            <a:fld id="{8721AD9F-4A2E-478F-ACDB-FC9429174183}" type="slidenum">
              <a:rPr lang="en-GB" smtClean="0"/>
              <a:pPr/>
              <a:t>2</a:t>
            </a:fld>
            <a:endParaRPr lang="en-GB"/>
          </a:p>
        </p:txBody>
      </p:sp>
      <p:sp>
        <p:nvSpPr>
          <p:cNvPr id="4" name="Title 1"/>
          <p:cNvSpPr txBox="1">
            <a:spLocks/>
          </p:cNvSpPr>
          <p:nvPr/>
        </p:nvSpPr>
        <p:spPr>
          <a:xfrm>
            <a:off x="2500298" y="-16"/>
            <a:ext cx="4000528" cy="428620"/>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fontScale="92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solidFill>
                  <a:schemeClr val="bg1"/>
                </a:solidFill>
                <a:effectLst>
                  <a:outerShdw blurRad="38100" dist="38100" dir="2700000" algn="tl">
                    <a:srgbClr val="000000">
                      <a:alpha val="43137"/>
                    </a:srgbClr>
                  </a:outerShdw>
                </a:effectLst>
                <a:latin typeface="+mj-lt"/>
              </a:rPr>
              <a:t>Concurrency</a:t>
            </a:r>
            <a:endParaRPr kumimoji="0" lang="en-GB" sz="28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mj-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0298" y="-16"/>
            <a:ext cx="4000528" cy="428620"/>
          </a:xfrm>
        </p:spPr>
        <p:style>
          <a:lnRef idx="3">
            <a:schemeClr val="lt1"/>
          </a:lnRef>
          <a:fillRef idx="1">
            <a:schemeClr val="accent5"/>
          </a:fillRef>
          <a:effectRef idx="1">
            <a:schemeClr val="accent5"/>
          </a:effectRef>
          <a:fontRef idx="minor">
            <a:schemeClr val="lt1"/>
          </a:fontRef>
        </p:style>
        <p:txBody>
          <a:bodyPr>
            <a:normAutofit fontScale="90000"/>
          </a:bodyPr>
          <a:lstStyle/>
          <a:p>
            <a:pPr algn="ctr"/>
            <a:r>
              <a:rPr lang="en-GB" sz="2800" b="1" dirty="0">
                <a:solidFill>
                  <a:schemeClr val="bg1"/>
                </a:solidFill>
                <a:effectLst>
                  <a:outerShdw blurRad="38100" dist="38100" dir="2700000" algn="tl">
                    <a:srgbClr val="000000">
                      <a:alpha val="43137"/>
                    </a:srgbClr>
                  </a:outerShdw>
                </a:effectLst>
                <a:latin typeface="+mj-lt"/>
              </a:rPr>
              <a:t>KEY TERMS</a:t>
            </a:r>
          </a:p>
        </p:txBody>
      </p:sp>
      <p:pic>
        <p:nvPicPr>
          <p:cNvPr id="4" name="Content Placeholder 3" descr="Table05_01.gif"/>
          <p:cNvPicPr>
            <a:picLocks noGrp="1" noChangeAspect="1"/>
          </p:cNvPicPr>
          <p:nvPr>
            <p:ph idx="1"/>
          </p:nvPr>
        </p:nvPicPr>
        <p:blipFill>
          <a:blip r:embed="rId2"/>
          <a:srcRect/>
          <a:stretch>
            <a:fillRect/>
          </a:stretch>
        </p:blipFill>
        <p:spPr>
          <a:xfrm>
            <a:off x="0" y="500042"/>
            <a:ext cx="9144000" cy="63579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Slide Number Placeholder 4"/>
          <p:cNvSpPr>
            <a:spLocks noGrp="1"/>
          </p:cNvSpPr>
          <p:nvPr>
            <p:ph type="sldNum" sz="quarter" idx="12"/>
          </p:nvPr>
        </p:nvSpPr>
        <p:spPr/>
        <p:txBody>
          <a:bodyPr/>
          <a:lstStyle/>
          <a:p>
            <a:fld id="{8721AD9F-4A2E-478F-ACDB-FC9429174183}" type="slidenum">
              <a:rPr lang="en-GB" smtClean="0"/>
              <a:pPr/>
              <a:t>3</a:t>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14282" y="642918"/>
            <a:ext cx="6286544" cy="470898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Font typeface="Arial" pitchFamily="34" charset="0"/>
              <a:buChar char="•"/>
            </a:pPr>
            <a:r>
              <a:rPr lang="en-US" sz="2000" dirty="0">
                <a:latin typeface="Calibri" pitchFamily="34" charset="0"/>
              </a:rPr>
              <a:t> A thread often acts in response to the action of another  </a:t>
            </a:r>
          </a:p>
          <a:p>
            <a:r>
              <a:rPr lang="en-US" sz="2000" dirty="0">
                <a:latin typeface="Calibri" pitchFamily="34" charset="0"/>
              </a:rPr>
              <a:t>  thread.</a:t>
            </a:r>
          </a:p>
          <a:p>
            <a:pPr>
              <a:buFont typeface="Arial" pitchFamily="34" charset="0"/>
              <a:buChar char="•"/>
            </a:pPr>
            <a:r>
              <a:rPr lang="en-US" sz="2000" dirty="0">
                <a:latin typeface="Calibri" pitchFamily="34" charset="0"/>
              </a:rPr>
              <a:t> If the other thread's action is also a response to the </a:t>
            </a:r>
          </a:p>
          <a:p>
            <a:r>
              <a:rPr lang="en-US" sz="2000" dirty="0">
                <a:latin typeface="Calibri" pitchFamily="34" charset="0"/>
              </a:rPr>
              <a:t>  action of another thread, then </a:t>
            </a:r>
            <a:r>
              <a:rPr lang="en-US" sz="2000" i="1" dirty="0">
                <a:latin typeface="Calibri" pitchFamily="34" charset="0"/>
              </a:rPr>
              <a:t>live lock</a:t>
            </a:r>
            <a:r>
              <a:rPr lang="en-US" sz="2000" dirty="0">
                <a:latin typeface="Calibri" pitchFamily="34" charset="0"/>
              </a:rPr>
              <a:t> may result. </a:t>
            </a:r>
          </a:p>
          <a:p>
            <a:pPr>
              <a:buFont typeface="Arial" pitchFamily="34" charset="0"/>
              <a:buChar char="•"/>
            </a:pPr>
            <a:r>
              <a:rPr lang="en-US" sz="2000" dirty="0">
                <a:latin typeface="Calibri" pitchFamily="34" charset="0"/>
              </a:rPr>
              <a:t>As with deadlock, livelocked threads are unable to make further progress. </a:t>
            </a:r>
          </a:p>
          <a:p>
            <a:pPr>
              <a:buFont typeface="Arial" pitchFamily="34" charset="0"/>
              <a:buChar char="•"/>
            </a:pPr>
            <a:r>
              <a:rPr lang="en-US" sz="2000" dirty="0">
                <a:latin typeface="Calibri" pitchFamily="34" charset="0"/>
              </a:rPr>
              <a:t> However, the threads are not blocked — they are simply too busy responding to each other to resume work. </a:t>
            </a:r>
          </a:p>
          <a:p>
            <a:pPr>
              <a:buFont typeface="Arial" pitchFamily="34" charset="0"/>
              <a:buChar char="•"/>
            </a:pPr>
            <a:r>
              <a:rPr lang="en-US" sz="2000" dirty="0">
                <a:latin typeface="Calibri" pitchFamily="34" charset="0"/>
              </a:rPr>
              <a:t> E.g. :- This is comparable to two people attempting to pass each other in a corridor: </a:t>
            </a:r>
          </a:p>
          <a:p>
            <a:pPr lvl="1">
              <a:buFont typeface="Wingdings" pitchFamily="2" charset="2"/>
              <a:buChar char="ü"/>
            </a:pPr>
            <a:r>
              <a:rPr lang="en-US" sz="2000" dirty="0">
                <a:latin typeface="Calibri" pitchFamily="34" charset="0"/>
              </a:rPr>
              <a:t>A moves to his left to let B pass, </a:t>
            </a:r>
          </a:p>
          <a:p>
            <a:pPr lvl="1">
              <a:buFont typeface="Wingdings" pitchFamily="2" charset="2"/>
              <a:buChar char="ü"/>
            </a:pPr>
            <a:r>
              <a:rPr lang="en-US" sz="2000" dirty="0">
                <a:latin typeface="Calibri" pitchFamily="34" charset="0"/>
              </a:rPr>
              <a:t>While B moves to his right to let A pass. </a:t>
            </a:r>
          </a:p>
          <a:p>
            <a:pPr lvl="1">
              <a:buFont typeface="Wingdings" pitchFamily="2" charset="2"/>
              <a:buChar char="ü"/>
            </a:pPr>
            <a:r>
              <a:rPr lang="en-US" sz="2000" dirty="0">
                <a:latin typeface="Calibri" pitchFamily="34" charset="0"/>
              </a:rPr>
              <a:t>Seeing that they are still blocking each other, </a:t>
            </a:r>
          </a:p>
          <a:p>
            <a:pPr lvl="1">
              <a:buFont typeface="Wingdings" pitchFamily="2" charset="2"/>
              <a:buChar char="ü"/>
            </a:pPr>
            <a:r>
              <a:rPr lang="en-US" sz="2000" dirty="0">
                <a:latin typeface="Calibri" pitchFamily="34" charset="0"/>
              </a:rPr>
              <a:t>A moves to his right, while B moves to his left. </a:t>
            </a:r>
          </a:p>
          <a:p>
            <a:pPr lvl="1">
              <a:buFont typeface="Wingdings" pitchFamily="2" charset="2"/>
              <a:buChar char="ü"/>
            </a:pPr>
            <a:r>
              <a:rPr lang="en-US" sz="2000" dirty="0">
                <a:latin typeface="Calibri" pitchFamily="34" charset="0"/>
              </a:rPr>
              <a:t>They're still blocking each other, so..</a:t>
            </a:r>
          </a:p>
        </p:txBody>
      </p:sp>
      <p:sp>
        <p:nvSpPr>
          <p:cNvPr id="7" name="Title 1"/>
          <p:cNvSpPr>
            <a:spLocks noGrp="1"/>
          </p:cNvSpPr>
          <p:nvPr>
            <p:ph type="title"/>
          </p:nvPr>
        </p:nvSpPr>
        <p:spPr>
          <a:xfrm>
            <a:off x="2000232" y="71422"/>
            <a:ext cx="4000528" cy="428620"/>
          </a:xfrm>
        </p:spPr>
        <p:style>
          <a:lnRef idx="3">
            <a:schemeClr val="lt1"/>
          </a:lnRef>
          <a:fillRef idx="1">
            <a:schemeClr val="accent5"/>
          </a:fillRef>
          <a:effectRef idx="1">
            <a:schemeClr val="accent5"/>
          </a:effectRef>
          <a:fontRef idx="minor">
            <a:schemeClr val="lt1"/>
          </a:fontRef>
        </p:style>
        <p:txBody>
          <a:bodyPr>
            <a:normAutofit fontScale="90000"/>
          </a:bodyPr>
          <a:lstStyle/>
          <a:p>
            <a:pPr algn="ctr"/>
            <a:r>
              <a:rPr lang="en-GB" sz="2800" b="1" dirty="0">
                <a:solidFill>
                  <a:schemeClr val="bg1"/>
                </a:solidFill>
                <a:effectLst>
                  <a:outerShdw blurRad="38100" dist="38100" dir="2700000" algn="tl">
                    <a:srgbClr val="000000">
                      <a:alpha val="43137"/>
                    </a:srgbClr>
                  </a:outerShdw>
                </a:effectLst>
                <a:latin typeface="+mj-lt"/>
              </a:rPr>
              <a:t>Live Lock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714480" y="-16"/>
            <a:ext cx="5857916" cy="428620"/>
          </a:xfrm>
        </p:spPr>
        <p:style>
          <a:lnRef idx="3">
            <a:schemeClr val="lt1"/>
          </a:lnRef>
          <a:fillRef idx="1">
            <a:schemeClr val="accent5"/>
          </a:fillRef>
          <a:effectRef idx="1">
            <a:schemeClr val="accent5"/>
          </a:effectRef>
          <a:fontRef idx="minor">
            <a:schemeClr val="lt1"/>
          </a:fontRef>
        </p:style>
        <p:txBody>
          <a:bodyPr>
            <a:normAutofit fontScale="90000"/>
          </a:bodyPr>
          <a:lstStyle/>
          <a:p>
            <a:pPr algn="ctr"/>
            <a:r>
              <a:rPr lang="en-GB" sz="2800" b="1" dirty="0">
                <a:solidFill>
                  <a:schemeClr val="bg1"/>
                </a:solidFill>
                <a:effectLst>
                  <a:outerShdw blurRad="38100" dist="38100" dir="2700000" algn="tl">
                    <a:srgbClr val="000000">
                      <a:alpha val="43137"/>
                    </a:srgbClr>
                  </a:outerShdw>
                </a:effectLst>
                <a:latin typeface="+mj-lt"/>
              </a:rPr>
              <a:t>A Simple Example</a:t>
            </a:r>
          </a:p>
        </p:txBody>
      </p:sp>
      <p:sp>
        <p:nvSpPr>
          <p:cNvPr id="12291" name="Content Placeholder 2"/>
          <p:cNvSpPr>
            <a:spLocks noGrp="1"/>
          </p:cNvSpPr>
          <p:nvPr>
            <p:ph idx="1"/>
          </p:nvPr>
        </p:nvSpPr>
        <p:spPr>
          <a:xfrm>
            <a:off x="0" y="500042"/>
            <a:ext cx="9144000" cy="6143668"/>
          </a:xfrm>
        </p:spPr>
        <p:style>
          <a:lnRef idx="2">
            <a:schemeClr val="accent5"/>
          </a:lnRef>
          <a:fillRef idx="1">
            <a:schemeClr val="lt1"/>
          </a:fillRef>
          <a:effectRef idx="0">
            <a:schemeClr val="accent5"/>
          </a:effectRef>
          <a:fontRef idx="minor">
            <a:schemeClr val="dk1"/>
          </a:fontRef>
        </p:style>
        <p:txBody>
          <a:bodyPr>
            <a:noAutofit/>
          </a:bodyPr>
          <a:lstStyle/>
          <a:p>
            <a:pPr>
              <a:buFont typeface="Arial" charset="0"/>
              <a:buNone/>
            </a:pPr>
            <a:r>
              <a:rPr lang="en-US" sz="2000" dirty="0">
                <a:latin typeface="Calibri" pitchFamily="34" charset="0"/>
              </a:rPr>
              <a:t>void echo()</a:t>
            </a:r>
          </a:p>
          <a:p>
            <a:pPr>
              <a:buFont typeface="Arial" charset="0"/>
              <a:buNone/>
            </a:pPr>
            <a:r>
              <a:rPr lang="en-US" sz="2000" dirty="0">
                <a:latin typeface="Calibri" pitchFamily="34" charset="0"/>
              </a:rPr>
              <a:t>{</a:t>
            </a:r>
          </a:p>
          <a:p>
            <a:pPr>
              <a:buFont typeface="Arial" charset="0"/>
              <a:buNone/>
            </a:pPr>
            <a:r>
              <a:rPr lang="en-US" sz="2000" dirty="0">
                <a:latin typeface="Calibri" pitchFamily="34" charset="0"/>
              </a:rPr>
              <a:t>	chin = </a:t>
            </a:r>
            <a:r>
              <a:rPr lang="en-US" sz="2000" dirty="0" err="1">
                <a:latin typeface="Calibri" pitchFamily="34" charset="0"/>
              </a:rPr>
              <a:t>getchar</a:t>
            </a:r>
            <a:r>
              <a:rPr lang="en-US" sz="2000" dirty="0">
                <a:latin typeface="Calibri" pitchFamily="34" charset="0"/>
              </a:rPr>
              <a:t>();</a:t>
            </a:r>
          </a:p>
          <a:p>
            <a:pPr>
              <a:buFont typeface="Arial" charset="0"/>
              <a:buNone/>
            </a:pPr>
            <a:r>
              <a:rPr lang="en-US" sz="2000" dirty="0">
                <a:latin typeface="Calibri" pitchFamily="34" charset="0"/>
              </a:rPr>
              <a:t>	</a:t>
            </a:r>
            <a:r>
              <a:rPr lang="en-US" sz="2000" dirty="0" err="1">
                <a:latin typeface="Calibri" pitchFamily="34" charset="0"/>
              </a:rPr>
              <a:t>chout</a:t>
            </a:r>
            <a:r>
              <a:rPr lang="en-US" sz="2000" dirty="0">
                <a:latin typeface="Calibri" pitchFamily="34" charset="0"/>
              </a:rPr>
              <a:t> = chin;</a:t>
            </a:r>
          </a:p>
          <a:p>
            <a:pPr>
              <a:buFont typeface="Arial" charset="0"/>
              <a:buNone/>
            </a:pPr>
            <a:r>
              <a:rPr lang="en-US" sz="2000" dirty="0">
                <a:latin typeface="Calibri" pitchFamily="34" charset="0"/>
              </a:rPr>
              <a:t>	</a:t>
            </a:r>
            <a:r>
              <a:rPr lang="en-US" sz="2000" dirty="0" err="1">
                <a:latin typeface="Calibri" pitchFamily="34" charset="0"/>
              </a:rPr>
              <a:t>putchar</a:t>
            </a:r>
            <a:r>
              <a:rPr lang="en-US" sz="2000" dirty="0">
                <a:latin typeface="Calibri" pitchFamily="34" charset="0"/>
              </a:rPr>
              <a:t>(</a:t>
            </a:r>
            <a:r>
              <a:rPr lang="en-US" sz="2000" dirty="0" err="1">
                <a:latin typeface="Calibri" pitchFamily="34" charset="0"/>
              </a:rPr>
              <a:t>chout</a:t>
            </a:r>
            <a:r>
              <a:rPr lang="en-US" sz="2000" dirty="0">
                <a:latin typeface="Calibri" pitchFamily="34" charset="0"/>
              </a:rPr>
              <a:t>); </a:t>
            </a:r>
          </a:p>
          <a:p>
            <a:pPr>
              <a:buFont typeface="Arial" charset="0"/>
              <a:buNone/>
            </a:pPr>
            <a:r>
              <a:rPr lang="en-US" sz="2000" dirty="0">
                <a:latin typeface="Calibri" pitchFamily="34" charset="0"/>
              </a:rPr>
              <a:t>}</a:t>
            </a:r>
          </a:p>
          <a:p>
            <a:r>
              <a:rPr lang="en-NZ" sz="2000" dirty="0">
                <a:latin typeface="Calibri" pitchFamily="34" charset="0"/>
              </a:rPr>
              <a:t>A program that will provide a character echo procedure; </a:t>
            </a:r>
          </a:p>
          <a:p>
            <a:pPr lvl="1">
              <a:buFontTx/>
              <a:buChar char="•"/>
            </a:pPr>
            <a:r>
              <a:rPr lang="en-NZ" sz="2000" dirty="0">
                <a:latin typeface="Calibri" pitchFamily="34" charset="0"/>
              </a:rPr>
              <a:t> input is obtained from a keyboard one keystroke at a time.</a:t>
            </a:r>
          </a:p>
          <a:p>
            <a:pPr lvl="1">
              <a:buFontTx/>
              <a:buChar char="•"/>
            </a:pPr>
            <a:r>
              <a:rPr lang="en-NZ" sz="2000" dirty="0">
                <a:latin typeface="Calibri" pitchFamily="34" charset="0"/>
              </a:rPr>
              <a:t> Each input character is stored in variable chin. </a:t>
            </a:r>
          </a:p>
          <a:p>
            <a:pPr lvl="1">
              <a:buFontTx/>
              <a:buChar char="•"/>
            </a:pPr>
            <a:r>
              <a:rPr lang="en-NZ" sz="2000" dirty="0">
                <a:latin typeface="Calibri" pitchFamily="34" charset="0"/>
              </a:rPr>
              <a:t> It is then transferred to variable </a:t>
            </a:r>
            <a:r>
              <a:rPr lang="en-NZ" sz="2000" dirty="0" err="1">
                <a:latin typeface="Calibri" pitchFamily="34" charset="0"/>
              </a:rPr>
              <a:t>chout</a:t>
            </a:r>
            <a:r>
              <a:rPr lang="en-NZ" sz="2000" dirty="0">
                <a:latin typeface="Calibri" pitchFamily="34" charset="0"/>
              </a:rPr>
              <a:t> </a:t>
            </a:r>
          </a:p>
          <a:p>
            <a:pPr lvl="1">
              <a:buFontTx/>
              <a:buChar char="•"/>
            </a:pPr>
            <a:r>
              <a:rPr lang="en-NZ" sz="2000" dirty="0">
                <a:latin typeface="Calibri" pitchFamily="34" charset="0"/>
              </a:rPr>
              <a:t> and finally sent to the display. </a:t>
            </a:r>
          </a:p>
          <a:p>
            <a:r>
              <a:rPr lang="en-NZ" sz="2000" dirty="0">
                <a:latin typeface="Calibri" pitchFamily="34" charset="0"/>
              </a:rPr>
              <a:t>Any program can call this procedure repeatedly to accept user input and display it on the user’s screen.</a:t>
            </a:r>
          </a:p>
          <a:p>
            <a:r>
              <a:rPr lang="en-NZ" sz="2000" dirty="0">
                <a:latin typeface="Calibri" pitchFamily="34" charset="0"/>
              </a:rPr>
              <a:t>Now consider that we have a single-processor multiprogramming system</a:t>
            </a:r>
          </a:p>
          <a:p>
            <a:pPr lvl="1">
              <a:buFontTx/>
              <a:buChar char="•"/>
            </a:pPr>
            <a:r>
              <a:rPr lang="en-NZ" sz="2000" dirty="0">
                <a:latin typeface="Calibri" pitchFamily="34" charset="0"/>
              </a:rPr>
              <a:t> The user can jump from one application to another, and each application uses the same keyboard for input and the same screen for output. </a:t>
            </a:r>
          </a:p>
          <a:p>
            <a:endParaRPr lang="en-US" sz="2000" dirty="0">
              <a:latin typeface="Calibri" pitchFamily="34" charset="0"/>
            </a:endParaRPr>
          </a:p>
        </p:txBody>
      </p:sp>
      <p:sp>
        <p:nvSpPr>
          <p:cNvPr id="4" name="Slide Number Placeholder 3"/>
          <p:cNvSpPr>
            <a:spLocks noGrp="1"/>
          </p:cNvSpPr>
          <p:nvPr>
            <p:ph type="sldNum" sz="quarter" idx="12"/>
          </p:nvPr>
        </p:nvSpPr>
        <p:spPr/>
        <p:txBody>
          <a:bodyPr/>
          <a:lstStyle/>
          <a:p>
            <a:fld id="{8721AD9F-4A2E-478F-ACDB-FC9429174183}" type="slidenum">
              <a:rPr lang="en-GB" smtClean="0"/>
              <a:pPr/>
              <a:t>5</a:t>
            </a:fld>
            <a:endParaRPr lang="en-GB"/>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485804" y="642918"/>
            <a:ext cx="8229600" cy="4071966"/>
          </a:xfrm>
        </p:spPr>
        <p:style>
          <a:lnRef idx="2">
            <a:schemeClr val="accent5"/>
          </a:lnRef>
          <a:fillRef idx="1">
            <a:schemeClr val="lt1"/>
          </a:fillRef>
          <a:effectRef idx="0">
            <a:schemeClr val="accent5"/>
          </a:effectRef>
          <a:fontRef idx="minor">
            <a:schemeClr val="dk1"/>
          </a:fontRef>
        </p:style>
        <p:txBody>
          <a:bodyPr>
            <a:normAutofit fontScale="92500" lnSpcReduction="10000"/>
          </a:bodyPr>
          <a:lstStyle/>
          <a:p>
            <a:pPr>
              <a:buFont typeface="Arial" charset="0"/>
              <a:buNone/>
            </a:pPr>
            <a:r>
              <a:rPr lang="en-US" dirty="0"/>
              <a:t>Process P1			Process P2</a:t>
            </a:r>
          </a:p>
          <a:p>
            <a:pPr>
              <a:buFont typeface="Arial" charset="0"/>
              <a:buNone/>
            </a:pPr>
            <a:r>
              <a:rPr lang="en-US" dirty="0"/>
              <a:t>		.					.	</a:t>
            </a:r>
          </a:p>
          <a:p>
            <a:pPr>
              <a:buFont typeface="Arial" charset="0"/>
              <a:buNone/>
            </a:pPr>
            <a:r>
              <a:rPr lang="en-US" dirty="0"/>
              <a:t>chin = </a:t>
            </a:r>
            <a:r>
              <a:rPr lang="en-US" dirty="0" err="1"/>
              <a:t>getchar</a:t>
            </a:r>
            <a:r>
              <a:rPr lang="en-US" dirty="0"/>
              <a:t>(); 			.</a:t>
            </a:r>
          </a:p>
          <a:p>
            <a:pPr>
              <a:buFont typeface="Arial" charset="0"/>
              <a:buNone/>
            </a:pPr>
            <a:r>
              <a:rPr lang="en-US" dirty="0"/>
              <a:t>		.				chin = </a:t>
            </a:r>
            <a:r>
              <a:rPr lang="en-US" dirty="0" err="1"/>
              <a:t>getchar</a:t>
            </a:r>
            <a:r>
              <a:rPr lang="en-US" dirty="0"/>
              <a:t>();</a:t>
            </a:r>
          </a:p>
          <a:p>
            <a:pPr>
              <a:buFont typeface="Arial" charset="0"/>
              <a:buNone/>
            </a:pPr>
            <a:r>
              <a:rPr lang="en-US" dirty="0" err="1"/>
              <a:t>chout</a:t>
            </a:r>
            <a:r>
              <a:rPr lang="en-US" dirty="0"/>
              <a:t> = chin;			</a:t>
            </a:r>
            <a:r>
              <a:rPr lang="en-US" dirty="0" err="1"/>
              <a:t>chout</a:t>
            </a:r>
            <a:r>
              <a:rPr lang="en-US" dirty="0"/>
              <a:t> = chin;</a:t>
            </a:r>
          </a:p>
          <a:p>
            <a:pPr>
              <a:buFont typeface="Arial" charset="0"/>
              <a:buNone/>
            </a:pPr>
            <a:r>
              <a:rPr lang="en-US" dirty="0" err="1"/>
              <a:t>putchar</a:t>
            </a:r>
            <a:r>
              <a:rPr lang="en-US" dirty="0"/>
              <a:t>(</a:t>
            </a:r>
            <a:r>
              <a:rPr lang="en-US" dirty="0" err="1"/>
              <a:t>chout</a:t>
            </a:r>
            <a:r>
              <a:rPr lang="en-US" dirty="0"/>
              <a:t>);				.</a:t>
            </a:r>
          </a:p>
          <a:p>
            <a:pPr>
              <a:buFont typeface="Arial" charset="0"/>
              <a:buNone/>
            </a:pPr>
            <a:r>
              <a:rPr lang="en-US" dirty="0"/>
              <a:t>		.				</a:t>
            </a:r>
            <a:r>
              <a:rPr lang="en-US" dirty="0" err="1"/>
              <a:t>putchar</a:t>
            </a:r>
            <a:r>
              <a:rPr lang="en-US" dirty="0"/>
              <a:t>(</a:t>
            </a:r>
            <a:r>
              <a:rPr lang="en-US" dirty="0" err="1"/>
              <a:t>chout</a:t>
            </a:r>
            <a:r>
              <a:rPr lang="en-US" dirty="0"/>
              <a:t>);</a:t>
            </a:r>
          </a:p>
          <a:p>
            <a:pPr>
              <a:buFont typeface="Arial" charset="0"/>
              <a:buNone/>
            </a:pPr>
            <a:r>
              <a:rPr lang="en-US" dirty="0"/>
              <a:t>		.				 	.</a:t>
            </a:r>
          </a:p>
        </p:txBody>
      </p:sp>
      <p:sp>
        <p:nvSpPr>
          <p:cNvPr id="5" name="Slide Number Placeholder 4"/>
          <p:cNvSpPr>
            <a:spLocks noGrp="1"/>
          </p:cNvSpPr>
          <p:nvPr>
            <p:ph type="sldNum" sz="quarter" idx="12"/>
          </p:nvPr>
        </p:nvSpPr>
        <p:spPr/>
        <p:txBody>
          <a:bodyPr/>
          <a:lstStyle/>
          <a:p>
            <a:fld id="{8721AD9F-4A2E-478F-ACDB-FC9429174183}" type="slidenum">
              <a:rPr lang="en-GB" smtClean="0"/>
              <a:pPr/>
              <a:t>6</a:t>
            </a:fld>
            <a:endParaRPr lang="en-GB"/>
          </a:p>
        </p:txBody>
      </p:sp>
      <p:sp>
        <p:nvSpPr>
          <p:cNvPr id="13316" name="Text Box 5"/>
          <p:cNvSpPr txBox="1">
            <a:spLocks noChangeArrowheads="1"/>
          </p:cNvSpPr>
          <p:nvPr/>
        </p:nvSpPr>
        <p:spPr bwMode="auto">
          <a:xfrm>
            <a:off x="714348" y="4786322"/>
            <a:ext cx="7543800" cy="646331"/>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square">
            <a:spAutoFit/>
          </a:bodyPr>
          <a:lstStyle/>
          <a:p>
            <a:r>
              <a:rPr lang="en-NZ" dirty="0"/>
              <a:t>The result is that the character input to P1 is lost before being displayed,</a:t>
            </a:r>
          </a:p>
          <a:p>
            <a:pPr lvl="1"/>
            <a:r>
              <a:rPr lang="en-NZ" dirty="0"/>
              <a:t>and the character input to P2 is displayed by both P1 and P2.</a:t>
            </a:r>
            <a:endParaRPr lang="en-US" dirty="0"/>
          </a:p>
        </p:txBody>
      </p:sp>
      <p:sp>
        <p:nvSpPr>
          <p:cNvPr id="6" name="Title 1"/>
          <p:cNvSpPr txBox="1">
            <a:spLocks/>
          </p:cNvSpPr>
          <p:nvPr/>
        </p:nvSpPr>
        <p:spPr>
          <a:xfrm>
            <a:off x="1485936" y="-24"/>
            <a:ext cx="6586526" cy="500066"/>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mj-lt"/>
                <a:ea typeface="+mj-ea"/>
                <a:cs typeface="+mj-cs"/>
              </a:rPr>
              <a:t>A Simple Example: On a Multiprocessor</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928670"/>
            <a:ext cx="6643734" cy="4500594"/>
          </a:xfrm>
        </p:spPr>
        <p:style>
          <a:lnRef idx="2">
            <a:schemeClr val="accent5"/>
          </a:lnRef>
          <a:fillRef idx="1">
            <a:schemeClr val="lt1"/>
          </a:fillRef>
          <a:effectRef idx="0">
            <a:schemeClr val="accent5"/>
          </a:effectRef>
          <a:fontRef idx="minor">
            <a:schemeClr val="dk1"/>
          </a:fontRef>
        </p:style>
        <p:txBody>
          <a:bodyPr>
            <a:normAutofit/>
          </a:bodyPr>
          <a:lstStyle/>
          <a:p>
            <a:pPr>
              <a:buClr>
                <a:schemeClr val="accent5">
                  <a:lumMod val="75000"/>
                </a:schemeClr>
              </a:buClr>
              <a:defRPr/>
            </a:pPr>
            <a:endParaRPr lang="en-NZ" b="1" dirty="0">
              <a:solidFill>
                <a:schemeClr val="accent1">
                  <a:lumMod val="75000"/>
                </a:schemeClr>
              </a:solidFill>
              <a:latin typeface="Calibri" pitchFamily="34" charset="0"/>
            </a:endParaRPr>
          </a:p>
          <a:p>
            <a:pPr>
              <a:buClr>
                <a:schemeClr val="accent5">
                  <a:lumMod val="75000"/>
                </a:schemeClr>
              </a:buClr>
              <a:defRPr/>
            </a:pPr>
            <a:r>
              <a:rPr lang="en-NZ" dirty="0">
                <a:solidFill>
                  <a:schemeClr val="tx1"/>
                </a:solidFill>
                <a:latin typeface="Calibri" pitchFamily="34" charset="0"/>
              </a:rPr>
              <a:t>Key terms</a:t>
            </a:r>
          </a:p>
          <a:p>
            <a:pPr>
              <a:buClr>
                <a:schemeClr val="accent5">
                  <a:lumMod val="75000"/>
                </a:schemeClr>
              </a:buClr>
              <a:defRPr/>
            </a:pPr>
            <a:r>
              <a:rPr lang="en-NZ" dirty="0">
                <a:solidFill>
                  <a:schemeClr val="tx1"/>
                </a:solidFill>
                <a:latin typeface="Calibri" pitchFamily="34" charset="0"/>
              </a:rPr>
              <a:t>Principles of concurrency :</a:t>
            </a:r>
          </a:p>
          <a:p>
            <a:pPr>
              <a:buClr>
                <a:schemeClr val="accent5">
                  <a:lumMod val="75000"/>
                </a:schemeClr>
              </a:buClr>
              <a:defRPr/>
            </a:pPr>
            <a:r>
              <a:rPr lang="en-NZ" dirty="0">
                <a:solidFill>
                  <a:schemeClr val="tx1"/>
                </a:solidFill>
                <a:latin typeface="Calibri" pitchFamily="34" charset="0"/>
              </a:rPr>
              <a:t>Requirement of mutual exclusion</a:t>
            </a:r>
          </a:p>
          <a:p>
            <a:pPr>
              <a:buClr>
                <a:schemeClr val="accent5">
                  <a:lumMod val="75000"/>
                </a:schemeClr>
              </a:buClr>
              <a:defRPr/>
            </a:pPr>
            <a:r>
              <a:rPr lang="en-NZ" b="1" dirty="0">
                <a:solidFill>
                  <a:schemeClr val="accent1"/>
                </a:solidFill>
                <a:latin typeface="Calibri" pitchFamily="34" charset="0"/>
              </a:rPr>
              <a:t>Semaphores</a:t>
            </a:r>
          </a:p>
          <a:p>
            <a:pPr>
              <a:buClr>
                <a:schemeClr val="accent5">
                  <a:lumMod val="75000"/>
                </a:schemeClr>
              </a:buClr>
              <a:defRPr/>
            </a:pPr>
            <a:endParaRPr lang="en-NZ" dirty="0">
              <a:latin typeface="Calibri" pitchFamily="34" charset="0"/>
            </a:endParaRPr>
          </a:p>
        </p:txBody>
      </p:sp>
      <p:sp>
        <p:nvSpPr>
          <p:cNvPr id="5" name="Slide Number Placeholder 4"/>
          <p:cNvSpPr>
            <a:spLocks noGrp="1"/>
          </p:cNvSpPr>
          <p:nvPr>
            <p:ph type="sldNum" sz="quarter" idx="12"/>
          </p:nvPr>
        </p:nvSpPr>
        <p:spPr/>
        <p:txBody>
          <a:bodyPr/>
          <a:lstStyle/>
          <a:p>
            <a:fld id="{8721AD9F-4A2E-478F-ACDB-FC9429174183}" type="slidenum">
              <a:rPr lang="en-GB" smtClean="0"/>
              <a:pPr/>
              <a:t>7</a:t>
            </a:fld>
            <a:endParaRPr lang="en-GB"/>
          </a:p>
        </p:txBody>
      </p:sp>
      <p:sp>
        <p:nvSpPr>
          <p:cNvPr id="4" name="Title 1"/>
          <p:cNvSpPr txBox="1">
            <a:spLocks/>
          </p:cNvSpPr>
          <p:nvPr/>
        </p:nvSpPr>
        <p:spPr>
          <a:xfrm>
            <a:off x="1142976" y="71422"/>
            <a:ext cx="6072230" cy="50005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solidFill>
                  <a:schemeClr val="bg1">
                    <a:lumMod val="95000"/>
                  </a:schemeClr>
                </a:solidFill>
                <a:effectLst>
                  <a:outerShdw blurRad="38100" dist="38100" dir="2700000" algn="tl">
                    <a:srgbClr val="000000">
                      <a:alpha val="43137"/>
                    </a:srgbClr>
                  </a:outerShdw>
                </a:effectLst>
                <a:latin typeface="+mj-lt"/>
              </a:rPr>
              <a:t>ROADMAP - Concurrency</a:t>
            </a:r>
            <a:endParaRPr kumimoji="0" lang="en-GB" sz="2800" b="1" i="0" u="none" strike="noStrike" kern="1200" cap="none" spc="0" normalizeH="0" baseline="0" noProof="0" dirty="0">
              <a:ln>
                <a:noFill/>
              </a:ln>
              <a:solidFill>
                <a:schemeClr val="bg1">
                  <a:lumMod val="95000"/>
                </a:schemeClr>
              </a:solidFill>
              <a:effectLst>
                <a:outerShdw blurRad="38100" dist="38100" dir="2700000" algn="tl">
                  <a:srgbClr val="000000">
                    <a:alpha val="43137"/>
                  </a:srgbClr>
                </a:outerShdw>
              </a:effectLst>
              <a:uLnTx/>
              <a:uFillTx/>
              <a:latin typeface="+mj-lt"/>
              <a:ea typeface="+mn-ea"/>
              <a:cs typeface="+mn-cs"/>
            </a:endParaRPr>
          </a:p>
        </p:txBody>
      </p:sp>
      <p:sp>
        <p:nvSpPr>
          <p:cNvPr id="6" name="Right Arrow 5"/>
          <p:cNvSpPr/>
          <p:nvPr/>
        </p:nvSpPr>
        <p:spPr>
          <a:xfrm>
            <a:off x="428596" y="3381360"/>
            <a:ext cx="357190" cy="285752"/>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703955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500298" y="-24"/>
            <a:ext cx="4000528" cy="42862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000" b="1" dirty="0">
                <a:solidFill>
                  <a:schemeClr val="bg1"/>
                </a:solidFill>
                <a:effectLst>
                  <a:outerShdw blurRad="38100" dist="38100" dir="2700000" algn="tl">
                    <a:srgbClr val="000000">
                      <a:alpha val="43137"/>
                    </a:srgbClr>
                  </a:outerShdw>
                </a:effectLst>
                <a:latin typeface="+mj-lt"/>
              </a:rPr>
              <a:t>SEMAPHORE</a:t>
            </a:r>
            <a:endParaRPr kumimoji="0" lang="en-GB" sz="20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mj-lt"/>
              <a:ea typeface="+mn-ea"/>
              <a:cs typeface="+mn-cs"/>
            </a:endParaRPr>
          </a:p>
        </p:txBody>
      </p:sp>
      <p:sp>
        <p:nvSpPr>
          <p:cNvPr id="5" name="Rectangle 4"/>
          <p:cNvSpPr/>
          <p:nvPr/>
        </p:nvSpPr>
        <p:spPr>
          <a:xfrm>
            <a:off x="71406" y="1096108"/>
            <a:ext cx="8929718" cy="504753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Font typeface="Arial" pitchFamily="34" charset="0"/>
              <a:buChar char="•"/>
            </a:pPr>
            <a:r>
              <a:rPr lang="en-NZ" sz="2200" b="1" dirty="0">
                <a:latin typeface="Calibri" pitchFamily="34" charset="0"/>
                <a:cs typeface="Calibri" pitchFamily="34" charset="0"/>
              </a:rPr>
              <a:t>  Semaphore: </a:t>
            </a:r>
          </a:p>
          <a:p>
            <a:pPr lvl="1">
              <a:buFont typeface="Arial" pitchFamily="34" charset="0"/>
              <a:buChar char="•"/>
            </a:pPr>
            <a:r>
              <a:rPr lang="en-NZ" sz="2000" dirty="0">
                <a:latin typeface="Calibri" pitchFamily="34" charset="0"/>
                <a:cs typeface="Calibri" pitchFamily="34" charset="0"/>
              </a:rPr>
              <a:t>A semaphore is an integer value used for signalling among processes.  </a:t>
            </a:r>
          </a:p>
          <a:p>
            <a:pPr lvl="1">
              <a:buFont typeface="Arial" pitchFamily="34" charset="0"/>
              <a:buChar char="•"/>
            </a:pPr>
            <a:r>
              <a:rPr lang="en-NZ" sz="2000" dirty="0">
                <a:latin typeface="Calibri" pitchFamily="34" charset="0"/>
                <a:cs typeface="Calibri" pitchFamily="34" charset="0"/>
              </a:rPr>
              <a:t>Only three operations may be performed on a semaphore, all of which are atomic:</a:t>
            </a:r>
          </a:p>
          <a:p>
            <a:pPr lvl="1"/>
            <a:endParaRPr lang="en-NZ" sz="2000" dirty="0">
              <a:latin typeface="Calibri" pitchFamily="34" charset="0"/>
              <a:cs typeface="Calibri" pitchFamily="34" charset="0"/>
            </a:endParaRPr>
          </a:p>
          <a:p>
            <a:pPr lvl="1"/>
            <a:r>
              <a:rPr lang="en-NZ" sz="2000" b="1" dirty="0">
                <a:latin typeface="Calibri" pitchFamily="34" charset="0"/>
                <a:cs typeface="Calibri" pitchFamily="34" charset="0"/>
              </a:rPr>
              <a:t>1. Initialize:-</a:t>
            </a:r>
          </a:p>
          <a:p>
            <a:pPr marL="1257300" lvl="2" indent="-342900"/>
            <a:r>
              <a:rPr lang="en-NZ" sz="2000" dirty="0">
                <a:latin typeface="Calibri" pitchFamily="34" charset="0"/>
                <a:cs typeface="Calibri" pitchFamily="34" charset="0"/>
              </a:rPr>
              <a:t>	A semaphore may be initialized to a nonnegative integer value.</a:t>
            </a:r>
          </a:p>
          <a:p>
            <a:pPr marL="0" lvl="1"/>
            <a:r>
              <a:rPr lang="en-NZ" sz="2000" b="1" dirty="0">
                <a:latin typeface="Calibri" pitchFamily="34" charset="0"/>
                <a:cs typeface="Calibri" pitchFamily="34" charset="0"/>
              </a:rPr>
              <a:t>       2.</a:t>
            </a:r>
            <a:r>
              <a:rPr lang="en-NZ" sz="2000" b="1" dirty="0">
                <a:latin typeface="Calibri" pitchFamily="34" charset="0"/>
              </a:rPr>
              <a:t>Decrement (</a:t>
            </a:r>
            <a:r>
              <a:rPr lang="en-US" sz="2000" b="1" dirty="0">
                <a:latin typeface="Calibri" pitchFamily="34" charset="0"/>
                <a:cs typeface="Courier New" pitchFamily="49" charset="0"/>
              </a:rPr>
              <a:t>semWait</a:t>
            </a:r>
            <a:r>
              <a:rPr lang="en-US" sz="2000" dirty="0">
                <a:latin typeface="Calibri" pitchFamily="34" charset="0"/>
                <a:cs typeface="Courier New" pitchFamily="49" charset="0"/>
              </a:rPr>
              <a:t>)</a:t>
            </a:r>
            <a:r>
              <a:rPr lang="en-US" sz="2000" b="1" dirty="0">
                <a:latin typeface="Calibri" pitchFamily="34" charset="0"/>
                <a:cs typeface="Courier New" pitchFamily="49" charset="0"/>
              </a:rPr>
              <a:t>:-</a:t>
            </a:r>
            <a:r>
              <a:rPr lang="en-US" sz="2000" dirty="0">
                <a:latin typeface="Calibri" pitchFamily="34" charset="0"/>
                <a:cs typeface="Courier New" pitchFamily="49" charset="0"/>
              </a:rPr>
              <a:t> // To receive a signal</a:t>
            </a:r>
            <a:endParaRPr lang="en-NZ" sz="2000" dirty="0">
              <a:latin typeface="Calibri" pitchFamily="34" charset="0"/>
            </a:endParaRPr>
          </a:p>
          <a:p>
            <a:pPr lvl="2">
              <a:buFont typeface="Arial" pitchFamily="34" charset="0"/>
              <a:buChar char="•"/>
            </a:pPr>
            <a:r>
              <a:rPr lang="en-NZ" sz="2000" dirty="0">
                <a:latin typeface="Calibri" pitchFamily="34" charset="0"/>
                <a:cs typeface="Calibri" pitchFamily="34" charset="0"/>
              </a:rPr>
              <a:t>The semWait operation decrements the semaphore value. </a:t>
            </a:r>
          </a:p>
          <a:p>
            <a:pPr lvl="2">
              <a:buFontTx/>
              <a:buChar char="•"/>
            </a:pPr>
            <a:r>
              <a:rPr lang="en-NZ" sz="2000" dirty="0">
                <a:latin typeface="Calibri" pitchFamily="34" charset="0"/>
                <a:cs typeface="Calibri" pitchFamily="34" charset="0"/>
              </a:rPr>
              <a:t>If the value becomes negative, then the process executing the semWait is  </a:t>
            </a:r>
          </a:p>
          <a:p>
            <a:pPr lvl="2"/>
            <a:r>
              <a:rPr lang="en-NZ" sz="2000" dirty="0">
                <a:latin typeface="Calibri" pitchFamily="34" charset="0"/>
                <a:cs typeface="Calibri" pitchFamily="34" charset="0"/>
              </a:rPr>
              <a:t>   blocked. </a:t>
            </a:r>
          </a:p>
          <a:p>
            <a:pPr lvl="2">
              <a:buFontTx/>
              <a:buChar char="•"/>
            </a:pPr>
            <a:r>
              <a:rPr lang="en-NZ" sz="2000" dirty="0">
                <a:latin typeface="Calibri" pitchFamily="34" charset="0"/>
                <a:cs typeface="Calibri" pitchFamily="34" charset="0"/>
              </a:rPr>
              <a:t> Otherwise, the process continues execution.</a:t>
            </a:r>
          </a:p>
          <a:p>
            <a:pPr marL="0" lvl="1"/>
            <a:r>
              <a:rPr lang="en-NZ" sz="2000" dirty="0">
                <a:latin typeface="Calibri" pitchFamily="34" charset="0"/>
                <a:cs typeface="Calibri" pitchFamily="34" charset="0"/>
              </a:rPr>
              <a:t>       </a:t>
            </a:r>
            <a:r>
              <a:rPr lang="en-NZ" sz="2000" b="1" dirty="0">
                <a:latin typeface="Calibri" pitchFamily="34" charset="0"/>
                <a:cs typeface="Calibri" pitchFamily="34" charset="0"/>
              </a:rPr>
              <a:t>3. </a:t>
            </a:r>
            <a:r>
              <a:rPr lang="en-NZ" sz="2000" b="1" dirty="0">
                <a:latin typeface="Calibri" pitchFamily="34" charset="0"/>
              </a:rPr>
              <a:t>increment (</a:t>
            </a:r>
            <a:r>
              <a:rPr lang="en-US" sz="2000" b="1" dirty="0">
                <a:latin typeface="Calibri" pitchFamily="34" charset="0"/>
                <a:cs typeface="Courier New" pitchFamily="49" charset="0"/>
              </a:rPr>
              <a:t>semSignal):-</a:t>
            </a:r>
            <a:r>
              <a:rPr lang="en-US" sz="2000" dirty="0">
                <a:latin typeface="Calibri" pitchFamily="34" charset="0"/>
                <a:cs typeface="Courier New" pitchFamily="49" charset="0"/>
              </a:rPr>
              <a:t> //  To transmit a signal</a:t>
            </a:r>
            <a:endParaRPr lang="en-NZ" sz="2000" dirty="0">
              <a:latin typeface="Calibri" pitchFamily="34" charset="0"/>
            </a:endParaRPr>
          </a:p>
          <a:p>
            <a:pPr lvl="2">
              <a:buFont typeface="Arial" pitchFamily="34" charset="0"/>
              <a:buChar char="•"/>
            </a:pPr>
            <a:r>
              <a:rPr lang="en-NZ" sz="2000" dirty="0">
                <a:latin typeface="Calibri" pitchFamily="34" charset="0"/>
                <a:cs typeface="Calibri" pitchFamily="34" charset="0"/>
              </a:rPr>
              <a:t> The </a:t>
            </a:r>
            <a:r>
              <a:rPr lang="en-NZ" sz="2000" dirty="0" err="1">
                <a:latin typeface="Calibri" pitchFamily="34" charset="0"/>
                <a:cs typeface="Calibri" pitchFamily="34" charset="0"/>
              </a:rPr>
              <a:t>semSignal</a:t>
            </a:r>
            <a:r>
              <a:rPr lang="en-NZ" sz="2000" dirty="0">
                <a:latin typeface="Calibri" pitchFamily="34" charset="0"/>
                <a:cs typeface="Calibri" pitchFamily="34" charset="0"/>
              </a:rPr>
              <a:t> operation increments the semaphore value. </a:t>
            </a:r>
          </a:p>
          <a:p>
            <a:pPr lvl="2">
              <a:buFontTx/>
              <a:buChar char="•"/>
            </a:pPr>
            <a:r>
              <a:rPr lang="en-NZ" sz="2000" dirty="0">
                <a:latin typeface="Calibri" pitchFamily="34" charset="0"/>
                <a:cs typeface="Calibri" pitchFamily="34" charset="0"/>
              </a:rPr>
              <a:t>If the resulting value is less than or equal to zero, then a process blocked  </a:t>
            </a:r>
          </a:p>
          <a:p>
            <a:pPr lvl="2"/>
            <a:r>
              <a:rPr lang="en-NZ" sz="2000" dirty="0">
                <a:latin typeface="Calibri" pitchFamily="34" charset="0"/>
                <a:cs typeface="Calibri" pitchFamily="34" charset="0"/>
              </a:rPr>
              <a:t>   by a semWait operation, if any, is unblocked.</a:t>
            </a:r>
          </a:p>
        </p:txBody>
      </p:sp>
      <p:sp>
        <p:nvSpPr>
          <p:cNvPr id="6" name="Slide Number Placeholder 5"/>
          <p:cNvSpPr>
            <a:spLocks noGrp="1"/>
          </p:cNvSpPr>
          <p:nvPr>
            <p:ph type="sldNum" sz="quarter" idx="12"/>
          </p:nvPr>
        </p:nvSpPr>
        <p:spPr/>
        <p:txBody>
          <a:bodyPr/>
          <a:lstStyle/>
          <a:p>
            <a:fld id="{8721AD9F-4A2E-478F-ACDB-FC9429174183}" type="slidenum">
              <a:rPr lang="en-GB" smtClean="0"/>
              <a:pPr/>
              <a:t>8</a:t>
            </a:fld>
            <a:endParaRPr lang="en-GB"/>
          </a:p>
        </p:txBody>
      </p:sp>
      <p:sp>
        <p:nvSpPr>
          <p:cNvPr id="7" name="Rectangle 1"/>
          <p:cNvSpPr>
            <a:spLocks noChangeArrowheads="1"/>
          </p:cNvSpPr>
          <p:nvPr/>
        </p:nvSpPr>
        <p:spPr bwMode="auto">
          <a:xfrm>
            <a:off x="142877" y="599998"/>
            <a:ext cx="8858279" cy="400110"/>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2000" b="1" dirty="0">
                <a:solidFill>
                  <a:schemeClr val="bg1"/>
                </a:solidFill>
                <a:latin typeface="Calibri" pitchFamily="34" charset="0"/>
              </a:rPr>
              <a:t>What operations can be performed on a semaphore?</a:t>
            </a:r>
            <a:endParaRPr kumimoji="0" lang="en-US" sz="2000" b="1" i="0" u="none" strike="noStrike" cap="none" normalizeH="0" baseline="0" dirty="0">
              <a:ln>
                <a:noFill/>
              </a:ln>
              <a:solidFill>
                <a:schemeClr val="bg1"/>
              </a:solidFill>
              <a:latin typeface="Calibri" pitchFamily="34" charset="0"/>
              <a:cs typeface="Arial"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5" name="Content Placeholder 3" descr="Fig05_03.gif"/>
          <p:cNvPicPr>
            <a:picLocks noGrp="1" noChangeAspect="1"/>
          </p:cNvPicPr>
          <p:nvPr>
            <p:ph idx="1"/>
          </p:nvPr>
        </p:nvPicPr>
        <p:blipFill>
          <a:blip r:embed="rId3"/>
          <a:srcRect/>
          <a:stretch>
            <a:fillRect/>
          </a:stretch>
        </p:blipFill>
        <p:spPr>
          <a:xfrm>
            <a:off x="0" y="571504"/>
            <a:ext cx="9144000" cy="57864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Slide Number Placeholder 3"/>
          <p:cNvSpPr>
            <a:spLocks noGrp="1"/>
          </p:cNvSpPr>
          <p:nvPr>
            <p:ph type="sldNum" sz="quarter" idx="12"/>
          </p:nvPr>
        </p:nvSpPr>
        <p:spPr/>
        <p:txBody>
          <a:bodyPr/>
          <a:lstStyle/>
          <a:p>
            <a:fld id="{8721AD9F-4A2E-478F-ACDB-FC9429174183}" type="slidenum">
              <a:rPr lang="en-GB" smtClean="0"/>
              <a:pPr/>
              <a:t>9</a:t>
            </a:fld>
            <a:endParaRPr lang="en-GB"/>
          </a:p>
        </p:txBody>
      </p:sp>
      <p:sp>
        <p:nvSpPr>
          <p:cNvPr id="7" name="Title 1"/>
          <p:cNvSpPr txBox="1">
            <a:spLocks/>
          </p:cNvSpPr>
          <p:nvPr/>
        </p:nvSpPr>
        <p:spPr>
          <a:xfrm>
            <a:off x="2500298" y="71414"/>
            <a:ext cx="4000528" cy="357190"/>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000" b="1" dirty="0">
                <a:solidFill>
                  <a:schemeClr val="bg1"/>
                </a:solidFill>
                <a:effectLst>
                  <a:outerShdw blurRad="38100" dist="38100" dir="2700000" algn="tl">
                    <a:srgbClr val="000000">
                      <a:alpha val="43137"/>
                    </a:srgbClr>
                  </a:outerShdw>
                </a:effectLst>
                <a:latin typeface="+mj-lt"/>
              </a:rPr>
              <a:t>SEMAPHORE</a:t>
            </a:r>
            <a:endParaRPr kumimoji="0" lang="en-GB" sz="20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mj-lt"/>
              <a:ea typeface="+mn-ea"/>
              <a:cs typeface="+mn-cs"/>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214290"/>
            <a:ext cx="8229600" cy="500066"/>
          </a:xfrm>
        </p:spPr>
        <p:style>
          <a:lnRef idx="3">
            <a:schemeClr val="lt1"/>
          </a:lnRef>
          <a:fillRef idx="1">
            <a:schemeClr val="accent5"/>
          </a:fillRef>
          <a:effectRef idx="1">
            <a:schemeClr val="accent5"/>
          </a:effectRef>
          <a:fontRef idx="minor">
            <a:schemeClr val="lt1"/>
          </a:fontRef>
        </p:style>
        <p:txBody>
          <a:bodyPr>
            <a:normAutofit fontScale="90000"/>
          </a:bodyPr>
          <a:lstStyle/>
          <a:p>
            <a:pPr algn="ctr"/>
            <a:r>
              <a:rPr lang="en-US" sz="2800" b="1" dirty="0">
                <a:effectLst>
                  <a:outerShdw blurRad="38100" dist="38100" dir="2700000" algn="tl">
                    <a:srgbClr val="000000">
                      <a:alpha val="43137"/>
                    </a:srgbClr>
                  </a:outerShdw>
                </a:effectLst>
                <a:latin typeface="+mj-lt"/>
              </a:rPr>
              <a:t>Semaphore Example 1</a:t>
            </a:r>
          </a:p>
        </p:txBody>
      </p:sp>
      <p:sp>
        <p:nvSpPr>
          <p:cNvPr id="20483" name="Rectangle 3"/>
          <p:cNvSpPr>
            <a:spLocks noGrp="1" noChangeArrowheads="1"/>
          </p:cNvSpPr>
          <p:nvPr>
            <p:ph sz="half" idx="1"/>
          </p:nvPr>
        </p:nvSpPr>
        <p:spPr/>
        <p:style>
          <a:lnRef idx="2">
            <a:schemeClr val="accent5"/>
          </a:lnRef>
          <a:fillRef idx="1">
            <a:schemeClr val="lt1"/>
          </a:fillRef>
          <a:effectRef idx="0">
            <a:schemeClr val="accent5"/>
          </a:effectRef>
          <a:fontRef idx="minor">
            <a:schemeClr val="dk1"/>
          </a:fontRef>
        </p:style>
        <p:txBody>
          <a:bodyPr/>
          <a:lstStyle/>
          <a:p>
            <a:pPr>
              <a:buFont typeface="Wingdings" pitchFamily="2" charset="2"/>
              <a:buNone/>
            </a:pPr>
            <a:r>
              <a:rPr lang="en-US" sz="2000" b="1" dirty="0">
                <a:solidFill>
                  <a:srgbClr val="FF0000"/>
                </a:solidFill>
                <a:latin typeface="Courier New" pitchFamily="49" charset="0"/>
                <a:cs typeface="Courier New" pitchFamily="49" charset="0"/>
              </a:rPr>
              <a:t>semaphore s = 2; </a:t>
            </a:r>
          </a:p>
          <a:p>
            <a:pPr>
              <a:buFont typeface="Wingdings" pitchFamily="2" charset="2"/>
              <a:buNone/>
            </a:pPr>
            <a:r>
              <a:rPr lang="en-US" sz="2000" b="1" dirty="0">
                <a:solidFill>
                  <a:srgbClr val="0000CC"/>
                </a:solidFill>
                <a:latin typeface="Courier New" pitchFamily="49" charset="0"/>
                <a:cs typeface="Courier New" pitchFamily="49" charset="0"/>
              </a:rPr>
              <a:t>P</a:t>
            </a:r>
            <a:r>
              <a:rPr lang="en-US" sz="2000" b="1" baseline="-25000" dirty="0">
                <a:solidFill>
                  <a:srgbClr val="0000CC"/>
                </a:solidFill>
                <a:latin typeface="Courier New" pitchFamily="49" charset="0"/>
                <a:cs typeface="Courier New" pitchFamily="49" charset="0"/>
              </a:rPr>
              <a:t>i </a:t>
            </a:r>
            <a:r>
              <a:rPr lang="en-US" sz="2000" b="1" dirty="0">
                <a:solidFill>
                  <a:srgbClr val="0000CC"/>
                </a:solidFill>
                <a:latin typeface="Courier New" pitchFamily="49" charset="0"/>
                <a:cs typeface="Courier New" pitchFamily="49" charset="0"/>
              </a:rPr>
              <a:t>{</a:t>
            </a:r>
          </a:p>
          <a:p>
            <a:pPr>
              <a:buFont typeface="Wingdings" pitchFamily="2" charset="2"/>
              <a:buNone/>
            </a:pPr>
            <a:r>
              <a:rPr lang="en-US" sz="2000" b="1" dirty="0">
                <a:solidFill>
                  <a:srgbClr val="0000CC"/>
                </a:solidFill>
                <a:latin typeface="Courier New" pitchFamily="49" charset="0"/>
                <a:cs typeface="Courier New" pitchFamily="49" charset="0"/>
              </a:rPr>
              <a:t>	while(1) 	{ </a:t>
            </a:r>
          </a:p>
          <a:p>
            <a:pPr>
              <a:buFont typeface="Wingdings" pitchFamily="2" charset="2"/>
              <a:buNone/>
            </a:pPr>
            <a:r>
              <a:rPr lang="en-US" sz="2000" b="1" dirty="0">
                <a:solidFill>
                  <a:srgbClr val="0000CC"/>
                </a:solidFill>
                <a:latin typeface="Courier New" pitchFamily="49" charset="0"/>
                <a:cs typeface="Courier New" pitchFamily="49" charset="0"/>
              </a:rPr>
              <a:t>		</a:t>
            </a:r>
            <a:r>
              <a:rPr lang="en-US" sz="2000" b="1" dirty="0" err="1">
                <a:solidFill>
                  <a:srgbClr val="0000CC"/>
                </a:solidFill>
                <a:latin typeface="Courier New" pitchFamily="49" charset="0"/>
                <a:cs typeface="Courier New" pitchFamily="49" charset="0"/>
              </a:rPr>
              <a:t>semWait</a:t>
            </a:r>
            <a:r>
              <a:rPr lang="en-US" sz="2000" b="1" dirty="0">
                <a:solidFill>
                  <a:srgbClr val="0000CC"/>
                </a:solidFill>
                <a:latin typeface="Courier New" pitchFamily="49" charset="0"/>
                <a:cs typeface="Courier New" pitchFamily="49" charset="0"/>
              </a:rPr>
              <a:t>(s); </a:t>
            </a:r>
          </a:p>
          <a:p>
            <a:pPr>
              <a:buFont typeface="Wingdings" pitchFamily="2" charset="2"/>
              <a:buNone/>
            </a:pPr>
            <a:r>
              <a:rPr lang="en-US" sz="2000" b="1" dirty="0">
                <a:solidFill>
                  <a:srgbClr val="0000CC"/>
                </a:solidFill>
                <a:latin typeface="Courier New" pitchFamily="49" charset="0"/>
                <a:cs typeface="Courier New" pitchFamily="49" charset="0"/>
              </a:rPr>
              <a:t>		/* CS */</a:t>
            </a:r>
          </a:p>
          <a:p>
            <a:pPr>
              <a:buFont typeface="Wingdings" pitchFamily="2" charset="2"/>
              <a:buNone/>
            </a:pPr>
            <a:r>
              <a:rPr lang="en-US" sz="2000" b="1" dirty="0">
                <a:solidFill>
                  <a:srgbClr val="0000CC"/>
                </a:solidFill>
                <a:latin typeface="Courier New" pitchFamily="49" charset="0"/>
                <a:cs typeface="Courier New" pitchFamily="49" charset="0"/>
              </a:rPr>
              <a:t>		</a:t>
            </a:r>
            <a:r>
              <a:rPr lang="en-US" sz="2000" b="1" dirty="0" err="1">
                <a:solidFill>
                  <a:srgbClr val="0000CC"/>
                </a:solidFill>
                <a:latin typeface="Courier New" pitchFamily="49" charset="0"/>
                <a:cs typeface="Courier New" pitchFamily="49" charset="0"/>
              </a:rPr>
              <a:t>semSignal</a:t>
            </a:r>
            <a:r>
              <a:rPr lang="en-US" sz="2000" b="1" dirty="0">
                <a:solidFill>
                  <a:srgbClr val="0000CC"/>
                </a:solidFill>
                <a:latin typeface="Courier New" pitchFamily="49" charset="0"/>
                <a:cs typeface="Courier New" pitchFamily="49" charset="0"/>
              </a:rPr>
              <a:t>(s);</a:t>
            </a:r>
          </a:p>
          <a:p>
            <a:pPr>
              <a:buFont typeface="Wingdings" pitchFamily="2" charset="2"/>
              <a:buNone/>
            </a:pPr>
            <a:r>
              <a:rPr lang="en-US" sz="2000" b="1" dirty="0">
                <a:solidFill>
                  <a:srgbClr val="0000CC"/>
                </a:solidFill>
                <a:latin typeface="Courier New" pitchFamily="49" charset="0"/>
                <a:cs typeface="Courier New" pitchFamily="49" charset="0"/>
              </a:rPr>
              <a:t>		/* remainder */</a:t>
            </a:r>
          </a:p>
          <a:p>
            <a:pPr>
              <a:buFont typeface="Wingdings" pitchFamily="2" charset="2"/>
              <a:buNone/>
            </a:pPr>
            <a:r>
              <a:rPr lang="en-US" sz="2000" b="1" dirty="0">
                <a:solidFill>
                  <a:srgbClr val="0000CC"/>
                </a:solidFill>
                <a:latin typeface="Courier New" pitchFamily="49" charset="0"/>
                <a:cs typeface="Courier New" pitchFamily="49" charset="0"/>
              </a:rPr>
              <a:t>	}</a:t>
            </a:r>
          </a:p>
          <a:p>
            <a:pPr>
              <a:buFont typeface="Wingdings" pitchFamily="2" charset="2"/>
              <a:buNone/>
            </a:pPr>
            <a:r>
              <a:rPr lang="en-US" sz="2000" b="1" dirty="0">
                <a:solidFill>
                  <a:srgbClr val="0000CC"/>
                </a:solidFill>
                <a:latin typeface="Courier New" pitchFamily="49" charset="0"/>
                <a:cs typeface="Courier New" pitchFamily="49" charset="0"/>
              </a:rPr>
              <a:t>}</a:t>
            </a:r>
          </a:p>
        </p:txBody>
      </p:sp>
      <p:sp>
        <p:nvSpPr>
          <p:cNvPr id="20484" name="Content Placeholder 7"/>
          <p:cNvSpPr>
            <a:spLocks noGrp="1"/>
          </p:cNvSpPr>
          <p:nvPr>
            <p:ph sz="half" idx="2"/>
          </p:nvPr>
        </p:nvSpPr>
        <p:spPr/>
        <p:style>
          <a:lnRef idx="2">
            <a:schemeClr val="accent5"/>
          </a:lnRef>
          <a:fillRef idx="1">
            <a:schemeClr val="lt1"/>
          </a:fillRef>
          <a:effectRef idx="0">
            <a:schemeClr val="accent5"/>
          </a:effectRef>
          <a:fontRef idx="minor">
            <a:schemeClr val="dk1"/>
          </a:fontRef>
        </p:style>
        <p:txBody>
          <a:bodyPr/>
          <a:lstStyle/>
          <a:p>
            <a:pPr eaLnBrk="1" hangingPunct="1"/>
            <a:r>
              <a:rPr lang="en-US" sz="2400" dirty="0">
                <a:latin typeface="Calibri" pitchFamily="34" charset="0"/>
              </a:rPr>
              <a:t>What happens?</a:t>
            </a:r>
          </a:p>
          <a:p>
            <a:pPr lvl="1" eaLnBrk="1" hangingPunct="1">
              <a:buFont typeface="Wingdings" pitchFamily="2" charset="2"/>
              <a:buNone/>
            </a:pPr>
            <a:br>
              <a:rPr lang="en-US" sz="2000" dirty="0">
                <a:latin typeface="Calibri" pitchFamily="34" charset="0"/>
              </a:rPr>
            </a:br>
            <a:endParaRPr lang="en-US" sz="2000" dirty="0">
              <a:latin typeface="Calibri" pitchFamily="34" charset="0"/>
            </a:endParaRPr>
          </a:p>
          <a:p>
            <a:pPr eaLnBrk="1" hangingPunct="1"/>
            <a:r>
              <a:rPr lang="en-US" sz="2400" dirty="0">
                <a:latin typeface="Calibri" pitchFamily="34" charset="0"/>
              </a:rPr>
              <a:t>When might this be desirable?</a:t>
            </a:r>
          </a:p>
          <a:p>
            <a:endParaRPr lang="en-US" sz="2400" dirty="0">
              <a:latin typeface="Calibri" pitchFamily="34" charset="0"/>
            </a:endParaRPr>
          </a:p>
        </p:txBody>
      </p:sp>
      <p:sp>
        <p:nvSpPr>
          <p:cNvPr id="20485" name="Slide Number Placeholder 4"/>
          <p:cNvSpPr>
            <a:spLocks noGrp="1"/>
          </p:cNvSpPr>
          <p:nvPr>
            <p:ph type="sldNum" sz="quarter" idx="12"/>
          </p:nvPr>
        </p:nvSpPr>
        <p:spPr>
          <a:noFill/>
        </p:spPr>
        <p:txBody>
          <a:bodyPr/>
          <a:lstStyle/>
          <a:p>
            <a:fld id="{B2BBFAC5-8BFA-4BCC-8E29-BABED547D49D}" type="slidenum">
              <a:rPr lang="en-US" smtClean="0">
                <a:latin typeface="Tahoma" pitchFamily="34" charset="0"/>
              </a:rPr>
              <a:pPr/>
              <a:t>10</a:t>
            </a:fld>
            <a:endParaRPr lang="en-US">
              <a:latin typeface="Tahoma" pitchFamily="3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sz="half" idx="1"/>
          </p:nvPr>
        </p:nvSpPr>
        <p:spPr/>
        <p:style>
          <a:lnRef idx="2">
            <a:schemeClr val="accent5"/>
          </a:lnRef>
          <a:fillRef idx="1">
            <a:schemeClr val="lt1"/>
          </a:fillRef>
          <a:effectRef idx="0">
            <a:schemeClr val="accent5"/>
          </a:effectRef>
          <a:fontRef idx="minor">
            <a:schemeClr val="dk1"/>
          </a:fontRef>
        </p:style>
        <p:txBody>
          <a:bodyPr/>
          <a:lstStyle/>
          <a:p>
            <a:pPr>
              <a:buFont typeface="Wingdings" pitchFamily="2" charset="2"/>
              <a:buNone/>
            </a:pPr>
            <a:r>
              <a:rPr lang="en-US" sz="2000" b="1" dirty="0">
                <a:solidFill>
                  <a:srgbClr val="FF0000"/>
                </a:solidFill>
                <a:latin typeface="Courier New" pitchFamily="49" charset="0"/>
                <a:cs typeface="Courier New" pitchFamily="49" charset="0"/>
              </a:rPr>
              <a:t>semaphore s = 2; </a:t>
            </a:r>
          </a:p>
          <a:p>
            <a:pPr>
              <a:buFont typeface="Wingdings" pitchFamily="2" charset="2"/>
              <a:buNone/>
            </a:pPr>
            <a:r>
              <a:rPr lang="en-US" sz="2000" b="1" dirty="0">
                <a:solidFill>
                  <a:srgbClr val="0000CC"/>
                </a:solidFill>
                <a:latin typeface="Courier New" pitchFamily="49" charset="0"/>
                <a:cs typeface="Courier New" pitchFamily="49" charset="0"/>
              </a:rPr>
              <a:t>P</a:t>
            </a:r>
            <a:r>
              <a:rPr lang="en-US" sz="2000" b="1" baseline="-25000" dirty="0">
                <a:solidFill>
                  <a:srgbClr val="0000CC"/>
                </a:solidFill>
                <a:latin typeface="Courier New" pitchFamily="49" charset="0"/>
                <a:cs typeface="Courier New" pitchFamily="49" charset="0"/>
              </a:rPr>
              <a:t>i </a:t>
            </a:r>
            <a:r>
              <a:rPr lang="en-US" sz="2000" b="1" dirty="0">
                <a:solidFill>
                  <a:srgbClr val="0000CC"/>
                </a:solidFill>
                <a:latin typeface="Courier New" pitchFamily="49" charset="0"/>
                <a:cs typeface="Courier New" pitchFamily="49" charset="0"/>
              </a:rPr>
              <a:t>{</a:t>
            </a:r>
          </a:p>
          <a:p>
            <a:pPr>
              <a:buFont typeface="Wingdings" pitchFamily="2" charset="2"/>
              <a:buNone/>
            </a:pPr>
            <a:r>
              <a:rPr lang="en-US" sz="2000" b="1" dirty="0">
                <a:solidFill>
                  <a:srgbClr val="0000CC"/>
                </a:solidFill>
                <a:latin typeface="Courier New" pitchFamily="49" charset="0"/>
                <a:cs typeface="Courier New" pitchFamily="49" charset="0"/>
              </a:rPr>
              <a:t>	while(1) 	{ </a:t>
            </a:r>
          </a:p>
          <a:p>
            <a:pPr>
              <a:buFont typeface="Wingdings" pitchFamily="2" charset="2"/>
              <a:buNone/>
            </a:pPr>
            <a:r>
              <a:rPr lang="en-US" sz="2000" b="1" dirty="0">
                <a:solidFill>
                  <a:srgbClr val="0000CC"/>
                </a:solidFill>
                <a:latin typeface="Courier New" pitchFamily="49" charset="0"/>
                <a:cs typeface="Courier New" pitchFamily="49" charset="0"/>
              </a:rPr>
              <a:t>		semWait(s); </a:t>
            </a:r>
          </a:p>
          <a:p>
            <a:pPr>
              <a:buFont typeface="Wingdings" pitchFamily="2" charset="2"/>
              <a:buNone/>
            </a:pPr>
            <a:r>
              <a:rPr lang="en-US" sz="2000" b="1" dirty="0">
                <a:solidFill>
                  <a:srgbClr val="0000CC"/>
                </a:solidFill>
                <a:latin typeface="Courier New" pitchFamily="49" charset="0"/>
                <a:cs typeface="Courier New" pitchFamily="49" charset="0"/>
              </a:rPr>
              <a:t>		/* CS */</a:t>
            </a:r>
          </a:p>
          <a:p>
            <a:pPr>
              <a:buFont typeface="Wingdings" pitchFamily="2" charset="2"/>
              <a:buNone/>
            </a:pPr>
            <a:r>
              <a:rPr lang="en-US" sz="2000" b="1" dirty="0">
                <a:solidFill>
                  <a:srgbClr val="0000CC"/>
                </a:solidFill>
                <a:latin typeface="Courier New" pitchFamily="49" charset="0"/>
                <a:cs typeface="Courier New" pitchFamily="49" charset="0"/>
              </a:rPr>
              <a:t>		semSignal(s);</a:t>
            </a:r>
          </a:p>
          <a:p>
            <a:pPr>
              <a:buFont typeface="Wingdings" pitchFamily="2" charset="2"/>
              <a:buNone/>
            </a:pPr>
            <a:r>
              <a:rPr lang="en-US" sz="2000" b="1" dirty="0">
                <a:solidFill>
                  <a:srgbClr val="0000CC"/>
                </a:solidFill>
                <a:latin typeface="Courier New" pitchFamily="49" charset="0"/>
                <a:cs typeface="Courier New" pitchFamily="49" charset="0"/>
              </a:rPr>
              <a:t>		/* remainder */</a:t>
            </a:r>
          </a:p>
          <a:p>
            <a:pPr>
              <a:buFont typeface="Wingdings" pitchFamily="2" charset="2"/>
              <a:buNone/>
            </a:pPr>
            <a:r>
              <a:rPr lang="en-US" sz="2000" b="1" dirty="0">
                <a:solidFill>
                  <a:srgbClr val="0000CC"/>
                </a:solidFill>
                <a:latin typeface="Courier New" pitchFamily="49" charset="0"/>
                <a:cs typeface="Courier New" pitchFamily="49" charset="0"/>
              </a:rPr>
              <a:t>	}</a:t>
            </a:r>
          </a:p>
          <a:p>
            <a:pPr>
              <a:buFont typeface="Wingdings" pitchFamily="2" charset="2"/>
              <a:buNone/>
            </a:pPr>
            <a:r>
              <a:rPr lang="en-US" sz="2000" b="1" dirty="0">
                <a:solidFill>
                  <a:srgbClr val="0000CC"/>
                </a:solidFill>
                <a:latin typeface="Courier New" pitchFamily="49" charset="0"/>
                <a:cs typeface="Courier New" pitchFamily="49" charset="0"/>
              </a:rPr>
              <a:t>}</a:t>
            </a:r>
          </a:p>
        </p:txBody>
      </p:sp>
      <p:sp>
        <p:nvSpPr>
          <p:cNvPr id="21508" name="Content Placeholder 7"/>
          <p:cNvSpPr>
            <a:spLocks noGrp="1"/>
          </p:cNvSpPr>
          <p:nvPr>
            <p:ph sz="half" idx="2"/>
          </p:nvPr>
        </p:nvSpPr>
        <p:spPr/>
        <p:style>
          <a:lnRef idx="2">
            <a:schemeClr val="accent5"/>
          </a:lnRef>
          <a:fillRef idx="1">
            <a:schemeClr val="lt1"/>
          </a:fillRef>
          <a:effectRef idx="0">
            <a:schemeClr val="accent5"/>
          </a:effectRef>
          <a:fontRef idx="minor">
            <a:schemeClr val="dk1"/>
          </a:fontRef>
        </p:style>
        <p:txBody>
          <a:bodyPr>
            <a:normAutofit/>
          </a:bodyPr>
          <a:lstStyle/>
          <a:p>
            <a:pPr eaLnBrk="1" hangingPunct="1"/>
            <a:r>
              <a:rPr lang="en-US" sz="2200" dirty="0">
                <a:latin typeface="Calibri" pitchFamily="34" charset="0"/>
              </a:rPr>
              <a:t>What happens?</a:t>
            </a:r>
          </a:p>
          <a:p>
            <a:pPr lvl="1" eaLnBrk="1" hangingPunct="1">
              <a:buFont typeface="Wingdings" pitchFamily="2" charset="2"/>
              <a:buNone/>
            </a:pPr>
            <a:br>
              <a:rPr lang="en-US" sz="2200" dirty="0">
                <a:latin typeface="Calibri" pitchFamily="34" charset="0"/>
              </a:rPr>
            </a:br>
            <a:endParaRPr lang="en-US" sz="2200" dirty="0">
              <a:latin typeface="Calibri" pitchFamily="34" charset="0"/>
            </a:endParaRPr>
          </a:p>
          <a:p>
            <a:pPr eaLnBrk="1" hangingPunct="1"/>
            <a:r>
              <a:rPr lang="en-US" sz="2200" dirty="0">
                <a:latin typeface="Calibri" pitchFamily="34" charset="0"/>
              </a:rPr>
              <a:t>When might this be desirable?</a:t>
            </a:r>
          </a:p>
          <a:p>
            <a:endParaRPr lang="en-US" sz="2200" dirty="0">
              <a:latin typeface="Calibri" pitchFamily="34" charset="0"/>
            </a:endParaRPr>
          </a:p>
        </p:txBody>
      </p:sp>
      <p:sp>
        <p:nvSpPr>
          <p:cNvPr id="21509" name="Slide Number Placeholder 4"/>
          <p:cNvSpPr>
            <a:spLocks noGrp="1"/>
          </p:cNvSpPr>
          <p:nvPr>
            <p:ph type="sldNum" sz="quarter" idx="12"/>
          </p:nvPr>
        </p:nvSpPr>
        <p:spPr>
          <a:noFill/>
        </p:spPr>
        <p:txBody>
          <a:bodyPr/>
          <a:lstStyle/>
          <a:p>
            <a:fld id="{9032EC69-B739-4D3C-A5F7-5261EE9BBA2F}" type="slidenum">
              <a:rPr lang="en-US" smtClean="0">
                <a:latin typeface="Tahoma" pitchFamily="34" charset="0"/>
              </a:rPr>
              <a:pPr/>
              <a:t>11</a:t>
            </a:fld>
            <a:endParaRPr lang="en-US">
              <a:latin typeface="Tahoma" pitchFamily="34" charset="0"/>
            </a:endParaRPr>
          </a:p>
        </p:txBody>
      </p:sp>
      <p:sp>
        <p:nvSpPr>
          <p:cNvPr id="21511" name="Rectangle 7"/>
          <p:cNvSpPr>
            <a:spLocks noChangeArrowheads="1"/>
          </p:cNvSpPr>
          <p:nvPr/>
        </p:nvSpPr>
        <p:spPr bwMode="auto">
          <a:xfrm>
            <a:off x="1371600" y="5562600"/>
            <a:ext cx="874713" cy="369888"/>
          </a:xfrm>
          <a:prstGeom prst="rect">
            <a:avLst/>
          </a:prstGeom>
          <a:noFill/>
          <a:ln w="9525">
            <a:noFill/>
            <a:miter lim="800000"/>
            <a:headEnd/>
            <a:tailEnd/>
          </a:ln>
        </p:spPr>
        <p:txBody>
          <a:bodyPr wrap="none">
            <a:spAutoFit/>
          </a:bodyPr>
          <a:lstStyle/>
          <a:p>
            <a:r>
              <a:rPr lang="en-US" b="1">
                <a:solidFill>
                  <a:srgbClr val="FF0000"/>
                </a:solidFill>
                <a:latin typeface="Courier New" pitchFamily="49" charset="0"/>
                <a:cs typeface="Courier New" pitchFamily="49" charset="0"/>
              </a:rPr>
              <a:t>s = 2</a:t>
            </a:r>
            <a:endParaRPr lang="en-US"/>
          </a:p>
        </p:txBody>
      </p:sp>
      <p:sp>
        <p:nvSpPr>
          <p:cNvPr id="9" name="Right Arrow 8"/>
          <p:cNvSpPr>
            <a:spLocks noChangeArrowheads="1"/>
          </p:cNvSpPr>
          <p:nvPr/>
        </p:nvSpPr>
        <p:spPr bwMode="auto">
          <a:xfrm>
            <a:off x="152400" y="2708920"/>
            <a:ext cx="685800" cy="381000"/>
          </a:xfrm>
          <a:prstGeom prst="rightArrow">
            <a:avLst>
              <a:gd name="adj1" fmla="val 50000"/>
              <a:gd name="adj2" fmla="val 50000"/>
            </a:avLst>
          </a:prstGeom>
          <a:solidFill>
            <a:srgbClr val="FF0000"/>
          </a:solidFill>
          <a:ln w="19050" algn="ctr">
            <a:solidFill>
              <a:schemeClr val="tx1"/>
            </a:solidFill>
            <a:round/>
            <a:headEnd/>
            <a:tailEnd/>
          </a:ln>
        </p:spPr>
        <p:txBody>
          <a:bodyPr anchor="ctr"/>
          <a:lstStyle/>
          <a:p>
            <a:endParaRPr lang="en-US">
              <a:latin typeface="Arial" charset="0"/>
            </a:endParaRPr>
          </a:p>
        </p:txBody>
      </p:sp>
      <p:sp>
        <p:nvSpPr>
          <p:cNvPr id="11" name="Rectangle 10"/>
          <p:cNvSpPr>
            <a:spLocks noChangeArrowheads="1"/>
          </p:cNvSpPr>
          <p:nvPr/>
        </p:nvSpPr>
        <p:spPr bwMode="auto">
          <a:xfrm>
            <a:off x="2268538" y="5562600"/>
            <a:ext cx="322262" cy="369888"/>
          </a:xfrm>
          <a:prstGeom prst="rect">
            <a:avLst/>
          </a:prstGeom>
          <a:noFill/>
          <a:ln w="9525">
            <a:noFill/>
            <a:miter lim="800000"/>
            <a:headEnd/>
            <a:tailEnd/>
          </a:ln>
        </p:spPr>
        <p:txBody>
          <a:bodyPr wrap="none">
            <a:spAutoFit/>
          </a:bodyPr>
          <a:lstStyle/>
          <a:p>
            <a:r>
              <a:rPr lang="en-US" b="1">
                <a:solidFill>
                  <a:srgbClr val="FF0000"/>
                </a:solidFill>
                <a:latin typeface="Courier New" pitchFamily="49" charset="0"/>
                <a:cs typeface="Courier New" pitchFamily="49" charset="0"/>
              </a:rPr>
              <a:t>1</a:t>
            </a:r>
            <a:endParaRPr lang="en-US"/>
          </a:p>
        </p:txBody>
      </p:sp>
      <p:sp>
        <p:nvSpPr>
          <p:cNvPr id="12" name="TextBox 11"/>
          <p:cNvSpPr txBox="1">
            <a:spLocks noChangeArrowheads="1"/>
          </p:cNvSpPr>
          <p:nvPr/>
        </p:nvSpPr>
        <p:spPr bwMode="auto">
          <a:xfrm>
            <a:off x="1828800" y="5373688"/>
            <a:ext cx="520700" cy="646112"/>
          </a:xfrm>
          <a:prstGeom prst="rect">
            <a:avLst/>
          </a:prstGeom>
          <a:noFill/>
          <a:ln w="9525">
            <a:noFill/>
            <a:miter lim="800000"/>
            <a:headEnd/>
            <a:tailEnd/>
          </a:ln>
        </p:spPr>
        <p:txBody>
          <a:bodyPr wrap="none">
            <a:spAutoFit/>
          </a:bodyPr>
          <a:lstStyle/>
          <a:p>
            <a:r>
              <a:rPr lang="en-US" sz="3600"/>
              <a:t>×</a:t>
            </a:r>
          </a:p>
        </p:txBody>
      </p:sp>
      <p:sp>
        <p:nvSpPr>
          <p:cNvPr id="13" name="Right Arrow 12"/>
          <p:cNvSpPr>
            <a:spLocks noChangeArrowheads="1"/>
          </p:cNvSpPr>
          <p:nvPr/>
        </p:nvSpPr>
        <p:spPr bwMode="auto">
          <a:xfrm>
            <a:off x="304800" y="2708920"/>
            <a:ext cx="685800" cy="381000"/>
          </a:xfrm>
          <a:prstGeom prst="rightArrow">
            <a:avLst>
              <a:gd name="adj1" fmla="val 50000"/>
              <a:gd name="adj2" fmla="val 50000"/>
            </a:avLst>
          </a:prstGeom>
          <a:solidFill>
            <a:srgbClr val="0000CC"/>
          </a:solidFill>
          <a:ln w="19050" algn="ctr">
            <a:solidFill>
              <a:schemeClr val="tx1"/>
            </a:solidFill>
            <a:round/>
            <a:headEnd/>
            <a:tailEnd/>
          </a:ln>
        </p:spPr>
        <p:txBody>
          <a:bodyPr anchor="ctr"/>
          <a:lstStyle/>
          <a:p>
            <a:endParaRPr lang="en-US">
              <a:latin typeface="Arial" charset="0"/>
            </a:endParaRPr>
          </a:p>
        </p:txBody>
      </p:sp>
      <p:sp>
        <p:nvSpPr>
          <p:cNvPr id="14" name="Rectangle 13"/>
          <p:cNvSpPr>
            <a:spLocks noChangeArrowheads="1"/>
          </p:cNvSpPr>
          <p:nvPr/>
        </p:nvSpPr>
        <p:spPr bwMode="auto">
          <a:xfrm>
            <a:off x="2573338" y="5562600"/>
            <a:ext cx="322262" cy="369888"/>
          </a:xfrm>
          <a:prstGeom prst="rect">
            <a:avLst/>
          </a:prstGeom>
          <a:noFill/>
          <a:ln w="9525">
            <a:noFill/>
            <a:miter lim="800000"/>
            <a:headEnd/>
            <a:tailEnd/>
          </a:ln>
        </p:spPr>
        <p:txBody>
          <a:bodyPr wrap="none">
            <a:spAutoFit/>
          </a:bodyPr>
          <a:lstStyle/>
          <a:p>
            <a:r>
              <a:rPr lang="en-US" b="1">
                <a:solidFill>
                  <a:srgbClr val="FF0000"/>
                </a:solidFill>
                <a:latin typeface="Courier New" pitchFamily="49" charset="0"/>
                <a:cs typeface="Courier New" pitchFamily="49" charset="0"/>
              </a:rPr>
              <a:t>0</a:t>
            </a:r>
            <a:endParaRPr lang="en-US"/>
          </a:p>
        </p:txBody>
      </p:sp>
      <p:sp>
        <p:nvSpPr>
          <p:cNvPr id="15" name="TextBox 14"/>
          <p:cNvSpPr txBox="1">
            <a:spLocks noChangeArrowheads="1"/>
          </p:cNvSpPr>
          <p:nvPr/>
        </p:nvSpPr>
        <p:spPr bwMode="auto">
          <a:xfrm>
            <a:off x="2133600" y="5373688"/>
            <a:ext cx="520700" cy="646112"/>
          </a:xfrm>
          <a:prstGeom prst="rect">
            <a:avLst/>
          </a:prstGeom>
          <a:noFill/>
          <a:ln w="9525">
            <a:noFill/>
            <a:miter lim="800000"/>
            <a:headEnd/>
            <a:tailEnd/>
          </a:ln>
        </p:spPr>
        <p:txBody>
          <a:bodyPr wrap="none">
            <a:spAutoFit/>
          </a:bodyPr>
          <a:lstStyle/>
          <a:p>
            <a:r>
              <a:rPr lang="en-US" sz="3600"/>
              <a:t>×</a:t>
            </a:r>
          </a:p>
        </p:txBody>
      </p:sp>
      <p:sp>
        <p:nvSpPr>
          <p:cNvPr id="16" name="Right Arrow 15"/>
          <p:cNvSpPr>
            <a:spLocks noChangeArrowheads="1"/>
          </p:cNvSpPr>
          <p:nvPr/>
        </p:nvSpPr>
        <p:spPr bwMode="auto">
          <a:xfrm>
            <a:off x="457200" y="2708920"/>
            <a:ext cx="685800" cy="381000"/>
          </a:xfrm>
          <a:prstGeom prst="rightArrow">
            <a:avLst>
              <a:gd name="adj1" fmla="val 50000"/>
              <a:gd name="adj2" fmla="val 50000"/>
            </a:avLst>
          </a:prstGeom>
          <a:solidFill>
            <a:srgbClr val="00B050"/>
          </a:solidFill>
          <a:ln w="19050" algn="ctr">
            <a:solidFill>
              <a:schemeClr val="tx1"/>
            </a:solidFill>
            <a:round/>
            <a:headEnd/>
            <a:tailEnd/>
          </a:ln>
        </p:spPr>
        <p:txBody>
          <a:bodyPr anchor="ctr"/>
          <a:lstStyle/>
          <a:p>
            <a:endParaRPr lang="en-US">
              <a:latin typeface="Arial" charset="0"/>
            </a:endParaRPr>
          </a:p>
        </p:txBody>
      </p:sp>
      <p:sp>
        <p:nvSpPr>
          <p:cNvPr id="17" name="Rectangle 16"/>
          <p:cNvSpPr>
            <a:spLocks noChangeArrowheads="1"/>
          </p:cNvSpPr>
          <p:nvPr/>
        </p:nvSpPr>
        <p:spPr bwMode="auto">
          <a:xfrm>
            <a:off x="2954338" y="5562600"/>
            <a:ext cx="460375" cy="369888"/>
          </a:xfrm>
          <a:prstGeom prst="rect">
            <a:avLst/>
          </a:prstGeom>
          <a:noFill/>
          <a:ln w="9525">
            <a:noFill/>
            <a:miter lim="800000"/>
            <a:headEnd/>
            <a:tailEnd/>
          </a:ln>
        </p:spPr>
        <p:txBody>
          <a:bodyPr wrap="none">
            <a:spAutoFit/>
          </a:bodyPr>
          <a:lstStyle/>
          <a:p>
            <a:r>
              <a:rPr lang="en-US" b="1">
                <a:solidFill>
                  <a:srgbClr val="FF0000"/>
                </a:solidFill>
                <a:latin typeface="Courier New" pitchFamily="49" charset="0"/>
                <a:cs typeface="Courier New" pitchFamily="49" charset="0"/>
              </a:rPr>
              <a:t>-1</a:t>
            </a:r>
            <a:endParaRPr lang="en-US"/>
          </a:p>
        </p:txBody>
      </p:sp>
      <p:sp>
        <p:nvSpPr>
          <p:cNvPr id="18" name="TextBox 17"/>
          <p:cNvSpPr txBox="1">
            <a:spLocks noChangeArrowheads="1"/>
          </p:cNvSpPr>
          <p:nvPr/>
        </p:nvSpPr>
        <p:spPr bwMode="auto">
          <a:xfrm>
            <a:off x="2514600" y="5373688"/>
            <a:ext cx="520700" cy="646112"/>
          </a:xfrm>
          <a:prstGeom prst="rect">
            <a:avLst/>
          </a:prstGeom>
          <a:noFill/>
          <a:ln w="9525">
            <a:noFill/>
            <a:miter lim="800000"/>
            <a:headEnd/>
            <a:tailEnd/>
          </a:ln>
        </p:spPr>
        <p:txBody>
          <a:bodyPr wrap="none">
            <a:spAutoFit/>
          </a:bodyPr>
          <a:lstStyle/>
          <a:p>
            <a:r>
              <a:rPr lang="en-US" sz="3600"/>
              <a:t>×</a:t>
            </a:r>
          </a:p>
        </p:txBody>
      </p:sp>
      <p:sp>
        <p:nvSpPr>
          <p:cNvPr id="20" name="Rectangle 2"/>
          <p:cNvSpPr>
            <a:spLocks noGrp="1" noChangeArrowheads="1"/>
          </p:cNvSpPr>
          <p:nvPr>
            <p:ph type="title"/>
          </p:nvPr>
        </p:nvSpPr>
        <p:spPr>
          <a:xfrm>
            <a:off x="457200" y="214290"/>
            <a:ext cx="8229600" cy="500066"/>
          </a:xfrm>
        </p:spPr>
        <p:style>
          <a:lnRef idx="3">
            <a:schemeClr val="lt1"/>
          </a:lnRef>
          <a:fillRef idx="1">
            <a:schemeClr val="accent5"/>
          </a:fillRef>
          <a:effectRef idx="1">
            <a:schemeClr val="accent5"/>
          </a:effectRef>
          <a:fontRef idx="minor">
            <a:schemeClr val="lt1"/>
          </a:fontRef>
        </p:style>
        <p:txBody>
          <a:bodyPr>
            <a:normAutofit fontScale="90000"/>
          </a:bodyPr>
          <a:lstStyle/>
          <a:p>
            <a:pPr algn="ctr"/>
            <a:r>
              <a:rPr lang="en-US" sz="2800" b="1" dirty="0">
                <a:effectLst>
                  <a:outerShdw blurRad="38100" dist="38100" dir="2700000" algn="tl">
                    <a:srgbClr val="000000">
                      <a:alpha val="43137"/>
                    </a:srgbClr>
                  </a:outerShdw>
                </a:effectLst>
                <a:latin typeface="+mj-lt"/>
              </a:rPr>
              <a:t>Semaphore Example 1</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4.5177E-6 L 3.33333E-6 0.04997 " pathEditMode="relative" rAng="0" ptsTypes="AA">
                                      <p:cBhvr>
                                        <p:cTn id="6" dur="500" fill="hold"/>
                                        <p:tgtEl>
                                          <p:spTgt spid="9"/>
                                        </p:tgtEl>
                                        <p:attrNameLst>
                                          <p:attrName>ppt_x</p:attrName>
                                          <p:attrName>ppt_y</p:attrName>
                                        </p:attrNameLst>
                                      </p:cBhvr>
                                      <p:rCtr x="0" y="25"/>
                                    </p:animMotion>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3.33333E-6 -4.5177E-6 L 3.33333E-6 0.04997 " pathEditMode="relative" rAng="0" ptsTypes="AA">
                                      <p:cBhvr>
                                        <p:cTn id="18" dur="500" fill="hold"/>
                                        <p:tgtEl>
                                          <p:spTgt spid="13"/>
                                        </p:tgtEl>
                                        <p:attrNameLst>
                                          <p:attrName>ppt_x</p:attrName>
                                          <p:attrName>ppt_y</p:attrName>
                                        </p:attrNameLst>
                                      </p:cBhvr>
                                      <p:rCtr x="0" y="25"/>
                                    </p:animMotion>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12" grpId="0"/>
      <p:bldP spid="13" grpId="0" animBg="1"/>
      <p:bldP spid="13" grpId="1" animBg="1"/>
      <p:bldP spid="14" grpId="0"/>
      <p:bldP spid="15" grpId="0"/>
      <p:bldP spid="16" grpId="0" animBg="1"/>
      <p:bldP spid="17"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sz="half" idx="1"/>
          </p:nvPr>
        </p:nvSpPr>
        <p:spPr/>
        <p:style>
          <a:lnRef idx="2">
            <a:schemeClr val="accent5"/>
          </a:lnRef>
          <a:fillRef idx="1">
            <a:schemeClr val="lt1"/>
          </a:fillRef>
          <a:effectRef idx="0">
            <a:schemeClr val="accent5"/>
          </a:effectRef>
          <a:fontRef idx="minor">
            <a:schemeClr val="dk1"/>
          </a:fontRef>
        </p:style>
        <p:txBody>
          <a:bodyPr/>
          <a:lstStyle/>
          <a:p>
            <a:pPr>
              <a:buFont typeface="Wingdings" pitchFamily="2" charset="2"/>
              <a:buNone/>
            </a:pPr>
            <a:r>
              <a:rPr lang="en-US" sz="2000" b="1" dirty="0">
                <a:solidFill>
                  <a:srgbClr val="FF0000"/>
                </a:solidFill>
                <a:latin typeface="Courier New" pitchFamily="49" charset="0"/>
                <a:cs typeface="Courier New" pitchFamily="49" charset="0"/>
              </a:rPr>
              <a:t>semaphore s = 2; </a:t>
            </a:r>
          </a:p>
          <a:p>
            <a:pPr>
              <a:buFont typeface="Wingdings" pitchFamily="2" charset="2"/>
              <a:buNone/>
            </a:pPr>
            <a:r>
              <a:rPr lang="en-US" sz="2000" b="1" dirty="0">
                <a:solidFill>
                  <a:srgbClr val="0000CC"/>
                </a:solidFill>
                <a:latin typeface="Courier New" pitchFamily="49" charset="0"/>
                <a:cs typeface="Courier New" pitchFamily="49" charset="0"/>
              </a:rPr>
              <a:t>P</a:t>
            </a:r>
            <a:r>
              <a:rPr lang="en-US" sz="2000" b="1" baseline="-25000" dirty="0">
                <a:solidFill>
                  <a:srgbClr val="0000CC"/>
                </a:solidFill>
                <a:latin typeface="Courier New" pitchFamily="49" charset="0"/>
                <a:cs typeface="Courier New" pitchFamily="49" charset="0"/>
              </a:rPr>
              <a:t>i </a:t>
            </a:r>
            <a:r>
              <a:rPr lang="en-US" sz="2000" b="1" dirty="0">
                <a:solidFill>
                  <a:srgbClr val="0000CC"/>
                </a:solidFill>
                <a:latin typeface="Courier New" pitchFamily="49" charset="0"/>
                <a:cs typeface="Courier New" pitchFamily="49" charset="0"/>
              </a:rPr>
              <a:t>{</a:t>
            </a:r>
          </a:p>
          <a:p>
            <a:pPr>
              <a:buFont typeface="Wingdings" pitchFamily="2" charset="2"/>
              <a:buNone/>
            </a:pPr>
            <a:r>
              <a:rPr lang="en-US" sz="2000" b="1" dirty="0">
                <a:solidFill>
                  <a:srgbClr val="0000CC"/>
                </a:solidFill>
                <a:latin typeface="Courier New" pitchFamily="49" charset="0"/>
                <a:cs typeface="Courier New" pitchFamily="49" charset="0"/>
              </a:rPr>
              <a:t>	while(1) 	{ </a:t>
            </a:r>
          </a:p>
          <a:p>
            <a:pPr>
              <a:buFont typeface="Wingdings" pitchFamily="2" charset="2"/>
              <a:buNone/>
            </a:pPr>
            <a:r>
              <a:rPr lang="en-US" sz="2000" b="1" dirty="0">
                <a:solidFill>
                  <a:srgbClr val="0000CC"/>
                </a:solidFill>
                <a:latin typeface="Courier New" pitchFamily="49" charset="0"/>
                <a:cs typeface="Courier New" pitchFamily="49" charset="0"/>
              </a:rPr>
              <a:t>		semWait(s); </a:t>
            </a:r>
          </a:p>
          <a:p>
            <a:pPr>
              <a:buFont typeface="Wingdings" pitchFamily="2" charset="2"/>
              <a:buNone/>
            </a:pPr>
            <a:r>
              <a:rPr lang="en-US" sz="2000" b="1" dirty="0">
                <a:solidFill>
                  <a:srgbClr val="0000CC"/>
                </a:solidFill>
                <a:latin typeface="Courier New" pitchFamily="49" charset="0"/>
                <a:cs typeface="Courier New" pitchFamily="49" charset="0"/>
              </a:rPr>
              <a:t>		/* CS */</a:t>
            </a:r>
          </a:p>
          <a:p>
            <a:pPr>
              <a:buFont typeface="Wingdings" pitchFamily="2" charset="2"/>
              <a:buNone/>
            </a:pPr>
            <a:r>
              <a:rPr lang="en-US" sz="2000" b="1" dirty="0">
                <a:solidFill>
                  <a:srgbClr val="0000CC"/>
                </a:solidFill>
                <a:latin typeface="Courier New" pitchFamily="49" charset="0"/>
                <a:cs typeface="Courier New" pitchFamily="49" charset="0"/>
              </a:rPr>
              <a:t>		semSignal(s);</a:t>
            </a:r>
          </a:p>
          <a:p>
            <a:pPr>
              <a:buFont typeface="Wingdings" pitchFamily="2" charset="2"/>
              <a:buNone/>
            </a:pPr>
            <a:r>
              <a:rPr lang="en-US" sz="2000" b="1" dirty="0">
                <a:solidFill>
                  <a:srgbClr val="0000CC"/>
                </a:solidFill>
                <a:latin typeface="Courier New" pitchFamily="49" charset="0"/>
                <a:cs typeface="Courier New" pitchFamily="49" charset="0"/>
              </a:rPr>
              <a:t>		/* remainder */</a:t>
            </a:r>
          </a:p>
          <a:p>
            <a:pPr>
              <a:buFont typeface="Wingdings" pitchFamily="2" charset="2"/>
              <a:buNone/>
            </a:pPr>
            <a:r>
              <a:rPr lang="en-US" sz="2000" b="1" dirty="0">
                <a:solidFill>
                  <a:srgbClr val="0000CC"/>
                </a:solidFill>
                <a:latin typeface="Courier New" pitchFamily="49" charset="0"/>
                <a:cs typeface="Courier New" pitchFamily="49" charset="0"/>
              </a:rPr>
              <a:t>	}</a:t>
            </a:r>
          </a:p>
          <a:p>
            <a:pPr>
              <a:buFont typeface="Wingdings" pitchFamily="2" charset="2"/>
              <a:buNone/>
            </a:pPr>
            <a:r>
              <a:rPr lang="en-US" sz="2000" b="1" dirty="0">
                <a:solidFill>
                  <a:srgbClr val="0000CC"/>
                </a:solidFill>
                <a:latin typeface="Courier New" pitchFamily="49" charset="0"/>
                <a:cs typeface="Courier New" pitchFamily="49" charset="0"/>
              </a:rPr>
              <a:t>}</a:t>
            </a:r>
          </a:p>
        </p:txBody>
      </p:sp>
      <p:sp>
        <p:nvSpPr>
          <p:cNvPr id="22532" name="Content Placeholder 4"/>
          <p:cNvSpPr>
            <a:spLocks noGrp="1"/>
          </p:cNvSpPr>
          <p:nvPr>
            <p:ph sz="half" idx="2"/>
          </p:nvPr>
        </p:nvSpPr>
        <p:spPr/>
        <p:style>
          <a:lnRef idx="2">
            <a:schemeClr val="accent5"/>
          </a:lnRef>
          <a:fillRef idx="1">
            <a:schemeClr val="lt1"/>
          </a:fillRef>
          <a:effectRef idx="0">
            <a:schemeClr val="accent5"/>
          </a:effectRef>
          <a:fontRef idx="minor">
            <a:schemeClr val="dk1"/>
          </a:fontRef>
        </p:style>
        <p:txBody>
          <a:bodyPr>
            <a:normAutofit/>
          </a:bodyPr>
          <a:lstStyle/>
          <a:p>
            <a:r>
              <a:rPr lang="en-US" sz="2200" dirty="0">
                <a:latin typeface="Calibri" pitchFamily="34" charset="0"/>
              </a:rPr>
              <a:t>What happens?</a:t>
            </a:r>
          </a:p>
          <a:p>
            <a:pPr lvl="1"/>
            <a:r>
              <a:rPr lang="en-US" sz="2200" dirty="0">
                <a:latin typeface="Calibri" pitchFamily="34" charset="0"/>
              </a:rPr>
              <a:t>Allows up to 2 processes to enter CS</a:t>
            </a:r>
          </a:p>
          <a:p>
            <a:r>
              <a:rPr lang="en-US" sz="2200" dirty="0">
                <a:latin typeface="Calibri" pitchFamily="34" charset="0"/>
              </a:rPr>
              <a:t>When might this be desirable?</a:t>
            </a:r>
          </a:p>
          <a:p>
            <a:pPr lvl="1"/>
            <a:r>
              <a:rPr lang="en-US" sz="2200" dirty="0">
                <a:latin typeface="Calibri" pitchFamily="34" charset="0"/>
              </a:rPr>
              <a:t>Need up to 2 processes inside CS</a:t>
            </a:r>
          </a:p>
          <a:p>
            <a:pPr lvl="2"/>
            <a:r>
              <a:rPr lang="en-US" sz="2200" dirty="0">
                <a:latin typeface="Calibri" pitchFamily="34" charset="0"/>
              </a:rPr>
              <a:t>e.g., limit number of processes reading a </a:t>
            </a:r>
            <a:r>
              <a:rPr lang="en-US" sz="2200" dirty="0" err="1">
                <a:latin typeface="Calibri" pitchFamily="34" charset="0"/>
              </a:rPr>
              <a:t>var</a:t>
            </a:r>
            <a:r>
              <a:rPr lang="en-US" sz="2200" dirty="0">
                <a:latin typeface="Calibri" pitchFamily="34" charset="0"/>
              </a:rPr>
              <a:t> </a:t>
            </a:r>
          </a:p>
          <a:p>
            <a:pPr lvl="1"/>
            <a:r>
              <a:rPr lang="en-US" sz="2200" dirty="0">
                <a:latin typeface="Calibri" pitchFamily="34" charset="0"/>
              </a:rPr>
              <a:t>Be careful not to violate mutual 	exclusion inside CS!</a:t>
            </a:r>
          </a:p>
        </p:txBody>
      </p:sp>
      <p:sp>
        <p:nvSpPr>
          <p:cNvPr id="22533" name="Slide Number Placeholder 4"/>
          <p:cNvSpPr>
            <a:spLocks noGrp="1"/>
          </p:cNvSpPr>
          <p:nvPr>
            <p:ph type="sldNum" sz="quarter" idx="12"/>
          </p:nvPr>
        </p:nvSpPr>
        <p:spPr>
          <a:noFill/>
        </p:spPr>
        <p:txBody>
          <a:bodyPr/>
          <a:lstStyle/>
          <a:p>
            <a:fld id="{8E564197-A80D-45B3-8958-39E8BFA8E63E}" type="slidenum">
              <a:rPr lang="en-US" smtClean="0">
                <a:latin typeface="Tahoma" pitchFamily="34" charset="0"/>
              </a:rPr>
              <a:pPr/>
              <a:t>12</a:t>
            </a:fld>
            <a:endParaRPr lang="en-US">
              <a:latin typeface="Tahoma" pitchFamily="34" charset="0"/>
            </a:endParaRPr>
          </a:p>
        </p:txBody>
      </p:sp>
      <p:sp>
        <p:nvSpPr>
          <p:cNvPr id="8" name="Rectangle 2"/>
          <p:cNvSpPr>
            <a:spLocks noGrp="1" noChangeArrowheads="1"/>
          </p:cNvSpPr>
          <p:nvPr>
            <p:ph type="title"/>
          </p:nvPr>
        </p:nvSpPr>
        <p:spPr>
          <a:xfrm>
            <a:off x="457200" y="214290"/>
            <a:ext cx="8229600" cy="500066"/>
          </a:xfrm>
        </p:spPr>
        <p:style>
          <a:lnRef idx="3">
            <a:schemeClr val="lt1"/>
          </a:lnRef>
          <a:fillRef idx="1">
            <a:schemeClr val="accent5"/>
          </a:fillRef>
          <a:effectRef idx="1">
            <a:schemeClr val="accent5"/>
          </a:effectRef>
          <a:fontRef idx="minor">
            <a:schemeClr val="lt1"/>
          </a:fontRef>
        </p:style>
        <p:txBody>
          <a:bodyPr>
            <a:normAutofit fontScale="90000"/>
          </a:bodyPr>
          <a:lstStyle/>
          <a:p>
            <a:pPr algn="ctr"/>
            <a:r>
              <a:rPr lang="en-US" sz="2800" b="1" dirty="0">
                <a:effectLst>
                  <a:outerShdw blurRad="38100" dist="38100" dir="2700000" algn="tl">
                    <a:srgbClr val="000000">
                      <a:alpha val="43137"/>
                    </a:srgbClr>
                  </a:outerShdw>
                </a:effectLst>
                <a:latin typeface="+mj-lt"/>
              </a:rPr>
              <a:t>Semaphore Example 1</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sz="half" idx="1"/>
          </p:nvPr>
        </p:nvSpPr>
        <p:spPr/>
        <p:style>
          <a:lnRef idx="2">
            <a:schemeClr val="accent5"/>
          </a:lnRef>
          <a:fillRef idx="1">
            <a:schemeClr val="lt1"/>
          </a:fillRef>
          <a:effectRef idx="0">
            <a:schemeClr val="accent5"/>
          </a:effectRef>
          <a:fontRef idx="minor">
            <a:schemeClr val="dk1"/>
          </a:fontRef>
        </p:style>
        <p:txBody>
          <a:bodyPr/>
          <a:lstStyle/>
          <a:p>
            <a:pPr>
              <a:buFont typeface="Wingdings" pitchFamily="2" charset="2"/>
              <a:buNone/>
            </a:pPr>
            <a:r>
              <a:rPr lang="en-US" sz="2000" b="1" dirty="0">
                <a:solidFill>
                  <a:srgbClr val="FF0000"/>
                </a:solidFill>
                <a:latin typeface="Courier New" pitchFamily="49" charset="0"/>
                <a:cs typeface="Courier New" pitchFamily="49" charset="0"/>
              </a:rPr>
              <a:t>semaphore s = 0; </a:t>
            </a:r>
          </a:p>
          <a:p>
            <a:pPr>
              <a:buFont typeface="Wingdings" pitchFamily="2" charset="2"/>
              <a:buNone/>
            </a:pPr>
            <a:r>
              <a:rPr lang="en-US" sz="2000" b="1" dirty="0">
                <a:solidFill>
                  <a:srgbClr val="0000CC"/>
                </a:solidFill>
                <a:latin typeface="Courier New" pitchFamily="49" charset="0"/>
                <a:cs typeface="Courier New" pitchFamily="49" charset="0"/>
              </a:rPr>
              <a:t>P</a:t>
            </a:r>
            <a:r>
              <a:rPr lang="en-US" sz="2000" b="1" baseline="-25000" dirty="0">
                <a:solidFill>
                  <a:srgbClr val="0000CC"/>
                </a:solidFill>
                <a:latin typeface="Courier New" pitchFamily="49" charset="0"/>
                <a:cs typeface="Courier New" pitchFamily="49" charset="0"/>
              </a:rPr>
              <a:t>i </a:t>
            </a:r>
            <a:r>
              <a:rPr lang="en-US" sz="2000" b="1" dirty="0">
                <a:solidFill>
                  <a:srgbClr val="0000CC"/>
                </a:solidFill>
                <a:latin typeface="Courier New" pitchFamily="49" charset="0"/>
                <a:cs typeface="Courier New" pitchFamily="49" charset="0"/>
              </a:rPr>
              <a:t>{</a:t>
            </a:r>
          </a:p>
          <a:p>
            <a:pPr>
              <a:buFont typeface="Wingdings" pitchFamily="2" charset="2"/>
              <a:buNone/>
            </a:pPr>
            <a:r>
              <a:rPr lang="en-US" sz="2000" b="1" dirty="0">
                <a:solidFill>
                  <a:srgbClr val="0000CC"/>
                </a:solidFill>
                <a:latin typeface="Courier New" pitchFamily="49" charset="0"/>
                <a:cs typeface="Courier New" pitchFamily="49" charset="0"/>
              </a:rPr>
              <a:t>	while(1) 	{ </a:t>
            </a:r>
          </a:p>
          <a:p>
            <a:pPr>
              <a:buFont typeface="Wingdings" pitchFamily="2" charset="2"/>
              <a:buNone/>
            </a:pPr>
            <a:r>
              <a:rPr lang="en-US" sz="2000" b="1" dirty="0">
                <a:solidFill>
                  <a:srgbClr val="0000CC"/>
                </a:solidFill>
                <a:latin typeface="Courier New" pitchFamily="49" charset="0"/>
                <a:cs typeface="Courier New" pitchFamily="49" charset="0"/>
              </a:rPr>
              <a:t>		</a:t>
            </a:r>
            <a:r>
              <a:rPr lang="en-US" sz="2000" b="1" dirty="0" err="1">
                <a:solidFill>
                  <a:srgbClr val="0000CC"/>
                </a:solidFill>
                <a:latin typeface="Courier New" pitchFamily="49" charset="0"/>
                <a:cs typeface="Courier New" pitchFamily="49" charset="0"/>
              </a:rPr>
              <a:t>semWait</a:t>
            </a:r>
            <a:r>
              <a:rPr lang="en-US" sz="2000" b="1" dirty="0">
                <a:solidFill>
                  <a:srgbClr val="0000CC"/>
                </a:solidFill>
                <a:latin typeface="Courier New" pitchFamily="49" charset="0"/>
                <a:cs typeface="Courier New" pitchFamily="49" charset="0"/>
              </a:rPr>
              <a:t>(s); </a:t>
            </a:r>
          </a:p>
          <a:p>
            <a:pPr>
              <a:buFont typeface="Wingdings" pitchFamily="2" charset="2"/>
              <a:buNone/>
            </a:pPr>
            <a:r>
              <a:rPr lang="en-US" sz="2000" b="1" dirty="0">
                <a:solidFill>
                  <a:srgbClr val="0000CC"/>
                </a:solidFill>
                <a:latin typeface="Courier New" pitchFamily="49" charset="0"/>
                <a:cs typeface="Courier New" pitchFamily="49" charset="0"/>
              </a:rPr>
              <a:t>		/* CS */</a:t>
            </a:r>
          </a:p>
          <a:p>
            <a:pPr>
              <a:buFont typeface="Wingdings" pitchFamily="2" charset="2"/>
              <a:buNone/>
            </a:pPr>
            <a:r>
              <a:rPr lang="en-US" sz="2000" b="1" dirty="0">
                <a:solidFill>
                  <a:srgbClr val="0000CC"/>
                </a:solidFill>
                <a:latin typeface="Courier New" pitchFamily="49" charset="0"/>
                <a:cs typeface="Courier New" pitchFamily="49" charset="0"/>
              </a:rPr>
              <a:t>		</a:t>
            </a:r>
            <a:r>
              <a:rPr lang="en-US" sz="2000" b="1" dirty="0" err="1">
                <a:solidFill>
                  <a:srgbClr val="0000CC"/>
                </a:solidFill>
                <a:latin typeface="Courier New" pitchFamily="49" charset="0"/>
                <a:cs typeface="Courier New" pitchFamily="49" charset="0"/>
              </a:rPr>
              <a:t>semSignal</a:t>
            </a:r>
            <a:r>
              <a:rPr lang="en-US" sz="2000" b="1" dirty="0">
                <a:solidFill>
                  <a:srgbClr val="0000CC"/>
                </a:solidFill>
                <a:latin typeface="Courier New" pitchFamily="49" charset="0"/>
                <a:cs typeface="Courier New" pitchFamily="49" charset="0"/>
              </a:rPr>
              <a:t>(s);</a:t>
            </a:r>
          </a:p>
          <a:p>
            <a:pPr>
              <a:buFont typeface="Wingdings" pitchFamily="2" charset="2"/>
              <a:buNone/>
            </a:pPr>
            <a:r>
              <a:rPr lang="en-US" sz="2000" b="1" dirty="0">
                <a:solidFill>
                  <a:srgbClr val="0000CC"/>
                </a:solidFill>
                <a:latin typeface="Courier New" pitchFamily="49" charset="0"/>
                <a:cs typeface="Courier New" pitchFamily="49" charset="0"/>
              </a:rPr>
              <a:t>		/* remainder */</a:t>
            </a:r>
          </a:p>
          <a:p>
            <a:pPr>
              <a:buFont typeface="Wingdings" pitchFamily="2" charset="2"/>
              <a:buNone/>
            </a:pPr>
            <a:r>
              <a:rPr lang="en-US" sz="2000" b="1" dirty="0">
                <a:solidFill>
                  <a:srgbClr val="0000CC"/>
                </a:solidFill>
                <a:latin typeface="Courier New" pitchFamily="49" charset="0"/>
                <a:cs typeface="Courier New" pitchFamily="49" charset="0"/>
              </a:rPr>
              <a:t>	}</a:t>
            </a:r>
          </a:p>
          <a:p>
            <a:pPr>
              <a:buFont typeface="Wingdings" pitchFamily="2" charset="2"/>
              <a:buNone/>
            </a:pPr>
            <a:r>
              <a:rPr lang="en-US" sz="2000" b="1" dirty="0">
                <a:solidFill>
                  <a:srgbClr val="0000CC"/>
                </a:solidFill>
                <a:latin typeface="Courier New" pitchFamily="49" charset="0"/>
                <a:cs typeface="Courier New" pitchFamily="49" charset="0"/>
              </a:rPr>
              <a:t>}</a:t>
            </a:r>
          </a:p>
        </p:txBody>
      </p:sp>
      <p:sp>
        <p:nvSpPr>
          <p:cNvPr id="23556" name="Content Placeholder 4"/>
          <p:cNvSpPr>
            <a:spLocks noGrp="1"/>
          </p:cNvSpPr>
          <p:nvPr>
            <p:ph sz="half" idx="2"/>
          </p:nvPr>
        </p:nvSpPr>
        <p:spPr/>
        <p:style>
          <a:lnRef idx="2">
            <a:schemeClr val="accent5"/>
          </a:lnRef>
          <a:fillRef idx="1">
            <a:schemeClr val="lt1"/>
          </a:fillRef>
          <a:effectRef idx="0">
            <a:schemeClr val="accent5"/>
          </a:effectRef>
          <a:fontRef idx="minor">
            <a:schemeClr val="dk1"/>
          </a:fontRef>
        </p:style>
        <p:txBody>
          <a:bodyPr/>
          <a:lstStyle/>
          <a:p>
            <a:pPr eaLnBrk="1" hangingPunct="1"/>
            <a:r>
              <a:rPr lang="en-US" sz="2400" dirty="0">
                <a:latin typeface="Calibri" pitchFamily="34" charset="0"/>
              </a:rPr>
              <a:t>What happens?</a:t>
            </a:r>
          </a:p>
          <a:p>
            <a:pPr lvl="1" eaLnBrk="1" hangingPunct="1">
              <a:buFont typeface="Wingdings" pitchFamily="2" charset="2"/>
              <a:buNone/>
            </a:pPr>
            <a:br>
              <a:rPr lang="en-US" sz="2000" dirty="0">
                <a:latin typeface="Calibri" pitchFamily="34" charset="0"/>
              </a:rPr>
            </a:br>
            <a:endParaRPr lang="en-US" sz="2000" dirty="0">
              <a:latin typeface="Calibri" pitchFamily="34" charset="0"/>
            </a:endParaRPr>
          </a:p>
          <a:p>
            <a:pPr eaLnBrk="1" hangingPunct="1"/>
            <a:r>
              <a:rPr lang="en-US" sz="2400" dirty="0">
                <a:latin typeface="Calibri" pitchFamily="34" charset="0"/>
              </a:rPr>
              <a:t>When might this be desirable?</a:t>
            </a:r>
          </a:p>
          <a:p>
            <a:endParaRPr lang="en-US" sz="2400" dirty="0">
              <a:latin typeface="Calibri" pitchFamily="34" charset="0"/>
            </a:endParaRPr>
          </a:p>
        </p:txBody>
      </p:sp>
      <p:sp>
        <p:nvSpPr>
          <p:cNvPr id="23557" name="Slide Number Placeholder 4"/>
          <p:cNvSpPr>
            <a:spLocks noGrp="1"/>
          </p:cNvSpPr>
          <p:nvPr>
            <p:ph type="sldNum" sz="quarter" idx="12"/>
          </p:nvPr>
        </p:nvSpPr>
        <p:spPr>
          <a:noFill/>
        </p:spPr>
        <p:txBody>
          <a:bodyPr/>
          <a:lstStyle/>
          <a:p>
            <a:fld id="{1AB81D5D-3701-4BF9-8924-330EC53E049C}" type="slidenum">
              <a:rPr lang="en-US" smtClean="0">
                <a:latin typeface="Tahoma" pitchFamily="34" charset="0"/>
              </a:rPr>
              <a:pPr/>
              <a:t>13</a:t>
            </a:fld>
            <a:endParaRPr lang="en-US">
              <a:latin typeface="Tahoma" pitchFamily="34" charset="0"/>
            </a:endParaRPr>
          </a:p>
        </p:txBody>
      </p:sp>
      <p:sp>
        <p:nvSpPr>
          <p:cNvPr id="6" name="Rectangle 2"/>
          <p:cNvSpPr txBox="1">
            <a:spLocks noChangeArrowheads="1"/>
          </p:cNvSpPr>
          <p:nvPr/>
        </p:nvSpPr>
        <p:spPr>
          <a:xfrm>
            <a:off x="457200" y="214290"/>
            <a:ext cx="8229600" cy="500066"/>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mj-lt"/>
                <a:ea typeface="+mn-ea"/>
                <a:cs typeface="+mn-cs"/>
              </a:rPr>
              <a:t>Semaphore Example 2</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sz="half" idx="1"/>
          </p:nvPr>
        </p:nvSpPr>
        <p:spPr/>
        <p:style>
          <a:lnRef idx="2">
            <a:schemeClr val="accent5"/>
          </a:lnRef>
          <a:fillRef idx="1">
            <a:schemeClr val="lt1"/>
          </a:fillRef>
          <a:effectRef idx="0">
            <a:schemeClr val="accent5"/>
          </a:effectRef>
          <a:fontRef idx="minor">
            <a:schemeClr val="dk1"/>
          </a:fontRef>
        </p:style>
        <p:txBody>
          <a:bodyPr/>
          <a:lstStyle/>
          <a:p>
            <a:pPr>
              <a:buFont typeface="Wingdings" pitchFamily="2" charset="2"/>
              <a:buNone/>
            </a:pPr>
            <a:r>
              <a:rPr lang="en-US" sz="2000" b="1" dirty="0">
                <a:solidFill>
                  <a:srgbClr val="FF0000"/>
                </a:solidFill>
                <a:latin typeface="Courier New" pitchFamily="49" charset="0"/>
                <a:cs typeface="Courier New" pitchFamily="49" charset="0"/>
              </a:rPr>
              <a:t>semaphore s = 0; </a:t>
            </a:r>
          </a:p>
          <a:p>
            <a:pPr>
              <a:buFont typeface="Wingdings" pitchFamily="2" charset="2"/>
              <a:buNone/>
            </a:pPr>
            <a:r>
              <a:rPr lang="en-US" sz="2000" b="1" dirty="0">
                <a:solidFill>
                  <a:srgbClr val="0000CC"/>
                </a:solidFill>
                <a:latin typeface="Courier New" pitchFamily="49" charset="0"/>
                <a:cs typeface="Courier New" pitchFamily="49" charset="0"/>
              </a:rPr>
              <a:t>P</a:t>
            </a:r>
            <a:r>
              <a:rPr lang="en-US" sz="2000" b="1" baseline="-25000" dirty="0">
                <a:solidFill>
                  <a:srgbClr val="0000CC"/>
                </a:solidFill>
                <a:latin typeface="Courier New" pitchFamily="49" charset="0"/>
                <a:cs typeface="Courier New" pitchFamily="49" charset="0"/>
              </a:rPr>
              <a:t>i </a:t>
            </a:r>
            <a:r>
              <a:rPr lang="en-US" sz="2000" b="1" dirty="0">
                <a:solidFill>
                  <a:srgbClr val="0000CC"/>
                </a:solidFill>
                <a:latin typeface="Courier New" pitchFamily="49" charset="0"/>
                <a:cs typeface="Courier New" pitchFamily="49" charset="0"/>
              </a:rPr>
              <a:t>{</a:t>
            </a:r>
          </a:p>
          <a:p>
            <a:pPr>
              <a:buFont typeface="Wingdings" pitchFamily="2" charset="2"/>
              <a:buNone/>
            </a:pPr>
            <a:r>
              <a:rPr lang="en-US" sz="2000" b="1" dirty="0">
                <a:solidFill>
                  <a:srgbClr val="0000CC"/>
                </a:solidFill>
                <a:latin typeface="Courier New" pitchFamily="49" charset="0"/>
                <a:cs typeface="Courier New" pitchFamily="49" charset="0"/>
              </a:rPr>
              <a:t>	while(1) 	{ </a:t>
            </a:r>
          </a:p>
          <a:p>
            <a:pPr>
              <a:buFont typeface="Wingdings" pitchFamily="2" charset="2"/>
              <a:buNone/>
            </a:pPr>
            <a:r>
              <a:rPr lang="en-US" sz="2000" b="1" dirty="0">
                <a:solidFill>
                  <a:srgbClr val="0000CC"/>
                </a:solidFill>
                <a:latin typeface="Courier New" pitchFamily="49" charset="0"/>
                <a:cs typeface="Courier New" pitchFamily="49" charset="0"/>
              </a:rPr>
              <a:t>		</a:t>
            </a:r>
            <a:r>
              <a:rPr lang="en-US" sz="2000" b="1" dirty="0" err="1">
                <a:solidFill>
                  <a:srgbClr val="0000CC"/>
                </a:solidFill>
                <a:latin typeface="Courier New" pitchFamily="49" charset="0"/>
                <a:cs typeface="Courier New" pitchFamily="49" charset="0"/>
              </a:rPr>
              <a:t>semWait</a:t>
            </a:r>
            <a:r>
              <a:rPr lang="en-US" sz="2000" b="1" dirty="0">
                <a:solidFill>
                  <a:srgbClr val="0000CC"/>
                </a:solidFill>
                <a:latin typeface="Courier New" pitchFamily="49" charset="0"/>
                <a:cs typeface="Courier New" pitchFamily="49" charset="0"/>
              </a:rPr>
              <a:t>(s); </a:t>
            </a:r>
          </a:p>
          <a:p>
            <a:pPr>
              <a:buFont typeface="Wingdings" pitchFamily="2" charset="2"/>
              <a:buNone/>
            </a:pPr>
            <a:r>
              <a:rPr lang="en-US" sz="2000" b="1" dirty="0">
                <a:solidFill>
                  <a:srgbClr val="0000CC"/>
                </a:solidFill>
                <a:latin typeface="Courier New" pitchFamily="49" charset="0"/>
                <a:cs typeface="Courier New" pitchFamily="49" charset="0"/>
              </a:rPr>
              <a:t>		/* CS */</a:t>
            </a:r>
          </a:p>
          <a:p>
            <a:pPr>
              <a:buFont typeface="Wingdings" pitchFamily="2" charset="2"/>
              <a:buNone/>
            </a:pPr>
            <a:r>
              <a:rPr lang="en-US" sz="2000" b="1" dirty="0">
                <a:solidFill>
                  <a:srgbClr val="0000CC"/>
                </a:solidFill>
                <a:latin typeface="Courier New" pitchFamily="49" charset="0"/>
                <a:cs typeface="Courier New" pitchFamily="49" charset="0"/>
              </a:rPr>
              <a:t>		</a:t>
            </a:r>
            <a:r>
              <a:rPr lang="en-US" sz="2000" b="1" dirty="0" err="1">
                <a:solidFill>
                  <a:srgbClr val="0000CC"/>
                </a:solidFill>
                <a:latin typeface="Courier New" pitchFamily="49" charset="0"/>
                <a:cs typeface="Courier New" pitchFamily="49" charset="0"/>
              </a:rPr>
              <a:t>semSignal</a:t>
            </a:r>
            <a:r>
              <a:rPr lang="en-US" sz="2000" b="1" dirty="0">
                <a:solidFill>
                  <a:srgbClr val="0000CC"/>
                </a:solidFill>
                <a:latin typeface="Courier New" pitchFamily="49" charset="0"/>
                <a:cs typeface="Courier New" pitchFamily="49" charset="0"/>
              </a:rPr>
              <a:t>(s);</a:t>
            </a:r>
          </a:p>
          <a:p>
            <a:pPr>
              <a:buFont typeface="Wingdings" pitchFamily="2" charset="2"/>
              <a:buNone/>
            </a:pPr>
            <a:r>
              <a:rPr lang="en-US" sz="2000" b="1" dirty="0">
                <a:solidFill>
                  <a:srgbClr val="0000CC"/>
                </a:solidFill>
                <a:latin typeface="Courier New" pitchFamily="49" charset="0"/>
                <a:cs typeface="Courier New" pitchFamily="49" charset="0"/>
              </a:rPr>
              <a:t>		/* remainder */</a:t>
            </a:r>
          </a:p>
          <a:p>
            <a:pPr>
              <a:buFont typeface="Wingdings" pitchFamily="2" charset="2"/>
              <a:buNone/>
            </a:pPr>
            <a:r>
              <a:rPr lang="en-US" sz="2000" b="1" dirty="0">
                <a:solidFill>
                  <a:srgbClr val="0000CC"/>
                </a:solidFill>
                <a:latin typeface="Courier New" pitchFamily="49" charset="0"/>
                <a:cs typeface="Courier New" pitchFamily="49" charset="0"/>
              </a:rPr>
              <a:t>	}</a:t>
            </a:r>
          </a:p>
          <a:p>
            <a:pPr>
              <a:buFont typeface="Wingdings" pitchFamily="2" charset="2"/>
              <a:buNone/>
            </a:pPr>
            <a:r>
              <a:rPr lang="en-US" sz="2000" b="1" dirty="0">
                <a:solidFill>
                  <a:srgbClr val="0000CC"/>
                </a:solidFill>
                <a:latin typeface="Courier New" pitchFamily="49" charset="0"/>
                <a:cs typeface="Courier New" pitchFamily="49" charset="0"/>
              </a:rPr>
              <a:t>}</a:t>
            </a:r>
          </a:p>
        </p:txBody>
      </p:sp>
      <p:sp>
        <p:nvSpPr>
          <p:cNvPr id="24580" name="Content Placeholder 4"/>
          <p:cNvSpPr>
            <a:spLocks noGrp="1"/>
          </p:cNvSpPr>
          <p:nvPr>
            <p:ph sz="half" idx="2"/>
          </p:nvPr>
        </p:nvSpPr>
        <p:spPr/>
        <p:style>
          <a:lnRef idx="2">
            <a:schemeClr val="accent5"/>
          </a:lnRef>
          <a:fillRef idx="1">
            <a:schemeClr val="lt1"/>
          </a:fillRef>
          <a:effectRef idx="0">
            <a:schemeClr val="accent5"/>
          </a:effectRef>
          <a:fontRef idx="minor">
            <a:schemeClr val="dk1"/>
          </a:fontRef>
        </p:style>
        <p:txBody>
          <a:bodyPr/>
          <a:lstStyle/>
          <a:p>
            <a:pPr eaLnBrk="1" hangingPunct="1"/>
            <a:r>
              <a:rPr lang="en-US" sz="2400" dirty="0">
                <a:latin typeface="Calibri" pitchFamily="34" charset="0"/>
              </a:rPr>
              <a:t>What happens?</a:t>
            </a:r>
          </a:p>
          <a:p>
            <a:pPr lvl="1" eaLnBrk="1" hangingPunct="1">
              <a:buFont typeface="Wingdings" pitchFamily="2" charset="2"/>
              <a:buNone/>
            </a:pPr>
            <a:br>
              <a:rPr lang="en-US" sz="2000" dirty="0">
                <a:latin typeface="Calibri" pitchFamily="34" charset="0"/>
              </a:rPr>
            </a:br>
            <a:endParaRPr lang="en-US" sz="2000" dirty="0">
              <a:latin typeface="Calibri" pitchFamily="34" charset="0"/>
            </a:endParaRPr>
          </a:p>
          <a:p>
            <a:pPr eaLnBrk="1" hangingPunct="1"/>
            <a:r>
              <a:rPr lang="en-US" sz="2400" dirty="0">
                <a:latin typeface="Calibri" pitchFamily="34" charset="0"/>
              </a:rPr>
              <a:t>When might this be desirable?</a:t>
            </a:r>
          </a:p>
          <a:p>
            <a:endParaRPr lang="en-US" sz="2400" dirty="0">
              <a:latin typeface="Calibri" pitchFamily="34" charset="0"/>
            </a:endParaRPr>
          </a:p>
        </p:txBody>
      </p:sp>
      <p:sp>
        <p:nvSpPr>
          <p:cNvPr id="24581" name="Slide Number Placeholder 4"/>
          <p:cNvSpPr>
            <a:spLocks noGrp="1"/>
          </p:cNvSpPr>
          <p:nvPr>
            <p:ph type="sldNum" sz="quarter" idx="12"/>
          </p:nvPr>
        </p:nvSpPr>
        <p:spPr>
          <a:noFill/>
        </p:spPr>
        <p:txBody>
          <a:bodyPr/>
          <a:lstStyle/>
          <a:p>
            <a:fld id="{DD067FF2-9014-4F32-8C5C-89CFFCCFACD0}" type="slidenum">
              <a:rPr lang="en-US" smtClean="0">
                <a:latin typeface="Tahoma" pitchFamily="34" charset="0"/>
              </a:rPr>
              <a:pPr/>
              <a:t>14</a:t>
            </a:fld>
            <a:endParaRPr lang="en-US">
              <a:latin typeface="Tahoma" pitchFamily="34" charset="0"/>
            </a:endParaRPr>
          </a:p>
        </p:txBody>
      </p:sp>
      <p:sp>
        <p:nvSpPr>
          <p:cNvPr id="24583" name="Rectangle 7"/>
          <p:cNvSpPr>
            <a:spLocks noChangeArrowheads="1"/>
          </p:cNvSpPr>
          <p:nvPr/>
        </p:nvSpPr>
        <p:spPr bwMode="auto">
          <a:xfrm>
            <a:off x="1371600" y="5562600"/>
            <a:ext cx="874713" cy="369888"/>
          </a:xfrm>
          <a:prstGeom prst="rect">
            <a:avLst/>
          </a:prstGeom>
          <a:noFill/>
          <a:ln w="9525">
            <a:noFill/>
            <a:miter lim="800000"/>
            <a:headEnd/>
            <a:tailEnd/>
          </a:ln>
        </p:spPr>
        <p:txBody>
          <a:bodyPr wrap="none">
            <a:spAutoFit/>
          </a:bodyPr>
          <a:lstStyle/>
          <a:p>
            <a:r>
              <a:rPr lang="en-US" b="1">
                <a:solidFill>
                  <a:srgbClr val="FF0000"/>
                </a:solidFill>
                <a:latin typeface="Courier New" pitchFamily="49" charset="0"/>
                <a:cs typeface="Courier New" pitchFamily="49" charset="0"/>
              </a:rPr>
              <a:t>s = 0</a:t>
            </a:r>
            <a:endParaRPr lang="en-US"/>
          </a:p>
        </p:txBody>
      </p:sp>
      <p:sp>
        <p:nvSpPr>
          <p:cNvPr id="11" name="Right Arrow 10"/>
          <p:cNvSpPr>
            <a:spLocks noChangeArrowheads="1"/>
          </p:cNvSpPr>
          <p:nvPr/>
        </p:nvSpPr>
        <p:spPr bwMode="auto">
          <a:xfrm>
            <a:off x="152400" y="2708920"/>
            <a:ext cx="685800" cy="381000"/>
          </a:xfrm>
          <a:prstGeom prst="rightArrow">
            <a:avLst>
              <a:gd name="adj1" fmla="val 50000"/>
              <a:gd name="adj2" fmla="val 50000"/>
            </a:avLst>
          </a:prstGeom>
          <a:solidFill>
            <a:srgbClr val="FF0000"/>
          </a:solidFill>
          <a:ln w="19050" algn="ctr">
            <a:solidFill>
              <a:schemeClr val="tx1"/>
            </a:solidFill>
            <a:round/>
            <a:headEnd/>
            <a:tailEnd/>
          </a:ln>
        </p:spPr>
        <p:txBody>
          <a:bodyPr anchor="ctr"/>
          <a:lstStyle/>
          <a:p>
            <a:endParaRPr lang="en-US">
              <a:latin typeface="Arial" charset="0"/>
            </a:endParaRPr>
          </a:p>
        </p:txBody>
      </p:sp>
      <p:sp>
        <p:nvSpPr>
          <p:cNvPr id="10" name="Right Arrow 9"/>
          <p:cNvSpPr>
            <a:spLocks noChangeArrowheads="1"/>
          </p:cNvSpPr>
          <p:nvPr/>
        </p:nvSpPr>
        <p:spPr bwMode="auto">
          <a:xfrm>
            <a:off x="304800" y="2708920"/>
            <a:ext cx="685800" cy="381000"/>
          </a:xfrm>
          <a:prstGeom prst="rightArrow">
            <a:avLst>
              <a:gd name="adj1" fmla="val 50000"/>
              <a:gd name="adj2" fmla="val 50000"/>
            </a:avLst>
          </a:prstGeom>
          <a:solidFill>
            <a:srgbClr val="0000CC"/>
          </a:solidFill>
          <a:ln w="19050" algn="ctr">
            <a:solidFill>
              <a:schemeClr val="tx1"/>
            </a:solidFill>
            <a:round/>
            <a:headEnd/>
            <a:tailEnd/>
          </a:ln>
        </p:spPr>
        <p:txBody>
          <a:bodyPr anchor="ctr"/>
          <a:lstStyle/>
          <a:p>
            <a:endParaRPr lang="en-US">
              <a:latin typeface="Arial" charset="0"/>
            </a:endParaRPr>
          </a:p>
        </p:txBody>
      </p:sp>
      <p:sp>
        <p:nvSpPr>
          <p:cNvPr id="9" name="Right Arrow 8"/>
          <p:cNvSpPr>
            <a:spLocks noChangeArrowheads="1"/>
          </p:cNvSpPr>
          <p:nvPr/>
        </p:nvSpPr>
        <p:spPr bwMode="auto">
          <a:xfrm>
            <a:off x="457200" y="2708920"/>
            <a:ext cx="685800" cy="381000"/>
          </a:xfrm>
          <a:prstGeom prst="rightArrow">
            <a:avLst>
              <a:gd name="adj1" fmla="val 50000"/>
              <a:gd name="adj2" fmla="val 50000"/>
            </a:avLst>
          </a:prstGeom>
          <a:solidFill>
            <a:srgbClr val="00B050"/>
          </a:solidFill>
          <a:ln w="19050" algn="ctr">
            <a:solidFill>
              <a:schemeClr val="tx1"/>
            </a:solidFill>
            <a:round/>
            <a:headEnd/>
            <a:tailEnd/>
          </a:ln>
        </p:spPr>
        <p:txBody>
          <a:bodyPr anchor="ctr"/>
          <a:lstStyle/>
          <a:p>
            <a:endParaRPr lang="en-US">
              <a:latin typeface="Arial" charset="0"/>
            </a:endParaRPr>
          </a:p>
        </p:txBody>
      </p:sp>
      <p:sp>
        <p:nvSpPr>
          <p:cNvPr id="12" name="Rectangle 11"/>
          <p:cNvSpPr>
            <a:spLocks noChangeArrowheads="1"/>
          </p:cNvSpPr>
          <p:nvPr/>
        </p:nvSpPr>
        <p:spPr bwMode="auto">
          <a:xfrm>
            <a:off x="2268538" y="5562600"/>
            <a:ext cx="460375" cy="369888"/>
          </a:xfrm>
          <a:prstGeom prst="rect">
            <a:avLst/>
          </a:prstGeom>
          <a:noFill/>
          <a:ln w="9525">
            <a:noFill/>
            <a:miter lim="800000"/>
            <a:headEnd/>
            <a:tailEnd/>
          </a:ln>
        </p:spPr>
        <p:txBody>
          <a:bodyPr wrap="none">
            <a:spAutoFit/>
          </a:bodyPr>
          <a:lstStyle/>
          <a:p>
            <a:r>
              <a:rPr lang="en-US" b="1">
                <a:solidFill>
                  <a:srgbClr val="FF0000"/>
                </a:solidFill>
                <a:latin typeface="Courier New" pitchFamily="49" charset="0"/>
                <a:cs typeface="Courier New" pitchFamily="49" charset="0"/>
              </a:rPr>
              <a:t>-1</a:t>
            </a:r>
            <a:endParaRPr lang="en-US"/>
          </a:p>
        </p:txBody>
      </p:sp>
      <p:sp>
        <p:nvSpPr>
          <p:cNvPr id="13" name="TextBox 12"/>
          <p:cNvSpPr txBox="1">
            <a:spLocks noChangeArrowheads="1"/>
          </p:cNvSpPr>
          <p:nvPr/>
        </p:nvSpPr>
        <p:spPr bwMode="auto">
          <a:xfrm>
            <a:off x="1828800" y="5373688"/>
            <a:ext cx="520700" cy="646112"/>
          </a:xfrm>
          <a:prstGeom prst="rect">
            <a:avLst/>
          </a:prstGeom>
          <a:noFill/>
          <a:ln w="9525">
            <a:noFill/>
            <a:miter lim="800000"/>
            <a:headEnd/>
            <a:tailEnd/>
          </a:ln>
        </p:spPr>
        <p:txBody>
          <a:bodyPr wrap="none">
            <a:spAutoFit/>
          </a:bodyPr>
          <a:lstStyle/>
          <a:p>
            <a:r>
              <a:rPr lang="en-US" sz="3600"/>
              <a:t>×</a:t>
            </a:r>
          </a:p>
        </p:txBody>
      </p:sp>
      <p:sp>
        <p:nvSpPr>
          <p:cNvPr id="14" name="Rectangle 13"/>
          <p:cNvSpPr>
            <a:spLocks noChangeArrowheads="1"/>
          </p:cNvSpPr>
          <p:nvPr/>
        </p:nvSpPr>
        <p:spPr bwMode="auto">
          <a:xfrm>
            <a:off x="2878138" y="5562600"/>
            <a:ext cx="460375" cy="369888"/>
          </a:xfrm>
          <a:prstGeom prst="rect">
            <a:avLst/>
          </a:prstGeom>
          <a:noFill/>
          <a:ln w="9525">
            <a:noFill/>
            <a:miter lim="800000"/>
            <a:headEnd/>
            <a:tailEnd/>
          </a:ln>
        </p:spPr>
        <p:txBody>
          <a:bodyPr wrap="none">
            <a:spAutoFit/>
          </a:bodyPr>
          <a:lstStyle/>
          <a:p>
            <a:r>
              <a:rPr lang="en-US" b="1">
                <a:solidFill>
                  <a:srgbClr val="FF0000"/>
                </a:solidFill>
                <a:latin typeface="Courier New" pitchFamily="49" charset="0"/>
                <a:cs typeface="Courier New" pitchFamily="49" charset="0"/>
              </a:rPr>
              <a:t>-2</a:t>
            </a:r>
            <a:endParaRPr lang="en-US"/>
          </a:p>
        </p:txBody>
      </p:sp>
      <p:sp>
        <p:nvSpPr>
          <p:cNvPr id="15" name="TextBox 14"/>
          <p:cNvSpPr txBox="1">
            <a:spLocks noChangeArrowheads="1"/>
          </p:cNvSpPr>
          <p:nvPr/>
        </p:nvSpPr>
        <p:spPr bwMode="auto">
          <a:xfrm>
            <a:off x="2286000" y="5373688"/>
            <a:ext cx="520700" cy="646112"/>
          </a:xfrm>
          <a:prstGeom prst="rect">
            <a:avLst/>
          </a:prstGeom>
          <a:noFill/>
          <a:ln w="9525">
            <a:noFill/>
            <a:miter lim="800000"/>
            <a:headEnd/>
            <a:tailEnd/>
          </a:ln>
        </p:spPr>
        <p:txBody>
          <a:bodyPr wrap="none">
            <a:spAutoFit/>
          </a:bodyPr>
          <a:lstStyle/>
          <a:p>
            <a:r>
              <a:rPr lang="en-US" sz="3600"/>
              <a:t>×</a:t>
            </a:r>
          </a:p>
        </p:txBody>
      </p:sp>
      <p:sp>
        <p:nvSpPr>
          <p:cNvPr id="16" name="Rectangle 15"/>
          <p:cNvSpPr>
            <a:spLocks noChangeArrowheads="1"/>
          </p:cNvSpPr>
          <p:nvPr/>
        </p:nvSpPr>
        <p:spPr bwMode="auto">
          <a:xfrm>
            <a:off x="3335338" y="5562600"/>
            <a:ext cx="460375" cy="369888"/>
          </a:xfrm>
          <a:prstGeom prst="rect">
            <a:avLst/>
          </a:prstGeom>
          <a:noFill/>
          <a:ln w="9525">
            <a:noFill/>
            <a:miter lim="800000"/>
            <a:headEnd/>
            <a:tailEnd/>
          </a:ln>
        </p:spPr>
        <p:txBody>
          <a:bodyPr wrap="none">
            <a:spAutoFit/>
          </a:bodyPr>
          <a:lstStyle/>
          <a:p>
            <a:r>
              <a:rPr lang="en-US" b="1">
                <a:solidFill>
                  <a:srgbClr val="FF0000"/>
                </a:solidFill>
                <a:latin typeface="Courier New" pitchFamily="49" charset="0"/>
                <a:cs typeface="Courier New" pitchFamily="49" charset="0"/>
              </a:rPr>
              <a:t>-3</a:t>
            </a:r>
            <a:endParaRPr lang="en-US"/>
          </a:p>
        </p:txBody>
      </p:sp>
      <p:sp>
        <p:nvSpPr>
          <p:cNvPr id="17" name="TextBox 16"/>
          <p:cNvSpPr txBox="1">
            <a:spLocks noChangeArrowheads="1"/>
          </p:cNvSpPr>
          <p:nvPr/>
        </p:nvSpPr>
        <p:spPr bwMode="auto">
          <a:xfrm>
            <a:off x="2895600" y="5373688"/>
            <a:ext cx="520700" cy="646112"/>
          </a:xfrm>
          <a:prstGeom prst="rect">
            <a:avLst/>
          </a:prstGeom>
          <a:noFill/>
          <a:ln w="9525">
            <a:noFill/>
            <a:miter lim="800000"/>
            <a:headEnd/>
            <a:tailEnd/>
          </a:ln>
        </p:spPr>
        <p:txBody>
          <a:bodyPr wrap="none">
            <a:spAutoFit/>
          </a:bodyPr>
          <a:lstStyle/>
          <a:p>
            <a:r>
              <a:rPr lang="en-US" sz="3600"/>
              <a:t>×</a:t>
            </a:r>
          </a:p>
        </p:txBody>
      </p:sp>
      <p:sp>
        <p:nvSpPr>
          <p:cNvPr id="19" name="Rectangle 2"/>
          <p:cNvSpPr txBox="1">
            <a:spLocks noChangeArrowheads="1"/>
          </p:cNvSpPr>
          <p:nvPr/>
        </p:nvSpPr>
        <p:spPr>
          <a:xfrm>
            <a:off x="457200" y="214290"/>
            <a:ext cx="8229600" cy="500066"/>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mj-lt"/>
                <a:ea typeface="+mn-ea"/>
                <a:cs typeface="+mn-cs"/>
              </a:rPr>
              <a:t>Semaphore Example 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animBg="1"/>
      <p:bldP spid="9" grpId="0" animBg="1"/>
      <p:bldP spid="12" grpId="0"/>
      <p:bldP spid="13" grpId="0"/>
      <p:bldP spid="14" grpId="0"/>
      <p:bldP spid="15" grpId="0"/>
      <p:bldP spid="16"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sz="half" idx="1"/>
          </p:nvPr>
        </p:nvSpPr>
        <p:spPr/>
        <p:style>
          <a:lnRef idx="2">
            <a:schemeClr val="accent5"/>
          </a:lnRef>
          <a:fillRef idx="1">
            <a:schemeClr val="lt1"/>
          </a:fillRef>
          <a:effectRef idx="0">
            <a:schemeClr val="accent5"/>
          </a:effectRef>
          <a:fontRef idx="minor">
            <a:schemeClr val="dk1"/>
          </a:fontRef>
        </p:style>
        <p:txBody>
          <a:bodyPr/>
          <a:lstStyle/>
          <a:p>
            <a:pPr>
              <a:buFont typeface="Wingdings" pitchFamily="2" charset="2"/>
              <a:buNone/>
            </a:pPr>
            <a:r>
              <a:rPr lang="en-US" sz="2000" b="1" dirty="0">
                <a:solidFill>
                  <a:srgbClr val="FF0000"/>
                </a:solidFill>
                <a:latin typeface="Courier New" pitchFamily="49" charset="0"/>
                <a:cs typeface="Courier New" pitchFamily="49" charset="0"/>
              </a:rPr>
              <a:t>semaphore s = 0; </a:t>
            </a:r>
          </a:p>
          <a:p>
            <a:pPr>
              <a:buFont typeface="Wingdings" pitchFamily="2" charset="2"/>
              <a:buNone/>
            </a:pPr>
            <a:r>
              <a:rPr lang="en-US" sz="2000" b="1" dirty="0">
                <a:solidFill>
                  <a:srgbClr val="0000CC"/>
                </a:solidFill>
                <a:latin typeface="Courier New" pitchFamily="49" charset="0"/>
                <a:cs typeface="Courier New" pitchFamily="49" charset="0"/>
              </a:rPr>
              <a:t>P</a:t>
            </a:r>
            <a:r>
              <a:rPr lang="en-US" sz="2000" b="1" baseline="-25000" dirty="0">
                <a:solidFill>
                  <a:srgbClr val="0000CC"/>
                </a:solidFill>
                <a:latin typeface="Courier New" pitchFamily="49" charset="0"/>
                <a:cs typeface="Courier New" pitchFamily="49" charset="0"/>
              </a:rPr>
              <a:t>i </a:t>
            </a:r>
            <a:r>
              <a:rPr lang="en-US" sz="2000" b="1" dirty="0">
                <a:solidFill>
                  <a:srgbClr val="0000CC"/>
                </a:solidFill>
                <a:latin typeface="Courier New" pitchFamily="49" charset="0"/>
                <a:cs typeface="Courier New" pitchFamily="49" charset="0"/>
              </a:rPr>
              <a:t>{</a:t>
            </a:r>
          </a:p>
          <a:p>
            <a:pPr>
              <a:buFont typeface="Wingdings" pitchFamily="2" charset="2"/>
              <a:buNone/>
            </a:pPr>
            <a:r>
              <a:rPr lang="en-US" sz="2000" b="1" dirty="0">
                <a:solidFill>
                  <a:srgbClr val="0000CC"/>
                </a:solidFill>
                <a:latin typeface="Courier New" pitchFamily="49" charset="0"/>
                <a:cs typeface="Courier New" pitchFamily="49" charset="0"/>
              </a:rPr>
              <a:t>	while(1) 	{ </a:t>
            </a:r>
          </a:p>
          <a:p>
            <a:pPr>
              <a:buFont typeface="Wingdings" pitchFamily="2" charset="2"/>
              <a:buNone/>
            </a:pPr>
            <a:r>
              <a:rPr lang="en-US" sz="2000" b="1" dirty="0">
                <a:solidFill>
                  <a:srgbClr val="0000CC"/>
                </a:solidFill>
                <a:latin typeface="Courier New" pitchFamily="49" charset="0"/>
                <a:cs typeface="Courier New" pitchFamily="49" charset="0"/>
              </a:rPr>
              <a:t>		</a:t>
            </a:r>
            <a:r>
              <a:rPr lang="en-US" sz="2000" b="1" dirty="0" err="1">
                <a:solidFill>
                  <a:srgbClr val="0000CC"/>
                </a:solidFill>
                <a:latin typeface="Courier New" pitchFamily="49" charset="0"/>
                <a:cs typeface="Courier New" pitchFamily="49" charset="0"/>
              </a:rPr>
              <a:t>semWait</a:t>
            </a:r>
            <a:r>
              <a:rPr lang="en-US" sz="2000" b="1" dirty="0">
                <a:solidFill>
                  <a:srgbClr val="0000CC"/>
                </a:solidFill>
                <a:latin typeface="Courier New" pitchFamily="49" charset="0"/>
                <a:cs typeface="Courier New" pitchFamily="49" charset="0"/>
              </a:rPr>
              <a:t>(s); </a:t>
            </a:r>
          </a:p>
          <a:p>
            <a:pPr>
              <a:buFont typeface="Wingdings" pitchFamily="2" charset="2"/>
              <a:buNone/>
            </a:pPr>
            <a:r>
              <a:rPr lang="en-US" sz="2000" b="1" dirty="0">
                <a:solidFill>
                  <a:srgbClr val="0000CC"/>
                </a:solidFill>
                <a:latin typeface="Courier New" pitchFamily="49" charset="0"/>
                <a:cs typeface="Courier New" pitchFamily="49" charset="0"/>
              </a:rPr>
              <a:t>		/* CS */</a:t>
            </a:r>
          </a:p>
          <a:p>
            <a:pPr>
              <a:buFont typeface="Wingdings" pitchFamily="2" charset="2"/>
              <a:buNone/>
            </a:pPr>
            <a:r>
              <a:rPr lang="en-US" sz="2000" b="1" dirty="0">
                <a:solidFill>
                  <a:srgbClr val="0000CC"/>
                </a:solidFill>
                <a:latin typeface="Courier New" pitchFamily="49" charset="0"/>
                <a:cs typeface="Courier New" pitchFamily="49" charset="0"/>
              </a:rPr>
              <a:t>		</a:t>
            </a:r>
            <a:r>
              <a:rPr lang="en-US" sz="2000" b="1" dirty="0" err="1">
                <a:solidFill>
                  <a:srgbClr val="0000CC"/>
                </a:solidFill>
                <a:latin typeface="Courier New" pitchFamily="49" charset="0"/>
                <a:cs typeface="Courier New" pitchFamily="49" charset="0"/>
              </a:rPr>
              <a:t>semSignal</a:t>
            </a:r>
            <a:r>
              <a:rPr lang="en-US" sz="2000" b="1" dirty="0">
                <a:solidFill>
                  <a:srgbClr val="0000CC"/>
                </a:solidFill>
                <a:latin typeface="Courier New" pitchFamily="49" charset="0"/>
                <a:cs typeface="Courier New" pitchFamily="49" charset="0"/>
              </a:rPr>
              <a:t>(s);</a:t>
            </a:r>
          </a:p>
          <a:p>
            <a:pPr>
              <a:buFont typeface="Wingdings" pitchFamily="2" charset="2"/>
              <a:buNone/>
            </a:pPr>
            <a:r>
              <a:rPr lang="en-US" sz="2000" b="1" dirty="0">
                <a:solidFill>
                  <a:srgbClr val="0000CC"/>
                </a:solidFill>
                <a:latin typeface="Courier New" pitchFamily="49" charset="0"/>
                <a:cs typeface="Courier New" pitchFamily="49" charset="0"/>
              </a:rPr>
              <a:t>		/* remainder */</a:t>
            </a:r>
          </a:p>
          <a:p>
            <a:pPr>
              <a:buFont typeface="Wingdings" pitchFamily="2" charset="2"/>
              <a:buNone/>
            </a:pPr>
            <a:r>
              <a:rPr lang="en-US" sz="2000" b="1" dirty="0">
                <a:solidFill>
                  <a:srgbClr val="0000CC"/>
                </a:solidFill>
                <a:latin typeface="Courier New" pitchFamily="49" charset="0"/>
                <a:cs typeface="Courier New" pitchFamily="49" charset="0"/>
              </a:rPr>
              <a:t>	}</a:t>
            </a:r>
          </a:p>
          <a:p>
            <a:pPr>
              <a:buFont typeface="Wingdings" pitchFamily="2" charset="2"/>
              <a:buNone/>
            </a:pPr>
            <a:r>
              <a:rPr lang="en-US" sz="2000" b="1" dirty="0">
                <a:solidFill>
                  <a:srgbClr val="0000CC"/>
                </a:solidFill>
                <a:latin typeface="Courier New" pitchFamily="49" charset="0"/>
                <a:cs typeface="Courier New" pitchFamily="49" charset="0"/>
              </a:rPr>
              <a:t>}</a:t>
            </a:r>
          </a:p>
        </p:txBody>
      </p:sp>
      <p:sp>
        <p:nvSpPr>
          <p:cNvPr id="25604" name="Content Placeholder 4"/>
          <p:cNvSpPr>
            <a:spLocks noGrp="1"/>
          </p:cNvSpPr>
          <p:nvPr>
            <p:ph sz="half" idx="2"/>
          </p:nvPr>
        </p:nvSpPr>
        <p:spPr/>
        <p:style>
          <a:lnRef idx="2">
            <a:schemeClr val="accent5"/>
          </a:lnRef>
          <a:fillRef idx="1">
            <a:schemeClr val="lt1"/>
          </a:fillRef>
          <a:effectRef idx="0">
            <a:schemeClr val="accent5"/>
          </a:effectRef>
          <a:fontRef idx="minor">
            <a:schemeClr val="dk1"/>
          </a:fontRef>
        </p:style>
        <p:txBody>
          <a:bodyPr/>
          <a:lstStyle/>
          <a:p>
            <a:pPr eaLnBrk="1" hangingPunct="1"/>
            <a:r>
              <a:rPr lang="en-US" sz="2400" dirty="0">
                <a:latin typeface="Calibri" pitchFamily="34" charset="0"/>
              </a:rPr>
              <a:t>What happens?</a:t>
            </a:r>
          </a:p>
          <a:p>
            <a:pPr lvl="1" eaLnBrk="1" hangingPunct="1"/>
            <a:r>
              <a:rPr lang="en-US" sz="2000" dirty="0">
                <a:latin typeface="Calibri" pitchFamily="34" charset="0"/>
              </a:rPr>
              <a:t>No one can enter CS! Ever!</a:t>
            </a:r>
          </a:p>
          <a:p>
            <a:pPr eaLnBrk="1" hangingPunct="1"/>
            <a:r>
              <a:rPr lang="en-US" sz="2400" dirty="0">
                <a:latin typeface="Calibri" pitchFamily="34" charset="0"/>
              </a:rPr>
              <a:t>When might this be desirable?</a:t>
            </a:r>
          </a:p>
          <a:p>
            <a:pPr lvl="1" eaLnBrk="1" hangingPunct="1"/>
            <a:r>
              <a:rPr lang="en-US" sz="2000" dirty="0">
                <a:latin typeface="Calibri" pitchFamily="34" charset="0"/>
              </a:rPr>
              <a:t>Never!</a:t>
            </a:r>
          </a:p>
          <a:p>
            <a:endParaRPr lang="en-US" sz="2400" dirty="0">
              <a:latin typeface="Calibri" pitchFamily="34" charset="0"/>
            </a:endParaRPr>
          </a:p>
        </p:txBody>
      </p:sp>
      <p:sp>
        <p:nvSpPr>
          <p:cNvPr id="25605" name="Slide Number Placeholder 4"/>
          <p:cNvSpPr>
            <a:spLocks noGrp="1"/>
          </p:cNvSpPr>
          <p:nvPr>
            <p:ph type="sldNum" sz="quarter" idx="12"/>
          </p:nvPr>
        </p:nvSpPr>
        <p:spPr>
          <a:noFill/>
        </p:spPr>
        <p:txBody>
          <a:bodyPr/>
          <a:lstStyle/>
          <a:p>
            <a:fld id="{9FACD287-75BC-476E-9467-B25136E9524A}" type="slidenum">
              <a:rPr lang="en-US" smtClean="0">
                <a:latin typeface="Tahoma" pitchFamily="34" charset="0"/>
              </a:rPr>
              <a:pPr/>
              <a:t>15</a:t>
            </a:fld>
            <a:endParaRPr lang="en-US">
              <a:latin typeface="Tahoma" pitchFamily="34" charset="0"/>
            </a:endParaRPr>
          </a:p>
        </p:txBody>
      </p:sp>
      <p:sp>
        <p:nvSpPr>
          <p:cNvPr id="7" name="Rectangle 2"/>
          <p:cNvSpPr txBox="1">
            <a:spLocks noChangeArrowheads="1"/>
          </p:cNvSpPr>
          <p:nvPr/>
        </p:nvSpPr>
        <p:spPr>
          <a:xfrm>
            <a:off x="457200" y="214290"/>
            <a:ext cx="8229600" cy="500066"/>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mj-lt"/>
                <a:ea typeface="+mn-ea"/>
                <a:cs typeface="+mn-cs"/>
              </a:rPr>
              <a:t>Semaphore Example 2</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2500298" y="-24"/>
            <a:ext cx="4143404" cy="42862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200" b="1" dirty="0">
                <a:solidFill>
                  <a:schemeClr val="bg1"/>
                </a:solidFill>
                <a:effectLst>
                  <a:outerShdw blurRad="38100" dist="38100" dir="2700000" algn="tl">
                    <a:srgbClr val="000000">
                      <a:alpha val="43137"/>
                    </a:srgbClr>
                  </a:outerShdw>
                </a:effectLst>
                <a:latin typeface="+mj-lt"/>
              </a:rPr>
              <a:t>Binary Semaphore</a:t>
            </a:r>
            <a:endParaRPr kumimoji="0" lang="en-GB" sz="22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mj-lt"/>
              <a:ea typeface="+mn-ea"/>
              <a:cs typeface="+mn-cs"/>
            </a:endParaRPr>
          </a:p>
        </p:txBody>
      </p:sp>
      <p:sp>
        <p:nvSpPr>
          <p:cNvPr id="7" name="Rectangle 6"/>
          <p:cNvSpPr/>
          <p:nvPr/>
        </p:nvSpPr>
        <p:spPr>
          <a:xfrm>
            <a:off x="142844" y="1928802"/>
            <a:ext cx="8929750" cy="40934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Font typeface="Arial" pitchFamily="34" charset="0"/>
              <a:buChar char="•"/>
            </a:pPr>
            <a:r>
              <a:rPr lang="en-US" sz="2000" dirty="0">
                <a:latin typeface="Calibri" pitchFamily="34" charset="0"/>
                <a:cs typeface="Calibri" pitchFamily="34" charset="0"/>
              </a:rPr>
              <a:t> A more restrictive semaphore which may only have the value of 0 or 1</a:t>
            </a:r>
          </a:p>
          <a:p>
            <a:pPr marL="342900" indent="-342900">
              <a:buAutoNum type="arabicPeriod"/>
            </a:pPr>
            <a:r>
              <a:rPr lang="en-GB" sz="2000" dirty="0">
                <a:latin typeface="Calibri" pitchFamily="34" charset="0"/>
                <a:cs typeface="Calibri" pitchFamily="34" charset="0"/>
              </a:rPr>
              <a:t>A binary semaphore may be initialized to 0 or 1.</a:t>
            </a:r>
          </a:p>
          <a:p>
            <a:r>
              <a:rPr lang="en-GB" sz="2000" dirty="0">
                <a:latin typeface="Calibri" pitchFamily="34" charset="0"/>
                <a:cs typeface="Calibri" pitchFamily="34" charset="0"/>
              </a:rPr>
              <a:t>2.  The semWaitB operation checks the semaphore value. If the value is zero, then  </a:t>
            </a:r>
          </a:p>
          <a:p>
            <a:r>
              <a:rPr lang="en-GB" sz="2000" dirty="0">
                <a:latin typeface="Calibri" pitchFamily="34" charset="0"/>
                <a:cs typeface="Calibri" pitchFamily="34" charset="0"/>
              </a:rPr>
              <a:t>     the Process executing the semWaitB is blocked. If the value is one, then the value  </a:t>
            </a:r>
          </a:p>
          <a:p>
            <a:r>
              <a:rPr lang="en-GB" sz="2000" dirty="0">
                <a:latin typeface="Calibri" pitchFamily="34" charset="0"/>
                <a:cs typeface="Calibri" pitchFamily="34" charset="0"/>
              </a:rPr>
              <a:t>     is Changed to zero and the process continues execution.</a:t>
            </a:r>
          </a:p>
          <a:p>
            <a:r>
              <a:rPr lang="en-GB" sz="2000" dirty="0">
                <a:latin typeface="Calibri" pitchFamily="34" charset="0"/>
                <a:cs typeface="Calibri" pitchFamily="34" charset="0"/>
              </a:rPr>
              <a:t>3. The semSignalB operation checks to see if any processes are blocked on this </a:t>
            </a:r>
          </a:p>
          <a:p>
            <a:r>
              <a:rPr lang="en-GB" sz="2000" dirty="0">
                <a:latin typeface="Calibri" pitchFamily="34" charset="0"/>
                <a:cs typeface="Calibri" pitchFamily="34" charset="0"/>
              </a:rPr>
              <a:t>    semaphore (semaphore value equals zero). </a:t>
            </a:r>
          </a:p>
          <a:p>
            <a:r>
              <a:rPr lang="en-GB" sz="2000" dirty="0">
                <a:latin typeface="Calibri" pitchFamily="34" charset="0"/>
                <a:cs typeface="Calibri" pitchFamily="34" charset="0"/>
              </a:rPr>
              <a:t>    If so, then a process blocked by a semWaitB operation is unblocked. </a:t>
            </a:r>
          </a:p>
          <a:p>
            <a:r>
              <a:rPr lang="en-GB" sz="2000" dirty="0">
                <a:latin typeface="Calibri" pitchFamily="34" charset="0"/>
                <a:cs typeface="Calibri" pitchFamily="34" charset="0"/>
              </a:rPr>
              <a:t>    If no processes are blocked, then the value of the semaphore is set to one.</a:t>
            </a:r>
          </a:p>
          <a:p>
            <a:endParaRPr lang="en-IN" sz="2000" dirty="0">
              <a:latin typeface="Calibri" pitchFamily="34" charset="0"/>
              <a:cs typeface="Calibri" pitchFamily="34" charset="0"/>
            </a:endParaRPr>
          </a:p>
          <a:p>
            <a:pPr>
              <a:buFont typeface="Arial" pitchFamily="34" charset="0"/>
              <a:buChar char="•"/>
            </a:pPr>
            <a:r>
              <a:rPr lang="en-GB" sz="2000" dirty="0">
                <a:latin typeface="Calibri" pitchFamily="34" charset="0"/>
                <a:cs typeface="Calibri" pitchFamily="34" charset="0"/>
              </a:rPr>
              <a:t>  To contrast the two types of semaphores, the nonbinary semaphore is often    </a:t>
            </a:r>
          </a:p>
          <a:p>
            <a:r>
              <a:rPr lang="en-GB" sz="2000" dirty="0">
                <a:latin typeface="Calibri" pitchFamily="34" charset="0"/>
                <a:cs typeface="Calibri" pitchFamily="34" charset="0"/>
              </a:rPr>
              <a:t>    referred  to as either a </a:t>
            </a:r>
            <a:r>
              <a:rPr lang="en-GB" sz="2000" b="1" dirty="0">
                <a:solidFill>
                  <a:schemeClr val="accent5"/>
                </a:solidFill>
                <a:effectLst>
                  <a:outerShdw blurRad="38100" dist="38100" dir="2700000" algn="tl">
                    <a:srgbClr val="000000">
                      <a:alpha val="43137"/>
                    </a:srgbClr>
                  </a:outerShdw>
                </a:effectLst>
                <a:latin typeface="Calibri" pitchFamily="34" charset="0"/>
                <a:cs typeface="Calibri" pitchFamily="34" charset="0"/>
              </a:rPr>
              <a:t>counting semaphore or a general semaphore.</a:t>
            </a:r>
          </a:p>
          <a:p>
            <a:endParaRPr lang="en-US" sz="2000" dirty="0">
              <a:latin typeface="Calibri" pitchFamily="34" charset="0"/>
              <a:cs typeface="Calibri"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9" name="Content Placeholder 3" descr="Fig05_04.gif"/>
          <p:cNvPicPr>
            <a:picLocks noGrp="1" noChangeAspect="1"/>
          </p:cNvPicPr>
          <p:nvPr>
            <p:ph idx="1"/>
          </p:nvPr>
        </p:nvPicPr>
        <p:blipFill>
          <a:blip r:embed="rId3"/>
          <a:srcRect/>
          <a:stretch>
            <a:fillRect/>
          </a:stretch>
        </p:blipFill>
        <p:spPr>
          <a:xfrm>
            <a:off x="0" y="571480"/>
            <a:ext cx="9144000" cy="55721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Slide Number Placeholder 3"/>
          <p:cNvSpPr>
            <a:spLocks noGrp="1"/>
          </p:cNvSpPr>
          <p:nvPr>
            <p:ph type="sldNum" sz="quarter" idx="12"/>
          </p:nvPr>
        </p:nvSpPr>
        <p:spPr/>
        <p:txBody>
          <a:bodyPr/>
          <a:lstStyle/>
          <a:p>
            <a:fld id="{8721AD9F-4A2E-478F-ACDB-FC9429174183}" type="slidenum">
              <a:rPr lang="en-GB" smtClean="0"/>
              <a:pPr/>
              <a:t>17</a:t>
            </a:fld>
            <a:endParaRPr lang="en-GB"/>
          </a:p>
        </p:txBody>
      </p:sp>
      <p:sp>
        <p:nvSpPr>
          <p:cNvPr id="5" name="Title 1"/>
          <p:cNvSpPr txBox="1">
            <a:spLocks/>
          </p:cNvSpPr>
          <p:nvPr/>
        </p:nvSpPr>
        <p:spPr>
          <a:xfrm>
            <a:off x="2143108" y="-24"/>
            <a:ext cx="6072230" cy="42862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Autofit/>
          </a:bodyPr>
          <a:lstStyle/>
          <a:p>
            <a:pPr lvl="0" algn="ctr">
              <a:spcBef>
                <a:spcPct val="0"/>
              </a:spcBef>
              <a:defRPr/>
            </a:pPr>
            <a:r>
              <a:rPr lang="en-GB" sz="2200" b="1" dirty="0">
                <a:solidFill>
                  <a:schemeClr val="bg1"/>
                </a:solidFill>
                <a:effectLst>
                  <a:outerShdw blurRad="38100" dist="38100" dir="2700000" algn="tl">
                    <a:srgbClr val="000000">
                      <a:alpha val="43137"/>
                    </a:srgbClr>
                  </a:outerShdw>
                </a:effectLst>
                <a:latin typeface="Calibri" pitchFamily="34" charset="0"/>
              </a:rPr>
              <a:t>Binary Semaphore </a:t>
            </a:r>
            <a:r>
              <a:rPr lang="en-US" sz="2200" b="1" dirty="0">
                <a:solidFill>
                  <a:schemeClr val="bg1"/>
                </a:solidFill>
                <a:effectLst>
                  <a:outerShdw blurRad="38100" dist="38100" dir="2700000" algn="tl">
                    <a:srgbClr val="000000">
                      <a:alpha val="43137"/>
                    </a:srgbClr>
                  </a:outerShdw>
                </a:effectLst>
                <a:latin typeface="Calibri" pitchFamily="34" charset="0"/>
              </a:rPr>
              <a:t>Primitives (locks &amp; </a:t>
            </a:r>
            <a:r>
              <a:rPr lang="en-US" sz="2200" b="1" dirty="0" err="1">
                <a:solidFill>
                  <a:schemeClr val="bg1"/>
                </a:solidFill>
                <a:effectLst>
                  <a:outerShdw blurRad="38100" dist="38100" dir="2700000" algn="tl">
                    <a:srgbClr val="000000">
                      <a:alpha val="43137"/>
                    </a:srgbClr>
                  </a:outerShdw>
                </a:effectLst>
                <a:latin typeface="Calibri" pitchFamily="34" charset="0"/>
              </a:rPr>
              <a:t>mutex</a:t>
            </a:r>
            <a:r>
              <a:rPr lang="en-US" sz="2200" b="1" dirty="0">
                <a:solidFill>
                  <a:schemeClr val="bg1"/>
                </a:solidFill>
                <a:effectLst>
                  <a:outerShdw blurRad="38100" dist="38100" dir="2700000" algn="tl">
                    <a:srgbClr val="000000">
                      <a:alpha val="43137"/>
                    </a:srgbClr>
                  </a:outerShdw>
                </a:effectLst>
                <a:latin typeface="Calibri" pitchFamily="34" charset="0"/>
              </a:rPr>
              <a:t>)</a:t>
            </a:r>
            <a:endParaRPr kumimoji="0" lang="en-GB" sz="22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Calibri" pitchFamily="34"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44" y="714356"/>
            <a:ext cx="8929750" cy="4572032"/>
          </a:xfrm>
        </p:spPr>
        <p:style>
          <a:lnRef idx="2">
            <a:schemeClr val="accent5"/>
          </a:lnRef>
          <a:fillRef idx="1">
            <a:schemeClr val="lt1"/>
          </a:fillRef>
          <a:effectRef idx="0">
            <a:schemeClr val="accent5"/>
          </a:effectRef>
          <a:fontRef idx="minor">
            <a:schemeClr val="dk1"/>
          </a:fontRef>
        </p:style>
        <p:txBody>
          <a:bodyPr>
            <a:noAutofit/>
          </a:bodyPr>
          <a:lstStyle/>
          <a:p>
            <a:r>
              <a:rPr lang="en-NZ" sz="2000" dirty="0">
                <a:latin typeface="Calibri" pitchFamily="34" charset="0"/>
                <a:cs typeface="Calibri" pitchFamily="34" charset="0"/>
              </a:rPr>
              <a:t>It is important to decide the order in which processes are removed from a blocked queue.</a:t>
            </a:r>
          </a:p>
          <a:p>
            <a:r>
              <a:rPr lang="en-NZ" sz="2000" dirty="0">
                <a:latin typeface="Calibri" pitchFamily="34" charset="0"/>
                <a:cs typeface="Calibri" pitchFamily="34" charset="0"/>
              </a:rPr>
              <a:t>The fairest removal policy is first-in-first-out (FIFO):</a:t>
            </a:r>
          </a:p>
          <a:p>
            <a:pPr lvl="1">
              <a:buFontTx/>
              <a:buChar char="•"/>
            </a:pPr>
            <a:r>
              <a:rPr lang="en-NZ" sz="2000" dirty="0">
                <a:latin typeface="Calibri" pitchFamily="34" charset="0"/>
                <a:cs typeface="Calibri" pitchFamily="34" charset="0"/>
              </a:rPr>
              <a:t>The process that has been blocked the longest is released from the queue first; a semaphore follows this policy is called a </a:t>
            </a:r>
            <a:r>
              <a:rPr lang="en-NZ" sz="2000" b="1" dirty="0">
                <a:latin typeface="Calibri" pitchFamily="34" charset="0"/>
                <a:cs typeface="Calibri" pitchFamily="34" charset="0"/>
              </a:rPr>
              <a:t>strong semaphore. </a:t>
            </a:r>
          </a:p>
          <a:p>
            <a:pPr>
              <a:buFontTx/>
              <a:buChar char="•"/>
            </a:pPr>
            <a:r>
              <a:rPr lang="en-NZ" sz="2000" dirty="0">
                <a:latin typeface="Calibri" pitchFamily="34" charset="0"/>
                <a:cs typeface="Calibri" pitchFamily="34" charset="0"/>
              </a:rPr>
              <a:t>A semaphore that does not specify the order in which processes are removed from the queue is a </a:t>
            </a:r>
            <a:r>
              <a:rPr lang="en-NZ" sz="2000" b="1" dirty="0">
                <a:latin typeface="Calibri" pitchFamily="34" charset="0"/>
                <a:cs typeface="Calibri" pitchFamily="34" charset="0"/>
              </a:rPr>
              <a:t>weak semaphore</a:t>
            </a:r>
            <a:r>
              <a:rPr lang="en-NZ" sz="2000" dirty="0">
                <a:latin typeface="Calibri" pitchFamily="34" charset="0"/>
                <a:cs typeface="Calibri" pitchFamily="34" charset="0"/>
              </a:rPr>
              <a:t>.</a:t>
            </a:r>
          </a:p>
          <a:p>
            <a:r>
              <a:rPr lang="en-US" sz="2000" b="1" dirty="0">
                <a:latin typeface="Calibri" pitchFamily="34" charset="0"/>
              </a:rPr>
              <a:t>Strong semaphores </a:t>
            </a:r>
            <a:r>
              <a:rPr lang="en-US" sz="2000" dirty="0">
                <a:latin typeface="Calibri" pitchFamily="34" charset="0"/>
              </a:rPr>
              <a:t>guarantee freedom from starvation, while</a:t>
            </a:r>
          </a:p>
          <a:p>
            <a:r>
              <a:rPr lang="en-US" sz="2000" b="1" dirty="0">
                <a:latin typeface="Calibri" pitchFamily="34" charset="0"/>
              </a:rPr>
              <a:t>Weak semaphores</a:t>
            </a:r>
            <a:r>
              <a:rPr lang="en-US" sz="2000" dirty="0">
                <a:latin typeface="Calibri" pitchFamily="34" charset="0"/>
              </a:rPr>
              <a:t> do not guarantee freedom from starvation.</a:t>
            </a:r>
          </a:p>
          <a:p>
            <a:r>
              <a:rPr lang="en-US" sz="2000" b="1" dirty="0">
                <a:latin typeface="Calibri" pitchFamily="34" charset="0"/>
              </a:rPr>
              <a:t>Strong semaphores</a:t>
            </a:r>
            <a:r>
              <a:rPr lang="en-US" sz="2000" dirty="0">
                <a:latin typeface="Calibri" pitchFamily="34" charset="0"/>
              </a:rPr>
              <a:t> are more convenient because this is the form of semaphore typically provided by operating systems.</a:t>
            </a:r>
          </a:p>
          <a:p>
            <a:r>
              <a:rPr lang="en-US" sz="2000" b="1" dirty="0">
                <a:latin typeface="Calibri" pitchFamily="34" charset="0"/>
              </a:rPr>
              <a:t>Weak semaphores</a:t>
            </a:r>
            <a:r>
              <a:rPr lang="en-US" sz="2000" dirty="0">
                <a:latin typeface="Calibri" pitchFamily="34" charset="0"/>
              </a:rPr>
              <a:t> are not convenient as strong semaphores.</a:t>
            </a:r>
            <a:endParaRPr lang="en-NZ" sz="2000" dirty="0">
              <a:latin typeface="Calibri" pitchFamily="34" charset="0"/>
              <a:cs typeface="Calibri" pitchFamily="34" charset="0"/>
            </a:endParaRPr>
          </a:p>
          <a:p>
            <a:endParaRPr lang="en-NZ" sz="2000" dirty="0">
              <a:latin typeface="Calibri" pitchFamily="34" charset="0"/>
              <a:cs typeface="Calibri" pitchFamily="34" charset="0"/>
            </a:endParaRPr>
          </a:p>
          <a:p>
            <a:endParaRPr lang="en-GB" sz="2000" dirty="0">
              <a:latin typeface="Calibri" pitchFamily="34" charset="0"/>
              <a:cs typeface="Calibri" pitchFamily="34" charset="0"/>
            </a:endParaRPr>
          </a:p>
        </p:txBody>
      </p:sp>
      <p:sp>
        <p:nvSpPr>
          <p:cNvPr id="5" name="Slide Number Placeholder 4"/>
          <p:cNvSpPr>
            <a:spLocks noGrp="1"/>
          </p:cNvSpPr>
          <p:nvPr>
            <p:ph type="sldNum" sz="quarter" idx="12"/>
          </p:nvPr>
        </p:nvSpPr>
        <p:spPr/>
        <p:txBody>
          <a:bodyPr/>
          <a:lstStyle/>
          <a:p>
            <a:fld id="{8721AD9F-4A2E-478F-ACDB-FC9429174183}" type="slidenum">
              <a:rPr lang="en-GB" smtClean="0"/>
              <a:pPr/>
              <a:t>18</a:t>
            </a:fld>
            <a:endParaRPr lang="en-GB"/>
          </a:p>
        </p:txBody>
      </p:sp>
      <p:sp>
        <p:nvSpPr>
          <p:cNvPr id="6" name="Title 1"/>
          <p:cNvSpPr txBox="1">
            <a:spLocks/>
          </p:cNvSpPr>
          <p:nvPr/>
        </p:nvSpPr>
        <p:spPr>
          <a:xfrm>
            <a:off x="2000232" y="71414"/>
            <a:ext cx="6072230" cy="42862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Autofit/>
          </a:bodyPr>
          <a:lstStyle/>
          <a:p>
            <a:pPr lvl="0" algn="ctr">
              <a:spcBef>
                <a:spcPct val="0"/>
              </a:spcBef>
              <a:defRPr/>
            </a:pPr>
            <a:r>
              <a:rPr lang="en-NZ" sz="2400" b="1" dirty="0">
                <a:effectLst>
                  <a:outerShdw blurRad="38100" dist="38100" dir="2700000" algn="tl">
                    <a:srgbClr val="000000">
                      <a:alpha val="43137"/>
                    </a:srgbClr>
                  </a:outerShdw>
                </a:effectLst>
                <a:latin typeface="Calibri" pitchFamily="34" charset="0"/>
                <a:cs typeface="Calibri" pitchFamily="34" charset="0"/>
              </a:rPr>
              <a:t>Strong Semaphore Vs. Weak Semaphore</a:t>
            </a:r>
            <a:endParaRPr kumimoji="0" lang="en-GB" sz="2200" b="1" i="0" u="none" strike="noStrike" kern="1200" cap="none" spc="0" normalizeH="0" baseline="0" noProof="0" dirty="0">
              <a:ln>
                <a:noFill/>
              </a:ln>
              <a:solidFill>
                <a:schemeClr val="tx2">
                  <a:lumMod val="75000"/>
                </a:schemeClr>
              </a:solidFill>
              <a:effectLst>
                <a:outerShdw blurRad="38100" dist="38100" dir="2700000" algn="tl">
                  <a:srgbClr val="000000">
                    <a:alpha val="43137"/>
                  </a:srgbClr>
                </a:outerShdw>
              </a:effectLst>
              <a:uLnTx/>
              <a:uFillTx/>
              <a:latin typeface="Calibri"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857356" y="71414"/>
            <a:ext cx="6072230" cy="42862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Autofit/>
          </a:bodyPr>
          <a:lstStyle/>
          <a:p>
            <a:pPr lvl="0" algn="ctr">
              <a:spcBef>
                <a:spcPct val="0"/>
              </a:spcBef>
              <a:defRPr/>
            </a:pPr>
            <a:r>
              <a:rPr lang="en-US" sz="2400" b="1" dirty="0">
                <a:solidFill>
                  <a:schemeClr val="bg1"/>
                </a:solidFill>
                <a:effectLst>
                  <a:outerShdw blurRad="38100" dist="38100" dir="2700000" algn="tl">
                    <a:srgbClr val="000000">
                      <a:alpha val="43137"/>
                    </a:srgbClr>
                  </a:outerShdw>
                </a:effectLst>
                <a:latin typeface="+mj-lt"/>
              </a:rPr>
              <a:t>Example of Strong Semaphore Mechanism</a:t>
            </a:r>
          </a:p>
        </p:txBody>
      </p:sp>
      <p:pic>
        <p:nvPicPr>
          <p:cNvPr id="1026" name="Picture 2"/>
          <p:cNvPicPr>
            <a:picLocks noChangeAspect="1" noChangeArrowheads="1"/>
          </p:cNvPicPr>
          <p:nvPr/>
        </p:nvPicPr>
        <p:blipFill>
          <a:blip r:embed="rId2"/>
          <a:srcRect/>
          <a:stretch>
            <a:fillRect/>
          </a:stretch>
        </p:blipFill>
        <p:spPr bwMode="auto">
          <a:xfrm>
            <a:off x="71438" y="642918"/>
            <a:ext cx="8929718" cy="27860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p:cNvSpPr/>
          <p:nvPr/>
        </p:nvSpPr>
        <p:spPr>
          <a:xfrm>
            <a:off x="71406" y="3611123"/>
            <a:ext cx="9072594" cy="224676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Font typeface="Arial" pitchFamily="34" charset="0"/>
              <a:buChar char="•"/>
            </a:pPr>
            <a:r>
              <a:rPr lang="en-NZ" sz="2000" dirty="0">
                <a:latin typeface="Calibri" pitchFamily="34" charset="0"/>
                <a:cs typeface="Calibri" pitchFamily="34" charset="0"/>
              </a:rPr>
              <a:t> Initially </a:t>
            </a:r>
            <a:r>
              <a:rPr lang="en-NZ" sz="2000" b="1" dirty="0">
                <a:latin typeface="Calibri" pitchFamily="34" charset="0"/>
                <a:cs typeface="Calibri" pitchFamily="34" charset="0"/>
              </a:rPr>
              <a:t>(1), </a:t>
            </a:r>
            <a:r>
              <a:rPr lang="en-NZ" sz="2000" dirty="0">
                <a:latin typeface="Calibri" pitchFamily="34" charset="0"/>
                <a:cs typeface="Calibri" pitchFamily="34" charset="0"/>
              </a:rPr>
              <a:t>A is running;</a:t>
            </a:r>
          </a:p>
          <a:p>
            <a:pPr>
              <a:buFontTx/>
              <a:buChar char="•"/>
            </a:pPr>
            <a:r>
              <a:rPr lang="en-NZ" sz="2000" dirty="0">
                <a:latin typeface="Calibri" pitchFamily="34" charset="0"/>
                <a:cs typeface="Calibri" pitchFamily="34" charset="0"/>
              </a:rPr>
              <a:t> B, C, and D are ready; </a:t>
            </a:r>
          </a:p>
          <a:p>
            <a:pPr>
              <a:buFontTx/>
              <a:buChar char="•"/>
            </a:pPr>
            <a:r>
              <a:rPr lang="en-NZ" sz="2000" dirty="0">
                <a:latin typeface="Calibri" pitchFamily="34" charset="0"/>
                <a:cs typeface="Calibri" pitchFamily="34" charset="0"/>
              </a:rPr>
              <a:t> The semaphore count is 1, indicating that one of D’s results is available. </a:t>
            </a:r>
          </a:p>
          <a:p>
            <a:pPr>
              <a:buFontTx/>
              <a:buChar char="•"/>
            </a:pPr>
            <a:r>
              <a:rPr lang="en-NZ" sz="2000" dirty="0">
                <a:latin typeface="Calibri" pitchFamily="34" charset="0"/>
                <a:cs typeface="Calibri" pitchFamily="34" charset="0"/>
              </a:rPr>
              <a:t> That means up to 1 process can enter critical section.</a:t>
            </a:r>
          </a:p>
          <a:p>
            <a:pPr>
              <a:buFontTx/>
              <a:buChar char="•"/>
            </a:pPr>
            <a:r>
              <a:rPr lang="en-NZ" sz="2000" dirty="0">
                <a:latin typeface="Calibri" pitchFamily="34" charset="0"/>
                <a:cs typeface="Calibri" pitchFamily="34" charset="0"/>
              </a:rPr>
              <a:t> When A issues a semWait instruction on semaphore </a:t>
            </a:r>
            <a:r>
              <a:rPr lang="en-NZ" sz="2000" b="1" dirty="0">
                <a:latin typeface="Calibri" pitchFamily="34" charset="0"/>
                <a:cs typeface="Calibri" pitchFamily="34" charset="0"/>
              </a:rPr>
              <a:t>s</a:t>
            </a:r>
            <a:r>
              <a:rPr lang="en-NZ" sz="2000" dirty="0">
                <a:latin typeface="Calibri" pitchFamily="34" charset="0"/>
                <a:cs typeface="Calibri" pitchFamily="34" charset="0"/>
              </a:rPr>
              <a:t>, the semaphore decrements </a:t>
            </a:r>
          </a:p>
          <a:p>
            <a:r>
              <a:rPr lang="en-NZ" sz="2000" dirty="0">
                <a:latin typeface="Calibri" pitchFamily="34" charset="0"/>
                <a:cs typeface="Calibri" pitchFamily="34" charset="0"/>
              </a:rPr>
              <a:t>   to 0, and A can continue to execute; </a:t>
            </a:r>
          </a:p>
          <a:p>
            <a:pPr>
              <a:buFontTx/>
              <a:buChar char="•"/>
            </a:pPr>
            <a:r>
              <a:rPr lang="en-NZ" sz="2000" dirty="0">
                <a:latin typeface="Calibri" pitchFamily="34" charset="0"/>
                <a:cs typeface="Calibri" pitchFamily="34" charset="0"/>
              </a:rPr>
              <a:t> Subsequently it rejoins the ready queue.</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0" y="-24"/>
            <a:ext cx="9144000" cy="25003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p:cNvSpPr/>
          <p:nvPr/>
        </p:nvSpPr>
        <p:spPr>
          <a:xfrm>
            <a:off x="0" y="5357826"/>
            <a:ext cx="8929718" cy="76944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457200" indent="-457200">
              <a:buAutoNum type="arabicParenBoth" startAt="2"/>
            </a:pPr>
            <a:r>
              <a:rPr lang="en-US" sz="2200" dirty="0">
                <a:latin typeface="Calibri" pitchFamily="34" charset="0"/>
              </a:rPr>
              <a:t>Then B runs, eventually issues a semWait instruction, and is blocked, </a:t>
            </a:r>
          </a:p>
          <a:p>
            <a:pPr marL="457200" indent="-457200"/>
            <a:r>
              <a:rPr lang="en-US" sz="2200" dirty="0">
                <a:latin typeface="Calibri" pitchFamily="34" charset="0"/>
              </a:rPr>
              <a:t>       allowing D to run </a:t>
            </a:r>
            <a:r>
              <a:rPr lang="en-US" sz="2200" b="1" dirty="0">
                <a:latin typeface="Calibri" pitchFamily="34" charset="0"/>
              </a:rPr>
              <a:t>(3)</a:t>
            </a:r>
            <a:r>
              <a:rPr lang="en-US" sz="2200" dirty="0">
                <a:latin typeface="Calibri" pitchFamily="34" charset="0"/>
              </a:rPr>
              <a:t>.</a:t>
            </a:r>
          </a:p>
        </p:txBody>
      </p:sp>
      <p:pic>
        <p:nvPicPr>
          <p:cNvPr id="2051" name="Picture 3"/>
          <p:cNvPicPr>
            <a:picLocks noChangeAspect="1" noChangeArrowheads="1"/>
          </p:cNvPicPr>
          <p:nvPr/>
        </p:nvPicPr>
        <p:blipFill>
          <a:blip r:embed="rId3"/>
          <a:srcRect/>
          <a:stretch>
            <a:fillRect/>
          </a:stretch>
        </p:blipFill>
        <p:spPr bwMode="auto">
          <a:xfrm>
            <a:off x="0" y="2647954"/>
            <a:ext cx="9144000" cy="24955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0" y="142876"/>
            <a:ext cx="9144000" cy="23574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p:cNvSpPr/>
          <p:nvPr/>
        </p:nvSpPr>
        <p:spPr>
          <a:xfrm>
            <a:off x="0" y="2643182"/>
            <a:ext cx="9144000" cy="76944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2200" b="1" dirty="0">
                <a:latin typeface="Calibri" pitchFamily="34" charset="0"/>
              </a:rPr>
              <a:t> (4) </a:t>
            </a:r>
            <a:r>
              <a:rPr lang="en-US" sz="2200" dirty="0">
                <a:latin typeface="Calibri" pitchFamily="34" charset="0"/>
              </a:rPr>
              <a:t>When D completes a new result, it issues a semSignal instruction, which </a:t>
            </a:r>
          </a:p>
          <a:p>
            <a:r>
              <a:rPr lang="en-US" sz="2200" dirty="0">
                <a:latin typeface="Calibri" pitchFamily="34" charset="0"/>
              </a:rPr>
              <a:t>       allows B to move to the ready queue.</a:t>
            </a:r>
            <a:endParaRPr lang="en-US" sz="2200" b="1" dirty="0">
              <a:latin typeface="Calibri" pitchFamily="34" charset="0"/>
            </a:endParaRPr>
          </a:p>
        </p:txBody>
      </p:sp>
      <p:sp>
        <p:nvSpPr>
          <p:cNvPr id="7" name="Rectangle 6"/>
          <p:cNvSpPr/>
          <p:nvPr/>
        </p:nvSpPr>
        <p:spPr>
          <a:xfrm>
            <a:off x="0" y="5874269"/>
            <a:ext cx="9001156" cy="76944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2200" dirty="0">
                <a:latin typeface="Calibri" pitchFamily="34" charset="0"/>
              </a:rPr>
              <a:t> </a:t>
            </a:r>
            <a:r>
              <a:rPr lang="en-US" sz="2200" b="1" dirty="0">
                <a:latin typeface="Calibri" pitchFamily="34" charset="0"/>
              </a:rPr>
              <a:t>(5) </a:t>
            </a:r>
            <a:r>
              <a:rPr lang="en-US" sz="2200" dirty="0">
                <a:latin typeface="Calibri" pitchFamily="34" charset="0"/>
              </a:rPr>
              <a:t>D rejoins the ready queue and C begins to run but is blocked when it   </a:t>
            </a:r>
          </a:p>
          <a:p>
            <a:r>
              <a:rPr lang="en-US" sz="2200" dirty="0">
                <a:latin typeface="Calibri" pitchFamily="34" charset="0"/>
              </a:rPr>
              <a:t>       issues a semWait instruction.</a:t>
            </a:r>
          </a:p>
        </p:txBody>
      </p:sp>
      <p:pic>
        <p:nvPicPr>
          <p:cNvPr id="3075" name="Picture 3"/>
          <p:cNvPicPr>
            <a:picLocks noChangeAspect="1" noChangeArrowheads="1"/>
          </p:cNvPicPr>
          <p:nvPr/>
        </p:nvPicPr>
        <p:blipFill>
          <a:blip r:embed="rId3"/>
          <a:srcRect/>
          <a:stretch>
            <a:fillRect/>
          </a:stretch>
        </p:blipFill>
        <p:spPr bwMode="auto">
          <a:xfrm>
            <a:off x="0" y="3571876"/>
            <a:ext cx="9144000" cy="21431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470" y="2496917"/>
            <a:ext cx="9072562" cy="76944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2200" dirty="0">
                <a:latin typeface="Calibri" pitchFamily="34" charset="0"/>
              </a:rPr>
              <a:t>Similarly, A and B run and are blocked on the semaphore, allowing D to resume execution </a:t>
            </a:r>
            <a:r>
              <a:rPr lang="en-US" sz="2200" b="1" dirty="0">
                <a:latin typeface="Calibri" pitchFamily="34" charset="0"/>
              </a:rPr>
              <a:t>(6)</a:t>
            </a:r>
          </a:p>
        </p:txBody>
      </p:sp>
      <p:sp>
        <p:nvSpPr>
          <p:cNvPr id="6" name="Rectangle 5"/>
          <p:cNvSpPr/>
          <p:nvPr/>
        </p:nvSpPr>
        <p:spPr>
          <a:xfrm>
            <a:off x="71470" y="5715016"/>
            <a:ext cx="8786810" cy="70788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2000" dirty="0">
                <a:latin typeface="Calibri" pitchFamily="34" charset="0"/>
              </a:rPr>
              <a:t>When D has a result, it issues a semSignal, which transfers C to the ready queue. Later cycles of D will release A and B from the Blocked state.</a:t>
            </a:r>
          </a:p>
        </p:txBody>
      </p:sp>
      <p:pic>
        <p:nvPicPr>
          <p:cNvPr id="4098" name="Picture 2"/>
          <p:cNvPicPr>
            <a:picLocks noChangeAspect="1" noChangeArrowheads="1"/>
          </p:cNvPicPr>
          <p:nvPr/>
        </p:nvPicPr>
        <p:blipFill>
          <a:blip r:embed="rId2"/>
          <a:srcRect/>
          <a:stretch>
            <a:fillRect/>
          </a:stretch>
        </p:blipFill>
        <p:spPr bwMode="auto">
          <a:xfrm>
            <a:off x="0" y="142852"/>
            <a:ext cx="9144000" cy="22002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099" name="Picture 3"/>
          <p:cNvPicPr>
            <a:picLocks noChangeAspect="1" noChangeArrowheads="1"/>
          </p:cNvPicPr>
          <p:nvPr/>
        </p:nvPicPr>
        <p:blipFill>
          <a:blip r:embed="rId3"/>
          <a:srcRect/>
          <a:stretch>
            <a:fillRect/>
          </a:stretch>
        </p:blipFill>
        <p:spPr bwMode="auto">
          <a:xfrm>
            <a:off x="0" y="3357562"/>
            <a:ext cx="9144000" cy="22145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srcRect/>
          <a:stretch>
            <a:fillRect/>
          </a:stretch>
        </p:blipFill>
        <p:spPr bwMode="auto">
          <a:xfrm>
            <a:off x="0" y="0"/>
            <a:ext cx="4929190"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124" name="Picture 4"/>
          <p:cNvPicPr>
            <a:picLocks noChangeAspect="1" noChangeArrowheads="1"/>
          </p:cNvPicPr>
          <p:nvPr/>
        </p:nvPicPr>
        <p:blipFill>
          <a:blip r:embed="rId3"/>
          <a:srcRect/>
          <a:stretch>
            <a:fillRect/>
          </a:stretch>
        </p:blipFill>
        <p:spPr bwMode="auto">
          <a:xfrm>
            <a:off x="5000628" y="0"/>
            <a:ext cx="4143372"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descr="Fig05_06.gif"/>
          <p:cNvPicPr>
            <a:picLocks noGrp="1" noChangeAspect="1"/>
          </p:cNvPicPr>
          <p:nvPr>
            <p:ph idx="1"/>
          </p:nvPr>
        </p:nvPicPr>
        <p:blipFill>
          <a:blip r:embed="rId2"/>
          <a:srcRect/>
          <a:stretch>
            <a:fillRect/>
          </a:stretch>
        </p:blipFill>
        <p:spPr>
          <a:xfrm>
            <a:off x="-32" y="785794"/>
            <a:ext cx="9072594" cy="55721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Slide Number Placeholder 5"/>
          <p:cNvSpPr>
            <a:spLocks noGrp="1"/>
          </p:cNvSpPr>
          <p:nvPr>
            <p:ph type="sldNum" sz="quarter" idx="12"/>
          </p:nvPr>
        </p:nvSpPr>
        <p:spPr/>
        <p:txBody>
          <a:bodyPr/>
          <a:lstStyle/>
          <a:p>
            <a:fld id="{8721AD9F-4A2E-478F-ACDB-FC9429174183}" type="slidenum">
              <a:rPr lang="en-GB" smtClean="0"/>
              <a:pPr/>
              <a:t>24</a:t>
            </a:fld>
            <a:endParaRPr lang="en-GB"/>
          </a:p>
        </p:txBody>
      </p:sp>
      <p:sp>
        <p:nvSpPr>
          <p:cNvPr id="7" name="Title 1"/>
          <p:cNvSpPr txBox="1">
            <a:spLocks/>
          </p:cNvSpPr>
          <p:nvPr/>
        </p:nvSpPr>
        <p:spPr>
          <a:xfrm>
            <a:off x="2500298" y="71414"/>
            <a:ext cx="4929222" cy="42862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200" b="1" dirty="0">
                <a:solidFill>
                  <a:schemeClr val="bg1"/>
                </a:solidFill>
                <a:effectLst>
                  <a:outerShdw blurRad="38100" dist="38100" dir="2700000" algn="tl">
                    <a:srgbClr val="000000">
                      <a:alpha val="43137"/>
                    </a:srgbClr>
                  </a:outerShdw>
                </a:effectLst>
                <a:latin typeface="+mj-lt"/>
              </a:rPr>
              <a:t>Mutual Exclusion Using Semaphore</a:t>
            </a:r>
            <a:endParaRPr kumimoji="0" lang="en-GB" sz="22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mj-lt"/>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2"/>
          <p:cNvPicPr>
            <a:picLocks noChangeAspect="1" noChangeArrowheads="1"/>
          </p:cNvPicPr>
          <p:nvPr/>
        </p:nvPicPr>
        <p:blipFill>
          <a:blip r:embed="rId3"/>
          <a:srcRect/>
          <a:stretch>
            <a:fillRect/>
          </a:stretch>
        </p:blipFill>
        <p:spPr bwMode="auto">
          <a:xfrm>
            <a:off x="0" y="571504"/>
            <a:ext cx="9144000" cy="62865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Slide Number Placeholder 3"/>
          <p:cNvSpPr>
            <a:spLocks noGrp="1"/>
          </p:cNvSpPr>
          <p:nvPr>
            <p:ph type="sldNum" sz="quarter" idx="12"/>
          </p:nvPr>
        </p:nvSpPr>
        <p:spPr/>
        <p:txBody>
          <a:bodyPr/>
          <a:lstStyle/>
          <a:p>
            <a:fld id="{8721AD9F-4A2E-478F-ACDB-FC9429174183}" type="slidenum">
              <a:rPr lang="en-GB" smtClean="0"/>
              <a:pPr/>
              <a:t>25</a:t>
            </a:fld>
            <a:endParaRPr lang="en-GB"/>
          </a:p>
        </p:txBody>
      </p:sp>
      <p:sp>
        <p:nvSpPr>
          <p:cNvPr id="6" name="Rectangle 5"/>
          <p:cNvSpPr/>
          <p:nvPr/>
        </p:nvSpPr>
        <p:spPr>
          <a:xfrm>
            <a:off x="642910" y="0"/>
            <a:ext cx="7429552" cy="43088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r>
              <a:rPr lang="en-US" sz="2200" b="1" dirty="0">
                <a:effectLst>
                  <a:outerShdw blurRad="38100" dist="38100" dir="2700000" algn="tl">
                    <a:srgbClr val="000000">
                      <a:alpha val="43137"/>
                    </a:srgbClr>
                  </a:outerShdw>
                </a:effectLst>
                <a:latin typeface="+mj-lt"/>
              </a:rPr>
              <a:t>Processes Accessing Shared Data Protected by a Semaphore</a:t>
            </a:r>
            <a:endParaRPr lang="en-US" sz="2200" dirty="0">
              <a:effectLst>
                <a:outerShdw blurRad="38100" dist="38100" dir="2700000" algn="tl">
                  <a:srgbClr val="000000">
                    <a:alpha val="43137"/>
                  </a:srgbClr>
                </a:outerShdw>
              </a:effectLst>
              <a:latin typeface="+mj-lt"/>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498C8-C46E-5645-CC04-846B743ED00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13AE53-2B32-7333-EA79-428D4A732DC8}"/>
              </a:ext>
            </a:extLst>
          </p:cNvPr>
          <p:cNvSpPr>
            <a:spLocks noGrp="1"/>
          </p:cNvSpPr>
          <p:nvPr>
            <p:ph idx="1"/>
          </p:nvPr>
        </p:nvSpPr>
        <p:spPr>
          <a:xfrm>
            <a:off x="428567" y="836712"/>
            <a:ext cx="6643734" cy="4500594"/>
          </a:xfrm>
        </p:spPr>
        <p:style>
          <a:lnRef idx="2">
            <a:schemeClr val="accent5"/>
          </a:lnRef>
          <a:fillRef idx="1">
            <a:schemeClr val="lt1"/>
          </a:fillRef>
          <a:effectRef idx="0">
            <a:schemeClr val="accent5"/>
          </a:effectRef>
          <a:fontRef idx="minor">
            <a:schemeClr val="dk1"/>
          </a:fontRef>
        </p:style>
        <p:txBody>
          <a:bodyPr>
            <a:normAutofit/>
          </a:bodyPr>
          <a:lstStyle/>
          <a:p>
            <a:pPr>
              <a:buClr>
                <a:schemeClr val="accent5">
                  <a:lumMod val="75000"/>
                </a:schemeClr>
              </a:buClr>
              <a:defRPr/>
            </a:pPr>
            <a:endParaRPr lang="en-NZ" b="1" dirty="0">
              <a:solidFill>
                <a:schemeClr val="accent1">
                  <a:lumMod val="75000"/>
                </a:schemeClr>
              </a:solidFill>
              <a:latin typeface="Calibri" pitchFamily="34" charset="0"/>
            </a:endParaRPr>
          </a:p>
          <a:p>
            <a:pPr>
              <a:buClr>
                <a:schemeClr val="accent5">
                  <a:lumMod val="75000"/>
                </a:schemeClr>
              </a:buClr>
              <a:defRPr/>
            </a:pPr>
            <a:r>
              <a:rPr lang="en-NZ" dirty="0">
                <a:solidFill>
                  <a:schemeClr val="tx1"/>
                </a:solidFill>
                <a:latin typeface="Calibri" pitchFamily="34" charset="0"/>
              </a:rPr>
              <a:t>Key terms</a:t>
            </a:r>
          </a:p>
          <a:p>
            <a:pPr>
              <a:buClr>
                <a:schemeClr val="accent5">
                  <a:lumMod val="75000"/>
                </a:schemeClr>
              </a:buClr>
              <a:defRPr/>
            </a:pPr>
            <a:r>
              <a:rPr lang="en-NZ" dirty="0">
                <a:solidFill>
                  <a:schemeClr val="tx1"/>
                </a:solidFill>
                <a:latin typeface="Calibri" pitchFamily="34" charset="0"/>
              </a:rPr>
              <a:t>Principles of concurrency :</a:t>
            </a:r>
          </a:p>
          <a:p>
            <a:pPr>
              <a:buClr>
                <a:schemeClr val="accent5">
                  <a:lumMod val="75000"/>
                </a:schemeClr>
              </a:buClr>
              <a:defRPr/>
            </a:pPr>
            <a:r>
              <a:rPr lang="en-NZ" dirty="0">
                <a:solidFill>
                  <a:schemeClr val="tx1"/>
                </a:solidFill>
                <a:latin typeface="Calibri" pitchFamily="34" charset="0"/>
              </a:rPr>
              <a:t>Requirement of mutual exclusion</a:t>
            </a:r>
          </a:p>
          <a:p>
            <a:pPr>
              <a:buClr>
                <a:schemeClr val="accent5">
                  <a:lumMod val="75000"/>
                </a:schemeClr>
              </a:buClr>
              <a:defRPr/>
            </a:pPr>
            <a:r>
              <a:rPr lang="en-NZ" dirty="0">
                <a:solidFill>
                  <a:schemeClr val="tx1"/>
                </a:solidFill>
                <a:latin typeface="Calibri" pitchFamily="34" charset="0"/>
              </a:rPr>
              <a:t>Semaphores</a:t>
            </a:r>
          </a:p>
          <a:p>
            <a:pPr>
              <a:buClr>
                <a:schemeClr val="accent5">
                  <a:lumMod val="75000"/>
                </a:schemeClr>
              </a:buClr>
              <a:defRPr/>
            </a:pPr>
            <a:r>
              <a:rPr lang="en-NZ" b="1" dirty="0">
                <a:solidFill>
                  <a:schemeClr val="accent1"/>
                </a:solidFill>
                <a:latin typeface="Calibri" pitchFamily="34" charset="0"/>
              </a:rPr>
              <a:t>Producer Consumer Problem</a:t>
            </a:r>
          </a:p>
          <a:p>
            <a:pPr>
              <a:buClr>
                <a:schemeClr val="accent5">
                  <a:lumMod val="75000"/>
                </a:schemeClr>
              </a:buClr>
              <a:defRPr/>
            </a:pPr>
            <a:r>
              <a:rPr lang="en-NZ" dirty="0">
                <a:solidFill>
                  <a:schemeClr val="tx1"/>
                </a:solidFill>
                <a:latin typeface="Calibri" pitchFamily="34" charset="0"/>
              </a:rPr>
              <a:t>Readers- Writers Problem</a:t>
            </a:r>
          </a:p>
          <a:p>
            <a:pPr>
              <a:buClr>
                <a:schemeClr val="accent5">
                  <a:lumMod val="75000"/>
                </a:schemeClr>
              </a:buClr>
              <a:defRPr/>
            </a:pPr>
            <a:endParaRPr lang="en-NZ" b="1" dirty="0">
              <a:solidFill>
                <a:schemeClr val="accent1"/>
              </a:solidFill>
              <a:latin typeface="Calibri" pitchFamily="34" charset="0"/>
            </a:endParaRPr>
          </a:p>
          <a:p>
            <a:pPr>
              <a:buClr>
                <a:schemeClr val="accent5">
                  <a:lumMod val="75000"/>
                </a:schemeClr>
              </a:buClr>
              <a:defRPr/>
            </a:pPr>
            <a:endParaRPr lang="en-NZ" b="1" dirty="0">
              <a:solidFill>
                <a:schemeClr val="accent1"/>
              </a:solidFill>
              <a:latin typeface="Calibri" pitchFamily="34" charset="0"/>
            </a:endParaRPr>
          </a:p>
          <a:p>
            <a:pPr>
              <a:buClr>
                <a:schemeClr val="accent5">
                  <a:lumMod val="75000"/>
                </a:schemeClr>
              </a:buClr>
              <a:defRPr/>
            </a:pPr>
            <a:endParaRPr lang="en-NZ" dirty="0">
              <a:latin typeface="Calibri" pitchFamily="34" charset="0"/>
            </a:endParaRPr>
          </a:p>
        </p:txBody>
      </p:sp>
      <p:sp>
        <p:nvSpPr>
          <p:cNvPr id="5" name="Slide Number Placeholder 4">
            <a:extLst>
              <a:ext uri="{FF2B5EF4-FFF2-40B4-BE49-F238E27FC236}">
                <a16:creationId xmlns:a16="http://schemas.microsoft.com/office/drawing/2014/main" id="{44922EE8-B873-DCCA-598C-6C6C9966C1F5}"/>
              </a:ext>
            </a:extLst>
          </p:cNvPr>
          <p:cNvSpPr>
            <a:spLocks noGrp="1"/>
          </p:cNvSpPr>
          <p:nvPr>
            <p:ph type="sldNum" sz="quarter" idx="12"/>
          </p:nvPr>
        </p:nvSpPr>
        <p:spPr/>
        <p:txBody>
          <a:bodyPr/>
          <a:lstStyle/>
          <a:p>
            <a:fld id="{8721AD9F-4A2E-478F-ACDB-FC9429174183}" type="slidenum">
              <a:rPr lang="en-GB" smtClean="0"/>
              <a:pPr/>
              <a:t>26</a:t>
            </a:fld>
            <a:endParaRPr lang="en-GB"/>
          </a:p>
        </p:txBody>
      </p:sp>
      <p:sp>
        <p:nvSpPr>
          <p:cNvPr id="4" name="Title 1">
            <a:extLst>
              <a:ext uri="{FF2B5EF4-FFF2-40B4-BE49-F238E27FC236}">
                <a16:creationId xmlns:a16="http://schemas.microsoft.com/office/drawing/2014/main" id="{55B92707-4341-E989-AC0D-CF88301B1E0C}"/>
              </a:ext>
            </a:extLst>
          </p:cNvPr>
          <p:cNvSpPr txBox="1">
            <a:spLocks/>
          </p:cNvSpPr>
          <p:nvPr/>
        </p:nvSpPr>
        <p:spPr>
          <a:xfrm>
            <a:off x="1142976" y="71422"/>
            <a:ext cx="6072230" cy="50005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solidFill>
                  <a:schemeClr val="bg1">
                    <a:lumMod val="95000"/>
                  </a:schemeClr>
                </a:solidFill>
                <a:effectLst>
                  <a:outerShdw blurRad="38100" dist="38100" dir="2700000" algn="tl">
                    <a:srgbClr val="000000">
                      <a:alpha val="43137"/>
                    </a:srgbClr>
                  </a:outerShdw>
                </a:effectLst>
                <a:latin typeface="+mj-lt"/>
              </a:rPr>
              <a:t>ROADMAP - Concurrency</a:t>
            </a:r>
            <a:endParaRPr kumimoji="0" lang="en-GB" sz="2800" b="1" i="0" u="none" strike="noStrike" kern="1200" cap="none" spc="0" normalizeH="0" baseline="0" noProof="0" dirty="0">
              <a:ln>
                <a:noFill/>
              </a:ln>
              <a:solidFill>
                <a:schemeClr val="bg1">
                  <a:lumMod val="95000"/>
                </a:schemeClr>
              </a:solidFill>
              <a:effectLst>
                <a:outerShdw blurRad="38100" dist="38100" dir="2700000" algn="tl">
                  <a:srgbClr val="000000">
                    <a:alpha val="43137"/>
                  </a:srgbClr>
                </a:outerShdw>
              </a:effectLst>
              <a:uLnTx/>
              <a:uFillTx/>
              <a:latin typeface="+mj-lt"/>
              <a:ea typeface="+mn-ea"/>
              <a:cs typeface="+mn-cs"/>
            </a:endParaRPr>
          </a:p>
        </p:txBody>
      </p:sp>
      <p:sp>
        <p:nvSpPr>
          <p:cNvPr id="6" name="Right Arrow 5">
            <a:extLst>
              <a:ext uri="{FF2B5EF4-FFF2-40B4-BE49-F238E27FC236}">
                <a16:creationId xmlns:a16="http://schemas.microsoft.com/office/drawing/2014/main" id="{EB11C445-0584-D853-BCAF-605DC319FDDF}"/>
              </a:ext>
            </a:extLst>
          </p:cNvPr>
          <p:cNvSpPr/>
          <p:nvPr/>
        </p:nvSpPr>
        <p:spPr>
          <a:xfrm>
            <a:off x="249972" y="3933056"/>
            <a:ext cx="357190" cy="285752"/>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tx1"/>
              </a:solidFill>
            </a:endParaRPr>
          </a:p>
        </p:txBody>
      </p:sp>
      <p:pic>
        <p:nvPicPr>
          <p:cNvPr id="1026" name="Picture 2" descr="E:\gp image\stick_figures_walking_talking_md_wm.gif">
            <a:extLst>
              <a:ext uri="{FF2B5EF4-FFF2-40B4-BE49-F238E27FC236}">
                <a16:creationId xmlns:a16="http://schemas.microsoft.com/office/drawing/2014/main" id="{4202DFC6-16B8-5D4B-0995-AEB3FF803AA5}"/>
              </a:ext>
            </a:extLst>
          </p:cNvPr>
          <p:cNvPicPr>
            <a:picLocks noChangeAspect="1" noChangeArrowheads="1" noCrop="1"/>
          </p:cNvPicPr>
          <p:nvPr/>
        </p:nvPicPr>
        <p:blipFill>
          <a:blip r:embed="rId3"/>
          <a:srcRect/>
          <a:stretch>
            <a:fillRect/>
          </a:stretch>
        </p:blipFill>
        <p:spPr bwMode="auto">
          <a:xfrm>
            <a:off x="7119970" y="1928802"/>
            <a:ext cx="1738310" cy="1738310"/>
          </a:xfrm>
          <a:prstGeom prst="rect">
            <a:avLst/>
          </a:prstGeom>
          <a:noFill/>
        </p:spPr>
      </p:pic>
    </p:spTree>
    <p:extLst>
      <p:ext uri="{BB962C8B-B14F-4D97-AF65-F5344CB8AC3E}">
        <p14:creationId xmlns:p14="http://schemas.microsoft.com/office/powerpoint/2010/main" val="292033767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406" y="642919"/>
            <a:ext cx="9001156" cy="495520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Font typeface="Arial" pitchFamily="34" charset="0"/>
              <a:buChar char="•"/>
            </a:pPr>
            <a:r>
              <a:rPr lang="en-US" sz="2000" dirty="0">
                <a:latin typeface="Calibri" pitchFamily="34" charset="0"/>
              </a:rPr>
              <a:t>We now examine one of the most common problems faced in concurrent </a:t>
            </a:r>
          </a:p>
          <a:p>
            <a:r>
              <a:rPr lang="en-US" sz="2000" dirty="0">
                <a:latin typeface="Calibri" pitchFamily="34" charset="0"/>
              </a:rPr>
              <a:t>  processing: the producer/consumer problem</a:t>
            </a:r>
            <a:endParaRPr lang="en-NZ" sz="2000" dirty="0">
              <a:latin typeface="Calibri" pitchFamily="34" charset="0"/>
              <a:cs typeface="Calibri" pitchFamily="34" charset="0"/>
            </a:endParaRPr>
          </a:p>
          <a:p>
            <a:pPr>
              <a:buFont typeface="Arial" pitchFamily="34" charset="0"/>
              <a:buChar char="•"/>
            </a:pPr>
            <a:r>
              <a:rPr lang="en-NZ" sz="2000" dirty="0">
                <a:latin typeface="Calibri" pitchFamily="34" charset="0"/>
                <a:cs typeface="Calibri" pitchFamily="34" charset="0"/>
              </a:rPr>
              <a:t>The general statement is this: </a:t>
            </a:r>
          </a:p>
          <a:p>
            <a:pPr lvl="1">
              <a:buFontTx/>
              <a:buChar char="•"/>
            </a:pPr>
            <a:r>
              <a:rPr lang="en-NZ" sz="2000" dirty="0">
                <a:latin typeface="Calibri" pitchFamily="34" charset="0"/>
                <a:cs typeface="Calibri" pitchFamily="34" charset="0"/>
              </a:rPr>
              <a:t> There are one or more producers generating some type of data and placing </a:t>
            </a:r>
          </a:p>
          <a:p>
            <a:pPr lvl="1"/>
            <a:r>
              <a:rPr lang="en-NZ" sz="2000" dirty="0">
                <a:latin typeface="Calibri" pitchFamily="34" charset="0"/>
                <a:cs typeface="Calibri" pitchFamily="34" charset="0"/>
              </a:rPr>
              <a:t>    these in a buffer.</a:t>
            </a:r>
          </a:p>
          <a:p>
            <a:pPr lvl="1">
              <a:buFontTx/>
              <a:buChar char="•"/>
            </a:pPr>
            <a:r>
              <a:rPr lang="en-NZ" sz="2000" dirty="0">
                <a:latin typeface="Calibri" pitchFamily="34" charset="0"/>
                <a:cs typeface="Calibri" pitchFamily="34" charset="0"/>
              </a:rPr>
              <a:t> There is a single consumer that is taking items out of the buffer one at a time.</a:t>
            </a:r>
          </a:p>
          <a:p>
            <a:pPr lvl="1">
              <a:buFontTx/>
              <a:buChar char="•"/>
            </a:pPr>
            <a:r>
              <a:rPr lang="en-NZ" sz="2000" dirty="0">
                <a:latin typeface="Calibri" pitchFamily="34" charset="0"/>
                <a:cs typeface="Calibri" pitchFamily="34" charset="0"/>
              </a:rPr>
              <a:t> The system is to be constrained to prevent the overlap of buffer operations. </a:t>
            </a:r>
          </a:p>
          <a:p>
            <a:pPr lvl="1">
              <a:buFontTx/>
              <a:buChar char="•"/>
            </a:pPr>
            <a:r>
              <a:rPr lang="en-NZ" sz="2000" dirty="0">
                <a:latin typeface="Calibri" pitchFamily="34" charset="0"/>
                <a:cs typeface="Calibri" pitchFamily="34" charset="0"/>
              </a:rPr>
              <a:t>That is, only one agent (producer or consumer) may access the buffer at any </a:t>
            </a:r>
          </a:p>
          <a:p>
            <a:pPr lvl="1"/>
            <a:r>
              <a:rPr lang="en-NZ" sz="2000" dirty="0">
                <a:latin typeface="Calibri" pitchFamily="34" charset="0"/>
                <a:cs typeface="Calibri" pitchFamily="34" charset="0"/>
              </a:rPr>
              <a:t>   one time. </a:t>
            </a:r>
          </a:p>
          <a:p>
            <a:pPr>
              <a:buFont typeface="Arial" pitchFamily="34" charset="0"/>
              <a:buChar char="•"/>
            </a:pPr>
            <a:r>
              <a:rPr lang="en-NZ" sz="2000" dirty="0">
                <a:latin typeface="Calibri" pitchFamily="34" charset="0"/>
                <a:cs typeface="Calibri" pitchFamily="34" charset="0"/>
              </a:rPr>
              <a:t> </a:t>
            </a:r>
            <a:r>
              <a:rPr lang="en-US" dirty="0">
                <a:latin typeface="Calibri" pitchFamily="34" charset="0"/>
                <a:cs typeface="Calibri" pitchFamily="34" charset="0"/>
              </a:rPr>
              <a:t>The Problem:</a:t>
            </a:r>
          </a:p>
          <a:p>
            <a:pPr lvl="1">
              <a:buFont typeface="Arial" pitchFamily="34" charset="0"/>
              <a:buChar char="•"/>
            </a:pPr>
            <a:r>
              <a:rPr lang="en-US" dirty="0">
                <a:latin typeface="Calibri" pitchFamily="34" charset="0"/>
                <a:cs typeface="Calibri" pitchFamily="34" charset="0"/>
              </a:rPr>
              <a:t> Ensure that the Producer can’t add data into full buffer and consumer can’t remove data </a:t>
            </a:r>
          </a:p>
          <a:p>
            <a:pPr lvl="1"/>
            <a:r>
              <a:rPr lang="en-US" dirty="0">
                <a:latin typeface="Calibri" pitchFamily="34" charset="0"/>
                <a:cs typeface="Calibri" pitchFamily="34" charset="0"/>
              </a:rPr>
              <a:t>   from empty buffer</a:t>
            </a:r>
          </a:p>
          <a:p>
            <a:r>
              <a:rPr lang="en-NZ" sz="2000" dirty="0">
                <a:latin typeface="Calibri" pitchFamily="34" charset="0"/>
                <a:cs typeface="Calibri" pitchFamily="34" charset="0"/>
              </a:rPr>
              <a:t> </a:t>
            </a:r>
          </a:p>
          <a:p>
            <a:pPr>
              <a:buFont typeface="Arial" pitchFamily="34" charset="0"/>
              <a:buChar char="•"/>
            </a:pPr>
            <a:r>
              <a:rPr lang="en-NZ" sz="2000" dirty="0">
                <a:latin typeface="Calibri" pitchFamily="34" charset="0"/>
                <a:cs typeface="Calibri" pitchFamily="34" charset="0"/>
              </a:rPr>
              <a:t>We will look at a number of solutions to this problem to illustrate both the power </a:t>
            </a:r>
          </a:p>
          <a:p>
            <a:r>
              <a:rPr lang="en-NZ" sz="2000" dirty="0">
                <a:latin typeface="Calibri" pitchFamily="34" charset="0"/>
                <a:cs typeface="Calibri" pitchFamily="34" charset="0"/>
              </a:rPr>
              <a:t>   and the pitfalls of semaphores.</a:t>
            </a:r>
          </a:p>
          <a:p>
            <a:pPr>
              <a:buFont typeface="Arial" pitchFamily="34" charset="0"/>
              <a:buChar char="•"/>
            </a:pPr>
            <a:endParaRPr lang="en-US" sz="2000" dirty="0">
              <a:latin typeface="Calibri" pitchFamily="34" charset="0"/>
              <a:cs typeface="Calibri" pitchFamily="34" charset="0"/>
            </a:endParaRPr>
          </a:p>
        </p:txBody>
      </p:sp>
      <p:sp>
        <p:nvSpPr>
          <p:cNvPr id="6" name="Slide Number Placeholder 5"/>
          <p:cNvSpPr>
            <a:spLocks noGrp="1"/>
          </p:cNvSpPr>
          <p:nvPr>
            <p:ph type="sldNum" sz="quarter" idx="12"/>
          </p:nvPr>
        </p:nvSpPr>
        <p:spPr/>
        <p:txBody>
          <a:bodyPr/>
          <a:lstStyle/>
          <a:p>
            <a:fld id="{8721AD9F-4A2E-478F-ACDB-FC9429174183}" type="slidenum">
              <a:rPr lang="en-GB" smtClean="0"/>
              <a:pPr/>
              <a:t>27</a:t>
            </a:fld>
            <a:endParaRPr lang="en-GB"/>
          </a:p>
        </p:txBody>
      </p:sp>
      <p:sp>
        <p:nvSpPr>
          <p:cNvPr id="7" name="Rectangle 6"/>
          <p:cNvSpPr/>
          <p:nvPr/>
        </p:nvSpPr>
        <p:spPr>
          <a:xfrm>
            <a:off x="642910" y="69155"/>
            <a:ext cx="7358114" cy="43088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algn="ctr"/>
            <a:r>
              <a:rPr lang="en-US" sz="2200" b="1" dirty="0">
                <a:effectLst>
                  <a:outerShdw blurRad="38100" dist="38100" dir="2700000" algn="tl">
                    <a:srgbClr val="000000">
                      <a:alpha val="43137"/>
                    </a:srgbClr>
                  </a:outerShdw>
                </a:effectLst>
                <a:latin typeface="+mj-lt"/>
              </a:rPr>
              <a:t>Producer/Consumer Problem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42910" y="69155"/>
            <a:ext cx="7358114" cy="43088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algn="ctr"/>
            <a:r>
              <a:rPr lang="en-US" sz="2200" b="1" dirty="0">
                <a:effectLst>
                  <a:outerShdw blurRad="38100" dist="38100" dir="2700000" algn="tl">
                    <a:srgbClr val="000000">
                      <a:alpha val="43137"/>
                    </a:srgbClr>
                  </a:outerShdw>
                </a:effectLst>
                <a:latin typeface="+mj-lt"/>
              </a:rPr>
              <a:t>Producer/Consumer Problem</a:t>
            </a:r>
          </a:p>
        </p:txBody>
      </p:sp>
      <p:sp>
        <p:nvSpPr>
          <p:cNvPr id="6" name="Rectangle 5"/>
          <p:cNvSpPr/>
          <p:nvPr/>
        </p:nvSpPr>
        <p:spPr>
          <a:xfrm>
            <a:off x="0" y="642918"/>
            <a:ext cx="9144000" cy="83715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42900" indent="-342900" eaLnBrk="0" hangingPunct="0">
              <a:spcBef>
                <a:spcPct val="20000"/>
              </a:spcBef>
              <a:buFont typeface="Arial" charset="0"/>
              <a:buChar char="•"/>
              <a:defRPr/>
            </a:pPr>
            <a:r>
              <a:rPr lang="en-US" sz="2200" dirty="0">
                <a:latin typeface="Calibri" pitchFamily="34" charset="0"/>
              </a:rPr>
              <a:t>Assume an infinite buffer </a:t>
            </a:r>
            <a:r>
              <a:rPr lang="en-US" sz="2200" b="1" i="1" dirty="0">
                <a:latin typeface="Calibri" pitchFamily="34" charset="0"/>
              </a:rPr>
              <a:t>b </a:t>
            </a:r>
            <a:r>
              <a:rPr lang="en-US" sz="2200" dirty="0">
                <a:latin typeface="Calibri" pitchFamily="34" charset="0"/>
              </a:rPr>
              <a:t>with a linear array of elements</a:t>
            </a:r>
          </a:p>
          <a:p>
            <a:pPr marL="342900" indent="-342900" eaLnBrk="0" hangingPunct="0">
              <a:spcBef>
                <a:spcPct val="20000"/>
              </a:spcBef>
              <a:buFont typeface="Arial" charset="0"/>
              <a:buChar char="•"/>
              <a:defRPr/>
            </a:pPr>
            <a:r>
              <a:rPr lang="en-US" sz="2200" dirty="0">
                <a:latin typeface="Calibri" pitchFamily="34" charset="0"/>
              </a:rPr>
              <a:t>In = last , out = first</a:t>
            </a:r>
          </a:p>
        </p:txBody>
      </p:sp>
      <p:pic>
        <p:nvPicPr>
          <p:cNvPr id="1026" name="Picture 2"/>
          <p:cNvPicPr>
            <a:picLocks noChangeAspect="1" noChangeArrowheads="1"/>
          </p:cNvPicPr>
          <p:nvPr/>
        </p:nvPicPr>
        <p:blipFill>
          <a:blip r:embed="rId2"/>
          <a:srcRect/>
          <a:stretch>
            <a:fillRect/>
          </a:stretch>
        </p:blipFill>
        <p:spPr bwMode="auto">
          <a:xfrm>
            <a:off x="142844" y="1714488"/>
            <a:ext cx="3929090" cy="41434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27" name="Picture 3"/>
          <p:cNvPicPr>
            <a:picLocks noChangeAspect="1" noChangeArrowheads="1"/>
          </p:cNvPicPr>
          <p:nvPr/>
        </p:nvPicPr>
        <p:blipFill>
          <a:blip r:embed="rId3"/>
          <a:srcRect/>
          <a:stretch>
            <a:fillRect/>
          </a:stretch>
        </p:blipFill>
        <p:spPr bwMode="auto">
          <a:xfrm>
            <a:off x="4286248" y="1643050"/>
            <a:ext cx="4714876" cy="42148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1438" y="4276090"/>
            <a:ext cx="9001156" cy="193899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Font typeface="Arial" pitchFamily="34" charset="0"/>
              <a:buChar char="•"/>
            </a:pPr>
            <a:r>
              <a:rPr lang="en-NZ" sz="2000" dirty="0">
                <a:latin typeface="Calibri" pitchFamily="34" charset="0"/>
                <a:cs typeface="Calibri" pitchFamily="34" charset="0"/>
              </a:rPr>
              <a:t>The producer can generate items and store them in the buffer at its own pace. </a:t>
            </a:r>
          </a:p>
          <a:p>
            <a:pPr lvl="1">
              <a:buFont typeface="Arial" pitchFamily="34" charset="0"/>
              <a:buChar char="•"/>
            </a:pPr>
            <a:r>
              <a:rPr lang="en-NZ" sz="2000" dirty="0">
                <a:latin typeface="Calibri" pitchFamily="34" charset="0"/>
                <a:cs typeface="Calibri" pitchFamily="34" charset="0"/>
              </a:rPr>
              <a:t>Each time, an index (in) into the buffer is incremented.</a:t>
            </a:r>
          </a:p>
          <a:p>
            <a:pPr>
              <a:buFont typeface="Arial" pitchFamily="34" charset="0"/>
              <a:buChar char="•"/>
            </a:pPr>
            <a:r>
              <a:rPr lang="en-NZ" sz="2000" dirty="0">
                <a:latin typeface="Calibri" pitchFamily="34" charset="0"/>
                <a:cs typeface="Calibri" pitchFamily="34" charset="0"/>
              </a:rPr>
              <a:t> The consumer proceeds in a similar fashion but must make sure that it does not </a:t>
            </a:r>
          </a:p>
          <a:p>
            <a:r>
              <a:rPr lang="en-NZ" sz="2000" dirty="0">
                <a:latin typeface="Calibri" pitchFamily="34" charset="0"/>
                <a:cs typeface="Calibri" pitchFamily="34" charset="0"/>
              </a:rPr>
              <a:t>  attempt to read from an empty buffer.</a:t>
            </a:r>
          </a:p>
          <a:p>
            <a:pPr>
              <a:buFont typeface="Arial" pitchFamily="34" charset="0"/>
              <a:buChar char="•"/>
            </a:pPr>
            <a:r>
              <a:rPr lang="en-US" sz="2000" dirty="0">
                <a:latin typeface="Calibri" pitchFamily="34" charset="0"/>
              </a:rPr>
              <a:t>Hence, consumer makes sure that the producer has advanced beyond it </a:t>
            </a:r>
          </a:p>
          <a:p>
            <a:r>
              <a:rPr lang="en-US" sz="2000" dirty="0">
                <a:latin typeface="Calibri" pitchFamily="34" charset="0"/>
              </a:rPr>
              <a:t>  (</a:t>
            </a:r>
            <a:r>
              <a:rPr lang="en-US" sz="2000" i="1" dirty="0">
                <a:latin typeface="Calibri" pitchFamily="34" charset="0"/>
              </a:rPr>
              <a:t>in &gt; out) before </a:t>
            </a:r>
            <a:r>
              <a:rPr lang="en-US" sz="2000" dirty="0">
                <a:latin typeface="Calibri" pitchFamily="34" charset="0"/>
              </a:rPr>
              <a:t>proceeding.</a:t>
            </a:r>
            <a:endParaRPr lang="en-NZ" sz="2000" dirty="0">
              <a:latin typeface="Calibri" pitchFamily="34" charset="0"/>
              <a:cs typeface="Calibri" pitchFamily="34" charset="0"/>
            </a:endParaRPr>
          </a:p>
        </p:txBody>
      </p:sp>
      <p:sp>
        <p:nvSpPr>
          <p:cNvPr id="5" name="Slide Number Placeholder 4"/>
          <p:cNvSpPr>
            <a:spLocks noGrp="1"/>
          </p:cNvSpPr>
          <p:nvPr>
            <p:ph type="sldNum" sz="quarter" idx="12"/>
          </p:nvPr>
        </p:nvSpPr>
        <p:spPr/>
        <p:txBody>
          <a:bodyPr/>
          <a:lstStyle/>
          <a:p>
            <a:fld id="{8721AD9F-4A2E-478F-ACDB-FC9429174183}" type="slidenum">
              <a:rPr lang="en-GB" smtClean="0"/>
              <a:pPr/>
              <a:t>29</a:t>
            </a:fld>
            <a:endParaRPr lang="en-GB"/>
          </a:p>
        </p:txBody>
      </p:sp>
      <p:pic>
        <p:nvPicPr>
          <p:cNvPr id="2050" name="Picture 2"/>
          <p:cNvPicPr>
            <a:picLocks noChangeAspect="1" noChangeArrowheads="1"/>
          </p:cNvPicPr>
          <p:nvPr/>
        </p:nvPicPr>
        <p:blipFill>
          <a:blip r:embed="rId3"/>
          <a:srcRect/>
          <a:stretch>
            <a:fillRect/>
          </a:stretch>
        </p:blipFill>
        <p:spPr bwMode="auto">
          <a:xfrm>
            <a:off x="71406" y="642918"/>
            <a:ext cx="9001188" cy="35004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angle 8"/>
          <p:cNvSpPr/>
          <p:nvPr/>
        </p:nvSpPr>
        <p:spPr>
          <a:xfrm>
            <a:off x="642910" y="69155"/>
            <a:ext cx="7358114" cy="43088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algn="ctr"/>
            <a:r>
              <a:rPr lang="en-US" sz="2200" b="1" dirty="0">
                <a:effectLst>
                  <a:outerShdw blurRad="38100" dist="38100" dir="2700000" algn="tl">
                    <a:srgbClr val="000000">
                      <a:alpha val="43137"/>
                    </a:srgbClr>
                  </a:outerShdw>
                </a:effectLst>
                <a:latin typeface="+mj-lt"/>
              </a:rPr>
              <a:t>Buffer</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721AD9F-4A2E-478F-ACDB-FC9429174183}" type="slidenum">
              <a:rPr lang="en-GB" smtClean="0"/>
              <a:pPr/>
              <a:t>30</a:t>
            </a:fld>
            <a:endParaRPr lang="en-GB"/>
          </a:p>
        </p:txBody>
      </p:sp>
      <p:sp>
        <p:nvSpPr>
          <p:cNvPr id="5" name="Rectangle 4"/>
          <p:cNvSpPr/>
          <p:nvPr/>
        </p:nvSpPr>
        <p:spPr>
          <a:xfrm>
            <a:off x="0" y="1"/>
            <a:ext cx="3357554" cy="369332"/>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algn="ctr"/>
            <a:r>
              <a:rPr lang="en-US" b="1" dirty="0">
                <a:effectLst>
                  <a:outerShdw blurRad="38100" dist="38100" dir="2700000" algn="tl">
                    <a:srgbClr val="000000">
                      <a:alpha val="43137"/>
                    </a:srgbClr>
                  </a:outerShdw>
                </a:effectLst>
                <a:latin typeface="+mj-lt"/>
              </a:rPr>
              <a:t>Solution Using semaphores </a:t>
            </a:r>
          </a:p>
        </p:txBody>
      </p:sp>
      <p:pic>
        <p:nvPicPr>
          <p:cNvPr id="1026" name="Picture 2"/>
          <p:cNvPicPr>
            <a:picLocks noChangeAspect="1" noChangeArrowheads="1"/>
          </p:cNvPicPr>
          <p:nvPr/>
        </p:nvPicPr>
        <p:blipFill>
          <a:blip r:embed="rId3"/>
          <a:srcRect/>
          <a:stretch>
            <a:fillRect/>
          </a:stretch>
        </p:blipFill>
        <p:spPr bwMode="auto">
          <a:xfrm>
            <a:off x="0" y="928670"/>
            <a:ext cx="9144000" cy="59293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06" y="642918"/>
            <a:ext cx="9072594" cy="5643602"/>
          </a:xfrm>
        </p:spPr>
        <p:style>
          <a:lnRef idx="2">
            <a:schemeClr val="accent5"/>
          </a:lnRef>
          <a:fillRef idx="1">
            <a:schemeClr val="lt1"/>
          </a:fillRef>
          <a:effectRef idx="0">
            <a:schemeClr val="accent5"/>
          </a:effectRef>
          <a:fontRef idx="minor">
            <a:schemeClr val="dk1"/>
          </a:fontRef>
        </p:style>
        <p:txBody>
          <a:bodyPr>
            <a:normAutofit lnSpcReduction="10000"/>
          </a:bodyPr>
          <a:lstStyle/>
          <a:p>
            <a:r>
              <a:rPr lang="en-NZ" sz="2000" dirty="0">
                <a:latin typeface="Calibri" pitchFamily="34" charset="0"/>
                <a:cs typeface="Calibri" pitchFamily="34" charset="0"/>
              </a:rPr>
              <a:t>A somewhat cleaner solution can be obtained if general semaphores (also called counting semaphores) are used.</a:t>
            </a:r>
          </a:p>
          <a:p>
            <a:r>
              <a:rPr lang="en-NZ" sz="2000" dirty="0">
                <a:latin typeface="Calibri" pitchFamily="34" charset="0"/>
                <a:cs typeface="Calibri" pitchFamily="34" charset="0"/>
              </a:rPr>
              <a:t>The variable </a:t>
            </a:r>
            <a:r>
              <a:rPr lang="en-NZ" sz="2000" i="1" dirty="0">
                <a:latin typeface="Calibri" pitchFamily="34" charset="0"/>
                <a:cs typeface="Calibri" pitchFamily="34" charset="0"/>
              </a:rPr>
              <a:t>n </a:t>
            </a:r>
            <a:r>
              <a:rPr lang="en-NZ" sz="2000" dirty="0">
                <a:latin typeface="Calibri" pitchFamily="34" charset="0"/>
                <a:cs typeface="Calibri" pitchFamily="34" charset="0"/>
              </a:rPr>
              <a:t>is now a semaphore. </a:t>
            </a:r>
          </a:p>
          <a:p>
            <a:pPr lvl="1"/>
            <a:r>
              <a:rPr lang="en-NZ" sz="2000" dirty="0">
                <a:latin typeface="Calibri" pitchFamily="34" charset="0"/>
                <a:cs typeface="Calibri" pitchFamily="34" charset="0"/>
              </a:rPr>
              <a:t>Its value still is equal to the number of items in the buffer. </a:t>
            </a:r>
          </a:p>
          <a:p>
            <a:r>
              <a:rPr lang="en-NZ" sz="2000" dirty="0">
                <a:latin typeface="Calibri" pitchFamily="34" charset="0"/>
                <a:cs typeface="Calibri" pitchFamily="34" charset="0"/>
              </a:rPr>
              <a:t>Suppose now that in transcribing this program, a mistake is made and the operations </a:t>
            </a:r>
            <a:r>
              <a:rPr lang="en-NZ" sz="2000" i="1" dirty="0" err="1">
                <a:latin typeface="Calibri" pitchFamily="34" charset="0"/>
                <a:cs typeface="Calibri" pitchFamily="34" charset="0"/>
              </a:rPr>
              <a:t>semSignal</a:t>
            </a:r>
            <a:r>
              <a:rPr lang="en-NZ" sz="2000" i="1" dirty="0">
                <a:latin typeface="Calibri" pitchFamily="34" charset="0"/>
                <a:cs typeface="Calibri" pitchFamily="34" charset="0"/>
              </a:rPr>
              <a:t>(s)</a:t>
            </a:r>
            <a:r>
              <a:rPr lang="en-NZ" sz="2000" dirty="0">
                <a:latin typeface="Calibri" pitchFamily="34" charset="0"/>
                <a:cs typeface="Calibri" pitchFamily="34" charset="0"/>
              </a:rPr>
              <a:t> and </a:t>
            </a:r>
            <a:r>
              <a:rPr lang="en-NZ" sz="2000" i="1" dirty="0" err="1">
                <a:latin typeface="Calibri" pitchFamily="34" charset="0"/>
                <a:cs typeface="Calibri" pitchFamily="34" charset="0"/>
              </a:rPr>
              <a:t>semSignal</a:t>
            </a:r>
            <a:r>
              <a:rPr lang="en-NZ" sz="2000" i="1" dirty="0">
                <a:latin typeface="Calibri" pitchFamily="34" charset="0"/>
                <a:cs typeface="Calibri" pitchFamily="34" charset="0"/>
              </a:rPr>
              <a:t>(n) </a:t>
            </a:r>
            <a:r>
              <a:rPr lang="en-NZ" sz="2000" dirty="0">
                <a:latin typeface="Calibri" pitchFamily="34" charset="0"/>
                <a:cs typeface="Calibri" pitchFamily="34" charset="0"/>
              </a:rPr>
              <a:t>are interchanged.</a:t>
            </a:r>
          </a:p>
          <a:p>
            <a:pPr lvl="1"/>
            <a:r>
              <a:rPr lang="en-NZ" sz="2000" dirty="0">
                <a:latin typeface="Calibri" pitchFamily="34" charset="0"/>
                <a:cs typeface="Calibri" pitchFamily="34" charset="0"/>
              </a:rPr>
              <a:t>This would require that the </a:t>
            </a:r>
            <a:r>
              <a:rPr lang="en-NZ" sz="2000" i="1" dirty="0" err="1">
                <a:latin typeface="Calibri" pitchFamily="34" charset="0"/>
                <a:cs typeface="Calibri" pitchFamily="34" charset="0"/>
              </a:rPr>
              <a:t>semSignal</a:t>
            </a:r>
            <a:r>
              <a:rPr lang="en-NZ" sz="2000" i="1" dirty="0">
                <a:latin typeface="Calibri" pitchFamily="34" charset="0"/>
                <a:cs typeface="Calibri" pitchFamily="34" charset="0"/>
              </a:rPr>
              <a:t>(n) </a:t>
            </a:r>
            <a:r>
              <a:rPr lang="en-NZ" sz="2000" dirty="0">
                <a:latin typeface="Calibri" pitchFamily="34" charset="0"/>
                <a:cs typeface="Calibri" pitchFamily="34" charset="0"/>
              </a:rPr>
              <a:t>operation be performed in the producer’s critical section without interruption by the consumer or another producer.</a:t>
            </a:r>
          </a:p>
          <a:p>
            <a:r>
              <a:rPr lang="en-NZ" sz="2000" dirty="0">
                <a:latin typeface="Calibri" pitchFamily="34" charset="0"/>
                <a:cs typeface="Calibri" pitchFamily="34" charset="0"/>
              </a:rPr>
              <a:t>Would this affect the program?</a:t>
            </a:r>
          </a:p>
          <a:p>
            <a:pPr lvl="1"/>
            <a:r>
              <a:rPr lang="en-NZ" sz="2000" dirty="0">
                <a:latin typeface="Calibri" pitchFamily="34" charset="0"/>
                <a:cs typeface="Calibri" pitchFamily="34" charset="0"/>
              </a:rPr>
              <a:t>No, because the consumer must wait on both semaphores before proceeding in any case.</a:t>
            </a:r>
            <a:endParaRPr lang="en-US" sz="2000" dirty="0">
              <a:latin typeface="Calibri" pitchFamily="34" charset="0"/>
              <a:cs typeface="Calibri" pitchFamily="34" charset="0"/>
            </a:endParaRPr>
          </a:p>
          <a:p>
            <a:r>
              <a:rPr lang="en-US" sz="2000" b="1" dirty="0">
                <a:latin typeface="Calibri" pitchFamily="34" charset="0"/>
              </a:rPr>
              <a:t>Problem is: </a:t>
            </a:r>
          </a:p>
          <a:p>
            <a:r>
              <a:rPr lang="en-US" sz="2000" dirty="0">
                <a:latin typeface="Calibri" pitchFamily="34" charset="0"/>
              </a:rPr>
              <a:t>Suppose that the </a:t>
            </a:r>
            <a:r>
              <a:rPr lang="en-US" sz="2000" dirty="0" err="1">
                <a:latin typeface="Calibri" pitchFamily="34" charset="0"/>
              </a:rPr>
              <a:t>semWait</a:t>
            </a:r>
            <a:r>
              <a:rPr lang="en-US" sz="2000" dirty="0">
                <a:latin typeface="Calibri" pitchFamily="34" charset="0"/>
              </a:rPr>
              <a:t>(n) and </a:t>
            </a:r>
            <a:r>
              <a:rPr lang="en-US" sz="2000" dirty="0" err="1">
                <a:latin typeface="Calibri" pitchFamily="34" charset="0"/>
              </a:rPr>
              <a:t>semWait</a:t>
            </a:r>
            <a:r>
              <a:rPr lang="en-US" sz="2000" dirty="0">
                <a:latin typeface="Calibri" pitchFamily="34" charset="0"/>
              </a:rPr>
              <a:t>(s) operations are accidentally reversed. </a:t>
            </a:r>
          </a:p>
          <a:p>
            <a:r>
              <a:rPr lang="en-US" sz="2000" dirty="0">
                <a:latin typeface="Calibri" pitchFamily="34" charset="0"/>
              </a:rPr>
              <a:t>This means if the consumer ever enters its critical section when the buffer is empty (</a:t>
            </a:r>
            <a:r>
              <a:rPr lang="en-US" sz="2000" i="1" dirty="0" err="1">
                <a:latin typeface="Calibri" pitchFamily="34" charset="0"/>
              </a:rPr>
              <a:t>n.count</a:t>
            </a:r>
            <a:r>
              <a:rPr lang="en-US" sz="2000" i="1" dirty="0">
                <a:latin typeface="Calibri" pitchFamily="34" charset="0"/>
              </a:rPr>
              <a:t> = 0), then no producer </a:t>
            </a:r>
            <a:r>
              <a:rPr lang="en-US" sz="2000" dirty="0">
                <a:latin typeface="Calibri" pitchFamily="34" charset="0"/>
              </a:rPr>
              <a:t>can ever append to the buffer and the system is deadlocked.</a:t>
            </a:r>
            <a:endParaRPr lang="en-GB" sz="2000" dirty="0">
              <a:latin typeface="Calibri" pitchFamily="34" charset="0"/>
              <a:cs typeface="Calibri" pitchFamily="34" charset="0"/>
            </a:endParaRPr>
          </a:p>
        </p:txBody>
      </p:sp>
      <p:sp>
        <p:nvSpPr>
          <p:cNvPr id="4" name="Slide Number Placeholder 3"/>
          <p:cNvSpPr>
            <a:spLocks noGrp="1"/>
          </p:cNvSpPr>
          <p:nvPr>
            <p:ph type="sldNum" sz="quarter" idx="12"/>
          </p:nvPr>
        </p:nvSpPr>
        <p:spPr/>
        <p:txBody>
          <a:bodyPr/>
          <a:lstStyle/>
          <a:p>
            <a:fld id="{8721AD9F-4A2E-478F-ACDB-FC9429174183}" type="slidenum">
              <a:rPr lang="en-GB" smtClean="0"/>
              <a:pPr/>
              <a:t>31</a:t>
            </a:fld>
            <a:endParaRPr lang="en-GB"/>
          </a:p>
        </p:txBody>
      </p:sp>
      <p:sp>
        <p:nvSpPr>
          <p:cNvPr id="5" name="Rectangle 4"/>
          <p:cNvSpPr/>
          <p:nvPr/>
        </p:nvSpPr>
        <p:spPr>
          <a:xfrm>
            <a:off x="642910" y="-23"/>
            <a:ext cx="7358114" cy="43088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algn="ctr"/>
            <a:r>
              <a:rPr lang="en-US" sz="2200" b="1" dirty="0">
                <a:effectLst>
                  <a:outerShdw blurRad="38100" dist="38100" dir="2700000" algn="tl">
                    <a:srgbClr val="000000">
                      <a:alpha val="43137"/>
                    </a:srgbClr>
                  </a:outerShdw>
                </a:effectLst>
                <a:latin typeface="+mj-lt"/>
              </a:rPr>
              <a:t>Solution Using semaphores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71472" y="0"/>
            <a:ext cx="7358114" cy="43088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algn="ctr"/>
            <a:r>
              <a:rPr lang="en-US" sz="2200" b="1" dirty="0">
                <a:effectLst>
                  <a:outerShdw blurRad="38100" dist="38100" dir="2700000" algn="tl">
                    <a:srgbClr val="000000">
                      <a:alpha val="43137"/>
                    </a:srgbClr>
                  </a:outerShdw>
                </a:effectLst>
                <a:latin typeface="+mj-lt"/>
              </a:rPr>
              <a:t>Finite Circular Buffer / Bounded Buffer</a:t>
            </a:r>
          </a:p>
        </p:txBody>
      </p:sp>
      <p:sp>
        <p:nvSpPr>
          <p:cNvPr id="6" name="Rectangle 5"/>
          <p:cNvSpPr/>
          <p:nvPr/>
        </p:nvSpPr>
        <p:spPr>
          <a:xfrm>
            <a:off x="0" y="583338"/>
            <a:ext cx="9144000" cy="163121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Font typeface="Arial" pitchFamily="34" charset="0"/>
              <a:buChar char="•"/>
            </a:pPr>
            <a:r>
              <a:rPr lang="en-US" sz="2000" dirty="0">
                <a:latin typeface="Calibri" pitchFamily="34" charset="0"/>
              </a:rPr>
              <a:t>Finally, let us add a new and realistic restriction to the producer/consumer problem: </a:t>
            </a:r>
          </a:p>
          <a:p>
            <a:r>
              <a:rPr lang="en-US" sz="2000" dirty="0">
                <a:latin typeface="Calibri" pitchFamily="34" charset="0"/>
              </a:rPr>
              <a:t>  namely, that the buffer is finite. </a:t>
            </a:r>
          </a:p>
          <a:p>
            <a:pPr>
              <a:buFont typeface="Arial" pitchFamily="34" charset="0"/>
              <a:buChar char="•"/>
            </a:pPr>
            <a:r>
              <a:rPr lang="en-US" sz="2000" dirty="0">
                <a:latin typeface="Calibri" pitchFamily="34" charset="0"/>
              </a:rPr>
              <a:t>The buffer is treated as a circular storage (Figure 5.12), and pointer values must be expressed modulo the size of the buffer.</a:t>
            </a:r>
          </a:p>
          <a:p>
            <a:pPr>
              <a:buFont typeface="Arial" pitchFamily="34" charset="0"/>
              <a:buChar char="•"/>
            </a:pPr>
            <a:r>
              <a:rPr lang="en-US" sz="2000" dirty="0">
                <a:latin typeface="Calibri" pitchFamily="34" charset="0"/>
              </a:rPr>
              <a:t>The following relationships hold:</a:t>
            </a:r>
          </a:p>
        </p:txBody>
      </p:sp>
      <p:pic>
        <p:nvPicPr>
          <p:cNvPr id="1026" name="Picture 2"/>
          <p:cNvPicPr>
            <a:picLocks noChangeAspect="1" noChangeArrowheads="1"/>
          </p:cNvPicPr>
          <p:nvPr/>
        </p:nvPicPr>
        <p:blipFill>
          <a:blip r:embed="rId2"/>
          <a:srcRect/>
          <a:stretch>
            <a:fillRect/>
          </a:stretch>
        </p:blipFill>
        <p:spPr bwMode="auto">
          <a:xfrm>
            <a:off x="0" y="2428868"/>
            <a:ext cx="9144000" cy="20717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71472" y="0"/>
            <a:ext cx="7358114" cy="43088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algn="ctr"/>
            <a:r>
              <a:rPr lang="en-US" sz="2200" b="1" dirty="0">
                <a:effectLst>
                  <a:outerShdw blurRad="38100" dist="38100" dir="2700000" algn="tl">
                    <a:srgbClr val="000000">
                      <a:alpha val="43137"/>
                    </a:srgbClr>
                  </a:outerShdw>
                </a:effectLst>
                <a:latin typeface="+mj-lt"/>
              </a:rPr>
              <a:t>Finite Circular Buffer / Bounded Buffer</a:t>
            </a:r>
          </a:p>
        </p:txBody>
      </p:sp>
      <p:pic>
        <p:nvPicPr>
          <p:cNvPr id="6" name="Picture 3"/>
          <p:cNvPicPr>
            <a:picLocks noChangeAspect="1" noChangeArrowheads="1"/>
          </p:cNvPicPr>
          <p:nvPr/>
        </p:nvPicPr>
        <p:blipFill>
          <a:blip r:embed="rId2"/>
          <a:srcRect/>
          <a:stretch>
            <a:fillRect/>
          </a:stretch>
        </p:blipFill>
        <p:spPr bwMode="auto">
          <a:xfrm>
            <a:off x="214282" y="714356"/>
            <a:ext cx="8429684" cy="52864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71472" y="0"/>
            <a:ext cx="7358114" cy="430887"/>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pPr algn="ctr"/>
            <a:r>
              <a:rPr lang="en-US" sz="2200" b="1" dirty="0">
                <a:effectLst>
                  <a:outerShdw blurRad="38100" dist="38100" dir="2700000" algn="tl">
                    <a:srgbClr val="000000">
                      <a:alpha val="43137"/>
                    </a:srgbClr>
                  </a:outerShdw>
                </a:effectLst>
                <a:latin typeface="+mj-lt"/>
              </a:rPr>
              <a:t>Finite Circular Buffer / Bounded Buffer</a:t>
            </a:r>
          </a:p>
        </p:txBody>
      </p:sp>
      <p:pic>
        <p:nvPicPr>
          <p:cNvPr id="2050" name="Picture 2"/>
          <p:cNvPicPr>
            <a:picLocks noChangeAspect="1" noChangeArrowheads="1"/>
          </p:cNvPicPr>
          <p:nvPr/>
        </p:nvPicPr>
        <p:blipFill>
          <a:blip r:embed="rId2"/>
          <a:srcRect/>
          <a:stretch>
            <a:fillRect/>
          </a:stretch>
        </p:blipFill>
        <p:spPr bwMode="auto">
          <a:xfrm>
            <a:off x="71406" y="1438619"/>
            <a:ext cx="9072594" cy="44291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Rectangle 7"/>
          <p:cNvSpPr/>
          <p:nvPr/>
        </p:nvSpPr>
        <p:spPr>
          <a:xfrm>
            <a:off x="71406" y="571480"/>
            <a:ext cx="8572560" cy="76944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2200" dirty="0">
                <a:latin typeface="Calibri" pitchFamily="34" charset="0"/>
              </a:rPr>
              <a:t>The producer and consumer functions can be expressed as follows (variable </a:t>
            </a:r>
            <a:r>
              <a:rPr lang="en-US" sz="2200" i="1" dirty="0">
                <a:latin typeface="Calibri" pitchFamily="34" charset="0"/>
              </a:rPr>
              <a:t>in </a:t>
            </a:r>
            <a:r>
              <a:rPr lang="en-US" sz="2200" dirty="0">
                <a:latin typeface="Calibri" pitchFamily="34" charset="0"/>
              </a:rPr>
              <a:t>and </a:t>
            </a:r>
            <a:r>
              <a:rPr lang="en-US" sz="2200" i="1" dirty="0">
                <a:latin typeface="Calibri" pitchFamily="34" charset="0"/>
              </a:rPr>
              <a:t>out are initialized to 0 and n is the size of the buffer):</a:t>
            </a:r>
            <a:endParaRPr lang="en-US" sz="2200" dirty="0">
              <a:latin typeface="Calibri" pitchFamily="34" charset="0"/>
            </a:endParaRPr>
          </a:p>
        </p:txBody>
      </p:sp>
      <p:sp>
        <p:nvSpPr>
          <p:cNvPr id="9" name="Rectangle 8"/>
          <p:cNvSpPr/>
          <p:nvPr/>
        </p:nvSpPr>
        <p:spPr>
          <a:xfrm>
            <a:off x="71438" y="6007262"/>
            <a:ext cx="8929718" cy="70788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2000" dirty="0">
                <a:latin typeface="Calibri" pitchFamily="34" charset="0"/>
              </a:rPr>
              <a:t>Figure 5.13 shows a solution using general semaphores. The semaphore </a:t>
            </a:r>
            <a:r>
              <a:rPr lang="en-US" sz="2000" i="1" dirty="0">
                <a:latin typeface="Calibri" pitchFamily="34" charset="0"/>
              </a:rPr>
              <a:t>e has</a:t>
            </a:r>
          </a:p>
          <a:p>
            <a:r>
              <a:rPr lang="en-US" sz="2000" dirty="0">
                <a:latin typeface="Calibri" pitchFamily="34" charset="0"/>
              </a:rPr>
              <a:t>been added to keep track of the number of empty spaces.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24"/>
            <a:ext cx="7615262" cy="285752"/>
          </a:xfrm>
        </p:spPr>
        <p:style>
          <a:lnRef idx="3">
            <a:schemeClr val="lt1"/>
          </a:lnRef>
          <a:fillRef idx="1">
            <a:schemeClr val="accent5"/>
          </a:fillRef>
          <a:effectRef idx="1">
            <a:schemeClr val="accent5"/>
          </a:effectRef>
          <a:fontRef idx="minor">
            <a:schemeClr val="lt1"/>
          </a:fontRef>
        </p:style>
        <p:txBody>
          <a:bodyPr>
            <a:normAutofit fontScale="90000"/>
          </a:bodyPr>
          <a:lstStyle/>
          <a:p>
            <a:pPr algn="ctr"/>
            <a:r>
              <a:rPr lang="en-US" sz="2800" b="1" dirty="0">
                <a:effectLst>
                  <a:outerShdw blurRad="38100" dist="38100" dir="2700000" algn="tl">
                    <a:srgbClr val="000000">
                      <a:alpha val="43137"/>
                    </a:srgbClr>
                  </a:outerShdw>
                </a:effectLst>
                <a:latin typeface="+mj-lt"/>
              </a:rPr>
              <a:t>Semaphores</a:t>
            </a:r>
          </a:p>
        </p:txBody>
      </p:sp>
      <p:pic>
        <p:nvPicPr>
          <p:cNvPr id="49155" name="Content Placeholder 3" descr="Fig05_13.gif"/>
          <p:cNvPicPr>
            <a:picLocks noGrp="1" noChangeAspect="1"/>
          </p:cNvPicPr>
          <p:nvPr>
            <p:ph idx="1"/>
          </p:nvPr>
        </p:nvPicPr>
        <p:blipFill>
          <a:blip r:embed="rId3"/>
          <a:srcRect/>
          <a:stretch>
            <a:fillRect/>
          </a:stretch>
        </p:blipFill>
        <p:spPr>
          <a:xfrm>
            <a:off x="71470" y="357190"/>
            <a:ext cx="9144000" cy="6072206"/>
          </a:xfrm>
        </p:spPr>
      </p:pic>
      <p:sp>
        <p:nvSpPr>
          <p:cNvPr id="4" name="Slide Number Placeholder 3"/>
          <p:cNvSpPr>
            <a:spLocks noGrp="1"/>
          </p:cNvSpPr>
          <p:nvPr>
            <p:ph type="sldNum" sz="quarter" idx="12"/>
          </p:nvPr>
        </p:nvSpPr>
        <p:spPr/>
        <p:txBody>
          <a:bodyPr/>
          <a:lstStyle/>
          <a:p>
            <a:fld id="{8721AD9F-4A2E-478F-ACDB-FC9429174183}" type="slidenum">
              <a:rPr lang="en-GB" smtClean="0"/>
              <a:pPr/>
              <a:t>35</a:t>
            </a:fld>
            <a:endParaRPr lang="en-GB"/>
          </a:p>
        </p:txBody>
      </p:sp>
      <p:sp>
        <p:nvSpPr>
          <p:cNvPr id="6" name="Rectangle 5"/>
          <p:cNvSpPr/>
          <p:nvPr/>
        </p:nvSpPr>
        <p:spPr>
          <a:xfrm>
            <a:off x="0" y="6417254"/>
            <a:ext cx="9144000"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b="1" dirty="0">
                <a:latin typeface="Calibri" pitchFamily="34" charset="0"/>
              </a:rPr>
              <a:t>Figure 5.13 A Solution to the Bounded-Buffer Producer/Consumer Problem Using Semaphores</a:t>
            </a:r>
            <a:endParaRPr lang="en-US" dirty="0">
              <a:latin typeface="Calibri" pitchFamily="34"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928670"/>
            <a:ext cx="6643734" cy="4500594"/>
          </a:xfrm>
        </p:spPr>
        <p:style>
          <a:lnRef idx="2">
            <a:schemeClr val="accent5"/>
          </a:lnRef>
          <a:fillRef idx="1">
            <a:schemeClr val="lt1"/>
          </a:fillRef>
          <a:effectRef idx="0">
            <a:schemeClr val="accent5"/>
          </a:effectRef>
          <a:fontRef idx="minor">
            <a:schemeClr val="dk1"/>
          </a:fontRef>
        </p:style>
        <p:txBody>
          <a:bodyPr>
            <a:normAutofit/>
          </a:bodyPr>
          <a:lstStyle/>
          <a:p>
            <a:pPr>
              <a:buClr>
                <a:schemeClr val="accent5">
                  <a:lumMod val="75000"/>
                </a:schemeClr>
              </a:buClr>
              <a:defRPr/>
            </a:pPr>
            <a:endParaRPr lang="en-NZ" b="1" dirty="0">
              <a:solidFill>
                <a:schemeClr val="accent1">
                  <a:lumMod val="75000"/>
                </a:schemeClr>
              </a:solidFill>
              <a:latin typeface="Calibri" pitchFamily="34" charset="0"/>
            </a:endParaRPr>
          </a:p>
          <a:p>
            <a:pPr>
              <a:buClr>
                <a:schemeClr val="accent5">
                  <a:lumMod val="75000"/>
                </a:schemeClr>
              </a:buClr>
              <a:defRPr/>
            </a:pPr>
            <a:r>
              <a:rPr lang="en-NZ" dirty="0">
                <a:solidFill>
                  <a:schemeClr val="tx1"/>
                </a:solidFill>
                <a:latin typeface="Calibri" pitchFamily="34" charset="0"/>
              </a:rPr>
              <a:t>Key terms</a:t>
            </a:r>
          </a:p>
          <a:p>
            <a:pPr>
              <a:buClr>
                <a:schemeClr val="accent5">
                  <a:lumMod val="75000"/>
                </a:schemeClr>
              </a:buClr>
              <a:defRPr/>
            </a:pPr>
            <a:r>
              <a:rPr lang="en-NZ" dirty="0">
                <a:solidFill>
                  <a:schemeClr val="tx1"/>
                </a:solidFill>
                <a:latin typeface="Calibri" pitchFamily="34" charset="0"/>
              </a:rPr>
              <a:t>Principles of concurrency :</a:t>
            </a:r>
          </a:p>
          <a:p>
            <a:pPr>
              <a:buClr>
                <a:schemeClr val="accent5">
                  <a:lumMod val="75000"/>
                </a:schemeClr>
              </a:buClr>
              <a:defRPr/>
            </a:pPr>
            <a:r>
              <a:rPr lang="en-NZ" dirty="0">
                <a:solidFill>
                  <a:schemeClr val="tx1"/>
                </a:solidFill>
                <a:latin typeface="Calibri" pitchFamily="34" charset="0"/>
              </a:rPr>
              <a:t>Requirement of mutual exclusion</a:t>
            </a:r>
          </a:p>
          <a:p>
            <a:pPr>
              <a:buClr>
                <a:schemeClr val="accent5">
                  <a:lumMod val="75000"/>
                </a:schemeClr>
              </a:buClr>
              <a:defRPr/>
            </a:pPr>
            <a:r>
              <a:rPr lang="en-NZ" dirty="0">
                <a:solidFill>
                  <a:schemeClr val="tx1"/>
                </a:solidFill>
                <a:latin typeface="Calibri" pitchFamily="34" charset="0"/>
              </a:rPr>
              <a:t>Semaphores</a:t>
            </a:r>
          </a:p>
          <a:p>
            <a:pPr>
              <a:buClr>
                <a:schemeClr val="accent5">
                  <a:lumMod val="75000"/>
                </a:schemeClr>
              </a:buClr>
              <a:defRPr/>
            </a:pPr>
            <a:r>
              <a:rPr lang="en-NZ" dirty="0">
                <a:solidFill>
                  <a:schemeClr val="tx1"/>
                </a:solidFill>
                <a:latin typeface="Calibri" pitchFamily="34" charset="0"/>
              </a:rPr>
              <a:t>Producer Consumer Problem</a:t>
            </a:r>
          </a:p>
          <a:p>
            <a:pPr>
              <a:buClr>
                <a:schemeClr val="accent5">
                  <a:lumMod val="75000"/>
                </a:schemeClr>
              </a:buClr>
              <a:defRPr/>
            </a:pPr>
            <a:r>
              <a:rPr lang="en-NZ" b="1" dirty="0">
                <a:solidFill>
                  <a:schemeClr val="accent1"/>
                </a:solidFill>
                <a:latin typeface="Calibri" pitchFamily="34" charset="0"/>
              </a:rPr>
              <a:t>Readers- Writers Problem</a:t>
            </a:r>
          </a:p>
          <a:p>
            <a:pPr>
              <a:buClr>
                <a:schemeClr val="accent5">
                  <a:lumMod val="75000"/>
                </a:schemeClr>
              </a:buClr>
              <a:defRPr/>
            </a:pPr>
            <a:endParaRPr lang="en-NZ" b="1" dirty="0">
              <a:solidFill>
                <a:schemeClr val="accent1"/>
              </a:solidFill>
              <a:latin typeface="Calibri" pitchFamily="34" charset="0"/>
            </a:endParaRPr>
          </a:p>
          <a:p>
            <a:pPr>
              <a:buClr>
                <a:schemeClr val="accent5">
                  <a:lumMod val="75000"/>
                </a:schemeClr>
              </a:buClr>
              <a:defRPr/>
            </a:pPr>
            <a:endParaRPr lang="en-NZ" b="1" dirty="0">
              <a:solidFill>
                <a:schemeClr val="accent1"/>
              </a:solidFill>
              <a:latin typeface="Calibri" pitchFamily="34" charset="0"/>
            </a:endParaRPr>
          </a:p>
          <a:p>
            <a:pPr>
              <a:buClr>
                <a:schemeClr val="accent5">
                  <a:lumMod val="75000"/>
                </a:schemeClr>
              </a:buClr>
              <a:defRPr/>
            </a:pPr>
            <a:endParaRPr lang="en-NZ" dirty="0">
              <a:latin typeface="Calibri" pitchFamily="34" charset="0"/>
            </a:endParaRPr>
          </a:p>
        </p:txBody>
      </p:sp>
      <p:sp>
        <p:nvSpPr>
          <p:cNvPr id="5" name="Slide Number Placeholder 4"/>
          <p:cNvSpPr>
            <a:spLocks noGrp="1"/>
          </p:cNvSpPr>
          <p:nvPr>
            <p:ph type="sldNum" sz="quarter" idx="12"/>
          </p:nvPr>
        </p:nvSpPr>
        <p:spPr/>
        <p:txBody>
          <a:bodyPr/>
          <a:lstStyle/>
          <a:p>
            <a:fld id="{8721AD9F-4A2E-478F-ACDB-FC9429174183}" type="slidenum">
              <a:rPr lang="en-GB" smtClean="0"/>
              <a:pPr/>
              <a:t>36</a:t>
            </a:fld>
            <a:endParaRPr lang="en-GB"/>
          </a:p>
        </p:txBody>
      </p:sp>
      <p:sp>
        <p:nvSpPr>
          <p:cNvPr id="4" name="Title 1"/>
          <p:cNvSpPr txBox="1">
            <a:spLocks/>
          </p:cNvSpPr>
          <p:nvPr/>
        </p:nvSpPr>
        <p:spPr>
          <a:xfrm>
            <a:off x="1142976" y="71422"/>
            <a:ext cx="6072230" cy="50005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solidFill>
                  <a:schemeClr val="bg1">
                    <a:lumMod val="95000"/>
                  </a:schemeClr>
                </a:solidFill>
                <a:effectLst>
                  <a:outerShdw blurRad="38100" dist="38100" dir="2700000" algn="tl">
                    <a:srgbClr val="000000">
                      <a:alpha val="43137"/>
                    </a:srgbClr>
                  </a:outerShdw>
                </a:effectLst>
                <a:latin typeface="+mj-lt"/>
              </a:rPr>
              <a:t>ROADMAP - Concurrency</a:t>
            </a:r>
            <a:endParaRPr kumimoji="0" lang="en-GB" sz="2800" b="1" i="0" u="none" strike="noStrike" kern="1200" cap="none" spc="0" normalizeH="0" baseline="0" noProof="0" dirty="0">
              <a:ln>
                <a:noFill/>
              </a:ln>
              <a:solidFill>
                <a:schemeClr val="bg1">
                  <a:lumMod val="95000"/>
                </a:schemeClr>
              </a:solidFill>
              <a:effectLst>
                <a:outerShdw blurRad="38100" dist="38100" dir="2700000" algn="tl">
                  <a:srgbClr val="000000">
                    <a:alpha val="43137"/>
                  </a:srgbClr>
                </a:outerShdw>
              </a:effectLst>
              <a:uLnTx/>
              <a:uFillTx/>
              <a:latin typeface="+mj-lt"/>
              <a:ea typeface="+mn-ea"/>
              <a:cs typeface="+mn-cs"/>
            </a:endParaRPr>
          </a:p>
        </p:txBody>
      </p:sp>
      <p:sp>
        <p:nvSpPr>
          <p:cNvPr id="6" name="Right Arrow 5"/>
          <p:cNvSpPr/>
          <p:nvPr/>
        </p:nvSpPr>
        <p:spPr>
          <a:xfrm>
            <a:off x="380956" y="4581128"/>
            <a:ext cx="357190" cy="285752"/>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tx1"/>
              </a:solidFill>
            </a:endParaRPr>
          </a:p>
        </p:txBody>
      </p:sp>
      <p:pic>
        <p:nvPicPr>
          <p:cNvPr id="1026" name="Picture 2" descr="E:\gp image\stick_figures_walking_talking_md_wm.gif"/>
          <p:cNvPicPr>
            <a:picLocks noChangeAspect="1" noChangeArrowheads="1" noCrop="1"/>
          </p:cNvPicPr>
          <p:nvPr/>
        </p:nvPicPr>
        <p:blipFill>
          <a:blip r:embed="rId3"/>
          <a:srcRect/>
          <a:stretch>
            <a:fillRect/>
          </a:stretch>
        </p:blipFill>
        <p:spPr bwMode="auto">
          <a:xfrm>
            <a:off x="7119970" y="1928802"/>
            <a:ext cx="1738310" cy="1738310"/>
          </a:xfrm>
          <a:prstGeom prst="rect">
            <a:avLst/>
          </a:prstGeom>
          <a:noFill/>
        </p:spPr>
      </p:pic>
    </p:spTree>
    <p:extLst>
      <p:ext uri="{BB962C8B-B14F-4D97-AF65-F5344CB8AC3E}">
        <p14:creationId xmlns:p14="http://schemas.microsoft.com/office/powerpoint/2010/main" val="98509077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44" y="1214422"/>
            <a:ext cx="8786874" cy="4071966"/>
          </a:xfrm>
        </p:spPr>
        <p:style>
          <a:lnRef idx="2">
            <a:schemeClr val="accent5"/>
          </a:lnRef>
          <a:fillRef idx="1">
            <a:schemeClr val="lt1"/>
          </a:fillRef>
          <a:effectRef idx="0">
            <a:schemeClr val="accent5"/>
          </a:effectRef>
          <a:fontRef idx="minor">
            <a:schemeClr val="dk1"/>
          </a:fontRef>
        </p:style>
        <p:txBody>
          <a:bodyPr>
            <a:normAutofit/>
          </a:bodyPr>
          <a:lstStyle/>
          <a:p>
            <a:r>
              <a:rPr lang="en-NZ" sz="2000" dirty="0">
                <a:latin typeface="Calibri" pitchFamily="34" charset="0"/>
              </a:rPr>
              <a:t>The readers/writers problem is:</a:t>
            </a:r>
          </a:p>
          <a:p>
            <a:pPr lvl="1">
              <a:buFontTx/>
              <a:buChar char="•"/>
            </a:pPr>
            <a:r>
              <a:rPr lang="en-NZ" sz="2000" dirty="0">
                <a:latin typeface="Calibri" pitchFamily="34" charset="0"/>
              </a:rPr>
              <a:t>There is a data area shared among a number of processes.</a:t>
            </a:r>
          </a:p>
          <a:p>
            <a:pPr lvl="2">
              <a:buFontTx/>
              <a:buChar char="•"/>
            </a:pPr>
            <a:r>
              <a:rPr lang="en-NZ" sz="2000" dirty="0">
                <a:latin typeface="Calibri" pitchFamily="34" charset="0"/>
              </a:rPr>
              <a:t>The data area could be a file, a block of main memory, or even a bank of processor registers. </a:t>
            </a:r>
          </a:p>
          <a:p>
            <a:pPr lvl="1">
              <a:buFontTx/>
              <a:buChar char="•"/>
            </a:pPr>
            <a:r>
              <a:rPr lang="en-NZ" sz="2000" dirty="0">
                <a:latin typeface="Calibri" pitchFamily="34" charset="0"/>
              </a:rPr>
              <a:t>There are a number of processes that only read the data area (readers) and a number that only write to the data area (writers).</a:t>
            </a:r>
          </a:p>
          <a:p>
            <a:pPr lvl="1">
              <a:buFontTx/>
              <a:buChar char="•"/>
            </a:pPr>
            <a:endParaRPr lang="en-NZ" sz="2000" dirty="0">
              <a:latin typeface="Calibri" pitchFamily="34" charset="0"/>
            </a:endParaRPr>
          </a:p>
          <a:p>
            <a:pPr>
              <a:buNone/>
            </a:pPr>
            <a:r>
              <a:rPr lang="en-NZ" sz="2000" dirty="0">
                <a:latin typeface="Calibri" pitchFamily="34" charset="0"/>
              </a:rPr>
              <a:t>The conditions that must be satisfied are as follows:</a:t>
            </a:r>
          </a:p>
          <a:p>
            <a:pPr>
              <a:buNone/>
            </a:pPr>
            <a:r>
              <a:rPr lang="en-NZ" sz="2000" dirty="0">
                <a:latin typeface="Calibri" pitchFamily="34" charset="0"/>
              </a:rPr>
              <a:t>1. Any number of readers may simultaneously read the file.</a:t>
            </a:r>
          </a:p>
          <a:p>
            <a:pPr>
              <a:buNone/>
            </a:pPr>
            <a:r>
              <a:rPr lang="en-NZ" sz="2000" dirty="0">
                <a:latin typeface="Calibri" pitchFamily="34" charset="0"/>
              </a:rPr>
              <a:t>2. Only one writer at a time may write to the file.</a:t>
            </a:r>
          </a:p>
          <a:p>
            <a:pPr>
              <a:buNone/>
            </a:pPr>
            <a:r>
              <a:rPr lang="en-NZ" sz="2000" dirty="0">
                <a:latin typeface="Calibri" pitchFamily="34" charset="0"/>
              </a:rPr>
              <a:t>3. If a writer is writing to the file, no reader may read it.</a:t>
            </a:r>
          </a:p>
          <a:p>
            <a:endParaRPr lang="en-US" sz="2000" dirty="0">
              <a:latin typeface="Calibri" pitchFamily="34" charset="0"/>
            </a:endParaRPr>
          </a:p>
        </p:txBody>
      </p:sp>
      <p:sp>
        <p:nvSpPr>
          <p:cNvPr id="5" name="Slide Number Placeholder 4"/>
          <p:cNvSpPr>
            <a:spLocks noGrp="1"/>
          </p:cNvSpPr>
          <p:nvPr>
            <p:ph type="sldNum" sz="quarter" idx="12"/>
          </p:nvPr>
        </p:nvSpPr>
        <p:spPr/>
        <p:txBody>
          <a:bodyPr/>
          <a:lstStyle/>
          <a:p>
            <a:fld id="{8721AD9F-4A2E-478F-ACDB-FC9429174183}" type="slidenum">
              <a:rPr lang="en-GB" smtClean="0"/>
              <a:pPr/>
              <a:t>37</a:t>
            </a:fld>
            <a:endParaRPr lang="en-GB"/>
          </a:p>
        </p:txBody>
      </p:sp>
      <p:sp>
        <p:nvSpPr>
          <p:cNvPr id="6" name="Title 1"/>
          <p:cNvSpPr txBox="1">
            <a:spLocks/>
          </p:cNvSpPr>
          <p:nvPr/>
        </p:nvSpPr>
        <p:spPr>
          <a:xfrm>
            <a:off x="357158" y="-24"/>
            <a:ext cx="8229600" cy="42862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lvl="0" algn="ctr">
              <a:spcBef>
                <a:spcPct val="0"/>
              </a:spcBef>
              <a:defRPr/>
            </a:pPr>
            <a:r>
              <a:rPr lang="en-US" sz="2400" b="1" dirty="0">
                <a:solidFill>
                  <a:schemeClr val="bg1"/>
                </a:solidFill>
                <a:effectLst>
                  <a:outerShdw blurRad="38100" dist="38100" dir="2700000" algn="tl">
                    <a:srgbClr val="000000">
                      <a:alpha val="43137"/>
                    </a:srgbClr>
                  </a:outerShdw>
                </a:effectLst>
                <a:latin typeface="+mj-lt"/>
              </a:rPr>
              <a:t>Reader / Writer</a:t>
            </a:r>
            <a:r>
              <a:rPr kumimoji="0" lang="en-US" sz="24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mj-lt"/>
                <a:ea typeface="+mn-ea"/>
                <a:cs typeface="+mn-cs"/>
              </a:rPr>
              <a:t> Problem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a:xfrm>
            <a:off x="5572132" y="-24"/>
            <a:ext cx="3500462" cy="357190"/>
          </a:xfrm>
        </p:spPr>
        <p:style>
          <a:lnRef idx="2">
            <a:schemeClr val="accent5">
              <a:shade val="50000"/>
            </a:schemeClr>
          </a:lnRef>
          <a:fillRef idx="1">
            <a:schemeClr val="accent5"/>
          </a:fillRef>
          <a:effectRef idx="0">
            <a:schemeClr val="accent5"/>
          </a:effectRef>
          <a:fontRef idx="minor">
            <a:schemeClr val="lt1"/>
          </a:fontRef>
        </p:style>
        <p:txBody>
          <a:bodyPr>
            <a:noAutofit/>
          </a:bodyPr>
          <a:lstStyle/>
          <a:p>
            <a:pPr algn="ctr"/>
            <a:r>
              <a:rPr lang="en-US" sz="2000" b="1" dirty="0">
                <a:latin typeface="+mj-lt"/>
              </a:rPr>
              <a:t>Readers have Priority</a:t>
            </a:r>
          </a:p>
        </p:txBody>
      </p:sp>
      <p:pic>
        <p:nvPicPr>
          <p:cNvPr id="74755" name="Content Placeholder 3" descr="Fig05_22.gif"/>
          <p:cNvPicPr>
            <a:picLocks noGrp="1" noChangeAspect="1"/>
          </p:cNvPicPr>
          <p:nvPr>
            <p:ph idx="1"/>
          </p:nvPr>
        </p:nvPicPr>
        <p:blipFill>
          <a:blip r:embed="rId3"/>
          <a:srcRect/>
          <a:stretch>
            <a:fillRect/>
          </a:stretch>
        </p:blipFill>
        <p:spPr>
          <a:xfrm>
            <a:off x="0" y="357166"/>
            <a:ext cx="9001156" cy="61436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Slide Number Placeholder 3"/>
          <p:cNvSpPr>
            <a:spLocks noGrp="1"/>
          </p:cNvSpPr>
          <p:nvPr>
            <p:ph type="sldNum" sz="quarter" idx="12"/>
          </p:nvPr>
        </p:nvSpPr>
        <p:spPr/>
        <p:txBody>
          <a:bodyPr/>
          <a:lstStyle/>
          <a:p>
            <a:fld id="{8721AD9F-4A2E-478F-ACDB-FC9429174183}" type="slidenum">
              <a:rPr lang="en-GB" smtClean="0"/>
              <a:pPr/>
              <a:t>38</a:t>
            </a:fld>
            <a:endParaRPr lang="en-GB"/>
          </a:p>
        </p:txBody>
      </p:sp>
      <p:sp>
        <p:nvSpPr>
          <p:cNvPr id="5" name="Rectangle 4"/>
          <p:cNvSpPr/>
          <p:nvPr/>
        </p:nvSpPr>
        <p:spPr>
          <a:xfrm>
            <a:off x="0" y="6488692"/>
            <a:ext cx="914400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1" dirty="0">
                <a:latin typeface="+mj-lt"/>
              </a:rPr>
              <a:t>Fig 5.22 A Solution to the Readers/Writers Problem Using Semaphore: Readers Have Priority</a:t>
            </a:r>
            <a:endParaRPr lang="en-US" dirty="0">
              <a:latin typeface="+mj-lt"/>
            </a:endParaRPr>
          </a:p>
        </p:txBody>
      </p:sp>
      <p:sp>
        <p:nvSpPr>
          <p:cNvPr id="6" name="Title 1"/>
          <p:cNvSpPr txBox="1">
            <a:spLocks/>
          </p:cNvSpPr>
          <p:nvPr/>
        </p:nvSpPr>
        <p:spPr>
          <a:xfrm>
            <a:off x="71438" y="0"/>
            <a:ext cx="5214942" cy="42862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lvl="0" algn="ctr">
              <a:spcBef>
                <a:spcPct val="0"/>
              </a:spcBef>
              <a:defRPr/>
            </a:pPr>
            <a:r>
              <a:rPr lang="en-US" sz="2200" b="1" dirty="0">
                <a:solidFill>
                  <a:schemeClr val="bg1"/>
                </a:solidFill>
                <a:latin typeface="+mj-lt"/>
              </a:rPr>
              <a:t>Reader / Writer</a:t>
            </a:r>
            <a:r>
              <a:rPr kumimoji="0" lang="en-US" sz="2200" b="1" i="0" u="none" strike="noStrike" kern="1200" cap="none" spc="0" normalizeH="0" baseline="0" noProof="0" dirty="0">
                <a:ln>
                  <a:noFill/>
                </a:ln>
                <a:solidFill>
                  <a:schemeClr val="bg1"/>
                </a:solidFill>
                <a:effectLst/>
                <a:uLnTx/>
                <a:uFillTx/>
                <a:latin typeface="+mj-lt"/>
                <a:ea typeface="+mn-ea"/>
                <a:cs typeface="+mn-cs"/>
              </a:rPr>
              <a:t> Problem Using Semaphore</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4"/>
            <a:ext cx="8043890" cy="285752"/>
          </a:xfrm>
        </p:spPr>
        <p:style>
          <a:lnRef idx="2">
            <a:schemeClr val="accent5">
              <a:shade val="50000"/>
            </a:schemeClr>
          </a:lnRef>
          <a:fillRef idx="1">
            <a:schemeClr val="accent5"/>
          </a:fillRef>
          <a:effectRef idx="0">
            <a:schemeClr val="accent5"/>
          </a:effectRef>
          <a:fontRef idx="minor">
            <a:schemeClr val="lt1"/>
          </a:fontRef>
        </p:style>
        <p:txBody>
          <a:bodyPr>
            <a:noAutofit/>
          </a:bodyPr>
          <a:lstStyle/>
          <a:p>
            <a:pPr algn="ctr"/>
            <a:r>
              <a:rPr lang="en-US" sz="2200" b="1" dirty="0">
                <a:latin typeface="+mj-lt"/>
              </a:rPr>
              <a:t>Readers have Priority</a:t>
            </a:r>
          </a:p>
        </p:txBody>
      </p:sp>
      <p:sp>
        <p:nvSpPr>
          <p:cNvPr id="3" name="Content Placeholder 2"/>
          <p:cNvSpPr>
            <a:spLocks noGrp="1"/>
          </p:cNvSpPr>
          <p:nvPr>
            <p:ph idx="1"/>
          </p:nvPr>
        </p:nvSpPr>
        <p:spPr>
          <a:xfrm>
            <a:off x="0" y="4357694"/>
            <a:ext cx="9144000" cy="1928826"/>
          </a:xfrm>
        </p:spPr>
        <p:style>
          <a:lnRef idx="2">
            <a:schemeClr val="accent5"/>
          </a:lnRef>
          <a:fillRef idx="1">
            <a:schemeClr val="lt1"/>
          </a:fillRef>
          <a:effectRef idx="0">
            <a:schemeClr val="accent5"/>
          </a:effectRef>
          <a:fontRef idx="minor">
            <a:schemeClr val="dk1"/>
          </a:fontRef>
        </p:style>
        <p:txBody>
          <a:bodyPr>
            <a:normAutofit/>
          </a:bodyPr>
          <a:lstStyle/>
          <a:p>
            <a:r>
              <a:rPr lang="en-NZ" sz="2000" dirty="0">
                <a:latin typeface="Calibri" pitchFamily="34" charset="0"/>
              </a:rPr>
              <a:t>Once a single reader has begun to access the data area, it is possible for readers to retain control of the data area as long as there is at least one reader in the act of reading.</a:t>
            </a:r>
          </a:p>
          <a:p>
            <a:pPr lvl="1"/>
            <a:r>
              <a:rPr lang="en-NZ" sz="2000" dirty="0">
                <a:latin typeface="Calibri" pitchFamily="34" charset="0"/>
              </a:rPr>
              <a:t>Therefore, writers are subject to starvation.</a:t>
            </a:r>
            <a:endParaRPr lang="en-US" sz="2000" dirty="0">
              <a:latin typeface="Calibri" pitchFamily="34" charset="0"/>
            </a:endParaRPr>
          </a:p>
          <a:p>
            <a:endParaRPr lang="en-US" sz="2000" dirty="0">
              <a:latin typeface="Calibri" pitchFamily="34" charset="0"/>
            </a:endParaRPr>
          </a:p>
        </p:txBody>
      </p:sp>
      <p:sp>
        <p:nvSpPr>
          <p:cNvPr id="5" name="Slide Number Placeholder 4"/>
          <p:cNvSpPr>
            <a:spLocks noGrp="1"/>
          </p:cNvSpPr>
          <p:nvPr>
            <p:ph type="sldNum" sz="quarter" idx="12"/>
          </p:nvPr>
        </p:nvSpPr>
        <p:spPr/>
        <p:txBody>
          <a:bodyPr/>
          <a:lstStyle/>
          <a:p>
            <a:fld id="{8721AD9F-4A2E-478F-ACDB-FC9429174183}" type="slidenum">
              <a:rPr lang="en-GB" smtClean="0"/>
              <a:pPr/>
              <a:t>39</a:t>
            </a:fld>
            <a:endParaRPr lang="en-GB"/>
          </a:p>
        </p:txBody>
      </p:sp>
      <p:sp>
        <p:nvSpPr>
          <p:cNvPr id="9" name="Rectangle 8"/>
          <p:cNvSpPr/>
          <p:nvPr/>
        </p:nvSpPr>
        <p:spPr>
          <a:xfrm>
            <a:off x="0" y="428604"/>
            <a:ext cx="9144000" cy="378565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Font typeface="Arial" pitchFamily="34" charset="0"/>
              <a:buChar char="•"/>
            </a:pPr>
            <a:r>
              <a:rPr lang="en-US" sz="2000" dirty="0">
                <a:latin typeface="Calibri" pitchFamily="34" charset="0"/>
              </a:rPr>
              <a:t> Fig 5.22 This </a:t>
            </a:r>
            <a:r>
              <a:rPr lang="en-NZ" sz="2000" dirty="0">
                <a:latin typeface="Calibri" pitchFamily="34" charset="0"/>
              </a:rPr>
              <a:t>solution uses semaphores, showing one instance each of a reader and a  </a:t>
            </a:r>
          </a:p>
          <a:p>
            <a:r>
              <a:rPr lang="en-NZ" sz="2000" dirty="0">
                <a:latin typeface="Calibri" pitchFamily="34" charset="0"/>
              </a:rPr>
              <a:t>  writer; the solution does not change for multiple readers and writers. </a:t>
            </a:r>
            <a:endParaRPr lang="en-US" sz="2000" dirty="0">
              <a:latin typeface="Calibri" pitchFamily="34" charset="0"/>
            </a:endParaRPr>
          </a:p>
          <a:p>
            <a:pPr>
              <a:buFont typeface="Arial" pitchFamily="34" charset="0"/>
              <a:buChar char="•"/>
            </a:pPr>
            <a:r>
              <a:rPr lang="en-US" sz="2000" dirty="0">
                <a:latin typeface="Calibri" pitchFamily="34" charset="0"/>
              </a:rPr>
              <a:t>The semaphore </a:t>
            </a:r>
            <a:r>
              <a:rPr lang="en-US" sz="2000" dirty="0" err="1">
                <a:latin typeface="Calibri" pitchFamily="34" charset="0"/>
              </a:rPr>
              <a:t>wsem</a:t>
            </a:r>
            <a:r>
              <a:rPr lang="en-US" sz="2000" dirty="0">
                <a:latin typeface="Calibri" pitchFamily="34" charset="0"/>
              </a:rPr>
              <a:t> is used to enforce mutual exclusion.</a:t>
            </a:r>
          </a:p>
          <a:p>
            <a:pPr>
              <a:buFont typeface="Arial" pitchFamily="34" charset="0"/>
              <a:buChar char="•"/>
            </a:pPr>
            <a:r>
              <a:rPr lang="en-US" sz="2000" dirty="0">
                <a:latin typeface="Calibri" pitchFamily="34" charset="0"/>
              </a:rPr>
              <a:t>As long as one writer is accessing the shared data area, no other writers and no</a:t>
            </a:r>
          </a:p>
          <a:p>
            <a:r>
              <a:rPr lang="en-US" sz="2000" dirty="0">
                <a:latin typeface="Calibri" pitchFamily="34" charset="0"/>
              </a:rPr>
              <a:t>  readers may access it. </a:t>
            </a:r>
          </a:p>
          <a:p>
            <a:pPr>
              <a:buFont typeface="Arial" pitchFamily="34" charset="0"/>
              <a:buChar char="•"/>
            </a:pPr>
            <a:r>
              <a:rPr lang="en-US" sz="2000" dirty="0">
                <a:latin typeface="Calibri" pitchFamily="34" charset="0"/>
              </a:rPr>
              <a:t>The reader process also makes use of </a:t>
            </a:r>
            <a:r>
              <a:rPr lang="en-US" sz="2000" dirty="0" err="1">
                <a:latin typeface="Calibri" pitchFamily="34" charset="0"/>
              </a:rPr>
              <a:t>wsem</a:t>
            </a:r>
            <a:r>
              <a:rPr lang="en-US" sz="2000" dirty="0">
                <a:latin typeface="Calibri" pitchFamily="34" charset="0"/>
              </a:rPr>
              <a:t> to enforce mutual exclusion. </a:t>
            </a:r>
          </a:p>
          <a:p>
            <a:pPr>
              <a:buFont typeface="Arial" pitchFamily="34" charset="0"/>
              <a:buChar char="•"/>
            </a:pPr>
            <a:r>
              <a:rPr lang="en-US" sz="2000" dirty="0">
                <a:latin typeface="Calibri" pitchFamily="34" charset="0"/>
              </a:rPr>
              <a:t>However, to allow multiple readers, we require that, when there are no readers reading, the first reader that attempts to read should wait on </a:t>
            </a:r>
            <a:r>
              <a:rPr lang="en-US" sz="2000" dirty="0" err="1">
                <a:latin typeface="Calibri" pitchFamily="34" charset="0"/>
              </a:rPr>
              <a:t>wsem</a:t>
            </a:r>
            <a:r>
              <a:rPr lang="en-US" sz="2000" dirty="0">
                <a:latin typeface="Calibri" pitchFamily="34" charset="0"/>
              </a:rPr>
              <a:t>.</a:t>
            </a:r>
          </a:p>
          <a:p>
            <a:pPr>
              <a:buFont typeface="Arial" pitchFamily="34" charset="0"/>
              <a:buChar char="•"/>
            </a:pPr>
            <a:r>
              <a:rPr lang="en-US" sz="2000" dirty="0">
                <a:latin typeface="Calibri" pitchFamily="34" charset="0"/>
              </a:rPr>
              <a:t>When there is already at least one reader reading, subsequent readers need not</a:t>
            </a:r>
          </a:p>
          <a:p>
            <a:r>
              <a:rPr lang="en-US" sz="2000" dirty="0">
                <a:latin typeface="Calibri" pitchFamily="34" charset="0"/>
              </a:rPr>
              <a:t>  wait before entering. </a:t>
            </a:r>
          </a:p>
          <a:p>
            <a:pPr>
              <a:buFont typeface="Arial" pitchFamily="34" charset="0"/>
              <a:buChar char="•"/>
            </a:pPr>
            <a:r>
              <a:rPr lang="en-US" sz="2000" dirty="0">
                <a:latin typeface="Calibri" pitchFamily="34" charset="0"/>
              </a:rPr>
              <a:t>The global variable </a:t>
            </a:r>
            <a:r>
              <a:rPr lang="en-US" sz="2000" dirty="0" err="1">
                <a:latin typeface="Calibri" pitchFamily="34" charset="0"/>
              </a:rPr>
              <a:t>readcount</a:t>
            </a:r>
            <a:r>
              <a:rPr lang="en-US" sz="2000" dirty="0">
                <a:latin typeface="Calibri" pitchFamily="34" charset="0"/>
              </a:rPr>
              <a:t> is used to keep track of the number of readers, and the semaphore x is used to assure that </a:t>
            </a:r>
            <a:r>
              <a:rPr lang="en-US" sz="2000" dirty="0" err="1">
                <a:latin typeface="Calibri" pitchFamily="34" charset="0"/>
              </a:rPr>
              <a:t>readcount</a:t>
            </a:r>
            <a:r>
              <a:rPr lang="en-US" sz="2000" dirty="0">
                <a:latin typeface="Calibri" pitchFamily="34" charset="0"/>
              </a:rPr>
              <a:t> is updated properly.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71462"/>
            <a:ext cx="8229600" cy="35719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vert="horz" lIns="0" rIns="0" bIns="0" anchor="b">
            <a:normAutofit fontScale="825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mj-lt"/>
                <a:ea typeface="+mn-ea"/>
                <a:cs typeface="+mn-cs"/>
              </a:rPr>
              <a:t>Writers have Priority</a:t>
            </a:r>
          </a:p>
        </p:txBody>
      </p:sp>
      <p:pic>
        <p:nvPicPr>
          <p:cNvPr id="6" name="Content Placeholder 3" descr="Fig05_23a.gif"/>
          <p:cNvPicPr>
            <a:picLocks noChangeAspect="1"/>
          </p:cNvPicPr>
          <p:nvPr/>
        </p:nvPicPr>
        <p:blipFill>
          <a:blip r:embed="rId2"/>
          <a:srcRect/>
          <a:stretch>
            <a:fillRect/>
          </a:stretch>
        </p:blipFill>
        <p:spPr>
          <a:xfrm>
            <a:off x="0" y="357166"/>
            <a:ext cx="9144000" cy="485778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p:cNvSpPr/>
          <p:nvPr/>
        </p:nvSpPr>
        <p:spPr>
          <a:xfrm>
            <a:off x="0" y="5572140"/>
            <a:ext cx="9144000" cy="64633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NZ" dirty="0">
                <a:latin typeface="Calibri" pitchFamily="34" charset="0"/>
              </a:rPr>
              <a:t>This solution guarantees that no new readers are allowed access to the data area once at least one writer has declared a desire to write. </a:t>
            </a:r>
          </a:p>
        </p:txBody>
      </p:sp>
      <p:sp>
        <p:nvSpPr>
          <p:cNvPr id="8" name="Title 1"/>
          <p:cNvSpPr txBox="1">
            <a:spLocks/>
          </p:cNvSpPr>
          <p:nvPr/>
        </p:nvSpPr>
        <p:spPr>
          <a:xfrm>
            <a:off x="7500958" y="5214950"/>
            <a:ext cx="1428728" cy="214290"/>
          </a:xfrm>
          <a:prstGeom prst="rect">
            <a:avLst/>
          </a:prstGeom>
        </p:spPr>
        <p:style>
          <a:lnRef idx="2">
            <a:schemeClr val="dk1"/>
          </a:lnRef>
          <a:fillRef idx="1">
            <a:schemeClr val="lt1"/>
          </a:fillRef>
          <a:effectRef idx="0">
            <a:schemeClr val="dk1"/>
          </a:effectRef>
          <a:fontRef idx="minor">
            <a:schemeClr val="dk1"/>
          </a:fontRef>
        </p:style>
        <p:txBody>
          <a:bodyPr vert="horz" lIns="0" rIns="0" bIns="0" anchor="b">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500" b="1" i="0" u="none" strike="noStrike" kern="1200" cap="none" spc="0" normalizeH="0" baseline="0" noProof="0" dirty="0" err="1">
                <a:ln>
                  <a:noFill/>
                </a:ln>
                <a:solidFill>
                  <a:schemeClr val="dk1"/>
                </a:solidFill>
                <a:effectLst/>
                <a:uLnTx/>
                <a:uFillTx/>
                <a:latin typeface="+mj-lt"/>
                <a:ea typeface="+mn-ea"/>
                <a:cs typeface="+mn-cs"/>
              </a:rPr>
              <a:t>Contd</a:t>
            </a:r>
            <a:r>
              <a:rPr kumimoji="0" lang="en-US" sz="1500" b="1" i="0" u="none" strike="noStrike" kern="1200" cap="none" spc="0" normalizeH="0" baseline="0" noProof="0" dirty="0">
                <a:ln>
                  <a:noFill/>
                </a:ln>
                <a:solidFill>
                  <a:schemeClr val="dk1"/>
                </a:solidFill>
                <a:effectLst/>
                <a:uLnTx/>
                <a:uFillTx/>
                <a:latin typeface="+mj-lt"/>
                <a:ea typeface="+mn-ea"/>
                <a:cs typeface="+mn-cs"/>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descr="Fig05_23b.gif"/>
          <p:cNvPicPr>
            <a:picLocks noGrp="1" noChangeAspect="1"/>
          </p:cNvPicPr>
          <p:nvPr>
            <p:ph idx="1"/>
          </p:nvPr>
        </p:nvPicPr>
        <p:blipFill>
          <a:blip r:embed="rId2"/>
          <a:srcRect/>
          <a:stretch>
            <a:fillRect/>
          </a:stretch>
        </p:blipFill>
        <p:spPr>
          <a:xfrm>
            <a:off x="-71406" y="214290"/>
            <a:ext cx="9144000" cy="62865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itle 1"/>
          <p:cNvSpPr txBox="1">
            <a:spLocks/>
          </p:cNvSpPr>
          <p:nvPr/>
        </p:nvSpPr>
        <p:spPr>
          <a:xfrm>
            <a:off x="0" y="0"/>
            <a:ext cx="1428728" cy="214290"/>
          </a:xfrm>
          <a:prstGeom prst="rect">
            <a:avLst/>
          </a:prstGeom>
        </p:spPr>
        <p:style>
          <a:lnRef idx="2">
            <a:schemeClr val="dk1"/>
          </a:lnRef>
          <a:fillRef idx="1">
            <a:schemeClr val="lt1"/>
          </a:fillRef>
          <a:effectRef idx="0">
            <a:schemeClr val="dk1"/>
          </a:effectRef>
          <a:fontRef idx="minor">
            <a:schemeClr val="dk1"/>
          </a:fontRef>
        </p:style>
        <p:txBody>
          <a:bodyPr vert="horz" lIns="0" rIns="0" bIns="0" anchor="b">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500" b="1" i="0" u="none" strike="noStrike" kern="1200" cap="none" spc="0" normalizeH="0" baseline="0" noProof="0" dirty="0" err="1">
                <a:ln>
                  <a:noFill/>
                </a:ln>
                <a:solidFill>
                  <a:schemeClr val="dk1"/>
                </a:solidFill>
                <a:effectLst/>
                <a:uLnTx/>
                <a:uFillTx/>
                <a:latin typeface="+mj-lt"/>
                <a:ea typeface="+mn-ea"/>
                <a:cs typeface="+mn-cs"/>
              </a:rPr>
              <a:t>Contd</a:t>
            </a:r>
            <a:r>
              <a:rPr kumimoji="0" lang="en-US" sz="1500" b="1" i="0" u="none" strike="noStrike" kern="1200" cap="none" spc="0" normalizeH="0" baseline="0" noProof="0" dirty="0">
                <a:ln>
                  <a:noFill/>
                </a:ln>
                <a:solidFill>
                  <a:schemeClr val="dk1"/>
                </a:solidFill>
                <a:effectLst/>
                <a:uLnTx/>
                <a:uFillTx/>
                <a:latin typeface="+mj-lt"/>
                <a:ea typeface="+mn-ea"/>
                <a:cs typeface="+mn-cs"/>
              </a:rPr>
              <a:t>…</a:t>
            </a:r>
          </a:p>
        </p:txBody>
      </p:sp>
      <p:sp>
        <p:nvSpPr>
          <p:cNvPr id="7" name="Rectangle 6"/>
          <p:cNvSpPr/>
          <p:nvPr/>
        </p:nvSpPr>
        <p:spPr>
          <a:xfrm>
            <a:off x="0" y="6429396"/>
            <a:ext cx="9144000"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b="1" dirty="0">
                <a:latin typeface="Calibri" pitchFamily="34" charset="0"/>
              </a:rPr>
              <a:t>Fig 5.23 A Solution to the Readers/Writers Problem Using Semaphore: Writers Have Priority</a:t>
            </a:r>
            <a:endParaRPr lang="en-US" dirty="0">
              <a:latin typeface="Calibri"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0" y="-71462"/>
            <a:ext cx="8229600" cy="35719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vert="horz" lIns="0" rIns="0" bIns="0" anchor="b">
            <a:normAutofit fontScale="825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mj-lt"/>
                <a:ea typeface="+mn-ea"/>
                <a:cs typeface="+mn-cs"/>
              </a:rPr>
              <a:t>Writers have Priority</a:t>
            </a:r>
          </a:p>
        </p:txBody>
      </p:sp>
      <p:sp>
        <p:nvSpPr>
          <p:cNvPr id="6" name="Rectangle 5"/>
          <p:cNvSpPr/>
          <p:nvPr/>
        </p:nvSpPr>
        <p:spPr>
          <a:xfrm>
            <a:off x="71438" y="440462"/>
            <a:ext cx="8929718" cy="132343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Font typeface="Arial" pitchFamily="34" charset="0"/>
              <a:buChar char="•"/>
            </a:pPr>
            <a:r>
              <a:rPr lang="en-NZ" sz="2000" dirty="0">
                <a:latin typeface="Calibri" pitchFamily="34" charset="0"/>
              </a:rPr>
              <a:t> In Fig 5.22 Once a single reader has begun to access the data area, it is possible for </a:t>
            </a:r>
          </a:p>
          <a:p>
            <a:r>
              <a:rPr lang="en-NZ" sz="2000" dirty="0">
                <a:latin typeface="Calibri" pitchFamily="34" charset="0"/>
              </a:rPr>
              <a:t>  readers to retain control of the data area as long as there is at least one reader in the act of reading.</a:t>
            </a:r>
          </a:p>
          <a:p>
            <a:pPr>
              <a:buFont typeface="Arial" pitchFamily="34" charset="0"/>
              <a:buChar char="•"/>
            </a:pPr>
            <a:r>
              <a:rPr lang="en-NZ" sz="2000" dirty="0">
                <a:latin typeface="Calibri" pitchFamily="34" charset="0"/>
              </a:rPr>
              <a:t>Therefore, writers are subject to starvation.</a:t>
            </a:r>
            <a:endParaRPr lang="en-US" sz="2000" dirty="0">
              <a:latin typeface="Calibri" pitchFamily="34" charset="0"/>
            </a:endParaRPr>
          </a:p>
        </p:txBody>
      </p:sp>
      <p:sp>
        <p:nvSpPr>
          <p:cNvPr id="7" name="Rectangle 6"/>
          <p:cNvSpPr/>
          <p:nvPr/>
        </p:nvSpPr>
        <p:spPr>
          <a:xfrm>
            <a:off x="71438" y="1885315"/>
            <a:ext cx="8929718" cy="378565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buFont typeface="Arial" pitchFamily="34" charset="0"/>
              <a:buChar char="•"/>
            </a:pPr>
            <a:r>
              <a:rPr lang="en-US" sz="2000" dirty="0">
                <a:latin typeface="Calibri" pitchFamily="34" charset="0"/>
              </a:rPr>
              <a:t>Figure 5.23 shows a solution that guarantees that no new readers are allowed access </a:t>
            </a:r>
          </a:p>
          <a:p>
            <a:r>
              <a:rPr lang="en-US" sz="2000" dirty="0">
                <a:latin typeface="Calibri" pitchFamily="34" charset="0"/>
              </a:rPr>
              <a:t>  to the data area once at least one writer has declared a desire to write.</a:t>
            </a:r>
          </a:p>
          <a:p>
            <a:pPr>
              <a:buFont typeface="Arial" pitchFamily="34" charset="0"/>
              <a:buChar char="•"/>
            </a:pPr>
            <a:r>
              <a:rPr lang="en-US" sz="2000" dirty="0">
                <a:latin typeface="Calibri" pitchFamily="34" charset="0"/>
              </a:rPr>
              <a:t> For writers, the following semaphores and variables are added to the ones already </a:t>
            </a:r>
          </a:p>
          <a:p>
            <a:r>
              <a:rPr lang="en-US" sz="2000" dirty="0">
                <a:latin typeface="Calibri" pitchFamily="34" charset="0"/>
              </a:rPr>
              <a:t>  defined:</a:t>
            </a:r>
          </a:p>
          <a:p>
            <a:r>
              <a:rPr lang="en-US" sz="2000" dirty="0">
                <a:latin typeface="Calibri" pitchFamily="34" charset="0"/>
              </a:rPr>
              <a:t>• A semaphore </a:t>
            </a:r>
            <a:r>
              <a:rPr lang="en-US" sz="2000" dirty="0" err="1">
                <a:latin typeface="Calibri" pitchFamily="34" charset="0"/>
              </a:rPr>
              <a:t>rsem</a:t>
            </a:r>
            <a:r>
              <a:rPr lang="en-US" sz="2000" dirty="0">
                <a:latin typeface="Calibri" pitchFamily="34" charset="0"/>
              </a:rPr>
              <a:t> that inhibits all readers while there is at least one writer  </a:t>
            </a:r>
          </a:p>
          <a:p>
            <a:r>
              <a:rPr lang="en-US" sz="2000" dirty="0">
                <a:latin typeface="Calibri" pitchFamily="34" charset="0"/>
              </a:rPr>
              <a:t>  desiring access to the data area.</a:t>
            </a:r>
          </a:p>
          <a:p>
            <a:r>
              <a:rPr lang="en-US" sz="2000" dirty="0">
                <a:latin typeface="Calibri" pitchFamily="34" charset="0"/>
              </a:rPr>
              <a:t>• A variable </a:t>
            </a:r>
            <a:r>
              <a:rPr lang="en-US" sz="2000" dirty="0" err="1">
                <a:latin typeface="Calibri" pitchFamily="34" charset="0"/>
              </a:rPr>
              <a:t>writecount</a:t>
            </a:r>
            <a:r>
              <a:rPr lang="en-US" sz="2000" dirty="0">
                <a:latin typeface="Calibri" pitchFamily="34" charset="0"/>
              </a:rPr>
              <a:t> that controls the setting of </a:t>
            </a:r>
            <a:r>
              <a:rPr lang="en-US" sz="2000" dirty="0" err="1">
                <a:latin typeface="Calibri" pitchFamily="34" charset="0"/>
              </a:rPr>
              <a:t>rsem</a:t>
            </a:r>
            <a:r>
              <a:rPr lang="en-US" sz="2000" dirty="0">
                <a:latin typeface="Calibri" pitchFamily="34" charset="0"/>
              </a:rPr>
              <a:t>.</a:t>
            </a:r>
          </a:p>
          <a:p>
            <a:r>
              <a:rPr lang="en-US" sz="2000" dirty="0">
                <a:latin typeface="Calibri" pitchFamily="34" charset="0"/>
              </a:rPr>
              <a:t>• A semaphore y that controls the updating of </a:t>
            </a:r>
            <a:r>
              <a:rPr lang="en-US" sz="2000" dirty="0" err="1">
                <a:latin typeface="Calibri" pitchFamily="34" charset="0"/>
              </a:rPr>
              <a:t>writecount</a:t>
            </a:r>
            <a:r>
              <a:rPr lang="en-US" sz="2000" dirty="0">
                <a:latin typeface="Calibri" pitchFamily="34" charset="0"/>
              </a:rPr>
              <a:t>.</a:t>
            </a:r>
          </a:p>
          <a:p>
            <a:pPr>
              <a:buFont typeface="Arial" pitchFamily="34" charset="0"/>
              <a:buChar char="•"/>
            </a:pPr>
            <a:r>
              <a:rPr lang="en-US" sz="2000" dirty="0">
                <a:latin typeface="Calibri" pitchFamily="34" charset="0"/>
              </a:rPr>
              <a:t> Only one reader is allowed to queue on </a:t>
            </a:r>
            <a:r>
              <a:rPr lang="en-US" sz="2000" dirty="0" err="1">
                <a:latin typeface="Calibri" pitchFamily="34" charset="0"/>
              </a:rPr>
              <a:t>rsem</a:t>
            </a:r>
            <a:r>
              <a:rPr lang="en-US" sz="2000" dirty="0">
                <a:latin typeface="Calibri" pitchFamily="34" charset="0"/>
              </a:rPr>
              <a:t>, with any additional readers queuing  </a:t>
            </a:r>
          </a:p>
          <a:p>
            <a:r>
              <a:rPr lang="en-US" sz="2000" dirty="0">
                <a:latin typeface="Calibri" pitchFamily="34" charset="0"/>
              </a:rPr>
              <a:t>   on semaphore z, immediately before waiting on </a:t>
            </a:r>
            <a:r>
              <a:rPr lang="en-US" sz="2000" dirty="0" err="1">
                <a:latin typeface="Calibri" pitchFamily="34" charset="0"/>
              </a:rPr>
              <a:t>rsem</a:t>
            </a:r>
            <a:r>
              <a:rPr lang="en-US" sz="2000" dirty="0">
                <a:latin typeface="Calibri" pitchFamily="34" charset="0"/>
              </a:rPr>
              <a:t>.</a:t>
            </a:r>
          </a:p>
          <a:p>
            <a:pPr>
              <a:buFont typeface="Arial" pitchFamily="34" charset="0"/>
              <a:buChar char="•"/>
            </a:pPr>
            <a:r>
              <a:rPr lang="en-US" sz="2000" dirty="0">
                <a:latin typeface="Calibri" pitchFamily="34" charset="0"/>
              </a:rPr>
              <a:t> Table 5.6 summarizes the possibilities.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928670"/>
            <a:ext cx="6643734" cy="4500594"/>
          </a:xfrm>
        </p:spPr>
        <p:style>
          <a:lnRef idx="2">
            <a:schemeClr val="accent5"/>
          </a:lnRef>
          <a:fillRef idx="1">
            <a:schemeClr val="lt1"/>
          </a:fillRef>
          <a:effectRef idx="0">
            <a:schemeClr val="accent5"/>
          </a:effectRef>
          <a:fontRef idx="minor">
            <a:schemeClr val="dk1"/>
          </a:fontRef>
        </p:style>
        <p:txBody>
          <a:bodyPr>
            <a:normAutofit/>
          </a:bodyPr>
          <a:lstStyle/>
          <a:p>
            <a:pPr>
              <a:buClr>
                <a:schemeClr val="accent5">
                  <a:lumMod val="75000"/>
                </a:schemeClr>
              </a:buClr>
              <a:defRPr/>
            </a:pPr>
            <a:endParaRPr lang="en-NZ" b="1" dirty="0">
              <a:solidFill>
                <a:schemeClr val="accent1">
                  <a:lumMod val="75000"/>
                </a:schemeClr>
              </a:solidFill>
              <a:latin typeface="Calibri" pitchFamily="34" charset="0"/>
            </a:endParaRPr>
          </a:p>
          <a:p>
            <a:pPr>
              <a:buClr>
                <a:schemeClr val="accent5">
                  <a:lumMod val="75000"/>
                </a:schemeClr>
              </a:buClr>
              <a:defRPr/>
            </a:pPr>
            <a:r>
              <a:rPr lang="en-NZ" b="1" dirty="0">
                <a:solidFill>
                  <a:schemeClr val="tx2">
                    <a:lumMod val="60000"/>
                    <a:lumOff val="40000"/>
                  </a:schemeClr>
                </a:solidFill>
                <a:latin typeface="Calibri" pitchFamily="34" charset="0"/>
              </a:rPr>
              <a:t>Principles of  Deadlock</a:t>
            </a:r>
          </a:p>
          <a:p>
            <a:pPr>
              <a:buClr>
                <a:schemeClr val="accent5">
                  <a:lumMod val="75000"/>
                </a:schemeClr>
              </a:buClr>
              <a:defRPr/>
            </a:pPr>
            <a:r>
              <a:rPr lang="en-NZ" dirty="0">
                <a:solidFill>
                  <a:schemeClr val="tx1"/>
                </a:solidFill>
                <a:latin typeface="Calibri" pitchFamily="34" charset="0"/>
              </a:rPr>
              <a:t>Deadlock Prevention</a:t>
            </a:r>
          </a:p>
          <a:p>
            <a:pPr>
              <a:buClr>
                <a:schemeClr val="accent5">
                  <a:lumMod val="75000"/>
                </a:schemeClr>
              </a:buClr>
              <a:defRPr/>
            </a:pPr>
            <a:r>
              <a:rPr lang="en-NZ" dirty="0">
                <a:solidFill>
                  <a:schemeClr val="tx1"/>
                </a:solidFill>
                <a:latin typeface="Calibri" pitchFamily="34" charset="0"/>
              </a:rPr>
              <a:t>Deadlock Avoidance</a:t>
            </a:r>
          </a:p>
          <a:p>
            <a:pPr>
              <a:buClr>
                <a:schemeClr val="accent5">
                  <a:lumMod val="75000"/>
                </a:schemeClr>
              </a:buClr>
              <a:defRPr/>
            </a:pPr>
            <a:r>
              <a:rPr lang="en-NZ" dirty="0">
                <a:latin typeface="Calibri" pitchFamily="34" charset="0"/>
              </a:rPr>
              <a:t>Deadlock Detection</a:t>
            </a:r>
          </a:p>
          <a:p>
            <a:pPr>
              <a:buClr>
                <a:schemeClr val="accent5">
                  <a:lumMod val="75000"/>
                </a:schemeClr>
              </a:buClr>
              <a:defRPr/>
            </a:pPr>
            <a:r>
              <a:rPr lang="en-US" dirty="0"/>
              <a:t>Dinning philosophers problem: Solution using semaphores 	</a:t>
            </a:r>
          </a:p>
          <a:p>
            <a:pPr>
              <a:buClr>
                <a:schemeClr val="accent5">
                  <a:lumMod val="75000"/>
                </a:schemeClr>
              </a:buClr>
              <a:defRPr/>
            </a:pPr>
            <a:endParaRPr lang="en-NZ" dirty="0">
              <a:latin typeface="Calibri" pitchFamily="34" charset="0"/>
            </a:endParaRPr>
          </a:p>
          <a:p>
            <a:pPr>
              <a:buClr>
                <a:schemeClr val="accent5">
                  <a:lumMod val="75000"/>
                </a:schemeClr>
              </a:buClr>
              <a:defRPr/>
            </a:pPr>
            <a:endParaRPr lang="en-NZ" dirty="0">
              <a:latin typeface="Calibri" pitchFamily="34" charset="0"/>
            </a:endParaRPr>
          </a:p>
        </p:txBody>
      </p:sp>
      <p:sp>
        <p:nvSpPr>
          <p:cNvPr id="5" name="Slide Number Placeholder 4"/>
          <p:cNvSpPr>
            <a:spLocks noGrp="1"/>
          </p:cNvSpPr>
          <p:nvPr>
            <p:ph type="sldNum" sz="quarter" idx="12"/>
          </p:nvPr>
        </p:nvSpPr>
        <p:spPr/>
        <p:txBody>
          <a:bodyPr/>
          <a:lstStyle/>
          <a:p>
            <a:fld id="{8721AD9F-4A2E-478F-ACDB-FC9429174183}" type="slidenum">
              <a:rPr lang="en-GB" smtClean="0"/>
              <a:pPr/>
              <a:t>43</a:t>
            </a:fld>
            <a:endParaRPr lang="en-GB"/>
          </a:p>
        </p:txBody>
      </p:sp>
      <p:sp>
        <p:nvSpPr>
          <p:cNvPr id="4" name="Title 1"/>
          <p:cNvSpPr txBox="1">
            <a:spLocks/>
          </p:cNvSpPr>
          <p:nvPr/>
        </p:nvSpPr>
        <p:spPr>
          <a:xfrm>
            <a:off x="1142976" y="71422"/>
            <a:ext cx="6072230" cy="50005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solidFill>
                  <a:schemeClr val="bg1">
                    <a:lumMod val="95000"/>
                  </a:schemeClr>
                </a:solidFill>
                <a:effectLst>
                  <a:outerShdw blurRad="38100" dist="38100" dir="2700000" algn="tl">
                    <a:srgbClr val="000000">
                      <a:alpha val="43137"/>
                    </a:srgbClr>
                  </a:outerShdw>
                </a:effectLst>
                <a:latin typeface="+mj-lt"/>
              </a:rPr>
              <a:t>ROADMAP - Deadlock</a:t>
            </a:r>
            <a:endParaRPr kumimoji="0" lang="en-GB" sz="2800" b="1" i="0" u="none" strike="noStrike" kern="1200" cap="none" spc="0" normalizeH="0" baseline="0" noProof="0" dirty="0">
              <a:ln>
                <a:noFill/>
              </a:ln>
              <a:solidFill>
                <a:schemeClr val="bg1">
                  <a:lumMod val="95000"/>
                </a:schemeClr>
              </a:solidFill>
              <a:effectLst>
                <a:outerShdw blurRad="38100" dist="38100" dir="2700000" algn="tl">
                  <a:srgbClr val="000000">
                    <a:alpha val="43137"/>
                  </a:srgbClr>
                </a:outerShdw>
              </a:effectLst>
              <a:uLnTx/>
              <a:uFillTx/>
              <a:latin typeface="+mj-lt"/>
              <a:ea typeface="+mn-ea"/>
              <a:cs typeface="+mn-cs"/>
            </a:endParaRPr>
          </a:p>
        </p:txBody>
      </p:sp>
      <p:sp>
        <p:nvSpPr>
          <p:cNvPr id="6" name="Right Arrow 5"/>
          <p:cNvSpPr/>
          <p:nvPr/>
        </p:nvSpPr>
        <p:spPr>
          <a:xfrm>
            <a:off x="357158" y="1643050"/>
            <a:ext cx="357190" cy="285752"/>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5245999"/>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133600" y="76200"/>
            <a:ext cx="4495800" cy="533400"/>
          </a:xfrm>
        </p:spPr>
        <p:style>
          <a:lnRef idx="3">
            <a:schemeClr val="lt1"/>
          </a:lnRef>
          <a:fillRef idx="1">
            <a:schemeClr val="accent2"/>
          </a:fillRef>
          <a:effectRef idx="1">
            <a:schemeClr val="accent2"/>
          </a:effectRef>
          <a:fontRef idx="minor">
            <a:schemeClr val="lt1"/>
          </a:fontRef>
        </p:style>
        <p:txBody>
          <a:bodyPr>
            <a:normAutofit/>
          </a:bodyPr>
          <a:lstStyle/>
          <a:p>
            <a:pPr algn="ctr"/>
            <a:r>
              <a:rPr lang="en-US" sz="2800" b="1" dirty="0">
                <a:solidFill>
                  <a:schemeClr val="bg1"/>
                </a:solidFill>
                <a:effectLst>
                  <a:outerShdw blurRad="38100" dist="38100" dir="2700000" algn="tl">
                    <a:srgbClr val="000000">
                      <a:alpha val="43137"/>
                    </a:srgbClr>
                  </a:outerShdw>
                </a:effectLst>
                <a:latin typeface="Calibri" pitchFamily="34" charset="0"/>
              </a:rPr>
              <a:t>Deadlock</a:t>
            </a:r>
          </a:p>
        </p:txBody>
      </p:sp>
      <p:sp>
        <p:nvSpPr>
          <p:cNvPr id="3" name="Content Placeholder 2"/>
          <p:cNvSpPr>
            <a:spLocks noGrp="1"/>
          </p:cNvSpPr>
          <p:nvPr>
            <p:ph idx="1"/>
          </p:nvPr>
        </p:nvSpPr>
        <p:spPr>
          <a:xfrm>
            <a:off x="2514600" y="914400"/>
            <a:ext cx="6248400" cy="5364163"/>
          </a:xfrm>
        </p:spPr>
        <p:style>
          <a:lnRef idx="2">
            <a:schemeClr val="accent2"/>
          </a:lnRef>
          <a:fillRef idx="1">
            <a:schemeClr val="lt1"/>
          </a:fillRef>
          <a:effectRef idx="0">
            <a:schemeClr val="accent2"/>
          </a:effectRef>
          <a:fontRef idx="minor">
            <a:schemeClr val="dk1"/>
          </a:fontRef>
        </p:style>
        <p:txBody>
          <a:bodyPr>
            <a:normAutofit/>
          </a:bodyPr>
          <a:lstStyle/>
          <a:p>
            <a:r>
              <a:rPr lang="en-NZ" sz="2300" dirty="0">
                <a:latin typeface="Calibri" pitchFamily="34" charset="0"/>
              </a:rPr>
              <a:t>A set of processes is deadlocked when each process in the set is blocked awaiting an event that can only be triggered by another blocked process in the set</a:t>
            </a:r>
          </a:p>
          <a:p>
            <a:pPr lvl="1"/>
            <a:r>
              <a:rPr lang="en-NZ" sz="2300" dirty="0">
                <a:latin typeface="Calibri" pitchFamily="34" charset="0"/>
              </a:rPr>
              <a:t>typically processes are waiting the freeing up of some requested resource. </a:t>
            </a:r>
          </a:p>
          <a:p>
            <a:pPr lvl="1"/>
            <a:endParaRPr lang="en-NZ" sz="2300" dirty="0">
              <a:latin typeface="Calibri" pitchFamily="34" charset="0"/>
            </a:endParaRPr>
          </a:p>
          <a:p>
            <a:r>
              <a:rPr lang="en-NZ" sz="2300" dirty="0">
                <a:latin typeface="Calibri" pitchFamily="34" charset="0"/>
              </a:rPr>
              <a:t>Deadlock is permanent because none of the events is ever triggered.</a:t>
            </a:r>
          </a:p>
          <a:p>
            <a:endParaRPr lang="en-NZ" sz="2300" dirty="0">
              <a:latin typeface="Calibri" pitchFamily="34" charset="0"/>
            </a:endParaRPr>
          </a:p>
          <a:p>
            <a:r>
              <a:rPr lang="en-NZ" sz="2300" dirty="0">
                <a:latin typeface="Calibri" pitchFamily="34" charset="0"/>
              </a:rPr>
              <a:t>Unlike other problems in concurrent process management, there is no efficient solution in the general case.</a:t>
            </a:r>
          </a:p>
          <a:p>
            <a:endParaRPr lang="en-US" sz="2300" dirty="0">
              <a:latin typeface="Calibri" pitchFamily="34" charset="0"/>
            </a:endParaRPr>
          </a:p>
        </p:txBody>
      </p:sp>
    </p:spTree>
    <p:extLst>
      <p:ext uri="{BB962C8B-B14F-4D97-AF65-F5344CB8AC3E}">
        <p14:creationId xmlns:p14="http://schemas.microsoft.com/office/powerpoint/2010/main" val="1664453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2"/>
          <p:cNvPicPr>
            <a:picLocks noChangeAspect="1" noChangeArrowheads="1"/>
          </p:cNvPicPr>
          <p:nvPr/>
        </p:nvPicPr>
        <p:blipFill>
          <a:blip r:embed="rId3"/>
          <a:srcRect/>
          <a:stretch>
            <a:fillRect/>
          </a:stretch>
        </p:blipFill>
        <p:spPr bwMode="auto">
          <a:xfrm>
            <a:off x="2471738" y="1839913"/>
            <a:ext cx="4200525" cy="4179887"/>
          </a:xfrm>
          <a:prstGeom prst="rect">
            <a:avLst/>
          </a:prstGeom>
          <a:noFill/>
          <a:ln w="9525">
            <a:noFill/>
            <a:miter lim="800000"/>
            <a:headEnd/>
            <a:tailEnd/>
          </a:ln>
        </p:spPr>
      </p:pic>
      <p:pic>
        <p:nvPicPr>
          <p:cNvPr id="1027" name="Picture 3"/>
          <p:cNvPicPr>
            <a:picLocks noChangeAspect="1" noChangeArrowheads="1"/>
          </p:cNvPicPr>
          <p:nvPr/>
        </p:nvPicPr>
        <p:blipFill>
          <a:blip r:embed="rId4"/>
          <a:srcRect/>
          <a:stretch>
            <a:fillRect/>
          </a:stretch>
        </p:blipFill>
        <p:spPr bwMode="auto">
          <a:xfrm>
            <a:off x="4168775" y="-838200"/>
            <a:ext cx="349250" cy="730250"/>
          </a:xfrm>
          <a:prstGeom prst="rect">
            <a:avLst/>
          </a:prstGeom>
          <a:noFill/>
          <a:ln w="9525">
            <a:noFill/>
            <a:miter lim="800000"/>
            <a:headEnd/>
            <a:tailEnd/>
          </a:ln>
        </p:spPr>
      </p:pic>
      <p:pic>
        <p:nvPicPr>
          <p:cNvPr id="1028" name="Picture 4"/>
          <p:cNvPicPr>
            <a:picLocks noChangeAspect="1" noChangeArrowheads="1"/>
          </p:cNvPicPr>
          <p:nvPr/>
        </p:nvPicPr>
        <p:blipFill>
          <a:blip r:embed="rId5"/>
          <a:srcRect/>
          <a:stretch>
            <a:fillRect/>
          </a:stretch>
        </p:blipFill>
        <p:spPr bwMode="auto">
          <a:xfrm>
            <a:off x="4605338" y="7035800"/>
            <a:ext cx="379412" cy="660400"/>
          </a:xfrm>
          <a:prstGeom prst="rect">
            <a:avLst/>
          </a:prstGeom>
          <a:noFill/>
          <a:ln w="9525">
            <a:noFill/>
            <a:miter lim="800000"/>
            <a:headEnd/>
            <a:tailEnd/>
          </a:ln>
        </p:spPr>
      </p:pic>
      <p:pic>
        <p:nvPicPr>
          <p:cNvPr id="1029" name="Picture 5"/>
          <p:cNvPicPr>
            <a:picLocks noChangeAspect="1" noChangeArrowheads="1"/>
          </p:cNvPicPr>
          <p:nvPr/>
        </p:nvPicPr>
        <p:blipFill>
          <a:blip r:embed="rId6"/>
          <a:srcRect/>
          <a:stretch>
            <a:fillRect/>
          </a:stretch>
        </p:blipFill>
        <p:spPr bwMode="auto">
          <a:xfrm>
            <a:off x="9297988" y="3529013"/>
            <a:ext cx="760412" cy="379412"/>
          </a:xfrm>
          <a:prstGeom prst="rect">
            <a:avLst/>
          </a:prstGeom>
          <a:noFill/>
          <a:ln w="9525">
            <a:noFill/>
            <a:miter lim="800000"/>
            <a:headEnd/>
            <a:tailEnd/>
          </a:ln>
        </p:spPr>
      </p:pic>
      <p:pic>
        <p:nvPicPr>
          <p:cNvPr id="1030" name="Picture 6"/>
          <p:cNvPicPr>
            <a:picLocks noChangeAspect="1" noChangeArrowheads="1"/>
          </p:cNvPicPr>
          <p:nvPr/>
        </p:nvPicPr>
        <p:blipFill>
          <a:blip r:embed="rId7"/>
          <a:srcRect/>
          <a:stretch>
            <a:fillRect/>
          </a:stretch>
        </p:blipFill>
        <p:spPr bwMode="auto">
          <a:xfrm>
            <a:off x="-914400" y="4006850"/>
            <a:ext cx="700087" cy="369888"/>
          </a:xfrm>
          <a:prstGeom prst="rect">
            <a:avLst/>
          </a:prstGeom>
          <a:noFill/>
          <a:ln w="9525">
            <a:noFill/>
            <a:miter lim="800000"/>
            <a:headEnd/>
            <a:tailEnd/>
          </a:ln>
        </p:spPr>
      </p:pic>
      <p:pic>
        <p:nvPicPr>
          <p:cNvPr id="1031" name="Picture 7"/>
          <p:cNvPicPr>
            <a:picLocks noChangeAspect="1" noChangeArrowheads="1"/>
          </p:cNvPicPr>
          <p:nvPr/>
        </p:nvPicPr>
        <p:blipFill>
          <a:blip r:embed="rId8"/>
          <a:srcRect/>
          <a:stretch>
            <a:fillRect/>
          </a:stretch>
        </p:blipFill>
        <p:spPr bwMode="auto">
          <a:xfrm>
            <a:off x="2476500" y="1870075"/>
            <a:ext cx="4189413" cy="4149725"/>
          </a:xfrm>
          <a:prstGeom prst="rect">
            <a:avLst/>
          </a:prstGeom>
          <a:noFill/>
          <a:ln w="9525">
            <a:noFill/>
            <a:miter lim="800000"/>
            <a:headEnd/>
            <a:tailEnd/>
          </a:ln>
        </p:spPr>
      </p:pic>
      <p:sp>
        <p:nvSpPr>
          <p:cNvPr id="9" name="Cloud Callout 8"/>
          <p:cNvSpPr/>
          <p:nvPr/>
        </p:nvSpPr>
        <p:spPr>
          <a:xfrm>
            <a:off x="6477000" y="4191000"/>
            <a:ext cx="2667000" cy="1524000"/>
          </a:xfrm>
          <a:prstGeom prst="cloudCallout">
            <a:avLst>
              <a:gd name="adj1" fmla="val -100017"/>
              <a:gd name="adj2" fmla="val -21786"/>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lang="en-NZ" sz="2400" dirty="0"/>
              <a:t>I need quad A and B</a:t>
            </a:r>
          </a:p>
        </p:txBody>
      </p:sp>
      <p:sp>
        <p:nvSpPr>
          <p:cNvPr id="11" name="Cloud Callout 10"/>
          <p:cNvSpPr/>
          <p:nvPr/>
        </p:nvSpPr>
        <p:spPr>
          <a:xfrm>
            <a:off x="5943600" y="1600200"/>
            <a:ext cx="2667000" cy="1524000"/>
          </a:xfrm>
          <a:prstGeom prst="cloudCallout">
            <a:avLst>
              <a:gd name="adj1" fmla="val -91037"/>
              <a:gd name="adj2" fmla="val 66785"/>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lang="en-NZ" sz="2400" dirty="0"/>
              <a:t>I need quad B and C</a:t>
            </a:r>
          </a:p>
        </p:txBody>
      </p:sp>
      <p:sp>
        <p:nvSpPr>
          <p:cNvPr id="12" name="Cloud Callout 11"/>
          <p:cNvSpPr/>
          <p:nvPr/>
        </p:nvSpPr>
        <p:spPr>
          <a:xfrm>
            <a:off x="228600" y="1524000"/>
            <a:ext cx="2667000" cy="1524000"/>
          </a:xfrm>
          <a:prstGeom prst="cloudCallout">
            <a:avLst>
              <a:gd name="adj1" fmla="val 91820"/>
              <a:gd name="adj2" fmla="val 56785"/>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lang="en-NZ" sz="2400" dirty="0"/>
              <a:t>I need quad C and D</a:t>
            </a:r>
          </a:p>
        </p:txBody>
      </p:sp>
      <p:sp>
        <p:nvSpPr>
          <p:cNvPr id="13" name="Cloud Callout 12"/>
          <p:cNvSpPr/>
          <p:nvPr/>
        </p:nvSpPr>
        <p:spPr>
          <a:xfrm>
            <a:off x="609600" y="4648200"/>
            <a:ext cx="2667000" cy="1524000"/>
          </a:xfrm>
          <a:prstGeom prst="cloudCallout">
            <a:avLst>
              <a:gd name="adj1" fmla="val 60800"/>
              <a:gd name="adj2" fmla="val -73215"/>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lang="en-NZ" sz="2400" dirty="0"/>
              <a:t>I need quad D and A</a:t>
            </a:r>
          </a:p>
        </p:txBody>
      </p:sp>
      <p:sp>
        <p:nvSpPr>
          <p:cNvPr id="15" name="Title 1"/>
          <p:cNvSpPr>
            <a:spLocks noGrp="1"/>
          </p:cNvSpPr>
          <p:nvPr>
            <p:ph type="title"/>
          </p:nvPr>
        </p:nvSpPr>
        <p:spPr>
          <a:xfrm>
            <a:off x="2133600" y="76200"/>
            <a:ext cx="4495800" cy="533400"/>
          </a:xfrm>
        </p:spPr>
        <p:style>
          <a:lnRef idx="3">
            <a:schemeClr val="lt1"/>
          </a:lnRef>
          <a:fillRef idx="1">
            <a:schemeClr val="accent2"/>
          </a:fillRef>
          <a:effectRef idx="1">
            <a:schemeClr val="accent2"/>
          </a:effectRef>
          <a:fontRef idx="minor">
            <a:schemeClr val="lt1"/>
          </a:fontRef>
        </p:style>
        <p:txBody>
          <a:bodyPr>
            <a:normAutofit/>
          </a:bodyPr>
          <a:lstStyle/>
          <a:p>
            <a:pPr algn="ctr"/>
            <a:r>
              <a:rPr lang="en-US" sz="2800" b="1" dirty="0">
                <a:solidFill>
                  <a:schemeClr val="bg1"/>
                </a:solidFill>
                <a:effectLst>
                  <a:outerShdw blurRad="38100" dist="38100" dir="2700000" algn="tl">
                    <a:srgbClr val="000000">
                      <a:alpha val="43137"/>
                    </a:srgbClr>
                  </a:outerShdw>
                </a:effectLst>
                <a:latin typeface="Calibri" pitchFamily="34" charset="0"/>
              </a:rPr>
              <a:t>Potential Deadlock</a:t>
            </a:r>
          </a:p>
        </p:txBody>
      </p:sp>
    </p:spTree>
    <p:extLst>
      <p:ext uri="{BB962C8B-B14F-4D97-AF65-F5344CB8AC3E}">
        <p14:creationId xmlns:p14="http://schemas.microsoft.com/office/powerpoint/2010/main" val="31960374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03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2.77778E-6 -4.81481E-6 L -2.77778E-6 0.51111 " pathEditMode="relative" ptsTypes="AA">
                                      <p:cBhvr>
                                        <p:cTn id="10" dur="2000" fill="hold"/>
                                        <p:tgtEl>
                                          <p:spTgt spid="1027"/>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3.33333E-6 3.7037E-7 L -0.46666 0.00231 " pathEditMode="relative" rAng="0" ptsTypes="AA">
                                      <p:cBhvr>
                                        <p:cTn id="12" dur="2000" fill="hold"/>
                                        <p:tgtEl>
                                          <p:spTgt spid="1029"/>
                                        </p:tgtEl>
                                        <p:attrNameLst>
                                          <p:attrName>ppt_x</p:attrName>
                                          <p:attrName>ppt_y</p:attrName>
                                        </p:attrNameLst>
                                      </p:cBhvr>
                                      <p:rCtr x="-233" y="1"/>
                                    </p:animMotion>
                                  </p:childTnLst>
                                </p:cTn>
                              </p:par>
                              <p:par>
                                <p:cTn id="13" presetID="0" presetClass="path" presetSubtype="0" accel="50000" decel="50000" fill="hold" nodeType="withEffect">
                                  <p:stCondLst>
                                    <p:cond delay="0"/>
                                  </p:stCondLst>
                                  <p:childTnLst>
                                    <p:animMotion origin="layout" path="M 3.05556E-6 8.51852E-6 L 3.05556E-6 -0.37777 " pathEditMode="relative" ptsTypes="AA">
                                      <p:cBhvr>
                                        <p:cTn id="14" dur="2000" fill="hold"/>
                                        <p:tgtEl>
                                          <p:spTgt spid="1028"/>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1.94444E-6 -1.11111E-6 L 0.4783 -1.11111E-6 " pathEditMode="relative" rAng="0" ptsTypes="AA">
                                      <p:cBhvr>
                                        <p:cTn id="16" dur="2000" fill="hold"/>
                                        <p:tgtEl>
                                          <p:spTgt spid="1030"/>
                                        </p:tgtEl>
                                        <p:attrNameLst>
                                          <p:attrName>ppt_x</p:attrName>
                                          <p:attrName>ppt_y</p:attrName>
                                        </p:attrNameLst>
                                      </p:cBhvr>
                                      <p:rCtr x="239" y="0"/>
                                    </p:animMotion>
                                  </p:childTnLst>
                                </p:cTn>
                              </p:par>
                            </p:childTnLst>
                          </p:cTn>
                        </p:par>
                        <p:par>
                          <p:cTn id="17" fill="hold">
                            <p:stCondLst>
                              <p:cond delay="2000"/>
                            </p:stCondLst>
                            <p:childTnLst>
                              <p:par>
                                <p:cTn id="18" presetID="22" presetClass="entr" presetSubtype="8" fill="hold" grpId="0" nodeType="afterEffect">
                                  <p:stCondLst>
                                    <p:cond delay="100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par>
                          <p:cTn id="21" fill="hold">
                            <p:stCondLst>
                              <p:cond delay="3500"/>
                            </p:stCondLst>
                            <p:childTnLst>
                              <p:par>
                                <p:cTn id="22" presetID="22" presetClass="entr" presetSubtype="8"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par>
                          <p:cTn id="25" fill="hold">
                            <p:stCondLst>
                              <p:cond delay="4000"/>
                            </p:stCondLst>
                            <p:childTnLst>
                              <p:par>
                                <p:cTn id="26" presetID="22" presetClass="entr" presetSubtype="2"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right)">
                                      <p:cBhvr>
                                        <p:cTn id="28" dur="500"/>
                                        <p:tgtEl>
                                          <p:spTgt spid="12"/>
                                        </p:tgtEl>
                                      </p:cBhvr>
                                    </p:animEffect>
                                  </p:childTnLst>
                                </p:cTn>
                              </p:par>
                            </p:childTnLst>
                          </p:cTn>
                        </p:par>
                        <p:par>
                          <p:cTn id="29" fill="hold">
                            <p:stCondLst>
                              <p:cond delay="4500"/>
                            </p:stCondLst>
                            <p:childTnLst>
                              <p:par>
                                <p:cTn id="30" presetID="22" presetClass="entr" presetSubtype="2"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right)">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057400" y="762000"/>
            <a:ext cx="6934200" cy="5867400"/>
          </a:xfrm>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pPr>
              <a:defRPr/>
            </a:pPr>
            <a:r>
              <a:rPr lang="en-NZ" sz="2300" dirty="0">
                <a:latin typeface="Calibri" pitchFamily="34" charset="0"/>
              </a:rPr>
              <a:t>All deadlocks involve conflicting needs for resources by two or more processes.   A common example is the traffic deadlock. </a:t>
            </a:r>
          </a:p>
          <a:p>
            <a:pPr>
              <a:defRPr/>
            </a:pPr>
            <a:endParaRPr lang="en-NZ" sz="2300" dirty="0">
              <a:latin typeface="Calibri" pitchFamily="34" charset="0"/>
            </a:endParaRPr>
          </a:p>
          <a:p>
            <a:pPr>
              <a:defRPr/>
            </a:pPr>
            <a:r>
              <a:rPr lang="en-NZ" sz="2300" dirty="0">
                <a:latin typeface="Calibri" pitchFamily="34" charset="0"/>
              </a:rPr>
              <a:t>The typical rule of the road in the United States is that a car at a four-way stop should defer to a car immediately to its right.</a:t>
            </a:r>
          </a:p>
          <a:p>
            <a:pPr>
              <a:defRPr/>
            </a:pPr>
            <a:endParaRPr lang="en-NZ" sz="2300" dirty="0">
              <a:latin typeface="Calibri" pitchFamily="34" charset="0"/>
            </a:endParaRPr>
          </a:p>
          <a:p>
            <a:pPr>
              <a:defRPr/>
            </a:pPr>
            <a:r>
              <a:rPr lang="en-NZ" sz="2300" dirty="0">
                <a:latin typeface="Calibri" pitchFamily="34" charset="0"/>
              </a:rPr>
              <a:t>This rule works if there are only two or three cars at the intersection. </a:t>
            </a:r>
          </a:p>
          <a:p>
            <a:pPr>
              <a:defRPr/>
            </a:pPr>
            <a:endParaRPr lang="en-NZ" sz="2300" dirty="0">
              <a:latin typeface="Calibri" pitchFamily="34" charset="0"/>
            </a:endParaRPr>
          </a:p>
          <a:p>
            <a:pPr>
              <a:defRPr/>
            </a:pPr>
            <a:r>
              <a:rPr lang="en-NZ" sz="2300" dirty="0">
                <a:latin typeface="Calibri" pitchFamily="34" charset="0"/>
              </a:rPr>
              <a:t>If all four cars arrive at about the same time, each will refrain from entering the intersection, this causes a  </a:t>
            </a:r>
            <a:r>
              <a:rPr lang="en-NZ" sz="2300" b="1" dirty="0">
                <a:latin typeface="Calibri" pitchFamily="34" charset="0"/>
              </a:rPr>
              <a:t>potential deadlock.</a:t>
            </a:r>
          </a:p>
          <a:p>
            <a:pPr lvl="1">
              <a:buFont typeface="Arial" pitchFamily="34" charset="0"/>
              <a:buChar char="•"/>
              <a:defRPr/>
            </a:pPr>
            <a:r>
              <a:rPr lang="en-NZ" sz="2300" dirty="0">
                <a:latin typeface="Calibri" pitchFamily="34" charset="0"/>
              </a:rPr>
              <a:t>The deadlock is only potential, not actual, because the necessary resources are available for any of the cars to proceed. </a:t>
            </a:r>
          </a:p>
          <a:p>
            <a:pPr lvl="1">
              <a:buFont typeface="Arial" pitchFamily="34" charset="0"/>
              <a:buChar char="•"/>
              <a:defRPr/>
            </a:pPr>
            <a:r>
              <a:rPr lang="en-NZ" sz="2300" dirty="0">
                <a:latin typeface="Calibri" pitchFamily="34" charset="0"/>
              </a:rPr>
              <a:t>If one car eventually does proceed, it can do so.</a:t>
            </a:r>
          </a:p>
          <a:p>
            <a:endParaRPr lang="en-US" sz="2300" dirty="0">
              <a:latin typeface="Calibri" pitchFamily="34" charset="0"/>
            </a:endParaRPr>
          </a:p>
        </p:txBody>
      </p:sp>
      <p:sp>
        <p:nvSpPr>
          <p:cNvPr id="4" name="Title 1"/>
          <p:cNvSpPr>
            <a:spLocks noGrp="1"/>
          </p:cNvSpPr>
          <p:nvPr>
            <p:ph type="title"/>
          </p:nvPr>
        </p:nvSpPr>
        <p:spPr>
          <a:xfrm>
            <a:off x="1828800" y="76200"/>
            <a:ext cx="4953000" cy="533400"/>
          </a:xfrm>
        </p:spPr>
        <p:style>
          <a:lnRef idx="3">
            <a:schemeClr val="lt1"/>
          </a:lnRef>
          <a:fillRef idx="1">
            <a:schemeClr val="accent2"/>
          </a:fillRef>
          <a:effectRef idx="1">
            <a:schemeClr val="accent2"/>
          </a:effectRef>
          <a:fontRef idx="minor">
            <a:schemeClr val="lt1"/>
          </a:fontRef>
        </p:style>
        <p:txBody>
          <a:bodyPr>
            <a:normAutofit/>
          </a:bodyPr>
          <a:lstStyle/>
          <a:p>
            <a:pPr algn="ctr"/>
            <a:r>
              <a:rPr lang="en-US" sz="2800" b="1" dirty="0">
                <a:solidFill>
                  <a:schemeClr val="bg1"/>
                </a:solidFill>
                <a:effectLst>
                  <a:outerShdw blurRad="38100" dist="38100" dir="2700000" algn="tl">
                    <a:srgbClr val="000000">
                      <a:alpha val="43137"/>
                    </a:srgbClr>
                  </a:outerShdw>
                </a:effectLst>
                <a:latin typeface="Calibri" pitchFamily="34" charset="0"/>
              </a:rPr>
              <a:t>Potential Deadlock</a:t>
            </a:r>
          </a:p>
        </p:txBody>
      </p:sp>
      <p:pic>
        <p:nvPicPr>
          <p:cNvPr id="4098" name="Picture 2" descr="E:\gp image\login_icon.png"/>
          <p:cNvPicPr>
            <a:picLocks noChangeAspect="1" noChangeArrowheads="1"/>
          </p:cNvPicPr>
          <p:nvPr/>
        </p:nvPicPr>
        <p:blipFill>
          <a:blip r:embed="rId2"/>
          <a:srcRect/>
          <a:stretch>
            <a:fillRect/>
          </a:stretch>
        </p:blipFill>
        <p:spPr bwMode="auto">
          <a:xfrm>
            <a:off x="76200" y="1219200"/>
            <a:ext cx="1676400" cy="1676400"/>
          </a:xfrm>
          <a:prstGeom prst="rect">
            <a:avLst/>
          </a:prstGeom>
          <a:noFill/>
        </p:spPr>
      </p:pic>
    </p:spTree>
    <p:extLst>
      <p:ext uri="{BB962C8B-B14F-4D97-AF65-F5344CB8AC3E}">
        <p14:creationId xmlns:p14="http://schemas.microsoft.com/office/powerpoint/2010/main" val="33727180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2"/>
          <p:cNvPicPr>
            <a:picLocks noChangeAspect="1" noChangeArrowheads="1"/>
          </p:cNvPicPr>
          <p:nvPr/>
        </p:nvPicPr>
        <p:blipFill>
          <a:blip r:embed="rId3"/>
          <a:srcRect/>
          <a:stretch>
            <a:fillRect/>
          </a:stretch>
        </p:blipFill>
        <p:spPr bwMode="auto">
          <a:xfrm>
            <a:off x="2471738" y="1839913"/>
            <a:ext cx="4200525" cy="4179887"/>
          </a:xfrm>
          <a:prstGeom prst="rect">
            <a:avLst/>
          </a:prstGeom>
          <a:noFill/>
          <a:ln w="9525">
            <a:noFill/>
            <a:miter lim="800000"/>
            <a:headEnd/>
            <a:tailEnd/>
          </a:ln>
        </p:spPr>
      </p:pic>
      <p:pic>
        <p:nvPicPr>
          <p:cNvPr id="1027" name="Picture 3"/>
          <p:cNvPicPr>
            <a:picLocks noChangeAspect="1" noChangeArrowheads="1"/>
          </p:cNvPicPr>
          <p:nvPr/>
        </p:nvPicPr>
        <p:blipFill>
          <a:blip r:embed="rId4"/>
          <a:srcRect/>
          <a:stretch>
            <a:fillRect/>
          </a:stretch>
        </p:blipFill>
        <p:spPr bwMode="auto">
          <a:xfrm>
            <a:off x="4114800" y="2743200"/>
            <a:ext cx="349250" cy="730250"/>
          </a:xfrm>
          <a:prstGeom prst="rect">
            <a:avLst/>
          </a:prstGeom>
          <a:noFill/>
          <a:ln w="9525">
            <a:noFill/>
            <a:miter lim="800000"/>
            <a:headEnd/>
            <a:tailEnd/>
          </a:ln>
        </p:spPr>
      </p:pic>
      <p:pic>
        <p:nvPicPr>
          <p:cNvPr id="1028" name="Picture 4"/>
          <p:cNvPicPr>
            <a:picLocks noChangeAspect="1" noChangeArrowheads="1"/>
          </p:cNvPicPr>
          <p:nvPr/>
        </p:nvPicPr>
        <p:blipFill>
          <a:blip r:embed="rId5"/>
          <a:srcRect/>
          <a:stretch>
            <a:fillRect/>
          </a:stretch>
        </p:blipFill>
        <p:spPr bwMode="auto">
          <a:xfrm>
            <a:off x="4572000" y="4495800"/>
            <a:ext cx="379413" cy="660400"/>
          </a:xfrm>
          <a:prstGeom prst="rect">
            <a:avLst/>
          </a:prstGeom>
          <a:noFill/>
          <a:ln w="9525">
            <a:noFill/>
            <a:miter lim="800000"/>
            <a:headEnd/>
            <a:tailEnd/>
          </a:ln>
        </p:spPr>
      </p:pic>
      <p:pic>
        <p:nvPicPr>
          <p:cNvPr id="1029" name="Picture 5"/>
          <p:cNvPicPr>
            <a:picLocks noChangeAspect="1" noChangeArrowheads="1"/>
          </p:cNvPicPr>
          <p:nvPr/>
        </p:nvPicPr>
        <p:blipFill>
          <a:blip r:embed="rId6"/>
          <a:srcRect/>
          <a:stretch>
            <a:fillRect/>
          </a:stretch>
        </p:blipFill>
        <p:spPr bwMode="auto">
          <a:xfrm>
            <a:off x="5029200" y="3582988"/>
            <a:ext cx="760413" cy="379412"/>
          </a:xfrm>
          <a:prstGeom prst="rect">
            <a:avLst/>
          </a:prstGeom>
          <a:noFill/>
          <a:ln w="9525">
            <a:noFill/>
            <a:miter lim="800000"/>
            <a:headEnd/>
            <a:tailEnd/>
          </a:ln>
        </p:spPr>
      </p:pic>
      <p:pic>
        <p:nvPicPr>
          <p:cNvPr id="1030" name="Picture 6"/>
          <p:cNvPicPr>
            <a:picLocks noChangeAspect="1" noChangeArrowheads="1"/>
          </p:cNvPicPr>
          <p:nvPr/>
        </p:nvPicPr>
        <p:blipFill>
          <a:blip r:embed="rId7"/>
          <a:srcRect/>
          <a:stretch>
            <a:fillRect/>
          </a:stretch>
        </p:blipFill>
        <p:spPr bwMode="auto">
          <a:xfrm>
            <a:off x="3429000" y="3962400"/>
            <a:ext cx="700088" cy="369888"/>
          </a:xfrm>
          <a:prstGeom prst="rect">
            <a:avLst/>
          </a:prstGeom>
          <a:noFill/>
          <a:ln w="9525">
            <a:noFill/>
            <a:miter lim="800000"/>
            <a:headEnd/>
            <a:tailEnd/>
          </a:ln>
        </p:spPr>
      </p:pic>
      <p:pic>
        <p:nvPicPr>
          <p:cNvPr id="2050" name="Picture 2"/>
          <p:cNvPicPr>
            <a:picLocks noChangeAspect="1" noChangeArrowheads="1"/>
          </p:cNvPicPr>
          <p:nvPr/>
        </p:nvPicPr>
        <p:blipFill>
          <a:blip r:embed="rId8"/>
          <a:srcRect/>
          <a:stretch>
            <a:fillRect/>
          </a:stretch>
        </p:blipFill>
        <p:spPr bwMode="auto">
          <a:xfrm>
            <a:off x="2438400" y="1828800"/>
            <a:ext cx="4240213" cy="4159250"/>
          </a:xfrm>
          <a:prstGeom prst="rect">
            <a:avLst/>
          </a:prstGeom>
          <a:noFill/>
          <a:ln w="9525">
            <a:noFill/>
            <a:miter lim="800000"/>
            <a:headEnd/>
            <a:tailEnd/>
          </a:ln>
        </p:spPr>
      </p:pic>
      <p:sp>
        <p:nvSpPr>
          <p:cNvPr id="9" name="Cloud Callout 8"/>
          <p:cNvSpPr/>
          <p:nvPr/>
        </p:nvSpPr>
        <p:spPr>
          <a:xfrm>
            <a:off x="6477000" y="4191000"/>
            <a:ext cx="2667000" cy="1524000"/>
          </a:xfrm>
          <a:prstGeom prst="cloudCallout">
            <a:avLst>
              <a:gd name="adj1" fmla="val -100017"/>
              <a:gd name="adj2" fmla="val -21786"/>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lang="en-NZ" sz="2400" b="1" dirty="0"/>
              <a:t>HALT</a:t>
            </a:r>
            <a:r>
              <a:rPr lang="en-NZ" sz="2400" dirty="0"/>
              <a:t> until B is free</a:t>
            </a:r>
          </a:p>
        </p:txBody>
      </p:sp>
      <p:sp>
        <p:nvSpPr>
          <p:cNvPr id="11" name="Cloud Callout 10"/>
          <p:cNvSpPr/>
          <p:nvPr/>
        </p:nvSpPr>
        <p:spPr>
          <a:xfrm>
            <a:off x="5943600" y="1600200"/>
            <a:ext cx="2667000" cy="1524000"/>
          </a:xfrm>
          <a:prstGeom prst="cloudCallout">
            <a:avLst>
              <a:gd name="adj1" fmla="val -91037"/>
              <a:gd name="adj2" fmla="val 66785"/>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lang="en-NZ" sz="2400" b="1" dirty="0"/>
              <a:t>HALT</a:t>
            </a:r>
            <a:r>
              <a:rPr lang="en-NZ" sz="2400" dirty="0"/>
              <a:t> until C is free</a:t>
            </a:r>
          </a:p>
        </p:txBody>
      </p:sp>
      <p:sp>
        <p:nvSpPr>
          <p:cNvPr id="12" name="Cloud Callout 11"/>
          <p:cNvSpPr/>
          <p:nvPr/>
        </p:nvSpPr>
        <p:spPr>
          <a:xfrm>
            <a:off x="228600" y="1524000"/>
            <a:ext cx="2667000" cy="1524000"/>
          </a:xfrm>
          <a:prstGeom prst="cloudCallout">
            <a:avLst>
              <a:gd name="adj1" fmla="val 91820"/>
              <a:gd name="adj2" fmla="val 56785"/>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lang="en-NZ" sz="2400" b="1" dirty="0"/>
              <a:t>HALT</a:t>
            </a:r>
            <a:r>
              <a:rPr lang="en-NZ" sz="2400" dirty="0"/>
              <a:t> until D is free</a:t>
            </a:r>
          </a:p>
        </p:txBody>
      </p:sp>
      <p:sp>
        <p:nvSpPr>
          <p:cNvPr id="13" name="Cloud Callout 12"/>
          <p:cNvSpPr/>
          <p:nvPr/>
        </p:nvSpPr>
        <p:spPr>
          <a:xfrm>
            <a:off x="609600" y="4648200"/>
            <a:ext cx="2667000" cy="1524000"/>
          </a:xfrm>
          <a:prstGeom prst="cloudCallout">
            <a:avLst>
              <a:gd name="adj1" fmla="val 75494"/>
              <a:gd name="adj2" fmla="val -56073"/>
            </a:avLst>
          </a:prstGeom>
        </p:spPr>
        <p:style>
          <a:lnRef idx="3">
            <a:schemeClr val="lt1"/>
          </a:lnRef>
          <a:fillRef idx="1">
            <a:schemeClr val="accent2"/>
          </a:fillRef>
          <a:effectRef idx="1">
            <a:schemeClr val="accent2"/>
          </a:effectRef>
          <a:fontRef idx="minor">
            <a:schemeClr val="lt1"/>
          </a:fontRef>
        </p:style>
        <p:txBody>
          <a:bodyPr anchor="ctr"/>
          <a:lstStyle/>
          <a:p>
            <a:pPr algn="ctr">
              <a:defRPr/>
            </a:pPr>
            <a:r>
              <a:rPr lang="en-NZ" sz="2400" b="1" dirty="0"/>
              <a:t>HALT</a:t>
            </a:r>
            <a:r>
              <a:rPr lang="en-NZ" sz="2400" dirty="0"/>
              <a:t> until A  is free</a:t>
            </a:r>
          </a:p>
        </p:txBody>
      </p:sp>
      <p:sp>
        <p:nvSpPr>
          <p:cNvPr id="14" name="Title 1"/>
          <p:cNvSpPr txBox="1">
            <a:spLocks/>
          </p:cNvSpPr>
          <p:nvPr/>
        </p:nvSpPr>
        <p:spPr>
          <a:xfrm>
            <a:off x="1981200" y="76200"/>
            <a:ext cx="4495800" cy="533400"/>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rmAutofit/>
            <a:scene3d>
              <a:camera prst="orthographicFront"/>
              <a:lightRig rig="soft" dir="t"/>
            </a:scene3d>
            <a:sp3d prstMaterial="softEdge">
              <a:bevelT w="25400" h="25400"/>
            </a:sp3d>
          </a:bodyPr>
          <a:lstStyle/>
          <a:p>
            <a:pPr lvl="0" algn="ctr">
              <a:spcBef>
                <a:spcPct val="0"/>
              </a:spcBef>
              <a:defRPr/>
            </a:pPr>
            <a:r>
              <a:rPr lang="en-US" sz="2800" b="1" dirty="0">
                <a:solidFill>
                  <a:schemeClr val="bg1"/>
                </a:solidFill>
                <a:effectLst>
                  <a:outerShdw blurRad="38100" dist="38100" dir="2700000" algn="tl">
                    <a:srgbClr val="000000">
                      <a:alpha val="43137"/>
                    </a:srgbClr>
                  </a:outerShdw>
                </a:effectLst>
                <a:latin typeface="Calibri" pitchFamily="34" charset="0"/>
              </a:rPr>
              <a:t>Actual Deadlock</a:t>
            </a:r>
            <a:endParaRPr kumimoji="0" lang="en-US" sz="280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Calibri" pitchFamily="34" charset="0"/>
              <a:ea typeface="+mn-ea"/>
              <a:cs typeface="+mn-cs"/>
            </a:endParaRPr>
          </a:p>
        </p:txBody>
      </p:sp>
    </p:spTree>
    <p:extLst>
      <p:ext uri="{BB962C8B-B14F-4D97-AF65-F5344CB8AC3E}">
        <p14:creationId xmlns:p14="http://schemas.microsoft.com/office/powerpoint/2010/main" val="11101641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2050"/>
                                        </p:tgtEl>
                                        <p:attrNameLst>
                                          <p:attrName>style.visibility</p:attrName>
                                        </p:attrNameLst>
                                      </p:cBhvr>
                                      <p:to>
                                        <p:strVal val="hidden"/>
                                      </p:to>
                                    </p:set>
                                  </p:childTnLst>
                                </p:cTn>
                              </p:par>
                            </p:childTnLst>
                          </p:cTn>
                        </p:par>
                        <p:par>
                          <p:cTn id="7" fill="hold">
                            <p:stCondLst>
                              <p:cond delay="0"/>
                            </p:stCondLst>
                            <p:childTnLst>
                              <p:par>
                                <p:cTn id="8" presetID="0" presetClass="path" presetSubtype="0" accel="50000" decel="50000" fill="hold" nodeType="afterEffect">
                                  <p:stCondLst>
                                    <p:cond delay="500"/>
                                  </p:stCondLst>
                                  <p:childTnLst>
                                    <p:animMotion origin="layout" path="M 2.77778E-7 -2.72895E-6 L 0.00434 -0.0592 " pathEditMode="relative" rAng="0" ptsTypes="AA">
                                      <p:cBhvr>
                                        <p:cTn id="9" dur="2000" fill="hold"/>
                                        <p:tgtEl>
                                          <p:spTgt spid="1028"/>
                                        </p:tgtEl>
                                        <p:attrNameLst>
                                          <p:attrName>ppt_x</p:attrName>
                                          <p:attrName>ppt_y</p:attrName>
                                        </p:attrNameLst>
                                      </p:cBhvr>
                                      <p:rCtr x="200" y="-3000"/>
                                    </p:animMotion>
                                  </p:childTnLst>
                                </p:cTn>
                              </p:par>
                              <p:par>
                                <p:cTn id="10" presetID="0" presetClass="path" presetSubtype="0" accel="50000" decel="50000" fill="hold" nodeType="withEffect">
                                  <p:stCondLst>
                                    <p:cond delay="0"/>
                                  </p:stCondLst>
                                  <p:childTnLst>
                                    <p:animMotion origin="layout" path="M 0.00851 -1.21184E-6 L -0.04965 -0.00555 " pathEditMode="relative" rAng="0" ptsTypes="AA">
                                      <p:cBhvr>
                                        <p:cTn id="11" dur="2000" fill="hold"/>
                                        <p:tgtEl>
                                          <p:spTgt spid="1029"/>
                                        </p:tgtEl>
                                        <p:attrNameLst>
                                          <p:attrName>ppt_x</p:attrName>
                                          <p:attrName>ppt_y</p:attrName>
                                        </p:attrNameLst>
                                      </p:cBhvr>
                                      <p:rCtr x="-2900" y="-300"/>
                                    </p:animMotion>
                                  </p:childTnLst>
                                </p:cTn>
                              </p:par>
                              <p:par>
                                <p:cTn id="12" presetID="0" presetClass="path" presetSubtype="0" accel="50000" decel="50000" fill="hold" nodeType="withEffect">
                                  <p:stCondLst>
                                    <p:cond delay="0"/>
                                  </p:stCondLst>
                                  <p:childTnLst>
                                    <p:animMotion origin="layout" path="M 5.55556E-7 -1.84089E-6 L 5.55556E-7 0.05551 " pathEditMode="relative" ptsTypes="AA">
                                      <p:cBhvr>
                                        <p:cTn id="13" dur="2000" fill="hold"/>
                                        <p:tgtEl>
                                          <p:spTgt spid="1027"/>
                                        </p:tgtEl>
                                        <p:attrNameLst>
                                          <p:attrName>ppt_x</p:attrName>
                                          <p:attrName>ppt_y</p:attrName>
                                        </p:attrNameLst>
                                      </p:cBhvr>
                                    </p:animMotion>
                                  </p:childTnLst>
                                </p:cTn>
                              </p:par>
                              <p:par>
                                <p:cTn id="14" presetID="0" presetClass="path" presetSubtype="0" accel="50000" decel="50000" fill="hold" nodeType="withEffect">
                                  <p:stCondLst>
                                    <p:cond delay="0"/>
                                  </p:stCondLst>
                                  <p:childTnLst>
                                    <p:animMotion origin="layout" path="M 1.11111E-6 4.51434E-6 L 0.04167 4.51434E-6 " pathEditMode="relative" ptsTypes="AA">
                                      <p:cBhvr>
                                        <p:cTn id="15" dur="2000" fill="hold"/>
                                        <p:tgtEl>
                                          <p:spTgt spid="1030"/>
                                        </p:tgtEl>
                                        <p:attrNameLst>
                                          <p:attrName>ppt_x</p:attrName>
                                          <p:attrName>ppt_y</p:attrName>
                                        </p:attrNameLst>
                                      </p:cBhvr>
                                    </p:animMotion>
                                  </p:childTnLst>
                                </p:cTn>
                              </p:par>
                            </p:childTnLst>
                          </p:cTn>
                        </p:par>
                        <p:par>
                          <p:cTn id="16" fill="hold">
                            <p:stCondLst>
                              <p:cond delay="2500"/>
                            </p:stCondLst>
                            <p:childTnLst>
                              <p:par>
                                <p:cTn id="17" presetID="22" presetClass="entr" presetSubtype="8" fill="hold" grpId="0" nodeType="afterEffect">
                                  <p:stCondLst>
                                    <p:cond delay="100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par>
                          <p:cTn id="24" fill="hold">
                            <p:stCondLst>
                              <p:cond delay="4500"/>
                            </p:stCondLst>
                            <p:childTnLst>
                              <p:par>
                                <p:cTn id="25" presetID="22" presetClass="entr" presetSubtype="8"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par>
                          <p:cTn id="28" fill="hold">
                            <p:stCondLst>
                              <p:cond delay="5000"/>
                            </p:stCondLst>
                            <p:childTnLst>
                              <p:par>
                                <p:cTn id="29" presetID="22" presetClass="entr" presetSubtype="8"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066800"/>
            <a:ext cx="5105400" cy="5105400"/>
          </a:xfrm>
        </p:spPr>
        <p:style>
          <a:lnRef idx="2">
            <a:schemeClr val="accent2"/>
          </a:lnRef>
          <a:fillRef idx="1">
            <a:schemeClr val="lt1"/>
          </a:fillRef>
          <a:effectRef idx="0">
            <a:schemeClr val="accent2"/>
          </a:effectRef>
          <a:fontRef idx="minor">
            <a:schemeClr val="dk1"/>
          </a:fontRef>
        </p:style>
        <p:txBody>
          <a:bodyPr>
            <a:normAutofit/>
          </a:bodyPr>
          <a:lstStyle/>
          <a:p>
            <a:r>
              <a:rPr lang="en-NZ" sz="2400" b="1" i="1" dirty="0">
                <a:latin typeface="Calibri" pitchFamily="34" charset="0"/>
              </a:rPr>
              <a:t>But </a:t>
            </a:r>
            <a:r>
              <a:rPr lang="en-NZ" sz="2400" dirty="0">
                <a:latin typeface="Calibri" pitchFamily="34" charset="0"/>
              </a:rPr>
              <a:t>if all four cars ignore the rules and proceed (cautiously) into the intersection at the same time, then </a:t>
            </a:r>
            <a:r>
              <a:rPr lang="en-NZ" sz="2400" b="1" dirty="0">
                <a:latin typeface="Calibri" pitchFamily="34" charset="0"/>
              </a:rPr>
              <a:t>each car seizes one resource </a:t>
            </a:r>
            <a:r>
              <a:rPr lang="en-NZ" sz="2400" dirty="0">
                <a:latin typeface="Calibri" pitchFamily="34" charset="0"/>
              </a:rPr>
              <a:t>(one quadrant) but cannot proceed because the required second resource has already been seized by another car.</a:t>
            </a:r>
          </a:p>
          <a:p>
            <a:endParaRPr lang="en-NZ" sz="2400" dirty="0">
              <a:latin typeface="Calibri" pitchFamily="34" charset="0"/>
            </a:endParaRPr>
          </a:p>
          <a:p>
            <a:r>
              <a:rPr lang="en-NZ" sz="2400" dirty="0">
                <a:latin typeface="Calibri" pitchFamily="34" charset="0"/>
              </a:rPr>
              <a:t>This is an actual deadlock.</a:t>
            </a:r>
          </a:p>
          <a:p>
            <a:endParaRPr lang="en-NZ" sz="2400" dirty="0">
              <a:latin typeface="Calibri" pitchFamily="34" charset="0"/>
            </a:endParaRPr>
          </a:p>
          <a:p>
            <a:endParaRPr lang="en-US" sz="2400" dirty="0">
              <a:latin typeface="Calibri" pitchFamily="34" charset="0"/>
            </a:endParaRPr>
          </a:p>
        </p:txBody>
      </p:sp>
      <p:sp>
        <p:nvSpPr>
          <p:cNvPr id="5" name="Title 1"/>
          <p:cNvSpPr txBox="1">
            <a:spLocks/>
          </p:cNvSpPr>
          <p:nvPr/>
        </p:nvSpPr>
        <p:spPr>
          <a:xfrm>
            <a:off x="2209800" y="76200"/>
            <a:ext cx="4495800" cy="609600"/>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rm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bg1"/>
                </a:solidFill>
                <a:uLnTx/>
                <a:uFillTx/>
                <a:latin typeface="Calibri" pitchFamily="34" charset="0"/>
                <a:ea typeface="+mn-ea"/>
                <a:cs typeface="+mn-cs"/>
              </a:rPr>
              <a:t>Actual Deadlock</a:t>
            </a:r>
          </a:p>
        </p:txBody>
      </p:sp>
    </p:spTree>
    <p:extLst>
      <p:ext uri="{BB962C8B-B14F-4D97-AF65-F5344CB8AC3E}">
        <p14:creationId xmlns:p14="http://schemas.microsoft.com/office/powerpoint/2010/main" val="37629131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46038"/>
            <a:ext cx="8153400" cy="411162"/>
          </a:xfrm>
        </p:spPr>
        <p:style>
          <a:lnRef idx="3">
            <a:schemeClr val="lt1"/>
          </a:lnRef>
          <a:fillRef idx="1">
            <a:schemeClr val="accent2"/>
          </a:fillRef>
          <a:effectRef idx="1">
            <a:schemeClr val="accent2"/>
          </a:effectRef>
          <a:fontRef idx="minor">
            <a:schemeClr val="lt1"/>
          </a:fontRef>
        </p:style>
        <p:txBody>
          <a:bodyPr>
            <a:normAutofit fontScale="90000"/>
          </a:bodyPr>
          <a:lstStyle/>
          <a:p>
            <a:pPr algn="ctr"/>
            <a:r>
              <a:rPr lang="en-US" sz="2800" b="1" dirty="0">
                <a:solidFill>
                  <a:schemeClr val="bg1"/>
                </a:solidFill>
                <a:effectLst>
                  <a:outerShdw blurRad="38100" dist="38100" dir="2700000" algn="tl">
                    <a:srgbClr val="000000">
                      <a:alpha val="43137"/>
                    </a:srgbClr>
                  </a:outerShdw>
                </a:effectLst>
                <a:latin typeface="Calibri" pitchFamily="34" charset="0"/>
                <a:cs typeface="Calibri" pitchFamily="34" charset="0"/>
              </a:rPr>
              <a:t>Conditions for possible Deadlock</a:t>
            </a:r>
          </a:p>
        </p:txBody>
      </p:sp>
      <p:sp>
        <p:nvSpPr>
          <p:cNvPr id="21507" name="Content Placeholder 2"/>
          <p:cNvSpPr>
            <a:spLocks noGrp="1"/>
          </p:cNvSpPr>
          <p:nvPr>
            <p:ph idx="1"/>
          </p:nvPr>
        </p:nvSpPr>
        <p:spPr>
          <a:xfrm>
            <a:off x="0" y="990600"/>
            <a:ext cx="9067800" cy="5867400"/>
          </a:xfrm>
        </p:spPr>
        <p:style>
          <a:lnRef idx="2">
            <a:schemeClr val="accent2"/>
          </a:lnRef>
          <a:fillRef idx="1">
            <a:schemeClr val="lt1"/>
          </a:fillRef>
          <a:effectRef idx="0">
            <a:schemeClr val="accent2"/>
          </a:effectRef>
          <a:fontRef idx="minor">
            <a:schemeClr val="dk1"/>
          </a:fontRef>
        </p:style>
        <p:txBody>
          <a:bodyPr>
            <a:noAutofit/>
          </a:bodyPr>
          <a:lstStyle/>
          <a:p>
            <a:pPr>
              <a:buNone/>
            </a:pPr>
            <a:r>
              <a:rPr lang="en-US" sz="2000" b="1" dirty="0">
                <a:latin typeface="Calibri" pitchFamily="34" charset="0"/>
                <a:cs typeface="Calibri" pitchFamily="34" charset="0"/>
              </a:rPr>
              <a:t>(1) Mutual exclusion:-</a:t>
            </a:r>
          </a:p>
          <a:p>
            <a:pPr lvl="1"/>
            <a:r>
              <a:rPr lang="en-US" sz="2000" dirty="0">
                <a:latin typeface="Calibri" pitchFamily="34" charset="0"/>
                <a:cs typeface="Calibri" pitchFamily="34" charset="0"/>
              </a:rPr>
              <a:t>Only one process may use a resource at a time.</a:t>
            </a:r>
          </a:p>
          <a:p>
            <a:pPr lvl="1"/>
            <a:r>
              <a:rPr lang="en-US" sz="2000" dirty="0">
                <a:latin typeface="Calibri" pitchFamily="34" charset="0"/>
              </a:rPr>
              <a:t>No process may access a resource unit that has been allocated to another process.</a:t>
            </a:r>
            <a:endParaRPr lang="en-US" sz="2000" dirty="0">
              <a:latin typeface="Calibri" pitchFamily="34" charset="0"/>
              <a:cs typeface="Calibri" pitchFamily="34" charset="0"/>
            </a:endParaRPr>
          </a:p>
          <a:p>
            <a:pPr>
              <a:buNone/>
            </a:pPr>
            <a:r>
              <a:rPr lang="en-US" sz="2000" b="1" dirty="0">
                <a:latin typeface="Calibri" pitchFamily="34" charset="0"/>
                <a:cs typeface="Calibri" pitchFamily="34" charset="0"/>
              </a:rPr>
              <a:t>(2)Hold-and-wait:-</a:t>
            </a:r>
          </a:p>
          <a:p>
            <a:pPr lvl="1"/>
            <a:r>
              <a:rPr lang="en-US" sz="2000" dirty="0">
                <a:latin typeface="Calibri" pitchFamily="34" charset="0"/>
                <a:cs typeface="Calibri" pitchFamily="34" charset="0"/>
              </a:rPr>
              <a:t>A process may hold allocated resources while awaiting assignment of other resources.</a:t>
            </a:r>
          </a:p>
          <a:p>
            <a:pPr>
              <a:buNone/>
            </a:pPr>
            <a:r>
              <a:rPr lang="en-NZ" sz="2000" b="1" dirty="0">
                <a:latin typeface="Calibri" pitchFamily="34" charset="0"/>
                <a:cs typeface="Calibri" pitchFamily="34" charset="0"/>
              </a:rPr>
              <a:t>(3)No pre-emption:-</a:t>
            </a:r>
          </a:p>
          <a:p>
            <a:pPr lvl="1"/>
            <a:r>
              <a:rPr lang="en-NZ" sz="2000" dirty="0">
                <a:latin typeface="Calibri" pitchFamily="34" charset="0"/>
                <a:cs typeface="Calibri" pitchFamily="34" charset="0"/>
              </a:rPr>
              <a:t>No resource can be forcibly removed form a process holding it.</a:t>
            </a:r>
          </a:p>
          <a:p>
            <a:r>
              <a:rPr lang="en-US" sz="2000" dirty="0">
                <a:latin typeface="Calibri" pitchFamily="34" charset="0"/>
              </a:rPr>
              <a:t>In many ways these conditions are quite desirable. </a:t>
            </a:r>
          </a:p>
          <a:p>
            <a:r>
              <a:rPr lang="en-US" sz="2000" dirty="0">
                <a:latin typeface="Calibri" pitchFamily="34" charset="0"/>
              </a:rPr>
              <a:t>For example, mutual exclusion is needed to ensure consistency of results and the integrity of a database.</a:t>
            </a:r>
          </a:p>
          <a:p>
            <a:r>
              <a:rPr lang="en-US" sz="2000" dirty="0">
                <a:latin typeface="Calibri" pitchFamily="34" charset="0"/>
              </a:rPr>
              <a:t>Similarly, preemption should not be done arbitrarily. </a:t>
            </a:r>
          </a:p>
          <a:p>
            <a:r>
              <a:rPr lang="en-US" sz="2000" dirty="0">
                <a:latin typeface="Calibri" pitchFamily="34" charset="0"/>
              </a:rPr>
              <a:t>For example, when data resources are involved, preemption must be supported by a rollback recovery mechanism.</a:t>
            </a:r>
            <a:endParaRPr lang="en-US" sz="2000" dirty="0">
              <a:latin typeface="Calibri" pitchFamily="34" charset="0"/>
              <a:cs typeface="Calibri" pitchFamily="34" charset="0"/>
            </a:endParaRPr>
          </a:p>
          <a:p>
            <a:r>
              <a:rPr lang="en-US" sz="2000" dirty="0">
                <a:latin typeface="Calibri" pitchFamily="34" charset="0"/>
                <a:cs typeface="Calibri" pitchFamily="34" charset="0"/>
              </a:rPr>
              <a:t>All three must be present for deadlock to occur.</a:t>
            </a:r>
          </a:p>
          <a:p>
            <a:endParaRPr lang="en-US" sz="2000" dirty="0">
              <a:latin typeface="Calibri" pitchFamily="34" charset="0"/>
              <a:cs typeface="Calibri" pitchFamily="34" charset="0"/>
            </a:endParaRPr>
          </a:p>
        </p:txBody>
      </p:sp>
    </p:spTree>
    <p:extLst>
      <p:ext uri="{BB962C8B-B14F-4D97-AF65-F5344CB8AC3E}">
        <p14:creationId xmlns:p14="http://schemas.microsoft.com/office/powerpoint/2010/main" val="25479573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0"/>
            <a:ext cx="8229600" cy="487362"/>
          </a:xfrm>
        </p:spPr>
        <p:style>
          <a:lnRef idx="3">
            <a:schemeClr val="lt1"/>
          </a:lnRef>
          <a:fillRef idx="1">
            <a:schemeClr val="accent2"/>
          </a:fillRef>
          <a:effectRef idx="1">
            <a:schemeClr val="accent2"/>
          </a:effectRef>
          <a:fontRef idx="minor">
            <a:schemeClr val="lt1"/>
          </a:fontRef>
        </p:style>
        <p:txBody>
          <a:bodyPr>
            <a:normAutofit fontScale="90000"/>
          </a:bodyPr>
          <a:lstStyle/>
          <a:p>
            <a:pPr algn="ctr"/>
            <a:r>
              <a:rPr lang="en-US" sz="2800" b="1" dirty="0">
                <a:solidFill>
                  <a:schemeClr val="bg1"/>
                </a:solidFill>
                <a:effectLst>
                  <a:outerShdw blurRad="38100" dist="38100" dir="2700000" algn="tl">
                    <a:srgbClr val="000000">
                      <a:alpha val="43137"/>
                    </a:srgbClr>
                  </a:outerShdw>
                </a:effectLst>
                <a:latin typeface="Calibri" pitchFamily="34" charset="0"/>
                <a:cs typeface="Calibri" pitchFamily="34" charset="0"/>
              </a:rPr>
              <a:t>Actual Deadlock Requires …</a:t>
            </a:r>
          </a:p>
        </p:txBody>
      </p:sp>
      <p:sp>
        <p:nvSpPr>
          <p:cNvPr id="22531" name="Content Placeholder 2"/>
          <p:cNvSpPr>
            <a:spLocks noGrp="1"/>
          </p:cNvSpPr>
          <p:nvPr>
            <p:ph idx="1"/>
          </p:nvPr>
        </p:nvSpPr>
        <p:spPr>
          <a:xfrm>
            <a:off x="0" y="533400"/>
            <a:ext cx="9067800" cy="4114800"/>
          </a:xfrm>
        </p:spPr>
        <p:style>
          <a:lnRef idx="2">
            <a:schemeClr val="accent2"/>
          </a:lnRef>
          <a:fillRef idx="1">
            <a:schemeClr val="lt1"/>
          </a:fillRef>
          <a:effectRef idx="0">
            <a:schemeClr val="accent2"/>
          </a:effectRef>
          <a:fontRef idx="minor">
            <a:schemeClr val="dk1"/>
          </a:fontRef>
        </p:style>
        <p:txBody>
          <a:bodyPr>
            <a:noAutofit/>
          </a:bodyPr>
          <a:lstStyle/>
          <a:p>
            <a:pPr>
              <a:buFont typeface="Arial" charset="0"/>
              <a:buNone/>
            </a:pPr>
            <a:r>
              <a:rPr lang="en-US" sz="2000" dirty="0">
                <a:latin typeface="Calibri" pitchFamily="34" charset="0"/>
                <a:cs typeface="Calibri" pitchFamily="34" charset="0"/>
              </a:rPr>
              <a:t>All previous 3 conditions plus:</a:t>
            </a:r>
          </a:p>
          <a:p>
            <a:pPr>
              <a:buNone/>
            </a:pPr>
            <a:r>
              <a:rPr lang="en-US" sz="2000" b="1" dirty="0">
                <a:latin typeface="Calibri" pitchFamily="34" charset="0"/>
                <a:cs typeface="Calibri" pitchFamily="34" charset="0"/>
              </a:rPr>
              <a:t>(4) Circular wait:-</a:t>
            </a:r>
          </a:p>
          <a:p>
            <a:r>
              <a:rPr lang="en-US" sz="2000" dirty="0">
                <a:latin typeface="Calibri" pitchFamily="34" charset="0"/>
                <a:cs typeface="Calibri" pitchFamily="34" charset="0"/>
              </a:rPr>
              <a:t>A closed chain of processes exists, such that each process holds at least one resource needed by the next process in the chain.</a:t>
            </a:r>
          </a:p>
          <a:p>
            <a:r>
              <a:rPr lang="en-NZ" sz="2000" dirty="0">
                <a:latin typeface="Calibri" pitchFamily="34" charset="0"/>
                <a:cs typeface="Calibri" pitchFamily="34" charset="0"/>
              </a:rPr>
              <a:t>This is actually a potential consequence of the first three.</a:t>
            </a:r>
          </a:p>
          <a:p>
            <a:r>
              <a:rPr lang="en-NZ" sz="2000" dirty="0">
                <a:latin typeface="Calibri" pitchFamily="34" charset="0"/>
                <a:cs typeface="Calibri" pitchFamily="34" charset="0"/>
              </a:rPr>
              <a:t>Given that the first three conditions exist, a sequence of events may occur that lead to an unresolvable circular wait. </a:t>
            </a:r>
          </a:p>
          <a:p>
            <a:r>
              <a:rPr lang="en-NZ" sz="2000" dirty="0">
                <a:latin typeface="Calibri" pitchFamily="34" charset="0"/>
                <a:cs typeface="Calibri" pitchFamily="34" charset="0"/>
              </a:rPr>
              <a:t>The unresolvable circular wait is in fact the definition of deadlock.</a:t>
            </a:r>
          </a:p>
          <a:p>
            <a:pPr lvl="1">
              <a:buFontTx/>
              <a:buChar char="•"/>
            </a:pPr>
            <a:r>
              <a:rPr lang="en-NZ" sz="2000" dirty="0">
                <a:latin typeface="Calibri" pitchFamily="34" charset="0"/>
                <a:cs typeface="Calibri" pitchFamily="34" charset="0"/>
              </a:rPr>
              <a:t> The circular wait listed as condition 4 is unresolvable because the first three conditions hold.</a:t>
            </a:r>
          </a:p>
          <a:p>
            <a:pPr lvl="1">
              <a:buFontTx/>
              <a:buChar char="•"/>
            </a:pPr>
            <a:r>
              <a:rPr lang="en-NZ" sz="2000" dirty="0">
                <a:latin typeface="Calibri" pitchFamily="34" charset="0"/>
                <a:cs typeface="Calibri" pitchFamily="34" charset="0"/>
              </a:rPr>
              <a:t> Thus, the four conditions, taken together, constitute necessary and sufficient conditions for deadlock.</a:t>
            </a:r>
            <a:endParaRPr lang="en-US" sz="2000" dirty="0">
              <a:latin typeface="Calibri" pitchFamily="34" charset="0"/>
              <a:cs typeface="Calibri" pitchFamily="34" charset="0"/>
            </a:endParaRPr>
          </a:p>
          <a:p>
            <a:pPr lvl="1"/>
            <a:endParaRPr lang="en-US" sz="2000" dirty="0">
              <a:latin typeface="Calibri" pitchFamily="34" charset="0"/>
              <a:cs typeface="Calibri" pitchFamily="34" charset="0"/>
            </a:endParaRPr>
          </a:p>
          <a:p>
            <a:endParaRPr lang="en-US" sz="2000" dirty="0">
              <a:latin typeface="Calibri" pitchFamily="34" charset="0"/>
              <a:cs typeface="Calibri" pitchFamily="34" charset="0"/>
            </a:endParaRPr>
          </a:p>
        </p:txBody>
      </p:sp>
      <p:pic>
        <p:nvPicPr>
          <p:cNvPr id="3074" name="Picture 2"/>
          <p:cNvPicPr>
            <a:picLocks noChangeAspect="1" noChangeArrowheads="1"/>
          </p:cNvPicPr>
          <p:nvPr/>
        </p:nvPicPr>
        <p:blipFill>
          <a:blip r:embed="rId3"/>
          <a:srcRect/>
          <a:stretch>
            <a:fillRect/>
          </a:stretch>
        </p:blipFill>
        <p:spPr bwMode="auto">
          <a:xfrm>
            <a:off x="0" y="4724400"/>
            <a:ext cx="9144000" cy="1828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339955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928670"/>
            <a:ext cx="6643734" cy="4500594"/>
          </a:xfrm>
        </p:spPr>
        <p:style>
          <a:lnRef idx="2">
            <a:schemeClr val="accent5"/>
          </a:lnRef>
          <a:fillRef idx="1">
            <a:schemeClr val="lt1"/>
          </a:fillRef>
          <a:effectRef idx="0">
            <a:schemeClr val="accent5"/>
          </a:effectRef>
          <a:fontRef idx="minor">
            <a:schemeClr val="dk1"/>
          </a:fontRef>
        </p:style>
        <p:txBody>
          <a:bodyPr>
            <a:normAutofit/>
          </a:bodyPr>
          <a:lstStyle/>
          <a:p>
            <a:pPr>
              <a:buClr>
                <a:schemeClr val="accent5">
                  <a:lumMod val="75000"/>
                </a:schemeClr>
              </a:buClr>
              <a:defRPr/>
            </a:pPr>
            <a:endParaRPr lang="en-NZ" b="1" dirty="0">
              <a:solidFill>
                <a:schemeClr val="accent1">
                  <a:lumMod val="75000"/>
                </a:schemeClr>
              </a:solidFill>
              <a:latin typeface="Calibri" pitchFamily="34" charset="0"/>
            </a:endParaRPr>
          </a:p>
          <a:p>
            <a:pPr>
              <a:buClr>
                <a:schemeClr val="accent5">
                  <a:lumMod val="75000"/>
                </a:schemeClr>
              </a:buClr>
              <a:defRPr/>
            </a:pPr>
            <a:r>
              <a:rPr lang="en-NZ" dirty="0">
                <a:solidFill>
                  <a:schemeClr val="tx1"/>
                </a:solidFill>
                <a:latin typeface="Calibri" pitchFamily="34" charset="0"/>
              </a:rPr>
              <a:t>Principles of  Deadlock</a:t>
            </a:r>
          </a:p>
          <a:p>
            <a:pPr>
              <a:buClr>
                <a:schemeClr val="accent5">
                  <a:lumMod val="75000"/>
                </a:schemeClr>
              </a:buClr>
              <a:defRPr/>
            </a:pPr>
            <a:r>
              <a:rPr lang="en-NZ" b="1" dirty="0">
                <a:solidFill>
                  <a:schemeClr val="tx1"/>
                </a:solidFill>
                <a:latin typeface="Calibri" pitchFamily="34" charset="0"/>
              </a:rPr>
              <a:t>Deadlock Prevention</a:t>
            </a:r>
          </a:p>
          <a:p>
            <a:pPr>
              <a:buClr>
                <a:schemeClr val="accent5">
                  <a:lumMod val="75000"/>
                </a:schemeClr>
              </a:buClr>
              <a:defRPr/>
            </a:pPr>
            <a:r>
              <a:rPr lang="en-NZ" dirty="0">
                <a:solidFill>
                  <a:schemeClr val="tx1"/>
                </a:solidFill>
                <a:latin typeface="Calibri" pitchFamily="34" charset="0"/>
              </a:rPr>
              <a:t>Deadlock Avoidance</a:t>
            </a:r>
          </a:p>
          <a:p>
            <a:pPr>
              <a:buClr>
                <a:schemeClr val="accent5">
                  <a:lumMod val="75000"/>
                </a:schemeClr>
              </a:buClr>
              <a:defRPr/>
            </a:pPr>
            <a:r>
              <a:rPr lang="en-NZ" dirty="0">
                <a:latin typeface="Calibri" pitchFamily="34" charset="0"/>
              </a:rPr>
              <a:t>Deadlock Detection</a:t>
            </a:r>
          </a:p>
          <a:p>
            <a:pPr>
              <a:buClr>
                <a:schemeClr val="accent5">
                  <a:lumMod val="75000"/>
                </a:schemeClr>
              </a:buClr>
              <a:defRPr/>
            </a:pPr>
            <a:r>
              <a:rPr lang="en-US" dirty="0"/>
              <a:t>Dinning philosophers problem: Solution using semaphores 	</a:t>
            </a:r>
          </a:p>
          <a:p>
            <a:pPr>
              <a:buClr>
                <a:schemeClr val="accent5">
                  <a:lumMod val="75000"/>
                </a:schemeClr>
              </a:buClr>
              <a:defRPr/>
            </a:pPr>
            <a:endParaRPr lang="en-NZ" dirty="0">
              <a:latin typeface="Calibri" pitchFamily="34" charset="0"/>
            </a:endParaRPr>
          </a:p>
          <a:p>
            <a:pPr>
              <a:buClr>
                <a:schemeClr val="accent5">
                  <a:lumMod val="75000"/>
                </a:schemeClr>
              </a:buClr>
              <a:defRPr/>
            </a:pPr>
            <a:endParaRPr lang="en-NZ" dirty="0">
              <a:latin typeface="Calibri" pitchFamily="34" charset="0"/>
            </a:endParaRPr>
          </a:p>
        </p:txBody>
      </p:sp>
      <p:sp>
        <p:nvSpPr>
          <p:cNvPr id="5" name="Slide Number Placeholder 4"/>
          <p:cNvSpPr>
            <a:spLocks noGrp="1"/>
          </p:cNvSpPr>
          <p:nvPr>
            <p:ph type="sldNum" sz="quarter" idx="12"/>
          </p:nvPr>
        </p:nvSpPr>
        <p:spPr/>
        <p:txBody>
          <a:bodyPr/>
          <a:lstStyle/>
          <a:p>
            <a:fld id="{8721AD9F-4A2E-478F-ACDB-FC9429174183}" type="slidenum">
              <a:rPr lang="en-GB" smtClean="0"/>
              <a:pPr/>
              <a:t>51</a:t>
            </a:fld>
            <a:endParaRPr lang="en-GB"/>
          </a:p>
        </p:txBody>
      </p:sp>
      <p:sp>
        <p:nvSpPr>
          <p:cNvPr id="4" name="Title 1"/>
          <p:cNvSpPr txBox="1">
            <a:spLocks/>
          </p:cNvSpPr>
          <p:nvPr/>
        </p:nvSpPr>
        <p:spPr>
          <a:xfrm>
            <a:off x="1142976" y="71422"/>
            <a:ext cx="6072230" cy="50005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solidFill>
                  <a:schemeClr val="bg1">
                    <a:lumMod val="95000"/>
                  </a:schemeClr>
                </a:solidFill>
                <a:effectLst>
                  <a:outerShdw blurRad="38100" dist="38100" dir="2700000" algn="tl">
                    <a:srgbClr val="000000">
                      <a:alpha val="43137"/>
                    </a:srgbClr>
                  </a:outerShdw>
                </a:effectLst>
                <a:latin typeface="+mj-lt"/>
              </a:rPr>
              <a:t>ROADMAP - Deadlock</a:t>
            </a:r>
            <a:endParaRPr kumimoji="0" lang="en-GB" sz="2800" b="1" i="0" u="none" strike="noStrike" kern="1200" cap="none" spc="0" normalizeH="0" baseline="0" noProof="0" dirty="0">
              <a:ln>
                <a:noFill/>
              </a:ln>
              <a:solidFill>
                <a:schemeClr val="bg1">
                  <a:lumMod val="95000"/>
                </a:schemeClr>
              </a:solidFill>
              <a:effectLst>
                <a:outerShdw blurRad="38100" dist="38100" dir="2700000" algn="tl">
                  <a:srgbClr val="000000">
                    <a:alpha val="43137"/>
                  </a:srgbClr>
                </a:outerShdw>
              </a:effectLst>
              <a:uLnTx/>
              <a:uFillTx/>
              <a:latin typeface="+mj-lt"/>
              <a:ea typeface="+mn-ea"/>
              <a:cs typeface="+mn-cs"/>
            </a:endParaRPr>
          </a:p>
        </p:txBody>
      </p:sp>
      <p:sp>
        <p:nvSpPr>
          <p:cNvPr id="6" name="Right Arrow 5"/>
          <p:cNvSpPr/>
          <p:nvPr/>
        </p:nvSpPr>
        <p:spPr>
          <a:xfrm>
            <a:off x="380956" y="2276872"/>
            <a:ext cx="357190" cy="285752"/>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340123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990600"/>
            <a:ext cx="9067800" cy="255454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Font typeface="Arial" pitchFamily="34" charset="0"/>
              <a:buChar char="•"/>
            </a:pPr>
            <a:r>
              <a:rPr lang="en-NZ" sz="2000" dirty="0">
                <a:latin typeface="Calibri" pitchFamily="34" charset="0"/>
                <a:cs typeface="Calibri" pitchFamily="34" charset="0"/>
              </a:rPr>
              <a:t>Deadlock prevention is strategy simply to design a system in such a way that the </a:t>
            </a:r>
          </a:p>
          <a:p>
            <a:r>
              <a:rPr lang="en-NZ" sz="2000" dirty="0">
                <a:latin typeface="Calibri" pitchFamily="34" charset="0"/>
                <a:cs typeface="Calibri" pitchFamily="34" charset="0"/>
              </a:rPr>
              <a:t>  possibility of deadlock is excluded.</a:t>
            </a:r>
          </a:p>
          <a:p>
            <a:pPr>
              <a:buFont typeface="Arial" pitchFamily="34" charset="0"/>
              <a:buChar char="•"/>
            </a:pPr>
            <a:r>
              <a:rPr lang="en-NZ" sz="2000" dirty="0">
                <a:latin typeface="Calibri" pitchFamily="34" charset="0"/>
                <a:cs typeface="Calibri" pitchFamily="34" charset="0"/>
              </a:rPr>
              <a:t>We can view deadlock prevention methods as falling into two classes. </a:t>
            </a:r>
          </a:p>
          <a:p>
            <a:pPr lvl="1">
              <a:buFontTx/>
              <a:buChar char="•"/>
            </a:pPr>
            <a:r>
              <a:rPr lang="en-NZ" sz="2000" dirty="0">
                <a:latin typeface="Calibri" pitchFamily="34" charset="0"/>
                <a:cs typeface="Calibri" pitchFamily="34" charset="0"/>
              </a:rPr>
              <a:t> I</a:t>
            </a:r>
            <a:r>
              <a:rPr lang="en-NZ" sz="2000" b="1" dirty="0">
                <a:latin typeface="Calibri" pitchFamily="34" charset="0"/>
                <a:cs typeface="Calibri" pitchFamily="34" charset="0"/>
              </a:rPr>
              <a:t>ndirect </a:t>
            </a:r>
            <a:r>
              <a:rPr lang="en-NZ" sz="2000" dirty="0">
                <a:latin typeface="Calibri" pitchFamily="34" charset="0"/>
                <a:cs typeface="Calibri" pitchFamily="34" charset="0"/>
              </a:rPr>
              <a:t>method of deadlock prevention is to prevent the occurrence of one of </a:t>
            </a:r>
          </a:p>
          <a:p>
            <a:pPr lvl="1"/>
            <a:r>
              <a:rPr lang="en-NZ" sz="2000" dirty="0">
                <a:latin typeface="Calibri" pitchFamily="34" charset="0"/>
                <a:cs typeface="Calibri" pitchFamily="34" charset="0"/>
              </a:rPr>
              <a:t>   the three necessary conditions listed previously (items 1 through 3). </a:t>
            </a:r>
          </a:p>
          <a:p>
            <a:pPr lvl="1">
              <a:buFontTx/>
              <a:buChar char="•"/>
            </a:pPr>
            <a:r>
              <a:rPr lang="en-NZ" sz="2000" b="1" dirty="0">
                <a:latin typeface="Calibri" pitchFamily="34" charset="0"/>
                <a:cs typeface="Calibri" pitchFamily="34" charset="0"/>
              </a:rPr>
              <a:t>Direct </a:t>
            </a:r>
            <a:r>
              <a:rPr lang="en-NZ" sz="2000" dirty="0">
                <a:latin typeface="Calibri" pitchFamily="34" charset="0"/>
                <a:cs typeface="Calibri" pitchFamily="34" charset="0"/>
              </a:rPr>
              <a:t>method of deadlock prevention is to prevent the occurrence of a circular </a:t>
            </a:r>
          </a:p>
          <a:p>
            <a:pPr lvl="1"/>
            <a:r>
              <a:rPr lang="en-NZ" sz="2000" dirty="0">
                <a:latin typeface="Calibri" pitchFamily="34" charset="0"/>
                <a:cs typeface="Calibri" pitchFamily="34" charset="0"/>
              </a:rPr>
              <a:t>   wait (item 4).</a:t>
            </a:r>
          </a:p>
          <a:p>
            <a:pPr>
              <a:buFont typeface="Arial" pitchFamily="34" charset="0"/>
              <a:buChar char="•"/>
            </a:pPr>
            <a:r>
              <a:rPr lang="en-NZ" sz="2000" dirty="0">
                <a:latin typeface="Calibri" pitchFamily="34" charset="0"/>
                <a:cs typeface="Calibri" pitchFamily="34" charset="0"/>
              </a:rPr>
              <a:t>We now examine techniques related to each of the four conditions.</a:t>
            </a:r>
          </a:p>
        </p:txBody>
      </p:sp>
      <p:sp>
        <p:nvSpPr>
          <p:cNvPr id="5" name="Title 1"/>
          <p:cNvSpPr txBox="1">
            <a:spLocks/>
          </p:cNvSpPr>
          <p:nvPr/>
        </p:nvSpPr>
        <p:spPr>
          <a:xfrm>
            <a:off x="457200" y="36255"/>
            <a:ext cx="8229600" cy="411162"/>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a:solidFill>
                  <a:schemeClr val="bg1"/>
                </a:solidFill>
                <a:effectLst>
                  <a:outerShdw blurRad="38100" dist="38100" dir="2700000" algn="tl">
                    <a:srgbClr val="000000">
                      <a:alpha val="43137"/>
                    </a:srgbClr>
                  </a:outerShdw>
                </a:effectLst>
                <a:latin typeface="Calibri" pitchFamily="34" charset="0"/>
                <a:ea typeface="+mj-ea"/>
                <a:cs typeface="Calibri" pitchFamily="34" charset="0"/>
              </a:rPr>
              <a:t>Deadlock prevention </a:t>
            </a:r>
            <a:r>
              <a:rPr lang="en-US" sz="2800" b="1" dirty="0" err="1">
                <a:solidFill>
                  <a:schemeClr val="bg1"/>
                </a:solidFill>
                <a:effectLst>
                  <a:outerShdw blurRad="38100" dist="38100" dir="2700000" algn="tl">
                    <a:srgbClr val="000000">
                      <a:alpha val="43137"/>
                    </a:srgbClr>
                  </a:outerShdw>
                </a:effectLst>
                <a:latin typeface="Calibri" pitchFamily="34" charset="0"/>
                <a:ea typeface="+mj-ea"/>
                <a:cs typeface="Calibri" pitchFamily="34" charset="0"/>
              </a:rPr>
              <a:t>Staregy</a:t>
            </a:r>
            <a:endParaRPr kumimoji="0" lang="en-US" sz="2800" b="1"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Calibri" pitchFamily="34" charset="0"/>
              <a:ea typeface="+mj-ea"/>
              <a:cs typeface="Calibri" pitchFamily="34" charset="0"/>
            </a:endParaRPr>
          </a:p>
        </p:txBody>
      </p:sp>
      <p:sp>
        <p:nvSpPr>
          <p:cNvPr id="6" name="Title 1"/>
          <p:cNvSpPr txBox="1">
            <a:spLocks/>
          </p:cNvSpPr>
          <p:nvPr/>
        </p:nvSpPr>
        <p:spPr>
          <a:xfrm>
            <a:off x="381000" y="3627438"/>
            <a:ext cx="7162800" cy="33496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vert="horz" rtlCol="0" anchor="ctr">
            <a:no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000" b="1" dirty="0">
                <a:solidFill>
                  <a:schemeClr val="bg1"/>
                </a:solidFill>
                <a:effectLst>
                  <a:outerShdw blurRad="31750" dist="25400" dir="5400000" algn="tl" rotWithShape="0">
                    <a:srgbClr val="000000">
                      <a:alpha val="25000"/>
                    </a:srgbClr>
                  </a:outerShdw>
                </a:effectLst>
                <a:latin typeface="Calibri" pitchFamily="34" charset="0"/>
                <a:ea typeface="+mj-ea"/>
                <a:cs typeface="Calibri" pitchFamily="34" charset="0"/>
              </a:rPr>
              <a:t>Deadlock prevention Conditions 1 &amp; 2</a:t>
            </a:r>
            <a:endParaRPr kumimoji="0" lang="en-US" sz="20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j-ea"/>
              <a:cs typeface="Calibri" pitchFamily="34" charset="0"/>
            </a:endParaRPr>
          </a:p>
        </p:txBody>
      </p:sp>
      <p:sp>
        <p:nvSpPr>
          <p:cNvPr id="7" name="Content Placeholder 1"/>
          <p:cNvSpPr>
            <a:spLocks noGrp="1"/>
          </p:cNvSpPr>
          <p:nvPr>
            <p:ph idx="1"/>
          </p:nvPr>
        </p:nvSpPr>
        <p:spPr>
          <a:xfrm>
            <a:off x="76200" y="4038600"/>
            <a:ext cx="9067800" cy="2819400"/>
          </a:xfrm>
        </p:spPr>
        <p:style>
          <a:lnRef idx="2">
            <a:schemeClr val="accent2"/>
          </a:lnRef>
          <a:fillRef idx="1">
            <a:schemeClr val="lt1"/>
          </a:fillRef>
          <a:effectRef idx="0">
            <a:schemeClr val="accent2"/>
          </a:effectRef>
          <a:fontRef idx="minor">
            <a:schemeClr val="dk1"/>
          </a:fontRef>
        </p:style>
        <p:txBody>
          <a:bodyPr>
            <a:noAutofit/>
          </a:bodyPr>
          <a:lstStyle/>
          <a:p>
            <a:pPr>
              <a:buNone/>
              <a:defRPr/>
            </a:pPr>
            <a:r>
              <a:rPr lang="en-NZ" sz="2000" b="1" u="sng" dirty="0">
                <a:latin typeface="Calibri" pitchFamily="34" charset="0"/>
                <a:cs typeface="Calibri" pitchFamily="34" charset="0"/>
              </a:rPr>
              <a:t>(1) Mutual Exclusion:-</a:t>
            </a:r>
          </a:p>
          <a:p>
            <a:pPr>
              <a:defRPr/>
            </a:pPr>
            <a:r>
              <a:rPr lang="en-NZ" sz="2000" dirty="0">
                <a:latin typeface="Calibri" pitchFamily="34" charset="0"/>
                <a:cs typeface="Calibri" pitchFamily="34" charset="0"/>
              </a:rPr>
              <a:t>The first of the four listed conditions cannot be disallowed (in general).</a:t>
            </a:r>
          </a:p>
          <a:p>
            <a:pPr>
              <a:defRPr/>
            </a:pPr>
            <a:r>
              <a:rPr lang="en-NZ" sz="2000" dirty="0">
                <a:latin typeface="Calibri" pitchFamily="34" charset="0"/>
                <a:cs typeface="Calibri" pitchFamily="34" charset="0"/>
              </a:rPr>
              <a:t> If access to a resource requires mutual exclusion, then mutual exclusion must be supported by the OS.</a:t>
            </a:r>
          </a:p>
          <a:p>
            <a:pPr>
              <a:defRPr/>
            </a:pPr>
            <a:r>
              <a:rPr lang="en-NZ" sz="2000" dirty="0">
                <a:latin typeface="Calibri" pitchFamily="34" charset="0"/>
                <a:cs typeface="Calibri" pitchFamily="34" charset="0"/>
              </a:rPr>
              <a:t> Some resources, such as files, may allow multiple accesses for reads but only exclusive access for writes. </a:t>
            </a:r>
          </a:p>
          <a:p>
            <a:pPr>
              <a:defRPr/>
            </a:pPr>
            <a:r>
              <a:rPr lang="en-NZ" sz="2000" dirty="0">
                <a:latin typeface="Calibri" pitchFamily="34" charset="0"/>
                <a:cs typeface="Calibri" pitchFamily="34" charset="0"/>
              </a:rPr>
              <a:t>Even in this case, deadlock can occur if more than one process requires write permission.</a:t>
            </a:r>
            <a:endParaRPr lang="en-US" sz="2000" b="1" dirty="0">
              <a:latin typeface="Calibri" pitchFamily="34" charset="0"/>
              <a:cs typeface="Calibri" pitchFamily="34" charset="0"/>
            </a:endParaRPr>
          </a:p>
        </p:txBody>
      </p:sp>
    </p:spTree>
    <p:extLst>
      <p:ext uri="{BB962C8B-B14F-4D97-AF65-F5344CB8AC3E}">
        <p14:creationId xmlns:p14="http://schemas.microsoft.com/office/powerpoint/2010/main" val="38623371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 y="533400"/>
            <a:ext cx="7924800" cy="6248400"/>
          </a:xfrm>
        </p:spPr>
        <p:style>
          <a:lnRef idx="2">
            <a:schemeClr val="accent2"/>
          </a:lnRef>
          <a:fillRef idx="1">
            <a:schemeClr val="lt1"/>
          </a:fillRef>
          <a:effectRef idx="0">
            <a:schemeClr val="accent2"/>
          </a:effectRef>
          <a:fontRef idx="minor">
            <a:schemeClr val="dk1"/>
          </a:fontRef>
        </p:style>
        <p:txBody>
          <a:bodyPr>
            <a:noAutofit/>
          </a:bodyPr>
          <a:lstStyle/>
          <a:p>
            <a:pPr>
              <a:buNone/>
              <a:defRPr/>
            </a:pPr>
            <a:r>
              <a:rPr lang="en-US" sz="2000" b="1" u="sng" dirty="0">
                <a:latin typeface="Calibri" pitchFamily="34" charset="0"/>
                <a:cs typeface="Calibri" pitchFamily="34" charset="0"/>
              </a:rPr>
              <a:t>(2) Hold and Wait:-</a:t>
            </a:r>
          </a:p>
          <a:p>
            <a:pPr>
              <a:defRPr/>
            </a:pPr>
            <a:r>
              <a:rPr lang="en-NZ" sz="2000" dirty="0">
                <a:latin typeface="Calibri" pitchFamily="34" charset="0"/>
                <a:cs typeface="Calibri" pitchFamily="34" charset="0"/>
              </a:rPr>
              <a:t>Can be prevented by requiring that a process request all of its required resources at one time and blocking the process until all requests can be granted simultaneously. </a:t>
            </a:r>
          </a:p>
          <a:p>
            <a:pPr>
              <a:buFont typeface="Arial" pitchFamily="34" charset="0"/>
              <a:buNone/>
              <a:defRPr/>
            </a:pPr>
            <a:r>
              <a:rPr lang="en-NZ" sz="2000" dirty="0">
                <a:latin typeface="Calibri" pitchFamily="34" charset="0"/>
                <a:cs typeface="Calibri" pitchFamily="34" charset="0"/>
              </a:rPr>
              <a:t>This approach is inefficient in two ways. </a:t>
            </a:r>
          </a:p>
          <a:p>
            <a:pPr lvl="1">
              <a:buFont typeface="Arial" pitchFamily="34" charset="0"/>
              <a:buNone/>
              <a:defRPr/>
            </a:pPr>
            <a:r>
              <a:rPr lang="en-NZ" sz="2000" dirty="0">
                <a:latin typeface="Calibri" pitchFamily="34" charset="0"/>
                <a:cs typeface="Calibri" pitchFamily="34" charset="0"/>
              </a:rPr>
              <a:t>1) a process may be held up for a long time waiting for all of its resource requests to be filled, when in fact it could have proceeded with only some of the resources.</a:t>
            </a:r>
          </a:p>
          <a:p>
            <a:pPr marL="685800" lvl="1">
              <a:buFontTx/>
              <a:buAutoNum type="arabicParenR" startAt="2"/>
              <a:defRPr/>
            </a:pPr>
            <a:r>
              <a:rPr lang="en-NZ" sz="2000" dirty="0">
                <a:latin typeface="Calibri" pitchFamily="34" charset="0"/>
                <a:cs typeface="Calibri" pitchFamily="34" charset="0"/>
              </a:rPr>
              <a:t>resources allocated to a process may remain unused for a considerable period, during which time they are denied to other processes. </a:t>
            </a:r>
          </a:p>
          <a:p>
            <a:pPr marL="228600" indent="-228600">
              <a:defRPr/>
            </a:pPr>
            <a:r>
              <a:rPr lang="en-NZ" sz="2000" dirty="0">
                <a:latin typeface="Calibri" pitchFamily="34" charset="0"/>
                <a:cs typeface="Calibri" pitchFamily="34" charset="0"/>
              </a:rPr>
              <a:t>Another problem is that a process may not know in advance all of the resources that it will require.</a:t>
            </a:r>
          </a:p>
          <a:p>
            <a:pPr>
              <a:defRPr/>
            </a:pPr>
            <a:r>
              <a:rPr lang="en-NZ" sz="2000" dirty="0">
                <a:latin typeface="Calibri" pitchFamily="34" charset="0"/>
                <a:cs typeface="Calibri" pitchFamily="34" charset="0"/>
              </a:rPr>
              <a:t>There is also the practical problem created by the use of modular programming or a multithreaded structure for an application. </a:t>
            </a:r>
          </a:p>
          <a:p>
            <a:pPr lvl="1">
              <a:defRPr/>
            </a:pPr>
            <a:r>
              <a:rPr lang="en-NZ" sz="2000" dirty="0">
                <a:latin typeface="Calibri" pitchFamily="34" charset="0"/>
                <a:cs typeface="Calibri" pitchFamily="34" charset="0"/>
              </a:rPr>
              <a:t>An application would need to be aware of all resources that will be requested at all levels or in all modules to make the simultaneous request.</a:t>
            </a:r>
            <a:endParaRPr lang="en-US" sz="2000" dirty="0">
              <a:latin typeface="Calibri" pitchFamily="34" charset="0"/>
              <a:cs typeface="Calibri" pitchFamily="34" charset="0"/>
            </a:endParaRPr>
          </a:p>
          <a:p>
            <a:endParaRPr lang="en-GB" sz="2000" dirty="0">
              <a:latin typeface="Calibri" pitchFamily="34" charset="0"/>
              <a:cs typeface="Calibri" pitchFamily="34" charset="0"/>
            </a:endParaRPr>
          </a:p>
          <a:p>
            <a:endParaRPr lang="en-GB" sz="2000" dirty="0"/>
          </a:p>
        </p:txBody>
      </p:sp>
      <p:sp>
        <p:nvSpPr>
          <p:cNvPr id="4" name="Title 1"/>
          <p:cNvSpPr txBox="1">
            <a:spLocks/>
          </p:cNvSpPr>
          <p:nvPr/>
        </p:nvSpPr>
        <p:spPr>
          <a:xfrm>
            <a:off x="457200" y="46038"/>
            <a:ext cx="8229600" cy="411162"/>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a:solidFill>
                  <a:schemeClr val="bg1"/>
                </a:solidFill>
                <a:effectLst>
                  <a:outerShdw blurRad="31750" dist="25400" dir="5400000" algn="tl" rotWithShape="0">
                    <a:srgbClr val="000000">
                      <a:alpha val="25000"/>
                    </a:srgbClr>
                  </a:outerShdw>
                </a:effectLst>
                <a:latin typeface="Calibri" pitchFamily="34" charset="0"/>
                <a:ea typeface="+mj-ea"/>
                <a:cs typeface="Calibri" pitchFamily="34" charset="0"/>
              </a:rPr>
              <a:t>Deadlock prevention Conditions 1 &amp; 2</a:t>
            </a:r>
            <a:endParaRPr kumimoji="0" lang="en-US" sz="28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j-ea"/>
              <a:cs typeface="Calibri" pitchFamily="34" charset="0"/>
            </a:endParaRPr>
          </a:p>
        </p:txBody>
      </p:sp>
    </p:spTree>
    <p:extLst>
      <p:ext uri="{BB962C8B-B14F-4D97-AF65-F5344CB8AC3E}">
        <p14:creationId xmlns:p14="http://schemas.microsoft.com/office/powerpoint/2010/main" val="25832024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 y="457200"/>
            <a:ext cx="7696200" cy="6400800"/>
          </a:xfrm>
        </p:spPr>
        <p:style>
          <a:lnRef idx="2">
            <a:schemeClr val="accent2"/>
          </a:lnRef>
          <a:fillRef idx="1">
            <a:schemeClr val="lt1"/>
          </a:fillRef>
          <a:effectRef idx="0">
            <a:schemeClr val="accent2"/>
          </a:effectRef>
          <a:fontRef idx="minor">
            <a:schemeClr val="dk1"/>
          </a:fontRef>
        </p:style>
        <p:txBody>
          <a:bodyPr>
            <a:noAutofit/>
          </a:bodyPr>
          <a:lstStyle/>
          <a:p>
            <a:pPr>
              <a:buNone/>
              <a:defRPr/>
            </a:pPr>
            <a:r>
              <a:rPr lang="en-NZ" sz="2000" b="1" u="sng" dirty="0">
                <a:latin typeface="Calibri" pitchFamily="34" charset="0"/>
                <a:cs typeface="Calibri" pitchFamily="34" charset="0"/>
              </a:rPr>
              <a:t>(3)No </a:t>
            </a:r>
            <a:r>
              <a:rPr lang="en-NZ" sz="2000" b="1" u="sng" dirty="0" err="1">
                <a:latin typeface="Calibri" pitchFamily="34" charset="0"/>
                <a:cs typeface="Calibri" pitchFamily="34" charset="0"/>
              </a:rPr>
              <a:t>Preemption</a:t>
            </a:r>
            <a:r>
              <a:rPr lang="en-NZ" sz="2000" b="1" u="sng" dirty="0">
                <a:latin typeface="Calibri" pitchFamily="34" charset="0"/>
                <a:cs typeface="Calibri" pitchFamily="34" charset="0"/>
              </a:rPr>
              <a:t>:-</a:t>
            </a:r>
          </a:p>
          <a:p>
            <a:pPr>
              <a:defRPr/>
            </a:pPr>
            <a:r>
              <a:rPr lang="en-NZ" sz="2000" dirty="0">
                <a:latin typeface="Calibri" pitchFamily="34" charset="0"/>
                <a:cs typeface="Calibri" pitchFamily="34" charset="0"/>
              </a:rPr>
              <a:t>can be prevented in several ways. </a:t>
            </a:r>
          </a:p>
          <a:p>
            <a:pPr marL="685800" lvl="1">
              <a:buFontTx/>
              <a:buAutoNum type="arabicParenR"/>
              <a:defRPr/>
            </a:pPr>
            <a:r>
              <a:rPr lang="en-NZ" sz="2000" dirty="0">
                <a:latin typeface="Calibri" pitchFamily="34" charset="0"/>
                <a:cs typeface="Calibri" pitchFamily="34" charset="0"/>
              </a:rPr>
              <a:t>If a process holding certain resources is denied a further request, that process must release its original resources and, if necessary, request them again together with the additional resource.</a:t>
            </a:r>
          </a:p>
          <a:p>
            <a:pPr marL="685800" lvl="1">
              <a:buFontTx/>
              <a:buAutoNum type="arabicParenR"/>
              <a:defRPr/>
            </a:pPr>
            <a:r>
              <a:rPr lang="en-NZ" sz="2000" dirty="0">
                <a:latin typeface="Calibri" pitchFamily="34" charset="0"/>
                <a:cs typeface="Calibri" pitchFamily="34" charset="0"/>
              </a:rPr>
              <a:t>If a process requests a resource that is currently held by another process, the OS may </a:t>
            </a:r>
            <a:r>
              <a:rPr lang="en-NZ" sz="2000" dirty="0" err="1">
                <a:latin typeface="Calibri" pitchFamily="34" charset="0"/>
                <a:cs typeface="Calibri" pitchFamily="34" charset="0"/>
              </a:rPr>
              <a:t>preempt</a:t>
            </a:r>
            <a:r>
              <a:rPr lang="en-NZ" sz="2000" dirty="0">
                <a:latin typeface="Calibri" pitchFamily="34" charset="0"/>
                <a:cs typeface="Calibri" pitchFamily="34" charset="0"/>
              </a:rPr>
              <a:t> the second process and require it to release its resources.</a:t>
            </a:r>
          </a:p>
          <a:p>
            <a:pPr marL="228600" indent="-228600">
              <a:defRPr/>
            </a:pPr>
            <a:endParaRPr lang="en-NZ" sz="2000" dirty="0">
              <a:latin typeface="Calibri" pitchFamily="34" charset="0"/>
              <a:cs typeface="Calibri" pitchFamily="34" charset="0"/>
            </a:endParaRPr>
          </a:p>
          <a:p>
            <a:pPr marL="228600" indent="-228600">
              <a:defRPr/>
            </a:pPr>
            <a:r>
              <a:rPr lang="en-NZ" sz="2000" dirty="0">
                <a:latin typeface="Calibri" pitchFamily="34" charset="0"/>
                <a:cs typeface="Calibri" pitchFamily="34" charset="0"/>
              </a:rPr>
              <a:t>This latter scheme would prevent deadlock only if no two processes possessed the same priority.</a:t>
            </a:r>
          </a:p>
          <a:p>
            <a:pPr marL="685800" lvl="1">
              <a:defRPr/>
            </a:pPr>
            <a:r>
              <a:rPr lang="en-NZ" sz="2000" dirty="0">
                <a:latin typeface="Calibri" pitchFamily="34" charset="0"/>
                <a:cs typeface="Calibri" pitchFamily="34" charset="0"/>
              </a:rPr>
              <a:t>This approach is practical only with resources whose state can be easily saved and restored later, as is the case with a processor.</a:t>
            </a:r>
          </a:p>
          <a:p>
            <a:pPr>
              <a:buNone/>
              <a:defRPr/>
            </a:pPr>
            <a:r>
              <a:rPr lang="en-NZ" sz="2000" b="1" u="sng" dirty="0">
                <a:latin typeface="Calibri" pitchFamily="34" charset="0"/>
                <a:cs typeface="Calibri" pitchFamily="34" charset="0"/>
              </a:rPr>
              <a:t>(4)Circular Wait:-</a:t>
            </a:r>
          </a:p>
          <a:p>
            <a:pPr>
              <a:defRPr/>
            </a:pPr>
            <a:r>
              <a:rPr lang="en-NZ" sz="2000" dirty="0">
                <a:latin typeface="Calibri" pitchFamily="34" charset="0"/>
                <a:cs typeface="Calibri" pitchFamily="34" charset="0"/>
              </a:rPr>
              <a:t>Can be prevented by defining a linear ordering of resource types. </a:t>
            </a:r>
          </a:p>
          <a:p>
            <a:pPr>
              <a:defRPr/>
            </a:pPr>
            <a:r>
              <a:rPr lang="en-NZ" sz="2000" dirty="0">
                <a:latin typeface="Calibri" pitchFamily="34" charset="0"/>
                <a:cs typeface="Calibri" pitchFamily="34" charset="0"/>
              </a:rPr>
              <a:t>As with hold-and-wait prevention, circular-wait prevention may be inefficient, slowing down processes and denying resource access unnecessarily.</a:t>
            </a:r>
          </a:p>
          <a:p>
            <a:pPr marL="228600" indent="-228600">
              <a:defRPr/>
            </a:pPr>
            <a:endParaRPr lang="en-US" sz="2000" dirty="0">
              <a:latin typeface="Calibri" pitchFamily="34" charset="0"/>
              <a:cs typeface="Calibri" pitchFamily="34" charset="0"/>
            </a:endParaRPr>
          </a:p>
          <a:p>
            <a:endParaRPr lang="en-GB" sz="2000" dirty="0">
              <a:latin typeface="Calibri" pitchFamily="34" charset="0"/>
              <a:cs typeface="Calibri" pitchFamily="34" charset="0"/>
            </a:endParaRPr>
          </a:p>
        </p:txBody>
      </p:sp>
      <p:sp>
        <p:nvSpPr>
          <p:cNvPr id="4" name="Title 1"/>
          <p:cNvSpPr txBox="1">
            <a:spLocks/>
          </p:cNvSpPr>
          <p:nvPr/>
        </p:nvSpPr>
        <p:spPr>
          <a:xfrm>
            <a:off x="457200" y="0"/>
            <a:ext cx="8229600" cy="411162"/>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a:solidFill>
                  <a:schemeClr val="bg1"/>
                </a:solidFill>
                <a:effectLst>
                  <a:outerShdw blurRad="31750" dist="25400" dir="5400000" algn="tl" rotWithShape="0">
                    <a:srgbClr val="000000">
                      <a:alpha val="25000"/>
                    </a:srgbClr>
                  </a:outerShdw>
                </a:effectLst>
                <a:latin typeface="Calibri" pitchFamily="34" charset="0"/>
                <a:ea typeface="+mj-ea"/>
                <a:cs typeface="Calibri" pitchFamily="34" charset="0"/>
              </a:rPr>
              <a:t>Deadlock prevention Conditions 3 &amp; 4</a:t>
            </a:r>
            <a:endParaRPr kumimoji="0" lang="en-US" sz="28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j-ea"/>
              <a:cs typeface="Calibri" pitchFamily="34" charset="0"/>
            </a:endParaRPr>
          </a:p>
        </p:txBody>
      </p:sp>
    </p:spTree>
    <p:extLst>
      <p:ext uri="{BB962C8B-B14F-4D97-AF65-F5344CB8AC3E}">
        <p14:creationId xmlns:p14="http://schemas.microsoft.com/office/powerpoint/2010/main" val="42246854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928670"/>
            <a:ext cx="6643734" cy="4500594"/>
          </a:xfrm>
        </p:spPr>
        <p:style>
          <a:lnRef idx="2">
            <a:schemeClr val="accent5"/>
          </a:lnRef>
          <a:fillRef idx="1">
            <a:schemeClr val="lt1"/>
          </a:fillRef>
          <a:effectRef idx="0">
            <a:schemeClr val="accent5"/>
          </a:effectRef>
          <a:fontRef idx="minor">
            <a:schemeClr val="dk1"/>
          </a:fontRef>
        </p:style>
        <p:txBody>
          <a:bodyPr>
            <a:normAutofit/>
          </a:bodyPr>
          <a:lstStyle/>
          <a:p>
            <a:pPr>
              <a:buClr>
                <a:schemeClr val="accent5">
                  <a:lumMod val="75000"/>
                </a:schemeClr>
              </a:buClr>
              <a:defRPr/>
            </a:pPr>
            <a:endParaRPr lang="en-NZ" b="1" dirty="0">
              <a:solidFill>
                <a:schemeClr val="accent1">
                  <a:lumMod val="75000"/>
                </a:schemeClr>
              </a:solidFill>
              <a:latin typeface="Calibri" pitchFamily="34" charset="0"/>
            </a:endParaRPr>
          </a:p>
          <a:p>
            <a:pPr>
              <a:buClr>
                <a:schemeClr val="accent5">
                  <a:lumMod val="75000"/>
                </a:schemeClr>
              </a:buClr>
              <a:defRPr/>
            </a:pPr>
            <a:r>
              <a:rPr lang="en-NZ" dirty="0">
                <a:solidFill>
                  <a:schemeClr val="tx1"/>
                </a:solidFill>
                <a:latin typeface="Calibri" pitchFamily="34" charset="0"/>
              </a:rPr>
              <a:t>Principles of  Deadlock</a:t>
            </a:r>
          </a:p>
          <a:p>
            <a:pPr>
              <a:buClr>
                <a:schemeClr val="accent5">
                  <a:lumMod val="75000"/>
                </a:schemeClr>
              </a:buClr>
              <a:defRPr/>
            </a:pPr>
            <a:r>
              <a:rPr lang="en-NZ" dirty="0">
                <a:solidFill>
                  <a:schemeClr val="tx1"/>
                </a:solidFill>
                <a:latin typeface="Calibri" pitchFamily="34" charset="0"/>
              </a:rPr>
              <a:t>Deadlock Prevention</a:t>
            </a:r>
          </a:p>
          <a:p>
            <a:pPr>
              <a:buClr>
                <a:schemeClr val="accent5">
                  <a:lumMod val="75000"/>
                </a:schemeClr>
              </a:buClr>
              <a:defRPr/>
            </a:pPr>
            <a:r>
              <a:rPr lang="en-NZ" b="1" dirty="0">
                <a:solidFill>
                  <a:schemeClr val="tx1"/>
                </a:solidFill>
                <a:latin typeface="Calibri" pitchFamily="34" charset="0"/>
              </a:rPr>
              <a:t>Deadlock Avoidance</a:t>
            </a:r>
          </a:p>
          <a:p>
            <a:pPr>
              <a:buClr>
                <a:schemeClr val="accent5">
                  <a:lumMod val="75000"/>
                </a:schemeClr>
              </a:buClr>
              <a:defRPr/>
            </a:pPr>
            <a:r>
              <a:rPr lang="en-NZ" dirty="0">
                <a:latin typeface="Calibri" pitchFamily="34" charset="0"/>
              </a:rPr>
              <a:t>Deadlock Detection</a:t>
            </a:r>
          </a:p>
          <a:p>
            <a:pPr>
              <a:buClr>
                <a:schemeClr val="accent5">
                  <a:lumMod val="75000"/>
                </a:schemeClr>
              </a:buClr>
              <a:defRPr/>
            </a:pPr>
            <a:r>
              <a:rPr lang="en-US" dirty="0"/>
              <a:t>Dinning philosophers problem: Solution using semaphores 	</a:t>
            </a:r>
          </a:p>
          <a:p>
            <a:pPr>
              <a:buClr>
                <a:schemeClr val="accent5">
                  <a:lumMod val="75000"/>
                </a:schemeClr>
              </a:buClr>
              <a:defRPr/>
            </a:pPr>
            <a:endParaRPr lang="en-NZ" dirty="0">
              <a:latin typeface="Calibri" pitchFamily="34" charset="0"/>
            </a:endParaRPr>
          </a:p>
          <a:p>
            <a:pPr>
              <a:buClr>
                <a:schemeClr val="accent5">
                  <a:lumMod val="75000"/>
                </a:schemeClr>
              </a:buClr>
              <a:defRPr/>
            </a:pPr>
            <a:endParaRPr lang="en-NZ" dirty="0">
              <a:latin typeface="Calibri" pitchFamily="34" charset="0"/>
            </a:endParaRPr>
          </a:p>
        </p:txBody>
      </p:sp>
      <p:sp>
        <p:nvSpPr>
          <p:cNvPr id="5" name="Slide Number Placeholder 4"/>
          <p:cNvSpPr>
            <a:spLocks noGrp="1"/>
          </p:cNvSpPr>
          <p:nvPr>
            <p:ph type="sldNum" sz="quarter" idx="12"/>
          </p:nvPr>
        </p:nvSpPr>
        <p:spPr/>
        <p:txBody>
          <a:bodyPr/>
          <a:lstStyle/>
          <a:p>
            <a:fld id="{8721AD9F-4A2E-478F-ACDB-FC9429174183}" type="slidenum">
              <a:rPr lang="en-GB" smtClean="0"/>
              <a:pPr/>
              <a:t>55</a:t>
            </a:fld>
            <a:endParaRPr lang="en-GB"/>
          </a:p>
        </p:txBody>
      </p:sp>
      <p:sp>
        <p:nvSpPr>
          <p:cNvPr id="4" name="Title 1"/>
          <p:cNvSpPr txBox="1">
            <a:spLocks/>
          </p:cNvSpPr>
          <p:nvPr/>
        </p:nvSpPr>
        <p:spPr>
          <a:xfrm>
            <a:off x="1142976" y="71422"/>
            <a:ext cx="6072230" cy="50005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solidFill>
                  <a:schemeClr val="bg1">
                    <a:lumMod val="95000"/>
                  </a:schemeClr>
                </a:solidFill>
                <a:effectLst>
                  <a:outerShdw blurRad="38100" dist="38100" dir="2700000" algn="tl">
                    <a:srgbClr val="000000">
                      <a:alpha val="43137"/>
                    </a:srgbClr>
                  </a:outerShdw>
                </a:effectLst>
                <a:latin typeface="+mj-lt"/>
              </a:rPr>
              <a:t>ROADMAP - Deadlock</a:t>
            </a:r>
            <a:endParaRPr kumimoji="0" lang="en-GB" sz="2800" b="1" i="0" u="none" strike="noStrike" kern="1200" cap="none" spc="0" normalizeH="0" baseline="0" noProof="0" dirty="0">
              <a:ln>
                <a:noFill/>
              </a:ln>
              <a:solidFill>
                <a:schemeClr val="bg1">
                  <a:lumMod val="95000"/>
                </a:schemeClr>
              </a:solidFill>
              <a:effectLst>
                <a:outerShdw blurRad="38100" dist="38100" dir="2700000" algn="tl">
                  <a:srgbClr val="000000">
                    <a:alpha val="43137"/>
                  </a:srgbClr>
                </a:outerShdw>
              </a:effectLst>
              <a:uLnTx/>
              <a:uFillTx/>
              <a:latin typeface="+mj-lt"/>
              <a:ea typeface="+mn-ea"/>
              <a:cs typeface="+mn-cs"/>
            </a:endParaRPr>
          </a:p>
        </p:txBody>
      </p:sp>
      <p:sp>
        <p:nvSpPr>
          <p:cNvPr id="6" name="Right Arrow 5"/>
          <p:cNvSpPr/>
          <p:nvPr/>
        </p:nvSpPr>
        <p:spPr>
          <a:xfrm>
            <a:off x="428596" y="2797957"/>
            <a:ext cx="357190" cy="285752"/>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4937011"/>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7200" y="0"/>
            <a:ext cx="8229600" cy="411162"/>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a:solidFill>
                  <a:schemeClr val="bg1"/>
                </a:solidFill>
                <a:effectLst>
                  <a:outerShdw blurRad="31750" dist="25400" dir="5400000" algn="tl" rotWithShape="0">
                    <a:srgbClr val="000000">
                      <a:alpha val="25000"/>
                    </a:srgbClr>
                  </a:outerShdw>
                </a:effectLst>
                <a:latin typeface="Calibri" pitchFamily="34" charset="0"/>
                <a:ea typeface="+mj-ea"/>
                <a:cs typeface="Calibri" pitchFamily="34" charset="0"/>
              </a:rPr>
              <a:t>Deadlock Avoidance</a:t>
            </a:r>
            <a:endParaRPr kumimoji="0" lang="en-US" sz="28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j-ea"/>
              <a:cs typeface="Calibri" pitchFamily="34" charset="0"/>
            </a:endParaRPr>
          </a:p>
        </p:txBody>
      </p:sp>
      <p:sp>
        <p:nvSpPr>
          <p:cNvPr id="7" name="Rectangle 6"/>
          <p:cNvSpPr/>
          <p:nvPr/>
        </p:nvSpPr>
        <p:spPr>
          <a:xfrm>
            <a:off x="500034" y="928670"/>
            <a:ext cx="8501122" cy="2468368"/>
          </a:xfrm>
          <a:prstGeom prst="rect">
            <a:avLst/>
          </a:prstGeom>
        </p:spPr>
        <p:txBody>
          <a:bodyPr wrap="square">
            <a:spAutoFit/>
          </a:bodyPr>
          <a:lstStyle/>
          <a:p>
            <a:pPr fontAlgn="base">
              <a:lnSpc>
                <a:spcPct val="200000"/>
              </a:lnSpc>
            </a:pPr>
            <a:r>
              <a:rPr lang="en-US" sz="2000" dirty="0"/>
              <a:t>Deadlock avoidance is a method used in computer systems to ensure that processes do not enter into a deadlock situation. Instead of just setting rules like in deadlock prevention, deadlock avoidance continuously monitors the state of the system and makes decisions on-the-fly to keep processes from getting stuck.</a:t>
            </a:r>
          </a:p>
        </p:txBody>
      </p:sp>
    </p:spTree>
    <p:extLst>
      <p:ext uri="{BB962C8B-B14F-4D97-AF65-F5344CB8AC3E}">
        <p14:creationId xmlns:p14="http://schemas.microsoft.com/office/powerpoint/2010/main" val="22014778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7200" y="0"/>
            <a:ext cx="8229600" cy="411162"/>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a:solidFill>
                  <a:schemeClr val="bg1"/>
                </a:solidFill>
                <a:effectLst>
                  <a:outerShdw blurRad="31750" dist="25400" dir="5400000" algn="tl" rotWithShape="0">
                    <a:srgbClr val="000000">
                      <a:alpha val="25000"/>
                    </a:srgbClr>
                  </a:outerShdw>
                </a:effectLst>
                <a:latin typeface="Calibri" pitchFamily="34" charset="0"/>
                <a:ea typeface="+mj-ea"/>
                <a:cs typeface="Calibri" pitchFamily="34" charset="0"/>
              </a:rPr>
              <a:t>Deadlock Avoidance</a:t>
            </a:r>
            <a:endParaRPr kumimoji="0" lang="en-US" sz="28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j-ea"/>
              <a:cs typeface="Calibri" pitchFamily="34" charset="0"/>
            </a:endParaRPr>
          </a:p>
        </p:txBody>
      </p:sp>
      <p:sp>
        <p:nvSpPr>
          <p:cNvPr id="7" name="Rectangle 6"/>
          <p:cNvSpPr/>
          <p:nvPr/>
        </p:nvSpPr>
        <p:spPr>
          <a:xfrm>
            <a:off x="500034" y="928670"/>
            <a:ext cx="8501122" cy="5324535"/>
          </a:xfrm>
          <a:prstGeom prst="rect">
            <a:avLst/>
          </a:prstGeom>
        </p:spPr>
        <p:txBody>
          <a:bodyPr wrap="square">
            <a:spAutoFit/>
          </a:bodyPr>
          <a:lstStyle/>
          <a:p>
            <a:pPr fontAlgn="base">
              <a:lnSpc>
                <a:spcPct val="150000"/>
              </a:lnSpc>
            </a:pPr>
            <a:r>
              <a:rPr lang="en-US" sz="2000" dirty="0"/>
              <a:t>Deadlock avoidance ensures that a resource request is only granted if it won’t lead to deadlock, either immediately or in the future. Since the </a:t>
            </a:r>
            <a:r>
              <a:rPr lang="en-US" sz="2000" u="sng" dirty="0">
                <a:hlinkClick r:id="rId2"/>
              </a:rPr>
              <a:t>kernel </a:t>
            </a:r>
            <a:r>
              <a:rPr lang="en-US" sz="2000" dirty="0"/>
              <a:t>can’t predict future process behavior, it uses a conservative approach. Each process declares the maximum number of resources it may need. The kernel allows requests in stages, checking for potential deadlocks before granting them. A request is granted only if no deadlock is possible; otherwise, it stays pending. This approach is conservative, as a process may finish without using the maximum resources it declared.</a:t>
            </a:r>
          </a:p>
          <a:p>
            <a:pPr fontAlgn="base">
              <a:lnSpc>
                <a:spcPct val="150000"/>
              </a:lnSpc>
            </a:pPr>
            <a:endParaRPr lang="en-US" sz="2000" dirty="0"/>
          </a:p>
          <a:p>
            <a:pPr fontAlgn="base">
              <a:lnSpc>
                <a:spcPct val="150000"/>
              </a:lnSpc>
            </a:pPr>
            <a:endParaRPr lang="en-US" sz="2000" dirty="0"/>
          </a:p>
          <a:p>
            <a:pPr fontAlgn="base"/>
            <a:endParaRPr lang="en-US" sz="2000" dirty="0"/>
          </a:p>
          <a:p>
            <a:pPr fontAlgn="base"/>
            <a:r>
              <a:rPr lang="en-US" sz="2000" u="sng" dirty="0">
                <a:hlinkClick r:id="rId3"/>
              </a:rPr>
              <a:t>Banker’s Algorithm</a:t>
            </a:r>
            <a:r>
              <a:rPr lang="en-US" sz="2000" dirty="0"/>
              <a:t> is the technique used for Deadlock Avoidance.</a:t>
            </a:r>
          </a:p>
        </p:txBody>
      </p:sp>
    </p:spTree>
    <p:extLst>
      <p:ext uri="{BB962C8B-B14F-4D97-AF65-F5344CB8AC3E}">
        <p14:creationId xmlns:p14="http://schemas.microsoft.com/office/powerpoint/2010/main" val="22014778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p:cNvSpPr>
            <a:spLocks noGrp="1"/>
          </p:cNvSpPr>
          <p:nvPr>
            <p:ph idx="1"/>
          </p:nvPr>
        </p:nvSpPr>
        <p:spPr>
          <a:xfrm>
            <a:off x="0" y="533400"/>
            <a:ext cx="9144000" cy="1371600"/>
          </a:xfrm>
        </p:spPr>
        <p:style>
          <a:lnRef idx="2">
            <a:schemeClr val="accent2"/>
          </a:lnRef>
          <a:fillRef idx="1">
            <a:schemeClr val="lt1"/>
          </a:fillRef>
          <a:effectRef idx="0">
            <a:schemeClr val="accent2"/>
          </a:effectRef>
          <a:fontRef idx="minor">
            <a:schemeClr val="dk1"/>
          </a:fontRef>
        </p:style>
        <p:txBody>
          <a:bodyPr>
            <a:normAutofit/>
          </a:bodyPr>
          <a:lstStyle/>
          <a:p>
            <a:endParaRPr lang="en-GB" sz="2000" dirty="0">
              <a:latin typeface="Calibri" pitchFamily="34" charset="0"/>
              <a:cs typeface="Calibri" pitchFamily="34" charset="0"/>
            </a:endParaRPr>
          </a:p>
        </p:txBody>
      </p:sp>
      <p:sp>
        <p:nvSpPr>
          <p:cNvPr id="6" name="Rectangle 5"/>
          <p:cNvSpPr/>
          <p:nvPr/>
        </p:nvSpPr>
        <p:spPr>
          <a:xfrm>
            <a:off x="0" y="2416314"/>
            <a:ext cx="9144000"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000" dirty="0">
                <a:latin typeface="Calibri" pitchFamily="34" charset="0"/>
              </a:rPr>
              <a:t>Consider a system of n processes and m different types of resources. Let us define the following vectors and matrices:</a:t>
            </a:r>
          </a:p>
        </p:txBody>
      </p:sp>
      <p:pic>
        <p:nvPicPr>
          <p:cNvPr id="1026" name="Picture 2"/>
          <p:cNvPicPr>
            <a:picLocks noChangeAspect="1" noChangeArrowheads="1"/>
          </p:cNvPicPr>
          <p:nvPr/>
        </p:nvPicPr>
        <p:blipFill>
          <a:blip r:embed="rId2"/>
          <a:srcRect/>
          <a:stretch>
            <a:fillRect/>
          </a:stretch>
        </p:blipFill>
        <p:spPr bwMode="auto">
          <a:xfrm>
            <a:off x="0" y="533400"/>
            <a:ext cx="9144000" cy="6324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itle 1"/>
          <p:cNvSpPr txBox="1">
            <a:spLocks/>
          </p:cNvSpPr>
          <p:nvPr/>
        </p:nvSpPr>
        <p:spPr>
          <a:xfrm>
            <a:off x="-3996952" y="2770257"/>
            <a:ext cx="2438400" cy="41116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vert="horz" rtlCol="0" anchor="ctr">
            <a:noAutofit/>
            <a:scene3d>
              <a:camera prst="orthographicFront"/>
              <a:lightRig rig="soft" dir="t"/>
            </a:scene3d>
            <a:sp3d prstMaterial="softEdge">
              <a:bevelT w="25400" h="25400"/>
            </a:sp3d>
          </a:bodyPr>
          <a:lstStyle/>
          <a:p>
            <a:pPr marL="0" marR="0" lvl="0" indent="0" defTabSz="914400" rtl="0" eaLnBrk="1" fontAlgn="auto" latinLnBrk="0" hangingPunct="1">
              <a:lnSpc>
                <a:spcPct val="100000"/>
              </a:lnSpc>
              <a:spcBef>
                <a:spcPct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j-ea"/>
                <a:cs typeface="Calibri" pitchFamily="34" charset="0"/>
              </a:rPr>
              <a:t>Data Structures:-</a:t>
            </a:r>
          </a:p>
        </p:txBody>
      </p:sp>
      <p:sp>
        <p:nvSpPr>
          <p:cNvPr id="3" name="Title 2">
            <a:extLst>
              <a:ext uri="{FF2B5EF4-FFF2-40B4-BE49-F238E27FC236}">
                <a16:creationId xmlns:a16="http://schemas.microsoft.com/office/drawing/2014/main" id="{3E755FF7-F9AE-AB7B-F63B-203690D0C43A}"/>
              </a:ext>
            </a:extLst>
          </p:cNvPr>
          <p:cNvSpPr>
            <a:spLocks noGrp="1"/>
          </p:cNvSpPr>
          <p:nvPr>
            <p:ph type="title"/>
          </p:nvPr>
        </p:nvSpPr>
        <p:spPr/>
        <p:txBody>
          <a:bodyPr/>
          <a:lstStyle/>
          <a:p>
            <a:endParaRPr lang="en-IN" dirty="0"/>
          </a:p>
        </p:txBody>
      </p:sp>
    </p:spTree>
    <p:extLst>
      <p:ext uri="{BB962C8B-B14F-4D97-AF65-F5344CB8AC3E}">
        <p14:creationId xmlns:p14="http://schemas.microsoft.com/office/powerpoint/2010/main" val="17043563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7200" y="0"/>
            <a:ext cx="8229600" cy="411162"/>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a:solidFill>
                  <a:schemeClr val="bg1"/>
                </a:solidFill>
                <a:effectLst>
                  <a:outerShdw blurRad="31750" dist="25400" dir="5400000" algn="tl" rotWithShape="0">
                    <a:srgbClr val="000000">
                      <a:alpha val="25000"/>
                    </a:srgbClr>
                  </a:outerShdw>
                </a:effectLst>
                <a:latin typeface="Calibri" pitchFamily="34" charset="0"/>
                <a:ea typeface="+mj-ea"/>
                <a:cs typeface="Calibri" pitchFamily="34" charset="0"/>
              </a:rPr>
              <a:t>Deadlock Avoidance</a:t>
            </a:r>
            <a:endParaRPr kumimoji="0" lang="en-US" sz="28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j-ea"/>
              <a:cs typeface="Calibri" pitchFamily="34" charset="0"/>
            </a:endParaRPr>
          </a:p>
        </p:txBody>
      </p:sp>
      <p:sp>
        <p:nvSpPr>
          <p:cNvPr id="7" name="Rectangle 6"/>
          <p:cNvSpPr/>
          <p:nvPr/>
        </p:nvSpPr>
        <p:spPr>
          <a:xfrm>
            <a:off x="500034" y="928670"/>
            <a:ext cx="8501122" cy="5324535"/>
          </a:xfrm>
          <a:prstGeom prst="rect">
            <a:avLst/>
          </a:prstGeom>
        </p:spPr>
        <p:txBody>
          <a:bodyPr wrap="square">
            <a:spAutoFit/>
          </a:bodyPr>
          <a:lstStyle/>
          <a:p>
            <a:pPr fontAlgn="base"/>
            <a:r>
              <a:rPr lang="en-US" sz="2000" b="1" dirty="0"/>
              <a:t>Banker’s Algorithm:</a:t>
            </a:r>
          </a:p>
          <a:p>
            <a:pPr fontAlgn="base"/>
            <a:endParaRPr lang="en-US" sz="2000" b="1" dirty="0"/>
          </a:p>
          <a:p>
            <a:pPr algn="just" fontAlgn="base"/>
            <a:r>
              <a:rPr lang="en-US" sz="2000" dirty="0"/>
              <a:t>Bankers’ Algorithm is a</a:t>
            </a:r>
            <a:r>
              <a:rPr lang="en-US" sz="2000" b="1" dirty="0"/>
              <a:t> resource allocation and deadlock avoidance algorithm</a:t>
            </a:r>
            <a:r>
              <a:rPr lang="en-US" sz="2000" dirty="0"/>
              <a:t> that tests all resource requests made by processes. It checks for the </a:t>
            </a:r>
            <a:r>
              <a:rPr lang="en-US" sz="2000" b="1" dirty="0"/>
              <a:t>safe state</a:t>
            </a:r>
            <a:r>
              <a:rPr lang="en-US" sz="2000" dirty="0"/>
              <a:t>, and if granting a request keeps the system in safe state, the request is allowed. However, if no safe state exists, the request is denied. </a:t>
            </a:r>
          </a:p>
          <a:p>
            <a:pPr algn="just" fontAlgn="base"/>
            <a:r>
              <a:rPr lang="en-US" sz="2000" b="1" dirty="0"/>
              <a:t>Inputs to Banker’s Algorithm:</a:t>
            </a:r>
          </a:p>
          <a:p>
            <a:pPr algn="just" fontAlgn="base"/>
            <a:endParaRPr lang="en-US" sz="2000" dirty="0"/>
          </a:p>
          <a:p>
            <a:pPr algn="just" fontAlgn="base"/>
            <a:r>
              <a:rPr lang="en-US" sz="2000" dirty="0"/>
              <a:t>Max needs of resources by each process. </a:t>
            </a:r>
          </a:p>
          <a:p>
            <a:pPr algn="just" fontAlgn="base"/>
            <a:r>
              <a:rPr lang="en-US" sz="2000" dirty="0"/>
              <a:t>Currently, allocated resources by each process. </a:t>
            </a:r>
          </a:p>
          <a:p>
            <a:pPr algn="just" fontAlgn="base"/>
            <a:r>
              <a:rPr lang="en-US" sz="2000" dirty="0"/>
              <a:t>Max free available resources in the system.</a:t>
            </a:r>
          </a:p>
          <a:p>
            <a:pPr algn="just" fontAlgn="base"/>
            <a:r>
              <a:rPr lang="en-US" sz="2000" b="1" dirty="0"/>
              <a:t>The request will only be granted under the below condition:</a:t>
            </a:r>
          </a:p>
          <a:p>
            <a:pPr algn="just" fontAlgn="base"/>
            <a:endParaRPr lang="en-US" sz="2000" dirty="0"/>
          </a:p>
          <a:p>
            <a:pPr algn="just" fontAlgn="base"/>
            <a:r>
              <a:rPr lang="en-US" sz="2000" dirty="0"/>
              <a:t>If the request made by the process is less than equal to the max needed for that process. </a:t>
            </a:r>
          </a:p>
          <a:p>
            <a:pPr algn="just" fontAlgn="base"/>
            <a:r>
              <a:rPr lang="en-US" sz="2000" dirty="0"/>
              <a:t>If the request made by the process is less than equal to the freely available resource in the system.</a:t>
            </a:r>
          </a:p>
        </p:txBody>
      </p:sp>
    </p:spTree>
    <p:extLst>
      <p:ext uri="{BB962C8B-B14F-4D97-AF65-F5344CB8AC3E}">
        <p14:creationId xmlns:p14="http://schemas.microsoft.com/office/powerpoint/2010/main" val="22014778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7200" y="0"/>
            <a:ext cx="8229600" cy="411162"/>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a:solidFill>
                  <a:schemeClr val="bg1"/>
                </a:solidFill>
                <a:effectLst>
                  <a:outerShdw blurRad="31750" dist="25400" dir="5400000" algn="tl" rotWithShape="0">
                    <a:srgbClr val="000000">
                      <a:alpha val="25000"/>
                    </a:srgbClr>
                  </a:outerShdw>
                </a:effectLst>
                <a:latin typeface="Calibri" pitchFamily="34" charset="0"/>
                <a:ea typeface="+mj-ea"/>
                <a:cs typeface="Calibri" pitchFamily="34" charset="0"/>
              </a:rPr>
              <a:t>Deadlock Avoidance</a:t>
            </a:r>
            <a:endParaRPr kumimoji="0" lang="en-US" sz="28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j-ea"/>
              <a:cs typeface="Calibri" pitchFamily="34" charset="0"/>
            </a:endParaRPr>
          </a:p>
        </p:txBody>
      </p:sp>
      <p:sp>
        <p:nvSpPr>
          <p:cNvPr id="7" name="Rectangle 6"/>
          <p:cNvSpPr/>
          <p:nvPr/>
        </p:nvSpPr>
        <p:spPr>
          <a:xfrm>
            <a:off x="500034" y="785794"/>
            <a:ext cx="8501122" cy="6709529"/>
          </a:xfrm>
          <a:prstGeom prst="rect">
            <a:avLst/>
          </a:prstGeom>
        </p:spPr>
        <p:txBody>
          <a:bodyPr wrap="square">
            <a:spAutoFit/>
          </a:bodyPr>
          <a:lstStyle/>
          <a:p>
            <a:pPr algn="just" fontAlgn="base">
              <a:lnSpc>
                <a:spcPct val="150000"/>
              </a:lnSpc>
            </a:pPr>
            <a:r>
              <a:rPr lang="en-US" sz="2000" dirty="0"/>
              <a:t>A real-life example of a deadlock avoidance algorithm in action is the Banker's Algorithm, which is used in banking systems to determine whether a loan can be granted without jeopardizing the bank's ability to fulfill all customer withdrawals.</a:t>
            </a:r>
            <a:r>
              <a:rPr lang="en-US" sz="2000" b="1" dirty="0"/>
              <a:t> </a:t>
            </a:r>
          </a:p>
          <a:p>
            <a:pPr algn="just" fontAlgn="base">
              <a:lnSpc>
                <a:spcPct val="150000"/>
              </a:lnSpc>
            </a:pPr>
            <a:endParaRPr lang="en-US" sz="2000" b="1" dirty="0"/>
          </a:p>
          <a:p>
            <a:pPr algn="just"/>
            <a:r>
              <a:rPr lang="en-US" sz="2000" b="1" dirty="0"/>
              <a:t>The Problem:</a:t>
            </a:r>
          </a:p>
          <a:p>
            <a:pPr algn="just"/>
            <a:endParaRPr lang="en-US" sz="2000" dirty="0"/>
          </a:p>
          <a:p>
            <a:pPr algn="just">
              <a:lnSpc>
                <a:spcPct val="150000"/>
              </a:lnSpc>
            </a:pPr>
            <a:r>
              <a:rPr lang="en-US" sz="2000" dirty="0"/>
              <a:t>Imagine a bank with a limited amount of money (resources) and multiple customers (processes) who want to borrow money (request resources). If the bank grants loans without considering the potential for all customers to withdraw their money, it could lead to a "deadlock" where no one can get their money back. </a:t>
            </a:r>
          </a:p>
          <a:p>
            <a:pPr fontAlgn="base">
              <a:lnSpc>
                <a:spcPct val="150000"/>
              </a:lnSpc>
            </a:pPr>
            <a:endParaRPr lang="en-US" sz="2000" b="1" dirty="0"/>
          </a:p>
          <a:p>
            <a:pPr fontAlgn="base">
              <a:lnSpc>
                <a:spcPct val="150000"/>
              </a:lnSpc>
            </a:pPr>
            <a:endParaRPr lang="en-US" sz="2000" b="1" dirty="0"/>
          </a:p>
          <a:p>
            <a:pPr fontAlgn="base">
              <a:lnSpc>
                <a:spcPct val="150000"/>
              </a:lnSpc>
            </a:pPr>
            <a:endParaRPr lang="en-US" sz="2000" dirty="0"/>
          </a:p>
        </p:txBody>
      </p:sp>
    </p:spTree>
    <p:extLst>
      <p:ext uri="{BB962C8B-B14F-4D97-AF65-F5344CB8AC3E}">
        <p14:creationId xmlns:p14="http://schemas.microsoft.com/office/powerpoint/2010/main" val="22014778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7200" y="0"/>
            <a:ext cx="8229600" cy="411162"/>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b="1" dirty="0">
                <a:solidFill>
                  <a:schemeClr val="bg1"/>
                </a:solidFill>
                <a:effectLst>
                  <a:outerShdw blurRad="31750" dist="25400" dir="5400000" algn="tl" rotWithShape="0">
                    <a:srgbClr val="000000">
                      <a:alpha val="25000"/>
                    </a:srgbClr>
                  </a:outerShdw>
                </a:effectLst>
                <a:latin typeface="Calibri" pitchFamily="34" charset="0"/>
                <a:ea typeface="+mj-ea"/>
                <a:cs typeface="Calibri" pitchFamily="34" charset="0"/>
              </a:rPr>
              <a:t>Deadlock Avoidance</a:t>
            </a:r>
            <a:endParaRPr kumimoji="0" lang="en-US" sz="28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j-ea"/>
              <a:cs typeface="Calibri" pitchFamily="34" charset="0"/>
            </a:endParaRPr>
          </a:p>
        </p:txBody>
      </p:sp>
      <p:sp>
        <p:nvSpPr>
          <p:cNvPr id="7" name="Rectangle 6"/>
          <p:cNvSpPr/>
          <p:nvPr/>
        </p:nvSpPr>
        <p:spPr>
          <a:xfrm>
            <a:off x="500034" y="785794"/>
            <a:ext cx="8501122" cy="7155805"/>
          </a:xfrm>
          <a:prstGeom prst="rect">
            <a:avLst/>
          </a:prstGeom>
        </p:spPr>
        <p:txBody>
          <a:bodyPr wrap="square">
            <a:spAutoFit/>
          </a:bodyPr>
          <a:lstStyle/>
          <a:p>
            <a:pPr algn="just"/>
            <a:r>
              <a:rPr lang="en-US" sz="2000" b="1" dirty="0"/>
              <a:t>The Banker's Algorithm:</a:t>
            </a:r>
            <a:endParaRPr lang="en-US" sz="2000" dirty="0"/>
          </a:p>
          <a:p>
            <a:pPr algn="just"/>
            <a:r>
              <a:rPr lang="en-US" sz="2000" dirty="0"/>
              <a:t>The Banker's Algorithm works by simulating resource allocation requests and determining if granting a request would lead to a "safe state" where all processes (customers) can complete their operations (withdraw their money). </a:t>
            </a:r>
          </a:p>
          <a:p>
            <a:pPr algn="just" fontAlgn="base">
              <a:lnSpc>
                <a:spcPct val="150000"/>
              </a:lnSpc>
            </a:pPr>
            <a:endParaRPr lang="en-US" sz="600" b="1" dirty="0"/>
          </a:p>
          <a:p>
            <a:pPr algn="just"/>
            <a:r>
              <a:rPr lang="en-US" sz="2000" b="1" dirty="0"/>
              <a:t>How it Works:</a:t>
            </a:r>
            <a:endParaRPr lang="en-US" sz="2000" dirty="0"/>
          </a:p>
          <a:p>
            <a:pPr algn="just" fontAlgn="ctr"/>
            <a:r>
              <a:rPr lang="en-US" sz="2000" dirty="0"/>
              <a:t>The bank keeps track of the total amount of money it has and the amount each customer has in their account. </a:t>
            </a:r>
          </a:p>
          <a:p>
            <a:pPr algn="just" fontAlgn="ctr"/>
            <a:r>
              <a:rPr lang="en-US" sz="2000" dirty="0"/>
              <a:t>When a customer requests a loan, the bank simulates the loan request by subtracting the loan amount from the bank's total. </a:t>
            </a:r>
          </a:p>
          <a:p>
            <a:pPr algn="just" fontAlgn="ctr"/>
            <a:r>
              <a:rPr lang="en-US" sz="2000" dirty="0"/>
              <a:t>The bank then checks if, after granting the loan, there's enough money remaining to satisfy all customer withdrawals, even if they all happen simultaneously. </a:t>
            </a:r>
          </a:p>
          <a:p>
            <a:pPr algn="just"/>
            <a:r>
              <a:rPr lang="en-US" sz="2000" dirty="0"/>
              <a:t>If there's enough money, the loan is granted, and the bank remains in a safe state. If not, the loan is denied to avoid a potential deadlock. </a:t>
            </a:r>
          </a:p>
          <a:p>
            <a:pPr algn="just"/>
            <a:endParaRPr lang="en-US" sz="2000" dirty="0"/>
          </a:p>
          <a:p>
            <a:pPr algn="just"/>
            <a:r>
              <a:rPr lang="en-US" sz="2000" b="1" dirty="0"/>
              <a:t>In essence, the Banker's Algorithm ensures that the bank never allocates its resources in a way that it cannot fulfill the needs of all its customers, thus avoiding a deadlock situation. </a:t>
            </a:r>
            <a:endParaRPr lang="en-US" sz="2000" dirty="0"/>
          </a:p>
          <a:p>
            <a:pPr fontAlgn="base">
              <a:lnSpc>
                <a:spcPct val="150000"/>
              </a:lnSpc>
            </a:pPr>
            <a:endParaRPr lang="en-US" sz="2000" b="1" dirty="0"/>
          </a:p>
          <a:p>
            <a:pPr fontAlgn="base">
              <a:lnSpc>
                <a:spcPct val="150000"/>
              </a:lnSpc>
            </a:pPr>
            <a:endParaRPr lang="en-US" sz="2000" b="1" dirty="0"/>
          </a:p>
          <a:p>
            <a:pPr fontAlgn="base">
              <a:lnSpc>
                <a:spcPct val="150000"/>
              </a:lnSpc>
            </a:pPr>
            <a:endParaRPr lang="en-US" sz="2000" dirty="0"/>
          </a:p>
        </p:txBody>
      </p:sp>
    </p:spTree>
    <p:extLst>
      <p:ext uri="{BB962C8B-B14F-4D97-AF65-F5344CB8AC3E}">
        <p14:creationId xmlns:p14="http://schemas.microsoft.com/office/powerpoint/2010/main" val="22014778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457200" y="0"/>
            <a:ext cx="8229600" cy="457200"/>
          </a:xfrm>
        </p:spPr>
        <p:style>
          <a:lnRef idx="3">
            <a:schemeClr val="lt1"/>
          </a:lnRef>
          <a:fillRef idx="1">
            <a:schemeClr val="accent2"/>
          </a:fillRef>
          <a:effectRef idx="1">
            <a:schemeClr val="accent2"/>
          </a:effectRef>
          <a:fontRef idx="minor">
            <a:schemeClr val="lt1"/>
          </a:fontRef>
        </p:style>
        <p:txBody>
          <a:bodyPr>
            <a:noAutofit/>
          </a:bodyPr>
          <a:lstStyle/>
          <a:p>
            <a:pPr algn="ctr"/>
            <a:r>
              <a:rPr lang="en-NZ" sz="2600" b="1" dirty="0">
                <a:solidFill>
                  <a:schemeClr val="bg1"/>
                </a:solidFill>
                <a:effectLst>
                  <a:outerShdw blurRad="38100" dist="38100" dir="2700000" algn="tl">
                    <a:srgbClr val="000000">
                      <a:alpha val="43137"/>
                    </a:srgbClr>
                  </a:outerShdw>
                </a:effectLst>
                <a:latin typeface="Calibri" pitchFamily="34" charset="0"/>
                <a:cs typeface="Calibri" pitchFamily="34" charset="0"/>
              </a:rPr>
              <a:t>Determination of Safe State</a:t>
            </a:r>
          </a:p>
        </p:txBody>
      </p:sp>
      <p:sp>
        <p:nvSpPr>
          <p:cNvPr id="35843" name="Content Placeholder 2"/>
          <p:cNvSpPr>
            <a:spLocks noGrp="1"/>
          </p:cNvSpPr>
          <p:nvPr>
            <p:ph idx="1"/>
          </p:nvPr>
        </p:nvSpPr>
        <p:spPr>
          <a:xfrm>
            <a:off x="76200" y="533400"/>
            <a:ext cx="8915400" cy="1219200"/>
          </a:xfrm>
        </p:spPr>
        <p:style>
          <a:lnRef idx="2">
            <a:schemeClr val="accent2"/>
          </a:lnRef>
          <a:fillRef idx="1">
            <a:schemeClr val="lt1"/>
          </a:fillRef>
          <a:effectRef idx="0">
            <a:schemeClr val="accent2"/>
          </a:effectRef>
          <a:fontRef idx="minor">
            <a:schemeClr val="dk1"/>
          </a:fontRef>
        </p:style>
        <p:txBody>
          <a:bodyPr>
            <a:normAutofit/>
          </a:bodyPr>
          <a:lstStyle/>
          <a:p>
            <a:r>
              <a:rPr lang="en-NZ" sz="2000" dirty="0">
                <a:latin typeface="Calibri" pitchFamily="34" charset="0"/>
                <a:cs typeface="Calibri" pitchFamily="34" charset="0"/>
              </a:rPr>
              <a:t>A system consisting of four processes and three resources. </a:t>
            </a:r>
          </a:p>
          <a:p>
            <a:r>
              <a:rPr lang="en-NZ" sz="2000" dirty="0">
                <a:latin typeface="Calibri" pitchFamily="34" charset="0"/>
                <a:cs typeface="Calibri" pitchFamily="34" charset="0"/>
              </a:rPr>
              <a:t>Allocations are made to processors</a:t>
            </a:r>
          </a:p>
          <a:p>
            <a:r>
              <a:rPr lang="en-NZ" sz="2000" b="1" i="1" dirty="0">
                <a:latin typeface="Calibri" pitchFamily="34" charset="0"/>
                <a:cs typeface="Calibri" pitchFamily="34" charset="0"/>
              </a:rPr>
              <a:t>Is this a safe state?</a:t>
            </a:r>
          </a:p>
          <a:p>
            <a:endParaRPr lang="en-NZ" sz="2000" dirty="0">
              <a:latin typeface="Calibri" pitchFamily="34" charset="0"/>
              <a:cs typeface="Calibri" pitchFamily="34" charset="0"/>
            </a:endParaRPr>
          </a:p>
        </p:txBody>
      </p:sp>
      <p:pic>
        <p:nvPicPr>
          <p:cNvPr id="35844" name="Content Placeholder 3" descr="Fig06_07a.gif"/>
          <p:cNvPicPr>
            <a:picLocks noChangeAspect="1"/>
          </p:cNvPicPr>
          <p:nvPr/>
        </p:nvPicPr>
        <p:blipFill>
          <a:blip r:embed="rId3"/>
          <a:srcRect/>
          <a:stretch>
            <a:fillRect/>
          </a:stretch>
        </p:blipFill>
        <p:spPr bwMode="auto">
          <a:xfrm>
            <a:off x="1066800" y="1905000"/>
            <a:ext cx="7296150" cy="2352675"/>
          </a:xfrm>
          <a:prstGeom prst="rect">
            <a:avLst/>
          </a:prstGeom>
          <a:noFill/>
          <a:ln w="9525">
            <a:noFill/>
            <a:miter lim="800000"/>
            <a:headEnd/>
            <a:tailEnd/>
          </a:ln>
        </p:spPr>
      </p:pic>
      <p:sp>
        <p:nvSpPr>
          <p:cNvPr id="13" name="Line Callout 2 12"/>
          <p:cNvSpPr/>
          <p:nvPr/>
        </p:nvSpPr>
        <p:spPr>
          <a:xfrm>
            <a:off x="0" y="3581400"/>
            <a:ext cx="1600200" cy="1371600"/>
          </a:xfrm>
          <a:prstGeom prst="borderCallout2">
            <a:avLst>
              <a:gd name="adj1" fmla="val 47968"/>
              <a:gd name="adj2" fmla="val 103468"/>
              <a:gd name="adj3" fmla="val 47967"/>
              <a:gd name="adj4" fmla="val 132401"/>
              <a:gd name="adj5" fmla="val 16674"/>
              <a:gd name="adj6" fmla="val 175694"/>
            </a:avLst>
          </a:prstGeom>
          <a:ln/>
        </p:spPr>
        <p:style>
          <a:lnRef idx="3">
            <a:schemeClr val="lt1"/>
          </a:lnRef>
          <a:fillRef idx="1">
            <a:schemeClr val="accent2"/>
          </a:fillRef>
          <a:effectRef idx="1">
            <a:schemeClr val="accent2"/>
          </a:effectRef>
          <a:fontRef idx="minor">
            <a:schemeClr val="lt1"/>
          </a:fontRef>
        </p:style>
        <p:txBody>
          <a:bodyPr anchor="ctr"/>
          <a:lstStyle/>
          <a:p>
            <a:pPr algn="ctr">
              <a:defRPr/>
            </a:pPr>
            <a:r>
              <a:rPr lang="en-NZ" b="1" dirty="0"/>
              <a:t>Amount of Existing Resources</a:t>
            </a:r>
          </a:p>
        </p:txBody>
      </p:sp>
      <p:sp>
        <p:nvSpPr>
          <p:cNvPr id="14" name="Line Callout 2 13"/>
          <p:cNvSpPr/>
          <p:nvPr/>
        </p:nvSpPr>
        <p:spPr>
          <a:xfrm>
            <a:off x="7543800" y="3429000"/>
            <a:ext cx="1600200" cy="1447800"/>
          </a:xfrm>
          <a:prstGeom prst="borderCallout2">
            <a:avLst>
              <a:gd name="adj1" fmla="val 49011"/>
              <a:gd name="adj2" fmla="val -880"/>
              <a:gd name="adj3" fmla="val 47967"/>
              <a:gd name="adj4" fmla="val -32816"/>
              <a:gd name="adj5" fmla="val 15731"/>
              <a:gd name="adj6" fmla="val -75239"/>
            </a:avLst>
          </a:prstGeom>
          <a:ln/>
        </p:spPr>
        <p:style>
          <a:lnRef idx="3">
            <a:schemeClr val="lt1"/>
          </a:lnRef>
          <a:fillRef idx="1">
            <a:schemeClr val="accent2"/>
          </a:fillRef>
          <a:effectRef idx="1">
            <a:schemeClr val="accent2"/>
          </a:effectRef>
          <a:fontRef idx="minor">
            <a:schemeClr val="lt1"/>
          </a:fontRef>
        </p:style>
        <p:txBody>
          <a:bodyPr anchor="ctr"/>
          <a:lstStyle/>
          <a:p>
            <a:pPr algn="ctr">
              <a:defRPr/>
            </a:pPr>
            <a:r>
              <a:rPr lang="en-NZ" b="1" dirty="0"/>
              <a:t>Resources available after allocation</a:t>
            </a:r>
          </a:p>
        </p:txBody>
      </p:sp>
      <p:sp>
        <p:nvSpPr>
          <p:cNvPr id="8" name="Rectangle 7"/>
          <p:cNvSpPr/>
          <p:nvPr/>
        </p:nvSpPr>
        <p:spPr>
          <a:xfrm>
            <a:off x="0" y="5334000"/>
            <a:ext cx="9144000" cy="144655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Font typeface="Arial" pitchFamily="34" charset="0"/>
              <a:buChar char="•"/>
              <a:defRPr/>
            </a:pPr>
            <a:r>
              <a:rPr lang="en-NZ" sz="2200" dirty="0">
                <a:latin typeface="Calibri" pitchFamily="34" charset="0"/>
                <a:cs typeface="Calibri" pitchFamily="34" charset="0"/>
              </a:rPr>
              <a:t>This figure shows the state of a system consisting of four processes and three </a:t>
            </a:r>
          </a:p>
          <a:p>
            <a:pPr>
              <a:defRPr/>
            </a:pPr>
            <a:r>
              <a:rPr lang="en-NZ" sz="2200" dirty="0">
                <a:latin typeface="Calibri" pitchFamily="34" charset="0"/>
                <a:cs typeface="Calibri" pitchFamily="34" charset="0"/>
              </a:rPr>
              <a:t>  resources. </a:t>
            </a:r>
          </a:p>
          <a:p>
            <a:pPr>
              <a:buFont typeface="Arial" pitchFamily="34" charset="0"/>
              <a:buChar char="•"/>
              <a:defRPr/>
            </a:pPr>
            <a:r>
              <a:rPr lang="en-NZ" sz="2200" dirty="0">
                <a:latin typeface="Calibri" pitchFamily="34" charset="0"/>
                <a:cs typeface="Calibri" pitchFamily="34" charset="0"/>
              </a:rPr>
              <a:t>Total amount of resources</a:t>
            </a:r>
          </a:p>
          <a:p>
            <a:pPr lvl="1">
              <a:buFont typeface="Arial" pitchFamily="34" charset="0"/>
              <a:buChar char="•"/>
              <a:defRPr/>
            </a:pPr>
            <a:r>
              <a:rPr lang="en-NZ" sz="2200" dirty="0">
                <a:latin typeface="Calibri" pitchFamily="34" charset="0"/>
                <a:cs typeface="Calibri" pitchFamily="34" charset="0"/>
              </a:rPr>
              <a:t> R1 = 9         R2 = 3          R3 = 6</a:t>
            </a:r>
          </a:p>
        </p:txBody>
      </p:sp>
      <p:pic>
        <p:nvPicPr>
          <p:cNvPr id="3074" name="Picture 2"/>
          <p:cNvPicPr>
            <a:picLocks noChangeAspect="1" noChangeArrowheads="1"/>
          </p:cNvPicPr>
          <p:nvPr/>
        </p:nvPicPr>
        <p:blipFill>
          <a:blip r:embed="rId4"/>
          <a:srcRect/>
          <a:stretch>
            <a:fillRect/>
          </a:stretch>
        </p:blipFill>
        <p:spPr bwMode="auto">
          <a:xfrm>
            <a:off x="1524000" y="4953000"/>
            <a:ext cx="3438525" cy="2571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397049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0" y="457200"/>
            <a:ext cx="7543800" cy="6324600"/>
          </a:xfrm>
        </p:spPr>
        <p:style>
          <a:lnRef idx="2">
            <a:schemeClr val="accent2"/>
          </a:lnRef>
          <a:fillRef idx="1">
            <a:schemeClr val="lt1"/>
          </a:fillRef>
          <a:effectRef idx="0">
            <a:schemeClr val="accent2"/>
          </a:effectRef>
          <a:fontRef idx="minor">
            <a:schemeClr val="dk1"/>
          </a:fontRef>
        </p:style>
        <p:txBody>
          <a:bodyPr>
            <a:noAutofit/>
          </a:bodyPr>
          <a:lstStyle/>
          <a:p>
            <a:pPr>
              <a:defRPr/>
            </a:pPr>
            <a:r>
              <a:rPr lang="en-NZ" sz="2000" dirty="0">
                <a:latin typeface="Calibri" pitchFamily="34" charset="0"/>
                <a:cs typeface="Calibri" pitchFamily="34" charset="0"/>
              </a:rPr>
              <a:t>In the current state allocations have been made to the four processes, leaving available    </a:t>
            </a:r>
            <a:r>
              <a:rPr lang="en-NZ" sz="2000" b="1" dirty="0">
                <a:latin typeface="Calibri" pitchFamily="34" charset="0"/>
                <a:cs typeface="Calibri" pitchFamily="34" charset="0"/>
              </a:rPr>
              <a:t>1 unit of R2   </a:t>
            </a:r>
            <a:r>
              <a:rPr lang="en-NZ" sz="2000" dirty="0">
                <a:latin typeface="Calibri" pitchFamily="34" charset="0"/>
                <a:cs typeface="Calibri" pitchFamily="34" charset="0"/>
              </a:rPr>
              <a:t> and </a:t>
            </a:r>
            <a:r>
              <a:rPr lang="en-NZ" sz="2000" b="1" dirty="0">
                <a:latin typeface="Calibri" pitchFamily="34" charset="0"/>
                <a:cs typeface="Calibri" pitchFamily="34" charset="0"/>
              </a:rPr>
              <a:t>      1 unit of R3</a:t>
            </a:r>
          </a:p>
          <a:p>
            <a:pPr>
              <a:defRPr/>
            </a:pPr>
            <a:r>
              <a:rPr lang="en-NZ" sz="2000" b="1" dirty="0">
                <a:latin typeface="Calibri" pitchFamily="34" charset="0"/>
                <a:cs typeface="Calibri" pitchFamily="34" charset="0"/>
              </a:rPr>
              <a:t>Is this a safe state? </a:t>
            </a:r>
          </a:p>
          <a:p>
            <a:pPr>
              <a:defRPr/>
            </a:pPr>
            <a:r>
              <a:rPr lang="en-NZ" sz="2000" dirty="0">
                <a:latin typeface="Calibri" pitchFamily="34" charset="0"/>
                <a:cs typeface="Calibri" pitchFamily="34" charset="0"/>
              </a:rPr>
              <a:t>To answer this question, we ask an intermediate question:</a:t>
            </a:r>
          </a:p>
          <a:p>
            <a:pPr lvl="1">
              <a:buFont typeface="Arial" pitchFamily="34" charset="0"/>
              <a:buChar char="•"/>
              <a:defRPr/>
            </a:pPr>
            <a:r>
              <a:rPr lang="en-NZ" sz="2000" dirty="0">
                <a:latin typeface="Calibri" pitchFamily="34" charset="0"/>
                <a:cs typeface="Calibri" pitchFamily="34" charset="0"/>
              </a:rPr>
              <a:t> Can any of the four processes be run to completion with the resources available? </a:t>
            </a:r>
          </a:p>
          <a:p>
            <a:pPr lvl="1">
              <a:buFont typeface="Arial" pitchFamily="34" charset="0"/>
              <a:buChar char="•"/>
              <a:defRPr/>
            </a:pPr>
            <a:r>
              <a:rPr lang="en-NZ" sz="2000" dirty="0">
                <a:latin typeface="Calibri" pitchFamily="34" charset="0"/>
                <a:cs typeface="Calibri" pitchFamily="34" charset="0"/>
              </a:rPr>
              <a:t> That is, can the difference between the maximum requirement and current allocation for any process be met with the available resources?</a:t>
            </a:r>
          </a:p>
          <a:p>
            <a:pPr>
              <a:buFont typeface="Wingdings" pitchFamily="2" charset="2"/>
              <a:buChar char="Ø"/>
            </a:pPr>
            <a:r>
              <a:rPr lang="en-NZ" sz="2000" b="1" dirty="0" err="1">
                <a:latin typeface="Calibri" pitchFamily="34" charset="0"/>
                <a:cs typeface="Calibri" pitchFamily="34" charset="0"/>
              </a:rPr>
              <a:t>C</a:t>
            </a:r>
            <a:r>
              <a:rPr lang="en-NZ" sz="2000" b="1" baseline="-25000" dirty="0" err="1">
                <a:latin typeface="Calibri" pitchFamily="34" charset="0"/>
                <a:cs typeface="Calibri" pitchFamily="34" charset="0"/>
              </a:rPr>
              <a:t>ij</a:t>
            </a:r>
            <a:r>
              <a:rPr lang="en-NZ" sz="2000" b="1" dirty="0">
                <a:latin typeface="Calibri" pitchFamily="34" charset="0"/>
                <a:cs typeface="Calibri" pitchFamily="34" charset="0"/>
              </a:rPr>
              <a:t> - </a:t>
            </a:r>
            <a:r>
              <a:rPr lang="en-NZ" sz="2000" b="1" dirty="0" err="1">
                <a:latin typeface="Calibri" pitchFamily="34" charset="0"/>
                <a:cs typeface="Calibri" pitchFamily="34" charset="0"/>
              </a:rPr>
              <a:t>A</a:t>
            </a:r>
            <a:r>
              <a:rPr lang="en-NZ" sz="2000" b="1" baseline="-25000" dirty="0" err="1">
                <a:latin typeface="Calibri" pitchFamily="34" charset="0"/>
                <a:cs typeface="Calibri" pitchFamily="34" charset="0"/>
              </a:rPr>
              <a:t>ij</a:t>
            </a:r>
            <a:r>
              <a:rPr lang="en-NZ" sz="2000" b="1" dirty="0">
                <a:latin typeface="Calibri" pitchFamily="34" charset="0"/>
                <a:cs typeface="Calibri" pitchFamily="34" charset="0"/>
              </a:rPr>
              <a:t> ≤ </a:t>
            </a:r>
            <a:r>
              <a:rPr lang="en-NZ" sz="2000" b="1" dirty="0" err="1">
                <a:latin typeface="Calibri" pitchFamily="34" charset="0"/>
                <a:cs typeface="Calibri" pitchFamily="34" charset="0"/>
              </a:rPr>
              <a:t>V</a:t>
            </a:r>
            <a:r>
              <a:rPr lang="en-NZ" sz="2000" b="1" baseline="-25000" dirty="0" err="1">
                <a:latin typeface="Calibri" pitchFamily="34" charset="0"/>
                <a:cs typeface="Calibri" pitchFamily="34" charset="0"/>
              </a:rPr>
              <a:t>j</a:t>
            </a:r>
            <a:r>
              <a:rPr lang="en-NZ" sz="2000" b="1" dirty="0">
                <a:latin typeface="Calibri" pitchFamily="34" charset="0"/>
                <a:cs typeface="Calibri" pitchFamily="34" charset="0"/>
              </a:rPr>
              <a:t>,</a:t>
            </a:r>
            <a:r>
              <a:rPr lang="en-NZ" sz="2000" dirty="0">
                <a:latin typeface="Calibri" pitchFamily="34" charset="0"/>
                <a:cs typeface="Calibri" pitchFamily="34" charset="0"/>
              </a:rPr>
              <a:t> </a:t>
            </a:r>
            <a:r>
              <a:rPr lang="en-NZ" sz="2000" b="1" dirty="0">
                <a:latin typeface="Calibri" pitchFamily="34" charset="0"/>
                <a:cs typeface="Calibri" pitchFamily="34" charset="0"/>
              </a:rPr>
              <a:t>for all j</a:t>
            </a:r>
          </a:p>
          <a:p>
            <a:pPr>
              <a:buFont typeface="Wingdings" pitchFamily="2" charset="2"/>
              <a:buChar char="Ø"/>
            </a:pPr>
            <a:r>
              <a:rPr lang="en-NZ" sz="2000" dirty="0">
                <a:latin typeface="Calibri" pitchFamily="34" charset="0"/>
                <a:cs typeface="Calibri" pitchFamily="34" charset="0"/>
              </a:rPr>
              <a:t>This is not possible for P1, </a:t>
            </a:r>
          </a:p>
          <a:p>
            <a:pPr lvl="1">
              <a:buFont typeface="Arial" pitchFamily="34" charset="0"/>
              <a:buChar char="•"/>
            </a:pPr>
            <a:r>
              <a:rPr lang="en-NZ" sz="2000" dirty="0">
                <a:latin typeface="Calibri" pitchFamily="34" charset="0"/>
                <a:cs typeface="Calibri" pitchFamily="34" charset="0"/>
              </a:rPr>
              <a:t>which has only 1 unit of R1 and requires 2 more units of R1, 2 units of R2, and 2 units of R3. </a:t>
            </a:r>
          </a:p>
          <a:p>
            <a:pPr>
              <a:buFont typeface="Wingdings" pitchFamily="2" charset="2"/>
              <a:buChar char="Ø"/>
            </a:pPr>
            <a:r>
              <a:rPr lang="en-NZ" sz="2000" dirty="0">
                <a:latin typeface="Calibri" pitchFamily="34" charset="0"/>
                <a:cs typeface="Calibri" pitchFamily="34" charset="0"/>
              </a:rPr>
              <a:t>If we assign one unit of R3 to process P2, </a:t>
            </a:r>
          </a:p>
          <a:p>
            <a:pPr lvl="1">
              <a:buFont typeface="Arial" pitchFamily="34" charset="0"/>
              <a:buChar char="•"/>
            </a:pPr>
            <a:r>
              <a:rPr lang="en-NZ" sz="2000" dirty="0">
                <a:latin typeface="Calibri" pitchFamily="34" charset="0"/>
                <a:cs typeface="Calibri" pitchFamily="34" charset="0"/>
              </a:rPr>
              <a:t>Then P2 has its maximum required resources allocated and can run to completion and return resources to ‘available’ pool.</a:t>
            </a:r>
          </a:p>
          <a:p>
            <a:r>
              <a:rPr lang="en-US" sz="2000" dirty="0">
                <a:latin typeface="Calibri" pitchFamily="34" charset="0"/>
              </a:rPr>
              <a:t>The resulting state is shown in Figure 6.7b.</a:t>
            </a:r>
            <a:endParaRPr lang="en-NZ" sz="2000" dirty="0">
              <a:latin typeface="Calibri" pitchFamily="34" charset="0"/>
              <a:cs typeface="Calibri" pitchFamily="34" charset="0"/>
            </a:endParaRPr>
          </a:p>
          <a:p>
            <a:endParaRPr lang="en-GB" sz="2000" dirty="0">
              <a:latin typeface="Calibri" pitchFamily="34" charset="0"/>
              <a:cs typeface="Calibri" pitchFamily="34" charset="0"/>
            </a:endParaRPr>
          </a:p>
        </p:txBody>
      </p:sp>
      <p:sp>
        <p:nvSpPr>
          <p:cNvPr id="5" name="Title 1"/>
          <p:cNvSpPr txBox="1">
            <a:spLocks/>
          </p:cNvSpPr>
          <p:nvPr/>
        </p:nvSpPr>
        <p:spPr>
          <a:xfrm>
            <a:off x="381000" y="0"/>
            <a:ext cx="8077200" cy="381000"/>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NZ" sz="2600" b="1" i="0" u="none" strike="noStrike" kern="1200" cap="none" spc="0" normalizeH="0" baseline="0" noProof="0">
                <a:ln>
                  <a:noFill/>
                </a:ln>
                <a:solidFill>
                  <a:schemeClr val="bg1"/>
                </a:solidFill>
                <a:effectLst>
                  <a:outerShdw blurRad="31750" dist="25400" dir="5400000" algn="tl" rotWithShape="0">
                    <a:srgbClr val="000000">
                      <a:alpha val="25000"/>
                    </a:srgbClr>
                  </a:outerShdw>
                </a:effectLst>
                <a:uLnTx/>
                <a:uFillTx/>
                <a:latin typeface="Calibri" pitchFamily="34" charset="0"/>
                <a:ea typeface="+mn-ea"/>
                <a:cs typeface="Calibri" pitchFamily="34" charset="0"/>
              </a:rPr>
              <a:t>Determination of Safe State</a:t>
            </a:r>
            <a:endParaRPr kumimoji="0" lang="en-NZ" sz="26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n-ea"/>
              <a:cs typeface="Calibri" pitchFamily="34" charset="0"/>
            </a:endParaRPr>
          </a:p>
        </p:txBody>
      </p:sp>
    </p:spTree>
    <p:extLst>
      <p:ext uri="{BB962C8B-B14F-4D97-AF65-F5344CB8AC3E}">
        <p14:creationId xmlns:p14="http://schemas.microsoft.com/office/powerpoint/2010/main" val="4030397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457200" y="0"/>
            <a:ext cx="8229600" cy="457200"/>
          </a:xfrm>
        </p:spPr>
        <p:style>
          <a:lnRef idx="3">
            <a:schemeClr val="lt1"/>
          </a:lnRef>
          <a:fillRef idx="1">
            <a:schemeClr val="accent2"/>
          </a:fillRef>
          <a:effectRef idx="1">
            <a:schemeClr val="accent2"/>
          </a:effectRef>
          <a:fontRef idx="minor">
            <a:schemeClr val="lt1"/>
          </a:fontRef>
        </p:style>
        <p:txBody>
          <a:bodyPr>
            <a:normAutofit fontScale="90000"/>
          </a:bodyPr>
          <a:lstStyle/>
          <a:p>
            <a:pPr marL="342900" indent="-342900" algn="ctr">
              <a:spcBef>
                <a:spcPct val="20000"/>
              </a:spcBef>
            </a:pPr>
            <a:r>
              <a:rPr lang="en-NZ" sz="2600" b="1" dirty="0">
                <a:solidFill>
                  <a:schemeClr val="bg1"/>
                </a:solidFill>
                <a:effectLst>
                  <a:outerShdw blurRad="38100" dist="38100" dir="2700000" algn="tl">
                    <a:srgbClr val="000000">
                      <a:alpha val="43137"/>
                    </a:srgbClr>
                  </a:outerShdw>
                </a:effectLst>
                <a:latin typeface="Calibri" pitchFamily="34" charset="0"/>
                <a:cs typeface="Calibri" pitchFamily="34" charset="0"/>
              </a:rPr>
              <a:t>After P2 runs to completion</a:t>
            </a:r>
          </a:p>
        </p:txBody>
      </p:sp>
      <p:pic>
        <p:nvPicPr>
          <p:cNvPr id="37891" name="Content Placeholder 5" descr="Fig06_07b.gif"/>
          <p:cNvPicPr>
            <a:picLocks noGrp="1" noChangeAspect="1"/>
          </p:cNvPicPr>
          <p:nvPr>
            <p:ph idx="1"/>
          </p:nvPr>
        </p:nvPicPr>
        <p:blipFill>
          <a:blip r:embed="rId3"/>
          <a:srcRect/>
          <a:stretch>
            <a:fillRect/>
          </a:stretch>
        </p:blipFill>
        <p:spPr>
          <a:xfrm>
            <a:off x="211137" y="3219450"/>
            <a:ext cx="8704263" cy="30289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Content Placeholder 2"/>
          <p:cNvSpPr txBox="1">
            <a:spLocks/>
          </p:cNvSpPr>
          <p:nvPr/>
        </p:nvSpPr>
        <p:spPr bwMode="auto">
          <a:xfrm>
            <a:off x="76200" y="533400"/>
            <a:ext cx="5638800" cy="167640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lstStyle/>
          <a:p>
            <a:pPr marL="342900" indent="-342900" eaLnBrk="0" hangingPunct="0">
              <a:spcBef>
                <a:spcPct val="20000"/>
              </a:spcBef>
              <a:buFont typeface="Arial" charset="0"/>
              <a:buChar char="•"/>
              <a:defRPr/>
            </a:pPr>
            <a:r>
              <a:rPr lang="en-NZ" sz="2000" dirty="0">
                <a:latin typeface="Calibri" pitchFamily="34" charset="0"/>
                <a:cs typeface="Calibri" pitchFamily="34" charset="0"/>
              </a:rPr>
              <a:t>Can any of the remaining processes can be completed?</a:t>
            </a:r>
          </a:p>
          <a:p>
            <a:pPr marL="342900" indent="-342900" eaLnBrk="0" hangingPunct="0">
              <a:spcBef>
                <a:spcPct val="20000"/>
              </a:spcBef>
              <a:buFont typeface="Arial" charset="0"/>
              <a:buChar char="•"/>
              <a:defRPr/>
            </a:pPr>
            <a:r>
              <a:rPr lang="en-NZ" sz="2000" dirty="0">
                <a:latin typeface="Calibri" pitchFamily="34" charset="0"/>
              </a:rPr>
              <a:t>In this case, each of the remaining processes could be completed as shown on the next slides.</a:t>
            </a:r>
          </a:p>
          <a:p>
            <a:pPr marL="342900" indent="-342900" eaLnBrk="0" hangingPunct="0">
              <a:spcBef>
                <a:spcPct val="20000"/>
              </a:spcBef>
              <a:buFont typeface="Arial" charset="0"/>
              <a:buChar char="•"/>
              <a:defRPr/>
            </a:pPr>
            <a:endParaRPr lang="en-NZ" sz="2000" dirty="0">
              <a:latin typeface="Calibri" pitchFamily="34" charset="0"/>
              <a:cs typeface="Calibri" pitchFamily="34" charset="0"/>
            </a:endParaRPr>
          </a:p>
        </p:txBody>
      </p:sp>
      <p:sp>
        <p:nvSpPr>
          <p:cNvPr id="5" name="Line Callout 2 4"/>
          <p:cNvSpPr/>
          <p:nvPr/>
        </p:nvSpPr>
        <p:spPr>
          <a:xfrm>
            <a:off x="287337" y="2362200"/>
            <a:ext cx="1905000" cy="609600"/>
          </a:xfrm>
          <a:prstGeom prst="borderCallout2">
            <a:avLst>
              <a:gd name="adj1" fmla="val 106250"/>
              <a:gd name="adj2" fmla="val 1667"/>
              <a:gd name="adj3" fmla="val 131250"/>
              <a:gd name="adj4" fmla="val 10333"/>
              <a:gd name="adj5" fmla="val 265625"/>
              <a:gd name="adj6" fmla="val 2033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NZ" dirty="0"/>
              <a:t>Note P2 is completed</a:t>
            </a:r>
          </a:p>
        </p:txBody>
      </p:sp>
      <p:pic>
        <p:nvPicPr>
          <p:cNvPr id="6" name="Picture 2"/>
          <p:cNvPicPr>
            <a:picLocks noChangeAspect="1" noChangeArrowheads="1"/>
          </p:cNvPicPr>
          <p:nvPr/>
        </p:nvPicPr>
        <p:blipFill>
          <a:blip r:embed="rId4"/>
          <a:srcRect/>
          <a:stretch>
            <a:fillRect/>
          </a:stretch>
        </p:blipFill>
        <p:spPr bwMode="auto">
          <a:xfrm>
            <a:off x="2286000" y="6324600"/>
            <a:ext cx="3438525" cy="457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607247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457200" y="46038"/>
            <a:ext cx="8229600" cy="487362"/>
          </a:xfrm>
        </p:spPr>
        <p:style>
          <a:lnRef idx="3">
            <a:schemeClr val="lt1"/>
          </a:lnRef>
          <a:fillRef idx="1">
            <a:schemeClr val="accent2"/>
          </a:fillRef>
          <a:effectRef idx="1">
            <a:schemeClr val="accent2"/>
          </a:effectRef>
          <a:fontRef idx="minor">
            <a:schemeClr val="lt1"/>
          </a:fontRef>
        </p:style>
        <p:txBody>
          <a:bodyPr>
            <a:normAutofit fontScale="90000"/>
          </a:bodyPr>
          <a:lstStyle/>
          <a:p>
            <a:pPr algn="ctr"/>
            <a:r>
              <a:rPr lang="en-US" sz="2600" b="1" dirty="0">
                <a:solidFill>
                  <a:schemeClr val="bg1"/>
                </a:solidFill>
                <a:effectLst>
                  <a:outerShdw blurRad="38100" dist="38100" dir="2700000" algn="tl">
                    <a:srgbClr val="000000">
                      <a:alpha val="43137"/>
                    </a:srgbClr>
                  </a:outerShdw>
                </a:effectLst>
                <a:latin typeface="Calibri" pitchFamily="34" charset="0"/>
                <a:cs typeface="Calibri" pitchFamily="34" charset="0"/>
              </a:rPr>
              <a:t>After P1 completes</a:t>
            </a:r>
          </a:p>
        </p:txBody>
      </p:sp>
      <p:pic>
        <p:nvPicPr>
          <p:cNvPr id="38915" name="Content Placeholder 5" descr="Fig06_07c.gif"/>
          <p:cNvPicPr>
            <a:picLocks noGrp="1" noChangeAspect="1"/>
          </p:cNvPicPr>
          <p:nvPr>
            <p:ph idx="1"/>
          </p:nvPr>
        </p:nvPicPr>
        <p:blipFill>
          <a:blip r:embed="rId3"/>
          <a:stretch>
            <a:fillRect/>
          </a:stretch>
        </p:blipFill>
        <p:spPr>
          <a:xfrm>
            <a:off x="1981200" y="3276600"/>
            <a:ext cx="6972300" cy="22193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Rectangle 3"/>
          <p:cNvSpPr/>
          <p:nvPr/>
        </p:nvSpPr>
        <p:spPr>
          <a:xfrm>
            <a:off x="76200" y="685800"/>
            <a:ext cx="8915400" cy="212365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NZ" sz="2200" dirty="0">
                <a:latin typeface="Calibri" pitchFamily="34" charset="0"/>
                <a:cs typeface="Calibri" pitchFamily="34" charset="0"/>
              </a:rPr>
              <a:t>Suppose we choose P1, </a:t>
            </a:r>
          </a:p>
          <a:p>
            <a:pPr lvl="1">
              <a:buFontTx/>
              <a:buChar char="•"/>
            </a:pPr>
            <a:r>
              <a:rPr lang="en-NZ" sz="2200" dirty="0">
                <a:latin typeface="Calibri" pitchFamily="34" charset="0"/>
                <a:cs typeface="Calibri" pitchFamily="34" charset="0"/>
              </a:rPr>
              <a:t> allocate the required resources, </a:t>
            </a:r>
          </a:p>
          <a:p>
            <a:pPr lvl="1">
              <a:buFontTx/>
              <a:buChar char="•"/>
            </a:pPr>
            <a:r>
              <a:rPr lang="en-NZ" sz="2200" dirty="0">
                <a:latin typeface="Calibri" pitchFamily="34" charset="0"/>
                <a:cs typeface="Calibri" pitchFamily="34" charset="0"/>
              </a:rPr>
              <a:t> complete P1, </a:t>
            </a:r>
          </a:p>
          <a:p>
            <a:pPr lvl="1">
              <a:buFontTx/>
              <a:buChar char="•"/>
            </a:pPr>
            <a:r>
              <a:rPr lang="en-NZ" sz="2200" dirty="0">
                <a:latin typeface="Calibri" pitchFamily="34" charset="0"/>
                <a:cs typeface="Calibri" pitchFamily="34" charset="0"/>
              </a:rPr>
              <a:t> and return all of P1’s resources to the available pool.</a:t>
            </a:r>
          </a:p>
          <a:p>
            <a:pPr lvl="1">
              <a:buFontTx/>
              <a:buChar char="•"/>
            </a:pPr>
            <a:endParaRPr lang="en-NZ" sz="2200" dirty="0">
              <a:latin typeface="Calibri" pitchFamily="34" charset="0"/>
              <a:cs typeface="Calibri" pitchFamily="34" charset="0"/>
            </a:endParaRPr>
          </a:p>
          <a:p>
            <a:r>
              <a:rPr lang="en-NZ" sz="2200" dirty="0">
                <a:latin typeface="Calibri" pitchFamily="34" charset="0"/>
                <a:cs typeface="Calibri" pitchFamily="34" charset="0"/>
              </a:rPr>
              <a:t>We are left in the state shown in Figure 6.7c on this slide</a:t>
            </a:r>
            <a:endParaRPr lang="en-US" sz="2200" dirty="0">
              <a:latin typeface="Calibri" pitchFamily="34" charset="0"/>
              <a:cs typeface="Calibri" pitchFamily="34" charset="0"/>
            </a:endParaRPr>
          </a:p>
        </p:txBody>
      </p:sp>
      <p:pic>
        <p:nvPicPr>
          <p:cNvPr id="6" name="Picture 2"/>
          <p:cNvPicPr>
            <a:picLocks noChangeAspect="1" noChangeArrowheads="1"/>
          </p:cNvPicPr>
          <p:nvPr/>
        </p:nvPicPr>
        <p:blipFill>
          <a:blip r:embed="rId4"/>
          <a:srcRect/>
          <a:stretch>
            <a:fillRect/>
          </a:stretch>
        </p:blipFill>
        <p:spPr bwMode="auto">
          <a:xfrm>
            <a:off x="2352675" y="6172200"/>
            <a:ext cx="3438525" cy="457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266287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304800" y="0"/>
            <a:ext cx="7924800" cy="381000"/>
          </a:xfrm>
        </p:spPr>
        <p:style>
          <a:lnRef idx="3">
            <a:schemeClr val="lt1"/>
          </a:lnRef>
          <a:fillRef idx="1">
            <a:schemeClr val="accent2"/>
          </a:fillRef>
          <a:effectRef idx="1">
            <a:schemeClr val="accent2"/>
          </a:effectRef>
          <a:fontRef idx="minor">
            <a:schemeClr val="lt1"/>
          </a:fontRef>
        </p:style>
        <p:txBody>
          <a:bodyPr>
            <a:normAutofit fontScale="90000"/>
          </a:bodyPr>
          <a:lstStyle/>
          <a:p>
            <a:pPr algn="ctr"/>
            <a:r>
              <a:rPr lang="en-US" sz="2800" b="1" dirty="0">
                <a:solidFill>
                  <a:schemeClr val="bg1"/>
                </a:solidFill>
                <a:effectLst>
                  <a:outerShdw blurRad="38100" dist="38100" dir="2700000" algn="tl">
                    <a:srgbClr val="000000">
                      <a:alpha val="43137"/>
                    </a:srgbClr>
                  </a:outerShdw>
                </a:effectLst>
                <a:latin typeface="Calibri" pitchFamily="34" charset="0"/>
                <a:cs typeface="Calibri" pitchFamily="34" charset="0"/>
              </a:rPr>
              <a:t>P3 Completes</a:t>
            </a:r>
          </a:p>
        </p:txBody>
      </p:sp>
      <p:pic>
        <p:nvPicPr>
          <p:cNvPr id="39939" name="Content Placeholder 5" descr="Fig06_07d.gif"/>
          <p:cNvPicPr>
            <a:picLocks noGrp="1" noChangeAspect="1"/>
          </p:cNvPicPr>
          <p:nvPr>
            <p:ph idx="1"/>
          </p:nvPr>
        </p:nvPicPr>
        <p:blipFill>
          <a:blip r:embed="rId3"/>
          <a:srcRect/>
          <a:stretch>
            <a:fillRect/>
          </a:stretch>
        </p:blipFill>
        <p:spPr>
          <a:xfrm>
            <a:off x="0" y="457200"/>
            <a:ext cx="9144000" cy="2895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Vertical Scroll 3"/>
          <p:cNvSpPr/>
          <p:nvPr/>
        </p:nvSpPr>
        <p:spPr>
          <a:xfrm>
            <a:off x="2209800" y="5181600"/>
            <a:ext cx="6019800" cy="1676400"/>
          </a:xfrm>
          <a:prstGeom prst="verticalScroll">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NZ" sz="3800" b="1" dirty="0">
                <a:latin typeface="Calibri" pitchFamily="34" charset="0"/>
              </a:rPr>
              <a:t>Thus, the state defined originally  is a safe state.</a:t>
            </a:r>
          </a:p>
        </p:txBody>
      </p:sp>
      <p:sp>
        <p:nvSpPr>
          <p:cNvPr id="5" name="Content Placeholder 1"/>
          <p:cNvSpPr txBox="1">
            <a:spLocks/>
          </p:cNvSpPr>
          <p:nvPr/>
        </p:nvSpPr>
        <p:spPr>
          <a:xfrm>
            <a:off x="0" y="3733800"/>
            <a:ext cx="9144000" cy="1447800"/>
          </a:xfrm>
          <a:prstGeom prst="rect">
            <a:avLst/>
          </a:prstGeom>
        </p:spPr>
        <p:style>
          <a:lnRef idx="2">
            <a:schemeClr val="accent2"/>
          </a:lnRef>
          <a:fillRef idx="1">
            <a:schemeClr val="lt1"/>
          </a:fillRef>
          <a:effectRef idx="0">
            <a:schemeClr val="accent2"/>
          </a:effectRef>
          <a:fontRef idx="minor">
            <a:schemeClr val="dk1"/>
          </a:fontRef>
        </p:style>
        <p:txBody>
          <a:bodyPr vert="horz">
            <a:normAutofit/>
          </a:bodyPr>
          <a:lstStyle/>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Calibri" pitchFamily="34" charset="0"/>
              </a:rPr>
              <a:t>P3 completes, resulting in the state of Figure 6.7d shown on this slide</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Calibri" pitchFamily="34" charset="0"/>
              </a:rPr>
              <a:t>Finally, we can complete P4. At this point, all of the processes have been run to completion. </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Char char=""/>
              <a:tabLst/>
              <a:defRPr/>
            </a:pPr>
            <a:r>
              <a:rPr kumimoji="0" lang="en-NZ" sz="2000" b="0" i="0" u="none" strike="noStrike" kern="1200" cap="none" spc="0" normalizeH="0" baseline="0" noProof="0" dirty="0">
                <a:ln>
                  <a:noFill/>
                </a:ln>
                <a:solidFill>
                  <a:schemeClr val="dk1"/>
                </a:solidFill>
                <a:effectLst/>
                <a:uLnTx/>
                <a:uFillTx/>
                <a:latin typeface="Calibri" pitchFamily="34" charset="0"/>
                <a:ea typeface="+mn-ea"/>
                <a:cs typeface="Calibri" pitchFamily="34" charset="0"/>
              </a:rPr>
              <a:t>Thus, the state defined by Figure 6.7a is a safe state.</a:t>
            </a:r>
            <a:endParaRPr kumimoji="0" lang="en-GB" sz="2000" b="0" i="0" u="none" strike="noStrike" kern="1200" cap="none" spc="0" normalizeH="0" baseline="0" noProof="0" dirty="0">
              <a:ln>
                <a:noFill/>
              </a:ln>
              <a:solidFill>
                <a:schemeClr val="dk1"/>
              </a:solidFill>
              <a:effectLst/>
              <a:uLnTx/>
              <a:uFillTx/>
              <a:latin typeface="Calibri" pitchFamily="34" charset="0"/>
              <a:ea typeface="+mn-ea"/>
              <a:cs typeface="Calibri" pitchFamily="34" charset="0"/>
            </a:endParaRPr>
          </a:p>
        </p:txBody>
      </p:sp>
      <p:pic>
        <p:nvPicPr>
          <p:cNvPr id="6" name="Picture 2"/>
          <p:cNvPicPr>
            <a:picLocks noChangeAspect="1" noChangeArrowheads="1"/>
          </p:cNvPicPr>
          <p:nvPr/>
        </p:nvPicPr>
        <p:blipFill>
          <a:blip r:embed="rId4"/>
          <a:srcRect/>
          <a:stretch>
            <a:fillRect/>
          </a:stretch>
        </p:blipFill>
        <p:spPr bwMode="auto">
          <a:xfrm>
            <a:off x="2362200" y="3400425"/>
            <a:ext cx="3438525" cy="2571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36327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81000" y="0"/>
            <a:ext cx="8229600" cy="411162"/>
          </a:xfrm>
        </p:spPr>
        <p:style>
          <a:lnRef idx="3">
            <a:schemeClr val="lt1"/>
          </a:lnRef>
          <a:fillRef idx="1">
            <a:schemeClr val="accent2"/>
          </a:fillRef>
          <a:effectRef idx="1">
            <a:schemeClr val="accent2"/>
          </a:effectRef>
          <a:fontRef idx="minor">
            <a:schemeClr val="lt1"/>
          </a:fontRef>
        </p:style>
        <p:txBody>
          <a:bodyPr>
            <a:normAutofit fontScale="90000"/>
          </a:bodyPr>
          <a:lstStyle/>
          <a:p>
            <a:pPr algn="ctr"/>
            <a:r>
              <a:rPr lang="en-NZ" sz="2800" b="1" dirty="0">
                <a:solidFill>
                  <a:schemeClr val="bg1"/>
                </a:solidFill>
                <a:effectLst>
                  <a:outerShdw blurRad="38100" dist="38100" dir="2700000" algn="tl">
                    <a:srgbClr val="000000">
                      <a:alpha val="43137"/>
                    </a:srgbClr>
                  </a:outerShdw>
                </a:effectLst>
                <a:latin typeface="Calibri" pitchFamily="34" charset="0"/>
              </a:rPr>
              <a:t>Determination of an Unsafe State</a:t>
            </a:r>
            <a:endParaRPr lang="en-US" sz="2800" b="1" dirty="0">
              <a:solidFill>
                <a:schemeClr val="bg1"/>
              </a:solidFill>
              <a:effectLst>
                <a:outerShdw blurRad="38100" dist="38100" dir="2700000" algn="tl">
                  <a:srgbClr val="000000">
                    <a:alpha val="43137"/>
                  </a:srgbClr>
                </a:outerShdw>
              </a:effectLst>
              <a:latin typeface="Calibri" pitchFamily="34" charset="0"/>
            </a:endParaRPr>
          </a:p>
        </p:txBody>
      </p:sp>
      <p:pic>
        <p:nvPicPr>
          <p:cNvPr id="5122" name="Picture 2"/>
          <p:cNvPicPr>
            <a:picLocks noChangeAspect="1" noChangeArrowheads="1"/>
          </p:cNvPicPr>
          <p:nvPr/>
        </p:nvPicPr>
        <p:blipFill>
          <a:blip r:embed="rId2"/>
          <a:srcRect/>
          <a:stretch>
            <a:fillRect/>
          </a:stretch>
        </p:blipFill>
        <p:spPr bwMode="auto">
          <a:xfrm>
            <a:off x="0" y="3124200"/>
            <a:ext cx="8915400" cy="3657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Line Callout 2 5"/>
          <p:cNvSpPr/>
          <p:nvPr/>
        </p:nvSpPr>
        <p:spPr>
          <a:xfrm>
            <a:off x="6781800" y="685800"/>
            <a:ext cx="2209800" cy="2133600"/>
          </a:xfrm>
          <a:prstGeom prst="borderCallout2">
            <a:avLst>
              <a:gd name="adj1" fmla="val 47782"/>
              <a:gd name="adj2" fmla="val -3125"/>
              <a:gd name="adj3" fmla="val 75732"/>
              <a:gd name="adj4" fmla="val -9657"/>
              <a:gd name="adj5" fmla="val 136947"/>
              <a:gd name="adj6" fmla="val -4823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defRPr/>
            </a:pPr>
            <a:r>
              <a:rPr lang="en-NZ" dirty="0"/>
              <a:t>This time Suppose that P1 makes the request for one additional unit each of R1 and R3.</a:t>
            </a:r>
          </a:p>
          <a:p>
            <a:pPr>
              <a:defRPr/>
            </a:pPr>
            <a:r>
              <a:rPr lang="en-NZ" b="1" i="1" dirty="0"/>
              <a:t>Is this safe?</a:t>
            </a:r>
          </a:p>
        </p:txBody>
      </p:sp>
      <p:sp>
        <p:nvSpPr>
          <p:cNvPr id="7" name="Rectangle 6"/>
          <p:cNvSpPr/>
          <p:nvPr/>
        </p:nvSpPr>
        <p:spPr>
          <a:xfrm>
            <a:off x="0" y="457200"/>
            <a:ext cx="6705600" cy="258532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Font typeface="Arial" pitchFamily="34" charset="0"/>
              <a:buChar char="•"/>
            </a:pPr>
            <a:r>
              <a:rPr lang="en-NZ" dirty="0">
                <a:latin typeface="Calibri" pitchFamily="34" charset="0"/>
              </a:rPr>
              <a:t>This is </a:t>
            </a:r>
            <a:r>
              <a:rPr lang="en-NZ" b="1" i="1" dirty="0">
                <a:latin typeface="Calibri" pitchFamily="34" charset="0"/>
              </a:rPr>
              <a:t>not </a:t>
            </a:r>
            <a:r>
              <a:rPr lang="en-NZ" dirty="0">
                <a:latin typeface="Calibri" pitchFamily="34" charset="0"/>
              </a:rPr>
              <a:t>a deadlocked state. It merely has the potential for deadlock. </a:t>
            </a:r>
          </a:p>
          <a:p>
            <a:pPr>
              <a:buFont typeface="Arial" pitchFamily="34" charset="0"/>
              <a:buChar char="•"/>
            </a:pPr>
            <a:r>
              <a:rPr lang="en-NZ" dirty="0">
                <a:latin typeface="Calibri" pitchFamily="34" charset="0"/>
              </a:rPr>
              <a:t>It is possible, for example, that if P1 were run from this state it would </a:t>
            </a:r>
          </a:p>
          <a:p>
            <a:r>
              <a:rPr lang="en-NZ" dirty="0">
                <a:latin typeface="Calibri" pitchFamily="34" charset="0"/>
              </a:rPr>
              <a:t>  subsequently release one unit of R1 and one unit of R3 prior to </a:t>
            </a:r>
          </a:p>
          <a:p>
            <a:r>
              <a:rPr lang="en-NZ" dirty="0">
                <a:latin typeface="Calibri" pitchFamily="34" charset="0"/>
              </a:rPr>
              <a:t>  needing these resources again. </a:t>
            </a:r>
          </a:p>
          <a:p>
            <a:pPr>
              <a:buFontTx/>
              <a:buChar char="•"/>
            </a:pPr>
            <a:r>
              <a:rPr lang="en-NZ" dirty="0">
                <a:latin typeface="Calibri" pitchFamily="34" charset="0"/>
              </a:rPr>
              <a:t>If that happened, the system would return to a safe state. </a:t>
            </a:r>
          </a:p>
          <a:p>
            <a:pPr>
              <a:buFontTx/>
              <a:buChar char="•"/>
            </a:pPr>
            <a:r>
              <a:rPr lang="en-NZ" dirty="0">
                <a:latin typeface="Calibri" pitchFamily="34" charset="0"/>
              </a:rPr>
              <a:t>Thus, the deadlock avoidance strategy does not predict deadlock </a:t>
            </a:r>
          </a:p>
          <a:p>
            <a:r>
              <a:rPr lang="en-NZ" dirty="0">
                <a:latin typeface="Calibri" pitchFamily="34" charset="0"/>
              </a:rPr>
              <a:t>   with certainty; it merely anticipates the possibility of deadlock and </a:t>
            </a:r>
          </a:p>
          <a:p>
            <a:r>
              <a:rPr lang="en-NZ" dirty="0">
                <a:latin typeface="Calibri" pitchFamily="34" charset="0"/>
              </a:rPr>
              <a:t>   assures that there is never such a possibility.</a:t>
            </a:r>
            <a:endParaRPr lang="en-US" dirty="0">
              <a:latin typeface="Calibri" pitchFamily="34" charset="0"/>
            </a:endParaRPr>
          </a:p>
        </p:txBody>
      </p:sp>
    </p:spTree>
    <p:extLst>
      <p:ext uri="{BB962C8B-B14F-4D97-AF65-F5344CB8AC3E}">
        <p14:creationId xmlns:p14="http://schemas.microsoft.com/office/powerpoint/2010/main" val="35805845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457200" y="0"/>
            <a:ext cx="8229600" cy="411162"/>
          </a:xfrm>
        </p:spPr>
        <p:style>
          <a:lnRef idx="3">
            <a:schemeClr val="lt1"/>
          </a:lnRef>
          <a:fillRef idx="1">
            <a:schemeClr val="accent2"/>
          </a:fillRef>
          <a:effectRef idx="1">
            <a:schemeClr val="accent2"/>
          </a:effectRef>
          <a:fontRef idx="minor">
            <a:schemeClr val="lt1"/>
          </a:fontRef>
        </p:style>
        <p:txBody>
          <a:bodyPr>
            <a:normAutofit fontScale="90000"/>
          </a:bodyPr>
          <a:lstStyle/>
          <a:p>
            <a:pPr algn="ctr"/>
            <a:r>
              <a:rPr lang="en-US" sz="2800" b="1" dirty="0">
                <a:solidFill>
                  <a:schemeClr val="bg1"/>
                </a:solidFill>
                <a:effectLst>
                  <a:outerShdw blurRad="38100" dist="38100" dir="2700000" algn="tl">
                    <a:srgbClr val="000000">
                      <a:alpha val="43137"/>
                    </a:srgbClr>
                  </a:outerShdw>
                </a:effectLst>
                <a:latin typeface="Calibri" pitchFamily="34" charset="0"/>
              </a:rPr>
              <a:t>Deadlock Avoidance Logic</a:t>
            </a:r>
          </a:p>
        </p:txBody>
      </p:sp>
      <p:pic>
        <p:nvPicPr>
          <p:cNvPr id="43011" name="Content Placeholder 3" descr="Fig06_09a.gif"/>
          <p:cNvPicPr>
            <a:picLocks noGrp="1" noChangeAspect="1"/>
          </p:cNvPicPr>
          <p:nvPr>
            <p:ph idx="1"/>
          </p:nvPr>
        </p:nvPicPr>
        <p:blipFill>
          <a:blip r:embed="rId3"/>
          <a:srcRect/>
          <a:stretch>
            <a:fillRect/>
          </a:stretch>
        </p:blipFill>
        <p:spPr>
          <a:xfrm>
            <a:off x="0" y="533400"/>
            <a:ext cx="9144000" cy="5867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146" name="Picture 2"/>
          <p:cNvPicPr>
            <a:picLocks noChangeAspect="1" noChangeArrowheads="1"/>
          </p:cNvPicPr>
          <p:nvPr/>
        </p:nvPicPr>
        <p:blipFill>
          <a:blip r:embed="rId4"/>
          <a:srcRect/>
          <a:stretch>
            <a:fillRect/>
          </a:stretch>
        </p:blipFill>
        <p:spPr bwMode="auto">
          <a:xfrm>
            <a:off x="2286000" y="6543675"/>
            <a:ext cx="3314700" cy="314325"/>
          </a:xfrm>
          <a:prstGeom prst="rect">
            <a:avLst/>
          </a:prstGeom>
          <a:noFill/>
          <a:ln w="9525">
            <a:noFill/>
            <a:miter lim="800000"/>
            <a:headEnd/>
            <a:tailEnd/>
          </a:ln>
          <a:effectLst/>
        </p:spPr>
      </p:pic>
    </p:spTree>
    <p:extLst>
      <p:ext uri="{BB962C8B-B14F-4D97-AF65-F5344CB8AC3E}">
        <p14:creationId xmlns:p14="http://schemas.microsoft.com/office/powerpoint/2010/main" val="3621351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5" name="Content Placeholder 3" descr="Fig06_09b.gif"/>
          <p:cNvPicPr>
            <a:picLocks noGrp="1" noChangeAspect="1"/>
          </p:cNvPicPr>
          <p:nvPr>
            <p:ph idx="1"/>
          </p:nvPr>
        </p:nvPicPr>
        <p:blipFill>
          <a:blip r:embed="rId3"/>
          <a:srcRect/>
          <a:stretch>
            <a:fillRect/>
          </a:stretch>
        </p:blipFill>
        <p:spPr>
          <a:xfrm>
            <a:off x="0" y="609600"/>
            <a:ext cx="9144000" cy="5943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itle 1"/>
          <p:cNvSpPr txBox="1">
            <a:spLocks/>
          </p:cNvSpPr>
          <p:nvPr/>
        </p:nvSpPr>
        <p:spPr>
          <a:xfrm>
            <a:off x="457200" y="0"/>
            <a:ext cx="8229600" cy="411162"/>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rmAutofit fontScale="90000" lnSpcReduction="20000"/>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j-ea"/>
                <a:cs typeface="+mj-cs"/>
              </a:rPr>
              <a:t>Deadlock Avoidance Logic</a:t>
            </a:r>
          </a:p>
        </p:txBody>
      </p:sp>
    </p:spTree>
    <p:extLst>
      <p:ext uri="{BB962C8B-B14F-4D97-AF65-F5344CB8AC3E}">
        <p14:creationId xmlns:p14="http://schemas.microsoft.com/office/powerpoint/2010/main" val="14682328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457200" y="76200"/>
            <a:ext cx="8229600" cy="411162"/>
          </a:xfrm>
        </p:spPr>
        <p:style>
          <a:lnRef idx="3">
            <a:schemeClr val="lt1"/>
          </a:lnRef>
          <a:fillRef idx="1">
            <a:schemeClr val="accent2"/>
          </a:fillRef>
          <a:effectRef idx="1">
            <a:schemeClr val="accent2"/>
          </a:effectRef>
          <a:fontRef idx="minor">
            <a:schemeClr val="lt1"/>
          </a:fontRef>
        </p:style>
        <p:txBody>
          <a:bodyPr>
            <a:noAutofit/>
          </a:bodyPr>
          <a:lstStyle/>
          <a:p>
            <a:pPr algn="ctr"/>
            <a:r>
              <a:rPr lang="en-NZ" sz="2800" b="1" dirty="0">
                <a:solidFill>
                  <a:schemeClr val="bg1"/>
                </a:solidFill>
                <a:effectLst>
                  <a:outerShdw blurRad="38100" dist="38100" dir="2700000" algn="tl">
                    <a:srgbClr val="000000">
                      <a:alpha val="43137"/>
                    </a:srgbClr>
                  </a:outerShdw>
                </a:effectLst>
                <a:latin typeface="Calibri" pitchFamily="34" charset="0"/>
              </a:rPr>
              <a:t>Deadlock Avoidance Algorithm</a:t>
            </a:r>
          </a:p>
        </p:txBody>
      </p:sp>
      <p:sp>
        <p:nvSpPr>
          <p:cNvPr id="3" name="Rectangle 2"/>
          <p:cNvSpPr/>
          <p:nvPr/>
        </p:nvSpPr>
        <p:spPr>
          <a:xfrm>
            <a:off x="428596" y="714356"/>
            <a:ext cx="2428892" cy="369332"/>
          </a:xfrm>
          <a:prstGeom prst="rect">
            <a:avLst/>
          </a:prstGeom>
        </p:spPr>
        <p:txBody>
          <a:bodyPr wrap="square">
            <a:spAutoFit/>
          </a:bodyPr>
          <a:lstStyle/>
          <a:p>
            <a:r>
              <a:rPr lang="en-US" dirty="0"/>
              <a:t>1. Initialize the system</a:t>
            </a:r>
          </a:p>
        </p:txBody>
      </p:sp>
      <p:sp>
        <p:nvSpPr>
          <p:cNvPr id="4" name="Rectangle 3"/>
          <p:cNvSpPr/>
          <p:nvPr/>
        </p:nvSpPr>
        <p:spPr>
          <a:xfrm>
            <a:off x="428596" y="1142985"/>
            <a:ext cx="8358246" cy="1754326"/>
          </a:xfrm>
          <a:prstGeom prst="rect">
            <a:avLst/>
          </a:prstGeom>
        </p:spPr>
        <p:txBody>
          <a:bodyPr wrap="square">
            <a:spAutoFit/>
          </a:bodyPr>
          <a:lstStyle/>
          <a:p>
            <a:r>
              <a:rPr lang="en-US" dirty="0"/>
              <a:t>1. Define the number of processes and resource types.</a:t>
            </a:r>
          </a:p>
          <a:p>
            <a:r>
              <a:rPr lang="en-US" dirty="0"/>
              <a:t>2. Define the total number of available resources for each resource type.</a:t>
            </a:r>
          </a:p>
          <a:p>
            <a:r>
              <a:rPr lang="en-US" dirty="0"/>
              <a:t>3. Create a matrix called the "allocation matrix" to represent the current resource allocation for each process.</a:t>
            </a:r>
          </a:p>
          <a:p>
            <a:r>
              <a:rPr lang="en-US" dirty="0"/>
              <a:t>4. Create a matrix called the "need matrix" to represent the remaining resource needs for each process.</a:t>
            </a:r>
          </a:p>
        </p:txBody>
      </p:sp>
      <p:sp>
        <p:nvSpPr>
          <p:cNvPr id="5" name="Rectangle 4"/>
          <p:cNvSpPr/>
          <p:nvPr/>
        </p:nvSpPr>
        <p:spPr>
          <a:xfrm>
            <a:off x="500034" y="3000372"/>
            <a:ext cx="2143140" cy="369332"/>
          </a:xfrm>
          <a:prstGeom prst="rect">
            <a:avLst/>
          </a:prstGeom>
        </p:spPr>
        <p:txBody>
          <a:bodyPr wrap="square">
            <a:spAutoFit/>
          </a:bodyPr>
          <a:lstStyle/>
          <a:p>
            <a:r>
              <a:rPr lang="en-US" dirty="0"/>
              <a:t>2. Define a request</a:t>
            </a:r>
          </a:p>
        </p:txBody>
      </p:sp>
      <p:sp>
        <p:nvSpPr>
          <p:cNvPr id="6" name="Rectangle 5"/>
          <p:cNvSpPr/>
          <p:nvPr/>
        </p:nvSpPr>
        <p:spPr>
          <a:xfrm>
            <a:off x="500034" y="3429000"/>
            <a:ext cx="7000924" cy="369332"/>
          </a:xfrm>
          <a:prstGeom prst="rect">
            <a:avLst/>
          </a:prstGeom>
        </p:spPr>
        <p:txBody>
          <a:bodyPr wrap="square">
            <a:spAutoFit/>
          </a:bodyPr>
          <a:lstStyle/>
          <a:p>
            <a:r>
              <a:rPr lang="en-US" dirty="0"/>
              <a:t>A process requests a certain number of resources of a particular type.</a:t>
            </a:r>
          </a:p>
        </p:txBody>
      </p:sp>
      <p:sp>
        <p:nvSpPr>
          <p:cNvPr id="7" name="Rectangle 6"/>
          <p:cNvSpPr/>
          <p:nvPr/>
        </p:nvSpPr>
        <p:spPr>
          <a:xfrm>
            <a:off x="500034" y="4000504"/>
            <a:ext cx="6572296" cy="369332"/>
          </a:xfrm>
          <a:prstGeom prst="rect">
            <a:avLst/>
          </a:prstGeom>
        </p:spPr>
        <p:txBody>
          <a:bodyPr wrap="square">
            <a:spAutoFit/>
          </a:bodyPr>
          <a:lstStyle/>
          <a:p>
            <a:r>
              <a:rPr lang="en-US" dirty="0"/>
              <a:t>3. Check if the request can be granted</a:t>
            </a:r>
          </a:p>
        </p:txBody>
      </p:sp>
      <p:sp>
        <p:nvSpPr>
          <p:cNvPr id="8" name="Rectangle 7"/>
          <p:cNvSpPr/>
          <p:nvPr/>
        </p:nvSpPr>
        <p:spPr>
          <a:xfrm>
            <a:off x="500034" y="4429132"/>
            <a:ext cx="7786742" cy="1477328"/>
          </a:xfrm>
          <a:prstGeom prst="rect">
            <a:avLst/>
          </a:prstGeom>
        </p:spPr>
        <p:txBody>
          <a:bodyPr wrap="square">
            <a:spAutoFit/>
          </a:bodyPr>
          <a:lstStyle/>
          <a:p>
            <a:r>
              <a:rPr lang="en-US" dirty="0"/>
              <a:t>1. Check if the requested resources are available.</a:t>
            </a:r>
          </a:p>
          <a:p>
            <a:endParaRPr lang="en-US" dirty="0"/>
          </a:p>
          <a:p>
            <a:r>
              <a:rPr lang="en-US" dirty="0"/>
              <a:t>2. If the requested resources are not available, the process must wait.</a:t>
            </a:r>
          </a:p>
          <a:p>
            <a:endParaRPr lang="en-US" dirty="0"/>
          </a:p>
          <a:p>
            <a:r>
              <a:rPr lang="en-US" dirty="0"/>
              <a:t>3. If the requested resources are available, go to the next step.</a:t>
            </a:r>
          </a:p>
        </p:txBody>
      </p:sp>
    </p:spTree>
    <p:extLst>
      <p:ext uri="{BB962C8B-B14F-4D97-AF65-F5344CB8AC3E}">
        <p14:creationId xmlns:p14="http://schemas.microsoft.com/office/powerpoint/2010/main" val="13931985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457200" y="76200"/>
            <a:ext cx="8229600" cy="411162"/>
          </a:xfrm>
        </p:spPr>
        <p:style>
          <a:lnRef idx="3">
            <a:schemeClr val="lt1"/>
          </a:lnRef>
          <a:fillRef idx="1">
            <a:schemeClr val="accent2"/>
          </a:fillRef>
          <a:effectRef idx="1">
            <a:schemeClr val="accent2"/>
          </a:effectRef>
          <a:fontRef idx="minor">
            <a:schemeClr val="lt1"/>
          </a:fontRef>
        </p:style>
        <p:txBody>
          <a:bodyPr>
            <a:noAutofit/>
          </a:bodyPr>
          <a:lstStyle/>
          <a:p>
            <a:pPr algn="ctr"/>
            <a:r>
              <a:rPr lang="en-NZ" sz="2800" b="1" dirty="0">
                <a:solidFill>
                  <a:schemeClr val="bg1"/>
                </a:solidFill>
                <a:effectLst>
                  <a:outerShdw blurRad="38100" dist="38100" dir="2700000" algn="tl">
                    <a:srgbClr val="000000">
                      <a:alpha val="43137"/>
                    </a:srgbClr>
                  </a:outerShdw>
                </a:effectLst>
                <a:latin typeface="Calibri" pitchFamily="34" charset="0"/>
              </a:rPr>
              <a:t>Deadlock Avoidance Algorithm</a:t>
            </a:r>
          </a:p>
        </p:txBody>
      </p:sp>
      <p:sp>
        <p:nvSpPr>
          <p:cNvPr id="9" name="Rectangle 8"/>
          <p:cNvSpPr/>
          <p:nvPr/>
        </p:nvSpPr>
        <p:spPr>
          <a:xfrm>
            <a:off x="428596" y="785794"/>
            <a:ext cx="3751733" cy="369332"/>
          </a:xfrm>
          <a:prstGeom prst="rect">
            <a:avLst/>
          </a:prstGeom>
        </p:spPr>
        <p:txBody>
          <a:bodyPr wrap="none">
            <a:spAutoFit/>
          </a:bodyPr>
          <a:lstStyle/>
          <a:p>
            <a:r>
              <a:rPr lang="en-US" dirty="0"/>
              <a:t>4. Check if the system is in a safe state</a:t>
            </a:r>
          </a:p>
        </p:txBody>
      </p:sp>
      <p:sp>
        <p:nvSpPr>
          <p:cNvPr id="10" name="Rectangle 9"/>
          <p:cNvSpPr/>
          <p:nvPr/>
        </p:nvSpPr>
        <p:spPr>
          <a:xfrm>
            <a:off x="500034" y="1357298"/>
            <a:ext cx="8358246" cy="1754326"/>
          </a:xfrm>
          <a:prstGeom prst="rect">
            <a:avLst/>
          </a:prstGeom>
        </p:spPr>
        <p:txBody>
          <a:bodyPr wrap="square">
            <a:spAutoFit/>
          </a:bodyPr>
          <a:lstStyle/>
          <a:p>
            <a:r>
              <a:rPr lang="en-US" dirty="0"/>
              <a:t>1. Simulate the allocation of the requested resources to the process.</a:t>
            </a:r>
          </a:p>
          <a:p>
            <a:r>
              <a:rPr lang="en-US" dirty="0"/>
              <a:t>2. Check if this allocation results in a safe state, meaning there is a sequence of  allocations that can satisfy all processes without leading to a deadlock.</a:t>
            </a:r>
          </a:p>
          <a:p>
            <a:r>
              <a:rPr lang="en-US" dirty="0"/>
              <a:t>3. If the state is safe, grant the request by updating the allocation matrix and the need matrix.</a:t>
            </a:r>
          </a:p>
          <a:p>
            <a:r>
              <a:rPr lang="en-US" dirty="0"/>
              <a:t>4. If the state is not safe, do not grant the request and let the process wait.</a:t>
            </a:r>
          </a:p>
        </p:txBody>
      </p:sp>
      <p:sp>
        <p:nvSpPr>
          <p:cNvPr id="11" name="Rectangle 10"/>
          <p:cNvSpPr/>
          <p:nvPr/>
        </p:nvSpPr>
        <p:spPr>
          <a:xfrm>
            <a:off x="500034" y="3214686"/>
            <a:ext cx="2502352" cy="369332"/>
          </a:xfrm>
          <a:prstGeom prst="rect">
            <a:avLst/>
          </a:prstGeom>
        </p:spPr>
        <p:txBody>
          <a:bodyPr wrap="none">
            <a:spAutoFit/>
          </a:bodyPr>
          <a:lstStyle/>
          <a:p>
            <a:r>
              <a:rPr lang="en-US" dirty="0"/>
              <a:t>5. Release the Resources</a:t>
            </a:r>
          </a:p>
        </p:txBody>
      </p:sp>
      <p:sp>
        <p:nvSpPr>
          <p:cNvPr id="12" name="Rectangle 11"/>
          <p:cNvSpPr/>
          <p:nvPr/>
        </p:nvSpPr>
        <p:spPr>
          <a:xfrm>
            <a:off x="571472" y="3786190"/>
            <a:ext cx="7929618" cy="646331"/>
          </a:xfrm>
          <a:prstGeom prst="rect">
            <a:avLst/>
          </a:prstGeom>
        </p:spPr>
        <p:txBody>
          <a:bodyPr wrap="square">
            <a:spAutoFit/>
          </a:bodyPr>
          <a:lstStyle/>
          <a:p>
            <a:r>
              <a:rPr lang="en-US" dirty="0"/>
              <a:t>When a process has finished its execution, releases its allocated resources by updating the allocation matrix and the need matrix.</a:t>
            </a:r>
          </a:p>
        </p:txBody>
      </p:sp>
    </p:spTree>
    <p:extLst>
      <p:ext uri="{BB962C8B-B14F-4D97-AF65-F5344CB8AC3E}">
        <p14:creationId xmlns:p14="http://schemas.microsoft.com/office/powerpoint/2010/main" val="13931985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228600" y="0"/>
            <a:ext cx="8229600" cy="533400"/>
          </a:xfrm>
        </p:spPr>
        <p:style>
          <a:lnRef idx="3">
            <a:schemeClr val="lt1"/>
          </a:lnRef>
          <a:fillRef idx="1">
            <a:schemeClr val="accent2"/>
          </a:fillRef>
          <a:effectRef idx="1">
            <a:schemeClr val="accent2"/>
          </a:effectRef>
          <a:fontRef idx="minor">
            <a:schemeClr val="lt1"/>
          </a:fontRef>
        </p:style>
        <p:txBody>
          <a:bodyPr>
            <a:normAutofit/>
          </a:bodyPr>
          <a:lstStyle/>
          <a:p>
            <a:pPr algn="ctr"/>
            <a:r>
              <a:rPr lang="en-US" sz="2800" b="1" dirty="0">
                <a:solidFill>
                  <a:schemeClr val="bg1"/>
                </a:solidFill>
                <a:effectLst>
                  <a:outerShdw blurRad="38100" dist="38100" dir="2700000" algn="tl">
                    <a:srgbClr val="000000">
                      <a:alpha val="43137"/>
                    </a:srgbClr>
                  </a:outerShdw>
                </a:effectLst>
                <a:latin typeface="Calibri" pitchFamily="34" charset="0"/>
              </a:rPr>
              <a:t>Deadlock Avoidance Advantages</a:t>
            </a:r>
          </a:p>
        </p:txBody>
      </p:sp>
      <p:sp>
        <p:nvSpPr>
          <p:cNvPr id="45059" name="Content Placeholder 2"/>
          <p:cNvSpPr>
            <a:spLocks noGrp="1"/>
          </p:cNvSpPr>
          <p:nvPr>
            <p:ph idx="1"/>
          </p:nvPr>
        </p:nvSpPr>
        <p:spPr>
          <a:xfrm>
            <a:off x="0" y="762000"/>
            <a:ext cx="9144000" cy="1143000"/>
          </a:xfrm>
        </p:spPr>
        <p:style>
          <a:lnRef idx="2">
            <a:schemeClr val="accent2"/>
          </a:lnRef>
          <a:fillRef idx="1">
            <a:schemeClr val="lt1"/>
          </a:fillRef>
          <a:effectRef idx="0">
            <a:schemeClr val="accent2"/>
          </a:effectRef>
          <a:fontRef idx="minor">
            <a:schemeClr val="dk1"/>
          </a:fontRef>
        </p:style>
        <p:txBody>
          <a:bodyPr>
            <a:normAutofit/>
          </a:bodyPr>
          <a:lstStyle/>
          <a:p>
            <a:r>
              <a:rPr lang="en-NZ" sz="2000" dirty="0">
                <a:latin typeface="Calibri" pitchFamily="34" charset="0"/>
              </a:rPr>
              <a:t>It is not necessary to </a:t>
            </a:r>
            <a:r>
              <a:rPr lang="en-NZ" sz="2000" dirty="0" err="1">
                <a:latin typeface="Calibri" pitchFamily="34" charset="0"/>
              </a:rPr>
              <a:t>preempt</a:t>
            </a:r>
            <a:r>
              <a:rPr lang="en-NZ" sz="2000" dirty="0">
                <a:latin typeface="Calibri" pitchFamily="34" charset="0"/>
              </a:rPr>
              <a:t> and rollback processes, as in deadlock detection, </a:t>
            </a:r>
          </a:p>
          <a:p>
            <a:r>
              <a:rPr lang="en-NZ" sz="2000" dirty="0">
                <a:latin typeface="Calibri" pitchFamily="34" charset="0"/>
              </a:rPr>
              <a:t>It is less restrictive than deadlock prevention. </a:t>
            </a:r>
            <a:endParaRPr lang="en-US" sz="2000" dirty="0">
              <a:latin typeface="Calibri" pitchFamily="34" charset="0"/>
            </a:endParaRPr>
          </a:p>
        </p:txBody>
      </p:sp>
      <p:sp>
        <p:nvSpPr>
          <p:cNvPr id="4" name="Title 1"/>
          <p:cNvSpPr txBox="1">
            <a:spLocks/>
          </p:cNvSpPr>
          <p:nvPr/>
        </p:nvSpPr>
        <p:spPr>
          <a:xfrm>
            <a:off x="2514600" y="2057400"/>
            <a:ext cx="6096000" cy="639762"/>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rmAutofit/>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a:ln>
                  <a:noFill/>
                </a:ln>
                <a:solidFill>
                  <a:schemeClr val="bg1"/>
                </a:solidFill>
                <a:effectLst>
                  <a:outerShdw blurRad="31750" dist="25400" dir="5400000" algn="tl" rotWithShape="0">
                    <a:srgbClr val="000000">
                      <a:alpha val="25000"/>
                    </a:srgbClr>
                  </a:outerShdw>
                </a:effectLst>
                <a:uLnTx/>
                <a:uFillTx/>
                <a:latin typeface="Calibri" pitchFamily="34" charset="0"/>
                <a:ea typeface="+mn-ea"/>
                <a:cs typeface="+mn-cs"/>
              </a:rPr>
              <a:t>Deadlock Avoidance Restrictions</a:t>
            </a:r>
            <a:endParaRPr kumimoji="0" lang="en-US" sz="28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n-ea"/>
              <a:cs typeface="+mn-cs"/>
            </a:endParaRPr>
          </a:p>
        </p:txBody>
      </p:sp>
      <p:sp>
        <p:nvSpPr>
          <p:cNvPr id="5" name="Content Placeholder 2"/>
          <p:cNvSpPr txBox="1">
            <a:spLocks/>
          </p:cNvSpPr>
          <p:nvPr/>
        </p:nvSpPr>
        <p:spPr>
          <a:xfrm>
            <a:off x="2514600" y="2819400"/>
            <a:ext cx="6400800" cy="3657600"/>
          </a:xfrm>
          <a:prstGeom prst="rect">
            <a:avLst/>
          </a:prstGeom>
        </p:spPr>
        <p:style>
          <a:lnRef idx="2">
            <a:schemeClr val="accent2"/>
          </a:lnRef>
          <a:fillRef idx="1">
            <a:schemeClr val="lt1"/>
          </a:fillRef>
          <a:effectRef idx="0">
            <a:schemeClr val="accent2"/>
          </a:effectRef>
          <a:fontRef idx="minor">
            <a:schemeClr val="dk1"/>
          </a:fontRef>
        </p:style>
        <p:txBody>
          <a:bodyPr vert="horz">
            <a:noAutofit/>
          </a:bodyPr>
          <a:lstStyle/>
          <a:p>
            <a:pPr marL="365760" marR="0" lvl="0" indent="-256032" algn="l" defTabSz="914400" rtl="0" eaLnBrk="1" fontAlgn="auto" latinLnBrk="0" hangingPunct="1">
              <a:lnSpc>
                <a:spcPct val="100000"/>
              </a:lnSpc>
              <a:spcBef>
                <a:spcPts val="400"/>
              </a:spcBef>
              <a:spcAft>
                <a:spcPts val="0"/>
              </a:spcAft>
              <a:buClr>
                <a:srgbClr val="C00000"/>
              </a:buClr>
              <a:buSzPct val="68000"/>
              <a:buFont typeface="Wingdings 3"/>
              <a:buNone/>
              <a:tabLst/>
              <a:defRPr/>
            </a:pPr>
            <a:r>
              <a:rPr kumimoji="0" lang="en-NZ" sz="2200" b="0" i="0" u="none" strike="noStrike" kern="1200" cap="none" spc="0" normalizeH="0" baseline="0" noProof="0" dirty="0">
                <a:ln>
                  <a:noFill/>
                </a:ln>
                <a:solidFill>
                  <a:schemeClr val="dk1"/>
                </a:solidFill>
                <a:effectLst/>
                <a:uLnTx/>
                <a:uFillTx/>
                <a:latin typeface="Calibri" pitchFamily="34" charset="0"/>
              </a:rPr>
              <a:t>However, it does have a number of restrictions on its use</a:t>
            </a:r>
            <a:endParaRPr kumimoji="0" lang="en-US" sz="2200" b="0" i="0" u="none" strike="noStrike" kern="1200" cap="none" spc="0" normalizeH="0" baseline="0" noProof="0" dirty="0">
              <a:ln>
                <a:noFill/>
              </a:ln>
              <a:solidFill>
                <a:schemeClr val="dk1"/>
              </a:solidFill>
              <a:effectLst/>
              <a:uLnTx/>
              <a:uFillTx/>
              <a:latin typeface="Calibri" pitchFamily="34" charset="0"/>
            </a:endParaRPr>
          </a:p>
          <a:p>
            <a:pPr marL="365760" marR="0" lvl="0" indent="-256032" algn="l" defTabSz="914400" rtl="0" eaLnBrk="1" fontAlgn="auto" latinLnBrk="0" hangingPunct="1">
              <a:lnSpc>
                <a:spcPct val="100000"/>
              </a:lnSpc>
              <a:spcBef>
                <a:spcPts val="400"/>
              </a:spcBef>
              <a:spcAft>
                <a:spcPts val="0"/>
              </a:spcAft>
              <a:buClr>
                <a:srgbClr val="C00000"/>
              </a:buClr>
              <a:buSzPct val="68000"/>
              <a:buFont typeface="Wingdings 3"/>
              <a:buChar char=""/>
              <a:tabLst/>
              <a:defRPr/>
            </a:pPr>
            <a:r>
              <a:rPr kumimoji="0" lang="en-US" sz="2200" b="0" i="0" u="none" strike="noStrike" kern="1200" cap="none" spc="0" normalizeH="0" baseline="0" noProof="0" dirty="0">
                <a:ln>
                  <a:noFill/>
                </a:ln>
                <a:solidFill>
                  <a:schemeClr val="dk1"/>
                </a:solidFill>
                <a:effectLst/>
                <a:uLnTx/>
                <a:uFillTx/>
                <a:latin typeface="Calibri" pitchFamily="34" charset="0"/>
              </a:rPr>
              <a:t>Maximum resource requirement must be stated in advance</a:t>
            </a:r>
          </a:p>
          <a:p>
            <a:pPr marL="365760" marR="0" lvl="0" indent="-256032" algn="l" defTabSz="914400" rtl="0" eaLnBrk="1" fontAlgn="auto" latinLnBrk="0" hangingPunct="1">
              <a:lnSpc>
                <a:spcPct val="100000"/>
              </a:lnSpc>
              <a:spcBef>
                <a:spcPts val="400"/>
              </a:spcBef>
              <a:spcAft>
                <a:spcPts val="0"/>
              </a:spcAft>
              <a:buClr>
                <a:srgbClr val="C00000"/>
              </a:buClr>
              <a:buSzPct val="68000"/>
              <a:buFont typeface="Wingdings 3"/>
              <a:buChar char=""/>
              <a:tabLst/>
              <a:defRPr/>
            </a:pPr>
            <a:r>
              <a:rPr kumimoji="0" lang="en-US" sz="2200" b="0" i="0" u="none" strike="noStrike" kern="1200" cap="none" spc="0" normalizeH="0" baseline="0" noProof="0" dirty="0">
                <a:ln>
                  <a:noFill/>
                </a:ln>
                <a:solidFill>
                  <a:schemeClr val="dk1"/>
                </a:solidFill>
                <a:effectLst/>
                <a:uLnTx/>
                <a:uFillTx/>
                <a:latin typeface="Calibri" pitchFamily="34" charset="0"/>
              </a:rPr>
              <a:t>Processes under consideration must be independent and with no synchronization requirements</a:t>
            </a:r>
          </a:p>
          <a:p>
            <a:pPr marL="365760" marR="0" lvl="0" indent="-256032" algn="l" defTabSz="914400" rtl="0" eaLnBrk="1" fontAlgn="auto" latinLnBrk="0" hangingPunct="1">
              <a:lnSpc>
                <a:spcPct val="100000"/>
              </a:lnSpc>
              <a:spcBef>
                <a:spcPts val="400"/>
              </a:spcBef>
              <a:spcAft>
                <a:spcPts val="0"/>
              </a:spcAft>
              <a:buClr>
                <a:srgbClr val="C00000"/>
              </a:buClr>
              <a:buSzPct val="68000"/>
              <a:buFont typeface="Wingdings 3"/>
              <a:buChar char=""/>
              <a:tabLst/>
              <a:defRPr/>
            </a:pPr>
            <a:r>
              <a:rPr kumimoji="0" lang="en-US" sz="2200" b="0" i="0" u="none" strike="noStrike" kern="1200" cap="none" spc="0" normalizeH="0" baseline="0" noProof="0" dirty="0">
                <a:ln>
                  <a:noFill/>
                </a:ln>
                <a:solidFill>
                  <a:schemeClr val="dk1"/>
                </a:solidFill>
                <a:effectLst/>
                <a:uLnTx/>
                <a:uFillTx/>
                <a:latin typeface="Calibri" pitchFamily="34" charset="0"/>
              </a:rPr>
              <a:t>There must be a fixed number of resources to allocate</a:t>
            </a:r>
          </a:p>
          <a:p>
            <a:pPr marL="365760" marR="0" lvl="0" indent="-256032" algn="l" defTabSz="914400" rtl="0" eaLnBrk="1" fontAlgn="auto" latinLnBrk="0" hangingPunct="1">
              <a:lnSpc>
                <a:spcPct val="100000"/>
              </a:lnSpc>
              <a:spcBef>
                <a:spcPts val="400"/>
              </a:spcBef>
              <a:spcAft>
                <a:spcPts val="0"/>
              </a:spcAft>
              <a:buClr>
                <a:srgbClr val="C00000"/>
              </a:buClr>
              <a:buSzPct val="68000"/>
              <a:buFont typeface="Wingdings 3"/>
              <a:buChar char=""/>
              <a:tabLst/>
              <a:defRPr/>
            </a:pPr>
            <a:r>
              <a:rPr kumimoji="0" lang="en-US" sz="2200" b="0" i="0" u="none" strike="noStrike" kern="1200" cap="none" spc="0" normalizeH="0" baseline="0" noProof="0" dirty="0">
                <a:ln>
                  <a:noFill/>
                </a:ln>
                <a:solidFill>
                  <a:schemeClr val="dk1"/>
                </a:solidFill>
                <a:effectLst/>
                <a:uLnTx/>
                <a:uFillTx/>
                <a:latin typeface="Calibri" pitchFamily="34" charset="0"/>
              </a:rPr>
              <a:t>No process may exit while holding resources</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Char char=""/>
              <a:tabLst/>
              <a:defRPr/>
            </a:pPr>
            <a:endParaRPr kumimoji="0" lang="en-US" sz="2200" b="0" i="0" u="none" strike="noStrike" kern="1200" cap="none" spc="0" normalizeH="0" baseline="0" noProof="0" dirty="0">
              <a:ln>
                <a:noFill/>
              </a:ln>
              <a:solidFill>
                <a:schemeClr val="dk1"/>
              </a:solidFill>
              <a:effectLst/>
              <a:uLnTx/>
              <a:uFillTx/>
              <a:latin typeface="Calibri" pitchFamily="34" charset="0"/>
            </a:endParaRPr>
          </a:p>
        </p:txBody>
      </p:sp>
      <p:pic>
        <p:nvPicPr>
          <p:cNvPr id="11266" name="Picture 2" descr="E:\gp image\stick_figures_running_gears_md_wm.gif"/>
          <p:cNvPicPr>
            <a:picLocks noChangeAspect="1" noChangeArrowheads="1" noCrop="1"/>
          </p:cNvPicPr>
          <p:nvPr/>
        </p:nvPicPr>
        <p:blipFill>
          <a:blip r:embed="rId3"/>
          <a:srcRect/>
          <a:stretch>
            <a:fillRect/>
          </a:stretch>
        </p:blipFill>
        <p:spPr bwMode="auto">
          <a:xfrm>
            <a:off x="38100" y="3276600"/>
            <a:ext cx="2095500" cy="2095500"/>
          </a:xfrm>
          <a:prstGeom prst="rect">
            <a:avLst/>
          </a:prstGeom>
          <a:noFill/>
        </p:spPr>
      </p:pic>
    </p:spTree>
    <p:extLst>
      <p:ext uri="{BB962C8B-B14F-4D97-AF65-F5344CB8AC3E}">
        <p14:creationId xmlns:p14="http://schemas.microsoft.com/office/powerpoint/2010/main" val="30530434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928670"/>
            <a:ext cx="6643734" cy="4500594"/>
          </a:xfrm>
        </p:spPr>
        <p:style>
          <a:lnRef idx="2">
            <a:schemeClr val="accent5"/>
          </a:lnRef>
          <a:fillRef idx="1">
            <a:schemeClr val="lt1"/>
          </a:fillRef>
          <a:effectRef idx="0">
            <a:schemeClr val="accent5"/>
          </a:effectRef>
          <a:fontRef idx="minor">
            <a:schemeClr val="dk1"/>
          </a:fontRef>
        </p:style>
        <p:txBody>
          <a:bodyPr>
            <a:normAutofit/>
          </a:bodyPr>
          <a:lstStyle/>
          <a:p>
            <a:pPr>
              <a:buClr>
                <a:schemeClr val="accent5">
                  <a:lumMod val="75000"/>
                </a:schemeClr>
              </a:buClr>
              <a:defRPr/>
            </a:pPr>
            <a:endParaRPr lang="en-NZ" b="1" dirty="0">
              <a:solidFill>
                <a:schemeClr val="accent1">
                  <a:lumMod val="75000"/>
                </a:schemeClr>
              </a:solidFill>
              <a:latin typeface="Calibri" pitchFamily="34" charset="0"/>
            </a:endParaRPr>
          </a:p>
          <a:p>
            <a:pPr>
              <a:buClr>
                <a:schemeClr val="accent5">
                  <a:lumMod val="75000"/>
                </a:schemeClr>
              </a:buClr>
              <a:defRPr/>
            </a:pPr>
            <a:r>
              <a:rPr lang="en-NZ" dirty="0">
                <a:solidFill>
                  <a:schemeClr val="tx2">
                    <a:lumMod val="60000"/>
                    <a:lumOff val="40000"/>
                  </a:schemeClr>
                </a:solidFill>
                <a:latin typeface="Calibri" pitchFamily="34" charset="0"/>
              </a:rPr>
              <a:t>Principles of  Deadlock</a:t>
            </a:r>
          </a:p>
          <a:p>
            <a:pPr>
              <a:buClr>
                <a:schemeClr val="accent5">
                  <a:lumMod val="75000"/>
                </a:schemeClr>
              </a:buClr>
              <a:defRPr/>
            </a:pPr>
            <a:r>
              <a:rPr lang="en-NZ" dirty="0">
                <a:solidFill>
                  <a:schemeClr val="tx1"/>
                </a:solidFill>
                <a:latin typeface="Calibri" pitchFamily="34" charset="0"/>
              </a:rPr>
              <a:t>Deadlock Prevention</a:t>
            </a:r>
          </a:p>
          <a:p>
            <a:pPr>
              <a:buClr>
                <a:schemeClr val="accent5">
                  <a:lumMod val="75000"/>
                </a:schemeClr>
              </a:buClr>
              <a:defRPr/>
            </a:pPr>
            <a:r>
              <a:rPr lang="en-NZ" dirty="0">
                <a:solidFill>
                  <a:schemeClr val="tx1"/>
                </a:solidFill>
                <a:latin typeface="Calibri" pitchFamily="34" charset="0"/>
              </a:rPr>
              <a:t>Deadlock Avoidance</a:t>
            </a:r>
          </a:p>
          <a:p>
            <a:pPr>
              <a:buClr>
                <a:schemeClr val="accent5">
                  <a:lumMod val="75000"/>
                </a:schemeClr>
              </a:buClr>
              <a:defRPr/>
            </a:pPr>
            <a:r>
              <a:rPr lang="en-NZ" b="1" dirty="0">
                <a:latin typeface="Calibri" pitchFamily="34" charset="0"/>
              </a:rPr>
              <a:t>Deadlock Detection</a:t>
            </a:r>
          </a:p>
          <a:p>
            <a:pPr>
              <a:buClr>
                <a:schemeClr val="accent5">
                  <a:lumMod val="75000"/>
                </a:schemeClr>
              </a:buClr>
              <a:defRPr/>
            </a:pPr>
            <a:r>
              <a:rPr lang="en-US" dirty="0"/>
              <a:t>Dinning philosophers problem: Solution using semaphores 	</a:t>
            </a:r>
          </a:p>
          <a:p>
            <a:pPr>
              <a:buClr>
                <a:schemeClr val="accent5">
                  <a:lumMod val="75000"/>
                </a:schemeClr>
              </a:buClr>
              <a:defRPr/>
            </a:pPr>
            <a:endParaRPr lang="en-NZ" dirty="0">
              <a:latin typeface="Calibri" pitchFamily="34" charset="0"/>
            </a:endParaRPr>
          </a:p>
          <a:p>
            <a:pPr>
              <a:buClr>
                <a:schemeClr val="accent5">
                  <a:lumMod val="75000"/>
                </a:schemeClr>
              </a:buClr>
              <a:defRPr/>
            </a:pPr>
            <a:endParaRPr lang="en-NZ" dirty="0">
              <a:latin typeface="Calibri" pitchFamily="34" charset="0"/>
            </a:endParaRPr>
          </a:p>
        </p:txBody>
      </p:sp>
      <p:sp>
        <p:nvSpPr>
          <p:cNvPr id="5" name="Slide Number Placeholder 4"/>
          <p:cNvSpPr>
            <a:spLocks noGrp="1"/>
          </p:cNvSpPr>
          <p:nvPr>
            <p:ph type="sldNum" sz="quarter" idx="12"/>
          </p:nvPr>
        </p:nvSpPr>
        <p:spPr/>
        <p:txBody>
          <a:bodyPr/>
          <a:lstStyle/>
          <a:p>
            <a:fld id="{8721AD9F-4A2E-478F-ACDB-FC9429174183}" type="slidenum">
              <a:rPr lang="en-GB" smtClean="0"/>
              <a:pPr/>
              <a:t>73</a:t>
            </a:fld>
            <a:endParaRPr lang="en-GB"/>
          </a:p>
        </p:txBody>
      </p:sp>
      <p:sp>
        <p:nvSpPr>
          <p:cNvPr id="4" name="Title 1"/>
          <p:cNvSpPr txBox="1">
            <a:spLocks/>
          </p:cNvSpPr>
          <p:nvPr/>
        </p:nvSpPr>
        <p:spPr>
          <a:xfrm>
            <a:off x="1142976" y="71422"/>
            <a:ext cx="6072230" cy="50005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solidFill>
                  <a:schemeClr val="bg1">
                    <a:lumMod val="95000"/>
                  </a:schemeClr>
                </a:solidFill>
                <a:effectLst>
                  <a:outerShdw blurRad="38100" dist="38100" dir="2700000" algn="tl">
                    <a:srgbClr val="000000">
                      <a:alpha val="43137"/>
                    </a:srgbClr>
                  </a:outerShdw>
                </a:effectLst>
                <a:latin typeface="+mj-lt"/>
              </a:rPr>
              <a:t>ROADMAP - Deadlock</a:t>
            </a:r>
            <a:endParaRPr kumimoji="0" lang="en-GB" sz="2800" b="1" i="0" u="none" strike="noStrike" kern="1200" cap="none" spc="0" normalizeH="0" baseline="0" noProof="0" dirty="0">
              <a:ln>
                <a:noFill/>
              </a:ln>
              <a:solidFill>
                <a:schemeClr val="bg1">
                  <a:lumMod val="95000"/>
                </a:schemeClr>
              </a:solidFill>
              <a:effectLst>
                <a:outerShdw blurRad="38100" dist="38100" dir="2700000" algn="tl">
                  <a:srgbClr val="000000">
                    <a:alpha val="43137"/>
                  </a:srgbClr>
                </a:outerShdw>
              </a:effectLst>
              <a:uLnTx/>
              <a:uFillTx/>
              <a:latin typeface="+mj-lt"/>
              <a:ea typeface="+mn-ea"/>
              <a:cs typeface="+mn-cs"/>
            </a:endParaRPr>
          </a:p>
        </p:txBody>
      </p:sp>
      <p:sp>
        <p:nvSpPr>
          <p:cNvPr id="6" name="Right Arrow 5"/>
          <p:cNvSpPr/>
          <p:nvPr/>
        </p:nvSpPr>
        <p:spPr>
          <a:xfrm>
            <a:off x="380956" y="3407216"/>
            <a:ext cx="357190" cy="285752"/>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3919315"/>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457200" y="76200"/>
            <a:ext cx="8229600" cy="487362"/>
          </a:xfrm>
        </p:spPr>
        <p:style>
          <a:lnRef idx="3">
            <a:schemeClr val="lt1"/>
          </a:lnRef>
          <a:fillRef idx="1">
            <a:schemeClr val="accent2"/>
          </a:fillRef>
          <a:effectRef idx="1">
            <a:schemeClr val="accent2"/>
          </a:effectRef>
          <a:fontRef idx="minor">
            <a:schemeClr val="lt1"/>
          </a:fontRef>
        </p:style>
        <p:txBody>
          <a:bodyPr>
            <a:normAutofit fontScale="90000"/>
          </a:bodyPr>
          <a:lstStyle/>
          <a:p>
            <a:pPr algn="ctr"/>
            <a:r>
              <a:rPr lang="en-NZ" sz="2800" b="1" dirty="0">
                <a:solidFill>
                  <a:schemeClr val="bg1"/>
                </a:solidFill>
                <a:effectLst>
                  <a:outerShdw blurRad="38100" dist="38100" dir="2700000" algn="tl">
                    <a:srgbClr val="000000">
                      <a:alpha val="43137"/>
                    </a:srgbClr>
                  </a:outerShdw>
                </a:effectLst>
                <a:latin typeface="Calibri" pitchFamily="34" charset="0"/>
              </a:rPr>
              <a:t>Deadlock Detection</a:t>
            </a:r>
          </a:p>
        </p:txBody>
      </p:sp>
      <p:sp>
        <p:nvSpPr>
          <p:cNvPr id="48131" name="Content Placeholder 2"/>
          <p:cNvSpPr>
            <a:spLocks noGrp="1"/>
          </p:cNvSpPr>
          <p:nvPr>
            <p:ph idx="1"/>
          </p:nvPr>
        </p:nvSpPr>
        <p:spPr>
          <a:xfrm>
            <a:off x="0" y="1219200"/>
            <a:ext cx="9144000" cy="2209800"/>
          </a:xfrm>
        </p:spPr>
        <p:style>
          <a:lnRef idx="2">
            <a:schemeClr val="accent2"/>
          </a:lnRef>
          <a:fillRef idx="1">
            <a:schemeClr val="lt1"/>
          </a:fillRef>
          <a:effectRef idx="0">
            <a:schemeClr val="accent2"/>
          </a:effectRef>
          <a:fontRef idx="minor">
            <a:schemeClr val="dk1"/>
          </a:fontRef>
        </p:style>
        <p:txBody>
          <a:bodyPr>
            <a:normAutofit/>
          </a:bodyPr>
          <a:lstStyle/>
          <a:p>
            <a:r>
              <a:rPr lang="en-NZ" sz="2000" dirty="0">
                <a:latin typeface="Calibri" pitchFamily="34" charset="0"/>
              </a:rPr>
              <a:t>Deadlock prevention strategies are very conservative; </a:t>
            </a:r>
          </a:p>
          <a:p>
            <a:pPr lvl="1"/>
            <a:r>
              <a:rPr lang="en-NZ" sz="2000" dirty="0">
                <a:latin typeface="Calibri" pitchFamily="34" charset="0"/>
              </a:rPr>
              <a:t>limit access to resources and impose restrictions on processes.</a:t>
            </a:r>
          </a:p>
          <a:p>
            <a:r>
              <a:rPr lang="en-NZ" sz="2000" dirty="0">
                <a:latin typeface="Calibri" pitchFamily="34" charset="0"/>
              </a:rPr>
              <a:t>Deadlock detection strategies do the opposite</a:t>
            </a:r>
          </a:p>
          <a:p>
            <a:pPr lvl="1"/>
            <a:r>
              <a:rPr lang="en-NZ" sz="2000" dirty="0">
                <a:latin typeface="Calibri" pitchFamily="34" charset="0"/>
              </a:rPr>
              <a:t>Resource requests are granted whenever possible.</a:t>
            </a:r>
          </a:p>
          <a:p>
            <a:pPr lvl="1"/>
            <a:r>
              <a:rPr lang="en-US" sz="2000" dirty="0">
                <a:latin typeface="Calibri" pitchFamily="34" charset="0"/>
              </a:rPr>
              <a:t>Periodically, the OS performs an algorithm that allows it to detect the circular wait condition</a:t>
            </a:r>
            <a:endParaRPr lang="en-NZ" sz="2000" dirty="0">
              <a:latin typeface="Calibri" pitchFamily="34" charset="0"/>
            </a:endParaRPr>
          </a:p>
        </p:txBody>
      </p:sp>
      <p:sp>
        <p:nvSpPr>
          <p:cNvPr id="4" name="Title 1"/>
          <p:cNvSpPr txBox="1">
            <a:spLocks/>
          </p:cNvSpPr>
          <p:nvPr/>
        </p:nvSpPr>
        <p:spPr>
          <a:xfrm>
            <a:off x="304800" y="3505200"/>
            <a:ext cx="8229600" cy="487362"/>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rmAutofit fontScale="97500" lnSpcReduction="10000"/>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NZ" sz="28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n-ea"/>
                <a:cs typeface="+mn-cs"/>
              </a:rPr>
              <a:t>Deadlock Detection Algorithm</a:t>
            </a:r>
          </a:p>
        </p:txBody>
      </p:sp>
      <p:sp>
        <p:nvSpPr>
          <p:cNvPr id="5" name="Rectangle 4"/>
          <p:cNvSpPr/>
          <p:nvPr/>
        </p:nvSpPr>
        <p:spPr>
          <a:xfrm>
            <a:off x="0" y="4114800"/>
            <a:ext cx="9144000" cy="255454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Font typeface="Arial" pitchFamily="34" charset="0"/>
              <a:buChar char="•"/>
            </a:pPr>
            <a:r>
              <a:rPr lang="en-US" sz="2000" dirty="0">
                <a:latin typeface="Calibri" pitchFamily="34" charset="0"/>
              </a:rPr>
              <a:t>A check for deadlock can be made as frequently as each resource request.</a:t>
            </a:r>
          </a:p>
          <a:p>
            <a:pPr>
              <a:buFont typeface="Arial" pitchFamily="34" charset="0"/>
              <a:buChar char="•"/>
            </a:pPr>
            <a:r>
              <a:rPr lang="en-NZ" sz="2000" dirty="0">
                <a:latin typeface="Calibri" pitchFamily="34" charset="0"/>
              </a:rPr>
              <a:t>Checking at each resource request has two advantages: </a:t>
            </a:r>
          </a:p>
          <a:p>
            <a:pPr lvl="1">
              <a:buFontTx/>
              <a:buChar char="•"/>
            </a:pPr>
            <a:r>
              <a:rPr lang="en-NZ" sz="2000" dirty="0">
                <a:latin typeface="Calibri" pitchFamily="34" charset="0"/>
              </a:rPr>
              <a:t> It leads to early detection, </a:t>
            </a:r>
          </a:p>
          <a:p>
            <a:pPr lvl="1">
              <a:buFontTx/>
              <a:buChar char="•"/>
            </a:pPr>
            <a:r>
              <a:rPr lang="en-NZ" sz="2000" dirty="0">
                <a:latin typeface="Calibri" pitchFamily="34" charset="0"/>
              </a:rPr>
              <a:t> The algorithm is relatively simple because it is based on incremental changes to </a:t>
            </a:r>
          </a:p>
          <a:p>
            <a:pPr lvl="1"/>
            <a:r>
              <a:rPr lang="en-NZ" sz="2000" dirty="0">
                <a:latin typeface="Calibri" pitchFamily="34" charset="0"/>
              </a:rPr>
              <a:t>    the state of the system.</a:t>
            </a:r>
          </a:p>
          <a:p>
            <a:pPr lvl="1"/>
            <a:endParaRPr lang="en-NZ" sz="2000" dirty="0">
              <a:latin typeface="Calibri" pitchFamily="34" charset="0"/>
            </a:endParaRPr>
          </a:p>
          <a:p>
            <a:pPr>
              <a:buFont typeface="Arial" pitchFamily="34" charset="0"/>
              <a:buChar char="•"/>
            </a:pPr>
            <a:r>
              <a:rPr lang="en-NZ" sz="2000" dirty="0">
                <a:latin typeface="Calibri" pitchFamily="34" charset="0"/>
              </a:rPr>
              <a:t>On the other hand, such frequent checks consume considerable processor time.</a:t>
            </a:r>
          </a:p>
          <a:p>
            <a:pPr>
              <a:buFont typeface="Arial" pitchFamily="34" charset="0"/>
              <a:buChar char="•"/>
            </a:pPr>
            <a:endParaRPr lang="en-US" sz="2000" dirty="0">
              <a:latin typeface="Calibri" pitchFamily="34" charset="0"/>
            </a:endParaRPr>
          </a:p>
        </p:txBody>
      </p:sp>
    </p:spTree>
    <p:extLst>
      <p:ext uri="{BB962C8B-B14F-4D97-AF65-F5344CB8AC3E}">
        <p14:creationId xmlns:p14="http://schemas.microsoft.com/office/powerpoint/2010/main" val="4635621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0"/>
            <a:ext cx="8229600" cy="457200"/>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NZ" sz="2800" b="1" dirty="0">
                <a:solidFill>
                  <a:schemeClr val="bg1"/>
                </a:solidFill>
                <a:effectLst>
                  <a:outerShdw blurRad="38100" dist="38100" dir="2700000" algn="tl">
                    <a:srgbClr val="000000">
                      <a:alpha val="43137"/>
                    </a:srgbClr>
                  </a:outerShdw>
                </a:effectLst>
                <a:latin typeface="Calibri" pitchFamily="34" charset="0"/>
              </a:rPr>
              <a:t>A Common Detection Algorithm</a:t>
            </a:r>
          </a:p>
        </p:txBody>
      </p:sp>
      <p:sp>
        <p:nvSpPr>
          <p:cNvPr id="49155" name="Content Placeholder 2"/>
          <p:cNvSpPr>
            <a:spLocks noGrp="1"/>
          </p:cNvSpPr>
          <p:nvPr>
            <p:ph idx="1"/>
          </p:nvPr>
        </p:nvSpPr>
        <p:spPr>
          <a:xfrm>
            <a:off x="76200" y="533400"/>
            <a:ext cx="8991600" cy="1905000"/>
          </a:xfrm>
        </p:spPr>
        <p:style>
          <a:lnRef idx="2">
            <a:schemeClr val="accent2"/>
          </a:lnRef>
          <a:fillRef idx="1">
            <a:schemeClr val="lt1"/>
          </a:fillRef>
          <a:effectRef idx="0">
            <a:schemeClr val="accent2"/>
          </a:effectRef>
          <a:fontRef idx="minor">
            <a:schemeClr val="dk1"/>
          </a:fontRef>
        </p:style>
        <p:txBody>
          <a:bodyPr>
            <a:normAutofit/>
          </a:bodyPr>
          <a:lstStyle/>
          <a:p>
            <a:r>
              <a:rPr lang="en-NZ" sz="2000" dirty="0">
                <a:latin typeface="Calibri" pitchFamily="34" charset="0"/>
              </a:rPr>
              <a:t>Use a Allocation matrix and Available vector  as previous</a:t>
            </a:r>
          </a:p>
          <a:p>
            <a:r>
              <a:rPr lang="en-NZ" sz="2000" dirty="0">
                <a:latin typeface="Calibri" pitchFamily="34" charset="0"/>
              </a:rPr>
              <a:t>Also use a request matrix </a:t>
            </a:r>
            <a:r>
              <a:rPr lang="en-NZ" sz="2000" b="1" i="1" dirty="0">
                <a:latin typeface="Calibri" pitchFamily="34" charset="0"/>
              </a:rPr>
              <a:t>Q</a:t>
            </a:r>
          </a:p>
          <a:p>
            <a:pPr lvl="1"/>
            <a:r>
              <a:rPr lang="en-NZ" sz="2000" dirty="0">
                <a:latin typeface="Calibri" pitchFamily="34" charset="0"/>
              </a:rPr>
              <a:t>Where </a:t>
            </a:r>
            <a:r>
              <a:rPr lang="en-NZ" sz="2000" b="1" i="1" dirty="0" err="1">
                <a:latin typeface="Calibri" pitchFamily="34" charset="0"/>
              </a:rPr>
              <a:t>Qij</a:t>
            </a:r>
            <a:r>
              <a:rPr lang="en-NZ" sz="2000" dirty="0">
                <a:latin typeface="Calibri" pitchFamily="34" charset="0"/>
              </a:rPr>
              <a:t> indicates that an amount of resource </a:t>
            </a:r>
            <a:r>
              <a:rPr lang="en-NZ" sz="2000" b="1" i="1" dirty="0">
                <a:latin typeface="Calibri" pitchFamily="34" charset="0"/>
              </a:rPr>
              <a:t>j</a:t>
            </a:r>
            <a:r>
              <a:rPr lang="en-NZ" sz="2000" dirty="0">
                <a:latin typeface="Calibri" pitchFamily="34" charset="0"/>
              </a:rPr>
              <a:t> is requested by process </a:t>
            </a:r>
            <a:r>
              <a:rPr lang="en-NZ" sz="2000" b="1" i="1" dirty="0">
                <a:latin typeface="Calibri" pitchFamily="34" charset="0"/>
              </a:rPr>
              <a:t>I</a:t>
            </a:r>
          </a:p>
          <a:p>
            <a:r>
              <a:rPr lang="en-NZ" sz="2000" dirty="0">
                <a:latin typeface="Calibri" pitchFamily="34" charset="0"/>
              </a:rPr>
              <a:t>First ‘un-mark’ all processes that are not deadlocked</a:t>
            </a:r>
          </a:p>
          <a:p>
            <a:pPr lvl="1"/>
            <a:r>
              <a:rPr lang="en-NZ" sz="2000" dirty="0">
                <a:latin typeface="Calibri" pitchFamily="34" charset="0"/>
              </a:rPr>
              <a:t>Initially all processes </a:t>
            </a:r>
            <a:r>
              <a:rPr lang="en-US" sz="2000" dirty="0">
                <a:latin typeface="Calibri" pitchFamily="34" charset="0"/>
              </a:rPr>
              <a:t>are unmarked.</a:t>
            </a:r>
            <a:endParaRPr lang="en-NZ" sz="2000" dirty="0">
              <a:latin typeface="Calibri" pitchFamily="34" charset="0"/>
            </a:endParaRPr>
          </a:p>
        </p:txBody>
      </p:sp>
      <p:sp>
        <p:nvSpPr>
          <p:cNvPr id="4" name="Title 1"/>
          <p:cNvSpPr txBox="1">
            <a:spLocks/>
          </p:cNvSpPr>
          <p:nvPr/>
        </p:nvSpPr>
        <p:spPr>
          <a:xfrm>
            <a:off x="76200" y="2514600"/>
            <a:ext cx="8229600" cy="457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vert="horz" rtlCol="0" anchor="ctr">
            <a:normAutofit/>
            <a:scene3d>
              <a:camera prst="orthographicFront"/>
              <a:lightRig rig="soft" dir="t"/>
            </a:scene3d>
            <a:sp3d prstMaterial="softEdge">
              <a:bevelT w="25400" h="25400"/>
            </a:sp3d>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NZ" sz="2400" b="1" dirty="0">
                <a:solidFill>
                  <a:schemeClr val="bg1"/>
                </a:solidFill>
                <a:effectLst>
                  <a:outerShdw blurRad="31750" dist="25400" dir="5400000" algn="tl" rotWithShape="0">
                    <a:srgbClr val="000000">
                      <a:alpha val="25000"/>
                    </a:srgbClr>
                  </a:outerShdw>
                </a:effectLst>
                <a:latin typeface="Calibri" pitchFamily="34" charset="0"/>
              </a:rPr>
              <a:t>Steps for </a:t>
            </a:r>
            <a:r>
              <a:rPr kumimoji="0" lang="en-NZ" sz="24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n-ea"/>
                <a:cs typeface="+mn-cs"/>
              </a:rPr>
              <a:t>Detection Algorithm:-</a:t>
            </a:r>
          </a:p>
        </p:txBody>
      </p:sp>
      <p:sp>
        <p:nvSpPr>
          <p:cNvPr id="5" name="Rectangle 4"/>
          <p:cNvSpPr/>
          <p:nvPr/>
        </p:nvSpPr>
        <p:spPr>
          <a:xfrm>
            <a:off x="0" y="3048000"/>
            <a:ext cx="9144000" cy="347787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457200" indent="-457200">
              <a:buAutoNum type="arabicPeriod"/>
            </a:pPr>
            <a:r>
              <a:rPr lang="en-US" sz="2000" dirty="0">
                <a:latin typeface="Calibri" pitchFamily="34" charset="0"/>
              </a:rPr>
              <a:t>Mark each process that has a row in the Allocation matrix of all zeros.</a:t>
            </a:r>
          </a:p>
          <a:p>
            <a:pPr marL="457200" indent="-457200">
              <a:buAutoNum type="arabicPeriod"/>
            </a:pPr>
            <a:endParaRPr lang="en-US" sz="2000" dirty="0">
              <a:latin typeface="Calibri" pitchFamily="34" charset="0"/>
            </a:endParaRPr>
          </a:p>
          <a:p>
            <a:r>
              <a:rPr lang="en-US" sz="2000" b="1" dirty="0">
                <a:latin typeface="Calibri" pitchFamily="34" charset="0"/>
              </a:rPr>
              <a:t>2. </a:t>
            </a:r>
            <a:r>
              <a:rPr lang="en-US" sz="2000" dirty="0">
                <a:latin typeface="Calibri" pitchFamily="34" charset="0"/>
              </a:rPr>
              <a:t>Initialize a temporary vector </a:t>
            </a:r>
            <a:r>
              <a:rPr lang="en-US" sz="2000" b="1" dirty="0">
                <a:latin typeface="Calibri" pitchFamily="34" charset="0"/>
              </a:rPr>
              <a:t>W </a:t>
            </a:r>
            <a:r>
              <a:rPr lang="en-US" sz="2000" dirty="0">
                <a:latin typeface="Calibri" pitchFamily="34" charset="0"/>
              </a:rPr>
              <a:t>to equal the Available vector.</a:t>
            </a:r>
          </a:p>
          <a:p>
            <a:endParaRPr lang="en-US" sz="2000" dirty="0">
              <a:latin typeface="Calibri" pitchFamily="34" charset="0"/>
            </a:endParaRPr>
          </a:p>
          <a:p>
            <a:r>
              <a:rPr lang="en-US" sz="2000" b="1" dirty="0">
                <a:latin typeface="Calibri" pitchFamily="34" charset="0"/>
              </a:rPr>
              <a:t>3. </a:t>
            </a:r>
            <a:r>
              <a:rPr lang="en-US" sz="2000" dirty="0">
                <a:latin typeface="Calibri" pitchFamily="34" charset="0"/>
              </a:rPr>
              <a:t>Find an index </a:t>
            </a:r>
            <a:r>
              <a:rPr lang="en-US" sz="2000" dirty="0" err="1">
                <a:latin typeface="Calibri" pitchFamily="34" charset="0"/>
              </a:rPr>
              <a:t>i</a:t>
            </a:r>
            <a:r>
              <a:rPr lang="en-US" sz="2000" dirty="0">
                <a:latin typeface="Calibri" pitchFamily="34" charset="0"/>
              </a:rPr>
              <a:t> such that process </a:t>
            </a:r>
            <a:r>
              <a:rPr lang="en-US" sz="2000" b="1" dirty="0" err="1">
                <a:latin typeface="Calibri" pitchFamily="34" charset="0"/>
              </a:rPr>
              <a:t>i</a:t>
            </a:r>
            <a:r>
              <a:rPr lang="en-US" sz="2000" dirty="0">
                <a:latin typeface="Calibri" pitchFamily="34" charset="0"/>
              </a:rPr>
              <a:t> is currently unmarked and the </a:t>
            </a:r>
            <a:r>
              <a:rPr lang="en-US" sz="2000" b="1" dirty="0" err="1">
                <a:latin typeface="Calibri" pitchFamily="34" charset="0"/>
              </a:rPr>
              <a:t>i</a:t>
            </a:r>
            <a:r>
              <a:rPr lang="en-US" sz="1600" b="1" dirty="0" err="1">
                <a:latin typeface="Calibri" pitchFamily="34" charset="0"/>
              </a:rPr>
              <a:t>th</a:t>
            </a:r>
            <a:r>
              <a:rPr lang="en-US" sz="1600" dirty="0">
                <a:latin typeface="Calibri" pitchFamily="34" charset="0"/>
              </a:rPr>
              <a:t> </a:t>
            </a:r>
            <a:r>
              <a:rPr lang="en-US" sz="2000" dirty="0">
                <a:latin typeface="Calibri" pitchFamily="34" charset="0"/>
              </a:rPr>
              <a:t>row of </a:t>
            </a:r>
            <a:r>
              <a:rPr lang="en-US" sz="2000" b="1" dirty="0">
                <a:latin typeface="Calibri" pitchFamily="34" charset="0"/>
              </a:rPr>
              <a:t>Q </a:t>
            </a:r>
            <a:r>
              <a:rPr lang="en-US" sz="2000" dirty="0">
                <a:latin typeface="Calibri" pitchFamily="34" charset="0"/>
              </a:rPr>
              <a:t>is</a:t>
            </a:r>
          </a:p>
          <a:p>
            <a:r>
              <a:rPr lang="en-US" sz="2000" dirty="0">
                <a:latin typeface="Calibri" pitchFamily="34" charset="0"/>
              </a:rPr>
              <a:t>     less than or equal to </a:t>
            </a:r>
            <a:r>
              <a:rPr lang="en-US" sz="2000" b="1" dirty="0">
                <a:latin typeface="Calibri" pitchFamily="34" charset="0"/>
              </a:rPr>
              <a:t>W</a:t>
            </a:r>
            <a:r>
              <a:rPr lang="en-US" sz="2000" dirty="0">
                <a:latin typeface="Calibri" pitchFamily="34" charset="0"/>
              </a:rPr>
              <a:t>. That is, </a:t>
            </a:r>
            <a:r>
              <a:rPr lang="en-US" sz="2000" b="1" dirty="0" err="1">
                <a:latin typeface="Calibri" pitchFamily="34" charset="0"/>
              </a:rPr>
              <a:t>Q</a:t>
            </a:r>
            <a:r>
              <a:rPr lang="en-US" sz="1400" b="1" dirty="0" err="1">
                <a:latin typeface="Calibri" pitchFamily="34" charset="0"/>
              </a:rPr>
              <a:t>ik</a:t>
            </a:r>
            <a:r>
              <a:rPr lang="en-US" sz="2000" b="1" dirty="0">
                <a:latin typeface="Calibri" pitchFamily="34" charset="0"/>
              </a:rPr>
              <a:t> &lt;=W</a:t>
            </a:r>
            <a:r>
              <a:rPr lang="en-US" sz="1600" b="1" dirty="0">
                <a:latin typeface="Calibri" pitchFamily="34" charset="0"/>
              </a:rPr>
              <a:t>k</a:t>
            </a:r>
            <a:r>
              <a:rPr lang="en-US" sz="1600" dirty="0">
                <a:latin typeface="Calibri" pitchFamily="34" charset="0"/>
              </a:rPr>
              <a:t>, </a:t>
            </a:r>
            <a:r>
              <a:rPr lang="en-US" sz="2000" dirty="0">
                <a:latin typeface="Calibri" pitchFamily="34" charset="0"/>
              </a:rPr>
              <a:t>for </a:t>
            </a:r>
            <a:r>
              <a:rPr lang="en-US" sz="2000" b="1" dirty="0">
                <a:latin typeface="Calibri" pitchFamily="34" charset="0"/>
              </a:rPr>
              <a:t>1 &lt;= k&lt;= m.</a:t>
            </a:r>
            <a:r>
              <a:rPr lang="en-US" sz="2000" dirty="0">
                <a:latin typeface="Calibri" pitchFamily="34" charset="0"/>
              </a:rPr>
              <a:t> If no such row is found,</a:t>
            </a:r>
          </a:p>
          <a:p>
            <a:r>
              <a:rPr lang="en-US" sz="2000" dirty="0">
                <a:latin typeface="Calibri" pitchFamily="34" charset="0"/>
              </a:rPr>
              <a:t>     terminate the algorithm.</a:t>
            </a:r>
          </a:p>
          <a:p>
            <a:endParaRPr lang="en-US" sz="2000" dirty="0">
              <a:latin typeface="Calibri" pitchFamily="34" charset="0"/>
            </a:endParaRPr>
          </a:p>
          <a:p>
            <a:r>
              <a:rPr lang="en-US" sz="2000" b="1" dirty="0">
                <a:latin typeface="Calibri" pitchFamily="34" charset="0"/>
              </a:rPr>
              <a:t>4.</a:t>
            </a:r>
            <a:r>
              <a:rPr lang="en-US" sz="2000" dirty="0">
                <a:latin typeface="Calibri" pitchFamily="34" charset="0"/>
              </a:rPr>
              <a:t> If such a row is found, mark process</a:t>
            </a:r>
            <a:r>
              <a:rPr lang="en-US" sz="2000" b="1" dirty="0">
                <a:latin typeface="Calibri" pitchFamily="34" charset="0"/>
              </a:rPr>
              <a:t> </a:t>
            </a:r>
            <a:r>
              <a:rPr lang="en-US" sz="2000" b="1" dirty="0" err="1">
                <a:latin typeface="Calibri" pitchFamily="34" charset="0"/>
              </a:rPr>
              <a:t>i</a:t>
            </a:r>
            <a:r>
              <a:rPr lang="en-US" sz="2000" b="1" dirty="0">
                <a:latin typeface="Calibri" pitchFamily="34" charset="0"/>
              </a:rPr>
              <a:t> </a:t>
            </a:r>
            <a:r>
              <a:rPr lang="en-US" sz="2000" dirty="0">
                <a:latin typeface="Calibri" pitchFamily="34" charset="0"/>
              </a:rPr>
              <a:t>and add the corresponding row of the </a:t>
            </a:r>
          </a:p>
          <a:p>
            <a:r>
              <a:rPr lang="en-US" sz="2000" dirty="0">
                <a:latin typeface="Calibri" pitchFamily="34" charset="0"/>
              </a:rPr>
              <a:t>     allocation matrix to </a:t>
            </a:r>
            <a:r>
              <a:rPr lang="en-US" sz="2000" b="1" dirty="0">
                <a:latin typeface="Calibri" pitchFamily="34" charset="0"/>
              </a:rPr>
              <a:t>W.</a:t>
            </a:r>
            <a:r>
              <a:rPr lang="en-US" sz="2000" dirty="0">
                <a:latin typeface="Calibri" pitchFamily="34" charset="0"/>
              </a:rPr>
              <a:t> That is, set </a:t>
            </a:r>
            <a:r>
              <a:rPr lang="en-US" sz="2000" b="1" dirty="0">
                <a:latin typeface="Calibri" pitchFamily="34" charset="0"/>
              </a:rPr>
              <a:t>Wk = Wk + </a:t>
            </a:r>
            <a:r>
              <a:rPr lang="en-US" sz="2000" b="1" dirty="0" err="1">
                <a:latin typeface="Calibri" pitchFamily="34" charset="0"/>
              </a:rPr>
              <a:t>Aik</a:t>
            </a:r>
            <a:r>
              <a:rPr lang="en-US" sz="2000" dirty="0">
                <a:latin typeface="Calibri" pitchFamily="34" charset="0"/>
              </a:rPr>
              <a:t>, for </a:t>
            </a:r>
            <a:r>
              <a:rPr lang="en-US" sz="2000" dirty="0" err="1">
                <a:latin typeface="Calibri" pitchFamily="34" charset="0"/>
              </a:rPr>
              <a:t>for</a:t>
            </a:r>
            <a:r>
              <a:rPr lang="en-US" sz="2000" dirty="0">
                <a:latin typeface="Calibri" pitchFamily="34" charset="0"/>
              </a:rPr>
              <a:t> </a:t>
            </a:r>
            <a:r>
              <a:rPr lang="en-US" sz="2000" b="1" dirty="0">
                <a:latin typeface="Calibri" pitchFamily="34" charset="0"/>
              </a:rPr>
              <a:t>1 &lt;= k&lt;= m.</a:t>
            </a:r>
          </a:p>
          <a:p>
            <a:r>
              <a:rPr lang="en-US" sz="2000" b="1" dirty="0">
                <a:latin typeface="Calibri" pitchFamily="34" charset="0"/>
              </a:rPr>
              <a:t>    </a:t>
            </a:r>
            <a:r>
              <a:rPr lang="en-US" sz="2000" dirty="0">
                <a:latin typeface="Calibri" pitchFamily="34" charset="0"/>
              </a:rPr>
              <a:t>Return to step 3.</a:t>
            </a:r>
          </a:p>
        </p:txBody>
      </p:sp>
    </p:spTree>
    <p:extLst>
      <p:ext uri="{BB962C8B-B14F-4D97-AF65-F5344CB8AC3E}">
        <p14:creationId xmlns:p14="http://schemas.microsoft.com/office/powerpoint/2010/main" val="22960670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457200" y="76200"/>
            <a:ext cx="8229600" cy="487362"/>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US" sz="2800" b="1" dirty="0">
                <a:solidFill>
                  <a:schemeClr val="bg1"/>
                </a:solidFill>
                <a:effectLst>
                  <a:outerShdw blurRad="38100" dist="38100" dir="2700000" algn="tl">
                    <a:srgbClr val="000000">
                      <a:alpha val="43137"/>
                    </a:srgbClr>
                  </a:outerShdw>
                </a:effectLst>
                <a:latin typeface="Calibri" pitchFamily="34" charset="0"/>
              </a:rPr>
              <a:t>Deadlock Detection</a:t>
            </a:r>
          </a:p>
        </p:txBody>
      </p:sp>
      <p:pic>
        <p:nvPicPr>
          <p:cNvPr id="52227" name="Content Placeholder 3" descr="Fig06_10.gif"/>
          <p:cNvPicPr>
            <a:picLocks noGrp="1" noChangeAspect="1"/>
          </p:cNvPicPr>
          <p:nvPr>
            <p:ph idx="1"/>
          </p:nvPr>
        </p:nvPicPr>
        <p:blipFill>
          <a:blip r:embed="rId3"/>
          <a:srcRect/>
          <a:stretch>
            <a:fillRect/>
          </a:stretch>
        </p:blipFill>
        <p:spPr>
          <a:xfrm>
            <a:off x="76200" y="762000"/>
            <a:ext cx="8839200" cy="5791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072038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569655"/>
            <a:ext cx="9067800" cy="255454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NZ" sz="2000" dirty="0">
                <a:latin typeface="Calibri" pitchFamily="34" charset="0"/>
              </a:rPr>
              <a:t>1.  Mark P4, because P4 has no allocated resources.</a:t>
            </a:r>
          </a:p>
          <a:p>
            <a:r>
              <a:rPr lang="pl-PL" sz="2000" dirty="0">
                <a:latin typeface="Calibri" pitchFamily="34" charset="0"/>
              </a:rPr>
              <a:t>2. Set </a:t>
            </a:r>
            <a:r>
              <a:rPr lang="pl-PL" sz="2000" b="1" dirty="0">
                <a:latin typeface="Calibri" pitchFamily="34" charset="0"/>
              </a:rPr>
              <a:t>W</a:t>
            </a:r>
            <a:r>
              <a:rPr lang="en-NZ" sz="2000" b="1" dirty="0">
                <a:latin typeface="Calibri" pitchFamily="34" charset="0"/>
              </a:rPr>
              <a:t> </a:t>
            </a:r>
            <a:r>
              <a:rPr lang="en-NZ" sz="2000" dirty="0">
                <a:latin typeface="Calibri" pitchFamily="34" charset="0"/>
              </a:rPr>
              <a:t>=</a:t>
            </a:r>
            <a:r>
              <a:rPr lang="pl-PL" sz="2000" dirty="0">
                <a:latin typeface="Calibri" pitchFamily="34" charset="0"/>
              </a:rPr>
              <a:t> (0 0 0 0 1).</a:t>
            </a:r>
            <a:endParaRPr lang="en-NZ" sz="2000" dirty="0">
              <a:latin typeface="Calibri" pitchFamily="34" charset="0"/>
            </a:endParaRPr>
          </a:p>
          <a:p>
            <a:r>
              <a:rPr lang="en-NZ" sz="2000" dirty="0">
                <a:latin typeface="Calibri" pitchFamily="34" charset="0"/>
              </a:rPr>
              <a:t>3. The request of process P3 is less than or equal to </a:t>
            </a:r>
            <a:r>
              <a:rPr lang="en-NZ" sz="2000" b="1" dirty="0">
                <a:latin typeface="Calibri" pitchFamily="34" charset="0"/>
              </a:rPr>
              <a:t>W</a:t>
            </a:r>
            <a:r>
              <a:rPr lang="en-NZ" sz="2000" dirty="0">
                <a:latin typeface="Calibri" pitchFamily="34" charset="0"/>
              </a:rPr>
              <a:t>, so mark P3 and set W=W + (0 0 0 1 0) = (0 0 0 1 1).</a:t>
            </a:r>
          </a:p>
          <a:p>
            <a:r>
              <a:rPr lang="en-NZ" sz="2000" dirty="0">
                <a:latin typeface="Calibri" pitchFamily="34" charset="0"/>
              </a:rPr>
              <a:t>4. No other unmarked process has a row in Q that is less than or equal to W.</a:t>
            </a:r>
          </a:p>
          <a:p>
            <a:pPr lvl="1"/>
            <a:r>
              <a:rPr lang="en-NZ" sz="2000" dirty="0">
                <a:latin typeface="Calibri" pitchFamily="34" charset="0"/>
              </a:rPr>
              <a:t>Therefore, terminate the algorithm.</a:t>
            </a:r>
          </a:p>
          <a:p>
            <a:r>
              <a:rPr lang="en-NZ" sz="2000" dirty="0">
                <a:latin typeface="Calibri" pitchFamily="34" charset="0"/>
              </a:rPr>
              <a:t>The algorithm concludes with P1 and P2 unmarked, indicating that these processes are deadlocked.</a:t>
            </a:r>
          </a:p>
        </p:txBody>
      </p:sp>
      <p:sp>
        <p:nvSpPr>
          <p:cNvPr id="6" name="Title 1"/>
          <p:cNvSpPr txBox="1">
            <a:spLocks/>
          </p:cNvSpPr>
          <p:nvPr/>
        </p:nvSpPr>
        <p:spPr>
          <a:xfrm>
            <a:off x="457200" y="0"/>
            <a:ext cx="8229600" cy="487362"/>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rmAutofit fontScale="97500" lnSpcReduction="10000"/>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a:ln>
                  <a:noFill/>
                </a:ln>
                <a:solidFill>
                  <a:schemeClr val="bg1"/>
                </a:solidFill>
                <a:effectLst>
                  <a:outerShdw blurRad="31750" dist="25400" dir="5400000" algn="tl" rotWithShape="0">
                    <a:srgbClr val="000000">
                      <a:alpha val="25000"/>
                    </a:srgbClr>
                  </a:outerShdw>
                </a:effectLst>
                <a:uLnTx/>
                <a:uFillTx/>
                <a:latin typeface="Calibri" pitchFamily="34" charset="0"/>
                <a:ea typeface="+mn-ea"/>
                <a:cs typeface="+mn-cs"/>
              </a:rPr>
              <a:t>Deadlock Detection</a:t>
            </a:r>
            <a:endParaRPr kumimoji="0" lang="en-US" sz="28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n-ea"/>
              <a:cs typeface="+mn-cs"/>
            </a:endParaRPr>
          </a:p>
        </p:txBody>
      </p:sp>
      <p:sp>
        <p:nvSpPr>
          <p:cNvPr id="8" name="Title 1"/>
          <p:cNvSpPr>
            <a:spLocks noGrp="1"/>
          </p:cNvSpPr>
          <p:nvPr>
            <p:ph type="title"/>
          </p:nvPr>
        </p:nvSpPr>
        <p:spPr>
          <a:xfrm>
            <a:off x="304800" y="3200400"/>
            <a:ext cx="8458200" cy="487362"/>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US" sz="2800" b="1" dirty="0">
                <a:solidFill>
                  <a:schemeClr val="bg1"/>
                </a:solidFill>
                <a:effectLst>
                  <a:outerShdw blurRad="38100" dist="38100" dir="2700000" algn="tl">
                    <a:srgbClr val="000000">
                      <a:alpha val="43137"/>
                    </a:srgbClr>
                  </a:outerShdw>
                </a:effectLst>
                <a:latin typeface="Calibri" pitchFamily="34" charset="0"/>
              </a:rPr>
              <a:t>Recovery Strategies Once Deadlock Detected</a:t>
            </a:r>
          </a:p>
        </p:txBody>
      </p:sp>
      <p:sp>
        <p:nvSpPr>
          <p:cNvPr id="9" name="Content Placeholder 2"/>
          <p:cNvSpPr>
            <a:spLocks noGrp="1"/>
          </p:cNvSpPr>
          <p:nvPr>
            <p:ph idx="1"/>
          </p:nvPr>
        </p:nvSpPr>
        <p:spPr>
          <a:xfrm>
            <a:off x="0" y="3810000"/>
            <a:ext cx="9144000" cy="2404872"/>
          </a:xfrm>
        </p:spPr>
        <p:style>
          <a:lnRef idx="2">
            <a:schemeClr val="accent2"/>
          </a:lnRef>
          <a:fillRef idx="1">
            <a:schemeClr val="lt1"/>
          </a:fillRef>
          <a:effectRef idx="0">
            <a:schemeClr val="accent2"/>
          </a:effectRef>
          <a:fontRef idx="minor">
            <a:schemeClr val="dk1"/>
          </a:fontRef>
        </p:style>
        <p:txBody>
          <a:bodyPr>
            <a:normAutofit/>
          </a:bodyPr>
          <a:lstStyle/>
          <a:p>
            <a:r>
              <a:rPr lang="en-US" sz="2000" dirty="0">
                <a:latin typeface="Calibri" pitchFamily="34" charset="0"/>
              </a:rPr>
              <a:t>Abort all deadlocked processes</a:t>
            </a:r>
          </a:p>
          <a:p>
            <a:r>
              <a:rPr lang="en-US" sz="2000" dirty="0">
                <a:latin typeface="Calibri" pitchFamily="34" charset="0"/>
              </a:rPr>
              <a:t>Back up each deadlocked process to some previously defined checkpoint, and restart all process</a:t>
            </a:r>
          </a:p>
          <a:p>
            <a:pPr lvl="1"/>
            <a:r>
              <a:rPr lang="en-US" sz="2000" dirty="0">
                <a:latin typeface="Calibri" pitchFamily="34" charset="0"/>
              </a:rPr>
              <a:t>Risk or deadlock recurring</a:t>
            </a:r>
          </a:p>
          <a:p>
            <a:r>
              <a:rPr lang="en-NZ" sz="2000" dirty="0">
                <a:latin typeface="Calibri" pitchFamily="34" charset="0"/>
              </a:rPr>
              <a:t>Successively abort deadlocked processes until deadlock no longer exists</a:t>
            </a:r>
          </a:p>
          <a:p>
            <a:r>
              <a:rPr lang="en-NZ" sz="2000" dirty="0">
                <a:latin typeface="Calibri" pitchFamily="34" charset="0"/>
              </a:rPr>
              <a:t>Successively </a:t>
            </a:r>
            <a:r>
              <a:rPr lang="en-NZ" sz="2000" dirty="0" err="1">
                <a:latin typeface="Calibri" pitchFamily="34" charset="0"/>
              </a:rPr>
              <a:t>preempt</a:t>
            </a:r>
            <a:r>
              <a:rPr lang="en-NZ" sz="2000" dirty="0">
                <a:latin typeface="Calibri" pitchFamily="34" charset="0"/>
              </a:rPr>
              <a:t> resources until deadlock no longer exists</a:t>
            </a:r>
          </a:p>
        </p:txBody>
      </p:sp>
    </p:spTree>
    <p:extLst>
      <p:ext uri="{BB962C8B-B14F-4D97-AF65-F5344CB8AC3E}">
        <p14:creationId xmlns:p14="http://schemas.microsoft.com/office/powerpoint/2010/main" val="9497532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0"/>
            <a:ext cx="8229600" cy="457200"/>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NZ" sz="2800" b="1" dirty="0">
                <a:solidFill>
                  <a:schemeClr val="bg1"/>
                </a:solidFill>
                <a:effectLst>
                  <a:outerShdw blurRad="38100" dist="38100" dir="2700000" algn="tl">
                    <a:srgbClr val="000000">
                      <a:alpha val="43137"/>
                    </a:srgbClr>
                  </a:outerShdw>
                </a:effectLst>
                <a:latin typeface="Calibri" pitchFamily="34" charset="0"/>
              </a:rPr>
              <a:t>Deadlock Detection</a:t>
            </a:r>
          </a:p>
        </p:txBody>
      </p:sp>
      <p:sp>
        <p:nvSpPr>
          <p:cNvPr id="7" name="Rectangle 6"/>
          <p:cNvSpPr/>
          <p:nvPr/>
        </p:nvSpPr>
        <p:spPr>
          <a:xfrm>
            <a:off x="500034" y="714356"/>
            <a:ext cx="8072494" cy="6117059"/>
          </a:xfrm>
          <a:prstGeom prst="rect">
            <a:avLst/>
          </a:prstGeom>
        </p:spPr>
        <p:txBody>
          <a:bodyPr wrap="square">
            <a:spAutoFit/>
          </a:bodyPr>
          <a:lstStyle/>
          <a:p>
            <a:pPr fontAlgn="base"/>
            <a:r>
              <a:rPr lang="en-US" sz="2000" dirty="0"/>
              <a:t>Deadlock detection is the process of identifying when processes are stuck waiting for resources held by other processes.</a:t>
            </a:r>
          </a:p>
          <a:p>
            <a:pPr fontAlgn="base"/>
            <a:endParaRPr lang="en-US" sz="1000" dirty="0"/>
          </a:p>
          <a:p>
            <a:pPr fontAlgn="base"/>
            <a:r>
              <a:rPr lang="en-US" sz="2000" dirty="0"/>
              <a:t>Detection is done using techniques like Resource Allocation Graphs (RAG) or Wait-for Graphs.</a:t>
            </a:r>
          </a:p>
          <a:p>
            <a:pPr fontAlgn="base"/>
            <a:endParaRPr lang="en-US" sz="1050" dirty="0"/>
          </a:p>
          <a:p>
            <a:pPr fontAlgn="base"/>
            <a:r>
              <a:rPr lang="en-US" sz="2000" dirty="0"/>
              <a:t>Recovery is the method of resolving the deadlock to allow the system to continue functioning.</a:t>
            </a:r>
          </a:p>
          <a:p>
            <a:pPr fontAlgn="base"/>
            <a:endParaRPr lang="en-US" sz="1100" dirty="0"/>
          </a:p>
          <a:p>
            <a:pPr fontAlgn="base"/>
            <a:r>
              <a:rPr lang="en-US" sz="2000" dirty="0"/>
              <a:t>Once a deadlock is detected, recovery methods include process termination, resource preemption, or process rollback.</a:t>
            </a:r>
          </a:p>
          <a:p>
            <a:pPr fontAlgn="base"/>
            <a:endParaRPr lang="en-US" sz="1100" dirty="0"/>
          </a:p>
          <a:p>
            <a:pPr fontAlgn="base"/>
            <a:r>
              <a:rPr lang="en-US" sz="2000" dirty="0"/>
              <a:t>Deadlock detection and recovery is an important aspect of operating system design and management, as it affects the stability and performance of the system. </a:t>
            </a:r>
          </a:p>
          <a:p>
            <a:pPr fontAlgn="base"/>
            <a:endParaRPr lang="en-US" sz="2000" dirty="0"/>
          </a:p>
          <a:p>
            <a:pPr fontAlgn="base"/>
            <a:r>
              <a:rPr lang="en-US" sz="2000" b="1" dirty="0"/>
              <a:t>Difference Between Prevention and Detection/Recovery: </a:t>
            </a:r>
            <a:endParaRPr lang="en-US" sz="2000" dirty="0"/>
          </a:p>
          <a:p>
            <a:pPr fontAlgn="base"/>
            <a:r>
              <a:rPr lang="en-US" sz="2000" dirty="0"/>
              <a:t>Prevention aims to avoid deadlocks altogether by carefully managing resource allocation, while detection and recovery aim to identify and resolve deadlocks that have already occurred.</a:t>
            </a:r>
          </a:p>
          <a:p>
            <a:pPr fontAlgn="base"/>
            <a:endParaRPr lang="en-US" sz="2000" dirty="0"/>
          </a:p>
        </p:txBody>
      </p:sp>
    </p:spTree>
    <p:extLst>
      <p:ext uri="{BB962C8B-B14F-4D97-AF65-F5344CB8AC3E}">
        <p14:creationId xmlns:p14="http://schemas.microsoft.com/office/powerpoint/2010/main" val="30275904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0"/>
            <a:ext cx="8229600" cy="457200"/>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NZ" sz="2800" b="1" dirty="0">
                <a:solidFill>
                  <a:schemeClr val="bg1"/>
                </a:solidFill>
                <a:effectLst>
                  <a:outerShdw blurRad="38100" dist="38100" dir="2700000" algn="tl">
                    <a:srgbClr val="000000">
                      <a:alpha val="43137"/>
                    </a:srgbClr>
                  </a:outerShdw>
                </a:effectLst>
                <a:latin typeface="Calibri" pitchFamily="34" charset="0"/>
              </a:rPr>
              <a:t>Deadlock Detection</a:t>
            </a:r>
          </a:p>
        </p:txBody>
      </p:sp>
      <p:sp>
        <p:nvSpPr>
          <p:cNvPr id="4" name="Rectangle 3"/>
          <p:cNvSpPr/>
          <p:nvPr/>
        </p:nvSpPr>
        <p:spPr>
          <a:xfrm>
            <a:off x="500034" y="857232"/>
            <a:ext cx="8143932" cy="3108543"/>
          </a:xfrm>
          <a:prstGeom prst="rect">
            <a:avLst/>
          </a:prstGeom>
        </p:spPr>
        <p:txBody>
          <a:bodyPr wrap="square">
            <a:spAutoFit/>
          </a:bodyPr>
          <a:lstStyle/>
          <a:p>
            <a:pPr fontAlgn="base"/>
            <a:r>
              <a:rPr lang="en-US" sz="2000" b="1" dirty="0"/>
              <a:t>Deadlock Detection</a:t>
            </a:r>
          </a:p>
          <a:p>
            <a:pPr fontAlgn="base"/>
            <a:r>
              <a:rPr lang="en-US" sz="2000" b="1" dirty="0"/>
              <a:t>1. If Resources Have a Single Instance</a:t>
            </a:r>
          </a:p>
          <a:p>
            <a:pPr fontAlgn="base"/>
            <a:r>
              <a:rPr lang="en-US" sz="2000" dirty="0"/>
              <a:t>In this case for Deadlock detection, we can run an algorithm to check for the cycle in the Resource Allocation Graph. The presence of a cycle in the graph is a sufficient condition for deadlock. </a:t>
            </a:r>
          </a:p>
          <a:p>
            <a:pPr fontAlgn="base"/>
            <a:endParaRPr lang="en-US" sz="2000" dirty="0"/>
          </a:p>
          <a:p>
            <a:pPr fontAlgn="base"/>
            <a:r>
              <a:rPr lang="en-US" sz="2000" dirty="0"/>
              <a:t>In the below diagram, resource 1 and resource 2 have single instances. There is a cycle R1 → P1 → R2 → P2. So, Deadlock is Confirmed. </a:t>
            </a:r>
          </a:p>
          <a:p>
            <a:pPr fontAlgn="base"/>
            <a:endParaRPr lang="en-US" dirty="0"/>
          </a:p>
          <a:p>
            <a:pPr fontAlgn="base"/>
            <a:endParaRPr lang="en-US" dirty="0"/>
          </a:p>
        </p:txBody>
      </p:sp>
      <p:sp>
        <p:nvSpPr>
          <p:cNvPr id="9218" name="AutoShape 2" descr="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9219" name="Picture 3"/>
          <p:cNvPicPr>
            <a:picLocks noChangeAspect="1" noChangeArrowheads="1"/>
          </p:cNvPicPr>
          <p:nvPr/>
        </p:nvPicPr>
        <p:blipFill>
          <a:blip r:embed="rId3"/>
          <a:srcRect/>
          <a:stretch>
            <a:fillRect/>
          </a:stretch>
        </p:blipFill>
        <p:spPr bwMode="auto">
          <a:xfrm>
            <a:off x="1643042" y="3571876"/>
            <a:ext cx="6048375" cy="3057525"/>
          </a:xfrm>
          <a:prstGeom prst="rect">
            <a:avLst/>
          </a:prstGeom>
          <a:noFill/>
          <a:ln w="9525">
            <a:noFill/>
            <a:miter lim="800000"/>
            <a:headEnd/>
            <a:tailEnd/>
          </a:ln>
          <a:effectLst/>
        </p:spPr>
      </p:pic>
    </p:spTree>
    <p:extLst>
      <p:ext uri="{BB962C8B-B14F-4D97-AF65-F5344CB8AC3E}">
        <p14:creationId xmlns:p14="http://schemas.microsoft.com/office/powerpoint/2010/main" val="30275904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0"/>
            <a:ext cx="8229600" cy="457200"/>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NZ" sz="2800" b="1" dirty="0">
                <a:solidFill>
                  <a:schemeClr val="bg1"/>
                </a:solidFill>
                <a:effectLst>
                  <a:outerShdw blurRad="38100" dist="38100" dir="2700000" algn="tl">
                    <a:srgbClr val="000000">
                      <a:alpha val="43137"/>
                    </a:srgbClr>
                  </a:outerShdw>
                </a:effectLst>
                <a:latin typeface="Calibri" pitchFamily="34" charset="0"/>
              </a:rPr>
              <a:t>Deadlock Detection</a:t>
            </a:r>
          </a:p>
        </p:txBody>
      </p:sp>
      <p:sp>
        <p:nvSpPr>
          <p:cNvPr id="4" name="Rectangle 3"/>
          <p:cNvSpPr/>
          <p:nvPr/>
        </p:nvSpPr>
        <p:spPr>
          <a:xfrm>
            <a:off x="500034" y="714356"/>
            <a:ext cx="8143932" cy="6401753"/>
          </a:xfrm>
          <a:prstGeom prst="rect">
            <a:avLst/>
          </a:prstGeom>
        </p:spPr>
        <p:txBody>
          <a:bodyPr wrap="square">
            <a:spAutoFit/>
          </a:bodyPr>
          <a:lstStyle/>
          <a:p>
            <a:pPr fontAlgn="base"/>
            <a:r>
              <a:rPr lang="en-US" sz="2000" b="1" dirty="0"/>
              <a:t>Wait-For Graph Algorithm:</a:t>
            </a:r>
          </a:p>
          <a:p>
            <a:pPr fontAlgn="base"/>
            <a:endParaRPr lang="en-US" b="1" dirty="0"/>
          </a:p>
          <a:p>
            <a:pPr fontAlgn="base"/>
            <a:r>
              <a:rPr lang="en-US" sz="2000" dirty="0"/>
              <a:t>The Wait-For Graph Algorithm is a deadlock detection algorithm used to detect deadlocks in a system where resources can have multiple instances. The algorithm works by constructing a Wait-For Graph, which is a directed graph that represents the dependencies between processes and resources.</a:t>
            </a:r>
          </a:p>
          <a:p>
            <a:pPr fontAlgn="base"/>
            <a:endParaRPr lang="en-US" sz="2000" dirty="0"/>
          </a:p>
          <a:p>
            <a:pPr fontAlgn="base"/>
            <a:r>
              <a:rPr lang="en-US" sz="2000" dirty="0"/>
              <a:t>Deadlocks are a fundamental problem in distributed systems. A process may request resources in any order and a process can request resources while holding others. A Deadlock is a situation where a set of processes are blocked as each process in a Distributed system is holding some resources and that acquired resources are needed by some other processes.</a:t>
            </a:r>
          </a:p>
          <a:p>
            <a:pPr fontAlgn="base"/>
            <a:r>
              <a:rPr lang="en-US" sz="2000" b="1" dirty="0"/>
              <a:t>Example:</a:t>
            </a:r>
            <a:endParaRPr lang="en-US" sz="2000" dirty="0"/>
          </a:p>
          <a:p>
            <a:pPr fontAlgn="base"/>
            <a:r>
              <a:rPr lang="en-US" sz="2000" dirty="0"/>
              <a:t>If there are three processes p1,p2 and p1 are acquiring r1 resource and that r1 is needed by p2 which is acquiring another resource r2 and that is needed by p1. Here cycle occurs. It is called a deadlock. </a:t>
            </a:r>
          </a:p>
          <a:p>
            <a:pPr fontAlgn="base"/>
            <a:r>
              <a:rPr lang="en-US" sz="2000" dirty="0"/>
              <a:t>  </a:t>
            </a:r>
          </a:p>
          <a:p>
            <a:pPr fontAlgn="base"/>
            <a:endParaRPr lang="en-US" b="1" dirty="0"/>
          </a:p>
          <a:p>
            <a:pPr fontAlgn="base"/>
            <a:endParaRPr lang="en-US" b="1" dirty="0"/>
          </a:p>
          <a:p>
            <a:pPr fontAlgn="base"/>
            <a:endParaRPr lang="en-US" dirty="0"/>
          </a:p>
          <a:p>
            <a:pPr fontAlgn="base"/>
            <a:endParaRPr lang="en-US" dirty="0"/>
          </a:p>
        </p:txBody>
      </p:sp>
      <p:sp>
        <p:nvSpPr>
          <p:cNvPr id="9218" name="AutoShape 2" descr="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275904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0"/>
            <a:ext cx="8229600" cy="457200"/>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NZ" sz="2800" b="1" dirty="0">
                <a:solidFill>
                  <a:schemeClr val="bg1"/>
                </a:solidFill>
                <a:effectLst>
                  <a:outerShdw blurRad="38100" dist="38100" dir="2700000" algn="tl">
                    <a:srgbClr val="000000">
                      <a:alpha val="43137"/>
                    </a:srgbClr>
                  </a:outerShdw>
                </a:effectLst>
                <a:latin typeface="Calibri" pitchFamily="34" charset="0"/>
              </a:rPr>
              <a:t>Deadlock Detection</a:t>
            </a:r>
          </a:p>
        </p:txBody>
      </p:sp>
      <p:sp>
        <p:nvSpPr>
          <p:cNvPr id="4" name="Rectangle 3"/>
          <p:cNvSpPr/>
          <p:nvPr/>
        </p:nvSpPr>
        <p:spPr>
          <a:xfrm>
            <a:off x="500034" y="714356"/>
            <a:ext cx="8143932" cy="2400657"/>
          </a:xfrm>
          <a:prstGeom prst="rect">
            <a:avLst/>
          </a:prstGeom>
        </p:spPr>
        <p:txBody>
          <a:bodyPr wrap="square">
            <a:spAutoFit/>
          </a:bodyPr>
          <a:lstStyle/>
          <a:p>
            <a:pPr fontAlgn="base"/>
            <a:r>
              <a:rPr lang="en-US" sz="2000" b="1" dirty="0"/>
              <a:t>Wait-For Graph:</a:t>
            </a:r>
          </a:p>
          <a:p>
            <a:pPr fontAlgn="base"/>
            <a:endParaRPr lang="en-US" b="1" dirty="0"/>
          </a:p>
          <a:p>
            <a:pPr fontAlgn="base"/>
            <a:r>
              <a:rPr lang="en-US" sz="2000" dirty="0"/>
              <a:t>. </a:t>
            </a:r>
          </a:p>
          <a:p>
            <a:pPr fontAlgn="base"/>
            <a:r>
              <a:rPr lang="en-US" sz="2000" dirty="0"/>
              <a:t>  </a:t>
            </a:r>
          </a:p>
          <a:p>
            <a:pPr fontAlgn="base"/>
            <a:endParaRPr lang="en-US" b="1" dirty="0"/>
          </a:p>
          <a:p>
            <a:pPr fontAlgn="base"/>
            <a:endParaRPr lang="en-US" b="1" dirty="0"/>
          </a:p>
          <a:p>
            <a:pPr fontAlgn="base"/>
            <a:endParaRPr lang="en-US" dirty="0"/>
          </a:p>
          <a:p>
            <a:pPr fontAlgn="base"/>
            <a:endParaRPr lang="en-US" dirty="0"/>
          </a:p>
        </p:txBody>
      </p:sp>
      <p:sp>
        <p:nvSpPr>
          <p:cNvPr id="9218" name="AutoShape 2" descr="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 name="Rectangle 6"/>
          <p:cNvSpPr/>
          <p:nvPr/>
        </p:nvSpPr>
        <p:spPr>
          <a:xfrm>
            <a:off x="500034" y="1285860"/>
            <a:ext cx="7715304" cy="4647426"/>
          </a:xfrm>
          <a:prstGeom prst="rect">
            <a:avLst/>
          </a:prstGeom>
        </p:spPr>
        <p:txBody>
          <a:bodyPr wrap="square">
            <a:spAutoFit/>
          </a:bodyPr>
          <a:lstStyle/>
          <a:p>
            <a:pPr fontAlgn="base"/>
            <a:r>
              <a:rPr lang="en-US" b="1" dirty="0"/>
              <a:t>Algorithm:</a:t>
            </a:r>
          </a:p>
          <a:p>
            <a:pPr fontAlgn="base"/>
            <a:endParaRPr lang="en-US" b="1" dirty="0"/>
          </a:p>
          <a:p>
            <a:pPr algn="just" fontAlgn="base"/>
            <a:r>
              <a:rPr lang="en-US" sz="2000" b="1" dirty="0"/>
              <a:t>Step 1:</a:t>
            </a:r>
            <a:r>
              <a:rPr lang="en-US" sz="2000" dirty="0"/>
              <a:t> Take the first process (Pi) from the resource allocation graph and check the path in which it is acquiring resource (R</a:t>
            </a:r>
            <a:r>
              <a:rPr lang="en-US" sz="2000" baseline="-25000" dirty="0"/>
              <a:t>i</a:t>
            </a:r>
            <a:r>
              <a:rPr lang="en-US" sz="2000" dirty="0"/>
              <a:t>), and start a wait-for-graph with that particular process.</a:t>
            </a:r>
          </a:p>
          <a:p>
            <a:pPr algn="just" fontAlgn="base"/>
            <a:endParaRPr lang="en-US" sz="2000" dirty="0"/>
          </a:p>
          <a:p>
            <a:pPr algn="just" fontAlgn="base"/>
            <a:r>
              <a:rPr lang="en-US" sz="2000" b="1" dirty="0"/>
              <a:t>Step 2:</a:t>
            </a:r>
            <a:r>
              <a:rPr lang="en-US" sz="2000" dirty="0"/>
              <a:t> Make a path for the Wait-for-Graph in which there will be no Resource included from the current process (P</a:t>
            </a:r>
            <a:r>
              <a:rPr lang="en-US" sz="2000" baseline="-25000" dirty="0"/>
              <a:t>i</a:t>
            </a:r>
            <a:r>
              <a:rPr lang="en-US" sz="2000" dirty="0"/>
              <a:t>) to next process (</a:t>
            </a:r>
            <a:r>
              <a:rPr lang="en-US" sz="2000" dirty="0" err="1"/>
              <a:t>P</a:t>
            </a:r>
            <a:r>
              <a:rPr lang="en-US" sz="2000" baseline="-25000" dirty="0" err="1"/>
              <a:t>j</a:t>
            </a:r>
            <a:r>
              <a:rPr lang="en-US" sz="2000" dirty="0"/>
              <a:t>), from that next process (</a:t>
            </a:r>
            <a:r>
              <a:rPr lang="en-US" sz="2000" dirty="0" err="1"/>
              <a:t>P</a:t>
            </a:r>
            <a:r>
              <a:rPr lang="en-US" sz="2000" baseline="-25000" dirty="0" err="1"/>
              <a:t>j</a:t>
            </a:r>
            <a:r>
              <a:rPr lang="en-US" sz="2000" dirty="0"/>
              <a:t>) find a resource (R</a:t>
            </a:r>
            <a:r>
              <a:rPr lang="en-US" sz="2000" baseline="-25000" dirty="0"/>
              <a:t>j</a:t>
            </a:r>
            <a:r>
              <a:rPr lang="en-US" sz="2000" dirty="0"/>
              <a:t>) that will be acquired by next Process (</a:t>
            </a:r>
            <a:r>
              <a:rPr lang="en-US" sz="2000" dirty="0" err="1"/>
              <a:t>P</a:t>
            </a:r>
            <a:r>
              <a:rPr lang="en-US" sz="2000" baseline="-25000" dirty="0" err="1"/>
              <a:t>k</a:t>
            </a:r>
            <a:r>
              <a:rPr lang="en-US" sz="2000" dirty="0"/>
              <a:t>) which is released from Process (</a:t>
            </a:r>
            <a:r>
              <a:rPr lang="en-US" sz="2000" dirty="0" err="1"/>
              <a:t>P</a:t>
            </a:r>
            <a:r>
              <a:rPr lang="en-US" sz="2000" baseline="-25000" dirty="0" err="1"/>
              <a:t>j</a:t>
            </a:r>
            <a:r>
              <a:rPr lang="en-US" sz="2000" dirty="0"/>
              <a:t>).</a:t>
            </a:r>
          </a:p>
          <a:p>
            <a:pPr algn="just" fontAlgn="base"/>
            <a:endParaRPr lang="en-US" sz="2000" dirty="0"/>
          </a:p>
          <a:p>
            <a:pPr algn="just" fontAlgn="base"/>
            <a:r>
              <a:rPr lang="en-US" sz="2000" b="1" dirty="0"/>
              <a:t>Step 3:</a:t>
            </a:r>
            <a:r>
              <a:rPr lang="en-US" sz="2000" dirty="0"/>
              <a:t> Repeat Step 2 for all the processes.</a:t>
            </a:r>
          </a:p>
          <a:p>
            <a:pPr algn="just" fontAlgn="base"/>
            <a:endParaRPr lang="en-US" sz="2000" dirty="0"/>
          </a:p>
          <a:p>
            <a:pPr algn="just" fontAlgn="base"/>
            <a:r>
              <a:rPr lang="en-US" sz="2000" b="1" dirty="0"/>
              <a:t>Step 4:</a:t>
            </a:r>
            <a:r>
              <a:rPr lang="en-US" sz="2000" dirty="0"/>
              <a:t> After completion of all processes, if we find a closed-loop cycle then the system is in a deadlock state, and deadlock is detected.</a:t>
            </a:r>
          </a:p>
        </p:txBody>
      </p:sp>
    </p:spTree>
    <p:extLst>
      <p:ext uri="{BB962C8B-B14F-4D97-AF65-F5344CB8AC3E}">
        <p14:creationId xmlns:p14="http://schemas.microsoft.com/office/powerpoint/2010/main" val="30275904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0"/>
            <a:ext cx="8229600" cy="457200"/>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NZ" sz="2800" b="1" dirty="0">
                <a:solidFill>
                  <a:schemeClr val="bg1"/>
                </a:solidFill>
                <a:effectLst>
                  <a:outerShdw blurRad="38100" dist="38100" dir="2700000" algn="tl">
                    <a:srgbClr val="000000">
                      <a:alpha val="43137"/>
                    </a:srgbClr>
                  </a:outerShdw>
                </a:effectLst>
                <a:latin typeface="Calibri" pitchFamily="34" charset="0"/>
              </a:rPr>
              <a:t>Deadlock Detection</a:t>
            </a:r>
          </a:p>
        </p:txBody>
      </p:sp>
      <p:sp>
        <p:nvSpPr>
          <p:cNvPr id="4" name="Rectangle 3"/>
          <p:cNvSpPr/>
          <p:nvPr/>
        </p:nvSpPr>
        <p:spPr>
          <a:xfrm>
            <a:off x="500034" y="714356"/>
            <a:ext cx="8143932" cy="2400657"/>
          </a:xfrm>
          <a:prstGeom prst="rect">
            <a:avLst/>
          </a:prstGeom>
        </p:spPr>
        <p:txBody>
          <a:bodyPr wrap="square">
            <a:spAutoFit/>
          </a:bodyPr>
          <a:lstStyle/>
          <a:p>
            <a:pPr fontAlgn="base"/>
            <a:r>
              <a:rPr lang="en-US" sz="2000" b="1" dirty="0"/>
              <a:t>Wait-For Graph Example:</a:t>
            </a:r>
          </a:p>
          <a:p>
            <a:pPr fontAlgn="base"/>
            <a:endParaRPr lang="en-US" b="1" dirty="0"/>
          </a:p>
          <a:p>
            <a:pPr fontAlgn="base"/>
            <a:r>
              <a:rPr lang="en-US" sz="2000" dirty="0"/>
              <a:t>. </a:t>
            </a:r>
          </a:p>
          <a:p>
            <a:pPr fontAlgn="base"/>
            <a:r>
              <a:rPr lang="en-US" sz="2000" dirty="0"/>
              <a:t>  </a:t>
            </a:r>
          </a:p>
          <a:p>
            <a:pPr fontAlgn="base"/>
            <a:endParaRPr lang="en-US" b="1" dirty="0"/>
          </a:p>
          <a:p>
            <a:pPr fontAlgn="base"/>
            <a:endParaRPr lang="en-US" b="1" dirty="0"/>
          </a:p>
          <a:p>
            <a:pPr fontAlgn="base"/>
            <a:endParaRPr lang="en-US" dirty="0"/>
          </a:p>
          <a:p>
            <a:pPr fontAlgn="base"/>
            <a:endParaRPr lang="en-US" dirty="0"/>
          </a:p>
        </p:txBody>
      </p:sp>
      <p:sp>
        <p:nvSpPr>
          <p:cNvPr id="9218" name="AutoShape 2" descr="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 name="Rectangle 6"/>
          <p:cNvSpPr/>
          <p:nvPr/>
        </p:nvSpPr>
        <p:spPr>
          <a:xfrm>
            <a:off x="500034" y="1142984"/>
            <a:ext cx="8072494" cy="3477875"/>
          </a:xfrm>
          <a:prstGeom prst="rect">
            <a:avLst/>
          </a:prstGeom>
        </p:spPr>
        <p:txBody>
          <a:bodyPr wrap="square">
            <a:spAutoFit/>
          </a:bodyPr>
          <a:lstStyle/>
          <a:p>
            <a:pPr fontAlgn="base"/>
            <a:r>
              <a:rPr lang="en-US" sz="2000" dirty="0"/>
              <a:t>Consider a Resource Allocation Graph with 4 Processes P1, P2, P3, P4, and 4 Resources R1, R2, R3, R4. Find if there is a deadlock in the Graph using the Wait for Graph-based deadlock detection algorithm.</a:t>
            </a:r>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p:txBody>
      </p:sp>
      <p:pic>
        <p:nvPicPr>
          <p:cNvPr id="1026" name="Picture 2"/>
          <p:cNvPicPr>
            <a:picLocks noChangeAspect="1" noChangeArrowheads="1"/>
          </p:cNvPicPr>
          <p:nvPr/>
        </p:nvPicPr>
        <p:blipFill>
          <a:blip r:embed="rId3"/>
          <a:srcRect/>
          <a:stretch>
            <a:fillRect/>
          </a:stretch>
        </p:blipFill>
        <p:spPr bwMode="auto">
          <a:xfrm>
            <a:off x="1962094" y="2643182"/>
            <a:ext cx="4824484" cy="3392004"/>
          </a:xfrm>
          <a:prstGeom prst="rect">
            <a:avLst/>
          </a:prstGeom>
          <a:noFill/>
          <a:ln w="9525">
            <a:noFill/>
            <a:miter lim="800000"/>
            <a:headEnd/>
            <a:tailEnd/>
          </a:ln>
          <a:effectLst/>
        </p:spPr>
      </p:pic>
    </p:spTree>
    <p:extLst>
      <p:ext uri="{BB962C8B-B14F-4D97-AF65-F5344CB8AC3E}">
        <p14:creationId xmlns:p14="http://schemas.microsoft.com/office/powerpoint/2010/main" val="30275904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0"/>
            <a:ext cx="8229600" cy="457200"/>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NZ" sz="2800" b="1" dirty="0">
                <a:solidFill>
                  <a:schemeClr val="bg1"/>
                </a:solidFill>
                <a:effectLst>
                  <a:outerShdw blurRad="38100" dist="38100" dir="2700000" algn="tl">
                    <a:srgbClr val="000000">
                      <a:alpha val="43137"/>
                    </a:srgbClr>
                  </a:outerShdw>
                </a:effectLst>
                <a:latin typeface="Calibri" pitchFamily="34" charset="0"/>
              </a:rPr>
              <a:t>Deadlock Detection</a:t>
            </a:r>
          </a:p>
        </p:txBody>
      </p:sp>
      <p:sp>
        <p:nvSpPr>
          <p:cNvPr id="4" name="Rectangle 3"/>
          <p:cNvSpPr/>
          <p:nvPr/>
        </p:nvSpPr>
        <p:spPr>
          <a:xfrm>
            <a:off x="500034" y="714356"/>
            <a:ext cx="8143932" cy="2400657"/>
          </a:xfrm>
          <a:prstGeom prst="rect">
            <a:avLst/>
          </a:prstGeom>
        </p:spPr>
        <p:txBody>
          <a:bodyPr wrap="square">
            <a:spAutoFit/>
          </a:bodyPr>
          <a:lstStyle/>
          <a:p>
            <a:pPr fontAlgn="base"/>
            <a:r>
              <a:rPr lang="en-US" sz="2000" b="1" dirty="0"/>
              <a:t>Wait-For Graph Example:</a:t>
            </a:r>
          </a:p>
          <a:p>
            <a:pPr fontAlgn="base"/>
            <a:endParaRPr lang="en-US" b="1" dirty="0"/>
          </a:p>
          <a:p>
            <a:pPr fontAlgn="base"/>
            <a:r>
              <a:rPr lang="en-US" sz="2000" dirty="0"/>
              <a:t>. </a:t>
            </a:r>
          </a:p>
          <a:p>
            <a:pPr fontAlgn="base"/>
            <a:r>
              <a:rPr lang="en-US" sz="2000" dirty="0"/>
              <a:t>  </a:t>
            </a:r>
          </a:p>
          <a:p>
            <a:pPr fontAlgn="base"/>
            <a:endParaRPr lang="en-US" b="1" dirty="0"/>
          </a:p>
          <a:p>
            <a:pPr fontAlgn="base"/>
            <a:endParaRPr lang="en-US" b="1" dirty="0"/>
          </a:p>
          <a:p>
            <a:pPr fontAlgn="base"/>
            <a:endParaRPr lang="en-US" dirty="0"/>
          </a:p>
          <a:p>
            <a:pPr fontAlgn="base"/>
            <a:endParaRPr lang="en-US" dirty="0"/>
          </a:p>
        </p:txBody>
      </p:sp>
      <p:sp>
        <p:nvSpPr>
          <p:cNvPr id="9218" name="AutoShape 2" descr="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 name="Rectangle 6"/>
          <p:cNvSpPr/>
          <p:nvPr/>
        </p:nvSpPr>
        <p:spPr>
          <a:xfrm>
            <a:off x="500034" y="1142984"/>
            <a:ext cx="8072494" cy="4401205"/>
          </a:xfrm>
          <a:prstGeom prst="rect">
            <a:avLst/>
          </a:prstGeom>
        </p:spPr>
        <p:txBody>
          <a:bodyPr wrap="square">
            <a:spAutoFit/>
          </a:bodyPr>
          <a:lstStyle/>
          <a:p>
            <a:pPr algn="just" fontAlgn="base"/>
            <a:r>
              <a:rPr lang="en-US" sz="2000" b="1" dirty="0"/>
              <a:t>Step 1:</a:t>
            </a:r>
            <a:r>
              <a:rPr lang="en-US" sz="2000" dirty="0"/>
              <a:t> First take Process P1 which is waiting for Resource R1, resource R1 is acquired by Process P2, Start a Wait-for-Graph for the above Resource Allocation Graph. </a:t>
            </a:r>
          </a:p>
          <a:p>
            <a:pPr algn="just" fontAlgn="base"/>
            <a:endParaRPr lang="en-US" sz="2000" dirty="0"/>
          </a:p>
          <a:p>
            <a:pPr algn="just" fontAlgn="base"/>
            <a:endParaRPr lang="en-US" sz="2000" dirty="0"/>
          </a:p>
          <a:p>
            <a:pPr algn="just" fontAlgn="base"/>
            <a:endParaRPr lang="en-US" sz="2000" dirty="0"/>
          </a:p>
          <a:p>
            <a:pPr algn="just"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p:txBody>
      </p:sp>
      <p:pic>
        <p:nvPicPr>
          <p:cNvPr id="2050" name="Picture 2"/>
          <p:cNvPicPr>
            <a:picLocks noChangeAspect="1" noChangeArrowheads="1"/>
          </p:cNvPicPr>
          <p:nvPr/>
        </p:nvPicPr>
        <p:blipFill>
          <a:blip r:embed="rId3"/>
          <a:srcRect/>
          <a:stretch>
            <a:fillRect/>
          </a:stretch>
        </p:blipFill>
        <p:spPr bwMode="auto">
          <a:xfrm>
            <a:off x="3643306" y="2428868"/>
            <a:ext cx="1357322" cy="928694"/>
          </a:xfrm>
          <a:prstGeom prst="rect">
            <a:avLst/>
          </a:prstGeom>
          <a:noFill/>
          <a:ln w="9525">
            <a:noFill/>
            <a:miter lim="800000"/>
            <a:headEnd/>
            <a:tailEnd/>
          </a:ln>
          <a:effectLst/>
        </p:spPr>
      </p:pic>
      <p:sp>
        <p:nvSpPr>
          <p:cNvPr id="8" name="Rectangle 7"/>
          <p:cNvSpPr/>
          <p:nvPr/>
        </p:nvSpPr>
        <p:spPr>
          <a:xfrm>
            <a:off x="500034" y="3786190"/>
            <a:ext cx="8286808" cy="1015663"/>
          </a:xfrm>
          <a:prstGeom prst="rect">
            <a:avLst/>
          </a:prstGeom>
        </p:spPr>
        <p:txBody>
          <a:bodyPr wrap="square">
            <a:spAutoFit/>
          </a:bodyPr>
          <a:lstStyle/>
          <a:p>
            <a:r>
              <a:rPr lang="en-US" sz="2000" b="1" dirty="0"/>
              <a:t>Step 2:</a:t>
            </a:r>
            <a:r>
              <a:rPr lang="en-US" sz="2000" dirty="0"/>
              <a:t> Now we can observe that there is a path from P1 to P2 as P1 is waiting for R1 which is been acquired by P2. Now the Graph would be after removing resource R1 looks like.</a:t>
            </a:r>
          </a:p>
        </p:txBody>
      </p:sp>
      <p:pic>
        <p:nvPicPr>
          <p:cNvPr id="2051" name="Picture 3"/>
          <p:cNvPicPr>
            <a:picLocks noChangeAspect="1" noChangeArrowheads="1"/>
          </p:cNvPicPr>
          <p:nvPr/>
        </p:nvPicPr>
        <p:blipFill>
          <a:blip r:embed="rId4"/>
          <a:srcRect/>
          <a:stretch>
            <a:fillRect/>
          </a:stretch>
        </p:blipFill>
        <p:spPr bwMode="auto">
          <a:xfrm>
            <a:off x="3214678" y="4929198"/>
            <a:ext cx="2500330" cy="1476376"/>
          </a:xfrm>
          <a:prstGeom prst="rect">
            <a:avLst/>
          </a:prstGeom>
          <a:noFill/>
          <a:ln w="9525">
            <a:noFill/>
            <a:miter lim="800000"/>
            <a:headEnd/>
            <a:tailEnd/>
          </a:ln>
          <a:effectLst/>
        </p:spPr>
      </p:pic>
    </p:spTree>
    <p:extLst>
      <p:ext uri="{BB962C8B-B14F-4D97-AF65-F5344CB8AC3E}">
        <p14:creationId xmlns:p14="http://schemas.microsoft.com/office/powerpoint/2010/main" val="30275904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0"/>
            <a:ext cx="8229600" cy="457200"/>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NZ" sz="2800" b="1" dirty="0">
                <a:solidFill>
                  <a:schemeClr val="bg1"/>
                </a:solidFill>
                <a:effectLst>
                  <a:outerShdw blurRad="38100" dist="38100" dir="2700000" algn="tl">
                    <a:srgbClr val="000000">
                      <a:alpha val="43137"/>
                    </a:srgbClr>
                  </a:outerShdw>
                </a:effectLst>
                <a:latin typeface="Calibri" pitchFamily="34" charset="0"/>
              </a:rPr>
              <a:t>Deadlock Detection</a:t>
            </a:r>
          </a:p>
        </p:txBody>
      </p:sp>
      <p:sp>
        <p:nvSpPr>
          <p:cNvPr id="4" name="Rectangle 3"/>
          <p:cNvSpPr/>
          <p:nvPr/>
        </p:nvSpPr>
        <p:spPr>
          <a:xfrm>
            <a:off x="500034" y="714356"/>
            <a:ext cx="8143932" cy="2400657"/>
          </a:xfrm>
          <a:prstGeom prst="rect">
            <a:avLst/>
          </a:prstGeom>
        </p:spPr>
        <p:txBody>
          <a:bodyPr wrap="square">
            <a:spAutoFit/>
          </a:bodyPr>
          <a:lstStyle/>
          <a:p>
            <a:pPr fontAlgn="base"/>
            <a:r>
              <a:rPr lang="en-US" sz="2000" b="1" dirty="0"/>
              <a:t>Wait-For Graph Example:</a:t>
            </a:r>
          </a:p>
          <a:p>
            <a:pPr fontAlgn="base"/>
            <a:endParaRPr lang="en-US" b="1" dirty="0"/>
          </a:p>
          <a:p>
            <a:pPr fontAlgn="base"/>
            <a:r>
              <a:rPr lang="en-US" sz="2000" dirty="0"/>
              <a:t>. </a:t>
            </a:r>
          </a:p>
          <a:p>
            <a:pPr fontAlgn="base"/>
            <a:r>
              <a:rPr lang="en-US" sz="2000" dirty="0"/>
              <a:t>  </a:t>
            </a:r>
          </a:p>
          <a:p>
            <a:pPr fontAlgn="base"/>
            <a:endParaRPr lang="en-US" b="1" dirty="0"/>
          </a:p>
          <a:p>
            <a:pPr fontAlgn="base"/>
            <a:endParaRPr lang="en-US" b="1" dirty="0"/>
          </a:p>
          <a:p>
            <a:pPr fontAlgn="base"/>
            <a:endParaRPr lang="en-US" dirty="0"/>
          </a:p>
          <a:p>
            <a:pPr fontAlgn="base"/>
            <a:endParaRPr lang="en-US" dirty="0"/>
          </a:p>
        </p:txBody>
      </p:sp>
      <p:sp>
        <p:nvSpPr>
          <p:cNvPr id="9218" name="AutoShape 2" descr="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 name="Rectangle 6"/>
          <p:cNvSpPr/>
          <p:nvPr/>
        </p:nvSpPr>
        <p:spPr>
          <a:xfrm>
            <a:off x="500034" y="1142984"/>
            <a:ext cx="8072494" cy="5016758"/>
          </a:xfrm>
          <a:prstGeom prst="rect">
            <a:avLst/>
          </a:prstGeom>
        </p:spPr>
        <p:txBody>
          <a:bodyPr wrap="square">
            <a:spAutoFit/>
          </a:bodyPr>
          <a:lstStyle/>
          <a:p>
            <a:pPr algn="just" fontAlgn="base"/>
            <a:r>
              <a:rPr lang="en-US" sz="2000" b="1" dirty="0"/>
              <a:t>Step 3:</a:t>
            </a:r>
            <a:r>
              <a:rPr lang="en-US" sz="2000" dirty="0"/>
              <a:t> From P2 we can observe a path from P2 to P3 as P2 is waiting for R4 which is acquired by P3. So make a path from P2 to P3 after removing resource R4 looks like. </a:t>
            </a:r>
          </a:p>
          <a:p>
            <a:pPr algn="just" fontAlgn="base"/>
            <a:endParaRPr lang="en-US" sz="2000" dirty="0"/>
          </a:p>
          <a:p>
            <a:pPr algn="just" fontAlgn="base"/>
            <a:endParaRPr lang="en-US" sz="2000" dirty="0"/>
          </a:p>
          <a:p>
            <a:pPr algn="just" fontAlgn="base"/>
            <a:endParaRPr lang="en-US" sz="2000" dirty="0"/>
          </a:p>
          <a:p>
            <a:pPr algn="just" fontAlgn="base"/>
            <a:endParaRPr lang="en-US" sz="2000" dirty="0"/>
          </a:p>
          <a:p>
            <a:pPr algn="just" fontAlgn="base"/>
            <a:endParaRPr lang="en-US" sz="2000" dirty="0"/>
          </a:p>
          <a:p>
            <a:pPr algn="just"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p:txBody>
      </p:sp>
      <p:pic>
        <p:nvPicPr>
          <p:cNvPr id="3074" name="Picture 2"/>
          <p:cNvPicPr>
            <a:picLocks noChangeAspect="1" noChangeArrowheads="1"/>
          </p:cNvPicPr>
          <p:nvPr/>
        </p:nvPicPr>
        <p:blipFill>
          <a:blip r:embed="rId3"/>
          <a:srcRect/>
          <a:stretch>
            <a:fillRect/>
          </a:stretch>
        </p:blipFill>
        <p:spPr bwMode="auto">
          <a:xfrm>
            <a:off x="3000364" y="2214554"/>
            <a:ext cx="3071834" cy="1571636"/>
          </a:xfrm>
          <a:prstGeom prst="rect">
            <a:avLst/>
          </a:prstGeom>
          <a:noFill/>
          <a:ln w="9525">
            <a:noFill/>
            <a:miter lim="800000"/>
            <a:headEnd/>
            <a:tailEnd/>
          </a:ln>
          <a:effectLst/>
        </p:spPr>
      </p:pic>
      <p:sp>
        <p:nvSpPr>
          <p:cNvPr id="10" name="Rectangle 9"/>
          <p:cNvSpPr/>
          <p:nvPr/>
        </p:nvSpPr>
        <p:spPr>
          <a:xfrm>
            <a:off x="642910" y="4000504"/>
            <a:ext cx="8143932" cy="1323439"/>
          </a:xfrm>
          <a:prstGeom prst="rect">
            <a:avLst/>
          </a:prstGeom>
        </p:spPr>
        <p:txBody>
          <a:bodyPr wrap="square">
            <a:spAutoFit/>
          </a:bodyPr>
          <a:lstStyle/>
          <a:p>
            <a:r>
              <a:rPr lang="en-US" sz="2000" b="1" dirty="0"/>
              <a:t>Step 4:</a:t>
            </a:r>
            <a:r>
              <a:rPr lang="en-US" sz="2000" dirty="0"/>
              <a:t> From P3 we find a path to P4 as it is waiting for P3 which is acquired by P4. After removing R3 the graph looks like this.</a:t>
            </a:r>
          </a:p>
          <a:p>
            <a:endParaRPr lang="en-US" sz="2000" dirty="0"/>
          </a:p>
          <a:p>
            <a:endParaRPr lang="en-US" sz="2000" dirty="0"/>
          </a:p>
        </p:txBody>
      </p:sp>
      <p:pic>
        <p:nvPicPr>
          <p:cNvPr id="3075" name="Picture 3"/>
          <p:cNvPicPr>
            <a:picLocks noChangeAspect="1" noChangeArrowheads="1"/>
          </p:cNvPicPr>
          <p:nvPr/>
        </p:nvPicPr>
        <p:blipFill>
          <a:blip r:embed="rId4"/>
          <a:srcRect/>
          <a:stretch>
            <a:fillRect/>
          </a:stretch>
        </p:blipFill>
        <p:spPr bwMode="auto">
          <a:xfrm>
            <a:off x="3286116" y="4857760"/>
            <a:ext cx="2571768" cy="1714512"/>
          </a:xfrm>
          <a:prstGeom prst="rect">
            <a:avLst/>
          </a:prstGeom>
          <a:noFill/>
          <a:ln w="9525">
            <a:noFill/>
            <a:miter lim="800000"/>
            <a:headEnd/>
            <a:tailEnd/>
          </a:ln>
          <a:effectLst/>
        </p:spPr>
      </p:pic>
    </p:spTree>
    <p:extLst>
      <p:ext uri="{BB962C8B-B14F-4D97-AF65-F5344CB8AC3E}">
        <p14:creationId xmlns:p14="http://schemas.microsoft.com/office/powerpoint/2010/main" val="30275904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0"/>
            <a:ext cx="8229600" cy="457200"/>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NZ" sz="2800" b="1" dirty="0">
                <a:solidFill>
                  <a:schemeClr val="bg1"/>
                </a:solidFill>
                <a:effectLst>
                  <a:outerShdw blurRad="38100" dist="38100" dir="2700000" algn="tl">
                    <a:srgbClr val="000000">
                      <a:alpha val="43137"/>
                    </a:srgbClr>
                  </a:outerShdw>
                </a:effectLst>
                <a:latin typeface="Calibri" pitchFamily="34" charset="0"/>
              </a:rPr>
              <a:t>Deadlock Detection</a:t>
            </a:r>
          </a:p>
        </p:txBody>
      </p:sp>
      <p:sp>
        <p:nvSpPr>
          <p:cNvPr id="4" name="Rectangle 3"/>
          <p:cNvSpPr/>
          <p:nvPr/>
        </p:nvSpPr>
        <p:spPr>
          <a:xfrm>
            <a:off x="500034" y="714356"/>
            <a:ext cx="8143932" cy="2400657"/>
          </a:xfrm>
          <a:prstGeom prst="rect">
            <a:avLst/>
          </a:prstGeom>
        </p:spPr>
        <p:txBody>
          <a:bodyPr wrap="square">
            <a:spAutoFit/>
          </a:bodyPr>
          <a:lstStyle/>
          <a:p>
            <a:pPr fontAlgn="base"/>
            <a:r>
              <a:rPr lang="en-US" sz="2000" b="1" dirty="0"/>
              <a:t>Wait-For Graph Example:</a:t>
            </a:r>
          </a:p>
          <a:p>
            <a:pPr fontAlgn="base"/>
            <a:endParaRPr lang="en-US" b="1" dirty="0"/>
          </a:p>
          <a:p>
            <a:pPr fontAlgn="base"/>
            <a:r>
              <a:rPr lang="en-US" sz="2000" dirty="0"/>
              <a:t>. </a:t>
            </a:r>
          </a:p>
          <a:p>
            <a:pPr fontAlgn="base"/>
            <a:r>
              <a:rPr lang="en-US" sz="2000" dirty="0"/>
              <a:t>  </a:t>
            </a:r>
          </a:p>
          <a:p>
            <a:pPr fontAlgn="base"/>
            <a:endParaRPr lang="en-US" b="1" dirty="0"/>
          </a:p>
          <a:p>
            <a:pPr fontAlgn="base"/>
            <a:endParaRPr lang="en-US" b="1" dirty="0"/>
          </a:p>
          <a:p>
            <a:pPr fontAlgn="base"/>
            <a:endParaRPr lang="en-US" dirty="0"/>
          </a:p>
          <a:p>
            <a:pPr fontAlgn="base"/>
            <a:endParaRPr lang="en-US" dirty="0"/>
          </a:p>
        </p:txBody>
      </p:sp>
      <p:sp>
        <p:nvSpPr>
          <p:cNvPr id="9218" name="AutoShape 2" descr="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 name="Rectangle 6"/>
          <p:cNvSpPr/>
          <p:nvPr/>
        </p:nvSpPr>
        <p:spPr>
          <a:xfrm>
            <a:off x="500034" y="1142984"/>
            <a:ext cx="8072494" cy="5324535"/>
          </a:xfrm>
          <a:prstGeom prst="rect">
            <a:avLst/>
          </a:prstGeom>
        </p:spPr>
        <p:txBody>
          <a:bodyPr wrap="square">
            <a:spAutoFit/>
          </a:bodyPr>
          <a:lstStyle/>
          <a:p>
            <a:pPr algn="just" fontAlgn="base"/>
            <a:r>
              <a:rPr lang="en-US" sz="2000" b="1" dirty="0"/>
              <a:t>Step 5:</a:t>
            </a:r>
            <a:r>
              <a:rPr lang="en-US" sz="2000" dirty="0"/>
              <a:t> Here we can find Process P4 is waiting for R2 which is acquired by P1. So finally the Wait-for-Graph is as follows:</a:t>
            </a:r>
          </a:p>
          <a:p>
            <a:pPr algn="just" fontAlgn="base"/>
            <a:endParaRPr lang="en-US" sz="2000" dirty="0"/>
          </a:p>
          <a:p>
            <a:pPr algn="just" fontAlgn="base"/>
            <a:endParaRPr lang="en-US" sz="2000" dirty="0"/>
          </a:p>
          <a:p>
            <a:pPr algn="just" fontAlgn="base"/>
            <a:endParaRPr lang="en-US" sz="2000" dirty="0"/>
          </a:p>
          <a:p>
            <a:pPr algn="just" fontAlgn="base"/>
            <a:endParaRPr lang="en-US" sz="2000" dirty="0"/>
          </a:p>
          <a:p>
            <a:pPr algn="just" fontAlgn="base"/>
            <a:endParaRPr lang="en-US" sz="2000" dirty="0"/>
          </a:p>
          <a:p>
            <a:pPr algn="just" fontAlgn="base"/>
            <a:endParaRPr lang="en-US" sz="2000" dirty="0"/>
          </a:p>
          <a:p>
            <a:pPr algn="just" fontAlgn="base"/>
            <a:endParaRPr lang="en-US" sz="2000" dirty="0"/>
          </a:p>
          <a:p>
            <a:pPr algn="just"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p:txBody>
      </p:sp>
      <p:pic>
        <p:nvPicPr>
          <p:cNvPr id="4098" name="Picture 2"/>
          <p:cNvPicPr>
            <a:picLocks noChangeAspect="1" noChangeArrowheads="1"/>
          </p:cNvPicPr>
          <p:nvPr/>
        </p:nvPicPr>
        <p:blipFill>
          <a:blip r:embed="rId3"/>
          <a:srcRect/>
          <a:stretch>
            <a:fillRect/>
          </a:stretch>
        </p:blipFill>
        <p:spPr bwMode="auto">
          <a:xfrm>
            <a:off x="2928926" y="2000240"/>
            <a:ext cx="3071834" cy="1643074"/>
          </a:xfrm>
          <a:prstGeom prst="rect">
            <a:avLst/>
          </a:prstGeom>
          <a:noFill/>
          <a:ln w="9525">
            <a:noFill/>
            <a:miter lim="800000"/>
            <a:headEnd/>
            <a:tailEnd/>
          </a:ln>
          <a:effectLst/>
        </p:spPr>
      </p:pic>
      <p:sp>
        <p:nvSpPr>
          <p:cNvPr id="11" name="Rectangle 10"/>
          <p:cNvSpPr/>
          <p:nvPr/>
        </p:nvSpPr>
        <p:spPr>
          <a:xfrm>
            <a:off x="642910" y="4071942"/>
            <a:ext cx="7929618" cy="1323439"/>
          </a:xfrm>
          <a:prstGeom prst="rect">
            <a:avLst/>
          </a:prstGeom>
        </p:spPr>
        <p:txBody>
          <a:bodyPr wrap="square">
            <a:spAutoFit/>
          </a:bodyPr>
          <a:lstStyle/>
          <a:p>
            <a:pPr algn="just"/>
            <a:r>
              <a:rPr lang="en-US" sz="2000" b="1" dirty="0"/>
              <a:t>Step 6:</a:t>
            </a:r>
            <a:r>
              <a:rPr lang="en-US" sz="2000" dirty="0"/>
              <a:t> Finally In this Graph, we found a cycle as the Process P4 again came back to the Process P1 which is the starting point (i.e., it’s a closed-loop). So, According to the Algorithm if we found a closed loop, then the system is in a deadlock state. So here we can say the system is in a deadlock state.</a:t>
            </a:r>
          </a:p>
        </p:txBody>
      </p:sp>
    </p:spTree>
    <p:extLst>
      <p:ext uri="{BB962C8B-B14F-4D97-AF65-F5344CB8AC3E}">
        <p14:creationId xmlns:p14="http://schemas.microsoft.com/office/powerpoint/2010/main" val="30275904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457200" y="0"/>
            <a:ext cx="8229600" cy="457200"/>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NZ" sz="2800" b="1" dirty="0">
                <a:solidFill>
                  <a:schemeClr val="bg1"/>
                </a:solidFill>
                <a:effectLst>
                  <a:outerShdw blurRad="38100" dist="38100" dir="2700000" algn="tl">
                    <a:srgbClr val="000000">
                      <a:alpha val="43137"/>
                    </a:srgbClr>
                  </a:outerShdw>
                </a:effectLst>
                <a:latin typeface="Calibri" pitchFamily="34" charset="0"/>
              </a:rPr>
              <a:t>Deadlock Recovery</a:t>
            </a:r>
          </a:p>
        </p:txBody>
      </p:sp>
      <p:sp>
        <p:nvSpPr>
          <p:cNvPr id="4" name="Rectangle 3"/>
          <p:cNvSpPr/>
          <p:nvPr/>
        </p:nvSpPr>
        <p:spPr>
          <a:xfrm>
            <a:off x="500034" y="714356"/>
            <a:ext cx="8143932" cy="7017306"/>
          </a:xfrm>
          <a:prstGeom prst="rect">
            <a:avLst/>
          </a:prstGeom>
        </p:spPr>
        <p:txBody>
          <a:bodyPr wrap="square">
            <a:spAutoFit/>
          </a:bodyPr>
          <a:lstStyle/>
          <a:p>
            <a:pPr fontAlgn="base"/>
            <a:r>
              <a:rPr lang="en-US" sz="2000" b="1" dirty="0"/>
              <a:t>Deadlock Recovery:</a:t>
            </a:r>
          </a:p>
          <a:p>
            <a:pPr fontAlgn="base"/>
            <a:endParaRPr lang="en-US" sz="2000" b="1" dirty="0"/>
          </a:p>
          <a:p>
            <a:pPr algn="just" fontAlgn="base"/>
            <a:r>
              <a:rPr lang="en-US" sz="2000" b="1" dirty="0"/>
              <a:t>Killing The Process: </a:t>
            </a:r>
            <a:r>
              <a:rPr lang="en-US" sz="2000" dirty="0"/>
              <a:t>Killing all the processes involved in the deadlock. Killing process one by one. After killing each process check for deadlock again and keep repeating the process till the system recovers from deadlock. Killing all the processes one by one helps a system to break circular wait conditions.</a:t>
            </a:r>
          </a:p>
          <a:p>
            <a:pPr algn="just" fontAlgn="base"/>
            <a:endParaRPr lang="en-US" sz="2000" dirty="0"/>
          </a:p>
          <a:p>
            <a:pPr algn="just" fontAlgn="base"/>
            <a:r>
              <a:rPr lang="en-US" sz="2000" b="1" dirty="0"/>
              <a:t>Process Rollback</a:t>
            </a:r>
            <a:r>
              <a:rPr lang="en-US" sz="2000" dirty="0"/>
              <a:t>: Rollback deadlocked processes to a previously saved state where the deadlock condition did not exist. It requires check pointing to periodically save the state of processes.</a:t>
            </a:r>
          </a:p>
          <a:p>
            <a:pPr algn="just" fontAlgn="base"/>
            <a:endParaRPr lang="en-US" sz="2000" dirty="0"/>
          </a:p>
          <a:p>
            <a:pPr algn="just" fontAlgn="base"/>
            <a:r>
              <a:rPr lang="en-US" sz="2000" b="1" dirty="0"/>
              <a:t>Resource Preemption: </a:t>
            </a:r>
            <a:r>
              <a:rPr lang="en-US" sz="2000" dirty="0"/>
              <a:t>Resources are preempted from the processes involved in the deadlock, and preempted resources are allocated to other processes so that there is a possibility of recovering the system from the deadlock. In this case, the system goes into starvation.</a:t>
            </a:r>
          </a:p>
          <a:p>
            <a:pPr fontAlgn="base"/>
            <a:endParaRPr lang="en-US" sz="2000" b="1" dirty="0"/>
          </a:p>
          <a:p>
            <a:pPr fontAlgn="base"/>
            <a:endParaRPr lang="en-US" b="1" dirty="0"/>
          </a:p>
          <a:p>
            <a:pPr fontAlgn="base"/>
            <a:r>
              <a:rPr lang="en-US" sz="2000" dirty="0"/>
              <a:t>. </a:t>
            </a:r>
          </a:p>
          <a:p>
            <a:pPr fontAlgn="base"/>
            <a:r>
              <a:rPr lang="en-US" sz="2000" dirty="0"/>
              <a:t>  </a:t>
            </a:r>
          </a:p>
          <a:p>
            <a:pPr fontAlgn="base"/>
            <a:endParaRPr lang="en-US" b="1" dirty="0"/>
          </a:p>
          <a:p>
            <a:pPr fontAlgn="base"/>
            <a:endParaRPr lang="en-US" b="1" dirty="0"/>
          </a:p>
          <a:p>
            <a:pPr fontAlgn="base"/>
            <a:endParaRPr lang="en-US" dirty="0"/>
          </a:p>
          <a:p>
            <a:pPr fontAlgn="base"/>
            <a:endParaRPr lang="en-US" dirty="0"/>
          </a:p>
        </p:txBody>
      </p:sp>
      <p:sp>
        <p:nvSpPr>
          <p:cNvPr id="9218" name="AutoShape 2" descr="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 name="Rectangle 6"/>
          <p:cNvSpPr/>
          <p:nvPr/>
        </p:nvSpPr>
        <p:spPr>
          <a:xfrm>
            <a:off x="500034" y="1142984"/>
            <a:ext cx="8072494" cy="4708981"/>
          </a:xfrm>
          <a:prstGeom prst="rect">
            <a:avLst/>
          </a:prstGeom>
        </p:spPr>
        <p:txBody>
          <a:bodyPr wrap="square">
            <a:spAutoFit/>
          </a:bodyPr>
          <a:lstStyle/>
          <a:p>
            <a:pPr algn="just" fontAlgn="base"/>
            <a:endParaRPr lang="en-US" sz="2000" dirty="0"/>
          </a:p>
          <a:p>
            <a:pPr algn="just" fontAlgn="base"/>
            <a:endParaRPr lang="en-US" sz="2000" dirty="0"/>
          </a:p>
          <a:p>
            <a:pPr algn="just" fontAlgn="base"/>
            <a:endParaRPr lang="en-US" sz="2000" dirty="0"/>
          </a:p>
          <a:p>
            <a:pPr algn="just" fontAlgn="base"/>
            <a:endParaRPr lang="en-US" sz="2000" dirty="0"/>
          </a:p>
          <a:p>
            <a:pPr algn="just" fontAlgn="base"/>
            <a:endParaRPr lang="en-US" sz="2000" dirty="0"/>
          </a:p>
          <a:p>
            <a:pPr algn="just" fontAlgn="base"/>
            <a:endParaRPr lang="en-US" sz="2000" dirty="0"/>
          </a:p>
          <a:p>
            <a:pPr algn="just" fontAlgn="base"/>
            <a:endParaRPr lang="en-US" sz="2000" dirty="0"/>
          </a:p>
          <a:p>
            <a:pPr algn="just"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a:p>
            <a:pPr fontAlgn="base"/>
            <a:endParaRPr lang="en-US" sz="2000" dirty="0"/>
          </a:p>
        </p:txBody>
      </p:sp>
    </p:spTree>
    <p:extLst>
      <p:ext uri="{BB962C8B-B14F-4D97-AF65-F5344CB8AC3E}">
        <p14:creationId xmlns:p14="http://schemas.microsoft.com/office/powerpoint/2010/main" val="30275904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928670"/>
            <a:ext cx="6643734" cy="4500594"/>
          </a:xfrm>
        </p:spPr>
        <p:style>
          <a:lnRef idx="2">
            <a:schemeClr val="accent5"/>
          </a:lnRef>
          <a:fillRef idx="1">
            <a:schemeClr val="lt1"/>
          </a:fillRef>
          <a:effectRef idx="0">
            <a:schemeClr val="accent5"/>
          </a:effectRef>
          <a:fontRef idx="minor">
            <a:schemeClr val="dk1"/>
          </a:fontRef>
        </p:style>
        <p:txBody>
          <a:bodyPr>
            <a:normAutofit/>
          </a:bodyPr>
          <a:lstStyle/>
          <a:p>
            <a:pPr>
              <a:buClr>
                <a:schemeClr val="accent5">
                  <a:lumMod val="75000"/>
                </a:schemeClr>
              </a:buClr>
              <a:defRPr/>
            </a:pPr>
            <a:endParaRPr lang="en-NZ" b="1" dirty="0">
              <a:solidFill>
                <a:schemeClr val="accent1">
                  <a:lumMod val="75000"/>
                </a:schemeClr>
              </a:solidFill>
              <a:latin typeface="Calibri" pitchFamily="34" charset="0"/>
            </a:endParaRPr>
          </a:p>
          <a:p>
            <a:pPr>
              <a:buClr>
                <a:schemeClr val="accent5">
                  <a:lumMod val="75000"/>
                </a:schemeClr>
              </a:buClr>
              <a:defRPr/>
            </a:pPr>
            <a:r>
              <a:rPr lang="en-NZ" dirty="0">
                <a:solidFill>
                  <a:schemeClr val="tx2">
                    <a:lumMod val="60000"/>
                    <a:lumOff val="40000"/>
                  </a:schemeClr>
                </a:solidFill>
                <a:latin typeface="Calibri" pitchFamily="34" charset="0"/>
              </a:rPr>
              <a:t>Principles of  Deadlock</a:t>
            </a:r>
          </a:p>
          <a:p>
            <a:pPr>
              <a:buClr>
                <a:schemeClr val="accent5">
                  <a:lumMod val="75000"/>
                </a:schemeClr>
              </a:buClr>
              <a:defRPr/>
            </a:pPr>
            <a:r>
              <a:rPr lang="en-NZ" dirty="0">
                <a:solidFill>
                  <a:schemeClr val="tx1"/>
                </a:solidFill>
                <a:latin typeface="Calibri" pitchFamily="34" charset="0"/>
              </a:rPr>
              <a:t>Deadlock Prevention</a:t>
            </a:r>
          </a:p>
          <a:p>
            <a:pPr>
              <a:buClr>
                <a:schemeClr val="accent5">
                  <a:lumMod val="75000"/>
                </a:schemeClr>
              </a:buClr>
              <a:defRPr/>
            </a:pPr>
            <a:r>
              <a:rPr lang="en-NZ" dirty="0">
                <a:solidFill>
                  <a:schemeClr val="tx1"/>
                </a:solidFill>
                <a:latin typeface="Calibri" pitchFamily="34" charset="0"/>
              </a:rPr>
              <a:t>Deadlock Avoidance</a:t>
            </a:r>
          </a:p>
          <a:p>
            <a:pPr>
              <a:buClr>
                <a:schemeClr val="accent5">
                  <a:lumMod val="75000"/>
                </a:schemeClr>
              </a:buClr>
              <a:defRPr/>
            </a:pPr>
            <a:r>
              <a:rPr lang="en-NZ" dirty="0">
                <a:latin typeface="Calibri" pitchFamily="34" charset="0"/>
              </a:rPr>
              <a:t>Deadlock Detection</a:t>
            </a:r>
          </a:p>
          <a:p>
            <a:pPr>
              <a:buClr>
                <a:schemeClr val="accent5">
                  <a:lumMod val="75000"/>
                </a:schemeClr>
              </a:buClr>
              <a:defRPr/>
            </a:pPr>
            <a:r>
              <a:rPr lang="en-US" b="1" dirty="0"/>
              <a:t>Dinning philosophers problem: Solution using semaphores </a:t>
            </a:r>
            <a:r>
              <a:rPr lang="en-US" dirty="0"/>
              <a:t>	</a:t>
            </a:r>
          </a:p>
          <a:p>
            <a:pPr>
              <a:buClr>
                <a:schemeClr val="accent5">
                  <a:lumMod val="75000"/>
                </a:schemeClr>
              </a:buClr>
              <a:defRPr/>
            </a:pPr>
            <a:endParaRPr lang="en-NZ" dirty="0">
              <a:latin typeface="Calibri" pitchFamily="34" charset="0"/>
            </a:endParaRPr>
          </a:p>
          <a:p>
            <a:pPr>
              <a:buClr>
                <a:schemeClr val="accent5">
                  <a:lumMod val="75000"/>
                </a:schemeClr>
              </a:buClr>
              <a:defRPr/>
            </a:pPr>
            <a:endParaRPr lang="en-NZ" dirty="0">
              <a:latin typeface="Calibri" pitchFamily="34" charset="0"/>
            </a:endParaRPr>
          </a:p>
        </p:txBody>
      </p:sp>
      <p:sp>
        <p:nvSpPr>
          <p:cNvPr id="5" name="Slide Number Placeholder 4"/>
          <p:cNvSpPr>
            <a:spLocks noGrp="1"/>
          </p:cNvSpPr>
          <p:nvPr>
            <p:ph type="sldNum" sz="quarter" idx="12"/>
          </p:nvPr>
        </p:nvSpPr>
        <p:spPr/>
        <p:txBody>
          <a:bodyPr/>
          <a:lstStyle/>
          <a:p>
            <a:fld id="{8721AD9F-4A2E-478F-ACDB-FC9429174183}" type="slidenum">
              <a:rPr lang="en-GB" smtClean="0"/>
              <a:pPr/>
              <a:t>87</a:t>
            </a:fld>
            <a:endParaRPr lang="en-GB"/>
          </a:p>
        </p:txBody>
      </p:sp>
      <p:sp>
        <p:nvSpPr>
          <p:cNvPr id="4" name="Title 1"/>
          <p:cNvSpPr txBox="1">
            <a:spLocks/>
          </p:cNvSpPr>
          <p:nvPr/>
        </p:nvSpPr>
        <p:spPr>
          <a:xfrm>
            <a:off x="1142976" y="71422"/>
            <a:ext cx="6072230" cy="500058"/>
          </a:xfrm>
          <a:prstGeom prst="rect">
            <a:avLst/>
          </a:prstGeom>
        </p:spPr>
        <p:style>
          <a:lnRef idx="3">
            <a:schemeClr val="lt1"/>
          </a:lnRef>
          <a:fillRef idx="1">
            <a:schemeClr val="accent5"/>
          </a:fillRef>
          <a:effectRef idx="1">
            <a:schemeClr val="accent5"/>
          </a:effectRef>
          <a:fontRef idx="minor">
            <a:schemeClr val="lt1"/>
          </a:fontRef>
        </p:style>
        <p:txBody>
          <a:bodyPr vert="horz" lIns="0" rIns="0" bIns="0"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2800" b="1" dirty="0">
                <a:solidFill>
                  <a:schemeClr val="bg1">
                    <a:lumMod val="95000"/>
                  </a:schemeClr>
                </a:solidFill>
                <a:effectLst>
                  <a:outerShdw blurRad="38100" dist="38100" dir="2700000" algn="tl">
                    <a:srgbClr val="000000">
                      <a:alpha val="43137"/>
                    </a:srgbClr>
                  </a:outerShdw>
                </a:effectLst>
                <a:latin typeface="+mj-lt"/>
              </a:rPr>
              <a:t>ROADMAP - Deadlock</a:t>
            </a:r>
            <a:endParaRPr kumimoji="0" lang="en-GB" sz="2800" b="1" i="0" u="none" strike="noStrike" kern="1200" cap="none" spc="0" normalizeH="0" baseline="0" noProof="0" dirty="0">
              <a:ln>
                <a:noFill/>
              </a:ln>
              <a:solidFill>
                <a:schemeClr val="bg1">
                  <a:lumMod val="95000"/>
                </a:schemeClr>
              </a:solidFill>
              <a:effectLst>
                <a:outerShdw blurRad="38100" dist="38100" dir="2700000" algn="tl">
                  <a:srgbClr val="000000">
                    <a:alpha val="43137"/>
                  </a:srgbClr>
                </a:outerShdw>
              </a:effectLst>
              <a:uLnTx/>
              <a:uFillTx/>
              <a:latin typeface="+mj-lt"/>
              <a:ea typeface="+mn-ea"/>
              <a:cs typeface="+mn-cs"/>
            </a:endParaRPr>
          </a:p>
        </p:txBody>
      </p:sp>
      <p:sp>
        <p:nvSpPr>
          <p:cNvPr id="6" name="Right Arrow 5"/>
          <p:cNvSpPr/>
          <p:nvPr/>
        </p:nvSpPr>
        <p:spPr>
          <a:xfrm>
            <a:off x="380956" y="4005064"/>
            <a:ext cx="357190" cy="285752"/>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7887343"/>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304800" y="46038"/>
            <a:ext cx="8229600" cy="487362"/>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US" sz="2800" b="1" dirty="0">
                <a:solidFill>
                  <a:schemeClr val="bg1"/>
                </a:solidFill>
                <a:latin typeface="Calibri" pitchFamily="34" charset="0"/>
              </a:rPr>
              <a:t>Dining Philosophers  Problem: Scenario</a:t>
            </a:r>
          </a:p>
        </p:txBody>
      </p:sp>
      <p:pic>
        <p:nvPicPr>
          <p:cNvPr id="56323" name="Content Placeholder 3" descr="Fig06_11.gif"/>
          <p:cNvPicPr>
            <a:picLocks noGrp="1" noChangeAspect="1"/>
          </p:cNvPicPr>
          <p:nvPr>
            <p:ph idx="1"/>
          </p:nvPr>
        </p:nvPicPr>
        <p:blipFill>
          <a:blip r:embed="rId3"/>
          <a:srcRect/>
          <a:stretch>
            <a:fillRect/>
          </a:stretch>
        </p:blipFill>
        <p:spPr>
          <a:xfrm>
            <a:off x="0" y="849086"/>
            <a:ext cx="8915400" cy="5932714"/>
          </a:xfrm>
          <a:prstGeom prst="rect">
            <a:avLst/>
          </a:prstGeom>
          <a:ln>
            <a:noFill/>
          </a:ln>
          <a:effectLst>
            <a:outerShdw blurRad="292100" dist="139700" dir="2700000" algn="tl" rotWithShape="0">
              <a:srgbClr val="333333">
                <a:alpha val="65000"/>
              </a:srgbClr>
            </a:outerShdw>
          </a:effectLst>
        </p:spPr>
      </p:pic>
      <p:pic>
        <p:nvPicPr>
          <p:cNvPr id="2051" name="Picture 3" descr="E:\gp image\gear_stack_rotating_PA_sm_wm.gif"/>
          <p:cNvPicPr>
            <a:picLocks noChangeAspect="1" noChangeArrowheads="1" noCrop="1"/>
          </p:cNvPicPr>
          <p:nvPr/>
        </p:nvPicPr>
        <p:blipFill>
          <a:blip r:embed="rId4"/>
          <a:srcRect/>
          <a:stretch>
            <a:fillRect/>
          </a:stretch>
        </p:blipFill>
        <p:spPr bwMode="auto">
          <a:xfrm>
            <a:off x="76200" y="4343400"/>
            <a:ext cx="2057400" cy="2057400"/>
          </a:xfrm>
          <a:prstGeom prst="ellipse">
            <a:avLst/>
          </a:prstGeom>
          <a:ln>
            <a:noFill/>
          </a:ln>
          <a:effectLst>
            <a:softEdge rad="112500"/>
          </a:effectLst>
        </p:spPr>
      </p:pic>
    </p:spTree>
    <p:extLst>
      <p:ext uri="{BB962C8B-B14F-4D97-AF65-F5344CB8AC3E}">
        <p14:creationId xmlns:p14="http://schemas.microsoft.com/office/powerpoint/2010/main" val="8477388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33400"/>
            <a:ext cx="9144000" cy="317009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Font typeface="Arial" pitchFamily="34" charset="0"/>
              <a:buChar char="•"/>
            </a:pPr>
            <a:r>
              <a:rPr lang="en-NZ" sz="2000" dirty="0">
                <a:latin typeface="Calibri" pitchFamily="34" charset="0"/>
              </a:rPr>
              <a:t>Five philosophers live in a house, where a table is laid for them. </a:t>
            </a:r>
          </a:p>
          <a:p>
            <a:pPr>
              <a:buFont typeface="Arial" pitchFamily="34" charset="0"/>
              <a:buChar char="•"/>
            </a:pPr>
            <a:endParaRPr lang="en-NZ" sz="2000" dirty="0">
              <a:latin typeface="Calibri" pitchFamily="34" charset="0"/>
            </a:endParaRPr>
          </a:p>
          <a:p>
            <a:pPr>
              <a:buFont typeface="Arial" pitchFamily="34" charset="0"/>
              <a:buChar char="•"/>
            </a:pPr>
            <a:r>
              <a:rPr lang="en-NZ" sz="2000" dirty="0">
                <a:latin typeface="Calibri" pitchFamily="34" charset="0"/>
              </a:rPr>
              <a:t>The life of each philosopher consists principally of thinking and eating, and through </a:t>
            </a:r>
          </a:p>
          <a:p>
            <a:r>
              <a:rPr lang="en-NZ" sz="2000" dirty="0">
                <a:latin typeface="Calibri" pitchFamily="34" charset="0"/>
              </a:rPr>
              <a:t>  years of thought, all of the philosophers had agreed that the only food that </a:t>
            </a:r>
          </a:p>
          <a:p>
            <a:r>
              <a:rPr lang="en-NZ" sz="2000" dirty="0">
                <a:latin typeface="Calibri" pitchFamily="34" charset="0"/>
              </a:rPr>
              <a:t>  contributed to their thinking efforts was spaghetti. </a:t>
            </a:r>
          </a:p>
          <a:p>
            <a:endParaRPr lang="en-NZ" sz="2000" dirty="0">
              <a:latin typeface="Calibri" pitchFamily="34" charset="0"/>
            </a:endParaRPr>
          </a:p>
          <a:p>
            <a:pPr>
              <a:buFont typeface="Arial" pitchFamily="34" charset="0"/>
              <a:buChar char="•"/>
            </a:pPr>
            <a:r>
              <a:rPr lang="en-NZ" sz="2000" dirty="0">
                <a:latin typeface="Calibri" pitchFamily="34" charset="0"/>
              </a:rPr>
              <a:t>Due to a lack of manual skill, each philosopher requires two forks to eat spaghetti.</a:t>
            </a:r>
          </a:p>
          <a:p>
            <a:pPr>
              <a:buFont typeface="Arial" pitchFamily="34" charset="0"/>
              <a:buChar char="•"/>
            </a:pPr>
            <a:endParaRPr lang="en-NZ" sz="2000" dirty="0">
              <a:latin typeface="Calibri" pitchFamily="34" charset="0"/>
            </a:endParaRPr>
          </a:p>
          <a:p>
            <a:pPr>
              <a:buFont typeface="Arial" pitchFamily="34" charset="0"/>
              <a:buChar char="•"/>
            </a:pPr>
            <a:r>
              <a:rPr lang="en-NZ" sz="2000" dirty="0">
                <a:latin typeface="Calibri" pitchFamily="34" charset="0"/>
              </a:rPr>
              <a:t>A philosopher wishing to eat goes to his or her assigned place at the table and, using </a:t>
            </a:r>
          </a:p>
          <a:p>
            <a:r>
              <a:rPr lang="en-NZ" sz="2000" dirty="0">
                <a:latin typeface="Calibri" pitchFamily="34" charset="0"/>
              </a:rPr>
              <a:t>  the two forks on either side of the plate, takes and eats some spaghetti.</a:t>
            </a:r>
          </a:p>
        </p:txBody>
      </p:sp>
      <p:sp>
        <p:nvSpPr>
          <p:cNvPr id="6" name="Title 1"/>
          <p:cNvSpPr txBox="1">
            <a:spLocks/>
          </p:cNvSpPr>
          <p:nvPr/>
        </p:nvSpPr>
        <p:spPr>
          <a:xfrm>
            <a:off x="304800" y="46038"/>
            <a:ext cx="8229600" cy="411162"/>
          </a:xfrm>
          <a:prstGeom prst="rect">
            <a:avLst/>
          </a:prstGeom>
        </p:spPr>
        <p:style>
          <a:lnRef idx="3">
            <a:schemeClr val="lt1"/>
          </a:lnRef>
          <a:fillRef idx="1">
            <a:schemeClr val="accent2"/>
          </a:fillRef>
          <a:effectRef idx="1">
            <a:schemeClr val="accent2"/>
          </a:effectRef>
          <a:fontRef idx="minor">
            <a:schemeClr val="lt1"/>
          </a:fontRef>
        </p:style>
        <p:txBody>
          <a:bodyPr vert="horz" rtlCol="0" anchor="ctr">
            <a:normAutofit fontScale="90000" lnSpcReduction="20000"/>
            <a:scene3d>
              <a:camera prst="orthographicFront"/>
              <a:lightRig rig="soft" dir="t"/>
            </a:scene3d>
            <a:sp3d prstMaterial="softEdge">
              <a:bevelT w="25400" h="25400"/>
            </a:sp3d>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a:ln>
                  <a:noFill/>
                </a:ln>
                <a:solidFill>
                  <a:schemeClr val="bg1"/>
                </a:solidFill>
                <a:effectLst>
                  <a:outerShdw blurRad="31750" dist="25400" dir="5400000" algn="tl" rotWithShape="0">
                    <a:srgbClr val="000000">
                      <a:alpha val="25000"/>
                    </a:srgbClr>
                  </a:outerShdw>
                </a:effectLst>
                <a:uLnTx/>
                <a:uFillTx/>
                <a:latin typeface="Calibri" pitchFamily="34" charset="0"/>
                <a:ea typeface="+mn-ea"/>
                <a:cs typeface="+mn-cs"/>
              </a:rPr>
              <a:t>Dining Philosophers  Problem: Scenario</a:t>
            </a:r>
            <a:endParaRPr kumimoji="0" lang="en-US" sz="2800" b="1" i="0" u="none" strike="noStrike" kern="1200" cap="none" spc="0" normalizeH="0" baseline="0" noProof="0" dirty="0">
              <a:ln>
                <a:noFill/>
              </a:ln>
              <a:solidFill>
                <a:schemeClr val="bg1"/>
              </a:solidFill>
              <a:effectLst>
                <a:outerShdw blurRad="31750" dist="25400" dir="5400000" algn="tl" rotWithShape="0">
                  <a:srgbClr val="000000">
                    <a:alpha val="25000"/>
                  </a:srgbClr>
                </a:outerShdw>
              </a:effectLst>
              <a:uLnTx/>
              <a:uFillTx/>
              <a:latin typeface="Calibri" pitchFamily="34" charset="0"/>
              <a:ea typeface="+mn-ea"/>
              <a:cs typeface="+mn-cs"/>
            </a:endParaRPr>
          </a:p>
        </p:txBody>
      </p:sp>
      <p:sp>
        <p:nvSpPr>
          <p:cNvPr id="8" name="Title 1"/>
          <p:cNvSpPr>
            <a:spLocks noGrp="1"/>
          </p:cNvSpPr>
          <p:nvPr>
            <p:ph type="title"/>
          </p:nvPr>
        </p:nvSpPr>
        <p:spPr>
          <a:xfrm>
            <a:off x="1143000" y="3810000"/>
            <a:ext cx="6934200" cy="457200"/>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NZ" sz="2800" b="1" dirty="0">
                <a:solidFill>
                  <a:schemeClr val="bg1"/>
                </a:solidFill>
                <a:latin typeface="Calibri" pitchFamily="34" charset="0"/>
              </a:rPr>
              <a:t>The Problem</a:t>
            </a:r>
          </a:p>
        </p:txBody>
      </p:sp>
      <p:sp>
        <p:nvSpPr>
          <p:cNvPr id="9" name="Content Placeholder 2"/>
          <p:cNvSpPr>
            <a:spLocks noGrp="1"/>
          </p:cNvSpPr>
          <p:nvPr>
            <p:ph idx="1"/>
          </p:nvPr>
        </p:nvSpPr>
        <p:spPr>
          <a:xfrm>
            <a:off x="0" y="4343400"/>
            <a:ext cx="5486400" cy="2514600"/>
          </a:xfrm>
        </p:spPr>
        <p:style>
          <a:lnRef idx="2">
            <a:schemeClr val="accent2"/>
          </a:lnRef>
          <a:fillRef idx="1">
            <a:schemeClr val="lt1"/>
          </a:fillRef>
          <a:effectRef idx="0">
            <a:schemeClr val="accent2"/>
          </a:effectRef>
          <a:fontRef idx="minor">
            <a:schemeClr val="dk1"/>
          </a:fontRef>
        </p:style>
        <p:txBody>
          <a:bodyPr>
            <a:normAutofit/>
          </a:bodyPr>
          <a:lstStyle/>
          <a:p>
            <a:r>
              <a:rPr lang="en-NZ" sz="2000" dirty="0">
                <a:latin typeface="Calibri" pitchFamily="34" charset="0"/>
              </a:rPr>
              <a:t>Devise a ritual (algorithm) that will allow the philosophers to eat.</a:t>
            </a:r>
          </a:p>
          <a:p>
            <a:pPr lvl="1"/>
            <a:r>
              <a:rPr lang="en-NZ" sz="2000" dirty="0">
                <a:latin typeface="Calibri" pitchFamily="34" charset="0"/>
              </a:rPr>
              <a:t>No two philosophers can use the same fork at the same time (mutual exclusion)</a:t>
            </a:r>
          </a:p>
          <a:p>
            <a:pPr lvl="1"/>
            <a:r>
              <a:rPr lang="en-NZ" sz="2000" dirty="0">
                <a:latin typeface="Calibri" pitchFamily="34" charset="0"/>
              </a:rPr>
              <a:t>No philosopher must starve to death (avoid deadlock and starvation … literally!)</a:t>
            </a:r>
          </a:p>
        </p:txBody>
      </p:sp>
    </p:spTree>
    <p:extLst>
      <p:ext uri="{BB962C8B-B14F-4D97-AF65-F5344CB8AC3E}">
        <p14:creationId xmlns:p14="http://schemas.microsoft.com/office/powerpoint/2010/main" val="32006918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457200" y="76200"/>
            <a:ext cx="8229600" cy="381000"/>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US" sz="3200" b="1" dirty="0">
                <a:solidFill>
                  <a:schemeClr val="bg1"/>
                </a:solidFill>
                <a:effectLst>
                  <a:outerShdw blurRad="38100" dist="38100" dir="2700000" algn="tl">
                    <a:srgbClr val="000000">
                      <a:alpha val="43137"/>
                    </a:srgbClr>
                  </a:outerShdw>
                </a:effectLst>
                <a:latin typeface="Calibri" pitchFamily="34" charset="0"/>
              </a:rPr>
              <a:t>Avoiding deadlock</a:t>
            </a:r>
          </a:p>
        </p:txBody>
      </p:sp>
      <p:pic>
        <p:nvPicPr>
          <p:cNvPr id="59395" name="Content Placeholder 5" descr="Fig06_13.gif"/>
          <p:cNvPicPr>
            <a:picLocks noGrp="1" noChangeAspect="1"/>
          </p:cNvPicPr>
          <p:nvPr>
            <p:ph idx="1"/>
          </p:nvPr>
        </p:nvPicPr>
        <p:blipFill>
          <a:blip r:embed="rId3"/>
          <a:srcRect/>
          <a:stretch>
            <a:fillRect/>
          </a:stretch>
        </p:blipFill>
        <p:spPr>
          <a:xfrm>
            <a:off x="0" y="609600"/>
            <a:ext cx="9144000" cy="6248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488503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7083</TotalTime>
  <Words>9663</Words>
  <Application>Microsoft Office PowerPoint</Application>
  <PresentationFormat>On-screen Show (4:3)</PresentationFormat>
  <Paragraphs>1096</Paragraphs>
  <Slides>90</Slides>
  <Notes>51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90</vt:i4>
      </vt:variant>
    </vt:vector>
  </HeadingPairs>
  <TitlesOfParts>
    <vt:vector size="97" baseType="lpstr">
      <vt:lpstr>Arial</vt:lpstr>
      <vt:lpstr>Calibri</vt:lpstr>
      <vt:lpstr>Courier New</vt:lpstr>
      <vt:lpstr>Tahoma</vt:lpstr>
      <vt:lpstr>Wingdings</vt:lpstr>
      <vt:lpstr>Wingdings 3</vt:lpstr>
      <vt:lpstr>Office Theme</vt:lpstr>
      <vt:lpstr>PowerPoint Presentation</vt:lpstr>
      <vt:lpstr>PowerPoint Presentation</vt:lpstr>
      <vt:lpstr>KEY TERMS</vt:lpstr>
      <vt:lpstr>Live Lock </vt:lpstr>
      <vt:lpstr>A Simple Example</vt:lpstr>
      <vt:lpstr>PowerPoint Presentation</vt:lpstr>
      <vt:lpstr>PowerPoint Presentation</vt:lpstr>
      <vt:lpstr>PowerPoint Presentation</vt:lpstr>
      <vt:lpstr>PowerPoint Presentation</vt:lpstr>
      <vt:lpstr>Semaphore Example 1</vt:lpstr>
      <vt:lpstr>Semaphore Example 1</vt:lpstr>
      <vt:lpstr>Semaphore Example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Semaphores</vt:lpstr>
      <vt:lpstr>PowerPoint Presentation</vt:lpstr>
      <vt:lpstr>PowerPoint Presentation</vt:lpstr>
      <vt:lpstr>Readers have Priority</vt:lpstr>
      <vt:lpstr>Readers have Priority</vt:lpstr>
      <vt:lpstr>PowerPoint Presentation</vt:lpstr>
      <vt:lpstr>PowerPoint Presentation</vt:lpstr>
      <vt:lpstr>PowerPoint Presentation</vt:lpstr>
      <vt:lpstr>PowerPoint Presentation</vt:lpstr>
      <vt:lpstr>Deadlock</vt:lpstr>
      <vt:lpstr>Potential Deadlock</vt:lpstr>
      <vt:lpstr>Potential Deadlock</vt:lpstr>
      <vt:lpstr>PowerPoint Presentation</vt:lpstr>
      <vt:lpstr>PowerPoint Presentation</vt:lpstr>
      <vt:lpstr>Conditions for possible Deadlock</vt:lpstr>
      <vt:lpstr>Actual Deadlock Requires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Determination of Safe State</vt:lpstr>
      <vt:lpstr>PowerPoint Presentation</vt:lpstr>
      <vt:lpstr>After P2 runs to completion</vt:lpstr>
      <vt:lpstr>After P1 completes</vt:lpstr>
      <vt:lpstr>P3 Completes</vt:lpstr>
      <vt:lpstr>Determination of an Unsafe State</vt:lpstr>
      <vt:lpstr>Deadlock Avoidance Logic</vt:lpstr>
      <vt:lpstr>PowerPoint Presentation</vt:lpstr>
      <vt:lpstr>Deadlock Avoidance Algorithm</vt:lpstr>
      <vt:lpstr>Deadlock Avoidance Algorithm</vt:lpstr>
      <vt:lpstr>Deadlock Avoidance Advantages</vt:lpstr>
      <vt:lpstr>PowerPoint Presentation</vt:lpstr>
      <vt:lpstr>Deadlock Detection</vt:lpstr>
      <vt:lpstr>A Common Detection Algorithm</vt:lpstr>
      <vt:lpstr>Deadlock Detection</vt:lpstr>
      <vt:lpstr>Recovery Strategies Once Deadlock Detected</vt:lpstr>
      <vt:lpstr>Deadlock Detection</vt:lpstr>
      <vt:lpstr>Deadlock Detection</vt:lpstr>
      <vt:lpstr>Deadlock Detection</vt:lpstr>
      <vt:lpstr>Deadlock Detection</vt:lpstr>
      <vt:lpstr>Deadlock Detection</vt:lpstr>
      <vt:lpstr>Deadlock Detection</vt:lpstr>
      <vt:lpstr>Deadlock Detection</vt:lpstr>
      <vt:lpstr>Deadlock Detection</vt:lpstr>
      <vt:lpstr>Deadlock Recovery</vt:lpstr>
      <vt:lpstr>PowerPoint Presentation</vt:lpstr>
      <vt:lpstr>Dining Philosophers  Problem: Scenario</vt:lpstr>
      <vt:lpstr>The Problem</vt:lpstr>
      <vt:lpstr>Avoiding deadlock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Concurrency: Mutual Exclusion and Synchronization</dc:title>
  <dc:creator>Administrator</dc:creator>
  <cp:lastModifiedBy>Riddhi Joshi</cp:lastModifiedBy>
  <cp:revision>1221</cp:revision>
  <dcterms:created xsi:type="dcterms:W3CDTF">2012-09-04T04:58:45Z</dcterms:created>
  <dcterms:modified xsi:type="dcterms:W3CDTF">2025-09-22T09:02:38Z</dcterms:modified>
</cp:coreProperties>
</file>