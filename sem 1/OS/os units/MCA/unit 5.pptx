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9" r:id="rId4"/>
    <p:sldId id="260" r:id="rId5"/>
    <p:sldId id="261" r:id="rId6"/>
    <p:sldId id="262" r:id="rId7"/>
    <p:sldId id="263" r:id="rId8"/>
    <p:sldId id="258" r:id="rId9"/>
    <p:sldId id="264" r:id="rId10"/>
    <p:sldId id="265" r:id="rId11"/>
    <p:sldId id="271" r:id="rId12"/>
    <p:sldId id="267" r:id="rId13"/>
    <p:sldId id="268" r:id="rId14"/>
    <p:sldId id="269" r:id="rId15"/>
    <p:sldId id="266" r:id="rId16"/>
    <p:sldId id="270" r:id="rId17"/>
    <p:sldId id="273" r:id="rId18"/>
    <p:sldId id="274" r:id="rId19"/>
    <p:sldId id="272"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p:cViewPr varScale="1">
        <p:scale>
          <a:sx n="67" d="100"/>
          <a:sy n="67" d="100"/>
        </p:scale>
        <p:origin x="6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6964DC-59CE-4D5E-B10B-72CF448968BB}" type="doc">
      <dgm:prSet loTypeId="urn:microsoft.com/office/officeart/2005/8/layout/matrix1" loCatId="matrix" qsTypeId="urn:microsoft.com/office/officeart/2005/8/quickstyle/3d1" qsCatId="3D" csTypeId="urn:microsoft.com/office/officeart/2005/8/colors/accent1_2" csCatId="accent1" phldr="1"/>
      <dgm:spPr/>
      <dgm:t>
        <a:bodyPr/>
        <a:lstStyle/>
        <a:p>
          <a:endParaRPr lang="en-IN"/>
        </a:p>
      </dgm:t>
    </dgm:pt>
    <dgm:pt modelId="{4F795D9F-0658-47BE-938C-2C61156A8E0C}">
      <dgm:prSet phldrT="[Text]"/>
      <dgm:spPr/>
      <dgm:t>
        <a:bodyPr/>
        <a:lstStyle/>
        <a:p>
          <a:r>
            <a:rPr lang="en-US" dirty="0"/>
            <a:t>Security</a:t>
          </a:r>
          <a:endParaRPr lang="en-IN" dirty="0"/>
        </a:p>
      </dgm:t>
    </dgm:pt>
    <dgm:pt modelId="{EF145151-8C24-401F-AB58-AFBF6E718D87}" type="parTrans" cxnId="{DCA4EF46-6C6A-495E-AE04-4D06B4C07745}">
      <dgm:prSet/>
      <dgm:spPr/>
      <dgm:t>
        <a:bodyPr/>
        <a:lstStyle/>
        <a:p>
          <a:endParaRPr lang="en-IN"/>
        </a:p>
      </dgm:t>
    </dgm:pt>
    <dgm:pt modelId="{2D97B5A6-45FD-4ED1-9C98-5E3E0EA82CB5}" type="sibTrans" cxnId="{DCA4EF46-6C6A-495E-AE04-4D06B4C07745}">
      <dgm:prSet/>
      <dgm:spPr/>
      <dgm:t>
        <a:bodyPr/>
        <a:lstStyle/>
        <a:p>
          <a:endParaRPr lang="en-IN"/>
        </a:p>
      </dgm:t>
    </dgm:pt>
    <dgm:pt modelId="{9318E567-FFD3-48CC-9852-8628C8FE11D0}">
      <dgm:prSet phldrT="[Text]"/>
      <dgm:spPr/>
      <dgm:t>
        <a:bodyPr/>
        <a:lstStyle/>
        <a:p>
          <a:r>
            <a:rPr lang="en-US" dirty="0"/>
            <a:t>confidentiality</a:t>
          </a:r>
          <a:endParaRPr lang="en-IN" dirty="0"/>
        </a:p>
      </dgm:t>
    </dgm:pt>
    <dgm:pt modelId="{FC625C21-750F-49A5-B8EC-705C2308D69B}" type="parTrans" cxnId="{06808CC9-1CBC-4F99-B510-A5F60BBD72B7}">
      <dgm:prSet/>
      <dgm:spPr/>
      <dgm:t>
        <a:bodyPr/>
        <a:lstStyle/>
        <a:p>
          <a:endParaRPr lang="en-IN"/>
        </a:p>
      </dgm:t>
    </dgm:pt>
    <dgm:pt modelId="{414A1485-1499-4F9A-A67D-82D5D8874E1F}" type="sibTrans" cxnId="{06808CC9-1CBC-4F99-B510-A5F60BBD72B7}">
      <dgm:prSet/>
      <dgm:spPr/>
      <dgm:t>
        <a:bodyPr/>
        <a:lstStyle/>
        <a:p>
          <a:endParaRPr lang="en-IN"/>
        </a:p>
      </dgm:t>
    </dgm:pt>
    <dgm:pt modelId="{5C8DD45A-C4AE-4EA0-8032-922969A4E25A}">
      <dgm:prSet phldrT="[Text]"/>
      <dgm:spPr/>
      <dgm:t>
        <a:bodyPr/>
        <a:lstStyle/>
        <a:p>
          <a:r>
            <a:rPr lang="en-US" dirty="0"/>
            <a:t>Integrity</a:t>
          </a:r>
          <a:endParaRPr lang="en-IN" dirty="0"/>
        </a:p>
      </dgm:t>
    </dgm:pt>
    <dgm:pt modelId="{3BF3E467-7C6F-4B8B-95E8-2EA69DB67B73}" type="parTrans" cxnId="{5B65A87B-9991-4B0F-A233-56CBBAB59016}">
      <dgm:prSet/>
      <dgm:spPr/>
      <dgm:t>
        <a:bodyPr/>
        <a:lstStyle/>
        <a:p>
          <a:endParaRPr lang="en-IN"/>
        </a:p>
      </dgm:t>
    </dgm:pt>
    <dgm:pt modelId="{9A6AB7C9-870E-4394-B12D-70717AFEBE93}" type="sibTrans" cxnId="{5B65A87B-9991-4B0F-A233-56CBBAB59016}">
      <dgm:prSet/>
      <dgm:spPr/>
      <dgm:t>
        <a:bodyPr/>
        <a:lstStyle/>
        <a:p>
          <a:endParaRPr lang="en-IN"/>
        </a:p>
      </dgm:t>
    </dgm:pt>
    <dgm:pt modelId="{5E4D5AD2-8DBA-463F-A7F7-A07681104836}">
      <dgm:prSet phldrT="[Text]"/>
      <dgm:spPr/>
      <dgm:t>
        <a:bodyPr/>
        <a:lstStyle/>
        <a:p>
          <a:r>
            <a:rPr lang="en-US" dirty="0"/>
            <a:t>Availability</a:t>
          </a:r>
          <a:endParaRPr lang="en-IN" dirty="0"/>
        </a:p>
      </dgm:t>
    </dgm:pt>
    <dgm:pt modelId="{DDB2393E-30F9-4BE3-8D4D-D1EAB304F845}" type="parTrans" cxnId="{EEE34130-ACFE-4561-96BF-2346ECFC1F0A}">
      <dgm:prSet/>
      <dgm:spPr/>
      <dgm:t>
        <a:bodyPr/>
        <a:lstStyle/>
        <a:p>
          <a:endParaRPr lang="en-IN"/>
        </a:p>
      </dgm:t>
    </dgm:pt>
    <dgm:pt modelId="{BC5F5453-106F-4172-A3B7-FFC6A719CAB4}" type="sibTrans" cxnId="{EEE34130-ACFE-4561-96BF-2346ECFC1F0A}">
      <dgm:prSet/>
      <dgm:spPr/>
      <dgm:t>
        <a:bodyPr/>
        <a:lstStyle/>
        <a:p>
          <a:endParaRPr lang="en-IN"/>
        </a:p>
      </dgm:t>
    </dgm:pt>
    <dgm:pt modelId="{499BE520-192E-4616-B7B6-BB672F7D3056}" type="pres">
      <dgm:prSet presAssocID="{346964DC-59CE-4D5E-B10B-72CF448968BB}" presName="diagram" presStyleCnt="0">
        <dgm:presLayoutVars>
          <dgm:chMax val="1"/>
          <dgm:dir/>
          <dgm:animLvl val="ctr"/>
          <dgm:resizeHandles val="exact"/>
        </dgm:presLayoutVars>
      </dgm:prSet>
      <dgm:spPr/>
    </dgm:pt>
    <dgm:pt modelId="{86118D32-5342-40B3-9A33-623708D0F25F}" type="pres">
      <dgm:prSet presAssocID="{346964DC-59CE-4D5E-B10B-72CF448968BB}" presName="matrix" presStyleCnt="0"/>
      <dgm:spPr/>
    </dgm:pt>
    <dgm:pt modelId="{47BCA2B4-79CB-4D7B-8106-1AADB18F2D3A}" type="pres">
      <dgm:prSet presAssocID="{346964DC-59CE-4D5E-B10B-72CF448968BB}" presName="tile1" presStyleLbl="node1" presStyleIdx="0" presStyleCnt="4"/>
      <dgm:spPr/>
    </dgm:pt>
    <dgm:pt modelId="{6A44D7C2-42F4-4765-9C85-7BAA37AC6B43}" type="pres">
      <dgm:prSet presAssocID="{346964DC-59CE-4D5E-B10B-72CF448968BB}" presName="tile1text" presStyleLbl="node1" presStyleIdx="0" presStyleCnt="4">
        <dgm:presLayoutVars>
          <dgm:chMax val="0"/>
          <dgm:chPref val="0"/>
          <dgm:bulletEnabled val="1"/>
        </dgm:presLayoutVars>
      </dgm:prSet>
      <dgm:spPr/>
    </dgm:pt>
    <dgm:pt modelId="{29B7F1B5-27E7-4F19-8516-ADB4437A535A}" type="pres">
      <dgm:prSet presAssocID="{346964DC-59CE-4D5E-B10B-72CF448968BB}" presName="tile2" presStyleLbl="node1" presStyleIdx="1" presStyleCnt="4"/>
      <dgm:spPr/>
    </dgm:pt>
    <dgm:pt modelId="{3E584DC0-37D5-4D22-A506-A2D3B852D64E}" type="pres">
      <dgm:prSet presAssocID="{346964DC-59CE-4D5E-B10B-72CF448968BB}" presName="tile2text" presStyleLbl="node1" presStyleIdx="1" presStyleCnt="4">
        <dgm:presLayoutVars>
          <dgm:chMax val="0"/>
          <dgm:chPref val="0"/>
          <dgm:bulletEnabled val="1"/>
        </dgm:presLayoutVars>
      </dgm:prSet>
      <dgm:spPr/>
    </dgm:pt>
    <dgm:pt modelId="{2260CE30-23C8-46BF-A0C3-A0E8A45FE8C0}" type="pres">
      <dgm:prSet presAssocID="{346964DC-59CE-4D5E-B10B-72CF448968BB}" presName="tile3" presStyleLbl="node1" presStyleIdx="2" presStyleCnt="4"/>
      <dgm:spPr/>
    </dgm:pt>
    <dgm:pt modelId="{BDC81546-F943-4FB8-BBBB-C154B80EA669}" type="pres">
      <dgm:prSet presAssocID="{346964DC-59CE-4D5E-B10B-72CF448968BB}" presName="tile3text" presStyleLbl="node1" presStyleIdx="2" presStyleCnt="4">
        <dgm:presLayoutVars>
          <dgm:chMax val="0"/>
          <dgm:chPref val="0"/>
          <dgm:bulletEnabled val="1"/>
        </dgm:presLayoutVars>
      </dgm:prSet>
      <dgm:spPr/>
    </dgm:pt>
    <dgm:pt modelId="{41450243-9202-4993-93B9-C6B6C9F83A21}" type="pres">
      <dgm:prSet presAssocID="{346964DC-59CE-4D5E-B10B-72CF448968BB}" presName="tile4" presStyleLbl="node1" presStyleIdx="3" presStyleCnt="4"/>
      <dgm:spPr/>
    </dgm:pt>
    <dgm:pt modelId="{4335D33F-E9A2-486F-8D5E-7313D7BDF7E5}" type="pres">
      <dgm:prSet presAssocID="{346964DC-59CE-4D5E-B10B-72CF448968BB}" presName="tile4text" presStyleLbl="node1" presStyleIdx="3" presStyleCnt="4">
        <dgm:presLayoutVars>
          <dgm:chMax val="0"/>
          <dgm:chPref val="0"/>
          <dgm:bulletEnabled val="1"/>
        </dgm:presLayoutVars>
      </dgm:prSet>
      <dgm:spPr/>
    </dgm:pt>
    <dgm:pt modelId="{0026EC03-B6A1-4AC9-82C7-B615A69F968D}" type="pres">
      <dgm:prSet presAssocID="{346964DC-59CE-4D5E-B10B-72CF448968BB}" presName="centerTile" presStyleLbl="fgShp" presStyleIdx="0" presStyleCnt="1">
        <dgm:presLayoutVars>
          <dgm:chMax val="0"/>
          <dgm:chPref val="0"/>
        </dgm:presLayoutVars>
      </dgm:prSet>
      <dgm:spPr/>
    </dgm:pt>
  </dgm:ptLst>
  <dgm:cxnLst>
    <dgm:cxn modelId="{41B0862B-F8D8-40D1-9E79-5CAD828B296D}" type="presOf" srcId="{5E4D5AD2-8DBA-463F-A7F7-A07681104836}" destId="{2260CE30-23C8-46BF-A0C3-A0E8A45FE8C0}" srcOrd="0" destOrd="0" presId="urn:microsoft.com/office/officeart/2005/8/layout/matrix1"/>
    <dgm:cxn modelId="{EEE34130-ACFE-4561-96BF-2346ECFC1F0A}" srcId="{4F795D9F-0658-47BE-938C-2C61156A8E0C}" destId="{5E4D5AD2-8DBA-463F-A7F7-A07681104836}" srcOrd="2" destOrd="0" parTransId="{DDB2393E-30F9-4BE3-8D4D-D1EAB304F845}" sibTransId="{BC5F5453-106F-4172-A3B7-FFC6A719CAB4}"/>
    <dgm:cxn modelId="{59C2BD64-DAE5-402A-874B-A13AEF417ACB}" type="presOf" srcId="{5C8DD45A-C4AE-4EA0-8032-922969A4E25A}" destId="{29B7F1B5-27E7-4F19-8516-ADB4437A535A}" srcOrd="0" destOrd="0" presId="urn:microsoft.com/office/officeart/2005/8/layout/matrix1"/>
    <dgm:cxn modelId="{DCA4EF46-6C6A-495E-AE04-4D06B4C07745}" srcId="{346964DC-59CE-4D5E-B10B-72CF448968BB}" destId="{4F795D9F-0658-47BE-938C-2C61156A8E0C}" srcOrd="0" destOrd="0" parTransId="{EF145151-8C24-401F-AB58-AFBF6E718D87}" sibTransId="{2D97B5A6-45FD-4ED1-9C98-5E3E0EA82CB5}"/>
    <dgm:cxn modelId="{FA3A866A-57B2-48F3-BA38-008525563E9D}" type="presOf" srcId="{4F795D9F-0658-47BE-938C-2C61156A8E0C}" destId="{0026EC03-B6A1-4AC9-82C7-B615A69F968D}" srcOrd="0" destOrd="0" presId="urn:microsoft.com/office/officeart/2005/8/layout/matrix1"/>
    <dgm:cxn modelId="{6DC9AF6E-36F6-4EE2-8165-FB1585F9C8E3}" type="presOf" srcId="{9318E567-FFD3-48CC-9852-8628C8FE11D0}" destId="{47BCA2B4-79CB-4D7B-8106-1AADB18F2D3A}" srcOrd="0" destOrd="0" presId="urn:microsoft.com/office/officeart/2005/8/layout/matrix1"/>
    <dgm:cxn modelId="{5B65A87B-9991-4B0F-A233-56CBBAB59016}" srcId="{4F795D9F-0658-47BE-938C-2C61156A8E0C}" destId="{5C8DD45A-C4AE-4EA0-8032-922969A4E25A}" srcOrd="1" destOrd="0" parTransId="{3BF3E467-7C6F-4B8B-95E8-2EA69DB67B73}" sibTransId="{9A6AB7C9-870E-4394-B12D-70717AFEBE93}"/>
    <dgm:cxn modelId="{9DCCA9A2-477F-41DB-8C61-C1091798F496}" type="presOf" srcId="{5E4D5AD2-8DBA-463F-A7F7-A07681104836}" destId="{BDC81546-F943-4FB8-BBBB-C154B80EA669}" srcOrd="1" destOrd="0" presId="urn:microsoft.com/office/officeart/2005/8/layout/matrix1"/>
    <dgm:cxn modelId="{619074AD-BEEF-4231-B7A6-7EA759886D23}" type="presOf" srcId="{9318E567-FFD3-48CC-9852-8628C8FE11D0}" destId="{6A44D7C2-42F4-4765-9C85-7BAA37AC6B43}" srcOrd="1" destOrd="0" presId="urn:microsoft.com/office/officeart/2005/8/layout/matrix1"/>
    <dgm:cxn modelId="{A46828C3-F0D0-46DB-8233-56DA1EC57F29}" type="presOf" srcId="{346964DC-59CE-4D5E-B10B-72CF448968BB}" destId="{499BE520-192E-4616-B7B6-BB672F7D3056}" srcOrd="0" destOrd="0" presId="urn:microsoft.com/office/officeart/2005/8/layout/matrix1"/>
    <dgm:cxn modelId="{06808CC9-1CBC-4F99-B510-A5F60BBD72B7}" srcId="{4F795D9F-0658-47BE-938C-2C61156A8E0C}" destId="{9318E567-FFD3-48CC-9852-8628C8FE11D0}" srcOrd="0" destOrd="0" parTransId="{FC625C21-750F-49A5-B8EC-705C2308D69B}" sibTransId="{414A1485-1499-4F9A-A67D-82D5D8874E1F}"/>
    <dgm:cxn modelId="{67CBFDDE-8E2B-47BA-9F16-D3C9B40CCF65}" type="presOf" srcId="{5C8DD45A-C4AE-4EA0-8032-922969A4E25A}" destId="{3E584DC0-37D5-4D22-A506-A2D3B852D64E}" srcOrd="1" destOrd="0" presId="urn:microsoft.com/office/officeart/2005/8/layout/matrix1"/>
    <dgm:cxn modelId="{3EF15A91-8894-47D8-8905-9E360114DA0E}" type="presParOf" srcId="{499BE520-192E-4616-B7B6-BB672F7D3056}" destId="{86118D32-5342-40B3-9A33-623708D0F25F}" srcOrd="0" destOrd="0" presId="urn:microsoft.com/office/officeart/2005/8/layout/matrix1"/>
    <dgm:cxn modelId="{C9497278-2475-44FF-A711-531CD905CA9D}" type="presParOf" srcId="{86118D32-5342-40B3-9A33-623708D0F25F}" destId="{47BCA2B4-79CB-4D7B-8106-1AADB18F2D3A}" srcOrd="0" destOrd="0" presId="urn:microsoft.com/office/officeart/2005/8/layout/matrix1"/>
    <dgm:cxn modelId="{6049DDE0-D56A-465C-9C15-D4C4F58948EA}" type="presParOf" srcId="{86118D32-5342-40B3-9A33-623708D0F25F}" destId="{6A44D7C2-42F4-4765-9C85-7BAA37AC6B43}" srcOrd="1" destOrd="0" presId="urn:microsoft.com/office/officeart/2005/8/layout/matrix1"/>
    <dgm:cxn modelId="{12BEAC49-A06A-4CB8-B4FB-578B93AD7852}" type="presParOf" srcId="{86118D32-5342-40B3-9A33-623708D0F25F}" destId="{29B7F1B5-27E7-4F19-8516-ADB4437A535A}" srcOrd="2" destOrd="0" presId="urn:microsoft.com/office/officeart/2005/8/layout/matrix1"/>
    <dgm:cxn modelId="{9FBAD76D-F6B6-4196-8AC0-FF20CE012B03}" type="presParOf" srcId="{86118D32-5342-40B3-9A33-623708D0F25F}" destId="{3E584DC0-37D5-4D22-A506-A2D3B852D64E}" srcOrd="3" destOrd="0" presId="urn:microsoft.com/office/officeart/2005/8/layout/matrix1"/>
    <dgm:cxn modelId="{711211A3-AB5F-4F1B-95E7-CF70584CD846}" type="presParOf" srcId="{86118D32-5342-40B3-9A33-623708D0F25F}" destId="{2260CE30-23C8-46BF-A0C3-A0E8A45FE8C0}" srcOrd="4" destOrd="0" presId="urn:microsoft.com/office/officeart/2005/8/layout/matrix1"/>
    <dgm:cxn modelId="{DC51E854-26E0-409A-B822-A494C0EBCBE2}" type="presParOf" srcId="{86118D32-5342-40B3-9A33-623708D0F25F}" destId="{BDC81546-F943-4FB8-BBBB-C154B80EA669}" srcOrd="5" destOrd="0" presId="urn:microsoft.com/office/officeart/2005/8/layout/matrix1"/>
    <dgm:cxn modelId="{F98381DA-C79B-4530-B7C3-B50EA451EA18}" type="presParOf" srcId="{86118D32-5342-40B3-9A33-623708D0F25F}" destId="{41450243-9202-4993-93B9-C6B6C9F83A21}" srcOrd="6" destOrd="0" presId="urn:microsoft.com/office/officeart/2005/8/layout/matrix1"/>
    <dgm:cxn modelId="{D546A695-5C6D-4B96-A879-0C5364DA4939}" type="presParOf" srcId="{86118D32-5342-40B3-9A33-623708D0F25F}" destId="{4335D33F-E9A2-486F-8D5E-7313D7BDF7E5}" srcOrd="7" destOrd="0" presId="urn:microsoft.com/office/officeart/2005/8/layout/matrix1"/>
    <dgm:cxn modelId="{D323BD56-5414-466A-B64D-9C35B8ED2CC8}" type="presParOf" srcId="{499BE520-192E-4616-B7B6-BB672F7D3056}" destId="{0026EC03-B6A1-4AC9-82C7-B615A69F968D}"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BCA2B4-79CB-4D7B-8106-1AADB18F2D3A}">
      <dsp:nvSpPr>
        <dsp:cNvPr id="0" name=""/>
        <dsp:cNvSpPr/>
      </dsp:nvSpPr>
      <dsp:spPr>
        <a:xfrm rot="16200000">
          <a:off x="677333" y="-677333"/>
          <a:ext cx="2709333" cy="4064000"/>
        </a:xfrm>
        <a:prstGeom prst="round1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91592" tIns="291592" rIns="291592" bIns="291592" numCol="1" spcCol="1270" anchor="ctr" anchorCtr="0">
          <a:noAutofit/>
        </a:bodyPr>
        <a:lstStyle/>
        <a:p>
          <a:pPr marL="0" lvl="0" indent="0" algn="ctr" defTabSz="1822450">
            <a:lnSpc>
              <a:spcPct val="90000"/>
            </a:lnSpc>
            <a:spcBef>
              <a:spcPct val="0"/>
            </a:spcBef>
            <a:spcAft>
              <a:spcPct val="35000"/>
            </a:spcAft>
            <a:buNone/>
          </a:pPr>
          <a:r>
            <a:rPr lang="en-US" sz="4100" kern="1200" dirty="0"/>
            <a:t>confidentiality</a:t>
          </a:r>
          <a:endParaRPr lang="en-IN" sz="4100" kern="1200" dirty="0"/>
        </a:p>
      </dsp:txBody>
      <dsp:txXfrm rot="5400000">
        <a:off x="-1" y="1"/>
        <a:ext cx="4064000" cy="2032000"/>
      </dsp:txXfrm>
    </dsp:sp>
    <dsp:sp modelId="{29B7F1B5-27E7-4F19-8516-ADB4437A535A}">
      <dsp:nvSpPr>
        <dsp:cNvPr id="0" name=""/>
        <dsp:cNvSpPr/>
      </dsp:nvSpPr>
      <dsp:spPr>
        <a:xfrm>
          <a:off x="4064000" y="0"/>
          <a:ext cx="4064000" cy="2709333"/>
        </a:xfrm>
        <a:prstGeom prst="round1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91592" tIns="291592" rIns="291592" bIns="291592" numCol="1" spcCol="1270" anchor="ctr" anchorCtr="0">
          <a:noAutofit/>
        </a:bodyPr>
        <a:lstStyle/>
        <a:p>
          <a:pPr marL="0" lvl="0" indent="0" algn="ctr" defTabSz="1822450">
            <a:lnSpc>
              <a:spcPct val="90000"/>
            </a:lnSpc>
            <a:spcBef>
              <a:spcPct val="0"/>
            </a:spcBef>
            <a:spcAft>
              <a:spcPct val="35000"/>
            </a:spcAft>
            <a:buNone/>
          </a:pPr>
          <a:r>
            <a:rPr lang="en-US" sz="4100" kern="1200" dirty="0"/>
            <a:t>Integrity</a:t>
          </a:r>
          <a:endParaRPr lang="en-IN" sz="4100" kern="1200" dirty="0"/>
        </a:p>
      </dsp:txBody>
      <dsp:txXfrm>
        <a:off x="4064000" y="0"/>
        <a:ext cx="4064000" cy="2032000"/>
      </dsp:txXfrm>
    </dsp:sp>
    <dsp:sp modelId="{2260CE30-23C8-46BF-A0C3-A0E8A45FE8C0}">
      <dsp:nvSpPr>
        <dsp:cNvPr id="0" name=""/>
        <dsp:cNvSpPr/>
      </dsp:nvSpPr>
      <dsp:spPr>
        <a:xfrm rot="10800000">
          <a:off x="0" y="2709333"/>
          <a:ext cx="4064000" cy="2709333"/>
        </a:xfrm>
        <a:prstGeom prst="round1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91592" tIns="291592" rIns="291592" bIns="291592" numCol="1" spcCol="1270" anchor="ctr" anchorCtr="0">
          <a:noAutofit/>
        </a:bodyPr>
        <a:lstStyle/>
        <a:p>
          <a:pPr marL="0" lvl="0" indent="0" algn="ctr" defTabSz="1822450">
            <a:lnSpc>
              <a:spcPct val="90000"/>
            </a:lnSpc>
            <a:spcBef>
              <a:spcPct val="0"/>
            </a:spcBef>
            <a:spcAft>
              <a:spcPct val="35000"/>
            </a:spcAft>
            <a:buNone/>
          </a:pPr>
          <a:r>
            <a:rPr lang="en-US" sz="4100" kern="1200" dirty="0"/>
            <a:t>Availability</a:t>
          </a:r>
          <a:endParaRPr lang="en-IN" sz="4100" kern="1200" dirty="0"/>
        </a:p>
      </dsp:txBody>
      <dsp:txXfrm rot="10800000">
        <a:off x="0" y="3386666"/>
        <a:ext cx="4064000" cy="2032000"/>
      </dsp:txXfrm>
    </dsp:sp>
    <dsp:sp modelId="{41450243-9202-4993-93B9-C6B6C9F83A21}">
      <dsp:nvSpPr>
        <dsp:cNvPr id="0" name=""/>
        <dsp:cNvSpPr/>
      </dsp:nvSpPr>
      <dsp:spPr>
        <a:xfrm rot="5400000">
          <a:off x="4741333" y="2032000"/>
          <a:ext cx="2709333" cy="4064000"/>
        </a:xfrm>
        <a:prstGeom prst="round1Rect">
          <a:avLst/>
        </a:prstGeom>
        <a:blipFill rotWithShape="1">
          <a:blip xmlns:r="http://schemas.openxmlformats.org/officeDocument/2006/relationships" r:embed="rId1">
            <a:duotone>
              <a:schemeClr val="accent1">
                <a:hueOff val="0"/>
                <a:satOff val="0"/>
                <a:lumOff val="0"/>
                <a:alphaOff val="0"/>
                <a:shade val="36000"/>
                <a:satMod val="120000"/>
              </a:schemeClr>
              <a:schemeClr val="accent1">
                <a:hueOff val="0"/>
                <a:satOff val="0"/>
                <a:lumOff val="0"/>
                <a:alphaOff val="0"/>
                <a:tint val="40000"/>
              </a:schemeClr>
            </a:duotone>
          </a:blip>
          <a:tile tx="0" ty="0" sx="60000" sy="59000" flip="none" algn="tl"/>
        </a:blipFill>
        <a:ln>
          <a:noFill/>
        </a:ln>
        <a:effectLst>
          <a:softEdge rad="1270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026EC03-B6A1-4AC9-82C7-B615A69F968D}">
      <dsp:nvSpPr>
        <dsp:cNvPr id="0" name=""/>
        <dsp:cNvSpPr/>
      </dsp:nvSpPr>
      <dsp:spPr>
        <a:xfrm>
          <a:off x="2844799" y="2032000"/>
          <a:ext cx="2438400" cy="1354666"/>
        </a:xfrm>
        <a:prstGeom prst="roundRect">
          <a:avLst/>
        </a:prstGeom>
        <a:solidFill>
          <a:schemeClr val="accent1">
            <a:tint val="60000"/>
            <a:hueOff val="0"/>
            <a:satOff val="0"/>
            <a:lumOff val="0"/>
            <a:alphaOff val="0"/>
          </a:schemeClr>
        </a:solidFill>
        <a:ln>
          <a:noFill/>
        </a:ln>
        <a:effectLst>
          <a:outerShdw blurRad="50800" dist="19050" dir="5400000" algn="tl" rotWithShape="0">
            <a:srgbClr val="000000">
              <a:alpha val="60000"/>
            </a:srgbClr>
          </a:outerShdw>
          <a:softEdge rad="12700"/>
        </a:effectLst>
        <a:scene3d>
          <a:camera prst="orthographicFront"/>
          <a:lightRig rig="flat" dir="t"/>
        </a:scene3d>
        <a:sp3d z="190500" prstMaterial="plastic">
          <a:bevelT w="120900" h="88900"/>
          <a:bevelB w="88900" h="31750" prst="angle"/>
        </a:sp3d>
      </dsp:spPr>
      <dsp:style>
        <a:lnRef idx="0">
          <a:scrgbClr r="0" g="0" b="0"/>
        </a:lnRef>
        <a:fillRef idx="1">
          <a:scrgbClr r="0" g="0" b="0"/>
        </a:fillRef>
        <a:effectRef idx="3">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Security</a:t>
          </a:r>
          <a:endParaRPr lang="en-IN" sz="4100" kern="1200" dirty="0"/>
        </a:p>
      </dsp:txBody>
      <dsp:txXfrm>
        <a:off x="2910928" y="2098129"/>
        <a:ext cx="2306142" cy="1222408"/>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11/11/2025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11/11/2025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11/11/2025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Computer Security Threats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988010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Computer Security Concepts,</a:t>
            </a:r>
          </a:p>
          <a:p>
            <a:r>
              <a:rPr lang="en-IN" dirty="0"/>
              <a:t>Threats,</a:t>
            </a:r>
          </a:p>
          <a:p>
            <a:r>
              <a:rPr lang="en-IN" dirty="0"/>
              <a:t>Attacks,</a:t>
            </a:r>
          </a:p>
          <a:p>
            <a:r>
              <a:rPr lang="en-IN" dirty="0"/>
              <a:t>Assets,</a:t>
            </a:r>
          </a:p>
          <a:p>
            <a:r>
              <a:rPr lang="en-IN" dirty="0"/>
              <a:t>Intruders</a:t>
            </a:r>
          </a:p>
          <a:p>
            <a:r>
              <a:rPr lang="en-US" dirty="0"/>
              <a:t>Malware and Its Impact on System Security</a:t>
            </a:r>
          </a:p>
          <a:p>
            <a:r>
              <a:rPr lang="en-US" dirty="0"/>
              <a:t>Social Engineering and Human-Centric Threats</a:t>
            </a:r>
          </a:p>
          <a:p>
            <a:r>
              <a:rPr lang="en-US" dirty="0"/>
              <a:t>Insider Threats and Organizational Risks</a:t>
            </a:r>
            <a:endParaRPr lang="en-IN" dirty="0"/>
          </a:p>
        </p:txBody>
      </p:sp>
      <p:sp>
        <p:nvSpPr>
          <p:cNvPr id="4" name="Text Placeholder 3"/>
          <p:cNvSpPr>
            <a:spLocks noGrp="1"/>
          </p:cNvSpPr>
          <p:nvPr>
            <p:ph type="body" sz="half" idx="2"/>
          </p:nvPr>
        </p:nvSpPr>
        <p:spPr/>
        <p:txBody>
          <a:bodyPr/>
          <a:lstStyle/>
          <a:p>
            <a:endParaRPr lang="en-IN"/>
          </a:p>
        </p:txBody>
      </p:sp>
    </p:spTree>
    <p:extLst>
      <p:ext uri="{BB962C8B-B14F-4D97-AF65-F5344CB8AC3E}">
        <p14:creationId xmlns:p14="http://schemas.microsoft.com/office/powerpoint/2010/main" val="327003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Computer Security</a:t>
            </a:r>
          </a:p>
        </p:txBody>
      </p:sp>
      <p:sp>
        <p:nvSpPr>
          <p:cNvPr id="3" name="Subtitle 2"/>
          <p:cNvSpPr>
            <a:spLocks noGrp="1"/>
          </p:cNvSpPr>
          <p:nvPr>
            <p:ph type="subTitle" idx="1"/>
          </p:nvPr>
        </p:nvSpPr>
        <p:spPr/>
        <p:txBody>
          <a:bodyPr/>
          <a:lstStyle/>
          <a:p>
            <a:r>
              <a:rPr lang="en-US" dirty="0"/>
              <a:t>Computer security means protect our computing system</a:t>
            </a:r>
            <a:endParaRPr lang="en-IN" dirty="0"/>
          </a:p>
        </p:txBody>
      </p:sp>
    </p:spTree>
    <p:extLst>
      <p:ext uri="{BB962C8B-B14F-4D97-AF65-F5344CB8AC3E}">
        <p14:creationId xmlns:p14="http://schemas.microsoft.com/office/powerpoint/2010/main" val="962406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Main aspects are:</a:t>
            </a:r>
          </a:p>
        </p:txBody>
      </p:sp>
      <p:sp>
        <p:nvSpPr>
          <p:cNvPr id="3" name="Content Placeholder 2"/>
          <p:cNvSpPr>
            <a:spLocks noGrp="1"/>
          </p:cNvSpPr>
          <p:nvPr>
            <p:ph idx="1"/>
          </p:nvPr>
        </p:nvSpPr>
        <p:spPr/>
        <p:txBody>
          <a:bodyPr/>
          <a:lstStyle/>
          <a:p>
            <a:r>
              <a:rPr lang="en-US" dirty="0"/>
              <a:t>Prevention:- Prevent your assets from being damaged</a:t>
            </a:r>
          </a:p>
          <a:p>
            <a:r>
              <a:rPr lang="en-US" dirty="0"/>
              <a:t>Detection :- Detect when assets has been damage</a:t>
            </a:r>
          </a:p>
          <a:p>
            <a:r>
              <a:rPr lang="en-IN" dirty="0"/>
              <a:t>Reaction:- Recover your assets</a:t>
            </a:r>
          </a:p>
          <a:p>
            <a:endParaRPr lang="en-US" dirty="0"/>
          </a:p>
          <a:p>
            <a:endParaRPr lang="en-US" dirty="0"/>
          </a:p>
          <a:p>
            <a:r>
              <a:rPr lang="en-US" dirty="0"/>
              <a:t>Computer Security: - Ensuring the data stored in a computer cannot be read or compromised by an individual‘s without authorization.</a:t>
            </a:r>
          </a:p>
          <a:p>
            <a:endParaRPr lang="en-US" dirty="0"/>
          </a:p>
          <a:p>
            <a:r>
              <a:rPr lang="en-US" dirty="0"/>
              <a:t>Most computer security measures involve data encryption and passwords.</a:t>
            </a:r>
            <a:endParaRPr lang="en-IN" dirty="0"/>
          </a:p>
        </p:txBody>
      </p:sp>
    </p:spTree>
    <p:extLst>
      <p:ext uri="{BB962C8B-B14F-4D97-AF65-F5344CB8AC3E}">
        <p14:creationId xmlns:p14="http://schemas.microsoft.com/office/powerpoint/2010/main" val="2687059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3591340" cy="1609344"/>
          </a:xfrm>
        </p:spPr>
        <p:txBody>
          <a:bodyPr/>
          <a:lstStyle/>
          <a:p>
            <a:r>
              <a:rPr lang="en-IN" dirty="0"/>
              <a:t>Computer Security</a:t>
            </a:r>
          </a:p>
        </p:txBody>
      </p:sp>
      <p:sp>
        <p:nvSpPr>
          <p:cNvPr id="3" name="Content Placeholder 2"/>
          <p:cNvSpPr>
            <a:spLocks noGrp="1"/>
          </p:cNvSpPr>
          <p:nvPr>
            <p:ph idx="1"/>
          </p:nvPr>
        </p:nvSpPr>
        <p:spPr>
          <a:xfrm>
            <a:off x="1069848" y="2412956"/>
            <a:ext cx="3316622" cy="4050792"/>
          </a:xfrm>
        </p:spPr>
        <p:txBody>
          <a:bodyPr/>
          <a:lstStyle/>
          <a:p>
            <a:r>
              <a:rPr lang="en-US" dirty="0"/>
              <a:t>The purpose of computer security is to device ways to prevent the weaknesses from being.</a:t>
            </a:r>
            <a:endParaRPr lang="en-IN" dirty="0"/>
          </a:p>
        </p:txBody>
      </p:sp>
      <p:pic>
        <p:nvPicPr>
          <p:cNvPr id="4" name="Picture 3"/>
          <p:cNvPicPr>
            <a:picLocks noChangeAspect="1"/>
          </p:cNvPicPr>
          <p:nvPr/>
        </p:nvPicPr>
        <p:blipFill rotWithShape="1">
          <a:blip r:embed="rId2"/>
          <a:srcRect l="32787" t="34466" r="37065" b="28940"/>
          <a:stretch/>
        </p:blipFill>
        <p:spPr>
          <a:xfrm>
            <a:off x="4661188" y="391867"/>
            <a:ext cx="6794606" cy="5979116"/>
          </a:xfrm>
          <a:prstGeom prst="rect">
            <a:avLst/>
          </a:prstGeom>
        </p:spPr>
      </p:pic>
    </p:spTree>
    <p:extLst>
      <p:ext uri="{BB962C8B-B14F-4D97-AF65-F5344CB8AC3E}">
        <p14:creationId xmlns:p14="http://schemas.microsoft.com/office/powerpoint/2010/main" val="3353693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Goals in Computing Security</a:t>
            </a:r>
            <a:endParaRPr lang="en-IN" dirty="0"/>
          </a:p>
        </p:txBody>
      </p:sp>
      <p:sp>
        <p:nvSpPr>
          <p:cNvPr id="3" name="Text Placeholder 2"/>
          <p:cNvSpPr>
            <a:spLocks noGrp="1"/>
          </p:cNvSpPr>
          <p:nvPr>
            <p:ph type="body" idx="1"/>
          </p:nvPr>
        </p:nvSpPr>
        <p:spPr/>
        <p:txBody>
          <a:bodyPr/>
          <a:lstStyle/>
          <a:p>
            <a:r>
              <a:rPr lang="en-US" dirty="0"/>
              <a:t>Three goals of computer security are 1. Confidentiality 2. Integrity 3. Availability</a:t>
            </a:r>
            <a:endParaRPr lang="en-IN" dirty="0"/>
          </a:p>
        </p:txBody>
      </p:sp>
    </p:spTree>
    <p:extLst>
      <p:ext uri="{BB962C8B-B14F-4D97-AF65-F5344CB8AC3E}">
        <p14:creationId xmlns:p14="http://schemas.microsoft.com/office/powerpoint/2010/main" val="4263315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22643" y="1987826"/>
            <a:ext cx="1764266" cy="369332"/>
          </a:xfrm>
          <a:prstGeom prst="rect">
            <a:avLst/>
          </a:prstGeom>
          <a:noFill/>
        </p:spPr>
        <p:txBody>
          <a:bodyPr wrap="none" rtlCol="0">
            <a:spAutoFit/>
          </a:bodyPr>
          <a:lstStyle/>
          <a:p>
            <a:r>
              <a:rPr lang="en-IN" dirty="0"/>
              <a:t>Confidentiality</a:t>
            </a:r>
          </a:p>
        </p:txBody>
      </p:sp>
      <p:graphicFrame>
        <p:nvGraphicFramePr>
          <p:cNvPr id="4" name="Diagram 3"/>
          <p:cNvGraphicFramePr/>
          <p:nvPr>
            <p:extLst>
              <p:ext uri="{D42A27DB-BD31-4B8C-83A1-F6EECF244321}">
                <p14:modId xmlns:p14="http://schemas.microsoft.com/office/powerpoint/2010/main" val="33769872"/>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7540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computer security important?</a:t>
            </a:r>
            <a:endParaRPr lang="en-IN" dirty="0"/>
          </a:p>
        </p:txBody>
      </p:sp>
      <p:sp>
        <p:nvSpPr>
          <p:cNvPr id="3" name="Content Placeholder 2"/>
          <p:cNvSpPr>
            <a:spLocks noGrp="1"/>
          </p:cNvSpPr>
          <p:nvPr>
            <p:ph idx="1"/>
          </p:nvPr>
        </p:nvSpPr>
        <p:spPr/>
        <p:txBody>
          <a:bodyPr>
            <a:normAutofit fontScale="92500" lnSpcReduction="20000"/>
          </a:bodyPr>
          <a:lstStyle/>
          <a:p>
            <a:r>
              <a:rPr lang="en-US" dirty="0"/>
              <a:t>Computer security is important, primarily to keep your information protected. It‘s also important for your computer‘s overall health, helping to prevent viruses and malware and allowing programs to run more smoothly. Security is needed due to following reason.</a:t>
            </a:r>
          </a:p>
          <a:p>
            <a:r>
              <a:rPr lang="en-US" b="1" dirty="0"/>
              <a:t>1.Privacy</a:t>
            </a:r>
            <a:r>
              <a:rPr lang="en-US" dirty="0"/>
              <a:t>:- It defines the right of individuals to hold information about themselves in secret, free from the knowledge of others </a:t>
            </a:r>
          </a:p>
          <a:p>
            <a:r>
              <a:rPr lang="en-US" dirty="0"/>
              <a:t>2. </a:t>
            </a:r>
            <a:r>
              <a:rPr lang="en-US" b="1" dirty="0"/>
              <a:t>Accuracy</a:t>
            </a:r>
            <a:r>
              <a:rPr lang="en-US" dirty="0"/>
              <a:t>: - Most of damages of data is caused by errors and omissions. An organization always needs accurate data for transaction processing, providing better service and making </a:t>
            </a:r>
          </a:p>
          <a:p>
            <a:r>
              <a:rPr lang="en-US" dirty="0"/>
              <a:t>3. </a:t>
            </a:r>
            <a:r>
              <a:rPr lang="en-US" b="1" dirty="0"/>
              <a:t>Threats</a:t>
            </a:r>
            <a:r>
              <a:rPr lang="en-US" dirty="0"/>
              <a:t> by dishonest employ </a:t>
            </a:r>
          </a:p>
          <a:p>
            <a:r>
              <a:rPr lang="en-US" dirty="0"/>
              <a:t>4. </a:t>
            </a:r>
            <a:r>
              <a:rPr lang="en-US" b="1" dirty="0"/>
              <a:t>Computer</a:t>
            </a:r>
            <a:r>
              <a:rPr lang="en-US" dirty="0"/>
              <a:t> Crimes:- When computer resources can be misused for unauthorized or illegal function </a:t>
            </a:r>
          </a:p>
          <a:p>
            <a:r>
              <a:rPr lang="en-US" dirty="0"/>
              <a:t>5. </a:t>
            </a:r>
            <a:r>
              <a:rPr lang="en-US" b="1" dirty="0"/>
              <a:t>Threats for fire and Natural Disasters:- </a:t>
            </a:r>
            <a:r>
              <a:rPr lang="en-US" dirty="0"/>
              <a:t>fire and natural disasters like floods, storms, lightening </a:t>
            </a:r>
            <a:r>
              <a:rPr lang="en-US" dirty="0" err="1"/>
              <a:t>etc</a:t>
            </a:r>
            <a:endParaRPr lang="en-IN" dirty="0"/>
          </a:p>
        </p:txBody>
      </p:sp>
    </p:spTree>
    <p:extLst>
      <p:ext uri="{BB962C8B-B14F-4D97-AF65-F5344CB8AC3E}">
        <p14:creationId xmlns:p14="http://schemas.microsoft.com/office/powerpoint/2010/main" val="2150133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THREATS</a:t>
            </a:r>
          </a:p>
        </p:txBody>
      </p:sp>
      <p:sp>
        <p:nvSpPr>
          <p:cNvPr id="3" name="Subtitle 2"/>
          <p:cNvSpPr>
            <a:spLocks noGrp="1"/>
          </p:cNvSpPr>
          <p:nvPr>
            <p:ph type="subTitle" idx="1"/>
          </p:nvPr>
        </p:nvSpPr>
        <p:spPr>
          <a:xfrm>
            <a:off x="1051559" y="3591340"/>
            <a:ext cx="8649031" cy="2663686"/>
          </a:xfrm>
        </p:spPr>
        <p:txBody>
          <a:bodyPr>
            <a:normAutofit fontScale="92500" lnSpcReduction="10000"/>
          </a:bodyPr>
          <a:lstStyle/>
          <a:p>
            <a:pPr marL="342900" indent="-342900">
              <a:buFont typeface="Wingdings" panose="05000000000000000000" pitchFamily="2" charset="2"/>
              <a:buChar char="§"/>
            </a:pPr>
            <a:r>
              <a:rPr lang="en-US" dirty="0"/>
              <a:t>A threat to a computing system is a </a:t>
            </a:r>
            <a:r>
              <a:rPr lang="en-US" dirty="0">
                <a:solidFill>
                  <a:srgbClr val="FF0000"/>
                </a:solidFill>
              </a:rPr>
              <a:t>set of circumstances </a:t>
            </a:r>
            <a:r>
              <a:rPr lang="en-US" dirty="0"/>
              <a:t>that has the potential to cause loss or harm.</a:t>
            </a:r>
          </a:p>
          <a:p>
            <a:pPr marL="342900" indent="-342900">
              <a:buFont typeface="Wingdings" panose="05000000000000000000" pitchFamily="2" charset="2"/>
              <a:buChar char="§"/>
            </a:pPr>
            <a:r>
              <a:rPr lang="en-US" dirty="0"/>
              <a:t>A threat can be an </a:t>
            </a:r>
            <a:r>
              <a:rPr lang="en-US" b="1" dirty="0"/>
              <a:t>object or person or other entity </a:t>
            </a:r>
            <a:r>
              <a:rPr lang="en-US" dirty="0"/>
              <a:t>that represents a constant danger to an asset.</a:t>
            </a:r>
          </a:p>
          <a:p>
            <a:pPr marL="342900" indent="-342900">
              <a:buFont typeface="Wingdings" panose="05000000000000000000" pitchFamily="2" charset="2"/>
              <a:buChar char="§"/>
            </a:pPr>
            <a:r>
              <a:rPr lang="en-US" dirty="0"/>
              <a:t>There are many threats to a computer system, including </a:t>
            </a:r>
            <a:r>
              <a:rPr lang="en-US" b="1" dirty="0"/>
              <a:t>human-initiated and computer- initiated ones.</a:t>
            </a:r>
          </a:p>
          <a:p>
            <a:pPr marL="342900" indent="-342900">
              <a:buFont typeface="Wingdings" panose="05000000000000000000" pitchFamily="2" charset="2"/>
              <a:buChar char="§"/>
            </a:pPr>
            <a:r>
              <a:rPr lang="en-US" dirty="0"/>
              <a:t>A threat is blocked by control of vulnerability (Weakness of the system).</a:t>
            </a:r>
            <a:endParaRPr lang="en-IN" dirty="0"/>
          </a:p>
        </p:txBody>
      </p:sp>
    </p:spTree>
    <p:extLst>
      <p:ext uri="{BB962C8B-B14F-4D97-AF65-F5344CB8AC3E}">
        <p14:creationId xmlns:p14="http://schemas.microsoft.com/office/powerpoint/2010/main" val="352837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 can view any threat as being one of four</a:t>
            </a:r>
            <a:endParaRPr lang="en-IN" dirty="0"/>
          </a:p>
        </p:txBody>
      </p:sp>
      <p:sp>
        <p:nvSpPr>
          <p:cNvPr id="3" name="Content Placeholder 2"/>
          <p:cNvSpPr>
            <a:spLocks noGrp="1"/>
          </p:cNvSpPr>
          <p:nvPr>
            <p:ph idx="1"/>
          </p:nvPr>
        </p:nvSpPr>
        <p:spPr/>
        <p:txBody>
          <a:bodyPr/>
          <a:lstStyle/>
          <a:p>
            <a:r>
              <a:rPr lang="en-US" dirty="0"/>
              <a:t>•An interception means that some unauthorized party has gained access to an asset. The outside party can be a person, a program, or a computing system.</a:t>
            </a:r>
          </a:p>
          <a:p>
            <a:endParaRPr lang="en-US" dirty="0"/>
          </a:p>
          <a:p>
            <a:r>
              <a:rPr lang="en-US" dirty="0"/>
              <a:t>In an interruption is an asset of the system becomes lost, unavailable, or unusable.</a:t>
            </a:r>
          </a:p>
          <a:p>
            <a:r>
              <a:rPr lang="en-US" dirty="0"/>
              <a:t>If an unauthorized party not only accesses but tampers with an asset, is called as a modification.</a:t>
            </a:r>
          </a:p>
          <a:p>
            <a:r>
              <a:rPr lang="en-US" dirty="0"/>
              <a:t>An unauthorized party might create a fabrication of counterfeit objects on a computing system.</a:t>
            </a:r>
          </a:p>
          <a:p>
            <a:r>
              <a:rPr lang="en-US" dirty="0"/>
              <a:t>The intruder may insert spurious transactions to a network communication system or add records to an existing database.</a:t>
            </a:r>
            <a:endParaRPr lang="en-IN" dirty="0"/>
          </a:p>
        </p:txBody>
      </p:sp>
    </p:spTree>
    <p:extLst>
      <p:ext uri="{BB962C8B-B14F-4D97-AF65-F5344CB8AC3E}">
        <p14:creationId xmlns:p14="http://schemas.microsoft.com/office/powerpoint/2010/main" val="510148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447842" y="800721"/>
            <a:ext cx="5363345" cy="4937471"/>
          </a:xfrm>
          <a:prstGeom prst="rect">
            <a:avLst/>
          </a:prstGeom>
        </p:spPr>
      </p:pic>
    </p:spTree>
    <p:extLst>
      <p:ext uri="{BB962C8B-B14F-4D97-AF65-F5344CB8AC3E}">
        <p14:creationId xmlns:p14="http://schemas.microsoft.com/office/powerpoint/2010/main" val="200952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Kinds of threats</a:t>
            </a:r>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984001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Interruption -</a:t>
            </a:r>
            <a:endParaRPr lang="en-IN" dirty="0"/>
          </a:p>
        </p:txBody>
      </p:sp>
      <p:sp>
        <p:nvSpPr>
          <p:cNvPr id="3" name="Content Placeholder 2"/>
          <p:cNvSpPr>
            <a:spLocks noGrp="1"/>
          </p:cNvSpPr>
          <p:nvPr>
            <p:ph idx="1"/>
          </p:nvPr>
        </p:nvSpPr>
        <p:spPr/>
        <p:txBody>
          <a:bodyPr/>
          <a:lstStyle/>
          <a:p>
            <a:r>
              <a:rPr lang="en-US" dirty="0"/>
              <a:t>An asset of the system is destroyed of becomes unavailable or unusable </a:t>
            </a:r>
          </a:p>
          <a:p>
            <a:r>
              <a:rPr lang="en-US" dirty="0"/>
              <a:t>– Attack on availability</a:t>
            </a:r>
          </a:p>
          <a:p>
            <a:r>
              <a:rPr lang="en-US" dirty="0"/>
              <a:t>- Destruction of hardware </a:t>
            </a:r>
          </a:p>
          <a:p>
            <a:r>
              <a:rPr lang="en-US" dirty="0"/>
              <a:t>– Cutting of a communication line </a:t>
            </a:r>
          </a:p>
          <a:p>
            <a:r>
              <a:rPr lang="en-US" dirty="0"/>
              <a:t>– Disabling the file management system</a:t>
            </a:r>
            <a:endParaRPr lang="en-IN" dirty="0"/>
          </a:p>
        </p:txBody>
      </p:sp>
      <p:pic>
        <p:nvPicPr>
          <p:cNvPr id="4" name="Picture 3"/>
          <p:cNvPicPr>
            <a:picLocks noChangeAspect="1"/>
          </p:cNvPicPr>
          <p:nvPr/>
        </p:nvPicPr>
        <p:blipFill>
          <a:blip r:embed="rId2"/>
          <a:stretch>
            <a:fillRect/>
          </a:stretch>
        </p:blipFill>
        <p:spPr>
          <a:xfrm>
            <a:off x="4565580" y="4262851"/>
            <a:ext cx="3372472" cy="1774272"/>
          </a:xfrm>
          <a:prstGeom prst="rect">
            <a:avLst/>
          </a:prstGeom>
        </p:spPr>
      </p:pic>
    </p:spTree>
    <p:extLst>
      <p:ext uri="{BB962C8B-B14F-4D97-AF65-F5344CB8AC3E}">
        <p14:creationId xmlns:p14="http://schemas.microsoft.com/office/powerpoint/2010/main" val="3499983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Interception</a:t>
            </a:r>
          </a:p>
        </p:txBody>
      </p:sp>
      <p:sp>
        <p:nvSpPr>
          <p:cNvPr id="3" name="Content Placeholder 2"/>
          <p:cNvSpPr>
            <a:spLocks noGrp="1"/>
          </p:cNvSpPr>
          <p:nvPr>
            <p:ph idx="1"/>
          </p:nvPr>
        </p:nvSpPr>
        <p:spPr/>
        <p:txBody>
          <a:bodyPr/>
          <a:lstStyle/>
          <a:p>
            <a:r>
              <a:rPr lang="en-US" dirty="0"/>
              <a:t>-An unauthorized party gains access to an asset </a:t>
            </a:r>
          </a:p>
          <a:p>
            <a:r>
              <a:rPr lang="en-US" dirty="0"/>
              <a:t>– Attack on confidentiality</a:t>
            </a:r>
          </a:p>
          <a:p>
            <a:r>
              <a:rPr lang="en-US" dirty="0"/>
              <a:t> – Wiretapping to capture data in a network </a:t>
            </a:r>
          </a:p>
          <a:p>
            <a:r>
              <a:rPr lang="en-US" dirty="0"/>
              <a:t>– Illicit copying of files or programs</a:t>
            </a:r>
          </a:p>
          <a:p>
            <a:endParaRPr lang="en-US" dirty="0"/>
          </a:p>
          <a:p>
            <a:endParaRPr lang="en-US" dirty="0"/>
          </a:p>
          <a:p>
            <a:r>
              <a:rPr lang="en-US" dirty="0"/>
              <a:t>There is a middleman or process or machine trying to intercept</a:t>
            </a:r>
            <a:endParaRPr lang="en-IN" dirty="0"/>
          </a:p>
        </p:txBody>
      </p:sp>
      <p:pic>
        <p:nvPicPr>
          <p:cNvPr id="5" name="Picture 4"/>
          <p:cNvPicPr>
            <a:picLocks noChangeAspect="1"/>
          </p:cNvPicPr>
          <p:nvPr/>
        </p:nvPicPr>
        <p:blipFill>
          <a:blip r:embed="rId2"/>
          <a:stretch>
            <a:fillRect/>
          </a:stretch>
        </p:blipFill>
        <p:spPr>
          <a:xfrm>
            <a:off x="7345846" y="2215597"/>
            <a:ext cx="3541564" cy="1799811"/>
          </a:xfrm>
          <a:prstGeom prst="rect">
            <a:avLst/>
          </a:prstGeom>
        </p:spPr>
      </p:pic>
    </p:spTree>
    <p:extLst>
      <p:ext uri="{BB962C8B-B14F-4D97-AF65-F5344CB8AC3E}">
        <p14:creationId xmlns:p14="http://schemas.microsoft.com/office/powerpoint/2010/main" val="783544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Modification</a:t>
            </a:r>
          </a:p>
        </p:txBody>
      </p:sp>
      <p:pic>
        <p:nvPicPr>
          <p:cNvPr id="4" name="Picture 3"/>
          <p:cNvPicPr>
            <a:picLocks noChangeAspect="1"/>
          </p:cNvPicPr>
          <p:nvPr/>
        </p:nvPicPr>
        <p:blipFill>
          <a:blip r:embed="rId2"/>
          <a:stretch>
            <a:fillRect/>
          </a:stretch>
        </p:blipFill>
        <p:spPr>
          <a:xfrm>
            <a:off x="6824868" y="0"/>
            <a:ext cx="4087617" cy="2170416"/>
          </a:xfrm>
          <a:prstGeom prst="rect">
            <a:avLst/>
          </a:prstGeom>
        </p:spPr>
      </p:pic>
      <p:sp>
        <p:nvSpPr>
          <p:cNvPr id="3" name="Content Placeholder 2"/>
          <p:cNvSpPr>
            <a:spLocks noGrp="1"/>
          </p:cNvSpPr>
          <p:nvPr>
            <p:ph idx="1"/>
          </p:nvPr>
        </p:nvSpPr>
        <p:spPr/>
        <p:txBody>
          <a:bodyPr/>
          <a:lstStyle/>
          <a:p>
            <a:r>
              <a:rPr lang="en-US" dirty="0"/>
              <a:t>An unauthorized party not only gains access but tampers with an asset </a:t>
            </a:r>
          </a:p>
          <a:p>
            <a:r>
              <a:rPr lang="en-US" dirty="0"/>
              <a:t>– Attack on integrity</a:t>
            </a:r>
          </a:p>
          <a:p>
            <a:r>
              <a:rPr lang="en-US" dirty="0"/>
              <a:t> – Changing values in a data file </a:t>
            </a:r>
          </a:p>
          <a:p>
            <a:r>
              <a:rPr lang="en-US" dirty="0"/>
              <a:t>– Altering a program so that it performs differently </a:t>
            </a:r>
          </a:p>
          <a:p>
            <a:r>
              <a:rPr lang="en-US" dirty="0"/>
              <a:t>– Modifying the content of messages being transmitted in a network</a:t>
            </a:r>
          </a:p>
          <a:p>
            <a:endParaRPr lang="en-US" dirty="0"/>
          </a:p>
          <a:p>
            <a:r>
              <a:rPr lang="en-US" dirty="0"/>
              <a:t>Here middleman changes the data and send to the receiver</a:t>
            </a:r>
            <a:endParaRPr lang="en-IN" dirty="0"/>
          </a:p>
        </p:txBody>
      </p:sp>
    </p:spTree>
    <p:extLst>
      <p:ext uri="{BB962C8B-B14F-4D97-AF65-F5344CB8AC3E}">
        <p14:creationId xmlns:p14="http://schemas.microsoft.com/office/powerpoint/2010/main" val="989977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Fabrication</a:t>
            </a:r>
          </a:p>
        </p:txBody>
      </p:sp>
      <p:sp>
        <p:nvSpPr>
          <p:cNvPr id="3" name="Content Placeholder 2"/>
          <p:cNvSpPr>
            <a:spLocks noGrp="1"/>
          </p:cNvSpPr>
          <p:nvPr>
            <p:ph idx="1"/>
          </p:nvPr>
        </p:nvSpPr>
        <p:spPr/>
        <p:txBody>
          <a:bodyPr/>
          <a:lstStyle/>
          <a:p>
            <a:r>
              <a:rPr lang="en-US" dirty="0"/>
              <a:t>--An unauthorized party inserts counterfeit objects into the system</a:t>
            </a:r>
          </a:p>
          <a:p>
            <a:r>
              <a:rPr lang="en-US" dirty="0"/>
              <a:t> – Attack on authenticity </a:t>
            </a:r>
          </a:p>
          <a:p>
            <a:r>
              <a:rPr lang="en-US" dirty="0"/>
              <a:t>– Insertion of spurious messages in a network </a:t>
            </a:r>
          </a:p>
          <a:p>
            <a:r>
              <a:rPr lang="en-US" dirty="0"/>
              <a:t>– Addition of records to a file</a:t>
            </a:r>
          </a:p>
          <a:p>
            <a:endParaRPr lang="en-US" dirty="0"/>
          </a:p>
          <a:p>
            <a:endParaRPr lang="en-US" dirty="0"/>
          </a:p>
          <a:p>
            <a:r>
              <a:rPr lang="en-US" dirty="0"/>
              <a:t>Here sender not sends data to the receiver. Middleman fabricate the data</a:t>
            </a:r>
            <a:endParaRPr lang="en-IN" dirty="0"/>
          </a:p>
        </p:txBody>
      </p:sp>
      <p:pic>
        <p:nvPicPr>
          <p:cNvPr id="4" name="Picture 3"/>
          <p:cNvPicPr>
            <a:picLocks noChangeAspect="1"/>
          </p:cNvPicPr>
          <p:nvPr/>
        </p:nvPicPr>
        <p:blipFill>
          <a:blip r:embed="rId2"/>
          <a:stretch>
            <a:fillRect/>
          </a:stretch>
        </p:blipFill>
        <p:spPr>
          <a:xfrm>
            <a:off x="6838122" y="140597"/>
            <a:ext cx="3705431" cy="1931684"/>
          </a:xfrm>
          <a:prstGeom prst="rect">
            <a:avLst/>
          </a:prstGeom>
        </p:spPr>
      </p:pic>
    </p:spTree>
    <p:extLst>
      <p:ext uri="{BB962C8B-B14F-4D97-AF65-F5344CB8AC3E}">
        <p14:creationId xmlns:p14="http://schemas.microsoft.com/office/powerpoint/2010/main" val="1347518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ATTACKS</a:t>
            </a:r>
          </a:p>
        </p:txBody>
      </p:sp>
      <p:sp>
        <p:nvSpPr>
          <p:cNvPr id="3" name="Subtitle 2"/>
          <p:cNvSpPr>
            <a:spLocks noGrp="1"/>
          </p:cNvSpPr>
          <p:nvPr>
            <p:ph type="subTitle" idx="1"/>
          </p:nvPr>
        </p:nvSpPr>
        <p:spPr/>
        <p:txBody>
          <a:bodyPr>
            <a:normAutofit fontScale="85000" lnSpcReduction="20000"/>
          </a:bodyPr>
          <a:lstStyle/>
          <a:p>
            <a:r>
              <a:rPr lang="en-US" dirty="0"/>
              <a:t>Attack is the process of gaining the access of data by unauthorized user.</a:t>
            </a:r>
          </a:p>
          <a:p>
            <a:r>
              <a:rPr lang="en-US" dirty="0"/>
              <a:t> It is an Act or attack that exploit vulnerability(Weakness of the system)</a:t>
            </a:r>
            <a:endParaRPr lang="en-IN" dirty="0"/>
          </a:p>
        </p:txBody>
      </p:sp>
    </p:spTree>
    <p:extLst>
      <p:ext uri="{BB962C8B-B14F-4D97-AF65-F5344CB8AC3E}">
        <p14:creationId xmlns:p14="http://schemas.microsoft.com/office/powerpoint/2010/main" val="3900557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does Attack mean?</a:t>
            </a:r>
          </a:p>
        </p:txBody>
      </p:sp>
      <p:sp>
        <p:nvSpPr>
          <p:cNvPr id="3" name="Content Placeholder 2"/>
          <p:cNvSpPr>
            <a:spLocks noGrp="1"/>
          </p:cNvSpPr>
          <p:nvPr>
            <p:ph idx="1"/>
          </p:nvPr>
        </p:nvSpPr>
        <p:spPr/>
        <p:txBody>
          <a:bodyPr/>
          <a:lstStyle/>
          <a:p>
            <a:r>
              <a:rPr lang="en-US" dirty="0"/>
              <a:t>An attack is an information security threat that involves an attempt to obtain, alter, destroy, remove, implant or reveal information without authorized access or permission. It happens to both individuals and organizations.</a:t>
            </a:r>
          </a:p>
          <a:p>
            <a:endParaRPr lang="en-US" dirty="0"/>
          </a:p>
          <a:p>
            <a:r>
              <a:rPr lang="en-US" dirty="0"/>
              <a:t>Two types of attacks are.</a:t>
            </a:r>
          </a:p>
          <a:p>
            <a:r>
              <a:rPr lang="en-US" dirty="0"/>
              <a:t>1. Passive attack:-data just accessed by third party, no modification, does not affect system resources </a:t>
            </a:r>
          </a:p>
          <a:p>
            <a:r>
              <a:rPr lang="en-US" dirty="0"/>
              <a:t>2. Active attack:- data will be modified</a:t>
            </a:r>
            <a:endParaRPr lang="en-IN" dirty="0"/>
          </a:p>
        </p:txBody>
      </p:sp>
    </p:spTree>
    <p:extLst>
      <p:ext uri="{BB962C8B-B14F-4D97-AF65-F5344CB8AC3E}">
        <p14:creationId xmlns:p14="http://schemas.microsoft.com/office/powerpoint/2010/main" val="2602762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rotWithShape="1">
          <a:blip r:embed="rId2"/>
          <a:srcRect l="29833" t="36639" r="32990" b="15535"/>
          <a:stretch/>
        </p:blipFill>
        <p:spPr>
          <a:xfrm>
            <a:off x="1069848" y="0"/>
            <a:ext cx="10058400" cy="6573077"/>
          </a:xfrm>
          <a:prstGeom prst="rect">
            <a:avLst/>
          </a:prstGeom>
        </p:spPr>
      </p:pic>
    </p:spTree>
    <p:extLst>
      <p:ext uri="{BB962C8B-B14F-4D97-AF65-F5344CB8AC3E}">
        <p14:creationId xmlns:p14="http://schemas.microsoft.com/office/powerpoint/2010/main" val="2606352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Passive Attacks:</a:t>
            </a:r>
            <a:br>
              <a:rPr lang="en-IN" dirty="0"/>
            </a:br>
            <a:endParaRPr lang="en-IN" dirty="0"/>
          </a:p>
        </p:txBody>
      </p:sp>
      <p:sp>
        <p:nvSpPr>
          <p:cNvPr id="3" name="Content Placeholder 2"/>
          <p:cNvSpPr>
            <a:spLocks noGrp="1"/>
          </p:cNvSpPr>
          <p:nvPr>
            <p:ph idx="1"/>
          </p:nvPr>
        </p:nvSpPr>
        <p:spPr/>
        <p:txBody>
          <a:bodyPr/>
          <a:lstStyle/>
          <a:p>
            <a:r>
              <a:rPr lang="en-IN" dirty="0"/>
              <a:t>-</a:t>
            </a:r>
            <a:r>
              <a:rPr lang="en-US" dirty="0"/>
              <a:t>Release of message contents for a telephone conversion, an electronic mail message, and a transferred file are subject to these threats </a:t>
            </a:r>
          </a:p>
          <a:p>
            <a:r>
              <a:rPr lang="en-US" dirty="0"/>
              <a:t>– Traffic analysis:- By analyzing the traffic flow between sender and receiver third party access the data </a:t>
            </a:r>
            <a:endParaRPr lang="en-IN" dirty="0"/>
          </a:p>
        </p:txBody>
      </p:sp>
    </p:spTree>
    <p:extLst>
      <p:ext uri="{BB962C8B-B14F-4D97-AF65-F5344CB8AC3E}">
        <p14:creationId xmlns:p14="http://schemas.microsoft.com/office/powerpoint/2010/main" val="2820527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Active Attacks</a:t>
            </a:r>
          </a:p>
        </p:txBody>
      </p:sp>
      <p:sp>
        <p:nvSpPr>
          <p:cNvPr id="3" name="Content Placeholder 2"/>
          <p:cNvSpPr>
            <a:spLocks noGrp="1"/>
          </p:cNvSpPr>
          <p:nvPr>
            <p:ph idx="1"/>
          </p:nvPr>
        </p:nvSpPr>
        <p:spPr/>
        <p:txBody>
          <a:bodyPr/>
          <a:lstStyle/>
          <a:p>
            <a:r>
              <a:rPr lang="en-US" dirty="0"/>
              <a:t>Masquerade takes place when one entity pretends to be a different entity</a:t>
            </a:r>
          </a:p>
          <a:p>
            <a:r>
              <a:rPr lang="en-US" dirty="0"/>
              <a:t> – Replay involves the passive capture of a data unit and its subsequent retransmission to produce an unauthorized effect </a:t>
            </a:r>
          </a:p>
          <a:p>
            <a:r>
              <a:rPr lang="en-US" dirty="0"/>
              <a:t>– Modification of messages means that some portion of a legitimate message is altered, or that messages are delayed or reordered, to produce an unauthorized effect</a:t>
            </a:r>
          </a:p>
          <a:p>
            <a:r>
              <a:rPr lang="en-US" dirty="0"/>
              <a:t> – Denial of service prevents or inhibits the normal use or management of communications facilities</a:t>
            </a:r>
          </a:p>
          <a:p>
            <a:r>
              <a:rPr lang="en-US" dirty="0"/>
              <a:t> • Disable network or overload it with messages</a:t>
            </a:r>
            <a:endParaRPr lang="en-IN" dirty="0"/>
          </a:p>
        </p:txBody>
      </p:sp>
    </p:spTree>
    <p:extLst>
      <p:ext uri="{BB962C8B-B14F-4D97-AF65-F5344CB8AC3E}">
        <p14:creationId xmlns:p14="http://schemas.microsoft.com/office/powerpoint/2010/main" val="2366126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Intruders</a:t>
            </a:r>
            <a:endParaRPr lang="en-IN" dirty="0"/>
          </a:p>
        </p:txBody>
      </p:sp>
      <p:sp>
        <p:nvSpPr>
          <p:cNvPr id="3" name="Content Placeholder 2"/>
          <p:cNvSpPr>
            <a:spLocks noGrp="1"/>
          </p:cNvSpPr>
          <p:nvPr>
            <p:ph idx="1"/>
          </p:nvPr>
        </p:nvSpPr>
        <p:spPr/>
        <p:txBody>
          <a:bodyPr/>
          <a:lstStyle/>
          <a:p>
            <a:r>
              <a:rPr lang="en-US" dirty="0"/>
              <a:t>Intruders are the attackers who attempt to breach the security of a network. They attack the network in order to get unauthorized access. </a:t>
            </a:r>
          </a:p>
          <a:p>
            <a:r>
              <a:rPr lang="en-US" dirty="0"/>
              <a:t>Intruders are of three types, namely, </a:t>
            </a:r>
            <a:r>
              <a:rPr lang="en-US" b="1" dirty="0"/>
              <a:t>masquerader, misfeasor and clandestine user</a:t>
            </a:r>
          </a:p>
          <a:p>
            <a:r>
              <a:rPr lang="en-US" b="1" dirty="0"/>
              <a:t>Masquerader: </a:t>
            </a:r>
            <a:r>
              <a:rPr lang="en-US" dirty="0"/>
              <a:t>are outsiders and hence they don't have direct access to the system, their aim is to attack unethically to steal data/ information.</a:t>
            </a:r>
          </a:p>
          <a:p>
            <a:endParaRPr lang="en-US" b="1" dirty="0"/>
          </a:p>
          <a:p>
            <a:r>
              <a:rPr lang="en-US" b="1" dirty="0"/>
              <a:t>Misfeasor :</a:t>
            </a:r>
            <a:r>
              <a:rPr lang="en-US" dirty="0"/>
              <a:t>The category of individuals that are authorized to use the system, but misuse the granted access and privilege.</a:t>
            </a:r>
          </a:p>
          <a:p>
            <a:r>
              <a:rPr lang="en-US" b="1" dirty="0"/>
              <a:t>clandestine :</a:t>
            </a:r>
            <a:r>
              <a:rPr lang="en-US" dirty="0"/>
              <a:t>The category of individuals those have supervision/administrative control over the system and misuse the authoritative power</a:t>
            </a:r>
            <a:endParaRPr lang="en-IN" dirty="0"/>
          </a:p>
        </p:txBody>
      </p:sp>
    </p:spTree>
    <p:extLst>
      <p:ext uri="{BB962C8B-B14F-4D97-AF65-F5344CB8AC3E}">
        <p14:creationId xmlns:p14="http://schemas.microsoft.com/office/powerpoint/2010/main" val="1714448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A974E-4479-167B-E9E5-CDE23AFA7156}"/>
              </a:ext>
            </a:extLst>
          </p:cNvPr>
          <p:cNvSpPr>
            <a:spLocks noGrp="1"/>
          </p:cNvSpPr>
          <p:nvPr>
            <p:ph type="title"/>
          </p:nvPr>
        </p:nvSpPr>
        <p:spPr/>
        <p:txBody>
          <a:bodyPr>
            <a:normAutofit fontScale="90000"/>
          </a:bodyPr>
          <a:lstStyle/>
          <a:p>
            <a:r>
              <a:rPr lang="en-US" dirty="0"/>
              <a:t>Malware and Its Impact on System Security</a:t>
            </a:r>
            <a:br>
              <a:rPr lang="en-US" dirty="0"/>
            </a:br>
            <a:endParaRPr lang="en-IN" dirty="0"/>
          </a:p>
        </p:txBody>
      </p:sp>
      <p:sp>
        <p:nvSpPr>
          <p:cNvPr id="3" name="Content Placeholder 2">
            <a:extLst>
              <a:ext uri="{FF2B5EF4-FFF2-40B4-BE49-F238E27FC236}">
                <a16:creationId xmlns:a16="http://schemas.microsoft.com/office/drawing/2014/main" id="{0E833082-B9B1-0640-2D95-C3A918490BB8}"/>
              </a:ext>
            </a:extLst>
          </p:cNvPr>
          <p:cNvSpPr>
            <a:spLocks noGrp="1"/>
          </p:cNvSpPr>
          <p:nvPr>
            <p:ph idx="1"/>
          </p:nvPr>
        </p:nvSpPr>
        <p:spPr/>
        <p:txBody>
          <a:bodyPr/>
          <a:lstStyle/>
          <a:p>
            <a:r>
              <a:rPr lang="en-US" dirty="0"/>
              <a:t>Malware (malicious software) refers to any program intentionally designed to cause damage, unauthorized access, or disruption to a computer system. Common types include viruses, worms, Trojans, spyware, and ransomware.</a:t>
            </a:r>
          </a:p>
          <a:p>
            <a:endParaRPr lang="en-US" dirty="0"/>
          </a:p>
          <a:p>
            <a:pPr marL="0" lvl="0" indent="0" eaLnBrk="0" fontAlgn="base" hangingPunct="0">
              <a:lnSpc>
                <a:spcPct val="100000"/>
              </a:lnSpc>
              <a:spcBef>
                <a:spcPct val="0"/>
              </a:spcBef>
              <a:spcAft>
                <a:spcPct val="0"/>
              </a:spcAft>
              <a:buClrTx/>
              <a:buSzTx/>
              <a:buFontTx/>
              <a:buChar char="•"/>
            </a:pPr>
            <a:r>
              <a:rPr lang="en-US" altLang="en-US" b="1" dirty="0">
                <a:latin typeface="Arial" panose="020B0604020202020204" pitchFamily="34" charset="0"/>
              </a:rPr>
              <a:t>Viruses</a:t>
            </a:r>
            <a:r>
              <a:rPr lang="en-US" altLang="en-US" dirty="0">
                <a:latin typeface="Arial" panose="020B0604020202020204" pitchFamily="34" charset="0"/>
              </a:rPr>
              <a:t> attach themselves to legitimate programs and spread when those programs run.</a:t>
            </a:r>
          </a:p>
          <a:p>
            <a:pPr marL="0" lvl="0" indent="0" eaLnBrk="0" fontAlgn="base" hangingPunct="0">
              <a:lnSpc>
                <a:spcPct val="100000"/>
              </a:lnSpc>
              <a:spcBef>
                <a:spcPct val="0"/>
              </a:spcBef>
              <a:spcAft>
                <a:spcPct val="0"/>
              </a:spcAft>
              <a:buClrTx/>
              <a:buSzTx/>
              <a:buFontTx/>
              <a:buChar char="•"/>
            </a:pPr>
            <a:r>
              <a:rPr lang="en-US" altLang="en-US" b="1" dirty="0">
                <a:latin typeface="Arial" panose="020B0604020202020204" pitchFamily="34" charset="0"/>
              </a:rPr>
              <a:t>Worms</a:t>
            </a:r>
            <a:r>
              <a:rPr lang="en-US" altLang="en-US" dirty="0">
                <a:latin typeface="Arial" panose="020B0604020202020204" pitchFamily="34" charset="0"/>
              </a:rPr>
              <a:t> spread automatically across networks, exploiting system vulnerabilities.</a:t>
            </a:r>
          </a:p>
          <a:p>
            <a:pPr marL="0" lvl="0" indent="0" eaLnBrk="0" fontAlgn="base" hangingPunct="0">
              <a:lnSpc>
                <a:spcPct val="100000"/>
              </a:lnSpc>
              <a:spcBef>
                <a:spcPct val="0"/>
              </a:spcBef>
              <a:spcAft>
                <a:spcPct val="0"/>
              </a:spcAft>
              <a:buClrTx/>
              <a:buSzTx/>
              <a:buFontTx/>
              <a:buChar char="•"/>
            </a:pPr>
            <a:r>
              <a:rPr lang="en-US" altLang="en-US" b="1" dirty="0">
                <a:latin typeface="Arial" panose="020B0604020202020204" pitchFamily="34" charset="0"/>
              </a:rPr>
              <a:t>Trojans</a:t>
            </a:r>
            <a:r>
              <a:rPr lang="en-US" altLang="en-US" dirty="0">
                <a:latin typeface="Arial" panose="020B0604020202020204" pitchFamily="34" charset="0"/>
              </a:rPr>
              <a:t> disguise themselves as useful software but secretly perform harmful actions such as stealing data.</a:t>
            </a:r>
          </a:p>
          <a:p>
            <a:pPr marL="0" lvl="0" indent="0" eaLnBrk="0" fontAlgn="base" hangingPunct="0">
              <a:lnSpc>
                <a:spcPct val="100000"/>
              </a:lnSpc>
              <a:spcBef>
                <a:spcPct val="0"/>
              </a:spcBef>
              <a:spcAft>
                <a:spcPct val="0"/>
              </a:spcAft>
              <a:buClrTx/>
              <a:buSzTx/>
              <a:buFontTx/>
              <a:buChar char="•"/>
            </a:pPr>
            <a:r>
              <a:rPr lang="en-US" altLang="en-US" b="1" dirty="0">
                <a:latin typeface="Arial" panose="020B0604020202020204" pitchFamily="34" charset="0"/>
              </a:rPr>
              <a:t>Ransomware</a:t>
            </a:r>
            <a:r>
              <a:rPr lang="en-US" altLang="en-US" dirty="0">
                <a:latin typeface="Arial" panose="020B0604020202020204" pitchFamily="34" charset="0"/>
              </a:rPr>
              <a:t> encrypts user data and demands payment for decryption.</a:t>
            </a:r>
          </a:p>
          <a:p>
            <a:endParaRPr lang="en-IN" dirty="0"/>
          </a:p>
        </p:txBody>
      </p:sp>
    </p:spTree>
    <p:extLst>
      <p:ext uri="{BB962C8B-B14F-4D97-AF65-F5344CB8AC3E}">
        <p14:creationId xmlns:p14="http://schemas.microsoft.com/office/powerpoint/2010/main" val="4268577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E98F-8531-83A5-C8B2-83029766A8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045AF1-02CC-0D1E-608F-5B83ACEF34E2}"/>
              </a:ext>
            </a:extLst>
          </p:cNvPr>
          <p:cNvSpPr>
            <a:spLocks noGrp="1"/>
          </p:cNvSpPr>
          <p:nvPr>
            <p:ph idx="1"/>
          </p:nvPr>
        </p:nvSpPr>
        <p:spPr/>
        <p:txBody>
          <a:bodyPr/>
          <a:lstStyle/>
          <a:p>
            <a:r>
              <a:rPr lang="en-US" dirty="0"/>
              <a:t>The impact of malware can range from slowing down system performance to complete data loss or financial theft. Organizations must implement strong controls such as antivirus software, timely patching, and user awareness programs to minimize the risk of infection.</a:t>
            </a:r>
            <a:endParaRPr lang="en-IN" dirty="0"/>
          </a:p>
        </p:txBody>
      </p:sp>
    </p:spTree>
    <p:extLst>
      <p:ext uri="{BB962C8B-B14F-4D97-AF65-F5344CB8AC3E}">
        <p14:creationId xmlns:p14="http://schemas.microsoft.com/office/powerpoint/2010/main" val="2727387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93E4-2E27-03EA-5D01-4EC31F0E0667}"/>
              </a:ext>
            </a:extLst>
          </p:cNvPr>
          <p:cNvSpPr>
            <a:spLocks noGrp="1"/>
          </p:cNvSpPr>
          <p:nvPr>
            <p:ph type="title"/>
          </p:nvPr>
        </p:nvSpPr>
        <p:spPr/>
        <p:txBody>
          <a:bodyPr/>
          <a:lstStyle/>
          <a:p>
            <a:r>
              <a:rPr lang="en-US" dirty="0"/>
              <a:t>Social Engineering and Human-Centric Threats</a:t>
            </a:r>
            <a:endParaRPr lang="en-IN" dirty="0"/>
          </a:p>
        </p:txBody>
      </p:sp>
      <p:sp>
        <p:nvSpPr>
          <p:cNvPr id="3" name="Content Placeholder 2">
            <a:extLst>
              <a:ext uri="{FF2B5EF4-FFF2-40B4-BE49-F238E27FC236}">
                <a16:creationId xmlns:a16="http://schemas.microsoft.com/office/drawing/2014/main" id="{A0053DFD-4D99-D860-43BE-A9911737F244}"/>
              </a:ext>
            </a:extLst>
          </p:cNvPr>
          <p:cNvSpPr>
            <a:spLocks noGrp="1"/>
          </p:cNvSpPr>
          <p:nvPr>
            <p:ph idx="1"/>
          </p:nvPr>
        </p:nvSpPr>
        <p:spPr/>
        <p:txBody>
          <a:bodyPr/>
          <a:lstStyle/>
          <a:p>
            <a:r>
              <a:rPr lang="en-US" dirty="0"/>
              <a:t>Social engineering attacks manipulate human psychology rather than exploiting technical vulnerabilities. Attackers trick users into revealing sensitive information or performing actions that compromise system security.</a:t>
            </a:r>
            <a:br>
              <a:rPr lang="en-US" dirty="0"/>
            </a:br>
            <a:r>
              <a:rPr lang="en-US" dirty="0"/>
              <a:t>Common techniques include:</a:t>
            </a:r>
          </a:p>
          <a:p>
            <a:r>
              <a:rPr lang="en-US" b="1" dirty="0"/>
              <a:t>Phishing</a:t>
            </a:r>
            <a:r>
              <a:rPr lang="en-US" dirty="0"/>
              <a:t>: Fake emails or websites that appear legitimate, designed to steal passwords or financial details.</a:t>
            </a:r>
          </a:p>
          <a:p>
            <a:r>
              <a:rPr lang="en-US" b="1" dirty="0"/>
              <a:t>Pretexting</a:t>
            </a:r>
            <a:r>
              <a:rPr lang="en-US" dirty="0"/>
              <a:t>: Attackers create a fabricated scenario to obtain confidential data—for example, pretending to be technical support.</a:t>
            </a:r>
          </a:p>
          <a:p>
            <a:r>
              <a:rPr lang="en-US" b="1" dirty="0"/>
              <a:t>Baiting</a:t>
            </a:r>
            <a:r>
              <a:rPr lang="en-US" dirty="0"/>
              <a:t>: Offering something appealing (like a free USB drive) to lure users into installing malicious software.</a:t>
            </a:r>
          </a:p>
          <a:p>
            <a:r>
              <a:rPr lang="en-US" dirty="0"/>
              <a:t>Since humans are often the weakest link in security, training, awareness, and verification procedures are essential for preventing manipulation.</a:t>
            </a:r>
          </a:p>
          <a:p>
            <a:endParaRPr lang="en-IN" dirty="0"/>
          </a:p>
        </p:txBody>
      </p:sp>
    </p:spTree>
    <p:extLst>
      <p:ext uri="{BB962C8B-B14F-4D97-AF65-F5344CB8AC3E}">
        <p14:creationId xmlns:p14="http://schemas.microsoft.com/office/powerpoint/2010/main" val="1311157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7DF7E-0103-21BA-DB8F-D4A1A63EBEDA}"/>
              </a:ext>
            </a:extLst>
          </p:cNvPr>
          <p:cNvSpPr>
            <a:spLocks noGrp="1"/>
          </p:cNvSpPr>
          <p:nvPr>
            <p:ph type="title"/>
          </p:nvPr>
        </p:nvSpPr>
        <p:spPr/>
        <p:txBody>
          <a:bodyPr/>
          <a:lstStyle/>
          <a:p>
            <a:r>
              <a:rPr lang="en-US" dirty="0"/>
              <a:t>Insider Threats and Organizational Risks</a:t>
            </a:r>
            <a:endParaRPr lang="en-IN" dirty="0"/>
          </a:p>
        </p:txBody>
      </p:sp>
      <p:sp>
        <p:nvSpPr>
          <p:cNvPr id="3" name="Content Placeholder 2">
            <a:extLst>
              <a:ext uri="{FF2B5EF4-FFF2-40B4-BE49-F238E27FC236}">
                <a16:creationId xmlns:a16="http://schemas.microsoft.com/office/drawing/2014/main" id="{425D9CC3-EF55-912C-770C-44F3E7807E09}"/>
              </a:ext>
            </a:extLst>
          </p:cNvPr>
          <p:cNvSpPr>
            <a:spLocks noGrp="1"/>
          </p:cNvSpPr>
          <p:nvPr>
            <p:ph idx="1"/>
          </p:nvPr>
        </p:nvSpPr>
        <p:spPr/>
        <p:txBody>
          <a:bodyPr>
            <a:normAutofit lnSpcReduction="10000"/>
          </a:bodyPr>
          <a:lstStyle/>
          <a:p>
            <a:r>
              <a:rPr lang="en-US" dirty="0"/>
              <a:t>An insider threat occurs when an individual within the organization intentionally or unintentionally compromises security.</a:t>
            </a:r>
            <a:br>
              <a:rPr lang="en-US" dirty="0"/>
            </a:br>
            <a:r>
              <a:rPr lang="en-US" dirty="0"/>
              <a:t>Insiders may include disgruntled employees, contractors, or even system administrators with privileged access.</a:t>
            </a:r>
            <a:br>
              <a:rPr lang="en-US" dirty="0"/>
            </a:br>
            <a:r>
              <a:rPr lang="en-US" dirty="0"/>
              <a:t>Forms of insider threats:</a:t>
            </a:r>
          </a:p>
          <a:p>
            <a:r>
              <a:rPr lang="en-US" b="1" dirty="0"/>
              <a:t>Intentional misuse</a:t>
            </a:r>
            <a:r>
              <a:rPr lang="en-US" dirty="0"/>
              <a:t> (similar to misfeasors): accessing data beyond assigned roles for personal gain or sabotage.</a:t>
            </a:r>
          </a:p>
          <a:p>
            <a:r>
              <a:rPr lang="en-US" b="1" dirty="0"/>
              <a:t>Negligence</a:t>
            </a:r>
            <a:r>
              <a:rPr lang="en-US" dirty="0"/>
              <a:t>: careless actions such as weak passwords, improper data handling, or clicking on suspicious links.</a:t>
            </a:r>
          </a:p>
          <a:p>
            <a:r>
              <a:rPr lang="en-US" b="1" dirty="0"/>
              <a:t>Privilege abuse</a:t>
            </a:r>
            <a:r>
              <a:rPr lang="en-US" dirty="0"/>
              <a:t>: administrators or supervisory users bypassing controls for unauthorized activities.</a:t>
            </a:r>
          </a:p>
          <a:p>
            <a:r>
              <a:rPr lang="en-US" dirty="0"/>
              <a:t>To mitigate insider threats, organizations implement role-based access control, monitoring systems, periodic audits, and strong policies regarding data handling.</a:t>
            </a:r>
          </a:p>
          <a:p>
            <a:endParaRPr lang="en-IN" dirty="0"/>
          </a:p>
        </p:txBody>
      </p:sp>
    </p:spTree>
    <p:extLst>
      <p:ext uri="{BB962C8B-B14F-4D97-AF65-F5344CB8AC3E}">
        <p14:creationId xmlns:p14="http://schemas.microsoft.com/office/powerpoint/2010/main" val="37735475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144</TotalTime>
  <Words>1380</Words>
  <Application>Microsoft Office PowerPoint</Application>
  <PresentationFormat>Widescreen</PresentationFormat>
  <Paragraphs>124</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Rockwell</vt:lpstr>
      <vt:lpstr>Rockwell Condensed</vt:lpstr>
      <vt:lpstr>Wingdings</vt:lpstr>
      <vt:lpstr>Wood Type</vt:lpstr>
      <vt:lpstr>Computer Security Threats</vt:lpstr>
      <vt:lpstr>PowerPoint Presentation</vt:lpstr>
      <vt:lpstr>Computer Security</vt:lpstr>
      <vt:lpstr>Main aspects are:</vt:lpstr>
      <vt:lpstr>Computer Security</vt:lpstr>
      <vt:lpstr>Three Goals in Computing Security</vt:lpstr>
      <vt:lpstr>PowerPoint Presentation</vt:lpstr>
      <vt:lpstr>Why is computer security important?</vt:lpstr>
      <vt:lpstr>THREATS</vt:lpstr>
      <vt:lpstr>We can view any threat as being one of four</vt:lpstr>
      <vt:lpstr>PowerPoint Presentation</vt:lpstr>
      <vt:lpstr>Kinds of threats</vt:lpstr>
      <vt:lpstr>Interruption -</vt:lpstr>
      <vt:lpstr>Interception</vt:lpstr>
      <vt:lpstr>Modification</vt:lpstr>
      <vt:lpstr>Fabrication</vt:lpstr>
      <vt:lpstr>ATTACKS</vt:lpstr>
      <vt:lpstr>What does Attack mean?</vt:lpstr>
      <vt:lpstr>PowerPoint Presentation</vt:lpstr>
      <vt:lpstr>Passive Attacks: </vt:lpstr>
      <vt:lpstr>Active Attacks</vt:lpstr>
      <vt:lpstr>Intruders</vt:lpstr>
      <vt:lpstr>Malware and Its Impact on System Security </vt:lpstr>
      <vt:lpstr>PowerPoint Presentation</vt:lpstr>
      <vt:lpstr>Social Engineering and Human-Centric Threats</vt:lpstr>
      <vt:lpstr>Insider Threats and Organizational Risks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Security Threats</dc:title>
  <dc:creator>Radhe</dc:creator>
  <cp:lastModifiedBy>Riddhi Joshi</cp:lastModifiedBy>
  <cp:revision>105</cp:revision>
  <dcterms:created xsi:type="dcterms:W3CDTF">2022-12-31T06:46:43Z</dcterms:created>
  <dcterms:modified xsi:type="dcterms:W3CDTF">2025-11-11T10:31:00Z</dcterms:modified>
</cp:coreProperties>
</file>