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61" r:id="rId3"/>
    <p:sldId id="277" r:id="rId4"/>
    <p:sldId id="382" r:id="rId5"/>
    <p:sldId id="279" r:id="rId6"/>
    <p:sldId id="280" r:id="rId7"/>
    <p:sldId id="278" r:id="rId8"/>
    <p:sldId id="281" r:id="rId9"/>
    <p:sldId id="379" r:id="rId10"/>
    <p:sldId id="285" r:id="rId11"/>
    <p:sldId id="383" r:id="rId12"/>
    <p:sldId id="286" r:id="rId13"/>
    <p:sldId id="287" r:id="rId14"/>
    <p:sldId id="288" r:id="rId15"/>
    <p:sldId id="289" r:id="rId16"/>
    <p:sldId id="290" r:id="rId17"/>
    <p:sldId id="291" r:id="rId18"/>
    <p:sldId id="292" r:id="rId19"/>
    <p:sldId id="293" r:id="rId20"/>
    <p:sldId id="294" r:id="rId21"/>
    <p:sldId id="295" r:id="rId22"/>
    <p:sldId id="384" r:id="rId23"/>
    <p:sldId id="385" r:id="rId24"/>
    <p:sldId id="386" r:id="rId25"/>
    <p:sldId id="387" r:id="rId26"/>
    <p:sldId id="388" r:id="rId27"/>
    <p:sldId id="389" r:id="rId28"/>
    <p:sldId id="390" r:id="rId29"/>
    <p:sldId id="391" r:id="rId30"/>
    <p:sldId id="392" r:id="rId31"/>
    <p:sldId id="393" r:id="rId32"/>
    <p:sldId id="394" r:id="rId33"/>
    <p:sldId id="395" r:id="rId34"/>
    <p:sldId id="380" r:id="rId35"/>
    <p:sldId id="296" r:id="rId36"/>
    <p:sldId id="298" r:id="rId37"/>
    <p:sldId id="299" r:id="rId38"/>
    <p:sldId id="300" r:id="rId39"/>
    <p:sldId id="301" r:id="rId40"/>
    <p:sldId id="302" r:id="rId41"/>
    <p:sldId id="303" r:id="rId42"/>
    <p:sldId id="304" r:id="rId43"/>
    <p:sldId id="305" r:id="rId44"/>
    <p:sldId id="306" r:id="rId45"/>
    <p:sldId id="307" r:id="rId46"/>
    <p:sldId id="308" r:id="rId47"/>
    <p:sldId id="309" r:id="rId48"/>
    <p:sldId id="310" r:id="rId49"/>
    <p:sldId id="311" r:id="rId50"/>
    <p:sldId id="313" r:id="rId51"/>
    <p:sldId id="314" r:id="rId52"/>
    <p:sldId id="315" r:id="rId53"/>
    <p:sldId id="321" r:id="rId54"/>
    <p:sldId id="322" r:id="rId55"/>
    <p:sldId id="323" r:id="rId56"/>
    <p:sldId id="324" r:id="rId57"/>
    <p:sldId id="325" r:id="rId58"/>
    <p:sldId id="326" r:id="rId59"/>
    <p:sldId id="327" r:id="rId60"/>
    <p:sldId id="381" r:id="rId61"/>
    <p:sldId id="329" r:id="rId62"/>
    <p:sldId id="330" r:id="rId63"/>
    <p:sldId id="331" r:id="rId64"/>
    <p:sldId id="332" r:id="rId65"/>
    <p:sldId id="333" r:id="rId66"/>
    <p:sldId id="334" r:id="rId67"/>
    <p:sldId id="339" r:id="rId68"/>
    <p:sldId id="341" r:id="rId69"/>
    <p:sldId id="342" r:id="rId70"/>
    <p:sldId id="343" r:id="rId71"/>
    <p:sldId id="344" r:id="rId72"/>
    <p:sldId id="345" r:id="rId7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FA0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8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6000" cap="all" baseline="0">
                <a:solidFill>
                  <a:schemeClr val="tx2"/>
                </a:solidFill>
                <a:latin typeface="Algerian" panose="04020705040A02060702" pitchFamily="82" charset="0"/>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3600">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r">
              <a:defRPr baseline="0">
                <a:solidFill>
                  <a:schemeClr val="tx2"/>
                </a:solidFill>
              </a:defRPr>
            </a:lvl1pPr>
          </a:lstStyle>
          <a:p>
            <a:r>
              <a:rPr lang="en-IN" dirty="0"/>
              <a:t>Riddhi Joshi</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C7D130E1-2BAE-4105-A6E4-918434DD44EC}" type="slidenum">
              <a:rPr lang="en-IN" smtClean="0"/>
              <a:pPr/>
              <a:t>‹#›</a:t>
            </a:fld>
            <a:endParaRPr lang="en-IN"/>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48394028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33379" y="44777"/>
            <a:ext cx="10012798" cy="813062"/>
          </a:xfrm>
        </p:spPr>
        <p:txBody>
          <a:bodyPr>
            <a:normAutofit/>
          </a:bodyPr>
          <a:lstStyle>
            <a:lvl1pPr>
              <a:defRPr sz="4000">
                <a:latin typeface="Algerian" panose="04020705040A02060702" pitchFamily="82" charset="0"/>
              </a:defRPr>
            </a:lvl1pPr>
          </a:lstStyle>
          <a:p>
            <a:r>
              <a:rPr lang="en-US"/>
              <a:t>Click to edit Master title style</a:t>
            </a:r>
            <a:endParaRPr lang="en-US" dirty="0"/>
          </a:p>
        </p:txBody>
      </p:sp>
      <p:sp>
        <p:nvSpPr>
          <p:cNvPr id="3" name="Content Placeholder 2"/>
          <p:cNvSpPr>
            <a:spLocks noGrp="1"/>
          </p:cNvSpPr>
          <p:nvPr>
            <p:ph idx="1"/>
          </p:nvPr>
        </p:nvSpPr>
        <p:spPr>
          <a:xfrm>
            <a:off x="820132" y="1098222"/>
            <a:ext cx="11142482" cy="5613663"/>
          </a:xfrm>
        </p:spPr>
        <p:txBody>
          <a:bodyPr>
            <a:normAutofit/>
          </a:bodyPr>
          <a:lstStyle>
            <a:lvl1pPr>
              <a:defRPr sz="2400">
                <a:latin typeface="Calibri" panose="020F0502020204030204" pitchFamily="34" charset="0"/>
                <a:cs typeface="Calibri" panose="020F0502020204030204" pitchFamily="34" charset="0"/>
              </a:defRPr>
            </a:lvl1pPr>
            <a:lvl2pPr>
              <a:defRPr sz="2400">
                <a:latin typeface="Calibri" panose="020F0502020204030204" pitchFamily="34" charset="0"/>
                <a:cs typeface="Calibri" panose="020F0502020204030204" pitchFamily="34" charset="0"/>
              </a:defRPr>
            </a:lvl2pPr>
            <a:lvl3pPr>
              <a:defRPr sz="2400">
                <a:latin typeface="Calibri" panose="020F0502020204030204" pitchFamily="34" charset="0"/>
                <a:cs typeface="Calibri" panose="020F0502020204030204" pitchFamily="34" charset="0"/>
              </a:defRPr>
            </a:lvl3pPr>
            <a:lvl4pPr>
              <a:defRPr sz="2400">
                <a:latin typeface="Calibri" panose="020F0502020204030204" pitchFamily="34" charset="0"/>
                <a:cs typeface="Calibri" panose="020F0502020204030204" pitchFamily="34" charset="0"/>
              </a:defRPr>
            </a:lvl4pPr>
            <a:lvl5pPr>
              <a:defRPr sz="2400">
                <a:latin typeface="Calibri" panose="020F0502020204030204" pitchFamily="34" charset="0"/>
                <a:cs typeface="Calibri" panose="020F0502020204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A7FF83-DA38-482A-B194-02349B6320EF}" type="datetimeFigureOut">
              <a:rPr lang="en-IN" smtClean="0"/>
              <a:pPr/>
              <a:t>11-08-2025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D130E1-2BAE-4105-A6E4-918434DD44EC}" type="slidenum">
              <a:rPr lang="en-IN" smtClean="0"/>
              <a:pPr/>
              <a:t>‹#›</a:t>
            </a:fld>
            <a:endParaRPr lang="en-IN"/>
          </a:p>
        </p:txBody>
      </p:sp>
    </p:spTree>
    <p:extLst>
      <p:ext uri="{BB962C8B-B14F-4D97-AF65-F5344CB8AC3E}">
        <p14:creationId xmlns:p14="http://schemas.microsoft.com/office/powerpoint/2010/main" val="2259100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5000" cap="all" baseline="0">
                <a:solidFill>
                  <a:schemeClr val="tx2"/>
                </a:solidFill>
                <a:latin typeface="Algerian" panose="04020705040A02060702" pitchFamily="82" charset="0"/>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latin typeface="Calibri" panose="020F0502020204030204" pitchFamily="34" charset="0"/>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A4A7FF83-DA38-482A-B194-02349B6320EF}" type="datetimeFigureOut">
              <a:rPr lang="en-IN" smtClean="0"/>
              <a:pPr/>
              <a:t>11-08-2025</a:t>
            </a:fld>
            <a:endParaRPr lang="en-IN"/>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IN"/>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C7D130E1-2BAE-4105-A6E4-918434DD44EC}" type="slidenum">
              <a:rPr lang="en-IN" smtClean="0"/>
              <a:pPr/>
              <a:t>‹#›</a:t>
            </a:fld>
            <a:endParaRPr lang="en-IN"/>
          </a:p>
        </p:txBody>
      </p:sp>
      <p:sp>
        <p:nvSpPr>
          <p:cNvPr id="7" name="Freeform 6"/>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426301821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A7FF83-DA38-482A-B194-02349B6320EF}" type="datetimeFigureOut">
              <a:rPr lang="en-IN" smtClean="0"/>
              <a:pPr/>
              <a:t>11-08-2025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7D130E1-2BAE-4105-A6E4-918434DD44EC}" type="slidenum">
              <a:rPr lang="en-IN" smtClean="0"/>
              <a:pPr/>
              <a:t>‹#›</a:t>
            </a:fld>
            <a:endParaRPr lang="en-IN"/>
          </a:p>
        </p:txBody>
      </p:sp>
    </p:spTree>
    <p:extLst>
      <p:ext uri="{BB962C8B-B14F-4D97-AF65-F5344CB8AC3E}">
        <p14:creationId xmlns:p14="http://schemas.microsoft.com/office/powerpoint/2010/main" val="1594384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A7FF83-DA38-482A-B194-02349B6320EF}" type="datetimeFigureOut">
              <a:rPr lang="en-IN" smtClean="0"/>
              <a:pPr/>
              <a:t>11-08-2025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7D130E1-2BAE-4105-A6E4-918434DD44EC}" type="slidenum">
              <a:rPr lang="en-IN" smtClean="0"/>
              <a:pPr/>
              <a:t>‹#›</a:t>
            </a:fld>
            <a:endParaRPr lang="en-IN"/>
          </a:p>
        </p:txBody>
      </p:sp>
    </p:spTree>
    <p:extLst>
      <p:ext uri="{BB962C8B-B14F-4D97-AF65-F5344CB8AC3E}">
        <p14:creationId xmlns:p14="http://schemas.microsoft.com/office/powerpoint/2010/main" val="3754269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A7FF83-DA38-482A-B194-02349B6320EF}" type="datetimeFigureOut">
              <a:rPr lang="en-IN" smtClean="0"/>
              <a:pPr/>
              <a:t>11-08-2025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7D130E1-2BAE-4105-A6E4-918434DD44EC}" type="slidenum">
              <a:rPr lang="en-IN" smtClean="0"/>
              <a:pPr/>
              <a:t>‹#›</a:t>
            </a:fld>
            <a:endParaRPr lang="en-IN"/>
          </a:p>
        </p:txBody>
      </p:sp>
    </p:spTree>
    <p:extLst>
      <p:ext uri="{BB962C8B-B14F-4D97-AF65-F5344CB8AC3E}">
        <p14:creationId xmlns:p14="http://schemas.microsoft.com/office/powerpoint/2010/main" val="1821475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A7FF83-DA38-482A-B194-02349B6320EF}" type="datetimeFigureOut">
              <a:rPr lang="en-IN" smtClean="0"/>
              <a:pPr/>
              <a:t>11-08-2025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7D130E1-2BAE-4105-A6E4-918434DD44EC}" type="slidenum">
              <a:rPr lang="en-IN" smtClean="0"/>
              <a:pPr/>
              <a:t>‹#›</a:t>
            </a:fld>
            <a:endParaRPr lang="en-IN"/>
          </a:p>
        </p:txBody>
      </p:sp>
    </p:spTree>
    <p:extLst>
      <p:ext uri="{BB962C8B-B14F-4D97-AF65-F5344CB8AC3E}">
        <p14:creationId xmlns:p14="http://schemas.microsoft.com/office/powerpoint/2010/main" val="2570129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A4A7FF83-DA38-482A-B194-02349B6320EF}" type="datetimeFigureOut">
              <a:rPr lang="en-IN" smtClean="0"/>
              <a:pPr/>
              <a:t>11-08-2025</a:t>
            </a:fld>
            <a:endParaRPr lang="en-IN"/>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C7D130E1-2BAE-4105-A6E4-918434DD44EC}" type="slidenum">
              <a:rPr lang="en-IN" smtClean="0"/>
              <a:pPr/>
              <a:t>‹#›</a:t>
            </a:fld>
            <a:endParaRPr lang="en-IN"/>
          </a:p>
        </p:txBody>
      </p:sp>
      <p:sp>
        <p:nvSpPr>
          <p:cNvPr id="9" name="Rectangle 8"/>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84876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A4A7FF83-DA38-482A-B194-02349B6320EF}" type="datetimeFigureOut">
              <a:rPr lang="en-IN" smtClean="0"/>
              <a:pPr/>
              <a:t>11-08-2025</a:t>
            </a:fld>
            <a:endParaRPr lang="en-IN"/>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C7D130E1-2BAE-4105-A6E4-918434DD44EC}" type="slidenum">
              <a:rPr lang="en-IN" smtClean="0"/>
              <a:pPr/>
              <a:t>‹#›</a:t>
            </a:fld>
            <a:endParaRPr lang="en-IN"/>
          </a:p>
        </p:txBody>
      </p:sp>
      <p:sp>
        <p:nvSpPr>
          <p:cNvPr id="9" name="Rectangle 8"/>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96009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A7FF83-DA38-482A-B194-02349B6320EF}" type="datetimeFigureOut">
              <a:rPr lang="en-IN" smtClean="0"/>
              <a:pPr/>
              <a:t>11-08-2025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D130E1-2BAE-4105-A6E4-918434DD44EC}" type="slidenum">
              <a:rPr lang="en-IN" smtClean="0"/>
              <a:pPr/>
              <a:t>‹#›</a:t>
            </a:fld>
            <a:endParaRPr lang="en-IN"/>
          </a:p>
        </p:txBody>
      </p:sp>
    </p:spTree>
    <p:extLst>
      <p:ext uri="{BB962C8B-B14F-4D97-AF65-F5344CB8AC3E}">
        <p14:creationId xmlns:p14="http://schemas.microsoft.com/office/powerpoint/2010/main" val="3434367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A7FF83-DA38-482A-B194-02349B6320EF}" type="datetimeFigureOut">
              <a:rPr lang="en-IN" smtClean="0"/>
              <a:pPr/>
              <a:t>11-08-2025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D130E1-2BAE-4105-A6E4-918434DD44EC}" type="slidenum">
              <a:rPr lang="en-IN" smtClean="0"/>
              <a:pPr/>
              <a:t>‹#›</a:t>
            </a:fld>
            <a:endParaRPr lang="en-IN"/>
          </a:p>
        </p:txBody>
      </p:sp>
    </p:spTree>
    <p:extLst>
      <p:ext uri="{BB962C8B-B14F-4D97-AF65-F5344CB8AC3E}">
        <p14:creationId xmlns:p14="http://schemas.microsoft.com/office/powerpoint/2010/main" val="3151621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A4A7FF83-DA38-482A-B194-02349B6320EF}" type="datetimeFigureOut">
              <a:rPr lang="en-IN" smtClean="0"/>
              <a:pPr/>
              <a:t>11-08-2025</a:t>
            </a:fld>
            <a:endParaRPr lang="en-IN"/>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IN"/>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C7D130E1-2BAE-4105-A6E4-918434DD44EC}" type="slidenum">
              <a:rPr lang="en-IN" smtClean="0"/>
              <a:pPr/>
              <a:t>‹#›</a:t>
            </a:fld>
            <a:endParaRPr lang="en-IN"/>
          </a:p>
        </p:txBody>
      </p:sp>
      <p:sp>
        <p:nvSpPr>
          <p:cNvPr id="9" name="Rectangle 8"/>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944346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geeksforgeeks.org/operating-systems/priority-scheduling-in-operating-system/" TargetMode="External"/><Relationship Id="rId2" Type="http://schemas.openxmlformats.org/officeDocument/2006/relationships/hyperlink" Target="https://www.geeksforgeeks.org/operating-systems/round-robin-scheduling-in-operating-system/"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geeksforgeeks.org/operating-systems/resource-allocation-graph-rag-in-operating-system/"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geeksforgeeks.org/operating-systems/segmentation-in-operating-system/" TargetMode="External"/><Relationship Id="rId2" Type="http://schemas.openxmlformats.org/officeDocument/2006/relationships/hyperlink" Target="https://www.geeksforgeeks.org/operating-systems/paging-in-operating-system/" TargetMode="External"/><Relationship Id="rId1" Type="http://schemas.openxmlformats.org/officeDocument/2006/relationships/slideLayout" Target="../slideLayouts/slideLayout2.xml"/><Relationship Id="rId4" Type="http://schemas.openxmlformats.org/officeDocument/2006/relationships/hyperlink" Target="https://www.geeksforgeeks.org/operating-systems/compaction-in-operating-system/" TargetMode="External"/></Relationships>
</file>

<file path=ppt/slides/_rels/slide26.xml.rels><?xml version="1.0" encoding="UTF-8" standalone="yes"?>
<Relationships xmlns="http://schemas.openxmlformats.org/package/2006/relationships"><Relationship Id="rId2" Type="http://schemas.openxmlformats.org/officeDocument/2006/relationships/hyperlink" Target="https://www.geeksforgeeks.org/operating-systems/file-allocation-method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geeksforgeeks.org/operating-systems/device-driver-and-its-purpose/"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geeksforgeeks.org/operating-systems/spooling-in-operating-system/" TargetMode="External"/><Relationship Id="rId2" Type="http://schemas.openxmlformats.org/officeDocument/2006/relationships/hyperlink" Target="https://www.geeksforgeeks.org/computer-science-fundamentals/random-access-memory-ram/"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4BF6F-61B4-400F-A322-17ADF0860D0C}"/>
              </a:ext>
            </a:extLst>
          </p:cNvPr>
          <p:cNvSpPr>
            <a:spLocks noGrp="1"/>
          </p:cNvSpPr>
          <p:nvPr>
            <p:ph type="ctrTitle"/>
          </p:nvPr>
        </p:nvSpPr>
        <p:spPr>
          <a:xfrm>
            <a:off x="1915128" y="497840"/>
            <a:ext cx="8361229" cy="2586200"/>
          </a:xfrm>
        </p:spPr>
        <p:txBody>
          <a:bodyPr/>
          <a:lstStyle/>
          <a:p>
            <a:r>
              <a:rPr lang="en-IN" sz="3200" dirty="0"/>
              <a:t>Unit-1</a:t>
            </a:r>
            <a:br>
              <a:rPr lang="en-IN" sz="2400" dirty="0"/>
            </a:br>
            <a:br>
              <a:rPr lang="en-IN" sz="3200" dirty="0"/>
            </a:br>
            <a:r>
              <a:rPr lang="en-IN" sz="3200" dirty="0"/>
              <a:t> </a:t>
            </a:r>
            <a:r>
              <a:rPr lang="en-IN" sz="3200" b="1" dirty="0"/>
              <a:t>INTRODUCTION TO OPERATING SYTEMS</a:t>
            </a:r>
            <a:r>
              <a:rPr lang="en-IN" sz="3200" dirty="0"/>
              <a:t>	</a:t>
            </a:r>
            <a:br>
              <a:rPr lang="en-IN" sz="3200" dirty="0"/>
            </a:br>
            <a:endParaRPr lang="en-IN" sz="2400" dirty="0"/>
          </a:p>
        </p:txBody>
      </p:sp>
      <p:sp>
        <p:nvSpPr>
          <p:cNvPr id="5" name="Subtitle 4">
            <a:extLst>
              <a:ext uri="{FF2B5EF4-FFF2-40B4-BE49-F238E27FC236}">
                <a16:creationId xmlns:a16="http://schemas.microsoft.com/office/drawing/2014/main" id="{F022DF16-6423-9739-0EB5-A1C65CF5F6B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8251650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620CD-C383-4982-A942-AE9DD0CC1C27}"/>
              </a:ext>
            </a:extLst>
          </p:cNvPr>
          <p:cNvSpPr>
            <a:spLocks noGrp="1"/>
          </p:cNvSpPr>
          <p:nvPr>
            <p:ph type="title"/>
          </p:nvPr>
        </p:nvSpPr>
        <p:spPr/>
        <p:txBody>
          <a:bodyPr/>
          <a:lstStyle/>
          <a:p>
            <a:r>
              <a:rPr lang="en-IN" dirty="0"/>
              <a:t>Roadmap</a:t>
            </a:r>
          </a:p>
        </p:txBody>
      </p:sp>
      <p:sp>
        <p:nvSpPr>
          <p:cNvPr id="3" name="Content Placeholder 2">
            <a:extLst>
              <a:ext uri="{FF2B5EF4-FFF2-40B4-BE49-F238E27FC236}">
                <a16:creationId xmlns:a16="http://schemas.microsoft.com/office/drawing/2014/main" id="{452FDECA-F182-44D4-A074-5C9656D9221F}"/>
              </a:ext>
            </a:extLst>
          </p:cNvPr>
          <p:cNvSpPr>
            <a:spLocks noGrp="1"/>
          </p:cNvSpPr>
          <p:nvPr>
            <p:ph idx="1"/>
          </p:nvPr>
        </p:nvSpPr>
        <p:spPr/>
        <p:txBody>
          <a:bodyPr>
            <a:normAutofit/>
          </a:bodyPr>
          <a:lstStyle/>
          <a:p>
            <a:endParaRPr lang="en-IN" dirty="0"/>
          </a:p>
          <a:p>
            <a:r>
              <a:rPr lang="en-US" dirty="0"/>
              <a:t>Introduction to Operating system</a:t>
            </a:r>
            <a:endParaRPr lang="en-US" b="1" dirty="0"/>
          </a:p>
          <a:p>
            <a:r>
              <a:rPr lang="en-US" dirty="0"/>
              <a:t>Operating System Objectives and functions </a:t>
            </a:r>
          </a:p>
          <a:p>
            <a:r>
              <a:rPr lang="en-US" dirty="0"/>
              <a:t>Evolution Of Operating System</a:t>
            </a:r>
          </a:p>
          <a:p>
            <a:r>
              <a:rPr lang="en-US" dirty="0"/>
              <a:t>Major achievements of Operating system</a:t>
            </a:r>
          </a:p>
          <a:p>
            <a:pPr marL="0" indent="0">
              <a:buNone/>
            </a:pPr>
            <a:endParaRPr lang="en-US" dirty="0"/>
          </a:p>
          <a:p>
            <a:pPr marL="0" indent="0">
              <a:buNone/>
            </a:pPr>
            <a:r>
              <a:rPr lang="en-US" dirty="0"/>
              <a:t>	</a:t>
            </a:r>
          </a:p>
          <a:p>
            <a:endParaRPr lang="en-IN" dirty="0"/>
          </a:p>
        </p:txBody>
      </p:sp>
    </p:spTree>
    <p:extLst>
      <p:ext uri="{BB962C8B-B14F-4D97-AF65-F5344CB8AC3E}">
        <p14:creationId xmlns:p14="http://schemas.microsoft.com/office/powerpoint/2010/main" val="434762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92F35-993D-44EB-98BD-D41D14BAB1D2}"/>
              </a:ext>
            </a:extLst>
          </p:cNvPr>
          <p:cNvSpPr>
            <a:spLocks noGrp="1"/>
          </p:cNvSpPr>
          <p:nvPr>
            <p:ph type="title"/>
          </p:nvPr>
        </p:nvSpPr>
        <p:spPr/>
        <p:txBody>
          <a:bodyPr/>
          <a:lstStyle/>
          <a:p>
            <a:pPr algn="ctr"/>
            <a:r>
              <a:rPr lang="en-IN" dirty="0"/>
              <a:t>Operating system</a:t>
            </a:r>
          </a:p>
        </p:txBody>
      </p:sp>
      <p:sp>
        <p:nvSpPr>
          <p:cNvPr id="3" name="Content Placeholder 2">
            <a:extLst>
              <a:ext uri="{FF2B5EF4-FFF2-40B4-BE49-F238E27FC236}">
                <a16:creationId xmlns:a16="http://schemas.microsoft.com/office/drawing/2014/main" id="{6139C0AE-444C-49C6-8D8C-99211126141D}"/>
              </a:ext>
            </a:extLst>
          </p:cNvPr>
          <p:cNvSpPr>
            <a:spLocks noGrp="1"/>
          </p:cNvSpPr>
          <p:nvPr>
            <p:ph idx="1"/>
          </p:nvPr>
        </p:nvSpPr>
        <p:spPr/>
        <p:txBody>
          <a:bodyPr/>
          <a:lstStyle/>
          <a:p>
            <a:pPr algn="just">
              <a:defRPr/>
            </a:pPr>
            <a:r>
              <a:rPr lang="en-US" sz="3600" dirty="0">
                <a:cs typeface="Times New Roman" pitchFamily="18" charset="0"/>
              </a:rPr>
              <a:t>Definition:- </a:t>
            </a:r>
          </a:p>
          <a:p>
            <a:pPr lvl="3" algn="ctr">
              <a:defRPr/>
            </a:pPr>
            <a:r>
              <a:rPr lang="en-US" sz="3600" dirty="0">
                <a:cs typeface="Times New Roman" pitchFamily="18" charset="0"/>
              </a:rPr>
              <a:t>“ An Operating system is a program that controls the execution of application </a:t>
            </a:r>
            <a:r>
              <a:rPr lang="en-US" sz="4000" dirty="0">
                <a:cs typeface="Times New Roman" pitchFamily="18" charset="0"/>
              </a:rPr>
              <a:t>program</a:t>
            </a:r>
            <a:r>
              <a:rPr lang="en-US" sz="3600" dirty="0">
                <a:cs typeface="Times New Roman" pitchFamily="18" charset="0"/>
              </a:rPr>
              <a:t> and acts as an interface between the user of a computer and the computer hardware.”</a:t>
            </a:r>
          </a:p>
          <a:p>
            <a:endParaRPr lang="en-IN" dirty="0"/>
          </a:p>
        </p:txBody>
      </p:sp>
    </p:spTree>
    <p:extLst>
      <p:ext uri="{BB962C8B-B14F-4D97-AF65-F5344CB8AC3E}">
        <p14:creationId xmlns:p14="http://schemas.microsoft.com/office/powerpoint/2010/main" val="1106980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92F35-993D-44EB-98BD-D41D14BAB1D2}"/>
              </a:ext>
            </a:extLst>
          </p:cNvPr>
          <p:cNvSpPr>
            <a:spLocks noGrp="1"/>
          </p:cNvSpPr>
          <p:nvPr>
            <p:ph type="title"/>
          </p:nvPr>
        </p:nvSpPr>
        <p:spPr/>
        <p:txBody>
          <a:bodyPr/>
          <a:lstStyle/>
          <a:p>
            <a:pPr algn="ctr"/>
            <a:r>
              <a:rPr lang="en-IN" dirty="0"/>
              <a:t>Operating system</a:t>
            </a:r>
          </a:p>
        </p:txBody>
      </p:sp>
      <p:pic>
        <p:nvPicPr>
          <p:cNvPr id="5" name="Picture 4"/>
          <p:cNvPicPr>
            <a:picLocks noChangeAspect="1"/>
          </p:cNvPicPr>
          <p:nvPr/>
        </p:nvPicPr>
        <p:blipFill>
          <a:blip r:embed="rId2"/>
          <a:stretch>
            <a:fillRect/>
          </a:stretch>
        </p:blipFill>
        <p:spPr>
          <a:xfrm>
            <a:off x="1775713" y="1233467"/>
            <a:ext cx="9470464" cy="4571588"/>
          </a:xfrm>
          <a:prstGeom prst="rect">
            <a:avLst/>
          </a:prstGeom>
        </p:spPr>
      </p:pic>
    </p:spTree>
    <p:extLst>
      <p:ext uri="{BB962C8B-B14F-4D97-AF65-F5344CB8AC3E}">
        <p14:creationId xmlns:p14="http://schemas.microsoft.com/office/powerpoint/2010/main" val="2212849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C34C5-52FD-4520-9CB1-37618591DB0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3B5D24D-6258-4BED-9E0D-413D37EB6F22}"/>
              </a:ext>
            </a:extLst>
          </p:cNvPr>
          <p:cNvSpPr>
            <a:spLocks noGrp="1"/>
          </p:cNvSpPr>
          <p:nvPr>
            <p:ph idx="1"/>
          </p:nvPr>
        </p:nvSpPr>
        <p:spPr/>
        <p:txBody>
          <a:bodyPr/>
          <a:lstStyle/>
          <a:p>
            <a:endParaRPr lang="en-IN"/>
          </a:p>
        </p:txBody>
      </p:sp>
      <p:pic>
        <p:nvPicPr>
          <p:cNvPr id="4" name="Picture 3" descr="T028766A.gif">
            <a:extLst>
              <a:ext uri="{FF2B5EF4-FFF2-40B4-BE49-F238E27FC236}">
                <a16:creationId xmlns:a16="http://schemas.microsoft.com/office/drawing/2014/main" id="{45EAFCB1-816A-4BC4-BA23-752FE288EC9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1840" y="0"/>
            <a:ext cx="1130808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0866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images-2.jpeg">
            <a:extLst>
              <a:ext uri="{FF2B5EF4-FFF2-40B4-BE49-F238E27FC236}">
                <a16:creationId xmlns:a16="http://schemas.microsoft.com/office/drawing/2014/main" id="{E68D9463-56E6-4E9C-A624-F12778F852D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4863" y="2489194"/>
            <a:ext cx="1320801"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descr="SIT1050.jpg">
            <a:extLst>
              <a:ext uri="{FF2B5EF4-FFF2-40B4-BE49-F238E27FC236}">
                <a16:creationId xmlns:a16="http://schemas.microsoft.com/office/drawing/2014/main" id="{06B4F67B-7C2F-4031-9388-1B6A257E109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90801" y="917569"/>
            <a:ext cx="3214688"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descr="images-3.jpeg">
            <a:extLst>
              <a:ext uri="{FF2B5EF4-FFF2-40B4-BE49-F238E27FC236}">
                <a16:creationId xmlns:a16="http://schemas.microsoft.com/office/drawing/2014/main" id="{AA2FCFF4-2EB3-4044-A6EA-5AFFFF3AA02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04863" y="846131"/>
            <a:ext cx="1752601"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11">
            <a:extLst>
              <a:ext uri="{FF2B5EF4-FFF2-40B4-BE49-F238E27FC236}">
                <a16:creationId xmlns:a16="http://schemas.microsoft.com/office/drawing/2014/main" id="{CAE8A558-5E5E-4F16-AC45-89B7499AF0C9}"/>
              </a:ext>
            </a:extLst>
          </p:cNvPr>
          <p:cNvSpPr txBox="1">
            <a:spLocks noChangeArrowheads="1"/>
          </p:cNvSpPr>
          <p:nvPr/>
        </p:nvSpPr>
        <p:spPr bwMode="auto">
          <a:xfrm>
            <a:off x="2376489" y="4275131"/>
            <a:ext cx="24876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processor</a:t>
            </a:r>
          </a:p>
        </p:txBody>
      </p:sp>
      <p:pic>
        <p:nvPicPr>
          <p:cNvPr id="8" name="Picture 3" descr="ram.jpg">
            <a:extLst>
              <a:ext uri="{FF2B5EF4-FFF2-40B4-BE49-F238E27FC236}">
                <a16:creationId xmlns:a16="http://schemas.microsoft.com/office/drawing/2014/main" id="{42F89CF6-0649-46E0-92AA-95DD7D1A04C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480176" y="869944"/>
            <a:ext cx="300037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4">
            <a:extLst>
              <a:ext uri="{FF2B5EF4-FFF2-40B4-BE49-F238E27FC236}">
                <a16:creationId xmlns:a16="http://schemas.microsoft.com/office/drawing/2014/main" id="{5BC720F6-BC1B-4B78-B651-2BF7255C4A7D}"/>
              </a:ext>
            </a:extLst>
          </p:cNvPr>
          <p:cNvSpPr txBox="1">
            <a:spLocks noChangeArrowheads="1"/>
          </p:cNvSpPr>
          <p:nvPr/>
        </p:nvSpPr>
        <p:spPr bwMode="auto">
          <a:xfrm>
            <a:off x="8448676" y="4346569"/>
            <a:ext cx="8509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RAM</a:t>
            </a:r>
          </a:p>
        </p:txBody>
      </p:sp>
      <p:sp>
        <p:nvSpPr>
          <p:cNvPr id="10" name="Content Placeholder 9"/>
          <p:cNvSpPr>
            <a:spLocks noGrp="1"/>
          </p:cNvSpPr>
          <p:nvPr>
            <p:ph idx="1"/>
          </p:nvPr>
        </p:nvSpPr>
        <p:spPr/>
        <p:txBody>
          <a:bodyPr/>
          <a:lstStyle/>
          <a:p>
            <a:endParaRPr lang="en-US" dirty="0"/>
          </a:p>
        </p:txBody>
      </p:sp>
    </p:spTree>
    <p:extLst>
      <p:ext uri="{BB962C8B-B14F-4D97-AF65-F5344CB8AC3E}">
        <p14:creationId xmlns:p14="http://schemas.microsoft.com/office/powerpoint/2010/main" val="1781859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88C5F-FAD4-476A-9DE1-9F624D660BF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CF76FB4-4806-48B5-BA9B-9D899799594F}"/>
              </a:ext>
            </a:extLst>
          </p:cNvPr>
          <p:cNvSpPr>
            <a:spLocks noGrp="1"/>
          </p:cNvSpPr>
          <p:nvPr>
            <p:ph idx="1"/>
          </p:nvPr>
        </p:nvSpPr>
        <p:spPr/>
        <p:txBody>
          <a:bodyPr>
            <a:normAutofit/>
          </a:bodyPr>
          <a:lstStyle/>
          <a:p>
            <a:pPr>
              <a:buFont typeface="Arial" pitchFamily="34" charset="0"/>
              <a:buChar char="•"/>
              <a:defRPr/>
            </a:pPr>
            <a:r>
              <a:rPr lang="en-US" dirty="0"/>
              <a:t>An OS is a program which acts as an </a:t>
            </a:r>
            <a:r>
              <a:rPr lang="en-US" i="1" dirty="0"/>
              <a:t>interface</a:t>
            </a:r>
            <a:r>
              <a:rPr lang="en-US" dirty="0"/>
              <a:t> between computer system users and the computer hardware. </a:t>
            </a:r>
          </a:p>
          <a:p>
            <a:pPr>
              <a:buFont typeface="Arial" pitchFamily="34" charset="0"/>
              <a:buChar char="•"/>
              <a:defRPr/>
            </a:pPr>
            <a:r>
              <a:rPr lang="en-US" dirty="0"/>
              <a:t>It provides a user-friendly environment in which a user may easily develop and execute programs.</a:t>
            </a:r>
          </a:p>
          <a:p>
            <a:pPr>
              <a:buFont typeface="Arial" pitchFamily="34" charset="0"/>
              <a:buChar char="•"/>
              <a:defRPr/>
            </a:pPr>
            <a:r>
              <a:rPr lang="en-US" dirty="0"/>
              <a:t> Otherwise, hardware knowledge would be mandatory for computer programming. </a:t>
            </a:r>
          </a:p>
          <a:p>
            <a:pPr>
              <a:buFont typeface="Arial" pitchFamily="34" charset="0"/>
              <a:buChar char="•"/>
              <a:defRPr/>
            </a:pPr>
            <a:r>
              <a:rPr lang="en-US" dirty="0"/>
              <a:t>So, it can be said that an OS hides the complexity of hardware from uninterested users.</a:t>
            </a:r>
          </a:p>
          <a:p>
            <a:pPr>
              <a:buFont typeface="Arial" pitchFamily="34" charset="0"/>
              <a:buChar char="•"/>
              <a:defRPr/>
            </a:pPr>
            <a:r>
              <a:rPr lang="en-US" dirty="0"/>
              <a:t>In general, a computer system has some resources which may be utilized to solve a problem. They are </a:t>
            </a:r>
          </a:p>
          <a:p>
            <a:pPr lvl="1">
              <a:buFont typeface="Arial" pitchFamily="34" charset="0"/>
              <a:buChar char="•"/>
              <a:defRPr/>
            </a:pPr>
            <a:r>
              <a:rPr lang="en-US" dirty="0"/>
              <a:t>Memory</a:t>
            </a:r>
          </a:p>
          <a:p>
            <a:pPr lvl="1">
              <a:buFont typeface="Arial" pitchFamily="34" charset="0"/>
              <a:buChar char="•"/>
              <a:defRPr/>
            </a:pPr>
            <a:r>
              <a:rPr lang="en-US" dirty="0"/>
              <a:t>Processor(s)</a:t>
            </a:r>
          </a:p>
          <a:p>
            <a:pPr lvl="1">
              <a:buFont typeface="Arial" pitchFamily="34" charset="0"/>
              <a:buChar char="•"/>
              <a:defRPr/>
            </a:pPr>
            <a:r>
              <a:rPr lang="en-US" dirty="0"/>
              <a:t>I/O</a:t>
            </a:r>
          </a:p>
          <a:p>
            <a:pPr lvl="1">
              <a:buFont typeface="Arial" pitchFamily="34" charset="0"/>
              <a:buChar char="•"/>
              <a:defRPr/>
            </a:pPr>
            <a:r>
              <a:rPr lang="en-US" dirty="0"/>
              <a:t>File System</a:t>
            </a:r>
          </a:p>
        </p:txBody>
      </p:sp>
    </p:spTree>
    <p:extLst>
      <p:ext uri="{BB962C8B-B14F-4D97-AF65-F5344CB8AC3E}">
        <p14:creationId xmlns:p14="http://schemas.microsoft.com/office/powerpoint/2010/main" val="246898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7A206-C7C0-4768-9F0D-931868B5E64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F1CCE7E-C8E1-4300-9A5B-11110C3433A2}"/>
              </a:ext>
            </a:extLst>
          </p:cNvPr>
          <p:cNvSpPr>
            <a:spLocks noGrp="1"/>
          </p:cNvSpPr>
          <p:nvPr>
            <p:ph idx="1"/>
          </p:nvPr>
        </p:nvSpPr>
        <p:spPr/>
        <p:txBody>
          <a:bodyPr>
            <a:normAutofit lnSpcReduction="10000"/>
          </a:bodyPr>
          <a:lstStyle/>
          <a:p>
            <a:pPr>
              <a:lnSpc>
                <a:spcPct val="90000"/>
              </a:lnSpc>
              <a:buClr>
                <a:schemeClr val="tx1"/>
              </a:buClr>
              <a:buFont typeface="Wingdings 2" pitchFamily="18" charset="2"/>
              <a:buChar char=""/>
              <a:defRPr/>
            </a:pPr>
            <a:r>
              <a:rPr lang="en-US" sz="2800" dirty="0">
                <a:solidFill>
                  <a:schemeClr val="tx1"/>
                </a:solidFill>
              </a:rPr>
              <a:t>The OS manages these resources and allocates them to specific programs and users. </a:t>
            </a:r>
          </a:p>
          <a:p>
            <a:pPr>
              <a:lnSpc>
                <a:spcPct val="90000"/>
              </a:lnSpc>
              <a:buClr>
                <a:schemeClr val="tx1"/>
              </a:buClr>
              <a:buFont typeface="Wingdings 2" pitchFamily="18" charset="2"/>
              <a:buChar char=""/>
              <a:defRPr/>
            </a:pPr>
            <a:endParaRPr lang="en-US" sz="2800" dirty="0">
              <a:solidFill>
                <a:schemeClr val="tx1"/>
              </a:solidFill>
            </a:endParaRPr>
          </a:p>
          <a:p>
            <a:pPr>
              <a:lnSpc>
                <a:spcPct val="90000"/>
              </a:lnSpc>
              <a:buFont typeface="Wingdings 2" pitchFamily="18" charset="2"/>
              <a:buChar char=""/>
              <a:defRPr/>
            </a:pPr>
            <a:r>
              <a:rPr lang="en-US" sz="2800" dirty="0">
                <a:solidFill>
                  <a:schemeClr val="tx1"/>
                </a:solidFill>
              </a:rPr>
              <a:t>With the management of the OS, a programmer is rid of difficult hardware considerations.</a:t>
            </a:r>
          </a:p>
          <a:p>
            <a:pPr>
              <a:lnSpc>
                <a:spcPct val="90000"/>
              </a:lnSpc>
              <a:buFont typeface="Wingdings 2" pitchFamily="18" charset="2"/>
              <a:buChar char=""/>
              <a:defRPr/>
            </a:pPr>
            <a:endParaRPr lang="en-US" sz="2800" dirty="0">
              <a:solidFill>
                <a:schemeClr val="tx1"/>
              </a:solidFill>
            </a:endParaRPr>
          </a:p>
          <a:p>
            <a:pPr>
              <a:lnSpc>
                <a:spcPct val="90000"/>
              </a:lnSpc>
              <a:buFont typeface="Wingdings 2" pitchFamily="18" charset="2"/>
              <a:buChar char=""/>
              <a:defRPr/>
            </a:pPr>
            <a:r>
              <a:rPr lang="en-US" sz="2800" dirty="0">
                <a:solidFill>
                  <a:schemeClr val="tx1"/>
                </a:solidFill>
              </a:rPr>
              <a:t> An OS provides services for</a:t>
            </a:r>
          </a:p>
          <a:p>
            <a:pPr lvl="1">
              <a:lnSpc>
                <a:spcPct val="90000"/>
              </a:lnSpc>
              <a:buFont typeface="Wingdings 2" pitchFamily="18" charset="2"/>
              <a:buChar char=""/>
              <a:defRPr/>
            </a:pPr>
            <a:r>
              <a:rPr lang="en-US" sz="2800" dirty="0">
                <a:solidFill>
                  <a:schemeClr val="tx1"/>
                </a:solidFill>
              </a:rPr>
              <a:t>Processor Management</a:t>
            </a:r>
          </a:p>
          <a:p>
            <a:pPr lvl="1">
              <a:lnSpc>
                <a:spcPct val="90000"/>
              </a:lnSpc>
              <a:buFont typeface="Wingdings 2" pitchFamily="18" charset="2"/>
              <a:buChar char=""/>
              <a:defRPr/>
            </a:pPr>
            <a:r>
              <a:rPr lang="en-US" sz="2800" dirty="0">
                <a:solidFill>
                  <a:schemeClr val="tx1"/>
                </a:solidFill>
              </a:rPr>
              <a:t>Memory Management</a:t>
            </a:r>
          </a:p>
          <a:p>
            <a:pPr lvl="1">
              <a:lnSpc>
                <a:spcPct val="90000"/>
              </a:lnSpc>
              <a:buFont typeface="Wingdings 2" pitchFamily="18" charset="2"/>
              <a:buChar char=""/>
              <a:defRPr/>
            </a:pPr>
            <a:r>
              <a:rPr lang="en-US" sz="2800" dirty="0">
                <a:solidFill>
                  <a:schemeClr val="tx1"/>
                </a:solidFill>
              </a:rPr>
              <a:t>File Management</a:t>
            </a:r>
          </a:p>
          <a:p>
            <a:pPr lvl="1">
              <a:lnSpc>
                <a:spcPct val="90000"/>
              </a:lnSpc>
              <a:buFont typeface="Wingdings 2" pitchFamily="18" charset="2"/>
              <a:buChar char=""/>
              <a:defRPr/>
            </a:pPr>
            <a:r>
              <a:rPr lang="en-US" sz="2800" dirty="0">
                <a:solidFill>
                  <a:schemeClr val="tx1"/>
                </a:solidFill>
              </a:rPr>
              <a:t>Device Management</a:t>
            </a:r>
          </a:p>
          <a:p>
            <a:pPr lvl="1">
              <a:lnSpc>
                <a:spcPct val="90000"/>
              </a:lnSpc>
              <a:buFont typeface="Wingdings 2" pitchFamily="18" charset="2"/>
              <a:buChar char=""/>
              <a:defRPr/>
            </a:pPr>
            <a:r>
              <a:rPr lang="en-US" sz="2800" dirty="0">
                <a:solidFill>
                  <a:schemeClr val="tx1"/>
                </a:solidFill>
              </a:rPr>
              <a:t>Concurrency Control</a:t>
            </a:r>
            <a:endParaRPr lang="en-IN" dirty="0">
              <a:solidFill>
                <a:schemeClr val="tx1"/>
              </a:solidFill>
            </a:endParaRPr>
          </a:p>
        </p:txBody>
      </p:sp>
    </p:spTree>
    <p:extLst>
      <p:ext uri="{BB962C8B-B14F-4D97-AF65-F5344CB8AC3E}">
        <p14:creationId xmlns:p14="http://schemas.microsoft.com/office/powerpoint/2010/main" val="754011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620CD-C383-4982-A942-AE9DD0CC1C27}"/>
              </a:ext>
            </a:extLst>
          </p:cNvPr>
          <p:cNvSpPr>
            <a:spLocks noGrp="1"/>
          </p:cNvSpPr>
          <p:nvPr>
            <p:ph type="title"/>
          </p:nvPr>
        </p:nvSpPr>
        <p:spPr/>
        <p:txBody>
          <a:bodyPr/>
          <a:lstStyle/>
          <a:p>
            <a:r>
              <a:rPr lang="en-IN" dirty="0"/>
              <a:t>Roadmap</a:t>
            </a:r>
          </a:p>
        </p:txBody>
      </p:sp>
      <p:sp>
        <p:nvSpPr>
          <p:cNvPr id="3" name="Content Placeholder 2">
            <a:extLst>
              <a:ext uri="{FF2B5EF4-FFF2-40B4-BE49-F238E27FC236}">
                <a16:creationId xmlns:a16="http://schemas.microsoft.com/office/drawing/2014/main" id="{452FDECA-F182-44D4-A074-5C9656D9221F}"/>
              </a:ext>
            </a:extLst>
          </p:cNvPr>
          <p:cNvSpPr>
            <a:spLocks noGrp="1"/>
          </p:cNvSpPr>
          <p:nvPr>
            <p:ph idx="1"/>
          </p:nvPr>
        </p:nvSpPr>
        <p:spPr/>
        <p:txBody>
          <a:bodyPr>
            <a:normAutofit/>
          </a:bodyPr>
          <a:lstStyle/>
          <a:p>
            <a:endParaRPr lang="en-IN" dirty="0"/>
          </a:p>
          <a:p>
            <a:r>
              <a:rPr lang="en-US" dirty="0"/>
              <a:t>Introduction to Operating system, </a:t>
            </a:r>
          </a:p>
          <a:p>
            <a:r>
              <a:rPr lang="en-US" b="1" dirty="0"/>
              <a:t>Operating System Objectives and functions, </a:t>
            </a:r>
          </a:p>
          <a:p>
            <a:r>
              <a:rPr lang="en-US" dirty="0"/>
              <a:t>Evolution Of Operating System</a:t>
            </a:r>
          </a:p>
          <a:p>
            <a:r>
              <a:rPr lang="en-US" dirty="0"/>
              <a:t>Major achievements</a:t>
            </a:r>
          </a:p>
          <a:p>
            <a:endParaRPr lang="en-US" dirty="0"/>
          </a:p>
          <a:p>
            <a:pPr marL="0" indent="0">
              <a:buNone/>
            </a:pPr>
            <a:r>
              <a:rPr lang="en-US" dirty="0"/>
              <a:t>	</a:t>
            </a:r>
          </a:p>
          <a:p>
            <a:endParaRPr lang="en-IN" dirty="0"/>
          </a:p>
        </p:txBody>
      </p:sp>
    </p:spTree>
    <p:extLst>
      <p:ext uri="{BB962C8B-B14F-4D97-AF65-F5344CB8AC3E}">
        <p14:creationId xmlns:p14="http://schemas.microsoft.com/office/powerpoint/2010/main" val="2826738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2D6E8-5634-44EE-8525-7230AA57551F}"/>
              </a:ext>
            </a:extLst>
          </p:cNvPr>
          <p:cNvSpPr>
            <a:spLocks noGrp="1"/>
          </p:cNvSpPr>
          <p:nvPr>
            <p:ph type="title"/>
          </p:nvPr>
        </p:nvSpPr>
        <p:spPr/>
        <p:txBody>
          <a:bodyPr/>
          <a:lstStyle/>
          <a:p>
            <a:r>
              <a:rPr lang="en-IN" dirty="0"/>
              <a:t>Objectives of operating system</a:t>
            </a:r>
          </a:p>
        </p:txBody>
      </p:sp>
      <p:sp>
        <p:nvSpPr>
          <p:cNvPr id="3" name="Content Placeholder 2">
            <a:extLst>
              <a:ext uri="{FF2B5EF4-FFF2-40B4-BE49-F238E27FC236}">
                <a16:creationId xmlns:a16="http://schemas.microsoft.com/office/drawing/2014/main" id="{95C71C24-2012-48AD-9ED7-D1D41B5C3CD3}"/>
              </a:ext>
            </a:extLst>
          </p:cNvPr>
          <p:cNvSpPr>
            <a:spLocks noGrp="1"/>
          </p:cNvSpPr>
          <p:nvPr>
            <p:ph idx="1"/>
          </p:nvPr>
        </p:nvSpPr>
        <p:spPr/>
        <p:txBody>
          <a:bodyPr>
            <a:normAutofit lnSpcReduction="10000"/>
          </a:bodyPr>
          <a:lstStyle/>
          <a:p>
            <a:pPr algn="just"/>
            <a:r>
              <a:rPr lang="en-US" altLang="en-US" sz="2800" dirty="0">
                <a:cs typeface="Times New Roman" panose="02020603050405020304" pitchFamily="18" charset="0"/>
              </a:rPr>
              <a:t>Convenience:-</a:t>
            </a:r>
          </a:p>
          <a:p>
            <a:pPr lvl="3" algn="just"/>
            <a:r>
              <a:rPr lang="en-US" altLang="en-US" sz="2800" dirty="0">
                <a:cs typeface="Times New Roman" panose="02020603050405020304" pitchFamily="18" charset="0"/>
              </a:rPr>
              <a:t>It makes a computer more convenient to use.</a:t>
            </a:r>
          </a:p>
          <a:p>
            <a:pPr lvl="3" algn="just"/>
            <a:r>
              <a:rPr lang="en-US" altLang="en-US" sz="2800" dirty="0">
                <a:cs typeface="Times New Roman" panose="02020603050405020304" pitchFamily="18" charset="0"/>
              </a:rPr>
              <a:t>Tasks can be computed easily and in less time.</a:t>
            </a:r>
          </a:p>
          <a:p>
            <a:pPr algn="just"/>
            <a:r>
              <a:rPr lang="en-US" altLang="en-US" sz="2800" dirty="0">
                <a:cs typeface="Times New Roman" panose="02020603050405020304" pitchFamily="18" charset="0"/>
              </a:rPr>
              <a:t>Efficiency:-</a:t>
            </a:r>
          </a:p>
          <a:p>
            <a:pPr marL="0" indent="0" algn="just">
              <a:buNone/>
            </a:pPr>
            <a:r>
              <a:rPr lang="en-US" altLang="en-US" sz="2800" dirty="0">
                <a:cs typeface="Times New Roman" panose="02020603050405020304" pitchFamily="18" charset="0"/>
              </a:rPr>
              <a:t>		It strives to utilize the computer's resources (CPU, memory, I/O  devices) efficiently, minimizing waste and maximizing throughput. </a:t>
            </a:r>
          </a:p>
          <a:p>
            <a:pPr algn="just"/>
            <a:r>
              <a:rPr lang="en-US" altLang="en-US" sz="2800" dirty="0">
                <a:cs typeface="Times New Roman" panose="02020603050405020304" pitchFamily="18" charset="0"/>
              </a:rPr>
              <a:t>Ability to evolve:-</a:t>
            </a:r>
          </a:p>
          <a:p>
            <a:pPr lvl="3" algn="just"/>
            <a:r>
              <a:rPr lang="en-US" altLang="en-US" sz="2800" i="0" dirty="0">
                <a:cs typeface="Times New Roman" panose="02020603050405020304" pitchFamily="18" charset="0"/>
              </a:rPr>
              <a:t>Permits the effective development, testing and introduction of a new system functions without interfering with  service.</a:t>
            </a:r>
          </a:p>
          <a:p>
            <a:r>
              <a:rPr lang="en-IN" sz="3200" dirty="0"/>
              <a:t>Resource Management:- </a:t>
            </a:r>
            <a:r>
              <a:rPr lang="en-US" sz="2800" dirty="0">
                <a:cs typeface="Times New Roman" panose="02020603050405020304" pitchFamily="18" charset="0"/>
              </a:rPr>
              <a:t>The OS acts as a manager for all the hardware and software resources, allocating them to different processes and users as needed. </a:t>
            </a:r>
            <a:endParaRPr lang="en-IN" sz="2800" dirty="0">
              <a:cs typeface="Times New Roman" panose="02020603050405020304" pitchFamily="18" charset="0"/>
            </a:endParaRPr>
          </a:p>
          <a:p>
            <a:endParaRPr lang="en-IN" sz="3200" dirty="0"/>
          </a:p>
        </p:txBody>
      </p:sp>
    </p:spTree>
    <p:extLst>
      <p:ext uri="{BB962C8B-B14F-4D97-AF65-F5344CB8AC3E}">
        <p14:creationId xmlns:p14="http://schemas.microsoft.com/office/powerpoint/2010/main" val="3089634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2D6E8-5634-44EE-8525-7230AA57551F}"/>
              </a:ext>
            </a:extLst>
          </p:cNvPr>
          <p:cNvSpPr>
            <a:spLocks noGrp="1"/>
          </p:cNvSpPr>
          <p:nvPr>
            <p:ph type="title"/>
          </p:nvPr>
        </p:nvSpPr>
        <p:spPr/>
        <p:txBody>
          <a:bodyPr/>
          <a:lstStyle/>
          <a:p>
            <a:r>
              <a:rPr lang="en-IN" dirty="0"/>
              <a:t>Objectives of operating system</a:t>
            </a:r>
          </a:p>
        </p:txBody>
      </p:sp>
      <p:sp>
        <p:nvSpPr>
          <p:cNvPr id="3" name="Content Placeholder 2">
            <a:extLst>
              <a:ext uri="{FF2B5EF4-FFF2-40B4-BE49-F238E27FC236}">
                <a16:creationId xmlns:a16="http://schemas.microsoft.com/office/drawing/2014/main" id="{95C71C24-2012-48AD-9ED7-D1D41B5C3CD3}"/>
              </a:ext>
            </a:extLst>
          </p:cNvPr>
          <p:cNvSpPr>
            <a:spLocks noGrp="1"/>
          </p:cNvSpPr>
          <p:nvPr>
            <p:ph idx="1"/>
          </p:nvPr>
        </p:nvSpPr>
        <p:spPr/>
        <p:txBody>
          <a:bodyPr>
            <a:normAutofit/>
          </a:bodyPr>
          <a:lstStyle/>
          <a:p>
            <a:pPr algn="just"/>
            <a:r>
              <a:rPr lang="en-US" altLang="en-US" sz="2800" dirty="0">
                <a:cs typeface="Times New Roman" panose="02020603050405020304" pitchFamily="18" charset="0"/>
              </a:rPr>
              <a:t>Evolvability:- The OS should be designed in a way that allows for future enhancements and modifications without significant disruptions to existing functionality. </a:t>
            </a:r>
          </a:p>
          <a:p>
            <a:pPr algn="just"/>
            <a:endParaRPr lang="en-US" altLang="en-US" sz="2800" dirty="0">
              <a:cs typeface="Times New Roman" panose="02020603050405020304" pitchFamily="18" charset="0"/>
            </a:endParaRPr>
          </a:p>
          <a:p>
            <a:pPr algn="just"/>
            <a:r>
              <a:rPr lang="en-US" altLang="en-US" sz="2800" dirty="0">
                <a:cs typeface="Times New Roman" panose="02020603050405020304" pitchFamily="18" charset="0"/>
              </a:rPr>
              <a:t>Security: - Protecting the system from unauthorized access and malicious activities is a crucial objective.  </a:t>
            </a:r>
          </a:p>
          <a:p>
            <a:endParaRPr lang="en-IN" sz="3200" dirty="0"/>
          </a:p>
        </p:txBody>
      </p:sp>
    </p:spTree>
    <p:extLst>
      <p:ext uri="{BB962C8B-B14F-4D97-AF65-F5344CB8AC3E}">
        <p14:creationId xmlns:p14="http://schemas.microsoft.com/office/powerpoint/2010/main" val="3911846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E119B-7A48-4AC9-ADF7-0DFF2E1D173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396265C-1764-43B9-9A5A-76841B4A7F28}"/>
              </a:ext>
            </a:extLst>
          </p:cNvPr>
          <p:cNvSpPr>
            <a:spLocks noGrp="1"/>
          </p:cNvSpPr>
          <p:nvPr>
            <p:ph idx="1"/>
          </p:nvPr>
        </p:nvSpPr>
        <p:spPr/>
        <p:txBody>
          <a:bodyPr/>
          <a:lstStyle/>
          <a:p>
            <a:endParaRPr lang="en-IN"/>
          </a:p>
        </p:txBody>
      </p:sp>
      <p:pic>
        <p:nvPicPr>
          <p:cNvPr id="4" name="Picture 4">
            <a:extLst>
              <a:ext uri="{FF2B5EF4-FFF2-40B4-BE49-F238E27FC236}">
                <a16:creationId xmlns:a16="http://schemas.microsoft.com/office/drawing/2014/main" id="{6E86C050-8F1B-4AA5-BA23-50D1E545A2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046480" y="44777"/>
            <a:ext cx="8737600" cy="6553200"/>
          </a:xfrm>
          <a:prstGeom prst="rect">
            <a:avLst/>
          </a:prstGeom>
          <a:noFill/>
        </p:spPr>
      </p:pic>
    </p:spTree>
    <p:extLst>
      <p:ext uri="{BB962C8B-B14F-4D97-AF65-F5344CB8AC3E}">
        <p14:creationId xmlns:p14="http://schemas.microsoft.com/office/powerpoint/2010/main" val="92362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76A48-B90F-420F-B57E-FE4840FA5F3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5923CB4-52D5-4659-BC94-F21465595D27}"/>
              </a:ext>
            </a:extLst>
          </p:cNvPr>
          <p:cNvSpPr>
            <a:spLocks noGrp="1"/>
          </p:cNvSpPr>
          <p:nvPr>
            <p:ph idx="1"/>
          </p:nvPr>
        </p:nvSpPr>
        <p:spPr/>
        <p:txBody>
          <a:bodyPr>
            <a:normAutofit/>
          </a:bodyPr>
          <a:lstStyle/>
          <a:p>
            <a:pPr algn="just">
              <a:buFont typeface="Arial" pitchFamily="34" charset="0"/>
              <a:buChar char="•"/>
              <a:defRPr/>
            </a:pPr>
            <a:r>
              <a:rPr lang="en-US" dirty="0"/>
              <a:t>Let us examine these three aspects of an OS in turn</a:t>
            </a:r>
          </a:p>
          <a:p>
            <a:pPr algn="just">
              <a:buFont typeface="Arial" pitchFamily="34" charset="0"/>
              <a:buChar char="•"/>
              <a:defRPr/>
            </a:pPr>
            <a:endParaRPr lang="en-US" dirty="0"/>
          </a:p>
          <a:p>
            <a:pPr marL="457200" indent="-457200" algn="just">
              <a:buFontTx/>
              <a:buAutoNum type="arabicParenR"/>
              <a:defRPr/>
            </a:pPr>
            <a:r>
              <a:rPr lang="en-US" b="1" dirty="0"/>
              <a:t>The Operating System as a User/Computer Interface (Convenience):-</a:t>
            </a:r>
            <a:endParaRPr lang="en-US" dirty="0"/>
          </a:p>
          <a:p>
            <a:pPr algn="just">
              <a:buFont typeface="Arial" pitchFamily="34" charset="0"/>
              <a:buChar char="•"/>
              <a:defRPr/>
            </a:pPr>
            <a:r>
              <a:rPr lang="en-US" dirty="0"/>
              <a:t>  The end user views a computer  system in terms of a set of applications.</a:t>
            </a:r>
          </a:p>
          <a:p>
            <a:pPr algn="just">
              <a:buFont typeface="Arial" pitchFamily="34" charset="0"/>
              <a:buChar char="•"/>
              <a:defRPr/>
            </a:pPr>
            <a:r>
              <a:rPr lang="en-US" dirty="0"/>
              <a:t>  If an application program is to be built as a set of machine instructions than it will be   more complex. </a:t>
            </a:r>
          </a:p>
          <a:p>
            <a:pPr algn="just">
              <a:buFont typeface="Arial" pitchFamily="34" charset="0"/>
              <a:buChar char="•"/>
              <a:defRPr/>
            </a:pPr>
            <a:r>
              <a:rPr lang="en-US" dirty="0"/>
              <a:t>  To solve this, a set of system programs is provided. </a:t>
            </a:r>
          </a:p>
          <a:p>
            <a:pPr algn="just">
              <a:buFont typeface="Arial" pitchFamily="34" charset="0"/>
              <a:buChar char="•"/>
              <a:defRPr/>
            </a:pPr>
            <a:r>
              <a:rPr lang="en-US" dirty="0"/>
              <a:t>The OS hides the details of the hardware from the programmer and provides the programmer with a convenient interface for using the system.</a:t>
            </a:r>
          </a:p>
          <a:p>
            <a:pPr algn="just">
              <a:buFont typeface="Arial" pitchFamily="34" charset="0"/>
              <a:buChar char="•"/>
              <a:defRPr/>
            </a:pPr>
            <a:r>
              <a:rPr lang="en-US" dirty="0"/>
              <a:t>  It acts as mediator, making it easier for the programmer  and for application programs to access and use those  facilities and services.</a:t>
            </a:r>
          </a:p>
          <a:p>
            <a:pPr algn="just"/>
            <a:endParaRPr lang="en-IN" dirty="0"/>
          </a:p>
        </p:txBody>
      </p:sp>
    </p:spTree>
    <p:extLst>
      <p:ext uri="{BB962C8B-B14F-4D97-AF65-F5344CB8AC3E}">
        <p14:creationId xmlns:p14="http://schemas.microsoft.com/office/powerpoint/2010/main" val="1905843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3BD59-E216-45CB-8BCA-40F5A1BB90B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F7E34FC-C4D8-4437-BBB4-9B0795B19DB3}"/>
              </a:ext>
            </a:extLst>
          </p:cNvPr>
          <p:cNvSpPr>
            <a:spLocks noGrp="1"/>
          </p:cNvSpPr>
          <p:nvPr>
            <p:ph idx="1"/>
          </p:nvPr>
        </p:nvSpPr>
        <p:spPr>
          <a:xfrm>
            <a:off x="715218" y="857839"/>
            <a:ext cx="11476781" cy="6264321"/>
          </a:xfrm>
        </p:spPr>
        <p:txBody>
          <a:bodyPr>
            <a:noAutofit/>
          </a:bodyPr>
          <a:lstStyle/>
          <a:p>
            <a:pPr>
              <a:defRPr/>
            </a:pPr>
            <a:r>
              <a:rPr lang="en-US" sz="2300" dirty="0"/>
              <a:t>Briefly, the OS typically provides services in the following areas:</a:t>
            </a:r>
          </a:p>
          <a:p>
            <a:pPr algn="just">
              <a:buFont typeface="Arial" charset="0"/>
              <a:buChar char="•"/>
              <a:defRPr/>
            </a:pPr>
            <a:r>
              <a:rPr lang="en-US" sz="2300" b="1" dirty="0">
                <a:cs typeface="Times New Roman" pitchFamily="18" charset="0"/>
              </a:rPr>
              <a:t> </a:t>
            </a:r>
            <a:r>
              <a:rPr lang="en-US" sz="2300" b="1" u="sng" dirty="0">
                <a:cs typeface="Times New Roman" pitchFamily="18" charset="0"/>
              </a:rPr>
              <a:t>Program development:-</a:t>
            </a:r>
          </a:p>
          <a:p>
            <a:pPr lvl="1" algn="just">
              <a:buFont typeface="Wingdings" pitchFamily="2" charset="2"/>
              <a:buChar char="ü"/>
              <a:defRPr/>
            </a:pPr>
            <a:r>
              <a:rPr lang="en-US" sz="2300" dirty="0">
                <a:cs typeface="Times New Roman" pitchFamily="18" charset="0"/>
              </a:rPr>
              <a:t> It provides variety of facilities to assist the programmer </a:t>
            </a:r>
            <a:r>
              <a:rPr lang="en-US" sz="2300" dirty="0" err="1">
                <a:cs typeface="Times New Roman" pitchFamily="18" charset="0"/>
              </a:rPr>
              <a:t>E.g</a:t>
            </a:r>
            <a:r>
              <a:rPr lang="en-US" sz="2300" dirty="0">
                <a:cs typeface="Times New Roman" pitchFamily="18" charset="0"/>
              </a:rPr>
              <a:t> editors, debuggers</a:t>
            </a:r>
          </a:p>
          <a:p>
            <a:pPr lvl="1">
              <a:buFont typeface="Wingdings" pitchFamily="2" charset="2"/>
              <a:buChar char="ü"/>
              <a:defRPr/>
            </a:pPr>
            <a:r>
              <a:rPr lang="en-US" sz="2300" dirty="0"/>
              <a:t>these services are in the form of utility programs that IS not strictly part of the OS AND supplied with the OS and are referred to as application Program development tools.</a:t>
            </a:r>
          </a:p>
          <a:p>
            <a:pPr lvl="1">
              <a:buFont typeface="Wingdings" pitchFamily="2" charset="2"/>
              <a:buChar char="ü"/>
              <a:defRPr/>
            </a:pPr>
            <a:endParaRPr lang="en-US" sz="2300" dirty="0"/>
          </a:p>
          <a:p>
            <a:pPr>
              <a:buFont typeface="Arial" charset="0"/>
              <a:buChar char="•"/>
              <a:defRPr/>
            </a:pPr>
            <a:r>
              <a:rPr lang="en-US" sz="2300" b="1" dirty="0">
                <a:cs typeface="Times New Roman" pitchFamily="18" charset="0"/>
              </a:rPr>
              <a:t> </a:t>
            </a:r>
            <a:r>
              <a:rPr lang="en-US" sz="2300" b="1" u="sng" dirty="0">
                <a:cs typeface="Times New Roman" pitchFamily="18" charset="0"/>
              </a:rPr>
              <a:t>Program Execution:-</a:t>
            </a:r>
          </a:p>
          <a:p>
            <a:pPr lvl="1">
              <a:buFont typeface="Wingdings" pitchFamily="2" charset="2"/>
              <a:buChar char="ü"/>
              <a:defRPr/>
            </a:pPr>
            <a:r>
              <a:rPr lang="en-US" sz="2300" dirty="0"/>
              <a:t> A number of steps need to be performed to execute a program like Instructions and data must be loaded into main memory I/O devices and files must be initialized, and other resources must be prepared.</a:t>
            </a:r>
          </a:p>
          <a:p>
            <a:pPr lvl="1">
              <a:buFont typeface="Wingdings" pitchFamily="2" charset="2"/>
              <a:buChar char="ü"/>
              <a:defRPr/>
            </a:pPr>
            <a:r>
              <a:rPr lang="en-US" sz="2300" dirty="0"/>
              <a:t> The OS handles these scheduling duties for the user.</a:t>
            </a:r>
            <a:endParaRPr lang="en-US" sz="2300" b="1" u="sng" dirty="0"/>
          </a:p>
          <a:p>
            <a:endParaRPr lang="en-IN" sz="2300" dirty="0"/>
          </a:p>
        </p:txBody>
      </p:sp>
    </p:spTree>
    <p:extLst>
      <p:ext uri="{BB962C8B-B14F-4D97-AF65-F5344CB8AC3E}">
        <p14:creationId xmlns:p14="http://schemas.microsoft.com/office/powerpoint/2010/main" val="4054822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1130D-EE59-4857-8A01-9AB549DBFE6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3113DE8-5C8A-467B-B115-90CA23513331}"/>
              </a:ext>
            </a:extLst>
          </p:cNvPr>
          <p:cNvSpPr>
            <a:spLocks noGrp="1"/>
          </p:cNvSpPr>
          <p:nvPr>
            <p:ph idx="1"/>
          </p:nvPr>
        </p:nvSpPr>
        <p:spPr>
          <a:xfrm>
            <a:off x="796499" y="886119"/>
            <a:ext cx="10012798" cy="5085761"/>
          </a:xfrm>
        </p:spPr>
        <p:txBody>
          <a:bodyPr>
            <a:normAutofit lnSpcReduction="10000"/>
          </a:bodyPr>
          <a:lstStyle/>
          <a:p>
            <a:pPr algn="just">
              <a:buFont typeface="Arial" pitchFamily="34" charset="0"/>
              <a:buChar char="•"/>
              <a:defRPr/>
            </a:pPr>
            <a:r>
              <a:rPr lang="en-US" sz="2300" b="1" u="sng" dirty="0"/>
              <a:t>Access to I/O devices:-</a:t>
            </a:r>
          </a:p>
          <a:p>
            <a:pPr lvl="1" algn="just">
              <a:buFont typeface="Wingdings" pitchFamily="2" charset="2"/>
              <a:buChar char="ü"/>
              <a:defRPr/>
            </a:pPr>
            <a:r>
              <a:rPr lang="en-US" sz="2300" dirty="0"/>
              <a:t>Each I/O device requires its own peculiar set of  instructions   or control signals for operation.</a:t>
            </a:r>
          </a:p>
          <a:p>
            <a:pPr lvl="1" algn="just">
              <a:buFont typeface="Wingdings" pitchFamily="2" charset="2"/>
              <a:buChar char="ü"/>
              <a:defRPr/>
            </a:pPr>
            <a:r>
              <a:rPr lang="en-US" sz="2300" dirty="0"/>
              <a:t>The OS provides a uniform interface that hides these details  </a:t>
            </a:r>
          </a:p>
          <a:p>
            <a:pPr lvl="1" algn="just">
              <a:defRPr/>
            </a:pPr>
            <a:r>
              <a:rPr lang="en-US" sz="2300" dirty="0"/>
              <a:t>    so that programmers can access such devices using simple reads and writes..</a:t>
            </a:r>
          </a:p>
          <a:p>
            <a:pPr algn="just">
              <a:buFont typeface="Arial" pitchFamily="34" charset="0"/>
              <a:buChar char="•"/>
              <a:defRPr/>
            </a:pPr>
            <a:r>
              <a:rPr lang="en-US" sz="2300" b="1" u="sng" dirty="0"/>
              <a:t>Controlled access to files: </a:t>
            </a:r>
          </a:p>
          <a:p>
            <a:pPr lvl="1" algn="just">
              <a:buFont typeface="Wingdings" pitchFamily="2" charset="2"/>
              <a:buChar char="ü"/>
              <a:defRPr/>
            </a:pPr>
            <a:r>
              <a:rPr lang="en-US" sz="2300" dirty="0"/>
              <a:t>For file access, the OS must reflect a detailed understanding of not only the</a:t>
            </a:r>
          </a:p>
          <a:p>
            <a:pPr lvl="1" algn="just">
              <a:defRPr/>
            </a:pPr>
            <a:r>
              <a:rPr lang="en-US" sz="2300" dirty="0"/>
              <a:t>   nature of the I/O device (disk drive, tape drive) but also the structure of the </a:t>
            </a:r>
          </a:p>
          <a:p>
            <a:pPr lvl="1" algn="just">
              <a:defRPr/>
            </a:pPr>
            <a:r>
              <a:rPr lang="en-US" sz="2300" dirty="0"/>
              <a:t>   data contained in the files on the storage medium. </a:t>
            </a:r>
          </a:p>
          <a:p>
            <a:pPr lvl="1" algn="just">
              <a:buFont typeface="Wingdings" pitchFamily="2" charset="2"/>
              <a:buChar char="ü"/>
              <a:defRPr/>
            </a:pPr>
            <a:r>
              <a:rPr lang="en-US" sz="2300" dirty="0"/>
              <a:t>In the case of a system with multiple users, the OS may provide protection </a:t>
            </a:r>
          </a:p>
          <a:p>
            <a:pPr lvl="1" algn="just">
              <a:defRPr/>
            </a:pPr>
            <a:r>
              <a:rPr lang="en-US" sz="2300" dirty="0"/>
              <a:t>    mechanisms to control access to the files.</a:t>
            </a:r>
          </a:p>
          <a:p>
            <a:pPr algn="just"/>
            <a:endParaRPr lang="en-IN" dirty="0"/>
          </a:p>
        </p:txBody>
      </p:sp>
    </p:spTree>
    <p:extLst>
      <p:ext uri="{BB962C8B-B14F-4D97-AF65-F5344CB8AC3E}">
        <p14:creationId xmlns:p14="http://schemas.microsoft.com/office/powerpoint/2010/main" val="2006889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290FC-1153-4DFE-8DF9-B9909E4DD1D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75F4A03-9A75-4CB3-9229-C8215026B169}"/>
              </a:ext>
            </a:extLst>
          </p:cNvPr>
          <p:cNvSpPr>
            <a:spLocks noGrp="1"/>
          </p:cNvSpPr>
          <p:nvPr>
            <p:ph idx="1"/>
          </p:nvPr>
        </p:nvSpPr>
        <p:spPr>
          <a:xfrm>
            <a:off x="579120" y="1098222"/>
            <a:ext cx="11612879" cy="5566738"/>
          </a:xfrm>
        </p:spPr>
        <p:txBody>
          <a:bodyPr>
            <a:noAutofit/>
          </a:bodyPr>
          <a:lstStyle/>
          <a:p>
            <a:pPr algn="just">
              <a:buFont typeface="Arial" charset="0"/>
              <a:buChar char="•"/>
              <a:defRPr/>
            </a:pPr>
            <a:r>
              <a:rPr lang="en-US" sz="2300" b="1" dirty="0"/>
              <a:t> </a:t>
            </a:r>
            <a:r>
              <a:rPr lang="en-US" sz="2300" b="1" u="sng" dirty="0"/>
              <a:t>System access:-</a:t>
            </a:r>
          </a:p>
          <a:p>
            <a:pPr lvl="1" algn="just">
              <a:buFont typeface="Wingdings" pitchFamily="2" charset="2"/>
              <a:buChar char="ü"/>
              <a:defRPr/>
            </a:pPr>
            <a:r>
              <a:rPr lang="en-US" sz="2300" dirty="0"/>
              <a:t> For shared or public systems, the OS  controls access to the system as a </a:t>
            </a:r>
          </a:p>
          <a:p>
            <a:pPr lvl="1" algn="just">
              <a:defRPr/>
            </a:pPr>
            <a:r>
              <a:rPr lang="en-US" sz="2300" dirty="0"/>
              <a:t>    whole and to specific system resources.</a:t>
            </a:r>
          </a:p>
          <a:p>
            <a:pPr lvl="1" algn="just">
              <a:buFont typeface="Wingdings" pitchFamily="2" charset="2"/>
              <a:buChar char="ü"/>
              <a:defRPr/>
            </a:pPr>
            <a:r>
              <a:rPr lang="en-US" sz="2300" dirty="0"/>
              <a:t> The access function must provide protection of resources and data from </a:t>
            </a:r>
          </a:p>
          <a:p>
            <a:pPr lvl="1" algn="just">
              <a:defRPr/>
            </a:pPr>
            <a:r>
              <a:rPr lang="en-US" sz="2300" dirty="0"/>
              <a:t>     unauthorized users and must resolve conflicts for resource contention.</a:t>
            </a:r>
          </a:p>
          <a:p>
            <a:pPr algn="just">
              <a:buFont typeface="Arial" charset="0"/>
              <a:buChar char="•"/>
              <a:defRPr/>
            </a:pPr>
            <a:r>
              <a:rPr lang="en-US" sz="2300" b="1" u="sng" dirty="0"/>
              <a:t>Error detection and response:-</a:t>
            </a:r>
          </a:p>
          <a:p>
            <a:pPr lvl="1" algn="just">
              <a:buFont typeface="Wingdings" pitchFamily="2" charset="2"/>
              <a:buChar char="ü"/>
              <a:defRPr/>
            </a:pPr>
            <a:r>
              <a:rPr lang="en-US" sz="2300" dirty="0"/>
              <a:t> A variety of errors can occur while a computer system is running like hardware </a:t>
            </a:r>
          </a:p>
          <a:p>
            <a:pPr lvl="1" algn="just">
              <a:defRPr/>
            </a:pPr>
            <a:r>
              <a:rPr lang="en-US" sz="2300" dirty="0"/>
              <a:t>   errors(memory error, device failure) and various software errors(division by </a:t>
            </a:r>
          </a:p>
          <a:p>
            <a:pPr lvl="1" algn="just">
              <a:defRPr/>
            </a:pPr>
            <a:r>
              <a:rPr lang="en-US" sz="2300" dirty="0"/>
              <a:t>   zero, attempt to access forbidden memory location).</a:t>
            </a:r>
          </a:p>
          <a:p>
            <a:pPr lvl="1" algn="just">
              <a:buFont typeface="Wingdings" pitchFamily="2" charset="2"/>
              <a:buChar char="ü"/>
              <a:defRPr/>
            </a:pPr>
            <a:r>
              <a:rPr lang="en-US" sz="2300" dirty="0"/>
              <a:t> The OS must provide a response that clears the error condition with the least </a:t>
            </a:r>
          </a:p>
          <a:p>
            <a:pPr lvl="1" algn="just">
              <a:defRPr/>
            </a:pPr>
            <a:r>
              <a:rPr lang="en-US" sz="2300" dirty="0"/>
              <a:t>     impact on running applications. </a:t>
            </a:r>
          </a:p>
          <a:p>
            <a:pPr lvl="1" algn="just">
              <a:buFont typeface="Wingdings" pitchFamily="2" charset="2"/>
              <a:buChar char="ü"/>
              <a:defRPr/>
            </a:pPr>
            <a:r>
              <a:rPr lang="en-US" sz="2300" dirty="0"/>
              <a:t> Like ending the program that caused the error, to retrying the operation, to </a:t>
            </a:r>
          </a:p>
          <a:p>
            <a:pPr lvl="1" algn="just">
              <a:defRPr/>
            </a:pPr>
            <a:r>
              <a:rPr lang="en-US" sz="2300" dirty="0"/>
              <a:t>    simply reporting the error to the application.</a:t>
            </a:r>
          </a:p>
          <a:p>
            <a:pPr algn="just"/>
            <a:endParaRPr lang="en-IN" sz="2300" dirty="0"/>
          </a:p>
        </p:txBody>
      </p:sp>
    </p:spTree>
    <p:extLst>
      <p:ext uri="{BB962C8B-B14F-4D97-AF65-F5344CB8AC3E}">
        <p14:creationId xmlns:p14="http://schemas.microsoft.com/office/powerpoint/2010/main" val="11798356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72759-76CC-46C0-AD63-0381298C3E7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EA1F51A-9302-4C83-A3A7-F99F144D1702}"/>
              </a:ext>
            </a:extLst>
          </p:cNvPr>
          <p:cNvSpPr>
            <a:spLocks noGrp="1"/>
          </p:cNvSpPr>
          <p:nvPr>
            <p:ph idx="1"/>
          </p:nvPr>
        </p:nvSpPr>
        <p:spPr/>
        <p:txBody>
          <a:bodyPr>
            <a:normAutofit/>
          </a:bodyPr>
          <a:lstStyle/>
          <a:p>
            <a:pPr algn="just">
              <a:buFont typeface="Arial" charset="0"/>
              <a:buChar char="•"/>
              <a:defRPr/>
            </a:pPr>
            <a:r>
              <a:rPr lang="en-GB" sz="2300" b="1" u="sng" dirty="0"/>
              <a:t>Accounting:</a:t>
            </a:r>
            <a:r>
              <a:rPr lang="en-GB" sz="2300" b="1" dirty="0"/>
              <a:t>- </a:t>
            </a:r>
          </a:p>
          <a:p>
            <a:pPr lvl="1" algn="just">
              <a:buFont typeface="Wingdings" pitchFamily="2" charset="2"/>
              <a:buChar char="ü"/>
              <a:defRPr/>
            </a:pPr>
            <a:r>
              <a:rPr lang="en-GB" sz="2300" b="1" dirty="0"/>
              <a:t> A good OS will collect usage statistics for various resources and </a:t>
            </a:r>
            <a:r>
              <a:rPr lang="en-GB" sz="2300" dirty="0"/>
              <a:t>monitor </a:t>
            </a:r>
          </a:p>
          <a:p>
            <a:pPr lvl="1" algn="just">
              <a:defRPr/>
            </a:pPr>
            <a:r>
              <a:rPr lang="en-GB" sz="2300" dirty="0"/>
              <a:t>    performance parameters such as response time.</a:t>
            </a:r>
          </a:p>
          <a:p>
            <a:pPr lvl="1" algn="just">
              <a:buFont typeface="Wingdings" pitchFamily="2" charset="2"/>
              <a:buChar char="ü"/>
              <a:defRPr/>
            </a:pPr>
            <a:r>
              <a:rPr lang="en-GB" sz="2300" dirty="0"/>
              <a:t> On any system, this information is useful in anticipating the need for future </a:t>
            </a:r>
          </a:p>
          <a:p>
            <a:pPr lvl="1" algn="just">
              <a:defRPr/>
            </a:pPr>
            <a:r>
              <a:rPr lang="en-GB" sz="2300" dirty="0"/>
              <a:t>    enhancements and in tuning the system to improve performance.</a:t>
            </a:r>
          </a:p>
          <a:p>
            <a:pPr lvl="1" algn="just">
              <a:buFont typeface="Wingdings" pitchFamily="2" charset="2"/>
              <a:buChar char="ü"/>
              <a:defRPr/>
            </a:pPr>
            <a:r>
              <a:rPr lang="en-GB" sz="2300" dirty="0"/>
              <a:t> On a multiuser system, the information can be used for </a:t>
            </a:r>
          </a:p>
          <a:p>
            <a:pPr lvl="1" algn="just">
              <a:defRPr/>
            </a:pPr>
            <a:r>
              <a:rPr lang="en-GB" sz="2300" dirty="0"/>
              <a:t>    billing purposes.</a:t>
            </a:r>
          </a:p>
          <a:p>
            <a:pPr algn="just"/>
            <a:endParaRPr lang="en-IN" sz="2300" dirty="0"/>
          </a:p>
        </p:txBody>
      </p:sp>
    </p:spTree>
    <p:extLst>
      <p:ext uri="{BB962C8B-B14F-4D97-AF65-F5344CB8AC3E}">
        <p14:creationId xmlns:p14="http://schemas.microsoft.com/office/powerpoint/2010/main" val="2809409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4F0AC-4574-4F76-A287-E7DD97D47AB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B471E81-0F2F-4552-AC88-E60F78C2A033}"/>
              </a:ext>
            </a:extLst>
          </p:cNvPr>
          <p:cNvSpPr>
            <a:spLocks noGrp="1"/>
          </p:cNvSpPr>
          <p:nvPr>
            <p:ph idx="1"/>
          </p:nvPr>
        </p:nvSpPr>
        <p:spPr>
          <a:xfrm>
            <a:off x="786338" y="1006782"/>
            <a:ext cx="11222781" cy="5085761"/>
          </a:xfrm>
        </p:spPr>
        <p:txBody>
          <a:bodyPr>
            <a:normAutofit lnSpcReduction="10000"/>
          </a:bodyPr>
          <a:lstStyle/>
          <a:p>
            <a:pPr algn="just">
              <a:buFont typeface="Arial" pitchFamily="34" charset="0"/>
              <a:buChar char="•"/>
              <a:defRPr/>
            </a:pPr>
            <a:r>
              <a:rPr lang="en-GB" sz="2800" b="1" dirty="0"/>
              <a:t>2) The Operating System as Resource Manager (</a:t>
            </a:r>
            <a:r>
              <a:rPr lang="en-US" sz="2800" dirty="0">
                <a:cs typeface="Times New Roman" pitchFamily="18" charset="0"/>
              </a:rPr>
              <a:t>Efficiency</a:t>
            </a:r>
            <a:r>
              <a:rPr lang="en-GB" sz="2800" b="1" dirty="0"/>
              <a:t>)</a:t>
            </a:r>
          </a:p>
          <a:p>
            <a:pPr lvl="1" algn="just">
              <a:buFont typeface="Arial" pitchFamily="34" charset="0"/>
              <a:buChar char="•"/>
              <a:defRPr/>
            </a:pPr>
            <a:r>
              <a:rPr lang="en-GB" sz="2800" dirty="0"/>
              <a:t> A computer is a set of resources for the movement, storage, and processing of data and for the control of these functions.</a:t>
            </a:r>
          </a:p>
          <a:p>
            <a:pPr lvl="1" algn="just">
              <a:buFont typeface="Arial" pitchFamily="34" charset="0"/>
              <a:buChar char="•"/>
              <a:defRPr/>
            </a:pPr>
            <a:r>
              <a:rPr lang="en-GB" sz="2800" dirty="0"/>
              <a:t>The OS is responsible for managing these resources.</a:t>
            </a:r>
          </a:p>
          <a:p>
            <a:pPr lvl="1" algn="just">
              <a:buFont typeface="Arial" pitchFamily="34" charset="0"/>
              <a:buChar char="•"/>
              <a:defRPr/>
            </a:pPr>
            <a:r>
              <a:rPr lang="en-GB" sz="2800" dirty="0"/>
              <a:t>OS controls in two respects:</a:t>
            </a:r>
          </a:p>
          <a:p>
            <a:pPr lvl="2" algn="just">
              <a:buFont typeface="Arial" pitchFamily="34" charset="0"/>
              <a:buChar char="•"/>
              <a:defRPr/>
            </a:pPr>
            <a:r>
              <a:rPr lang="en-GB" sz="2800" dirty="0"/>
              <a:t>The OS functions in the same way as ordinary computer software; that is, it is a program or suite of programs executed by the processor.</a:t>
            </a:r>
          </a:p>
          <a:p>
            <a:pPr lvl="2" algn="just">
              <a:buFont typeface="Arial" pitchFamily="34" charset="0"/>
              <a:buChar char="•"/>
              <a:defRPr/>
            </a:pPr>
            <a:r>
              <a:rPr lang="en-GB" sz="2800" dirty="0"/>
              <a:t> The OS frequently relinquishes control and must depend on the processor to allow it to regain control.</a:t>
            </a:r>
          </a:p>
          <a:p>
            <a:pPr lvl="1" algn="just">
              <a:buFont typeface="Arial" pitchFamily="34" charset="0"/>
              <a:buChar char="•"/>
              <a:defRPr/>
            </a:pPr>
            <a:r>
              <a:rPr lang="en-GB" sz="2800" dirty="0"/>
              <a:t> The OS directs the processor in the use of the other system resources and in the timing of its execution of other programs.</a:t>
            </a:r>
          </a:p>
          <a:p>
            <a:pPr algn="just"/>
            <a:endParaRPr lang="en-IN" sz="3200" dirty="0"/>
          </a:p>
        </p:txBody>
      </p:sp>
    </p:spTree>
    <p:extLst>
      <p:ext uri="{BB962C8B-B14F-4D97-AF65-F5344CB8AC3E}">
        <p14:creationId xmlns:p14="http://schemas.microsoft.com/office/powerpoint/2010/main" val="2324665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5B1A2-AAA1-43B3-9214-9CBC6928CAD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879152D-D16D-48D2-BD5C-838DFB893953}"/>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2B4090EC-30C7-4748-A7EA-3B52EF72AE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02640" y="-21263"/>
            <a:ext cx="11389360" cy="6834486"/>
          </a:xfrm>
          <a:prstGeom prst="rect">
            <a:avLst/>
          </a:prstGeom>
          <a:noFill/>
        </p:spPr>
      </p:pic>
    </p:spTree>
    <p:extLst>
      <p:ext uri="{BB962C8B-B14F-4D97-AF65-F5344CB8AC3E}">
        <p14:creationId xmlns:p14="http://schemas.microsoft.com/office/powerpoint/2010/main" val="17589747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F7025-4B7B-4D12-8BF8-FAEE60308BA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7A68C3A-141F-4004-95B1-C41F41287169}"/>
              </a:ext>
            </a:extLst>
          </p:cNvPr>
          <p:cNvSpPr>
            <a:spLocks noGrp="1"/>
          </p:cNvSpPr>
          <p:nvPr>
            <p:ph idx="1"/>
          </p:nvPr>
        </p:nvSpPr>
        <p:spPr>
          <a:xfrm>
            <a:off x="802640" y="1098222"/>
            <a:ext cx="11206480" cy="5627698"/>
          </a:xfrm>
        </p:spPr>
        <p:txBody>
          <a:bodyPr>
            <a:normAutofit fontScale="92500" lnSpcReduction="20000"/>
          </a:bodyPr>
          <a:lstStyle/>
          <a:p>
            <a:pPr>
              <a:buFont typeface="Arial" pitchFamily="34" charset="0"/>
              <a:buChar char="•"/>
              <a:defRPr/>
            </a:pPr>
            <a:r>
              <a:rPr lang="en-GB" sz="2800" dirty="0"/>
              <a:t>Figure 2.2 suggests the main resources that are managed by the OS</a:t>
            </a:r>
          </a:p>
          <a:p>
            <a:pPr>
              <a:buFont typeface="Arial" pitchFamily="34" charset="0"/>
              <a:buChar char="•"/>
              <a:defRPr/>
            </a:pPr>
            <a:r>
              <a:rPr lang="en-GB" sz="2800" dirty="0"/>
              <a:t> A portion of the OS is in main memory.</a:t>
            </a:r>
          </a:p>
          <a:p>
            <a:pPr>
              <a:buFont typeface="Arial" pitchFamily="34" charset="0"/>
              <a:buChar char="•"/>
              <a:defRPr/>
            </a:pPr>
            <a:r>
              <a:rPr lang="en-GB" sz="2800" dirty="0"/>
              <a:t> This includes the </a:t>
            </a:r>
            <a:r>
              <a:rPr lang="en-GB" sz="2800" b="1" dirty="0"/>
              <a:t>kernel, or nucleus, which contains the </a:t>
            </a:r>
            <a:r>
              <a:rPr lang="en-GB" sz="2800" dirty="0"/>
              <a:t>most frequently used </a:t>
            </a:r>
          </a:p>
          <a:p>
            <a:pPr marL="0" indent="0">
              <a:buNone/>
              <a:defRPr/>
            </a:pPr>
            <a:r>
              <a:rPr lang="en-GB" sz="2800" dirty="0"/>
              <a:t>     functions in the OS and, at a given time, other portions of the OS currently in    </a:t>
            </a:r>
          </a:p>
          <a:p>
            <a:pPr marL="0" indent="0">
              <a:buNone/>
              <a:defRPr/>
            </a:pPr>
            <a:r>
              <a:rPr lang="en-GB" sz="2800" dirty="0"/>
              <a:t>      use.</a:t>
            </a:r>
          </a:p>
          <a:p>
            <a:pPr>
              <a:buFont typeface="Arial" pitchFamily="34" charset="0"/>
              <a:buChar char="•"/>
              <a:defRPr/>
            </a:pPr>
            <a:r>
              <a:rPr lang="en-GB" sz="2800" dirty="0"/>
              <a:t> The remainder of main memory contains user programs and data.</a:t>
            </a:r>
          </a:p>
          <a:p>
            <a:pPr>
              <a:buFont typeface="Arial" pitchFamily="34" charset="0"/>
              <a:buChar char="•"/>
              <a:defRPr/>
            </a:pPr>
            <a:r>
              <a:rPr lang="en-GB" sz="2800" dirty="0"/>
              <a:t> The allocation of this resource (main memory) is controlled jointly by the OS </a:t>
            </a:r>
          </a:p>
          <a:p>
            <a:pPr marL="0" indent="0">
              <a:buNone/>
              <a:defRPr/>
            </a:pPr>
            <a:r>
              <a:rPr lang="en-GB" sz="2800" dirty="0"/>
              <a:t>       and memory management hardware in the processor.</a:t>
            </a:r>
          </a:p>
          <a:p>
            <a:pPr>
              <a:buFont typeface="Arial" pitchFamily="34" charset="0"/>
              <a:buChar char="•"/>
              <a:defRPr/>
            </a:pPr>
            <a:r>
              <a:rPr lang="en-US" sz="2800" dirty="0"/>
              <a:t> The OS decides when an I/O device can be used by a program in execution and    controls access to and use of files.</a:t>
            </a:r>
          </a:p>
          <a:p>
            <a:pPr>
              <a:buFont typeface="Arial" pitchFamily="34" charset="0"/>
              <a:buChar char="•"/>
              <a:defRPr/>
            </a:pPr>
            <a:r>
              <a:rPr lang="en-US" sz="2800" dirty="0"/>
              <a:t>The processor itself is a resource, and the OS must determine how much </a:t>
            </a:r>
          </a:p>
          <a:p>
            <a:pPr marL="0" indent="0">
              <a:buNone/>
              <a:defRPr/>
            </a:pPr>
            <a:r>
              <a:rPr lang="en-US" sz="2800" dirty="0"/>
              <a:t>      processor time is to be devoted to the execution of a particular user program.</a:t>
            </a:r>
            <a:endParaRPr lang="en-GB" sz="2800" dirty="0"/>
          </a:p>
          <a:p>
            <a:endParaRPr lang="en-IN" sz="2800" dirty="0"/>
          </a:p>
        </p:txBody>
      </p:sp>
    </p:spTree>
    <p:extLst>
      <p:ext uri="{BB962C8B-B14F-4D97-AF65-F5344CB8AC3E}">
        <p14:creationId xmlns:p14="http://schemas.microsoft.com/office/powerpoint/2010/main" val="3824225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3E3AD-B72B-4AD4-8D9D-6D0EB39D033C}"/>
              </a:ext>
            </a:extLst>
          </p:cNvPr>
          <p:cNvSpPr>
            <a:spLocks noGrp="1"/>
          </p:cNvSpPr>
          <p:nvPr>
            <p:ph type="title"/>
          </p:nvPr>
        </p:nvSpPr>
        <p:spPr/>
        <p:txBody>
          <a:bodyPr/>
          <a:lstStyle/>
          <a:p>
            <a:r>
              <a:rPr lang="en-IN" dirty="0"/>
              <a:t>Operating system evolution</a:t>
            </a:r>
          </a:p>
        </p:txBody>
      </p:sp>
      <p:sp>
        <p:nvSpPr>
          <p:cNvPr id="3" name="Content Placeholder 2">
            <a:extLst>
              <a:ext uri="{FF2B5EF4-FFF2-40B4-BE49-F238E27FC236}">
                <a16:creationId xmlns:a16="http://schemas.microsoft.com/office/drawing/2014/main" id="{A425E871-D016-4F39-9206-0952999F1698}"/>
              </a:ext>
            </a:extLst>
          </p:cNvPr>
          <p:cNvSpPr>
            <a:spLocks noGrp="1"/>
          </p:cNvSpPr>
          <p:nvPr>
            <p:ph idx="1"/>
          </p:nvPr>
        </p:nvSpPr>
        <p:spPr>
          <a:xfrm>
            <a:off x="735538" y="1077902"/>
            <a:ext cx="11456461" cy="5735321"/>
          </a:xfrm>
        </p:spPr>
        <p:txBody>
          <a:bodyPr>
            <a:normAutofit/>
          </a:bodyPr>
          <a:lstStyle/>
          <a:p>
            <a:pPr algn="just">
              <a:defRPr/>
            </a:pPr>
            <a:r>
              <a:rPr lang="en-US" dirty="0"/>
              <a:t>A major operating system will evolve over time for a number of reasons:-</a:t>
            </a:r>
          </a:p>
          <a:p>
            <a:pPr lvl="1" algn="just">
              <a:defRPr/>
            </a:pPr>
            <a:r>
              <a:rPr lang="en-US" b="1" dirty="0"/>
              <a:t>Hardware upgrades plus new types of hardware:-</a:t>
            </a:r>
          </a:p>
          <a:p>
            <a:pPr lvl="2" algn="just">
              <a:buFont typeface="Arial" pitchFamily="34" charset="0"/>
              <a:buChar char="•"/>
              <a:defRPr/>
            </a:pPr>
            <a:r>
              <a:rPr lang="en-US" dirty="0"/>
              <a:t> In Early operating systems paging mechanism as well as graphics </a:t>
            </a:r>
          </a:p>
          <a:p>
            <a:pPr marL="987552" lvl="2" indent="0" algn="just">
              <a:buNone/>
              <a:defRPr/>
            </a:pPr>
            <a:r>
              <a:rPr lang="en-US" dirty="0"/>
              <a:t>       terminal and page mode terminals was not there.</a:t>
            </a:r>
          </a:p>
          <a:p>
            <a:pPr lvl="2" algn="just">
              <a:buFont typeface="Arial" pitchFamily="34" charset="0"/>
              <a:buChar char="•"/>
              <a:defRPr/>
            </a:pPr>
            <a:r>
              <a:rPr lang="en-US" dirty="0"/>
              <a:t> In newer </a:t>
            </a:r>
            <a:r>
              <a:rPr lang="en-US" dirty="0" err="1"/>
              <a:t>o.s</a:t>
            </a:r>
            <a:r>
              <a:rPr lang="en-US" dirty="0"/>
              <a:t> this facility was introduced for e.g. a graphics terminal typically allows the user to view several applications at the same time through “windows” on the screen. This requires more sophisticated support in the OS.</a:t>
            </a:r>
          </a:p>
          <a:p>
            <a:pPr lvl="1" algn="just">
              <a:defRPr/>
            </a:pPr>
            <a:r>
              <a:rPr lang="en-US" b="1" dirty="0"/>
              <a:t>New services:</a:t>
            </a:r>
          </a:p>
          <a:p>
            <a:pPr lvl="2" algn="just">
              <a:defRPr/>
            </a:pPr>
            <a:r>
              <a:rPr lang="en-US" b="1" dirty="0"/>
              <a:t> </a:t>
            </a:r>
            <a:r>
              <a:rPr lang="en-US" dirty="0"/>
              <a:t>In response to user demand or in response to the needs of system managers, the OS expands to offer new services. </a:t>
            </a:r>
          </a:p>
          <a:p>
            <a:pPr lvl="1" algn="just">
              <a:defRPr/>
            </a:pPr>
            <a:r>
              <a:rPr lang="en-US" b="1" dirty="0"/>
              <a:t>Fixes:</a:t>
            </a:r>
            <a:r>
              <a:rPr lang="en-US" dirty="0"/>
              <a:t> </a:t>
            </a:r>
          </a:p>
          <a:p>
            <a:pPr lvl="2" algn="just">
              <a:defRPr/>
            </a:pPr>
            <a:r>
              <a:rPr lang="en-US" dirty="0"/>
              <a:t>Any OS has faults. These are discovered over the course of time and fixes are made. </a:t>
            </a:r>
          </a:p>
          <a:p>
            <a:pPr algn="just"/>
            <a:endParaRPr lang="en-IN" sz="2800" dirty="0"/>
          </a:p>
        </p:txBody>
      </p:sp>
    </p:spTree>
    <p:extLst>
      <p:ext uri="{BB962C8B-B14F-4D97-AF65-F5344CB8AC3E}">
        <p14:creationId xmlns:p14="http://schemas.microsoft.com/office/powerpoint/2010/main" val="25506346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2D6E8-5634-44EE-8525-7230AA57551F}"/>
              </a:ext>
            </a:extLst>
          </p:cNvPr>
          <p:cNvSpPr>
            <a:spLocks noGrp="1"/>
          </p:cNvSpPr>
          <p:nvPr>
            <p:ph type="title"/>
          </p:nvPr>
        </p:nvSpPr>
        <p:spPr/>
        <p:txBody>
          <a:bodyPr/>
          <a:lstStyle/>
          <a:p>
            <a:r>
              <a:rPr lang="en-IN" dirty="0"/>
              <a:t>FUNCTIONS of operating system</a:t>
            </a:r>
          </a:p>
        </p:txBody>
      </p:sp>
      <p:pic>
        <p:nvPicPr>
          <p:cNvPr id="5" name="Picture 4"/>
          <p:cNvPicPr>
            <a:picLocks noChangeAspect="1"/>
          </p:cNvPicPr>
          <p:nvPr/>
        </p:nvPicPr>
        <p:blipFill>
          <a:blip r:embed="rId2"/>
          <a:stretch>
            <a:fillRect/>
          </a:stretch>
        </p:blipFill>
        <p:spPr>
          <a:xfrm>
            <a:off x="2008909" y="1219200"/>
            <a:ext cx="8659091" cy="4932217"/>
          </a:xfrm>
          <a:prstGeom prst="rect">
            <a:avLst/>
          </a:prstGeom>
        </p:spPr>
      </p:pic>
    </p:spTree>
    <p:extLst>
      <p:ext uri="{BB962C8B-B14F-4D97-AF65-F5344CB8AC3E}">
        <p14:creationId xmlns:p14="http://schemas.microsoft.com/office/powerpoint/2010/main" val="3196580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3E3AD-B72B-4AD4-8D9D-6D0EB39D033C}"/>
              </a:ext>
            </a:extLst>
          </p:cNvPr>
          <p:cNvSpPr>
            <a:spLocks noGrp="1"/>
          </p:cNvSpPr>
          <p:nvPr>
            <p:ph type="title"/>
          </p:nvPr>
        </p:nvSpPr>
        <p:spPr/>
        <p:txBody>
          <a:bodyPr>
            <a:normAutofit fontScale="90000"/>
          </a:bodyPr>
          <a:lstStyle/>
          <a:p>
            <a:r>
              <a:rPr lang="en-IN" dirty="0"/>
              <a:t>1. </a:t>
            </a:r>
            <a:r>
              <a:rPr lang="en-IN" b="1" dirty="0"/>
              <a:t>Process Management</a:t>
            </a:r>
            <a:br>
              <a:rPr lang="en-IN" b="1" dirty="0"/>
            </a:br>
            <a:endParaRPr lang="en-IN" dirty="0"/>
          </a:p>
        </p:txBody>
      </p:sp>
      <p:sp>
        <p:nvSpPr>
          <p:cNvPr id="3" name="Content Placeholder 2">
            <a:extLst>
              <a:ext uri="{FF2B5EF4-FFF2-40B4-BE49-F238E27FC236}">
                <a16:creationId xmlns:a16="http://schemas.microsoft.com/office/drawing/2014/main" id="{A425E871-D016-4F39-9206-0952999F1698}"/>
              </a:ext>
            </a:extLst>
          </p:cNvPr>
          <p:cNvSpPr>
            <a:spLocks noGrp="1"/>
          </p:cNvSpPr>
          <p:nvPr>
            <p:ph idx="1"/>
          </p:nvPr>
        </p:nvSpPr>
        <p:spPr>
          <a:xfrm>
            <a:off x="735538" y="1077902"/>
            <a:ext cx="11456461" cy="5735321"/>
          </a:xfrm>
        </p:spPr>
        <p:txBody>
          <a:bodyPr>
            <a:normAutofit lnSpcReduction="10000"/>
          </a:bodyPr>
          <a:lstStyle/>
          <a:p>
            <a:pPr algn="just">
              <a:defRPr/>
            </a:pPr>
            <a:r>
              <a:rPr lang="en-US" dirty="0"/>
              <a:t>Process management in operating system is about managing processes. A Process is a running program. The life cycle of process is from the moment program start until it finishes. Operating system makes sure each process:</a:t>
            </a:r>
          </a:p>
          <a:p>
            <a:pPr algn="just">
              <a:defRPr/>
            </a:pPr>
            <a:r>
              <a:rPr lang="en-US" dirty="0"/>
              <a:t>gets its turn to use the CPU</a:t>
            </a:r>
          </a:p>
          <a:p>
            <a:pPr algn="just">
              <a:defRPr/>
            </a:pPr>
            <a:r>
              <a:rPr lang="en-US" dirty="0"/>
              <a:t>synchronized when needed</a:t>
            </a:r>
          </a:p>
          <a:p>
            <a:pPr algn="just">
              <a:defRPr/>
            </a:pPr>
            <a:r>
              <a:rPr lang="en-US" dirty="0"/>
              <a:t>has access to the resources it needs, like memory, files, and input/output devices.</a:t>
            </a:r>
          </a:p>
          <a:p>
            <a:pPr marL="0" indent="0" algn="just">
              <a:buNone/>
              <a:defRPr/>
            </a:pPr>
            <a:r>
              <a:rPr lang="en-US" dirty="0"/>
              <a:t>It also handles issues like process coordination and communication, while preventing conflicts such as deadlocks. This way, the OS ensures smooth multitasking and efficient resource use.</a:t>
            </a:r>
          </a:p>
          <a:p>
            <a:pPr fontAlgn="base"/>
            <a:r>
              <a:rPr lang="en-US" b="1" dirty="0"/>
              <a:t>Process Scheduling</a:t>
            </a:r>
            <a:endParaRPr lang="en-US" dirty="0"/>
          </a:p>
          <a:p>
            <a:pPr fontAlgn="base"/>
            <a:r>
              <a:rPr lang="en-US" dirty="0"/>
              <a:t>Allocates CPU time to processes based on scheduling algorithms like </a:t>
            </a:r>
            <a:r>
              <a:rPr lang="en-US" u="sng" dirty="0">
                <a:hlinkClick r:id="rId2"/>
              </a:rPr>
              <a:t>Round Robin</a:t>
            </a:r>
            <a:r>
              <a:rPr lang="en-US" dirty="0"/>
              <a:t> or </a:t>
            </a:r>
            <a:r>
              <a:rPr lang="en-US" u="sng" dirty="0">
                <a:hlinkClick r:id="rId3"/>
              </a:rPr>
              <a:t>Priority Scheduling</a:t>
            </a:r>
            <a:r>
              <a:rPr lang="en-US" dirty="0"/>
              <a:t>.</a:t>
            </a:r>
          </a:p>
          <a:p>
            <a:pPr fontAlgn="base"/>
            <a:r>
              <a:rPr lang="en-US" dirty="0"/>
              <a:t>Ensures fair distribution of CPU time, avoiding starvation of lower-priority processes.</a:t>
            </a:r>
          </a:p>
          <a:p>
            <a:pPr fontAlgn="base"/>
            <a:r>
              <a:rPr lang="en-US" dirty="0"/>
              <a:t>Maximizes CPU utilization by determining which process runs at any given time.</a:t>
            </a:r>
          </a:p>
          <a:p>
            <a:pPr marL="0" indent="0" algn="just">
              <a:buNone/>
              <a:defRPr/>
            </a:pPr>
            <a:endParaRPr lang="en-US" dirty="0"/>
          </a:p>
          <a:p>
            <a:pPr marL="0" indent="0" algn="just">
              <a:buNone/>
              <a:defRPr/>
            </a:pPr>
            <a:endParaRPr lang="en-IN" sz="2800" dirty="0"/>
          </a:p>
        </p:txBody>
      </p:sp>
    </p:spTree>
    <p:extLst>
      <p:ext uri="{BB962C8B-B14F-4D97-AF65-F5344CB8AC3E}">
        <p14:creationId xmlns:p14="http://schemas.microsoft.com/office/powerpoint/2010/main" val="34338902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3E3AD-B72B-4AD4-8D9D-6D0EB39D033C}"/>
              </a:ext>
            </a:extLst>
          </p:cNvPr>
          <p:cNvSpPr>
            <a:spLocks noGrp="1"/>
          </p:cNvSpPr>
          <p:nvPr>
            <p:ph type="title"/>
          </p:nvPr>
        </p:nvSpPr>
        <p:spPr/>
        <p:txBody>
          <a:bodyPr>
            <a:normAutofit fontScale="90000"/>
          </a:bodyPr>
          <a:lstStyle/>
          <a:p>
            <a:r>
              <a:rPr lang="en-IN" dirty="0"/>
              <a:t>1. </a:t>
            </a:r>
            <a:r>
              <a:rPr lang="en-IN" b="1" dirty="0"/>
              <a:t>Process Management</a:t>
            </a:r>
            <a:br>
              <a:rPr lang="en-IN" b="1" dirty="0"/>
            </a:br>
            <a:endParaRPr lang="en-IN" dirty="0"/>
          </a:p>
        </p:txBody>
      </p:sp>
      <p:sp>
        <p:nvSpPr>
          <p:cNvPr id="3" name="Content Placeholder 2">
            <a:extLst>
              <a:ext uri="{FF2B5EF4-FFF2-40B4-BE49-F238E27FC236}">
                <a16:creationId xmlns:a16="http://schemas.microsoft.com/office/drawing/2014/main" id="{A425E871-D016-4F39-9206-0952999F1698}"/>
              </a:ext>
            </a:extLst>
          </p:cNvPr>
          <p:cNvSpPr>
            <a:spLocks noGrp="1"/>
          </p:cNvSpPr>
          <p:nvPr>
            <p:ph idx="1"/>
          </p:nvPr>
        </p:nvSpPr>
        <p:spPr>
          <a:xfrm>
            <a:off x="735538" y="1077902"/>
            <a:ext cx="11456461" cy="5735321"/>
          </a:xfrm>
        </p:spPr>
        <p:txBody>
          <a:bodyPr>
            <a:normAutofit/>
          </a:bodyPr>
          <a:lstStyle/>
          <a:p>
            <a:pPr marL="0" indent="0" algn="just">
              <a:buNone/>
              <a:defRPr/>
            </a:pPr>
            <a:r>
              <a:rPr lang="en-US" b="1" dirty="0"/>
              <a:t>Process Synchronization</a:t>
            </a:r>
          </a:p>
          <a:p>
            <a:pPr algn="just">
              <a:defRPr/>
            </a:pPr>
            <a:r>
              <a:rPr lang="en-US" dirty="0"/>
              <a:t>Coordinate multiple processes to ensure orderly execution and prevent conflicts.</a:t>
            </a:r>
          </a:p>
          <a:p>
            <a:pPr algn="just">
              <a:defRPr/>
            </a:pPr>
            <a:r>
              <a:rPr lang="en-US" dirty="0"/>
              <a:t>Prevents race conditions by ensuring that only one process can access a shared resource at a time.</a:t>
            </a:r>
          </a:p>
          <a:p>
            <a:pPr algn="just">
              <a:defRPr/>
            </a:pPr>
            <a:r>
              <a:rPr lang="en-US" dirty="0"/>
              <a:t>Uses synchronization mechanisms like locks, semaphores, and monitors to coordinate process access.</a:t>
            </a:r>
          </a:p>
          <a:p>
            <a:pPr marL="0" indent="0" fontAlgn="base">
              <a:buNone/>
            </a:pPr>
            <a:r>
              <a:rPr lang="en-US" b="1" dirty="0"/>
              <a:t>Deadlock Handling</a:t>
            </a:r>
            <a:endParaRPr lang="en-US" dirty="0"/>
          </a:p>
          <a:p>
            <a:pPr fontAlgn="base"/>
            <a:r>
              <a:rPr lang="en-US" dirty="0"/>
              <a:t>Prevents deadlocks by using strategies like </a:t>
            </a:r>
            <a:r>
              <a:rPr lang="en-US" u="sng" dirty="0">
                <a:hlinkClick r:id="rId2"/>
              </a:rPr>
              <a:t>resource allocation graphs</a:t>
            </a:r>
            <a:r>
              <a:rPr lang="en-US" dirty="0"/>
              <a:t> or avoiding circular wait conditions.</a:t>
            </a:r>
          </a:p>
          <a:p>
            <a:pPr fontAlgn="base"/>
            <a:r>
              <a:rPr lang="en-US" dirty="0"/>
              <a:t>Detects deadlocks when they occur, allowing the system to identify and resolve the issue.</a:t>
            </a:r>
          </a:p>
          <a:p>
            <a:pPr fontAlgn="base"/>
            <a:r>
              <a:rPr lang="en-US" dirty="0"/>
              <a:t>Recovers from deadlocks by aborting or rolling back processes to free up resources.</a:t>
            </a:r>
          </a:p>
          <a:p>
            <a:pPr marL="0" indent="0" algn="just">
              <a:buNone/>
              <a:defRPr/>
            </a:pPr>
            <a:endParaRPr lang="en-IN" sz="2800" dirty="0"/>
          </a:p>
        </p:txBody>
      </p:sp>
    </p:spTree>
    <p:extLst>
      <p:ext uri="{BB962C8B-B14F-4D97-AF65-F5344CB8AC3E}">
        <p14:creationId xmlns:p14="http://schemas.microsoft.com/office/powerpoint/2010/main" val="26534445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3E3AD-B72B-4AD4-8D9D-6D0EB39D033C}"/>
              </a:ext>
            </a:extLst>
          </p:cNvPr>
          <p:cNvSpPr>
            <a:spLocks noGrp="1"/>
          </p:cNvSpPr>
          <p:nvPr>
            <p:ph type="title"/>
          </p:nvPr>
        </p:nvSpPr>
        <p:spPr/>
        <p:txBody>
          <a:bodyPr>
            <a:normAutofit fontScale="90000"/>
          </a:bodyPr>
          <a:lstStyle/>
          <a:p>
            <a:r>
              <a:rPr lang="en-IN" dirty="0"/>
              <a:t>2. </a:t>
            </a:r>
            <a:r>
              <a:rPr lang="en-IN" b="1" dirty="0"/>
              <a:t>Memory Management</a:t>
            </a:r>
            <a:br>
              <a:rPr lang="en-IN" b="1" dirty="0"/>
            </a:br>
            <a:br>
              <a:rPr lang="en-IN" b="1" dirty="0"/>
            </a:br>
            <a:endParaRPr lang="en-IN" dirty="0"/>
          </a:p>
        </p:txBody>
      </p:sp>
      <p:sp>
        <p:nvSpPr>
          <p:cNvPr id="3" name="Content Placeholder 2">
            <a:extLst>
              <a:ext uri="{FF2B5EF4-FFF2-40B4-BE49-F238E27FC236}">
                <a16:creationId xmlns:a16="http://schemas.microsoft.com/office/drawing/2014/main" id="{A425E871-D016-4F39-9206-0952999F1698}"/>
              </a:ext>
            </a:extLst>
          </p:cNvPr>
          <p:cNvSpPr>
            <a:spLocks noGrp="1"/>
          </p:cNvSpPr>
          <p:nvPr>
            <p:ph idx="1"/>
          </p:nvPr>
        </p:nvSpPr>
        <p:spPr>
          <a:xfrm>
            <a:off x="735538" y="1077902"/>
            <a:ext cx="11456461" cy="5735321"/>
          </a:xfrm>
        </p:spPr>
        <p:txBody>
          <a:bodyPr>
            <a:normAutofit lnSpcReduction="10000"/>
          </a:bodyPr>
          <a:lstStyle/>
          <a:p>
            <a:pPr marL="0" indent="0" algn="just">
              <a:buNone/>
              <a:defRPr/>
            </a:pPr>
            <a:r>
              <a:rPr lang="en-US" dirty="0"/>
              <a:t>Memory management is an essential task of the operating system that handles the storage and organization of data in both main (primary) memory and secondary storage. The OS ensures that memory is allocated and deallocated properly to keep programs running smoothly. It also manages the interaction between volatile main memory and non-volatile secondary storage. </a:t>
            </a:r>
          </a:p>
          <a:p>
            <a:pPr fontAlgn="base"/>
            <a:r>
              <a:rPr lang="en-US" dirty="0"/>
              <a:t>Key Activities in Memory Management:</a:t>
            </a:r>
          </a:p>
          <a:p>
            <a:pPr fontAlgn="base"/>
            <a:r>
              <a:rPr lang="en-US" b="1" dirty="0"/>
              <a:t>Main Memory Management</a:t>
            </a:r>
            <a:endParaRPr lang="en-US" dirty="0"/>
          </a:p>
          <a:p>
            <a:pPr fontAlgn="base"/>
            <a:r>
              <a:rPr lang="en-US" b="1" dirty="0"/>
              <a:t>Memory Allocation:</a:t>
            </a:r>
            <a:r>
              <a:rPr lang="en-US" dirty="0"/>
              <a:t> Assigns memory to processes using techniques like </a:t>
            </a:r>
            <a:r>
              <a:rPr lang="en-US" u="sng" dirty="0">
                <a:hlinkClick r:id="rId2"/>
              </a:rPr>
              <a:t>paging </a:t>
            </a:r>
            <a:r>
              <a:rPr lang="en-US" dirty="0"/>
              <a:t>and </a:t>
            </a:r>
            <a:r>
              <a:rPr lang="en-US" u="sng" dirty="0">
                <a:hlinkClick r:id="rId3"/>
              </a:rPr>
              <a:t>segmentation</a:t>
            </a:r>
            <a:r>
              <a:rPr lang="en-US" dirty="0"/>
              <a:t>.</a:t>
            </a:r>
          </a:p>
          <a:p>
            <a:pPr fontAlgn="base"/>
            <a:r>
              <a:rPr lang="en-US" b="1" dirty="0"/>
              <a:t>Memory Deallocation:</a:t>
            </a:r>
            <a:r>
              <a:rPr lang="en-US" dirty="0"/>
              <a:t> Frees memory when no longer needed.</a:t>
            </a:r>
          </a:p>
          <a:p>
            <a:pPr fontAlgn="base"/>
            <a:r>
              <a:rPr lang="en-US" b="1" dirty="0"/>
              <a:t>Memory Protection:</a:t>
            </a:r>
            <a:r>
              <a:rPr lang="en-US" dirty="0"/>
              <a:t> Prevents processes from accessing each other’s memory.</a:t>
            </a:r>
          </a:p>
          <a:p>
            <a:pPr fontAlgn="base"/>
            <a:r>
              <a:rPr lang="en-US" b="1" dirty="0"/>
              <a:t>Virtual Memory:</a:t>
            </a:r>
            <a:r>
              <a:rPr lang="en-US" dirty="0"/>
              <a:t> Uses disk space as extra memory to run larger processes.</a:t>
            </a:r>
          </a:p>
          <a:p>
            <a:pPr fontAlgn="base"/>
            <a:r>
              <a:rPr lang="en-US" b="1" dirty="0"/>
              <a:t>Fragmentation:</a:t>
            </a:r>
            <a:r>
              <a:rPr lang="en-US" dirty="0"/>
              <a:t> Manages wasted memory space (internal/external) through </a:t>
            </a:r>
            <a:r>
              <a:rPr lang="en-US" u="sng" dirty="0">
                <a:hlinkClick r:id="rId4"/>
              </a:rPr>
              <a:t>compaction</a:t>
            </a:r>
            <a:r>
              <a:rPr lang="en-US" dirty="0"/>
              <a:t>.</a:t>
            </a:r>
          </a:p>
          <a:p>
            <a:pPr marL="0" indent="0" algn="just">
              <a:buNone/>
              <a:defRPr/>
            </a:pPr>
            <a:endParaRPr lang="en-US" sz="2800" dirty="0"/>
          </a:p>
          <a:p>
            <a:pPr marL="0" indent="0" algn="just">
              <a:buNone/>
              <a:defRPr/>
            </a:pPr>
            <a:endParaRPr lang="en-IN" sz="2800" dirty="0"/>
          </a:p>
        </p:txBody>
      </p:sp>
    </p:spTree>
    <p:extLst>
      <p:ext uri="{BB962C8B-B14F-4D97-AF65-F5344CB8AC3E}">
        <p14:creationId xmlns:p14="http://schemas.microsoft.com/office/powerpoint/2010/main" val="13301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3E3AD-B72B-4AD4-8D9D-6D0EB39D033C}"/>
              </a:ext>
            </a:extLst>
          </p:cNvPr>
          <p:cNvSpPr>
            <a:spLocks noGrp="1"/>
          </p:cNvSpPr>
          <p:nvPr>
            <p:ph type="title"/>
          </p:nvPr>
        </p:nvSpPr>
        <p:spPr/>
        <p:txBody>
          <a:bodyPr>
            <a:normAutofit fontScale="90000"/>
          </a:bodyPr>
          <a:lstStyle/>
          <a:p>
            <a:r>
              <a:rPr lang="en-IN" dirty="0"/>
              <a:t>2. </a:t>
            </a:r>
            <a:r>
              <a:rPr lang="en-IN" b="1" dirty="0"/>
              <a:t>Memory Management</a:t>
            </a:r>
            <a:br>
              <a:rPr lang="en-IN" b="1" dirty="0"/>
            </a:br>
            <a:br>
              <a:rPr lang="en-IN" b="1" dirty="0"/>
            </a:br>
            <a:endParaRPr lang="en-IN" dirty="0"/>
          </a:p>
        </p:txBody>
      </p:sp>
      <p:sp>
        <p:nvSpPr>
          <p:cNvPr id="3" name="Content Placeholder 2">
            <a:extLst>
              <a:ext uri="{FF2B5EF4-FFF2-40B4-BE49-F238E27FC236}">
                <a16:creationId xmlns:a16="http://schemas.microsoft.com/office/drawing/2014/main" id="{A425E871-D016-4F39-9206-0952999F1698}"/>
              </a:ext>
            </a:extLst>
          </p:cNvPr>
          <p:cNvSpPr>
            <a:spLocks noGrp="1"/>
          </p:cNvSpPr>
          <p:nvPr>
            <p:ph idx="1"/>
          </p:nvPr>
        </p:nvSpPr>
        <p:spPr>
          <a:xfrm>
            <a:off x="735538" y="1077902"/>
            <a:ext cx="11456461" cy="5735321"/>
          </a:xfrm>
        </p:spPr>
        <p:txBody>
          <a:bodyPr>
            <a:normAutofit/>
          </a:bodyPr>
          <a:lstStyle/>
          <a:p>
            <a:pPr fontAlgn="base"/>
            <a:r>
              <a:rPr lang="en-US" b="1" dirty="0"/>
              <a:t>Secondary Memory Management</a:t>
            </a:r>
            <a:endParaRPr lang="en-US" dirty="0"/>
          </a:p>
          <a:p>
            <a:pPr fontAlgn="base"/>
            <a:r>
              <a:rPr lang="en-US" b="1" dirty="0"/>
              <a:t>Disk Space Allocation:</a:t>
            </a:r>
            <a:r>
              <a:rPr lang="en-US" dirty="0"/>
              <a:t> Organizes how files are stored on the disk (</a:t>
            </a:r>
            <a:r>
              <a:rPr lang="en-US" u="sng" dirty="0">
                <a:hlinkClick r:id="rId2"/>
              </a:rPr>
              <a:t>contiguous, linked, indexed</a:t>
            </a:r>
            <a:r>
              <a:rPr lang="en-US" dirty="0"/>
              <a:t>).</a:t>
            </a:r>
          </a:p>
          <a:p>
            <a:pPr fontAlgn="base"/>
            <a:r>
              <a:rPr lang="en-US" b="1" dirty="0"/>
              <a:t>File System Management:</a:t>
            </a:r>
            <a:r>
              <a:rPr lang="en-US" dirty="0"/>
              <a:t> Manages files and directories for efficient data access.</a:t>
            </a:r>
          </a:p>
          <a:p>
            <a:pPr fontAlgn="base"/>
            <a:r>
              <a:rPr lang="en-US" b="1" dirty="0"/>
              <a:t>Free Space Management:</a:t>
            </a:r>
            <a:r>
              <a:rPr lang="en-US" dirty="0"/>
              <a:t> Tracks available space on the disk.</a:t>
            </a:r>
          </a:p>
          <a:p>
            <a:pPr fontAlgn="base"/>
            <a:r>
              <a:rPr lang="en-US" b="1" dirty="0"/>
              <a:t>Disk Scheduling:</a:t>
            </a:r>
            <a:r>
              <a:rPr lang="en-US" dirty="0"/>
              <a:t> Organizes the order of disk read/write requests.</a:t>
            </a:r>
          </a:p>
          <a:p>
            <a:pPr fontAlgn="base"/>
            <a:r>
              <a:rPr lang="en-US" b="1" dirty="0"/>
              <a:t>Backup and Recovery:</a:t>
            </a:r>
            <a:r>
              <a:rPr lang="en-US" dirty="0"/>
              <a:t> Ensures data is backed up and can be restored after failure.</a:t>
            </a:r>
          </a:p>
          <a:p>
            <a:pPr marL="0" indent="0" algn="just">
              <a:buNone/>
              <a:defRPr/>
            </a:pPr>
            <a:endParaRPr lang="en-US" sz="2800" dirty="0"/>
          </a:p>
          <a:p>
            <a:pPr marL="0" indent="0" algn="just">
              <a:buNone/>
              <a:defRPr/>
            </a:pPr>
            <a:endParaRPr lang="en-IN" sz="2800" dirty="0"/>
          </a:p>
        </p:txBody>
      </p:sp>
    </p:spTree>
    <p:extLst>
      <p:ext uri="{BB962C8B-B14F-4D97-AF65-F5344CB8AC3E}">
        <p14:creationId xmlns:p14="http://schemas.microsoft.com/office/powerpoint/2010/main" val="548510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3E3AD-B72B-4AD4-8D9D-6D0EB39D033C}"/>
              </a:ext>
            </a:extLst>
          </p:cNvPr>
          <p:cNvSpPr>
            <a:spLocks noGrp="1"/>
          </p:cNvSpPr>
          <p:nvPr>
            <p:ph type="title"/>
          </p:nvPr>
        </p:nvSpPr>
        <p:spPr/>
        <p:txBody>
          <a:bodyPr>
            <a:normAutofit fontScale="90000"/>
          </a:bodyPr>
          <a:lstStyle/>
          <a:p>
            <a:r>
              <a:rPr lang="en-IN" b="1" dirty="0"/>
              <a:t>3. File System Management</a:t>
            </a:r>
            <a:br>
              <a:rPr lang="en-IN" b="1" dirty="0"/>
            </a:br>
            <a:br>
              <a:rPr lang="en-IN" b="1" dirty="0"/>
            </a:br>
            <a:br>
              <a:rPr lang="en-IN" b="1" dirty="0"/>
            </a:br>
            <a:endParaRPr lang="en-IN" dirty="0"/>
          </a:p>
        </p:txBody>
      </p:sp>
      <p:sp>
        <p:nvSpPr>
          <p:cNvPr id="3" name="Content Placeholder 2">
            <a:extLst>
              <a:ext uri="{FF2B5EF4-FFF2-40B4-BE49-F238E27FC236}">
                <a16:creationId xmlns:a16="http://schemas.microsoft.com/office/drawing/2014/main" id="{A425E871-D016-4F39-9206-0952999F1698}"/>
              </a:ext>
            </a:extLst>
          </p:cNvPr>
          <p:cNvSpPr>
            <a:spLocks noGrp="1"/>
          </p:cNvSpPr>
          <p:nvPr>
            <p:ph idx="1"/>
          </p:nvPr>
        </p:nvSpPr>
        <p:spPr>
          <a:xfrm>
            <a:off x="735538" y="1077902"/>
            <a:ext cx="11456461" cy="5735321"/>
          </a:xfrm>
        </p:spPr>
        <p:txBody>
          <a:bodyPr>
            <a:normAutofit/>
          </a:bodyPr>
          <a:lstStyle/>
          <a:p>
            <a:pPr fontAlgn="base"/>
            <a:r>
              <a:rPr lang="en-US" dirty="0"/>
              <a:t>File management in the operating system ensures the organized storage, access and control of files. </a:t>
            </a:r>
          </a:p>
          <a:p>
            <a:pPr fontAlgn="base"/>
            <a:r>
              <a:rPr lang="en-US" dirty="0"/>
              <a:t>The OS abstracts the physical storage details to present a logical view of files, making it easier for users to work with data. </a:t>
            </a:r>
          </a:p>
          <a:p>
            <a:pPr fontAlgn="base"/>
            <a:r>
              <a:rPr lang="en-US" dirty="0"/>
              <a:t>It manages how files are stored on different types of storage devices (like hard drives or SSDs) and ensures smooth access through directories and permissions.</a:t>
            </a:r>
            <a:endParaRPr lang="en-US" sz="2800" dirty="0"/>
          </a:p>
          <a:p>
            <a:pPr marL="0" indent="0" algn="just">
              <a:buNone/>
              <a:defRPr/>
            </a:pPr>
            <a:endParaRPr lang="en-IN" sz="2800" dirty="0"/>
          </a:p>
        </p:txBody>
      </p:sp>
      <p:pic>
        <p:nvPicPr>
          <p:cNvPr id="4" name="Picture 3"/>
          <p:cNvPicPr>
            <a:picLocks noChangeAspect="1"/>
          </p:cNvPicPr>
          <p:nvPr/>
        </p:nvPicPr>
        <p:blipFill>
          <a:blip r:embed="rId2"/>
          <a:stretch>
            <a:fillRect/>
          </a:stretch>
        </p:blipFill>
        <p:spPr>
          <a:xfrm>
            <a:off x="2507673" y="3505200"/>
            <a:ext cx="7536871" cy="3352800"/>
          </a:xfrm>
          <a:prstGeom prst="rect">
            <a:avLst/>
          </a:prstGeom>
        </p:spPr>
      </p:pic>
    </p:spTree>
    <p:extLst>
      <p:ext uri="{BB962C8B-B14F-4D97-AF65-F5344CB8AC3E}">
        <p14:creationId xmlns:p14="http://schemas.microsoft.com/office/powerpoint/2010/main" val="1551935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3E3AD-B72B-4AD4-8D9D-6D0EB39D033C}"/>
              </a:ext>
            </a:extLst>
          </p:cNvPr>
          <p:cNvSpPr>
            <a:spLocks noGrp="1"/>
          </p:cNvSpPr>
          <p:nvPr>
            <p:ph type="title"/>
          </p:nvPr>
        </p:nvSpPr>
        <p:spPr/>
        <p:txBody>
          <a:bodyPr>
            <a:normAutofit fontScale="90000"/>
          </a:bodyPr>
          <a:lstStyle/>
          <a:p>
            <a:r>
              <a:rPr lang="en-IN" b="1" dirty="0"/>
              <a:t>3. File System Management</a:t>
            </a:r>
            <a:br>
              <a:rPr lang="en-IN" b="1" dirty="0"/>
            </a:br>
            <a:br>
              <a:rPr lang="en-IN" b="1" dirty="0"/>
            </a:br>
            <a:br>
              <a:rPr lang="en-IN" b="1" dirty="0"/>
            </a:br>
            <a:endParaRPr lang="en-IN" dirty="0"/>
          </a:p>
        </p:txBody>
      </p:sp>
      <p:sp>
        <p:nvSpPr>
          <p:cNvPr id="3" name="Content Placeholder 2">
            <a:extLst>
              <a:ext uri="{FF2B5EF4-FFF2-40B4-BE49-F238E27FC236}">
                <a16:creationId xmlns:a16="http://schemas.microsoft.com/office/drawing/2014/main" id="{A425E871-D016-4F39-9206-0952999F1698}"/>
              </a:ext>
            </a:extLst>
          </p:cNvPr>
          <p:cNvSpPr>
            <a:spLocks noGrp="1"/>
          </p:cNvSpPr>
          <p:nvPr>
            <p:ph idx="1"/>
          </p:nvPr>
        </p:nvSpPr>
        <p:spPr>
          <a:xfrm>
            <a:off x="735538" y="857840"/>
            <a:ext cx="11456461" cy="5955384"/>
          </a:xfrm>
        </p:spPr>
        <p:txBody>
          <a:bodyPr>
            <a:normAutofit/>
          </a:bodyPr>
          <a:lstStyle/>
          <a:p>
            <a:pPr fontAlgn="base"/>
            <a:r>
              <a:rPr lang="en-US" dirty="0"/>
              <a:t>File System Management includes managing of:</a:t>
            </a:r>
          </a:p>
          <a:p>
            <a:pPr marL="0" indent="0" fontAlgn="base">
              <a:buNone/>
            </a:pPr>
            <a:r>
              <a:rPr lang="en-US" b="1" dirty="0"/>
              <a:t>File Attributes</a:t>
            </a:r>
            <a:endParaRPr lang="en-US" dirty="0"/>
          </a:p>
          <a:p>
            <a:pPr fontAlgn="base"/>
            <a:r>
              <a:rPr lang="en-US" b="1" dirty="0"/>
              <a:t>File Name: </a:t>
            </a:r>
            <a:r>
              <a:rPr lang="en-US" dirty="0"/>
              <a:t>Identifies the file with a name and extension (e.g., .txt, .jpg).</a:t>
            </a:r>
          </a:p>
          <a:p>
            <a:pPr fontAlgn="base"/>
            <a:r>
              <a:rPr lang="en-US" b="1" dirty="0"/>
              <a:t>File Type:</a:t>
            </a:r>
            <a:r>
              <a:rPr lang="en-US" dirty="0"/>
              <a:t> Defines the format of the file (e.g., text, image, executable).</a:t>
            </a:r>
          </a:p>
          <a:p>
            <a:pPr fontAlgn="base"/>
            <a:r>
              <a:rPr lang="en-US" b="1" dirty="0"/>
              <a:t>Size:</a:t>
            </a:r>
            <a:r>
              <a:rPr lang="en-US" dirty="0"/>
              <a:t> The amount of storage the file occupies.</a:t>
            </a:r>
          </a:p>
          <a:p>
            <a:pPr fontAlgn="base"/>
            <a:r>
              <a:rPr lang="en-US" b="1" dirty="0"/>
              <a:t>Permissions: </a:t>
            </a:r>
            <a:r>
              <a:rPr lang="en-US" dirty="0"/>
              <a:t>Determines who can read, write, or execute the file.</a:t>
            </a:r>
          </a:p>
          <a:p>
            <a:pPr marL="0" indent="0" fontAlgn="base">
              <a:buNone/>
            </a:pPr>
            <a:r>
              <a:rPr lang="en-US" b="1" dirty="0"/>
              <a:t>File Types</a:t>
            </a:r>
            <a:endParaRPr lang="en-US" dirty="0"/>
          </a:p>
          <a:p>
            <a:pPr fontAlgn="base"/>
            <a:r>
              <a:rPr lang="en-US" b="1" dirty="0"/>
              <a:t>Text Files:</a:t>
            </a:r>
            <a:r>
              <a:rPr lang="en-US" dirty="0"/>
              <a:t> Contain human-readable content (e.g., .txt, .md).</a:t>
            </a:r>
          </a:p>
          <a:p>
            <a:pPr fontAlgn="base"/>
            <a:r>
              <a:rPr lang="en-US" b="1" dirty="0"/>
              <a:t>Binary Files:</a:t>
            </a:r>
            <a:r>
              <a:rPr lang="en-US" dirty="0"/>
              <a:t> Store data in binary format (e.g., .jpg, .mp3).</a:t>
            </a:r>
          </a:p>
          <a:p>
            <a:pPr fontAlgn="base"/>
            <a:r>
              <a:rPr lang="en-US" b="1" dirty="0"/>
              <a:t>Executable Files:</a:t>
            </a:r>
            <a:r>
              <a:rPr lang="en-US" dirty="0"/>
              <a:t> Contain program code (e.g., .exe, .out).</a:t>
            </a:r>
          </a:p>
          <a:p>
            <a:pPr fontAlgn="base"/>
            <a:endParaRPr lang="en-IN" sz="2800" dirty="0"/>
          </a:p>
        </p:txBody>
      </p:sp>
    </p:spTree>
    <p:extLst>
      <p:ext uri="{BB962C8B-B14F-4D97-AF65-F5344CB8AC3E}">
        <p14:creationId xmlns:p14="http://schemas.microsoft.com/office/powerpoint/2010/main" val="15938339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3E3AD-B72B-4AD4-8D9D-6D0EB39D033C}"/>
              </a:ext>
            </a:extLst>
          </p:cNvPr>
          <p:cNvSpPr>
            <a:spLocks noGrp="1"/>
          </p:cNvSpPr>
          <p:nvPr>
            <p:ph type="title"/>
          </p:nvPr>
        </p:nvSpPr>
        <p:spPr/>
        <p:txBody>
          <a:bodyPr>
            <a:normAutofit fontScale="90000"/>
          </a:bodyPr>
          <a:lstStyle/>
          <a:p>
            <a:r>
              <a:rPr lang="en-IN" b="1" dirty="0"/>
              <a:t>3. File System Management</a:t>
            </a:r>
            <a:br>
              <a:rPr lang="en-IN" b="1" dirty="0"/>
            </a:br>
            <a:br>
              <a:rPr lang="en-IN" b="1" dirty="0"/>
            </a:br>
            <a:br>
              <a:rPr lang="en-IN" b="1" dirty="0"/>
            </a:br>
            <a:endParaRPr lang="en-IN" dirty="0"/>
          </a:p>
        </p:txBody>
      </p:sp>
      <p:sp>
        <p:nvSpPr>
          <p:cNvPr id="3" name="Content Placeholder 2">
            <a:extLst>
              <a:ext uri="{FF2B5EF4-FFF2-40B4-BE49-F238E27FC236}">
                <a16:creationId xmlns:a16="http://schemas.microsoft.com/office/drawing/2014/main" id="{A425E871-D016-4F39-9206-0952999F1698}"/>
              </a:ext>
            </a:extLst>
          </p:cNvPr>
          <p:cNvSpPr>
            <a:spLocks noGrp="1"/>
          </p:cNvSpPr>
          <p:nvPr>
            <p:ph idx="1"/>
          </p:nvPr>
        </p:nvSpPr>
        <p:spPr>
          <a:xfrm>
            <a:off x="735538" y="857840"/>
            <a:ext cx="11456461" cy="5955384"/>
          </a:xfrm>
        </p:spPr>
        <p:txBody>
          <a:bodyPr>
            <a:normAutofit/>
          </a:bodyPr>
          <a:lstStyle/>
          <a:p>
            <a:pPr marL="0" indent="0" fontAlgn="base">
              <a:buNone/>
            </a:pPr>
            <a:r>
              <a:rPr lang="en-US" b="1" dirty="0"/>
              <a:t>Operations on Files</a:t>
            </a:r>
          </a:p>
          <a:p>
            <a:pPr fontAlgn="base"/>
            <a:r>
              <a:rPr lang="en-US" dirty="0"/>
              <a:t>Create: Allows users to create new files.</a:t>
            </a:r>
          </a:p>
          <a:p>
            <a:pPr fontAlgn="base"/>
            <a:r>
              <a:rPr lang="en-US" dirty="0"/>
              <a:t>Read: Opens files to read their contents.</a:t>
            </a:r>
          </a:p>
          <a:p>
            <a:pPr fontAlgn="base"/>
            <a:r>
              <a:rPr lang="en-US" dirty="0"/>
              <a:t>Write: Modifies the contents of a file.</a:t>
            </a:r>
          </a:p>
          <a:p>
            <a:pPr fontAlgn="base"/>
            <a:r>
              <a:rPr lang="en-US" dirty="0"/>
              <a:t>Delete: Removes a file from the system.</a:t>
            </a:r>
          </a:p>
          <a:p>
            <a:pPr fontAlgn="base"/>
            <a:endParaRPr lang="en-US" dirty="0"/>
          </a:p>
          <a:p>
            <a:pPr marL="0" indent="0" fontAlgn="base">
              <a:buNone/>
            </a:pPr>
            <a:r>
              <a:rPr lang="en-US" b="1" dirty="0"/>
              <a:t>Access Methods</a:t>
            </a:r>
          </a:p>
          <a:p>
            <a:pPr fontAlgn="base"/>
            <a:r>
              <a:rPr lang="en-US" dirty="0"/>
              <a:t>Sequential Access: Reads data in order, from start to finish.</a:t>
            </a:r>
          </a:p>
          <a:p>
            <a:pPr fontAlgn="base"/>
            <a:r>
              <a:rPr lang="en-US" dirty="0"/>
              <a:t>Direct Access: Jumps to a specific part of the file.</a:t>
            </a:r>
          </a:p>
          <a:p>
            <a:pPr fontAlgn="base"/>
            <a:r>
              <a:rPr lang="en-US" dirty="0"/>
              <a:t>Indexed Access: Uses an index for quick data retrieval.</a:t>
            </a:r>
            <a:endParaRPr lang="en-IN" sz="2800" dirty="0"/>
          </a:p>
        </p:txBody>
      </p:sp>
    </p:spTree>
    <p:extLst>
      <p:ext uri="{BB962C8B-B14F-4D97-AF65-F5344CB8AC3E}">
        <p14:creationId xmlns:p14="http://schemas.microsoft.com/office/powerpoint/2010/main" val="18604380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3E3AD-B72B-4AD4-8D9D-6D0EB39D033C}"/>
              </a:ext>
            </a:extLst>
          </p:cNvPr>
          <p:cNvSpPr>
            <a:spLocks noGrp="1"/>
          </p:cNvSpPr>
          <p:nvPr>
            <p:ph type="title"/>
          </p:nvPr>
        </p:nvSpPr>
        <p:spPr/>
        <p:txBody>
          <a:bodyPr>
            <a:normAutofit fontScale="90000"/>
          </a:bodyPr>
          <a:lstStyle/>
          <a:p>
            <a:r>
              <a:rPr lang="en-IN" b="1" dirty="0"/>
              <a:t>4. Device Management (I/O System)</a:t>
            </a:r>
            <a:br>
              <a:rPr lang="en-IN" b="1" dirty="0"/>
            </a:br>
            <a:br>
              <a:rPr lang="en-IN" b="1" dirty="0"/>
            </a:br>
            <a:br>
              <a:rPr lang="en-IN" b="1" dirty="0"/>
            </a:br>
            <a:br>
              <a:rPr lang="en-IN" b="1" dirty="0"/>
            </a:br>
            <a:endParaRPr lang="en-IN" dirty="0"/>
          </a:p>
        </p:txBody>
      </p:sp>
      <p:sp>
        <p:nvSpPr>
          <p:cNvPr id="3" name="Content Placeholder 2">
            <a:extLst>
              <a:ext uri="{FF2B5EF4-FFF2-40B4-BE49-F238E27FC236}">
                <a16:creationId xmlns:a16="http://schemas.microsoft.com/office/drawing/2014/main" id="{A425E871-D016-4F39-9206-0952999F1698}"/>
              </a:ext>
            </a:extLst>
          </p:cNvPr>
          <p:cNvSpPr>
            <a:spLocks noGrp="1"/>
          </p:cNvSpPr>
          <p:nvPr>
            <p:ph idx="1"/>
          </p:nvPr>
        </p:nvSpPr>
        <p:spPr>
          <a:xfrm>
            <a:off x="735538" y="857840"/>
            <a:ext cx="11456461" cy="5955384"/>
          </a:xfrm>
        </p:spPr>
        <p:txBody>
          <a:bodyPr>
            <a:normAutofit/>
          </a:bodyPr>
          <a:lstStyle/>
          <a:p>
            <a:pPr marL="0" indent="0" fontAlgn="base">
              <a:buNone/>
            </a:pPr>
            <a:r>
              <a:rPr lang="en-US" dirty="0"/>
              <a:t>Device management of an operating system handles the communication between the system and its hardware devices, like printers, disks or network interfaces. </a:t>
            </a:r>
          </a:p>
          <a:p>
            <a:pPr marL="0" indent="0" fontAlgn="base">
              <a:buNone/>
            </a:pPr>
            <a:r>
              <a:rPr lang="en-US" dirty="0"/>
              <a:t>The OS provides device drivers to control these devices, using techniques like Direct Memory Access (DMA) for efficient data transfer and strategies like buffering and spooling to ensure smooth operation.</a:t>
            </a:r>
          </a:p>
          <a:p>
            <a:pPr marL="0" indent="0" fontAlgn="base">
              <a:buNone/>
            </a:pPr>
            <a:endParaRPr lang="en-US" sz="2800" dirty="0"/>
          </a:p>
          <a:p>
            <a:pPr fontAlgn="base"/>
            <a:r>
              <a:rPr lang="en-US" dirty="0"/>
              <a:t>Major components in Device Management:</a:t>
            </a:r>
          </a:p>
          <a:p>
            <a:pPr fontAlgn="base"/>
            <a:r>
              <a:rPr lang="en-US" b="1" dirty="0"/>
              <a:t>Device Drivers:</a:t>
            </a:r>
            <a:r>
              <a:rPr lang="en-US" dirty="0"/>
              <a:t> The operating system uses </a:t>
            </a:r>
            <a:r>
              <a:rPr lang="en-US" b="1" u="sng" dirty="0">
                <a:hlinkClick r:id="rId2"/>
              </a:rPr>
              <a:t>device drivers</a:t>
            </a:r>
            <a:r>
              <a:rPr lang="en-US" u="sng" dirty="0">
                <a:hlinkClick r:id="rId2"/>
              </a:rPr>
              <a:t> </a:t>
            </a:r>
            <a:r>
              <a:rPr lang="en-US" dirty="0"/>
              <a:t>to interact with hardware devices. There are two types of device drivers:</a:t>
            </a:r>
          </a:p>
          <a:p>
            <a:pPr fontAlgn="base"/>
            <a:r>
              <a:rPr lang="en-US" b="1" dirty="0"/>
              <a:t>Kernel-space drivers</a:t>
            </a:r>
            <a:r>
              <a:rPr lang="en-US" dirty="0"/>
              <a:t> run in the OS kernel, offering direct access to hardware.</a:t>
            </a:r>
          </a:p>
          <a:p>
            <a:pPr fontAlgn="base"/>
            <a:r>
              <a:rPr lang="en-US" b="1" dirty="0"/>
              <a:t>User-space drivers</a:t>
            </a:r>
            <a:r>
              <a:rPr lang="en-US" dirty="0"/>
              <a:t> run outside the kernel and are more isolated, providing safety but less performance.</a:t>
            </a:r>
          </a:p>
          <a:p>
            <a:pPr marL="0" indent="0" fontAlgn="base">
              <a:buNone/>
            </a:pPr>
            <a:endParaRPr lang="en-IN" sz="2800" dirty="0"/>
          </a:p>
        </p:txBody>
      </p:sp>
    </p:spTree>
    <p:extLst>
      <p:ext uri="{BB962C8B-B14F-4D97-AF65-F5344CB8AC3E}">
        <p14:creationId xmlns:p14="http://schemas.microsoft.com/office/powerpoint/2010/main" val="35131299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3E3AD-B72B-4AD4-8D9D-6D0EB39D033C}"/>
              </a:ext>
            </a:extLst>
          </p:cNvPr>
          <p:cNvSpPr>
            <a:spLocks noGrp="1"/>
          </p:cNvSpPr>
          <p:nvPr>
            <p:ph type="title"/>
          </p:nvPr>
        </p:nvSpPr>
        <p:spPr/>
        <p:txBody>
          <a:bodyPr>
            <a:normAutofit fontScale="90000"/>
          </a:bodyPr>
          <a:lstStyle/>
          <a:p>
            <a:r>
              <a:rPr lang="en-IN" b="1" dirty="0"/>
              <a:t>4. Device Management (I/O System)</a:t>
            </a:r>
            <a:br>
              <a:rPr lang="en-IN" b="1" dirty="0"/>
            </a:br>
            <a:br>
              <a:rPr lang="en-IN" b="1" dirty="0"/>
            </a:br>
            <a:br>
              <a:rPr lang="en-IN" b="1" dirty="0"/>
            </a:br>
            <a:br>
              <a:rPr lang="en-IN" b="1" dirty="0"/>
            </a:br>
            <a:endParaRPr lang="en-IN" dirty="0"/>
          </a:p>
        </p:txBody>
      </p:sp>
      <p:sp>
        <p:nvSpPr>
          <p:cNvPr id="3" name="Content Placeholder 2">
            <a:extLst>
              <a:ext uri="{FF2B5EF4-FFF2-40B4-BE49-F238E27FC236}">
                <a16:creationId xmlns:a16="http://schemas.microsoft.com/office/drawing/2014/main" id="{A425E871-D016-4F39-9206-0952999F1698}"/>
              </a:ext>
            </a:extLst>
          </p:cNvPr>
          <p:cNvSpPr>
            <a:spLocks noGrp="1"/>
          </p:cNvSpPr>
          <p:nvPr>
            <p:ph idx="1"/>
          </p:nvPr>
        </p:nvSpPr>
        <p:spPr>
          <a:xfrm>
            <a:off x="735538" y="857840"/>
            <a:ext cx="11456461" cy="5955384"/>
          </a:xfrm>
        </p:spPr>
        <p:txBody>
          <a:bodyPr>
            <a:normAutofit/>
          </a:bodyPr>
          <a:lstStyle/>
          <a:p>
            <a:pPr fontAlgn="base"/>
            <a:r>
              <a:rPr lang="en-US" b="1" dirty="0"/>
              <a:t>Buffering &amp; Caching:</a:t>
            </a:r>
            <a:endParaRPr lang="en-US" dirty="0"/>
          </a:p>
          <a:p>
            <a:pPr fontAlgn="base"/>
            <a:r>
              <a:rPr lang="en-US" b="1" dirty="0"/>
              <a:t>Buffering</a:t>
            </a:r>
            <a:r>
              <a:rPr lang="en-US" dirty="0"/>
              <a:t> temporarily stores data in memory to manage differences in device speeds. Block devices (e.g., hard drives) use larger blocks of data for buffering, while character device</a:t>
            </a:r>
            <a:r>
              <a:rPr lang="en-US" b="1" dirty="0"/>
              <a:t>s</a:t>
            </a:r>
            <a:r>
              <a:rPr lang="en-US" dirty="0"/>
              <a:t> (e.g., keyboards, mice) use smaller, byte-by-byte buffering.</a:t>
            </a:r>
          </a:p>
          <a:p>
            <a:pPr fontAlgn="base"/>
            <a:r>
              <a:rPr lang="en-US" b="1" dirty="0"/>
              <a:t>Caching</a:t>
            </a:r>
            <a:r>
              <a:rPr lang="en-US" dirty="0"/>
              <a:t> improves access speed by storing frequently accessed data in a faster storage medium (like </a:t>
            </a:r>
            <a:r>
              <a:rPr lang="en-US" u="sng" dirty="0">
                <a:hlinkClick r:id="rId2"/>
              </a:rPr>
              <a:t>RAM</a:t>
            </a:r>
            <a:r>
              <a:rPr lang="en-US" dirty="0"/>
              <a:t>).</a:t>
            </a:r>
          </a:p>
          <a:p>
            <a:pPr fontAlgn="base"/>
            <a:r>
              <a:rPr lang="en-US" b="1" dirty="0"/>
              <a:t>Spooling: </a:t>
            </a:r>
            <a:r>
              <a:rPr lang="en-US" u="sng" dirty="0">
                <a:hlinkClick r:id="rId3"/>
              </a:rPr>
              <a:t>Spooling</a:t>
            </a:r>
            <a:r>
              <a:rPr lang="en-US" dirty="0"/>
              <a:t> manages data waiting to be processed, particularly in devices like printers. The OS places print jobs in a spool (a temporary storage area), allowing the CPU to continue other tasks while the printer works through the queue. Other examples include mail spooling (for managing outgoing email) and batch-job spooling (for managing scheduled tasks).</a:t>
            </a:r>
          </a:p>
          <a:p>
            <a:pPr marL="0" indent="0" fontAlgn="base">
              <a:buNone/>
            </a:pPr>
            <a:endParaRPr lang="en-IN" sz="2800" dirty="0"/>
          </a:p>
        </p:txBody>
      </p:sp>
    </p:spTree>
    <p:extLst>
      <p:ext uri="{BB962C8B-B14F-4D97-AF65-F5344CB8AC3E}">
        <p14:creationId xmlns:p14="http://schemas.microsoft.com/office/powerpoint/2010/main" val="25072924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3E3AD-B72B-4AD4-8D9D-6D0EB39D033C}"/>
              </a:ext>
            </a:extLst>
          </p:cNvPr>
          <p:cNvSpPr>
            <a:spLocks noGrp="1"/>
          </p:cNvSpPr>
          <p:nvPr>
            <p:ph type="title"/>
          </p:nvPr>
        </p:nvSpPr>
        <p:spPr/>
        <p:txBody>
          <a:bodyPr>
            <a:normAutofit fontScale="90000"/>
          </a:bodyPr>
          <a:lstStyle/>
          <a:p>
            <a:r>
              <a:rPr lang="en-IN" b="1" dirty="0"/>
              <a:t>5. Protection and Security</a:t>
            </a:r>
            <a:br>
              <a:rPr lang="en-IN" b="1" dirty="0"/>
            </a:br>
            <a:br>
              <a:rPr lang="en-IN" b="1" dirty="0"/>
            </a:br>
            <a:br>
              <a:rPr lang="en-IN" b="1" dirty="0"/>
            </a:br>
            <a:br>
              <a:rPr lang="en-IN" b="1" dirty="0"/>
            </a:br>
            <a:br>
              <a:rPr lang="en-IN" b="1" dirty="0"/>
            </a:br>
            <a:endParaRPr lang="en-IN" dirty="0"/>
          </a:p>
        </p:txBody>
      </p:sp>
      <p:sp>
        <p:nvSpPr>
          <p:cNvPr id="3" name="Content Placeholder 2">
            <a:extLst>
              <a:ext uri="{FF2B5EF4-FFF2-40B4-BE49-F238E27FC236}">
                <a16:creationId xmlns:a16="http://schemas.microsoft.com/office/drawing/2014/main" id="{A425E871-D016-4F39-9206-0952999F1698}"/>
              </a:ext>
            </a:extLst>
          </p:cNvPr>
          <p:cNvSpPr>
            <a:spLocks noGrp="1"/>
          </p:cNvSpPr>
          <p:nvPr>
            <p:ph idx="1"/>
          </p:nvPr>
        </p:nvSpPr>
        <p:spPr>
          <a:xfrm>
            <a:off x="735538" y="857840"/>
            <a:ext cx="11456461" cy="5955384"/>
          </a:xfrm>
        </p:spPr>
        <p:txBody>
          <a:bodyPr>
            <a:normAutofit/>
          </a:bodyPr>
          <a:lstStyle/>
          <a:p>
            <a:pPr fontAlgn="base"/>
            <a:r>
              <a:rPr lang="en-US" dirty="0"/>
              <a:t>Protection and security mechanisms in an operating system are designed to safeguard system resources from unauthorized access or misuse. </a:t>
            </a:r>
          </a:p>
          <a:p>
            <a:pPr fontAlgn="base"/>
            <a:r>
              <a:rPr lang="en-US" dirty="0"/>
              <a:t>These mechanisms control which processes or users can access specific resources (such as memory, files, and CPU time) and ensure that only authorized users can perform specific actions. </a:t>
            </a:r>
          </a:p>
          <a:p>
            <a:pPr fontAlgn="base"/>
            <a:r>
              <a:rPr lang="en-US" dirty="0"/>
              <a:t>While protection ensures proper access control, security focuses on defending the system against external and internal attacks.</a:t>
            </a:r>
            <a:endParaRPr lang="en-IN" sz="2800" dirty="0"/>
          </a:p>
        </p:txBody>
      </p:sp>
      <p:pic>
        <p:nvPicPr>
          <p:cNvPr id="4" name="Picture 3"/>
          <p:cNvPicPr>
            <a:picLocks noChangeAspect="1"/>
          </p:cNvPicPr>
          <p:nvPr/>
        </p:nvPicPr>
        <p:blipFill>
          <a:blip r:embed="rId2"/>
          <a:stretch>
            <a:fillRect/>
          </a:stretch>
        </p:blipFill>
        <p:spPr>
          <a:xfrm>
            <a:off x="2911186" y="3588327"/>
            <a:ext cx="6896100" cy="3505200"/>
          </a:xfrm>
          <a:prstGeom prst="rect">
            <a:avLst/>
          </a:prstGeom>
        </p:spPr>
      </p:pic>
    </p:spTree>
    <p:extLst>
      <p:ext uri="{BB962C8B-B14F-4D97-AF65-F5344CB8AC3E}">
        <p14:creationId xmlns:p14="http://schemas.microsoft.com/office/powerpoint/2010/main" val="42772687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3E3AD-B72B-4AD4-8D9D-6D0EB39D033C}"/>
              </a:ext>
            </a:extLst>
          </p:cNvPr>
          <p:cNvSpPr>
            <a:spLocks noGrp="1"/>
          </p:cNvSpPr>
          <p:nvPr>
            <p:ph type="title"/>
          </p:nvPr>
        </p:nvSpPr>
        <p:spPr/>
        <p:txBody>
          <a:bodyPr>
            <a:normAutofit fontScale="90000"/>
          </a:bodyPr>
          <a:lstStyle/>
          <a:p>
            <a:r>
              <a:rPr lang="en-IN" b="1" dirty="0"/>
              <a:t>5. Protection and Security</a:t>
            </a:r>
            <a:br>
              <a:rPr lang="en-IN" b="1" dirty="0"/>
            </a:br>
            <a:br>
              <a:rPr lang="en-IN" b="1" dirty="0"/>
            </a:br>
            <a:br>
              <a:rPr lang="en-IN" b="1" dirty="0"/>
            </a:br>
            <a:br>
              <a:rPr lang="en-IN" b="1" dirty="0"/>
            </a:br>
            <a:br>
              <a:rPr lang="en-IN" b="1" dirty="0"/>
            </a:br>
            <a:endParaRPr lang="en-IN" dirty="0"/>
          </a:p>
        </p:txBody>
      </p:sp>
      <p:sp>
        <p:nvSpPr>
          <p:cNvPr id="3" name="Content Placeholder 2">
            <a:extLst>
              <a:ext uri="{FF2B5EF4-FFF2-40B4-BE49-F238E27FC236}">
                <a16:creationId xmlns:a16="http://schemas.microsoft.com/office/drawing/2014/main" id="{A425E871-D016-4F39-9206-0952999F1698}"/>
              </a:ext>
            </a:extLst>
          </p:cNvPr>
          <p:cNvSpPr>
            <a:spLocks noGrp="1"/>
          </p:cNvSpPr>
          <p:nvPr>
            <p:ph idx="1"/>
          </p:nvPr>
        </p:nvSpPr>
        <p:spPr>
          <a:xfrm>
            <a:off x="735538" y="857840"/>
            <a:ext cx="11456461" cy="5955384"/>
          </a:xfrm>
        </p:spPr>
        <p:txBody>
          <a:bodyPr>
            <a:normAutofit/>
          </a:bodyPr>
          <a:lstStyle/>
          <a:p>
            <a:pPr fontAlgn="base"/>
            <a:r>
              <a:rPr lang="en-US" b="1" dirty="0"/>
              <a:t>Access Control: </a:t>
            </a:r>
            <a:r>
              <a:rPr lang="en-US" dirty="0"/>
              <a:t>The operating system ensures that processes and users can only access resources they are authorized to. This is achieved through mechanisms like memory-addressing hardware (which keeps processes within their own address space) and timer interrupts (which prevent processes from monopolizing the CPU).</a:t>
            </a:r>
          </a:p>
          <a:p>
            <a:pPr fontAlgn="base"/>
            <a:r>
              <a:rPr lang="en-US" b="1" dirty="0"/>
              <a:t>User Authentication: </a:t>
            </a:r>
            <a:r>
              <a:rPr lang="en-US" dirty="0"/>
              <a:t>A system identifies users through user IDs (UIDs) or Security IDs (SIDs). During login, the operating system verifies the user’s credentials, ensuring that only authorized users can access their data or system resources.</a:t>
            </a:r>
          </a:p>
          <a:p>
            <a:pPr fontAlgn="base"/>
            <a:r>
              <a:rPr lang="en-US" b="1" dirty="0"/>
              <a:t>Resource Protection:</a:t>
            </a:r>
            <a:r>
              <a:rPr lang="en-US" dirty="0"/>
              <a:t> Mechanisms like file protection (ensuring only authorized users can access or modify files) and device protection (restricting direct access to device-control registers) ensure the integrity of system resources, preventing unauthorized or harmful use.</a:t>
            </a:r>
          </a:p>
          <a:p>
            <a:pPr fontAlgn="base"/>
            <a:r>
              <a:rPr lang="en-US" b="1" dirty="0"/>
              <a:t>Security Against Attacks:</a:t>
            </a:r>
            <a:r>
              <a:rPr lang="en-US" dirty="0"/>
              <a:t> Security mechanisms defend against external threats like viruses, worms, denial-of-service attacks, and identity theft. These attacks can misuse system resources, steal sensitive data, or disrupt system operation. The OS works to prevent these threats and minimize damage.</a:t>
            </a:r>
          </a:p>
          <a:p>
            <a:pPr fontAlgn="base"/>
            <a:endParaRPr lang="en-US" dirty="0"/>
          </a:p>
        </p:txBody>
      </p:sp>
    </p:spTree>
    <p:extLst>
      <p:ext uri="{BB962C8B-B14F-4D97-AF65-F5344CB8AC3E}">
        <p14:creationId xmlns:p14="http://schemas.microsoft.com/office/powerpoint/2010/main" val="40104467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620CD-C383-4982-A942-AE9DD0CC1C27}"/>
              </a:ext>
            </a:extLst>
          </p:cNvPr>
          <p:cNvSpPr>
            <a:spLocks noGrp="1"/>
          </p:cNvSpPr>
          <p:nvPr>
            <p:ph type="title"/>
          </p:nvPr>
        </p:nvSpPr>
        <p:spPr/>
        <p:txBody>
          <a:bodyPr/>
          <a:lstStyle/>
          <a:p>
            <a:r>
              <a:rPr lang="en-IN" dirty="0"/>
              <a:t>Roadmap</a:t>
            </a:r>
          </a:p>
        </p:txBody>
      </p:sp>
      <p:sp>
        <p:nvSpPr>
          <p:cNvPr id="3" name="Content Placeholder 2">
            <a:extLst>
              <a:ext uri="{FF2B5EF4-FFF2-40B4-BE49-F238E27FC236}">
                <a16:creationId xmlns:a16="http://schemas.microsoft.com/office/drawing/2014/main" id="{452FDECA-F182-44D4-A074-5C9656D9221F}"/>
              </a:ext>
            </a:extLst>
          </p:cNvPr>
          <p:cNvSpPr>
            <a:spLocks noGrp="1"/>
          </p:cNvSpPr>
          <p:nvPr>
            <p:ph idx="1"/>
          </p:nvPr>
        </p:nvSpPr>
        <p:spPr/>
        <p:txBody>
          <a:bodyPr>
            <a:normAutofit/>
          </a:bodyPr>
          <a:lstStyle/>
          <a:p>
            <a:endParaRPr lang="en-IN" dirty="0"/>
          </a:p>
          <a:p>
            <a:r>
              <a:rPr lang="en-US" dirty="0"/>
              <a:t>Introduction to Operating system, </a:t>
            </a:r>
          </a:p>
          <a:p>
            <a:r>
              <a:rPr lang="en-US" dirty="0"/>
              <a:t>Operating System Objectives and functions, </a:t>
            </a:r>
          </a:p>
          <a:p>
            <a:r>
              <a:rPr lang="en-US" b="1" dirty="0"/>
              <a:t>Evolution Of Operating System</a:t>
            </a:r>
          </a:p>
          <a:p>
            <a:r>
              <a:rPr lang="en-US" dirty="0"/>
              <a:t>Major achievements</a:t>
            </a:r>
          </a:p>
          <a:p>
            <a:endParaRPr lang="en-US" dirty="0"/>
          </a:p>
          <a:p>
            <a:pPr marL="0" indent="0">
              <a:buNone/>
            </a:pPr>
            <a:r>
              <a:rPr lang="en-US" dirty="0"/>
              <a:t>	</a:t>
            </a:r>
          </a:p>
          <a:p>
            <a:endParaRPr lang="en-IN" dirty="0"/>
          </a:p>
        </p:txBody>
      </p:sp>
    </p:spTree>
    <p:extLst>
      <p:ext uri="{BB962C8B-B14F-4D97-AF65-F5344CB8AC3E}">
        <p14:creationId xmlns:p14="http://schemas.microsoft.com/office/powerpoint/2010/main" val="26988079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74B95-C462-4584-97E4-80E363757356}"/>
              </a:ext>
            </a:extLst>
          </p:cNvPr>
          <p:cNvSpPr>
            <a:spLocks noGrp="1"/>
          </p:cNvSpPr>
          <p:nvPr>
            <p:ph type="title"/>
          </p:nvPr>
        </p:nvSpPr>
        <p:spPr/>
        <p:txBody>
          <a:bodyPr/>
          <a:lstStyle/>
          <a:p>
            <a:r>
              <a:rPr lang="en-IN" dirty="0"/>
              <a:t>Evolution of operating system</a:t>
            </a:r>
          </a:p>
        </p:txBody>
      </p:sp>
      <p:sp>
        <p:nvSpPr>
          <p:cNvPr id="3" name="Content Placeholder 2">
            <a:extLst>
              <a:ext uri="{FF2B5EF4-FFF2-40B4-BE49-F238E27FC236}">
                <a16:creationId xmlns:a16="http://schemas.microsoft.com/office/drawing/2014/main" id="{AA45B1B1-C55E-4E3B-A8AB-3083C247BF4C}"/>
              </a:ext>
            </a:extLst>
          </p:cNvPr>
          <p:cNvSpPr>
            <a:spLocks noGrp="1"/>
          </p:cNvSpPr>
          <p:nvPr>
            <p:ph idx="1"/>
          </p:nvPr>
        </p:nvSpPr>
        <p:spPr/>
        <p:txBody>
          <a:bodyPr/>
          <a:lstStyle/>
          <a:p>
            <a:pPr marL="457200" indent="-457200">
              <a:defRPr/>
            </a:pPr>
            <a:r>
              <a:rPr lang="en-US" dirty="0"/>
              <a:t>The following sequence shows how operating systems have evolved over the years.   </a:t>
            </a:r>
          </a:p>
          <a:p>
            <a:pPr marL="457200" indent="-457200">
              <a:buFontTx/>
              <a:buAutoNum type="arabicParenBoth"/>
              <a:defRPr/>
            </a:pPr>
            <a:r>
              <a:rPr lang="en-US" dirty="0"/>
              <a:t>Serial Processing</a:t>
            </a:r>
          </a:p>
          <a:p>
            <a:pPr marL="457200" indent="-457200">
              <a:buFontTx/>
              <a:buAutoNum type="arabicParenBoth"/>
              <a:defRPr/>
            </a:pPr>
            <a:r>
              <a:rPr lang="en-US" dirty="0"/>
              <a:t>Simple Batch System</a:t>
            </a:r>
          </a:p>
          <a:p>
            <a:pPr marL="457200" indent="-457200">
              <a:buFontTx/>
              <a:buAutoNum type="arabicParenBoth"/>
              <a:defRPr/>
            </a:pPr>
            <a:r>
              <a:rPr lang="en-US" dirty="0"/>
              <a:t> </a:t>
            </a:r>
            <a:r>
              <a:rPr lang="en-US" dirty="0" err="1"/>
              <a:t>Multiprogrammed</a:t>
            </a:r>
            <a:r>
              <a:rPr lang="en-US" dirty="0"/>
              <a:t> Batch Systems</a:t>
            </a:r>
          </a:p>
          <a:p>
            <a:pPr marL="457200" indent="-457200">
              <a:buFontTx/>
              <a:buAutoNum type="arabicParenBoth"/>
              <a:defRPr/>
            </a:pPr>
            <a:r>
              <a:rPr lang="en-US" dirty="0"/>
              <a:t>Time-sharing Systems</a:t>
            </a:r>
          </a:p>
          <a:p>
            <a:endParaRPr lang="en-IN" dirty="0"/>
          </a:p>
        </p:txBody>
      </p:sp>
    </p:spTree>
    <p:extLst>
      <p:ext uri="{BB962C8B-B14F-4D97-AF65-F5344CB8AC3E}">
        <p14:creationId xmlns:p14="http://schemas.microsoft.com/office/powerpoint/2010/main" val="39006915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6A571-8967-47A4-820A-523D36C2D310}"/>
              </a:ext>
            </a:extLst>
          </p:cNvPr>
          <p:cNvSpPr>
            <a:spLocks noGrp="1"/>
          </p:cNvSpPr>
          <p:nvPr>
            <p:ph type="title"/>
          </p:nvPr>
        </p:nvSpPr>
        <p:spPr>
          <a:xfrm>
            <a:off x="1233380" y="44777"/>
            <a:ext cx="10012798" cy="813062"/>
          </a:xfrm>
        </p:spPr>
        <p:txBody>
          <a:bodyPr/>
          <a:lstStyle/>
          <a:p>
            <a:r>
              <a:rPr lang="en-IN" dirty="0"/>
              <a:t>1. Serial processing</a:t>
            </a:r>
          </a:p>
        </p:txBody>
      </p:sp>
      <p:sp>
        <p:nvSpPr>
          <p:cNvPr id="3" name="Content Placeholder 2">
            <a:extLst>
              <a:ext uri="{FF2B5EF4-FFF2-40B4-BE49-F238E27FC236}">
                <a16:creationId xmlns:a16="http://schemas.microsoft.com/office/drawing/2014/main" id="{E20469AD-6CC3-4F88-A088-8BD25DC3A6F7}"/>
              </a:ext>
            </a:extLst>
          </p:cNvPr>
          <p:cNvSpPr>
            <a:spLocks noGrp="1"/>
          </p:cNvSpPr>
          <p:nvPr>
            <p:ph idx="1"/>
          </p:nvPr>
        </p:nvSpPr>
        <p:spPr>
          <a:xfrm>
            <a:off x="945822" y="701040"/>
            <a:ext cx="11246177" cy="6112183"/>
          </a:xfrm>
        </p:spPr>
        <p:txBody>
          <a:bodyPr>
            <a:normAutofit/>
          </a:bodyPr>
          <a:lstStyle/>
          <a:p>
            <a:pPr algn="just"/>
            <a:r>
              <a:rPr lang="en-US" sz="2300" u="sng" dirty="0"/>
              <a:t>Definition:-</a:t>
            </a:r>
          </a:p>
          <a:p>
            <a:pPr marL="530352" lvl="1" indent="0" algn="just">
              <a:buNone/>
            </a:pPr>
            <a:r>
              <a:rPr lang="en-US" sz="2300" dirty="0"/>
              <a:t>Processing information where only the one process of operation is carried out at one time.</a:t>
            </a:r>
          </a:p>
          <a:p>
            <a:pPr algn="just">
              <a:buFont typeface="Arial" pitchFamily="34" charset="0"/>
              <a:buChar char="•"/>
              <a:defRPr/>
            </a:pPr>
            <a:r>
              <a:rPr lang="en-US" sz="2300" dirty="0"/>
              <a:t>This mode of operation could be termed </a:t>
            </a:r>
            <a:r>
              <a:rPr lang="en-US" sz="2300" i="1" dirty="0"/>
              <a:t>serial processing, reflecting the fact t</a:t>
            </a:r>
            <a:r>
              <a:rPr lang="en-US" sz="2300" dirty="0"/>
              <a:t>hat users have access to the computer in series.</a:t>
            </a:r>
          </a:p>
          <a:p>
            <a:pPr lvl="1" algn="just">
              <a:buFont typeface="Arial" pitchFamily="34" charset="0"/>
              <a:buChar char="•"/>
              <a:defRPr/>
            </a:pPr>
            <a:r>
              <a:rPr lang="en-US" sz="2300" dirty="0"/>
              <a:t>No operating system</a:t>
            </a:r>
          </a:p>
          <a:p>
            <a:pPr lvl="1" algn="just">
              <a:buFont typeface="Arial" pitchFamily="34" charset="0"/>
              <a:buChar char="•"/>
              <a:defRPr/>
            </a:pPr>
            <a:r>
              <a:rPr lang="en-US" sz="2300" dirty="0"/>
              <a:t> Machines run from a console with display lights, toggle switches, input device, </a:t>
            </a:r>
          </a:p>
          <a:p>
            <a:pPr marL="530352" lvl="1" indent="0" algn="just">
              <a:buNone/>
              <a:defRPr/>
            </a:pPr>
            <a:r>
              <a:rPr lang="en-US" sz="2300" dirty="0"/>
              <a:t>       and printer</a:t>
            </a:r>
          </a:p>
          <a:p>
            <a:pPr lvl="1" algn="just">
              <a:buFont typeface="Arial" pitchFamily="34" charset="0"/>
              <a:buChar char="•"/>
              <a:defRPr/>
            </a:pPr>
            <a:r>
              <a:rPr lang="en-US" sz="2300" dirty="0"/>
              <a:t> Schedule time</a:t>
            </a:r>
          </a:p>
          <a:p>
            <a:pPr lvl="1" algn="just">
              <a:buFont typeface="Arial" pitchFamily="34" charset="0"/>
              <a:buChar char="•"/>
              <a:defRPr/>
            </a:pPr>
            <a:r>
              <a:rPr lang="en-US" sz="2300" dirty="0"/>
              <a:t> Setup included loading the compiler, source program, saving compiled program, </a:t>
            </a:r>
          </a:p>
          <a:p>
            <a:pPr marL="530352" lvl="1" indent="0" algn="just">
              <a:buNone/>
              <a:defRPr/>
            </a:pPr>
            <a:r>
              <a:rPr lang="en-US" sz="2300" dirty="0"/>
              <a:t>	and loading and linking</a:t>
            </a:r>
          </a:p>
          <a:p>
            <a:pPr>
              <a:buFont typeface="Arial" pitchFamily="34" charset="0"/>
              <a:buChar char="•"/>
              <a:defRPr/>
            </a:pPr>
            <a:r>
              <a:rPr lang="en-US" sz="2300" dirty="0"/>
              <a:t>As time went on, card readers, printers, and magnetic tape units were developed as </a:t>
            </a:r>
          </a:p>
          <a:p>
            <a:pPr marL="0" indent="0">
              <a:buNone/>
              <a:defRPr/>
            </a:pPr>
            <a:r>
              <a:rPr lang="en-US" sz="2300" dirty="0"/>
              <a:t>     additional hardware elements. </a:t>
            </a:r>
          </a:p>
          <a:p>
            <a:pPr>
              <a:buFont typeface="Arial" pitchFamily="34" charset="0"/>
              <a:buChar char="•"/>
              <a:defRPr/>
            </a:pPr>
            <a:r>
              <a:rPr lang="en-US" sz="2300" dirty="0"/>
              <a:t>Assemblers, loaders and simple utility libraries were developed as software tools. </a:t>
            </a:r>
          </a:p>
          <a:p>
            <a:pPr marL="530352" lvl="1" indent="0" algn="just">
              <a:buNone/>
              <a:defRPr/>
            </a:pPr>
            <a:endParaRPr lang="en-US" sz="2300" dirty="0"/>
          </a:p>
          <a:p>
            <a:pPr marL="530352" lvl="1" indent="0" algn="just">
              <a:buNone/>
            </a:pPr>
            <a:endParaRPr lang="en-US" sz="2300" u="sng" dirty="0"/>
          </a:p>
          <a:p>
            <a:pPr algn="just"/>
            <a:endParaRPr lang="en-IN" sz="2300" dirty="0"/>
          </a:p>
        </p:txBody>
      </p:sp>
    </p:spTree>
    <p:extLst>
      <p:ext uri="{BB962C8B-B14F-4D97-AF65-F5344CB8AC3E}">
        <p14:creationId xmlns:p14="http://schemas.microsoft.com/office/powerpoint/2010/main" val="35269336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383BC-FE34-4587-A050-4BE847E416FD}"/>
              </a:ext>
            </a:extLst>
          </p:cNvPr>
          <p:cNvSpPr>
            <a:spLocks noGrp="1"/>
          </p:cNvSpPr>
          <p:nvPr>
            <p:ph type="title"/>
          </p:nvPr>
        </p:nvSpPr>
        <p:spPr>
          <a:xfrm>
            <a:off x="1233379" y="44777"/>
            <a:ext cx="10012798" cy="463223"/>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AEB109AD-89D6-4C9B-BFFA-249B27FB7112}"/>
              </a:ext>
            </a:extLst>
          </p:cNvPr>
          <p:cNvSpPr>
            <a:spLocks noGrp="1"/>
          </p:cNvSpPr>
          <p:nvPr>
            <p:ph idx="1"/>
          </p:nvPr>
        </p:nvSpPr>
        <p:spPr>
          <a:xfrm>
            <a:off x="359619" y="591479"/>
            <a:ext cx="11751101" cy="5085761"/>
          </a:xfrm>
        </p:spPr>
        <p:txBody>
          <a:bodyPr/>
          <a:lstStyle/>
          <a:p>
            <a:pPr>
              <a:buFont typeface="Arial" pitchFamily="34" charset="0"/>
              <a:buChar char="•"/>
              <a:defRPr/>
            </a:pPr>
            <a:r>
              <a:rPr lang="en-US" dirty="0"/>
              <a:t>Example of serial processing is ENIAC. It all started with computer hardware in about 1940s</a:t>
            </a:r>
            <a:endParaRPr lang="en-IN" dirty="0"/>
          </a:p>
        </p:txBody>
      </p:sp>
      <p:sp>
        <p:nvSpPr>
          <p:cNvPr id="6" name="Title 1">
            <a:extLst>
              <a:ext uri="{FF2B5EF4-FFF2-40B4-BE49-F238E27FC236}">
                <a16:creationId xmlns:a16="http://schemas.microsoft.com/office/drawing/2014/main" id="{DA564DA1-8558-488C-9740-974F998121BA}"/>
              </a:ext>
            </a:extLst>
          </p:cNvPr>
          <p:cNvSpPr txBox="1">
            <a:spLocks/>
          </p:cNvSpPr>
          <p:nvPr/>
        </p:nvSpPr>
        <p:spPr>
          <a:xfrm>
            <a:off x="1233380" y="44777"/>
            <a:ext cx="10012798" cy="813062"/>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000" kern="1200" baseline="0">
                <a:solidFill>
                  <a:schemeClr val="tx2"/>
                </a:solidFill>
                <a:latin typeface="Algerian" panose="04020705040A02060702" pitchFamily="82" charset="0"/>
                <a:ea typeface="+mj-ea"/>
                <a:cs typeface="+mj-cs"/>
              </a:defRPr>
            </a:lvl1pPr>
          </a:lstStyle>
          <a:p>
            <a:r>
              <a:rPr lang="en-IN" dirty="0"/>
              <a:t>1. Serial processing</a:t>
            </a:r>
          </a:p>
        </p:txBody>
      </p:sp>
      <p:pic>
        <p:nvPicPr>
          <p:cNvPr id="7" name="Picture 3" descr="_44233920_eniac_spl_416.jpg">
            <a:extLst>
              <a:ext uri="{FF2B5EF4-FFF2-40B4-BE49-F238E27FC236}">
                <a16:creationId xmlns:a16="http://schemas.microsoft.com/office/drawing/2014/main" id="{57A58D35-18C6-41D7-BC92-A64188E994C9}"/>
              </a:ext>
            </a:extLst>
          </p:cNvPr>
          <p:cNvPicPr>
            <a:picLocks noChangeAspect="1"/>
          </p:cNvPicPr>
          <p:nvPr/>
        </p:nvPicPr>
        <p:blipFill>
          <a:blip r:embed="rId2"/>
          <a:srcRect/>
          <a:stretch>
            <a:fillRect/>
          </a:stretch>
        </p:blipFill>
        <p:spPr bwMode="auto">
          <a:xfrm>
            <a:off x="650240" y="1330960"/>
            <a:ext cx="11460480" cy="566447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4183690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CC107-6253-4EA3-B163-67886355FF2E}"/>
              </a:ext>
            </a:extLst>
          </p:cNvPr>
          <p:cNvSpPr>
            <a:spLocks noGrp="1"/>
          </p:cNvSpPr>
          <p:nvPr>
            <p:ph type="title"/>
          </p:nvPr>
        </p:nvSpPr>
        <p:spPr/>
        <p:txBody>
          <a:bodyPr/>
          <a:lstStyle/>
          <a:p>
            <a:r>
              <a:rPr lang="en-IN" dirty="0" err="1"/>
              <a:t>eniac</a:t>
            </a:r>
            <a:endParaRPr lang="en-IN" dirty="0"/>
          </a:p>
        </p:txBody>
      </p:sp>
      <p:sp>
        <p:nvSpPr>
          <p:cNvPr id="3" name="Content Placeholder 2">
            <a:extLst>
              <a:ext uri="{FF2B5EF4-FFF2-40B4-BE49-F238E27FC236}">
                <a16:creationId xmlns:a16="http://schemas.microsoft.com/office/drawing/2014/main" id="{AC688645-29BE-42FC-8939-FC3D31FD268C}"/>
              </a:ext>
            </a:extLst>
          </p:cNvPr>
          <p:cNvSpPr>
            <a:spLocks noGrp="1"/>
          </p:cNvSpPr>
          <p:nvPr>
            <p:ph idx="1"/>
          </p:nvPr>
        </p:nvSpPr>
        <p:spPr/>
        <p:txBody>
          <a:bodyPr/>
          <a:lstStyle/>
          <a:p>
            <a:pPr>
              <a:buFont typeface="Arial" pitchFamily="34" charset="0"/>
              <a:buChar char="•"/>
              <a:defRPr/>
            </a:pPr>
            <a:r>
              <a:rPr lang="en-US" sz="2200" dirty="0"/>
              <a:t>ENIAC (Electronic Numerical Integrator and Computer), at the U.S. Army's Aberdeen Proving Ground in Maryland. </a:t>
            </a:r>
          </a:p>
          <a:p>
            <a:pPr lvl="1">
              <a:buFont typeface="Arial" pitchFamily="34" charset="0"/>
              <a:buChar char="•"/>
              <a:defRPr/>
            </a:pPr>
            <a:r>
              <a:rPr lang="en-US" sz="2200" dirty="0"/>
              <a:t> Built in the 1940s, </a:t>
            </a:r>
          </a:p>
          <a:p>
            <a:pPr lvl="1">
              <a:buFont typeface="Arial" pitchFamily="34" charset="0"/>
              <a:buChar char="•"/>
              <a:defRPr/>
            </a:pPr>
            <a:r>
              <a:rPr lang="en-US" sz="2200" dirty="0"/>
              <a:t> Weighed 30 tons, </a:t>
            </a:r>
          </a:p>
          <a:p>
            <a:pPr lvl="1">
              <a:buFont typeface="Arial" pitchFamily="34" charset="0"/>
              <a:buChar char="•"/>
              <a:defRPr/>
            </a:pPr>
            <a:r>
              <a:rPr lang="en-US" sz="2200" dirty="0"/>
              <a:t> Was eight feet high, three feet deep, and 100 feet long</a:t>
            </a:r>
          </a:p>
          <a:p>
            <a:pPr lvl="1">
              <a:buFont typeface="Arial" pitchFamily="34" charset="0"/>
              <a:buChar char="•"/>
              <a:defRPr/>
            </a:pPr>
            <a:r>
              <a:rPr lang="en-US" sz="2200" dirty="0"/>
              <a:t> Contained over 18,000 vacuum tubes that were cooled by 80 air blowers.</a:t>
            </a:r>
          </a:p>
          <a:p>
            <a:endParaRPr lang="en-IN" dirty="0"/>
          </a:p>
        </p:txBody>
      </p:sp>
    </p:spTree>
    <p:extLst>
      <p:ext uri="{BB962C8B-B14F-4D97-AF65-F5344CB8AC3E}">
        <p14:creationId xmlns:p14="http://schemas.microsoft.com/office/powerpoint/2010/main" val="4374144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8D831-7A18-46E6-9E55-16B1874CAA3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10504D9-A938-4C87-B066-C174A95E9C1B}"/>
              </a:ext>
            </a:extLst>
          </p:cNvPr>
          <p:cNvSpPr>
            <a:spLocks noGrp="1"/>
          </p:cNvSpPr>
          <p:nvPr>
            <p:ph idx="1"/>
          </p:nvPr>
        </p:nvSpPr>
        <p:spPr>
          <a:xfrm>
            <a:off x="745698" y="886119"/>
            <a:ext cx="11446301" cy="5085761"/>
          </a:xfrm>
        </p:spPr>
        <p:txBody>
          <a:bodyPr/>
          <a:lstStyle/>
          <a:p>
            <a:r>
              <a:rPr lang="en-US" dirty="0">
                <a:latin typeface="Trebuchet MS" pitchFamily="34" charset="0"/>
              </a:rPr>
              <a:t>Computers were using vacuum tube technology</a:t>
            </a:r>
            <a:endParaRPr lang="en-US" dirty="0"/>
          </a:p>
          <a:p>
            <a:endParaRPr lang="en-IN" dirty="0"/>
          </a:p>
        </p:txBody>
      </p:sp>
      <p:pic>
        <p:nvPicPr>
          <p:cNvPr id="4" name="Picture 7" descr="ENIAC-vacuumtubes.jpg">
            <a:extLst>
              <a:ext uri="{FF2B5EF4-FFF2-40B4-BE49-F238E27FC236}">
                <a16:creationId xmlns:a16="http://schemas.microsoft.com/office/drawing/2014/main" id="{E27A6CE9-454B-4174-855B-F2AA14EF6888}"/>
              </a:ext>
            </a:extLst>
          </p:cNvPr>
          <p:cNvPicPr>
            <a:picLocks noChangeAspect="1"/>
          </p:cNvPicPr>
          <p:nvPr/>
        </p:nvPicPr>
        <p:blipFill>
          <a:blip r:embed="rId2"/>
          <a:srcRect/>
          <a:stretch>
            <a:fillRect/>
          </a:stretch>
        </p:blipFill>
        <p:spPr bwMode="auto">
          <a:xfrm>
            <a:off x="887938" y="1425892"/>
            <a:ext cx="10216942" cy="4006215"/>
          </a:xfrm>
          <a:prstGeom prst="rect">
            <a:avLst/>
          </a:prstGeom>
          <a:ln>
            <a:noFill/>
          </a:ln>
          <a:effectLst>
            <a:outerShdw blurRad="292100" dist="139700" dir="2700000" algn="tl" rotWithShape="0">
              <a:srgbClr val="333333">
                <a:alpha val="65000"/>
              </a:srgbClr>
            </a:outerShdw>
          </a:effectLst>
        </p:spPr>
      </p:pic>
      <p:sp>
        <p:nvSpPr>
          <p:cNvPr id="5" name="Rectangle 4">
            <a:extLst>
              <a:ext uri="{FF2B5EF4-FFF2-40B4-BE49-F238E27FC236}">
                <a16:creationId xmlns:a16="http://schemas.microsoft.com/office/drawing/2014/main" id="{26B13C98-3DE6-4882-8509-CE6F309B9D7E}"/>
              </a:ext>
            </a:extLst>
          </p:cNvPr>
          <p:cNvSpPr/>
          <p:nvPr/>
        </p:nvSpPr>
        <p:spPr>
          <a:xfrm>
            <a:off x="4912022" y="5971878"/>
            <a:ext cx="2367956" cy="369332"/>
          </a:xfrm>
          <a:prstGeom prst="rect">
            <a:avLst/>
          </a:prstGeom>
        </p:spPr>
        <p:txBody>
          <a:bodyPr wrap="none">
            <a:spAutoFit/>
          </a:bodyPr>
          <a:lstStyle/>
          <a:p>
            <a:r>
              <a:rPr lang="en-US" altLang="en-US" dirty="0"/>
              <a:t>ENIAC’s vacuum tubes</a:t>
            </a:r>
          </a:p>
        </p:txBody>
      </p:sp>
      <p:sp>
        <p:nvSpPr>
          <p:cNvPr id="6" name="Title 1">
            <a:extLst>
              <a:ext uri="{FF2B5EF4-FFF2-40B4-BE49-F238E27FC236}">
                <a16:creationId xmlns:a16="http://schemas.microsoft.com/office/drawing/2014/main" id="{9CA29A5C-A063-46BE-8BBF-D26CEBF4F23A}"/>
              </a:ext>
            </a:extLst>
          </p:cNvPr>
          <p:cNvSpPr txBox="1">
            <a:spLocks/>
          </p:cNvSpPr>
          <p:nvPr/>
        </p:nvSpPr>
        <p:spPr>
          <a:xfrm>
            <a:off x="1233380" y="44777"/>
            <a:ext cx="10012798" cy="813062"/>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000" kern="1200" baseline="0">
                <a:solidFill>
                  <a:schemeClr val="tx2"/>
                </a:solidFill>
                <a:latin typeface="Algerian" panose="04020705040A02060702" pitchFamily="82" charset="0"/>
                <a:ea typeface="+mj-ea"/>
                <a:cs typeface="+mj-cs"/>
              </a:defRPr>
            </a:lvl1pPr>
          </a:lstStyle>
          <a:p>
            <a:r>
              <a:rPr lang="en-IN" dirty="0"/>
              <a:t>1. Serial processing</a:t>
            </a:r>
          </a:p>
        </p:txBody>
      </p:sp>
    </p:spTree>
    <p:extLst>
      <p:ext uri="{BB962C8B-B14F-4D97-AF65-F5344CB8AC3E}">
        <p14:creationId xmlns:p14="http://schemas.microsoft.com/office/powerpoint/2010/main" val="3681186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8085DB-26C8-4007-8488-212BE2180F9D}"/>
              </a:ext>
            </a:extLst>
          </p:cNvPr>
          <p:cNvSpPr>
            <a:spLocks noGrp="1"/>
          </p:cNvSpPr>
          <p:nvPr>
            <p:ph idx="1"/>
          </p:nvPr>
        </p:nvSpPr>
        <p:spPr/>
        <p:txBody>
          <a:bodyPr/>
          <a:lstStyle/>
          <a:p>
            <a:endParaRPr lang="en-IN"/>
          </a:p>
        </p:txBody>
      </p:sp>
      <p:sp>
        <p:nvSpPr>
          <p:cNvPr id="4" name="Title 1">
            <a:extLst>
              <a:ext uri="{FF2B5EF4-FFF2-40B4-BE49-F238E27FC236}">
                <a16:creationId xmlns:a16="http://schemas.microsoft.com/office/drawing/2014/main" id="{08D66B4B-E51C-4FB0-ADD7-3E86C79C8050}"/>
              </a:ext>
            </a:extLst>
          </p:cNvPr>
          <p:cNvSpPr txBox="1">
            <a:spLocks/>
          </p:cNvSpPr>
          <p:nvPr/>
        </p:nvSpPr>
        <p:spPr>
          <a:xfrm>
            <a:off x="1016943" y="73058"/>
            <a:ext cx="10012798" cy="813062"/>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000" kern="1200" baseline="0">
                <a:solidFill>
                  <a:schemeClr val="tx2"/>
                </a:solidFill>
                <a:latin typeface="Algerian" panose="04020705040A02060702" pitchFamily="82" charset="0"/>
                <a:ea typeface="+mj-ea"/>
                <a:cs typeface="+mj-cs"/>
              </a:defRPr>
            </a:lvl1pPr>
          </a:lstStyle>
          <a:p>
            <a:r>
              <a:rPr lang="en-IN" dirty="0"/>
              <a:t>1. Serial processing</a:t>
            </a:r>
          </a:p>
        </p:txBody>
      </p:sp>
      <p:pic>
        <p:nvPicPr>
          <p:cNvPr id="5" name="Picture 3" descr="eniac1.jpg">
            <a:extLst>
              <a:ext uri="{FF2B5EF4-FFF2-40B4-BE49-F238E27FC236}">
                <a16:creationId xmlns:a16="http://schemas.microsoft.com/office/drawing/2014/main" id="{A49C6330-071E-4066-898A-F4D95FB7AE33}"/>
              </a:ext>
            </a:extLst>
          </p:cNvPr>
          <p:cNvPicPr>
            <a:picLocks noChangeAspect="1"/>
          </p:cNvPicPr>
          <p:nvPr/>
        </p:nvPicPr>
        <p:blipFill>
          <a:blip r:embed="rId2"/>
          <a:srcRect/>
          <a:stretch>
            <a:fillRect/>
          </a:stretch>
        </p:blipFill>
        <p:spPr bwMode="auto">
          <a:xfrm>
            <a:off x="661670" y="674017"/>
            <a:ext cx="11530330" cy="5804395"/>
          </a:xfrm>
          <a:prstGeom prst="rect">
            <a:avLst/>
          </a:prstGeom>
          <a:ln>
            <a:noFill/>
          </a:ln>
          <a:effectLst>
            <a:outerShdw blurRad="292100" dist="139700" dir="2700000" algn="tl" rotWithShape="0">
              <a:srgbClr val="333333">
                <a:alpha val="65000"/>
              </a:srgbClr>
            </a:outerShdw>
          </a:effectLst>
        </p:spPr>
      </p:pic>
      <p:sp>
        <p:nvSpPr>
          <p:cNvPr id="6" name="TextBox 4">
            <a:extLst>
              <a:ext uri="{FF2B5EF4-FFF2-40B4-BE49-F238E27FC236}">
                <a16:creationId xmlns:a16="http://schemas.microsoft.com/office/drawing/2014/main" id="{37FCD346-B27E-40DA-9AE9-4FDAB0FA44FB}"/>
              </a:ext>
            </a:extLst>
          </p:cNvPr>
          <p:cNvSpPr txBox="1">
            <a:spLocks noChangeArrowheads="1"/>
          </p:cNvSpPr>
          <p:nvPr/>
        </p:nvSpPr>
        <p:spPr bwMode="auto">
          <a:xfrm>
            <a:off x="3261360" y="6478412"/>
            <a:ext cx="457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dirty="0"/>
              <a:t>ENIAC’s backside</a:t>
            </a:r>
          </a:p>
        </p:txBody>
      </p:sp>
    </p:spTree>
    <p:extLst>
      <p:ext uri="{BB962C8B-B14F-4D97-AF65-F5344CB8AC3E}">
        <p14:creationId xmlns:p14="http://schemas.microsoft.com/office/powerpoint/2010/main" val="1464131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C4CDB-CBF7-4A79-BF80-0DD057C80DEB}"/>
              </a:ext>
            </a:extLst>
          </p:cNvPr>
          <p:cNvSpPr>
            <a:spLocks noGrp="1"/>
          </p:cNvSpPr>
          <p:nvPr>
            <p:ph type="title"/>
          </p:nvPr>
        </p:nvSpPr>
        <p:spPr>
          <a:xfrm>
            <a:off x="1177608" y="44776"/>
            <a:ext cx="10012798" cy="813062"/>
          </a:xfrm>
        </p:spPr>
        <p:txBody>
          <a:bodyPr/>
          <a:lstStyle/>
          <a:p>
            <a:r>
              <a:rPr lang="en-IN" dirty="0"/>
              <a:t>f</a:t>
            </a:r>
          </a:p>
        </p:txBody>
      </p:sp>
      <p:sp>
        <p:nvSpPr>
          <p:cNvPr id="3" name="Content Placeholder 2">
            <a:extLst>
              <a:ext uri="{FF2B5EF4-FFF2-40B4-BE49-F238E27FC236}">
                <a16:creationId xmlns:a16="http://schemas.microsoft.com/office/drawing/2014/main" id="{DF6D1B74-9B89-4889-BDBB-EC8D396ED21D}"/>
              </a:ext>
            </a:extLst>
          </p:cNvPr>
          <p:cNvSpPr>
            <a:spLocks noGrp="1"/>
          </p:cNvSpPr>
          <p:nvPr>
            <p:ph idx="1"/>
          </p:nvPr>
        </p:nvSpPr>
        <p:spPr>
          <a:xfrm>
            <a:off x="715218" y="914401"/>
            <a:ext cx="11476781" cy="5085761"/>
          </a:xfrm>
        </p:spPr>
        <p:txBody>
          <a:bodyPr/>
          <a:lstStyle/>
          <a:p>
            <a:r>
              <a:rPr lang="en-US" dirty="0"/>
              <a:t>Programs were loaded into memory manually using switches, punched cards, or paper tapes.</a:t>
            </a:r>
          </a:p>
          <a:p>
            <a:endParaRPr lang="en-IN" dirty="0"/>
          </a:p>
        </p:txBody>
      </p:sp>
      <p:sp>
        <p:nvSpPr>
          <p:cNvPr id="4" name="Title 1">
            <a:extLst>
              <a:ext uri="{FF2B5EF4-FFF2-40B4-BE49-F238E27FC236}">
                <a16:creationId xmlns:a16="http://schemas.microsoft.com/office/drawing/2014/main" id="{B9A419CD-C037-41A7-B0E5-9FEAC2FBB61C}"/>
              </a:ext>
            </a:extLst>
          </p:cNvPr>
          <p:cNvSpPr txBox="1">
            <a:spLocks/>
          </p:cNvSpPr>
          <p:nvPr/>
        </p:nvSpPr>
        <p:spPr>
          <a:xfrm>
            <a:off x="1016943" y="73058"/>
            <a:ext cx="10012798" cy="813062"/>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000" kern="1200" baseline="0">
                <a:solidFill>
                  <a:schemeClr val="tx2"/>
                </a:solidFill>
                <a:latin typeface="Algerian" panose="04020705040A02060702" pitchFamily="82" charset="0"/>
                <a:ea typeface="+mj-ea"/>
                <a:cs typeface="+mj-cs"/>
              </a:defRPr>
            </a:lvl1pPr>
          </a:lstStyle>
          <a:p>
            <a:r>
              <a:rPr lang="en-IN" dirty="0"/>
              <a:t>1. Serial processing</a:t>
            </a:r>
          </a:p>
        </p:txBody>
      </p:sp>
      <p:pic>
        <p:nvPicPr>
          <p:cNvPr id="5" name="Content Placeholder 3" descr="JE001547.jpg">
            <a:extLst>
              <a:ext uri="{FF2B5EF4-FFF2-40B4-BE49-F238E27FC236}">
                <a16:creationId xmlns:a16="http://schemas.microsoft.com/office/drawing/2014/main" id="{E3FF1848-0317-498F-908A-DF1BB256FC42}"/>
              </a:ext>
            </a:extLst>
          </p:cNvPr>
          <p:cNvPicPr>
            <a:picLocks noChangeAspect="1"/>
          </p:cNvPicPr>
          <p:nvPr/>
        </p:nvPicPr>
        <p:blipFill>
          <a:blip r:embed="rId2"/>
          <a:srcRect l="-24188" r="-24188"/>
          <a:stretch>
            <a:fillRect/>
          </a:stretch>
        </p:blipFill>
        <p:spPr>
          <a:xfrm>
            <a:off x="1671429" y="1499600"/>
            <a:ext cx="9358312" cy="4500562"/>
          </a:xfrm>
          <a:prstGeom prst="rect">
            <a:avLst/>
          </a:prstGeom>
          <a:effectLst>
            <a:softEdge rad="112500"/>
          </a:effectLst>
        </p:spPr>
      </p:pic>
      <p:sp>
        <p:nvSpPr>
          <p:cNvPr id="6" name="TextBox 5">
            <a:extLst>
              <a:ext uri="{FF2B5EF4-FFF2-40B4-BE49-F238E27FC236}">
                <a16:creationId xmlns:a16="http://schemas.microsoft.com/office/drawing/2014/main" id="{884557A3-78CF-49B6-9E3E-951C4C7A605B}"/>
              </a:ext>
            </a:extLst>
          </p:cNvPr>
          <p:cNvSpPr txBox="1">
            <a:spLocks noChangeArrowheads="1"/>
          </p:cNvSpPr>
          <p:nvPr/>
        </p:nvSpPr>
        <p:spPr bwMode="auto">
          <a:xfrm>
            <a:off x="2514600" y="6172200"/>
            <a:ext cx="5105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t>ENIAC : coding by cable connections</a:t>
            </a:r>
          </a:p>
        </p:txBody>
      </p:sp>
    </p:spTree>
    <p:extLst>
      <p:ext uri="{BB962C8B-B14F-4D97-AF65-F5344CB8AC3E}">
        <p14:creationId xmlns:p14="http://schemas.microsoft.com/office/powerpoint/2010/main" val="405232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074A4D-9504-4BB4-A6F5-D15AC96F837B}"/>
              </a:ext>
            </a:extLst>
          </p:cNvPr>
          <p:cNvSpPr>
            <a:spLocks noGrp="1"/>
          </p:cNvSpPr>
          <p:nvPr>
            <p:ph idx="1"/>
          </p:nvPr>
        </p:nvSpPr>
        <p:spPr>
          <a:xfrm>
            <a:off x="701040" y="680720"/>
            <a:ext cx="11358880" cy="6104222"/>
          </a:xfrm>
        </p:spPr>
        <p:txBody>
          <a:bodyPr>
            <a:noAutofit/>
          </a:bodyPr>
          <a:lstStyle/>
          <a:p>
            <a:pPr algn="just">
              <a:buFont typeface="Arial" pitchFamily="34" charset="0"/>
              <a:buChar char="•"/>
              <a:defRPr/>
            </a:pPr>
            <a:r>
              <a:rPr lang="en-US" sz="2300" dirty="0"/>
              <a:t>These early systems presented two main problems:</a:t>
            </a:r>
          </a:p>
          <a:p>
            <a:pPr marL="0" indent="0" algn="just">
              <a:buNone/>
              <a:defRPr/>
            </a:pPr>
            <a:r>
              <a:rPr lang="en-US" sz="2300" b="1" dirty="0"/>
              <a:t>         1) Scheduling: </a:t>
            </a:r>
          </a:p>
          <a:p>
            <a:pPr lvl="1" algn="just">
              <a:buFont typeface="Arial" pitchFamily="34" charset="0"/>
              <a:buChar char="•"/>
              <a:defRPr/>
            </a:pPr>
            <a:r>
              <a:rPr lang="en-US" sz="2300" dirty="0"/>
              <a:t> Most installations used a hardcopy sign-up sheet to reserve computer time.  </a:t>
            </a:r>
          </a:p>
          <a:p>
            <a:pPr lvl="1" algn="just">
              <a:defRPr/>
            </a:pPr>
            <a:r>
              <a:rPr lang="en-US" sz="2300" dirty="0"/>
              <a:t>  Typically, a user could sign up for a block of time in multiples of a half hour or so.</a:t>
            </a:r>
          </a:p>
          <a:p>
            <a:pPr lvl="1" algn="just">
              <a:buFont typeface="Arial" pitchFamily="34" charset="0"/>
              <a:buChar char="•"/>
              <a:defRPr/>
            </a:pPr>
            <a:r>
              <a:rPr lang="en-US" sz="2300" dirty="0"/>
              <a:t> A user might sign up for an hour and finish in 45 minutes; this would result in wasted computer processing time. </a:t>
            </a:r>
          </a:p>
          <a:p>
            <a:pPr marL="530352" lvl="1" indent="0" algn="just">
              <a:buNone/>
              <a:defRPr/>
            </a:pPr>
            <a:r>
              <a:rPr lang="en-US" sz="2300" b="1" dirty="0"/>
              <a:t>2) Setup time:</a:t>
            </a:r>
            <a:r>
              <a:rPr lang="en-US" sz="2300" dirty="0"/>
              <a:t>-</a:t>
            </a:r>
          </a:p>
          <a:p>
            <a:pPr lvl="1" algn="just">
              <a:buFont typeface="Arial" pitchFamily="34" charset="0"/>
              <a:buChar char="•"/>
              <a:defRPr/>
            </a:pPr>
            <a:r>
              <a:rPr lang="en-US" sz="2300" dirty="0"/>
              <a:t> A single program (job) requires so many steps and if any error occurs, user  typically had to go back to the beginning of the setup sequence. </a:t>
            </a:r>
          </a:p>
          <a:p>
            <a:pPr lvl="1" algn="just">
              <a:buFont typeface="Arial" pitchFamily="34" charset="0"/>
              <a:buChar char="•"/>
              <a:defRPr/>
            </a:pPr>
            <a:r>
              <a:rPr lang="en-US" sz="2300" dirty="0"/>
              <a:t> Thus, a considerable amount of time was spent just in setting up the program to run.</a:t>
            </a:r>
          </a:p>
          <a:p>
            <a:pPr algn="just"/>
            <a:endParaRPr lang="en-IN" sz="2300" dirty="0"/>
          </a:p>
        </p:txBody>
      </p:sp>
      <p:sp>
        <p:nvSpPr>
          <p:cNvPr id="4" name="Title 1">
            <a:extLst>
              <a:ext uri="{FF2B5EF4-FFF2-40B4-BE49-F238E27FC236}">
                <a16:creationId xmlns:a16="http://schemas.microsoft.com/office/drawing/2014/main" id="{A3110CA6-2B64-4D69-A33E-AA3E3B4DC8A7}"/>
              </a:ext>
            </a:extLst>
          </p:cNvPr>
          <p:cNvSpPr txBox="1">
            <a:spLocks/>
          </p:cNvSpPr>
          <p:nvPr/>
        </p:nvSpPr>
        <p:spPr>
          <a:xfrm>
            <a:off x="1016943" y="73058"/>
            <a:ext cx="10012798" cy="813062"/>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000" kern="1200" baseline="0">
                <a:solidFill>
                  <a:schemeClr val="tx2"/>
                </a:solidFill>
                <a:latin typeface="Algerian" panose="04020705040A02060702" pitchFamily="82" charset="0"/>
                <a:ea typeface="+mj-ea"/>
                <a:cs typeface="+mj-cs"/>
              </a:defRPr>
            </a:lvl1pPr>
          </a:lstStyle>
          <a:p>
            <a:r>
              <a:rPr lang="en-IN" dirty="0"/>
              <a:t>1. Serial processing</a:t>
            </a:r>
          </a:p>
        </p:txBody>
      </p:sp>
    </p:spTree>
    <p:extLst>
      <p:ext uri="{BB962C8B-B14F-4D97-AF65-F5344CB8AC3E}">
        <p14:creationId xmlns:p14="http://schemas.microsoft.com/office/powerpoint/2010/main" val="18827580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00EBE-0E16-43D4-A21F-48678CE0B94E}"/>
              </a:ext>
            </a:extLst>
          </p:cNvPr>
          <p:cNvSpPr>
            <a:spLocks noGrp="1"/>
          </p:cNvSpPr>
          <p:nvPr>
            <p:ph type="title"/>
          </p:nvPr>
        </p:nvSpPr>
        <p:spPr/>
        <p:txBody>
          <a:bodyPr/>
          <a:lstStyle/>
          <a:p>
            <a:r>
              <a:rPr lang="en-IN" dirty="0"/>
              <a:t>2. Simple batch system</a:t>
            </a:r>
          </a:p>
        </p:txBody>
      </p:sp>
      <p:sp>
        <p:nvSpPr>
          <p:cNvPr id="3" name="Content Placeholder 2">
            <a:extLst>
              <a:ext uri="{FF2B5EF4-FFF2-40B4-BE49-F238E27FC236}">
                <a16:creationId xmlns:a16="http://schemas.microsoft.com/office/drawing/2014/main" id="{4B157A0E-8B83-4F41-8F85-05EE4E5A7D43}"/>
              </a:ext>
            </a:extLst>
          </p:cNvPr>
          <p:cNvSpPr>
            <a:spLocks noGrp="1"/>
          </p:cNvSpPr>
          <p:nvPr>
            <p:ph idx="1"/>
          </p:nvPr>
        </p:nvSpPr>
        <p:spPr>
          <a:xfrm>
            <a:off x="776178" y="857839"/>
            <a:ext cx="11293901" cy="6000161"/>
          </a:xfrm>
        </p:spPr>
        <p:txBody>
          <a:bodyPr>
            <a:normAutofit fontScale="92500" lnSpcReduction="10000"/>
          </a:bodyPr>
          <a:lstStyle/>
          <a:p>
            <a:pPr algn="just">
              <a:buFont typeface="Arial" pitchFamily="34" charset="0"/>
              <a:buChar char="•"/>
              <a:defRPr/>
            </a:pPr>
            <a:r>
              <a:rPr lang="en-GB" dirty="0"/>
              <a:t>To minimize the problem of serial processing and to improve utilization, the concept of a </a:t>
            </a:r>
          </a:p>
          <a:p>
            <a:pPr marL="0" indent="0" algn="just">
              <a:buNone/>
              <a:defRPr/>
            </a:pPr>
            <a:r>
              <a:rPr lang="en-GB" dirty="0"/>
              <a:t>       batch operating system was developed.</a:t>
            </a:r>
          </a:p>
          <a:p>
            <a:pPr algn="just">
              <a:buFont typeface="Arial" pitchFamily="34" charset="0"/>
              <a:buChar char="•"/>
              <a:defRPr/>
            </a:pPr>
            <a:r>
              <a:rPr lang="en-US" b="1" dirty="0"/>
              <a:t>Def :- </a:t>
            </a:r>
            <a:r>
              <a:rPr lang="en-US" dirty="0"/>
              <a:t>A batch system is a when a computer is programmed to batch together a number of  transactions for processing at a specific time.</a:t>
            </a:r>
            <a:endParaRPr lang="en-GB" dirty="0"/>
          </a:p>
          <a:p>
            <a:pPr algn="just">
              <a:buFont typeface="Arial" pitchFamily="34" charset="0"/>
              <a:buChar char="•"/>
              <a:defRPr/>
            </a:pPr>
            <a:r>
              <a:rPr lang="en-GB" dirty="0"/>
              <a:t> The operator batched similar jobs together and then ran in the computer to speed up the </a:t>
            </a:r>
          </a:p>
          <a:p>
            <a:pPr marL="0" indent="0" algn="just">
              <a:buNone/>
              <a:defRPr/>
            </a:pPr>
            <a:r>
              <a:rPr lang="en-GB" dirty="0"/>
              <a:t>        processing. </a:t>
            </a:r>
          </a:p>
          <a:p>
            <a:pPr algn="just">
              <a:buFont typeface="Arial" pitchFamily="34" charset="0"/>
              <a:buChar char="•"/>
              <a:defRPr/>
            </a:pPr>
            <a:r>
              <a:rPr lang="en-GB" dirty="0"/>
              <a:t>The user submits the job on cards or tape to a computer operator, who batches the jobs </a:t>
            </a:r>
          </a:p>
          <a:p>
            <a:pPr marL="0" indent="0" algn="just">
              <a:buNone/>
              <a:defRPr/>
            </a:pPr>
            <a:r>
              <a:rPr lang="en-GB" dirty="0"/>
              <a:t>        together sequentially and places the entire batch on an input device, for use by the   </a:t>
            </a:r>
          </a:p>
          <a:p>
            <a:pPr marL="0" indent="0" algn="just">
              <a:buNone/>
              <a:defRPr/>
            </a:pPr>
            <a:r>
              <a:rPr lang="en-GB" dirty="0"/>
              <a:t>         monitor.</a:t>
            </a:r>
          </a:p>
          <a:p>
            <a:pPr algn="just">
              <a:buFont typeface="Arial" pitchFamily="34" charset="0"/>
              <a:buChar char="•"/>
              <a:defRPr/>
            </a:pPr>
            <a:r>
              <a:rPr lang="en-GB" b="1" dirty="0"/>
              <a:t>What is a MONITOR?</a:t>
            </a:r>
          </a:p>
          <a:p>
            <a:pPr lvl="2" algn="just">
              <a:buFont typeface="Arial" pitchFamily="34" charset="0"/>
              <a:buChar char="•"/>
              <a:defRPr/>
            </a:pPr>
            <a:r>
              <a:rPr lang="en-US" dirty="0"/>
              <a:t>It is the batch operating system.</a:t>
            </a:r>
          </a:p>
          <a:p>
            <a:pPr lvl="2" algn="just">
              <a:buFont typeface="Arial" pitchFamily="34" charset="0"/>
              <a:buChar char="•"/>
              <a:defRPr/>
            </a:pPr>
            <a:r>
              <a:rPr lang="en-US" dirty="0"/>
              <a:t>Software that controls the sequence of events</a:t>
            </a:r>
          </a:p>
          <a:p>
            <a:pPr lvl="2" algn="just">
              <a:buFont typeface="Arial" pitchFamily="34" charset="0"/>
              <a:buChar char="•"/>
              <a:defRPr/>
            </a:pPr>
            <a:r>
              <a:rPr lang="en-US" dirty="0"/>
              <a:t>Batch jobs together</a:t>
            </a:r>
          </a:p>
          <a:p>
            <a:pPr lvl="2" algn="just">
              <a:buFont typeface="Arial" pitchFamily="34" charset="0"/>
              <a:buChar char="•"/>
              <a:defRPr/>
            </a:pPr>
            <a:r>
              <a:rPr lang="en-US" dirty="0"/>
              <a:t>Program branches back to monitor when finished</a:t>
            </a:r>
          </a:p>
          <a:p>
            <a:pPr algn="just"/>
            <a:endParaRPr lang="en-IN" dirty="0"/>
          </a:p>
        </p:txBody>
      </p:sp>
    </p:spTree>
    <p:extLst>
      <p:ext uri="{BB962C8B-B14F-4D97-AF65-F5344CB8AC3E}">
        <p14:creationId xmlns:p14="http://schemas.microsoft.com/office/powerpoint/2010/main" val="1822682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4D5B1B-B874-49C1-9DB9-EF74365C3179}"/>
              </a:ext>
            </a:extLst>
          </p:cNvPr>
          <p:cNvSpPr>
            <a:spLocks noGrp="1"/>
          </p:cNvSpPr>
          <p:nvPr>
            <p:ph idx="1"/>
          </p:nvPr>
        </p:nvSpPr>
        <p:spPr/>
        <p:txBody>
          <a:bodyPr/>
          <a:lstStyle/>
          <a:p>
            <a:pPr>
              <a:buFont typeface="Arial" pitchFamily="34" charset="0"/>
              <a:buChar char="•"/>
              <a:defRPr/>
            </a:pPr>
            <a:r>
              <a:rPr lang="en-GB" dirty="0"/>
              <a:t>With each job, instructions are included in a primitive form of </a:t>
            </a:r>
            <a:r>
              <a:rPr lang="en-GB" b="1" dirty="0"/>
              <a:t>job  control language (JCL).</a:t>
            </a:r>
          </a:p>
          <a:p>
            <a:pPr>
              <a:buFont typeface="Arial" pitchFamily="34" charset="0"/>
              <a:buChar char="•"/>
              <a:defRPr/>
            </a:pPr>
            <a:r>
              <a:rPr lang="en-GB" b="1" dirty="0"/>
              <a:t> </a:t>
            </a:r>
            <a:r>
              <a:rPr lang="en-US" dirty="0"/>
              <a:t>Special type of programming language Provides instruction to the </a:t>
            </a:r>
            <a:r>
              <a:rPr lang="en-US" b="1" dirty="0"/>
              <a:t>monitor</a:t>
            </a:r>
          </a:p>
          <a:p>
            <a:pPr lvl="1">
              <a:buFont typeface="Arial" pitchFamily="34" charset="0"/>
              <a:buChar char="•"/>
              <a:defRPr/>
            </a:pPr>
            <a:r>
              <a:rPr lang="en-US" dirty="0"/>
              <a:t>What compiler to use</a:t>
            </a:r>
          </a:p>
          <a:p>
            <a:pPr lvl="1">
              <a:buFont typeface="Arial" pitchFamily="34" charset="0"/>
              <a:buChar char="•"/>
              <a:defRPr/>
            </a:pPr>
            <a:r>
              <a:rPr lang="en-US" dirty="0"/>
              <a:t>What data to use</a:t>
            </a:r>
          </a:p>
          <a:p>
            <a:endParaRPr lang="en-IN" dirty="0"/>
          </a:p>
        </p:txBody>
      </p:sp>
      <p:sp>
        <p:nvSpPr>
          <p:cNvPr id="4" name="Title 1">
            <a:extLst>
              <a:ext uri="{FF2B5EF4-FFF2-40B4-BE49-F238E27FC236}">
                <a16:creationId xmlns:a16="http://schemas.microsoft.com/office/drawing/2014/main" id="{CC315F5F-FAF5-447D-93F3-3260CAC0774D}"/>
              </a:ext>
            </a:extLst>
          </p:cNvPr>
          <p:cNvSpPr>
            <a:spLocks noGrp="1"/>
          </p:cNvSpPr>
          <p:nvPr>
            <p:ph type="title"/>
          </p:nvPr>
        </p:nvSpPr>
        <p:spPr>
          <a:xfrm>
            <a:off x="1233379" y="44777"/>
            <a:ext cx="10012798" cy="813062"/>
          </a:xfrm>
        </p:spPr>
        <p:txBody>
          <a:bodyPr/>
          <a:lstStyle/>
          <a:p>
            <a:r>
              <a:rPr lang="en-IN" dirty="0"/>
              <a:t>2. Simple batch system</a:t>
            </a:r>
          </a:p>
        </p:txBody>
      </p:sp>
    </p:spTree>
    <p:extLst>
      <p:ext uri="{BB962C8B-B14F-4D97-AF65-F5344CB8AC3E}">
        <p14:creationId xmlns:p14="http://schemas.microsoft.com/office/powerpoint/2010/main" val="8455951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801FB-1F67-4A65-8F3F-2B6679A2DCA7}"/>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5052B5A2-19E1-4409-9875-4050F30964BA}"/>
              </a:ext>
            </a:extLst>
          </p:cNvPr>
          <p:cNvSpPr>
            <a:spLocks noGrp="1"/>
          </p:cNvSpPr>
          <p:nvPr>
            <p:ph idx="1"/>
          </p:nvPr>
        </p:nvSpPr>
        <p:spPr>
          <a:xfrm>
            <a:off x="751840" y="857840"/>
            <a:ext cx="11348720" cy="6071280"/>
          </a:xfrm>
        </p:spPr>
        <p:txBody>
          <a:bodyPr/>
          <a:lstStyle/>
          <a:p>
            <a:pPr algn="just">
              <a:buFont typeface="Arial" pitchFamily="34" charset="0"/>
              <a:buChar char="•"/>
              <a:defRPr/>
            </a:pPr>
            <a:r>
              <a:rPr lang="en-GB" sz="2000" dirty="0"/>
              <a:t>To understand how this scheme works, let us look at it from two points of view:</a:t>
            </a:r>
          </a:p>
          <a:p>
            <a:pPr algn="just">
              <a:buFont typeface="Arial" pitchFamily="34" charset="0"/>
              <a:buChar char="•"/>
              <a:defRPr/>
            </a:pPr>
            <a:r>
              <a:rPr lang="en-GB" sz="2000" b="1" dirty="0"/>
              <a:t>Monitor point of view:</a:t>
            </a:r>
          </a:p>
          <a:p>
            <a:pPr lvl="1" algn="just">
              <a:buFont typeface="Arial" pitchFamily="34" charset="0"/>
              <a:buChar char="•"/>
              <a:defRPr/>
            </a:pPr>
            <a:r>
              <a:rPr lang="en-GB" sz="2000" dirty="0"/>
              <a:t> The monitor controls the sequence of events. </a:t>
            </a:r>
          </a:p>
          <a:p>
            <a:pPr lvl="1" algn="just">
              <a:buFont typeface="Arial" pitchFamily="34" charset="0"/>
              <a:buChar char="•"/>
              <a:defRPr/>
            </a:pPr>
            <a:r>
              <a:rPr lang="en-GB" sz="2000" dirty="0"/>
              <a:t>For this much of the monitor must  always be in main memory for execution (Fig 2.3) and that portion is referred to as the </a:t>
            </a:r>
            <a:r>
              <a:rPr lang="en-GB" sz="2000" b="1" dirty="0"/>
              <a:t>resident monitor.</a:t>
            </a:r>
          </a:p>
          <a:p>
            <a:pPr lvl="1" algn="just">
              <a:buFont typeface="Arial" pitchFamily="34" charset="0"/>
              <a:buChar char="•"/>
              <a:defRPr/>
            </a:pPr>
            <a:r>
              <a:rPr lang="en-GB" sz="2000" dirty="0"/>
              <a:t>The monitor reads in jobs one at a time from the input device</a:t>
            </a:r>
          </a:p>
          <a:p>
            <a:pPr lvl="2" algn="just">
              <a:buFont typeface="Arial" pitchFamily="34" charset="0"/>
              <a:buChar char="•"/>
              <a:defRPr/>
            </a:pPr>
            <a:r>
              <a:rPr lang="en-GB" sz="2000" dirty="0"/>
              <a:t> As it is read in, the current job is placed in the user program area, and control is passed to this job. </a:t>
            </a:r>
          </a:p>
          <a:p>
            <a:pPr lvl="2" algn="just">
              <a:buFont typeface="Arial" pitchFamily="34" charset="0"/>
              <a:buChar char="•"/>
              <a:defRPr/>
            </a:pPr>
            <a:r>
              <a:rPr lang="en-GB" sz="2000" dirty="0"/>
              <a:t> When the job is completed, it returns control to the monitor, which immediately reads in the next job.</a:t>
            </a:r>
          </a:p>
          <a:p>
            <a:pPr lvl="2" algn="just">
              <a:buFont typeface="Arial" pitchFamily="34" charset="0"/>
              <a:buChar char="•"/>
              <a:defRPr/>
            </a:pPr>
            <a:r>
              <a:rPr lang="en-GB" sz="2000" dirty="0"/>
              <a:t> The results of each job are sent to an output device, such as a printer, for delivery to the user.</a:t>
            </a:r>
          </a:p>
          <a:p>
            <a:pPr algn="just"/>
            <a:endParaRPr lang="en-IN" dirty="0"/>
          </a:p>
        </p:txBody>
      </p:sp>
      <p:sp>
        <p:nvSpPr>
          <p:cNvPr id="5" name="Title 1">
            <a:extLst>
              <a:ext uri="{FF2B5EF4-FFF2-40B4-BE49-F238E27FC236}">
                <a16:creationId xmlns:a16="http://schemas.microsoft.com/office/drawing/2014/main" id="{C8249CB6-1AC3-4A78-A742-10D227223AB5}"/>
              </a:ext>
            </a:extLst>
          </p:cNvPr>
          <p:cNvSpPr txBox="1">
            <a:spLocks/>
          </p:cNvSpPr>
          <p:nvPr/>
        </p:nvSpPr>
        <p:spPr>
          <a:xfrm>
            <a:off x="1385779" y="197177"/>
            <a:ext cx="10012798" cy="813062"/>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000" kern="1200" baseline="0">
                <a:solidFill>
                  <a:schemeClr val="tx2"/>
                </a:solidFill>
                <a:latin typeface="Algerian" panose="04020705040A02060702" pitchFamily="82" charset="0"/>
                <a:ea typeface="+mj-ea"/>
                <a:cs typeface="+mj-cs"/>
              </a:defRPr>
            </a:lvl1pPr>
          </a:lstStyle>
          <a:p>
            <a:r>
              <a:rPr lang="en-IN" dirty="0"/>
              <a:t>2. Simple batch system</a:t>
            </a:r>
          </a:p>
        </p:txBody>
      </p:sp>
    </p:spTree>
    <p:extLst>
      <p:ext uri="{BB962C8B-B14F-4D97-AF65-F5344CB8AC3E}">
        <p14:creationId xmlns:p14="http://schemas.microsoft.com/office/powerpoint/2010/main" val="2316317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7FF75F-1333-4DDF-8715-59A5F2267925}"/>
              </a:ext>
            </a:extLst>
          </p:cNvPr>
          <p:cNvSpPr>
            <a:spLocks noGrp="1"/>
          </p:cNvSpPr>
          <p:nvPr>
            <p:ph idx="1"/>
          </p:nvPr>
        </p:nvSpPr>
        <p:spPr/>
        <p:txBody>
          <a:bodyPr/>
          <a:lstStyle/>
          <a:p>
            <a:endParaRPr lang="en-IN" dirty="0"/>
          </a:p>
        </p:txBody>
      </p:sp>
      <p:pic>
        <p:nvPicPr>
          <p:cNvPr id="4" name="Picture 2">
            <a:extLst>
              <a:ext uri="{FF2B5EF4-FFF2-40B4-BE49-F238E27FC236}">
                <a16:creationId xmlns:a16="http://schemas.microsoft.com/office/drawing/2014/main" id="{91DA7639-4E2D-47D2-A60A-02A48E10B3CC}"/>
              </a:ext>
            </a:extLst>
          </p:cNvPr>
          <p:cNvPicPr>
            <a:picLocks noChangeAspect="1" noChangeArrowheads="1"/>
          </p:cNvPicPr>
          <p:nvPr/>
        </p:nvPicPr>
        <p:blipFill>
          <a:blip r:embed="rId2"/>
          <a:srcRect/>
          <a:stretch>
            <a:fillRect/>
          </a:stretch>
        </p:blipFill>
        <p:spPr bwMode="auto">
          <a:xfrm>
            <a:off x="1662221" y="1010240"/>
            <a:ext cx="9144000" cy="5701646"/>
          </a:xfrm>
          <a:prstGeom prst="rect">
            <a:avLst/>
          </a:prstGeom>
          <a:ln>
            <a:noFill/>
          </a:ln>
          <a:effectLst>
            <a:outerShdw blurRad="292100" dist="139700" dir="2700000" algn="tl" rotWithShape="0">
              <a:srgbClr val="333333">
                <a:alpha val="65000"/>
              </a:srgbClr>
            </a:outerShdw>
          </a:effectLst>
        </p:spPr>
      </p:pic>
      <p:sp>
        <p:nvSpPr>
          <p:cNvPr id="5" name="Title 1">
            <a:extLst>
              <a:ext uri="{FF2B5EF4-FFF2-40B4-BE49-F238E27FC236}">
                <a16:creationId xmlns:a16="http://schemas.microsoft.com/office/drawing/2014/main" id="{531CD76B-E0A8-419A-9B8A-AD96B6596B57}"/>
              </a:ext>
            </a:extLst>
          </p:cNvPr>
          <p:cNvSpPr txBox="1">
            <a:spLocks/>
          </p:cNvSpPr>
          <p:nvPr/>
        </p:nvSpPr>
        <p:spPr>
          <a:xfrm>
            <a:off x="1385779" y="197177"/>
            <a:ext cx="10012798" cy="813062"/>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000" kern="1200" baseline="0">
                <a:solidFill>
                  <a:schemeClr val="tx2"/>
                </a:solidFill>
                <a:latin typeface="Algerian" panose="04020705040A02060702" pitchFamily="82" charset="0"/>
                <a:ea typeface="+mj-ea"/>
                <a:cs typeface="+mj-cs"/>
              </a:defRPr>
            </a:lvl1pPr>
          </a:lstStyle>
          <a:p>
            <a:r>
              <a:rPr lang="en-IN" dirty="0"/>
              <a:t>2. Simple batch system</a:t>
            </a:r>
          </a:p>
        </p:txBody>
      </p:sp>
    </p:spTree>
    <p:extLst>
      <p:ext uri="{BB962C8B-B14F-4D97-AF65-F5344CB8AC3E}">
        <p14:creationId xmlns:p14="http://schemas.microsoft.com/office/powerpoint/2010/main" val="20897274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B5646-CFF8-406D-9A20-312E4A1DE8E5}"/>
              </a:ext>
            </a:extLst>
          </p:cNvPr>
          <p:cNvSpPr>
            <a:spLocks noGrp="1"/>
          </p:cNvSpPr>
          <p:nvPr>
            <p:ph type="title"/>
          </p:nvPr>
        </p:nvSpPr>
        <p:spPr/>
        <p:txBody>
          <a:bodyPr/>
          <a:lstStyle/>
          <a:p>
            <a:r>
              <a:rPr lang="en-IN" dirty="0"/>
              <a:t>Simple batch system</a:t>
            </a:r>
          </a:p>
        </p:txBody>
      </p:sp>
      <p:sp>
        <p:nvSpPr>
          <p:cNvPr id="3" name="Content Placeholder 2">
            <a:extLst>
              <a:ext uri="{FF2B5EF4-FFF2-40B4-BE49-F238E27FC236}">
                <a16:creationId xmlns:a16="http://schemas.microsoft.com/office/drawing/2014/main" id="{2E1EA93C-FAE2-4646-BA81-8F1C2A860EFB}"/>
              </a:ext>
            </a:extLst>
          </p:cNvPr>
          <p:cNvSpPr>
            <a:spLocks noGrp="1"/>
          </p:cNvSpPr>
          <p:nvPr>
            <p:ph idx="1"/>
          </p:nvPr>
        </p:nvSpPr>
        <p:spPr>
          <a:xfrm>
            <a:off x="802640" y="1098222"/>
            <a:ext cx="11196319" cy="5085761"/>
          </a:xfrm>
        </p:spPr>
        <p:txBody>
          <a:bodyPr/>
          <a:lstStyle/>
          <a:p>
            <a:pPr algn="just">
              <a:buFont typeface="Arial" pitchFamily="34" charset="0"/>
              <a:buChar char="•"/>
              <a:defRPr/>
            </a:pPr>
            <a:r>
              <a:rPr lang="en-GB" sz="2000" b="1" dirty="0"/>
              <a:t>Processor point of view:</a:t>
            </a:r>
          </a:p>
          <a:p>
            <a:pPr lvl="1" algn="just">
              <a:buFont typeface="Arial" pitchFamily="34" charset="0"/>
              <a:buChar char="•"/>
              <a:defRPr/>
            </a:pPr>
            <a:r>
              <a:rPr lang="en-GB" sz="2000" dirty="0"/>
              <a:t> Once a job has been read in, the processor will encounter a branch instruction in the monitor that instructs the processor to continue execution at the start of the user program.</a:t>
            </a:r>
          </a:p>
          <a:p>
            <a:pPr lvl="1" algn="just">
              <a:buFont typeface="Arial" pitchFamily="34" charset="0"/>
              <a:buChar char="•"/>
              <a:defRPr/>
            </a:pPr>
            <a:r>
              <a:rPr lang="en-GB" sz="2000" dirty="0"/>
              <a:t> The processor will then execute the instructions in the user program until it encounters an ending or error condition.</a:t>
            </a:r>
          </a:p>
          <a:p>
            <a:pPr lvl="1" algn="just">
              <a:buFont typeface="Arial" pitchFamily="34" charset="0"/>
              <a:buChar char="•"/>
              <a:defRPr/>
            </a:pPr>
            <a:r>
              <a:rPr lang="en-GB" sz="2000" dirty="0"/>
              <a:t> The monitor performs a scheduling function:</a:t>
            </a:r>
          </a:p>
          <a:p>
            <a:pPr lvl="2" algn="just">
              <a:buFont typeface="Arial" pitchFamily="34" charset="0"/>
              <a:buChar char="•"/>
              <a:defRPr/>
            </a:pPr>
            <a:r>
              <a:rPr lang="en-GB" sz="2000" dirty="0"/>
              <a:t> A batch of jobs is queued up, and jobs are executed as rapidly as possible, with no intervening idle time.</a:t>
            </a:r>
          </a:p>
          <a:p>
            <a:pPr algn="just"/>
            <a:endParaRPr lang="en-IN" dirty="0"/>
          </a:p>
        </p:txBody>
      </p:sp>
    </p:spTree>
    <p:extLst>
      <p:ext uri="{BB962C8B-B14F-4D97-AF65-F5344CB8AC3E}">
        <p14:creationId xmlns:p14="http://schemas.microsoft.com/office/powerpoint/2010/main" val="25464683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460D0-621A-42A0-812A-49F96431B32B}"/>
              </a:ext>
            </a:extLst>
          </p:cNvPr>
          <p:cNvSpPr>
            <a:spLocks noGrp="1"/>
          </p:cNvSpPr>
          <p:nvPr>
            <p:ph type="title"/>
          </p:nvPr>
        </p:nvSpPr>
        <p:spPr/>
        <p:txBody>
          <a:bodyPr/>
          <a:lstStyle/>
          <a:p>
            <a:r>
              <a:rPr lang="en-IN" dirty="0"/>
              <a:t>Simple batch system</a:t>
            </a:r>
          </a:p>
        </p:txBody>
      </p:sp>
      <p:sp>
        <p:nvSpPr>
          <p:cNvPr id="3" name="Content Placeholder 2">
            <a:extLst>
              <a:ext uri="{FF2B5EF4-FFF2-40B4-BE49-F238E27FC236}">
                <a16:creationId xmlns:a16="http://schemas.microsoft.com/office/drawing/2014/main" id="{968F8751-C8BF-4C3F-BFCC-B93BB5B9BAF2}"/>
              </a:ext>
            </a:extLst>
          </p:cNvPr>
          <p:cNvSpPr>
            <a:spLocks noGrp="1"/>
          </p:cNvSpPr>
          <p:nvPr>
            <p:ph idx="1"/>
          </p:nvPr>
        </p:nvSpPr>
        <p:spPr>
          <a:xfrm>
            <a:off x="802640" y="857840"/>
            <a:ext cx="11206480" cy="5955384"/>
          </a:xfrm>
        </p:spPr>
        <p:txBody>
          <a:bodyPr>
            <a:normAutofit fontScale="92500" lnSpcReduction="10000"/>
          </a:bodyPr>
          <a:lstStyle/>
          <a:p>
            <a:pPr>
              <a:buFont typeface="Arial" pitchFamily="34" charset="0"/>
              <a:buChar char="•"/>
              <a:defRPr/>
            </a:pPr>
            <a:r>
              <a:rPr lang="en-GB" sz="2000" dirty="0"/>
              <a:t>Certain other hardware features are also desirable:</a:t>
            </a:r>
          </a:p>
          <a:p>
            <a:pPr lvl="2">
              <a:buFont typeface="Arial" pitchFamily="34" charset="0"/>
              <a:buChar char="•"/>
              <a:defRPr/>
            </a:pPr>
            <a:r>
              <a:rPr lang="en-US" sz="2000" dirty="0"/>
              <a:t>Memory protection</a:t>
            </a:r>
          </a:p>
          <a:p>
            <a:pPr lvl="3">
              <a:buFont typeface="Arial" pitchFamily="34" charset="0"/>
              <a:buChar char="•"/>
              <a:defRPr/>
            </a:pPr>
            <a:r>
              <a:rPr lang="en-US" sz="2000" dirty="0"/>
              <a:t> Do not allow the memory area containing the monitor to be altered    </a:t>
            </a:r>
          </a:p>
          <a:p>
            <a:pPr lvl="3">
              <a:defRPr/>
            </a:pPr>
            <a:r>
              <a:rPr lang="en-US" sz="2000" dirty="0"/>
              <a:t>   by the user program</a:t>
            </a:r>
          </a:p>
          <a:p>
            <a:pPr lvl="2">
              <a:buFont typeface="Arial" pitchFamily="34" charset="0"/>
              <a:buChar char="•"/>
              <a:defRPr/>
            </a:pPr>
            <a:r>
              <a:rPr lang="en-US" sz="2000" dirty="0"/>
              <a:t>Timer</a:t>
            </a:r>
          </a:p>
          <a:p>
            <a:pPr lvl="3">
              <a:buFont typeface="Arial" pitchFamily="34" charset="0"/>
              <a:buChar char="•"/>
              <a:defRPr/>
            </a:pPr>
            <a:r>
              <a:rPr lang="en-US" sz="2000" dirty="0"/>
              <a:t> Prevents a job from monopolizing the system</a:t>
            </a:r>
          </a:p>
          <a:p>
            <a:pPr lvl="3">
              <a:buFont typeface="Arial" pitchFamily="34" charset="0"/>
              <a:buChar char="•"/>
              <a:defRPr/>
            </a:pPr>
            <a:r>
              <a:rPr lang="en-GB" sz="2000" dirty="0"/>
              <a:t> The timer is set at the beginning of each job. If the timer expires, the </a:t>
            </a:r>
          </a:p>
          <a:p>
            <a:pPr lvl="3">
              <a:defRPr/>
            </a:pPr>
            <a:r>
              <a:rPr lang="en-GB" sz="2000" dirty="0"/>
              <a:t>  user program is stopped, and control returns to the monitor.</a:t>
            </a:r>
          </a:p>
          <a:p>
            <a:pPr lvl="2">
              <a:buFont typeface="Arial" pitchFamily="34" charset="0"/>
              <a:buChar char="•"/>
              <a:defRPr/>
            </a:pPr>
            <a:r>
              <a:rPr lang="en-US" sz="2000" dirty="0"/>
              <a:t>Privileged instructions</a:t>
            </a:r>
          </a:p>
          <a:p>
            <a:pPr lvl="3">
              <a:buFont typeface="Arial" pitchFamily="34" charset="0"/>
              <a:buChar char="•"/>
              <a:defRPr/>
            </a:pPr>
            <a:r>
              <a:rPr lang="en-US" sz="2000" dirty="0"/>
              <a:t> Certain machine level instructions can only be executed by the </a:t>
            </a:r>
          </a:p>
          <a:p>
            <a:pPr lvl="3">
              <a:defRPr/>
            </a:pPr>
            <a:r>
              <a:rPr lang="en-US" sz="2000" dirty="0"/>
              <a:t>  monitor otherwise </a:t>
            </a:r>
            <a:r>
              <a:rPr lang="en-GB" sz="2000" dirty="0"/>
              <a:t>an error occurs causing control to be transferred </a:t>
            </a:r>
          </a:p>
          <a:p>
            <a:pPr lvl="3">
              <a:defRPr/>
            </a:pPr>
            <a:r>
              <a:rPr lang="en-GB" sz="2000" dirty="0"/>
              <a:t>  to the monitor.</a:t>
            </a:r>
          </a:p>
          <a:p>
            <a:pPr lvl="1">
              <a:buFont typeface="Arial" pitchFamily="34" charset="0"/>
              <a:buChar char="•"/>
              <a:defRPr/>
            </a:pPr>
            <a:r>
              <a:rPr lang="en-US" sz="2000" dirty="0"/>
              <a:t>Interrupts</a:t>
            </a:r>
          </a:p>
          <a:p>
            <a:pPr lvl="3">
              <a:buFont typeface="Arial" pitchFamily="34" charset="0"/>
              <a:buChar char="•"/>
              <a:defRPr/>
            </a:pPr>
            <a:r>
              <a:rPr lang="en-US" sz="2000" dirty="0"/>
              <a:t>Early computer models did not have this capability.</a:t>
            </a:r>
          </a:p>
          <a:p>
            <a:pPr lvl="3">
              <a:buFont typeface="Arial" pitchFamily="34" charset="0"/>
              <a:buChar char="•"/>
              <a:defRPr/>
            </a:pPr>
            <a:endParaRPr lang="en-US" sz="2000" dirty="0"/>
          </a:p>
          <a:p>
            <a:pPr lvl="3">
              <a:buFont typeface="Arial" pitchFamily="34" charset="0"/>
              <a:buChar char="•"/>
              <a:defRPr/>
            </a:pPr>
            <a:r>
              <a:rPr lang="en-GB" sz="2000" dirty="0"/>
              <a:t>This feature gives the OS more flexibility in relinquishing control to and regaining control from user programs.</a:t>
            </a:r>
          </a:p>
          <a:p>
            <a:pPr lvl="3">
              <a:defRPr/>
            </a:pPr>
            <a:endParaRPr lang="en-GB" sz="2000" dirty="0"/>
          </a:p>
          <a:p>
            <a:endParaRPr lang="en-IN" dirty="0"/>
          </a:p>
        </p:txBody>
      </p:sp>
    </p:spTree>
    <p:extLst>
      <p:ext uri="{BB962C8B-B14F-4D97-AF65-F5344CB8AC3E}">
        <p14:creationId xmlns:p14="http://schemas.microsoft.com/office/powerpoint/2010/main" val="29052729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624E3-1739-4822-B8C6-01BB1EAB67DA}"/>
              </a:ext>
            </a:extLst>
          </p:cNvPr>
          <p:cNvSpPr>
            <a:spLocks noGrp="1"/>
          </p:cNvSpPr>
          <p:nvPr>
            <p:ph type="title"/>
          </p:nvPr>
        </p:nvSpPr>
        <p:spPr/>
        <p:txBody>
          <a:bodyPr/>
          <a:lstStyle/>
          <a:p>
            <a:r>
              <a:rPr lang="en-IN" dirty="0"/>
              <a:t>Simple batch system</a:t>
            </a:r>
          </a:p>
        </p:txBody>
      </p:sp>
      <p:sp>
        <p:nvSpPr>
          <p:cNvPr id="3" name="Content Placeholder 2">
            <a:extLst>
              <a:ext uri="{FF2B5EF4-FFF2-40B4-BE49-F238E27FC236}">
                <a16:creationId xmlns:a16="http://schemas.microsoft.com/office/drawing/2014/main" id="{EBD2190D-A9A5-4C63-AFBA-BC6B8EF2CD24}"/>
              </a:ext>
            </a:extLst>
          </p:cNvPr>
          <p:cNvSpPr>
            <a:spLocks noGrp="1"/>
          </p:cNvSpPr>
          <p:nvPr>
            <p:ph idx="1"/>
          </p:nvPr>
        </p:nvSpPr>
        <p:spPr>
          <a:xfrm>
            <a:off x="802640" y="1098222"/>
            <a:ext cx="11389360" cy="5759778"/>
          </a:xfrm>
        </p:spPr>
        <p:txBody>
          <a:bodyPr/>
          <a:lstStyle/>
          <a:p>
            <a:pPr>
              <a:buFont typeface="Arial" pitchFamily="34" charset="0"/>
              <a:buChar char="•"/>
              <a:defRPr/>
            </a:pPr>
            <a:r>
              <a:rPr lang="en-US" sz="2000" dirty="0"/>
              <a:t>User program executes in user mode</a:t>
            </a:r>
          </a:p>
          <a:p>
            <a:pPr lvl="1">
              <a:buFont typeface="Arial" pitchFamily="34" charset="0"/>
              <a:buChar char="•"/>
              <a:defRPr/>
            </a:pPr>
            <a:r>
              <a:rPr lang="en-US" sz="2000" dirty="0"/>
              <a:t>Certain instructions may not be executed</a:t>
            </a:r>
          </a:p>
          <a:p>
            <a:pPr>
              <a:buFont typeface="Arial" pitchFamily="34" charset="0"/>
              <a:buChar char="•"/>
              <a:defRPr/>
            </a:pPr>
            <a:r>
              <a:rPr lang="en-US" sz="2000" dirty="0"/>
              <a:t>Monitor executes in system mode</a:t>
            </a:r>
          </a:p>
          <a:p>
            <a:pPr lvl="1">
              <a:buFont typeface="Arial" pitchFamily="34" charset="0"/>
              <a:buChar char="•"/>
              <a:defRPr/>
            </a:pPr>
            <a:r>
              <a:rPr lang="en-US" sz="2000" dirty="0"/>
              <a:t>Kernel mode</a:t>
            </a:r>
          </a:p>
          <a:p>
            <a:pPr lvl="1">
              <a:buFont typeface="Arial" pitchFamily="34" charset="0"/>
              <a:buChar char="•"/>
              <a:defRPr/>
            </a:pPr>
            <a:r>
              <a:rPr lang="en-US" sz="2000" dirty="0"/>
              <a:t>Privileged instructions are executed</a:t>
            </a:r>
          </a:p>
          <a:p>
            <a:pPr lvl="1">
              <a:buFont typeface="Arial" pitchFamily="34" charset="0"/>
              <a:buChar char="•"/>
              <a:defRPr/>
            </a:pPr>
            <a:r>
              <a:rPr lang="en-US" sz="2000" dirty="0"/>
              <a:t>Protected areas of memory may be accessed</a:t>
            </a:r>
          </a:p>
          <a:p>
            <a:pPr>
              <a:buFont typeface="Arial" pitchFamily="34" charset="0"/>
              <a:buChar char="•"/>
              <a:defRPr/>
            </a:pPr>
            <a:r>
              <a:rPr lang="en-GB" sz="2000" dirty="0"/>
              <a:t> With a batch operating system, processor time alternates between execution of user programs and execution of the monitor.</a:t>
            </a:r>
          </a:p>
          <a:p>
            <a:pPr>
              <a:buFont typeface="Arial" pitchFamily="34" charset="0"/>
              <a:buChar char="•"/>
              <a:defRPr/>
            </a:pPr>
            <a:r>
              <a:rPr lang="en-GB" sz="2000" b="1" dirty="0"/>
              <a:t>There have been two sacrifices:</a:t>
            </a:r>
          </a:p>
          <a:p>
            <a:pPr lvl="1">
              <a:buFont typeface="Arial" pitchFamily="34" charset="0"/>
              <a:buChar char="•"/>
              <a:defRPr/>
            </a:pPr>
            <a:r>
              <a:rPr lang="en-GB" sz="2000" dirty="0"/>
              <a:t>Some main memory is now given over to the monitor and </a:t>
            </a:r>
          </a:p>
          <a:p>
            <a:pPr lvl="1">
              <a:buFont typeface="Arial" pitchFamily="34" charset="0"/>
              <a:buChar char="•"/>
              <a:defRPr/>
            </a:pPr>
            <a:r>
              <a:rPr lang="en-GB" sz="2000" dirty="0"/>
              <a:t>some processor time is consumed by the monitor. </a:t>
            </a:r>
          </a:p>
          <a:p>
            <a:pPr lvl="1">
              <a:buFont typeface="Arial" pitchFamily="34" charset="0"/>
              <a:buChar char="•"/>
              <a:defRPr/>
            </a:pPr>
            <a:r>
              <a:rPr lang="en-GB" sz="2000" dirty="0"/>
              <a:t>Despite this the simple batch system improves utilization of the computer.</a:t>
            </a:r>
          </a:p>
          <a:p>
            <a:endParaRPr lang="en-IN" dirty="0"/>
          </a:p>
        </p:txBody>
      </p:sp>
    </p:spTree>
    <p:extLst>
      <p:ext uri="{BB962C8B-B14F-4D97-AF65-F5344CB8AC3E}">
        <p14:creationId xmlns:p14="http://schemas.microsoft.com/office/powerpoint/2010/main" val="23485581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8152A6-1721-4420-9CD9-98EDC7A21EA1}"/>
              </a:ext>
            </a:extLst>
          </p:cNvPr>
          <p:cNvSpPr>
            <a:spLocks noGrp="1"/>
          </p:cNvSpPr>
          <p:nvPr>
            <p:ph idx="1"/>
          </p:nvPr>
        </p:nvSpPr>
        <p:spPr>
          <a:xfrm>
            <a:off x="847298" y="1"/>
            <a:ext cx="11344701" cy="1920240"/>
          </a:xfrm>
        </p:spPr>
        <p:txBody>
          <a:bodyPr/>
          <a:lstStyle/>
          <a:p>
            <a:pPr algn="just">
              <a:buFont typeface="Arial" charset="0"/>
              <a:buChar char="•"/>
              <a:defRPr/>
            </a:pPr>
            <a:r>
              <a:rPr lang="en-US" sz="2000" b="1" u="sng" dirty="0" err="1"/>
              <a:t>Uniprogramming</a:t>
            </a:r>
            <a:r>
              <a:rPr lang="en-US" sz="2000" b="1" dirty="0"/>
              <a:t>:-</a:t>
            </a:r>
          </a:p>
          <a:p>
            <a:pPr lvl="1" algn="just">
              <a:buFont typeface="Wingdings" pitchFamily="2" charset="2"/>
              <a:buChar char="Ø"/>
              <a:defRPr/>
            </a:pPr>
            <a:r>
              <a:rPr lang="en-NZ" sz="2000" dirty="0"/>
              <a:t> In a single application system, </a:t>
            </a:r>
            <a:r>
              <a:rPr lang="en-NZ" sz="2000" dirty="0" err="1"/>
              <a:t>uniprogramming</a:t>
            </a:r>
            <a:r>
              <a:rPr lang="en-NZ" sz="2000" dirty="0"/>
              <a:t>, the processor spends a certain amount of time executing, until it reaches an I/O instruction. </a:t>
            </a:r>
          </a:p>
          <a:p>
            <a:pPr lvl="1" algn="just">
              <a:buFont typeface="Wingdings" pitchFamily="2" charset="2"/>
              <a:buChar char="Ø"/>
              <a:defRPr/>
            </a:pPr>
            <a:r>
              <a:rPr lang="en-NZ" sz="2000" dirty="0"/>
              <a:t> It must then wait until that I/O instruction concludes before proceeding.</a:t>
            </a:r>
          </a:p>
          <a:p>
            <a:pPr lvl="1" algn="just">
              <a:buFont typeface="Wingdings" pitchFamily="2" charset="2"/>
              <a:buChar char="Ø"/>
              <a:defRPr/>
            </a:pPr>
            <a:r>
              <a:rPr lang="en-NZ" sz="2000" dirty="0"/>
              <a:t> This inefficiency is not necessary</a:t>
            </a:r>
            <a:endParaRPr lang="en-US" dirty="0"/>
          </a:p>
          <a:p>
            <a:pPr algn="just"/>
            <a:endParaRPr lang="en-IN" dirty="0"/>
          </a:p>
        </p:txBody>
      </p:sp>
      <p:pic>
        <p:nvPicPr>
          <p:cNvPr id="4" name="Picture 5">
            <a:extLst>
              <a:ext uri="{FF2B5EF4-FFF2-40B4-BE49-F238E27FC236}">
                <a16:creationId xmlns:a16="http://schemas.microsoft.com/office/drawing/2014/main" id="{BEB9185A-123B-4E89-B18D-84410B50C3E0}"/>
              </a:ext>
            </a:extLst>
          </p:cNvPr>
          <p:cNvPicPr>
            <a:picLocks noChangeAspect="1" noChangeArrowheads="1"/>
          </p:cNvPicPr>
          <p:nvPr/>
        </p:nvPicPr>
        <p:blipFill>
          <a:blip r:embed="rId2"/>
          <a:srcRect/>
          <a:stretch>
            <a:fillRect/>
          </a:stretch>
        </p:blipFill>
        <p:spPr bwMode="auto">
          <a:xfrm>
            <a:off x="1260158" y="2043748"/>
            <a:ext cx="9986962" cy="35004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278471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CC7D0-F23F-4D04-8C34-258EE18EB280}"/>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B2FDAA3A-10D9-4DF3-A8DA-C59BFD0BB4A3}"/>
              </a:ext>
            </a:extLst>
          </p:cNvPr>
          <p:cNvSpPr>
            <a:spLocks noGrp="1"/>
          </p:cNvSpPr>
          <p:nvPr>
            <p:ph idx="1"/>
          </p:nvPr>
        </p:nvSpPr>
        <p:spPr>
          <a:xfrm>
            <a:off x="802640" y="1098222"/>
            <a:ext cx="11196320" cy="5085761"/>
          </a:xfrm>
        </p:spPr>
        <p:txBody>
          <a:bodyPr/>
          <a:lstStyle/>
          <a:p>
            <a:pPr>
              <a:buFont typeface="Arial" pitchFamily="34" charset="0"/>
              <a:buChar char="•"/>
              <a:defRPr/>
            </a:pPr>
            <a:r>
              <a:rPr lang="en-US" sz="2000" b="1" u="sng" dirty="0"/>
              <a:t>Multiprogramming:-</a:t>
            </a:r>
          </a:p>
          <a:p>
            <a:pPr lvl="1">
              <a:buFont typeface="Arial" pitchFamily="34" charset="0"/>
              <a:buChar char="•"/>
              <a:defRPr/>
            </a:pPr>
            <a:r>
              <a:rPr lang="en-NZ" sz="2000" dirty="0"/>
              <a:t> We know that there must be enough memory to hold the OS (resident monitor) and one user program. </a:t>
            </a:r>
            <a:endParaRPr lang="en-GB" sz="2000" dirty="0"/>
          </a:p>
          <a:p>
            <a:pPr lvl="1">
              <a:buFont typeface="Arial" pitchFamily="34" charset="0"/>
              <a:buChar char="•"/>
              <a:defRPr/>
            </a:pPr>
            <a:r>
              <a:rPr lang="en-NZ" sz="2000" dirty="0"/>
              <a:t> Suppose that there is room for the OS and two user programs.</a:t>
            </a:r>
            <a:endParaRPr lang="en-GB" sz="2000" dirty="0"/>
          </a:p>
          <a:p>
            <a:pPr lvl="1">
              <a:buFont typeface="Arial" pitchFamily="34" charset="0"/>
              <a:buChar char="•"/>
              <a:defRPr/>
            </a:pPr>
            <a:r>
              <a:rPr lang="en-NZ" sz="2000" dirty="0"/>
              <a:t> When one job needs to wait for I/O, the processor can switch to the other job, which is likely not waiting for I/O (Figure 2.5b).</a:t>
            </a:r>
            <a:r>
              <a:rPr lang="en-US" sz="2000" dirty="0"/>
              <a:t> </a:t>
            </a:r>
            <a:endParaRPr lang="en-GB" sz="2000" dirty="0"/>
          </a:p>
          <a:p>
            <a:endParaRPr lang="en-IN" dirty="0"/>
          </a:p>
        </p:txBody>
      </p:sp>
      <p:pic>
        <p:nvPicPr>
          <p:cNvPr id="4" name="Picture 5">
            <a:extLst>
              <a:ext uri="{FF2B5EF4-FFF2-40B4-BE49-F238E27FC236}">
                <a16:creationId xmlns:a16="http://schemas.microsoft.com/office/drawing/2014/main" id="{1710BE18-E6A6-42AA-9783-5DEF7E16B2C9}"/>
              </a:ext>
            </a:extLst>
          </p:cNvPr>
          <p:cNvPicPr>
            <a:picLocks noChangeAspect="1" noChangeArrowheads="1"/>
          </p:cNvPicPr>
          <p:nvPr/>
        </p:nvPicPr>
        <p:blipFill>
          <a:blip r:embed="rId2"/>
          <a:srcRect/>
          <a:stretch>
            <a:fillRect/>
          </a:stretch>
        </p:blipFill>
        <p:spPr bwMode="auto">
          <a:xfrm>
            <a:off x="1524000" y="3335339"/>
            <a:ext cx="9144000" cy="3299142"/>
          </a:xfrm>
          <a:prstGeom prst="rect">
            <a:avLst/>
          </a:prstGeom>
          <a:ln>
            <a:noFill/>
          </a:ln>
          <a:effectLst>
            <a:outerShdw blurRad="292100" dist="139700" dir="2700000" algn="tl" rotWithShape="0">
              <a:srgbClr val="333333">
                <a:alpha val="65000"/>
              </a:srgbClr>
            </a:outerShdw>
          </a:effectLst>
        </p:spPr>
      </p:pic>
      <p:sp>
        <p:nvSpPr>
          <p:cNvPr id="5" name="Title 1">
            <a:extLst>
              <a:ext uri="{FF2B5EF4-FFF2-40B4-BE49-F238E27FC236}">
                <a16:creationId xmlns:a16="http://schemas.microsoft.com/office/drawing/2014/main" id="{91638EE4-EAAB-4424-9130-0F614CAE7B34}"/>
              </a:ext>
            </a:extLst>
          </p:cNvPr>
          <p:cNvSpPr txBox="1">
            <a:spLocks/>
          </p:cNvSpPr>
          <p:nvPr/>
        </p:nvSpPr>
        <p:spPr>
          <a:xfrm>
            <a:off x="1301373" y="211245"/>
            <a:ext cx="10012798" cy="813062"/>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000" kern="1200" baseline="0">
                <a:solidFill>
                  <a:schemeClr val="tx2"/>
                </a:solidFill>
                <a:latin typeface="Algerian" panose="04020705040A02060702" pitchFamily="82" charset="0"/>
                <a:ea typeface="+mj-ea"/>
                <a:cs typeface="+mj-cs"/>
              </a:defRPr>
            </a:lvl1pPr>
          </a:lstStyle>
          <a:p>
            <a:r>
              <a:rPr lang="en-IN" dirty="0" err="1"/>
              <a:t>MultiProgrammed</a:t>
            </a:r>
            <a:r>
              <a:rPr lang="en-IN" dirty="0"/>
              <a:t> batch system</a:t>
            </a:r>
          </a:p>
        </p:txBody>
      </p:sp>
    </p:spTree>
    <p:extLst>
      <p:ext uri="{BB962C8B-B14F-4D97-AF65-F5344CB8AC3E}">
        <p14:creationId xmlns:p14="http://schemas.microsoft.com/office/powerpoint/2010/main" val="39286459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40F87-7FC1-41C9-A7E2-2FAAAA85EFE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0A2C927-C5D9-428B-BB54-8359739BF928}"/>
              </a:ext>
            </a:extLst>
          </p:cNvPr>
          <p:cNvSpPr>
            <a:spLocks noGrp="1"/>
          </p:cNvSpPr>
          <p:nvPr>
            <p:ph idx="1"/>
          </p:nvPr>
        </p:nvSpPr>
        <p:spPr>
          <a:xfrm>
            <a:off x="908258" y="886119"/>
            <a:ext cx="11365021" cy="5085761"/>
          </a:xfrm>
        </p:spPr>
        <p:txBody>
          <a:bodyPr/>
          <a:lstStyle/>
          <a:p>
            <a:r>
              <a:rPr lang="en-US" b="1" dirty="0"/>
              <a:t>Multiprogramming with three programs</a:t>
            </a:r>
            <a:r>
              <a:rPr lang="en-US" dirty="0"/>
              <a:t>:-</a:t>
            </a:r>
          </a:p>
          <a:p>
            <a:r>
              <a:rPr lang="en-US" dirty="0"/>
              <a:t> Further-more, we might expand memory to hold three, four, or more programs </a:t>
            </a:r>
          </a:p>
          <a:p>
            <a:pPr marL="0" indent="0">
              <a:buNone/>
            </a:pPr>
            <a:r>
              <a:rPr lang="en-US" dirty="0"/>
              <a:t>      and switch among all of them (Figure 2.5c). </a:t>
            </a:r>
          </a:p>
          <a:p>
            <a:r>
              <a:rPr lang="en-US" dirty="0"/>
              <a:t> The approach is known as multiprogramming, or multitasking. </a:t>
            </a:r>
          </a:p>
          <a:p>
            <a:r>
              <a:rPr lang="en-US" dirty="0"/>
              <a:t> It is the central theme of modern operating systems. </a:t>
            </a:r>
          </a:p>
          <a:p>
            <a:endParaRPr lang="en-IN" dirty="0"/>
          </a:p>
        </p:txBody>
      </p:sp>
      <p:pic>
        <p:nvPicPr>
          <p:cNvPr id="4" name="Picture 3">
            <a:extLst>
              <a:ext uri="{FF2B5EF4-FFF2-40B4-BE49-F238E27FC236}">
                <a16:creationId xmlns:a16="http://schemas.microsoft.com/office/drawing/2014/main" id="{4CEB0B2C-3AF4-45AF-975D-A879C81CA44F}"/>
              </a:ext>
            </a:extLst>
          </p:cNvPr>
          <p:cNvPicPr>
            <a:picLocks noChangeAspect="1"/>
          </p:cNvPicPr>
          <p:nvPr/>
        </p:nvPicPr>
        <p:blipFill>
          <a:blip r:embed="rId2"/>
          <a:stretch>
            <a:fillRect/>
          </a:stretch>
        </p:blipFill>
        <p:spPr>
          <a:xfrm>
            <a:off x="1624162" y="3291840"/>
            <a:ext cx="7865278" cy="3495105"/>
          </a:xfrm>
          <a:prstGeom prst="rect">
            <a:avLst/>
          </a:prstGeom>
        </p:spPr>
      </p:pic>
      <p:sp>
        <p:nvSpPr>
          <p:cNvPr id="5" name="Title 1">
            <a:extLst>
              <a:ext uri="{FF2B5EF4-FFF2-40B4-BE49-F238E27FC236}">
                <a16:creationId xmlns:a16="http://schemas.microsoft.com/office/drawing/2014/main" id="{026DDD1C-0DBC-44BC-8420-536DB4A3BDD6}"/>
              </a:ext>
            </a:extLst>
          </p:cNvPr>
          <p:cNvSpPr txBox="1">
            <a:spLocks/>
          </p:cNvSpPr>
          <p:nvPr/>
        </p:nvSpPr>
        <p:spPr>
          <a:xfrm>
            <a:off x="1385779" y="197177"/>
            <a:ext cx="10012798" cy="813062"/>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000" kern="1200" baseline="0">
                <a:solidFill>
                  <a:schemeClr val="tx2"/>
                </a:solidFill>
                <a:latin typeface="Algerian" panose="04020705040A02060702" pitchFamily="82" charset="0"/>
                <a:ea typeface="+mj-ea"/>
                <a:cs typeface="+mj-cs"/>
              </a:defRPr>
            </a:lvl1pPr>
          </a:lstStyle>
          <a:p>
            <a:r>
              <a:rPr lang="en-IN" dirty="0" err="1"/>
              <a:t>MultiProgrammed</a:t>
            </a:r>
            <a:r>
              <a:rPr lang="en-IN" dirty="0"/>
              <a:t> batch system</a:t>
            </a:r>
          </a:p>
        </p:txBody>
      </p:sp>
    </p:spTree>
    <p:extLst>
      <p:ext uri="{BB962C8B-B14F-4D97-AF65-F5344CB8AC3E}">
        <p14:creationId xmlns:p14="http://schemas.microsoft.com/office/powerpoint/2010/main" val="13135502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D3EDF-C580-4B2C-B17B-8C6FF753B362}"/>
              </a:ext>
            </a:extLst>
          </p:cNvPr>
          <p:cNvSpPr>
            <a:spLocks noGrp="1"/>
          </p:cNvSpPr>
          <p:nvPr>
            <p:ph type="title"/>
          </p:nvPr>
        </p:nvSpPr>
        <p:spPr/>
        <p:txBody>
          <a:bodyPr/>
          <a:lstStyle/>
          <a:p>
            <a:r>
              <a:rPr lang="en-IN" dirty="0"/>
              <a:t>Time sharing system</a:t>
            </a:r>
          </a:p>
        </p:txBody>
      </p:sp>
      <p:sp>
        <p:nvSpPr>
          <p:cNvPr id="3" name="Content Placeholder 2">
            <a:extLst>
              <a:ext uri="{FF2B5EF4-FFF2-40B4-BE49-F238E27FC236}">
                <a16:creationId xmlns:a16="http://schemas.microsoft.com/office/drawing/2014/main" id="{24CE8D19-FDA7-4460-9DEB-36FC2EECDF76}"/>
              </a:ext>
            </a:extLst>
          </p:cNvPr>
          <p:cNvSpPr>
            <a:spLocks noGrp="1"/>
          </p:cNvSpPr>
          <p:nvPr>
            <p:ph idx="1"/>
          </p:nvPr>
        </p:nvSpPr>
        <p:spPr/>
        <p:txBody>
          <a:bodyPr/>
          <a:lstStyle/>
          <a:p>
            <a:pPr>
              <a:buFont typeface="Arial" charset="0"/>
              <a:buChar char="•"/>
              <a:defRPr/>
            </a:pPr>
            <a:r>
              <a:rPr lang="en-GB" dirty="0"/>
              <a:t>With the use of multiprogramming, batch processing can be quite efficient. </a:t>
            </a:r>
          </a:p>
          <a:p>
            <a:pPr>
              <a:buFont typeface="Arial" charset="0"/>
              <a:buChar char="•"/>
              <a:defRPr/>
            </a:pPr>
            <a:r>
              <a:rPr lang="en-GB" dirty="0"/>
              <a:t> For many jobs, it is desirable to provide a mode in which the user interacts directly       with the computer.</a:t>
            </a:r>
          </a:p>
          <a:p>
            <a:pPr>
              <a:buFont typeface="Arial" charset="0"/>
              <a:buChar char="•"/>
              <a:defRPr/>
            </a:pPr>
            <a:r>
              <a:rPr lang="en-GB" dirty="0"/>
              <a:t> Today, this requirement met by the use of a dedicated personal computer. </a:t>
            </a:r>
          </a:p>
          <a:p>
            <a:pPr>
              <a:buFont typeface="Arial" charset="0"/>
              <a:buChar char="•"/>
              <a:defRPr/>
            </a:pPr>
            <a:r>
              <a:rPr lang="en-GB" dirty="0"/>
              <a:t> That option was not available in the 1960s, when most computers were big and </a:t>
            </a:r>
          </a:p>
          <a:p>
            <a:pPr marL="0" indent="0">
              <a:buNone/>
              <a:defRPr/>
            </a:pPr>
            <a:r>
              <a:rPr lang="en-GB" dirty="0"/>
              <a:t>         costly.</a:t>
            </a:r>
          </a:p>
          <a:p>
            <a:pPr>
              <a:buFont typeface="Arial" charset="0"/>
              <a:buChar char="•"/>
              <a:defRPr/>
            </a:pPr>
            <a:r>
              <a:rPr lang="en-GB" dirty="0"/>
              <a:t> So Time sharing was developed.</a:t>
            </a:r>
          </a:p>
          <a:p>
            <a:pPr>
              <a:buFont typeface="Arial" charset="0"/>
              <a:buChar char="•"/>
              <a:defRPr/>
            </a:pPr>
            <a:r>
              <a:rPr lang="en-GB" dirty="0"/>
              <a:t> Multiprogramming can also be used to handle multiple interactive jobs.</a:t>
            </a:r>
          </a:p>
          <a:p>
            <a:pPr>
              <a:buFont typeface="Arial" charset="0"/>
              <a:buChar char="•"/>
              <a:defRPr/>
            </a:pPr>
            <a:r>
              <a:rPr lang="en-GB" dirty="0"/>
              <a:t> This technique is referred to as </a:t>
            </a:r>
            <a:r>
              <a:rPr lang="en-GB" b="1" dirty="0"/>
              <a:t>time sharing</a:t>
            </a:r>
            <a:r>
              <a:rPr lang="en-GB" dirty="0"/>
              <a:t>, because processor time is shared </a:t>
            </a:r>
          </a:p>
          <a:p>
            <a:pPr marL="0" indent="0">
              <a:buNone/>
              <a:defRPr/>
            </a:pPr>
            <a:r>
              <a:rPr lang="en-GB" dirty="0"/>
              <a:t>       among multiple users.</a:t>
            </a:r>
          </a:p>
          <a:p>
            <a:endParaRPr lang="en-IN" dirty="0"/>
          </a:p>
        </p:txBody>
      </p:sp>
    </p:spTree>
    <p:extLst>
      <p:ext uri="{BB962C8B-B14F-4D97-AF65-F5344CB8AC3E}">
        <p14:creationId xmlns:p14="http://schemas.microsoft.com/office/powerpoint/2010/main" val="26396844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74B9F-2C3B-47A7-A8BA-27DC987792C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7AE541-6860-4489-83F3-B8C6D6AF0000}"/>
              </a:ext>
            </a:extLst>
          </p:cNvPr>
          <p:cNvSpPr>
            <a:spLocks noGrp="1"/>
          </p:cNvSpPr>
          <p:nvPr>
            <p:ph idx="1"/>
          </p:nvPr>
        </p:nvSpPr>
        <p:spPr/>
        <p:txBody>
          <a:bodyPr/>
          <a:lstStyle/>
          <a:p>
            <a:endParaRPr lang="en-IN"/>
          </a:p>
        </p:txBody>
      </p:sp>
      <p:pic>
        <p:nvPicPr>
          <p:cNvPr id="4" name="Picture 7">
            <a:extLst>
              <a:ext uri="{FF2B5EF4-FFF2-40B4-BE49-F238E27FC236}">
                <a16:creationId xmlns:a16="http://schemas.microsoft.com/office/drawing/2014/main" id="{CB187581-F36C-4ED9-84C1-C35E437B8CF8}"/>
              </a:ext>
            </a:extLst>
          </p:cNvPr>
          <p:cNvPicPr>
            <a:picLocks noChangeAspect="1" noChangeArrowheads="1"/>
          </p:cNvPicPr>
          <p:nvPr/>
        </p:nvPicPr>
        <p:blipFill>
          <a:blip r:embed="rId2"/>
          <a:srcRect/>
          <a:stretch>
            <a:fillRect/>
          </a:stretch>
        </p:blipFill>
        <p:spPr bwMode="auto">
          <a:xfrm>
            <a:off x="965199" y="1098222"/>
            <a:ext cx="10866101" cy="37379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itle 1">
            <a:extLst>
              <a:ext uri="{FF2B5EF4-FFF2-40B4-BE49-F238E27FC236}">
                <a16:creationId xmlns:a16="http://schemas.microsoft.com/office/drawing/2014/main" id="{3A242ADC-12FD-4D95-97C7-F8F7769E30EE}"/>
              </a:ext>
            </a:extLst>
          </p:cNvPr>
          <p:cNvSpPr txBox="1">
            <a:spLocks/>
          </p:cNvSpPr>
          <p:nvPr/>
        </p:nvSpPr>
        <p:spPr>
          <a:xfrm>
            <a:off x="1385779" y="197177"/>
            <a:ext cx="10012798" cy="813062"/>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000" kern="1200" baseline="0">
                <a:solidFill>
                  <a:schemeClr val="tx2"/>
                </a:solidFill>
                <a:latin typeface="Algerian" panose="04020705040A02060702" pitchFamily="82" charset="0"/>
                <a:ea typeface="+mj-ea"/>
                <a:cs typeface="+mj-cs"/>
              </a:defRPr>
            </a:lvl1pPr>
          </a:lstStyle>
          <a:p>
            <a:r>
              <a:rPr lang="en-IN"/>
              <a:t>Time sharing system</a:t>
            </a:r>
            <a:endParaRPr lang="en-IN" dirty="0"/>
          </a:p>
        </p:txBody>
      </p:sp>
    </p:spTree>
    <p:extLst>
      <p:ext uri="{BB962C8B-B14F-4D97-AF65-F5344CB8AC3E}">
        <p14:creationId xmlns:p14="http://schemas.microsoft.com/office/powerpoint/2010/main" val="7236331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C92F43-6E5E-427D-9B82-A66355DE1BA3}"/>
              </a:ext>
            </a:extLst>
          </p:cNvPr>
          <p:cNvSpPr>
            <a:spLocks noGrp="1"/>
          </p:cNvSpPr>
          <p:nvPr>
            <p:ph idx="1"/>
          </p:nvPr>
        </p:nvSpPr>
        <p:spPr/>
        <p:txBody>
          <a:bodyPr/>
          <a:lstStyle/>
          <a:p>
            <a:pPr>
              <a:buFont typeface="Arial" pitchFamily="34" charset="0"/>
              <a:buChar char="•"/>
              <a:defRPr/>
            </a:pPr>
            <a:r>
              <a:rPr lang="en-US" sz="2300" dirty="0"/>
              <a:t>Programs queued for execution in FIFO order.</a:t>
            </a:r>
          </a:p>
          <a:p>
            <a:pPr>
              <a:buFont typeface="Arial" pitchFamily="34" charset="0"/>
              <a:buChar char="•"/>
              <a:defRPr/>
            </a:pPr>
            <a:r>
              <a:rPr lang="en-US" sz="2300" dirty="0"/>
              <a:t>Like multiprogramming, but timer device interrupts after a quantum (time slice).</a:t>
            </a:r>
          </a:p>
          <a:p>
            <a:pPr lvl="2">
              <a:buFont typeface="Arial" pitchFamily="34" charset="0"/>
              <a:buChar char="•"/>
              <a:defRPr/>
            </a:pPr>
            <a:r>
              <a:rPr lang="en-US" sz="2300" dirty="0"/>
              <a:t>Interrupted program is returned to end of FIFO</a:t>
            </a:r>
          </a:p>
          <a:p>
            <a:pPr lvl="2">
              <a:buFont typeface="Arial" pitchFamily="34" charset="0"/>
              <a:buChar char="•"/>
              <a:defRPr/>
            </a:pPr>
            <a:r>
              <a:rPr lang="en-US" sz="2300" dirty="0"/>
              <a:t>Next program is taken from head of FIFO</a:t>
            </a:r>
          </a:p>
          <a:p>
            <a:pPr>
              <a:buFont typeface="Arial" pitchFamily="34" charset="0"/>
              <a:buChar char="•"/>
              <a:defRPr/>
            </a:pPr>
            <a:r>
              <a:rPr lang="en-US" sz="2300" dirty="0"/>
              <a:t>Control card interpreter replaced by command language interpreter.</a:t>
            </a:r>
          </a:p>
          <a:p>
            <a:pPr>
              <a:buFont typeface="Arial" pitchFamily="34" charset="0"/>
              <a:buChar char="•"/>
              <a:defRPr/>
            </a:pPr>
            <a:r>
              <a:rPr lang="en-US" sz="2300" dirty="0"/>
              <a:t> When OS finishes execution of one command, it seeks the next control statement from user.</a:t>
            </a:r>
          </a:p>
          <a:p>
            <a:endParaRPr lang="en-IN" dirty="0"/>
          </a:p>
        </p:txBody>
      </p:sp>
      <p:sp>
        <p:nvSpPr>
          <p:cNvPr id="4" name="Title 1">
            <a:extLst>
              <a:ext uri="{FF2B5EF4-FFF2-40B4-BE49-F238E27FC236}">
                <a16:creationId xmlns:a16="http://schemas.microsoft.com/office/drawing/2014/main" id="{6AA25D49-9CEE-42DC-850C-525DE8DA867B}"/>
              </a:ext>
            </a:extLst>
          </p:cNvPr>
          <p:cNvSpPr txBox="1">
            <a:spLocks/>
          </p:cNvSpPr>
          <p:nvPr/>
        </p:nvSpPr>
        <p:spPr>
          <a:xfrm>
            <a:off x="1385779" y="197177"/>
            <a:ext cx="10012798" cy="813062"/>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000" kern="1200" baseline="0">
                <a:solidFill>
                  <a:schemeClr val="tx2"/>
                </a:solidFill>
                <a:latin typeface="Algerian" panose="04020705040A02060702" pitchFamily="82" charset="0"/>
                <a:ea typeface="+mj-ea"/>
                <a:cs typeface="+mj-cs"/>
              </a:defRPr>
            </a:lvl1pPr>
          </a:lstStyle>
          <a:p>
            <a:r>
              <a:rPr lang="en-IN"/>
              <a:t>Time sharing system</a:t>
            </a:r>
            <a:endParaRPr lang="en-IN" dirty="0"/>
          </a:p>
        </p:txBody>
      </p:sp>
    </p:spTree>
    <p:extLst>
      <p:ext uri="{BB962C8B-B14F-4D97-AF65-F5344CB8AC3E}">
        <p14:creationId xmlns:p14="http://schemas.microsoft.com/office/powerpoint/2010/main" val="37472700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FD7C8-5FEC-488D-A615-0A1DB42852DC}"/>
              </a:ext>
            </a:extLst>
          </p:cNvPr>
          <p:cNvSpPr>
            <a:spLocks noGrp="1"/>
          </p:cNvSpPr>
          <p:nvPr>
            <p:ph type="title"/>
          </p:nvPr>
        </p:nvSpPr>
        <p:spPr/>
        <p:txBody>
          <a:bodyPr>
            <a:normAutofit fontScale="90000"/>
          </a:bodyPr>
          <a:lstStyle/>
          <a:p>
            <a:r>
              <a:rPr lang="en-US" b="1" kern="0" dirty="0">
                <a:solidFill>
                  <a:schemeClr val="tx1"/>
                </a:solidFill>
                <a:latin typeface="Trebuchet MS" pitchFamily="34" charset="0"/>
              </a:rPr>
              <a:t>Example Time Sharing System</a:t>
            </a:r>
            <a:br>
              <a:rPr lang="en-US" b="1" kern="0" dirty="0">
                <a:solidFill>
                  <a:schemeClr val="tx1"/>
                </a:solidFill>
                <a:latin typeface="Trebuchet MS" pitchFamily="34" charset="0"/>
              </a:rPr>
            </a:br>
            <a:endParaRPr lang="en-IN" dirty="0">
              <a:solidFill>
                <a:schemeClr val="tx1"/>
              </a:solidFill>
            </a:endParaRPr>
          </a:p>
        </p:txBody>
      </p:sp>
      <p:sp>
        <p:nvSpPr>
          <p:cNvPr id="3" name="Content Placeholder 2">
            <a:extLst>
              <a:ext uri="{FF2B5EF4-FFF2-40B4-BE49-F238E27FC236}">
                <a16:creationId xmlns:a16="http://schemas.microsoft.com/office/drawing/2014/main" id="{75223321-AB57-4422-B7C7-F52943391A54}"/>
              </a:ext>
            </a:extLst>
          </p:cNvPr>
          <p:cNvSpPr>
            <a:spLocks noGrp="1"/>
          </p:cNvSpPr>
          <p:nvPr>
            <p:ph idx="1"/>
          </p:nvPr>
        </p:nvSpPr>
        <p:spPr/>
        <p:txBody>
          <a:bodyPr/>
          <a:lstStyle/>
          <a:p>
            <a:pPr>
              <a:defRPr/>
            </a:pPr>
            <a:r>
              <a:rPr lang="en-GB" sz="2000" dirty="0"/>
              <a:t>Early Example: CTSS</a:t>
            </a:r>
          </a:p>
          <a:p>
            <a:pPr>
              <a:defRPr/>
            </a:pPr>
            <a:r>
              <a:rPr lang="en-GB" sz="2000" dirty="0"/>
              <a:t>• Compatible Time-Sharing System (CTSS)</a:t>
            </a:r>
          </a:p>
          <a:p>
            <a:pPr lvl="1">
              <a:buFont typeface="Wingdings" pitchFamily="2" charset="2"/>
              <a:buChar char="ü"/>
              <a:defRPr/>
            </a:pPr>
            <a:r>
              <a:rPr lang="en-GB" sz="2000" dirty="0"/>
              <a:t> Developed at MIT as project MAC</a:t>
            </a:r>
          </a:p>
          <a:p>
            <a:pPr>
              <a:defRPr/>
            </a:pPr>
            <a:r>
              <a:rPr lang="en-GB" sz="2000" dirty="0"/>
              <a:t>• Time Slicing:</a:t>
            </a:r>
          </a:p>
          <a:p>
            <a:pPr>
              <a:defRPr/>
            </a:pPr>
            <a:r>
              <a:rPr lang="en-GB" sz="2000" dirty="0"/>
              <a:t>	– When control was passed to a user</a:t>
            </a:r>
          </a:p>
          <a:p>
            <a:pPr>
              <a:defRPr/>
            </a:pPr>
            <a:r>
              <a:rPr lang="en-GB" sz="2000" dirty="0"/>
              <a:t>	– User program and data loaded</a:t>
            </a:r>
          </a:p>
          <a:p>
            <a:pPr>
              <a:defRPr/>
            </a:pPr>
            <a:r>
              <a:rPr lang="en-GB" sz="2000" dirty="0"/>
              <a:t>	– Clock generates interrupts about every 0.2 sec</a:t>
            </a:r>
          </a:p>
          <a:p>
            <a:pPr>
              <a:defRPr/>
            </a:pPr>
            <a:r>
              <a:rPr lang="en-GB" sz="2000" dirty="0"/>
              <a:t>	– At each interrupt OS gained control and could assign processor to another user</a:t>
            </a:r>
          </a:p>
          <a:p>
            <a:endParaRPr lang="en-IN" dirty="0"/>
          </a:p>
        </p:txBody>
      </p:sp>
    </p:spTree>
    <p:extLst>
      <p:ext uri="{BB962C8B-B14F-4D97-AF65-F5344CB8AC3E}">
        <p14:creationId xmlns:p14="http://schemas.microsoft.com/office/powerpoint/2010/main" val="18443001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6210E-341C-448A-8C84-6BE7DEC26D7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9EF25DF-D109-40A2-AB1A-032E5D1B6AB3}"/>
              </a:ext>
            </a:extLst>
          </p:cNvPr>
          <p:cNvSpPr>
            <a:spLocks noGrp="1"/>
          </p:cNvSpPr>
          <p:nvPr>
            <p:ph idx="1"/>
          </p:nvPr>
        </p:nvSpPr>
        <p:spPr/>
        <p:txBody>
          <a:bodyPr/>
          <a:lstStyle/>
          <a:p>
            <a:endParaRPr lang="en-IN"/>
          </a:p>
        </p:txBody>
      </p:sp>
      <p:pic>
        <p:nvPicPr>
          <p:cNvPr id="4" name="Picture 2">
            <a:extLst>
              <a:ext uri="{FF2B5EF4-FFF2-40B4-BE49-F238E27FC236}">
                <a16:creationId xmlns:a16="http://schemas.microsoft.com/office/drawing/2014/main" id="{673097D8-2022-41F6-9630-7A8F1DC8A69D}"/>
              </a:ext>
            </a:extLst>
          </p:cNvPr>
          <p:cNvPicPr>
            <a:picLocks noChangeAspect="1" noChangeArrowheads="1"/>
          </p:cNvPicPr>
          <p:nvPr/>
        </p:nvPicPr>
        <p:blipFill>
          <a:blip r:embed="rId2"/>
          <a:srcRect/>
          <a:stretch>
            <a:fillRect/>
          </a:stretch>
        </p:blipFill>
        <p:spPr bwMode="auto">
          <a:xfrm>
            <a:off x="668537" y="451308"/>
            <a:ext cx="11142482" cy="63579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42360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9C19BC-64C8-4A33-B4CB-EBFC1551A165}"/>
              </a:ext>
            </a:extLst>
          </p:cNvPr>
          <p:cNvSpPr>
            <a:spLocks noGrp="1"/>
          </p:cNvSpPr>
          <p:nvPr>
            <p:ph idx="1"/>
          </p:nvPr>
        </p:nvSpPr>
        <p:spPr>
          <a:xfrm>
            <a:off x="728692" y="0"/>
            <a:ext cx="11280428" cy="6685280"/>
          </a:xfrm>
        </p:spPr>
        <p:txBody>
          <a:bodyPr>
            <a:normAutofit fontScale="92500" lnSpcReduction="20000"/>
          </a:bodyPr>
          <a:lstStyle/>
          <a:p>
            <a:pPr>
              <a:defRPr/>
            </a:pPr>
            <a:r>
              <a:rPr lang="en-US" dirty="0"/>
              <a:t>Assume that there are four interactive users with the following memory requirements, in words:</a:t>
            </a:r>
          </a:p>
          <a:p>
            <a:pPr>
              <a:defRPr/>
            </a:pPr>
            <a:r>
              <a:rPr lang="en-US" dirty="0"/>
              <a:t>• JOB1: 15,000        • JOB2: 20,000</a:t>
            </a:r>
          </a:p>
          <a:p>
            <a:pPr>
              <a:defRPr/>
            </a:pPr>
            <a:r>
              <a:rPr lang="en-US" dirty="0"/>
              <a:t>• JOB3: 5000            • JOB4: 10,000</a:t>
            </a:r>
          </a:p>
          <a:p>
            <a:pPr>
              <a:defRPr/>
            </a:pPr>
            <a:endParaRPr lang="en-US" dirty="0"/>
          </a:p>
          <a:p>
            <a:pPr>
              <a:buFont typeface="Arial" pitchFamily="34" charset="0"/>
              <a:buChar char="•"/>
              <a:defRPr/>
            </a:pPr>
            <a:r>
              <a:rPr lang="en-US" dirty="0"/>
              <a:t> The monitor loads JOB1 and transfers control to it </a:t>
            </a:r>
            <a:r>
              <a:rPr lang="en-US" b="1" dirty="0"/>
              <a:t>(a)</a:t>
            </a:r>
            <a:r>
              <a:rPr lang="en-US" dirty="0"/>
              <a:t>. </a:t>
            </a:r>
          </a:p>
          <a:p>
            <a:pPr>
              <a:buFont typeface="Arial" pitchFamily="34" charset="0"/>
              <a:buChar char="•"/>
              <a:defRPr/>
            </a:pPr>
            <a:r>
              <a:rPr lang="en-US" dirty="0"/>
              <a:t> Later, the monitor decides to transfer control to JOB2 as it requires more memory than JOB1. JOB1 must be written out first, and then JOB2 can be loaded </a:t>
            </a:r>
            <a:r>
              <a:rPr lang="en-US" b="1" dirty="0"/>
              <a:t>(b).</a:t>
            </a:r>
          </a:p>
          <a:p>
            <a:pPr>
              <a:buFont typeface="Arial" pitchFamily="34" charset="0"/>
              <a:buChar char="•"/>
              <a:defRPr/>
            </a:pPr>
            <a:r>
              <a:rPr lang="en-US" dirty="0"/>
              <a:t> Next, JOB3 is loaded in to be run. Because JOB3 is smaller than JOB2, a portion of</a:t>
            </a:r>
          </a:p>
          <a:p>
            <a:pPr>
              <a:defRPr/>
            </a:pPr>
            <a:r>
              <a:rPr lang="en-US" dirty="0"/>
              <a:t>  JOB2 can remain in memory, reducing disk write time </a:t>
            </a:r>
            <a:r>
              <a:rPr lang="en-US" b="1" dirty="0"/>
              <a:t>(c)</a:t>
            </a:r>
            <a:r>
              <a:rPr lang="en-US" dirty="0"/>
              <a:t>.</a:t>
            </a:r>
          </a:p>
          <a:p>
            <a:pPr>
              <a:buFont typeface="Arial" pitchFamily="34" charset="0"/>
              <a:buChar char="•"/>
              <a:defRPr/>
            </a:pPr>
            <a:r>
              <a:rPr lang="en-US" dirty="0"/>
              <a:t> Later, the monitor decides to transfer control back to JOB1.An additional portion of JOB2 must be written out when JOB1 is loaded back into memory </a:t>
            </a:r>
            <a:r>
              <a:rPr lang="en-US" b="1" dirty="0"/>
              <a:t>(d)</a:t>
            </a:r>
            <a:r>
              <a:rPr lang="en-US" dirty="0"/>
              <a:t>.</a:t>
            </a:r>
          </a:p>
          <a:p>
            <a:pPr>
              <a:buFont typeface="Arial" pitchFamily="34" charset="0"/>
              <a:buChar char="•"/>
              <a:defRPr/>
            </a:pPr>
            <a:r>
              <a:rPr lang="en-US" dirty="0"/>
              <a:t> When JOB4 is loaded, part of JOB1 and the portion of JOB2 remaining in memory are retained </a:t>
            </a:r>
            <a:r>
              <a:rPr lang="en-US" b="1" dirty="0"/>
              <a:t>(e)</a:t>
            </a:r>
            <a:r>
              <a:rPr lang="en-US" dirty="0"/>
              <a:t>.</a:t>
            </a:r>
          </a:p>
          <a:p>
            <a:pPr>
              <a:buFont typeface="Arial" pitchFamily="34" charset="0"/>
              <a:buChar char="•"/>
              <a:defRPr/>
            </a:pPr>
            <a:r>
              <a:rPr lang="en-US" dirty="0"/>
              <a:t> At this point, if eitherJOB1 or JOB2 is activated, only a partial load will be required. </a:t>
            </a:r>
          </a:p>
          <a:p>
            <a:pPr>
              <a:buFont typeface="Arial" pitchFamily="34" charset="0"/>
              <a:buChar char="•"/>
              <a:defRPr/>
            </a:pPr>
            <a:r>
              <a:rPr lang="en-US" dirty="0"/>
              <a:t>In this example, it is JOB2 that runs next. </a:t>
            </a:r>
          </a:p>
          <a:p>
            <a:pPr>
              <a:buFont typeface="Arial" pitchFamily="34" charset="0"/>
              <a:buChar char="•"/>
              <a:defRPr/>
            </a:pPr>
            <a:r>
              <a:rPr lang="en-US" dirty="0"/>
              <a:t>This requires that JOB4 and the remaining resident portion of JOB1 be written out and that the missing portion of JOB2 be read in (f).</a:t>
            </a:r>
          </a:p>
          <a:p>
            <a:endParaRPr lang="en-IN" dirty="0"/>
          </a:p>
        </p:txBody>
      </p:sp>
    </p:spTree>
    <p:extLst>
      <p:ext uri="{BB962C8B-B14F-4D97-AF65-F5344CB8AC3E}">
        <p14:creationId xmlns:p14="http://schemas.microsoft.com/office/powerpoint/2010/main" val="24242171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67F7B-610B-48C9-A7AE-B8F63D952E1B}"/>
              </a:ext>
            </a:extLst>
          </p:cNvPr>
          <p:cNvSpPr>
            <a:spLocks noGrp="1"/>
          </p:cNvSpPr>
          <p:nvPr>
            <p:ph type="title"/>
          </p:nvPr>
        </p:nvSpPr>
        <p:spPr/>
        <p:txBody>
          <a:bodyPr/>
          <a:lstStyle/>
          <a:p>
            <a:r>
              <a:rPr lang="en-IN" dirty="0"/>
              <a:t>Time sharing system</a:t>
            </a:r>
          </a:p>
        </p:txBody>
      </p:sp>
      <p:sp>
        <p:nvSpPr>
          <p:cNvPr id="3" name="Content Placeholder 2">
            <a:extLst>
              <a:ext uri="{FF2B5EF4-FFF2-40B4-BE49-F238E27FC236}">
                <a16:creationId xmlns:a16="http://schemas.microsoft.com/office/drawing/2014/main" id="{9B3FA617-4112-4DF4-887A-123D7AD1C253}"/>
              </a:ext>
            </a:extLst>
          </p:cNvPr>
          <p:cNvSpPr>
            <a:spLocks noGrp="1"/>
          </p:cNvSpPr>
          <p:nvPr>
            <p:ph idx="1"/>
          </p:nvPr>
        </p:nvSpPr>
        <p:spPr/>
        <p:txBody>
          <a:bodyPr/>
          <a:lstStyle/>
          <a:p>
            <a:pPr>
              <a:buFont typeface="Arial" pitchFamily="34" charset="0"/>
              <a:buChar char="•"/>
              <a:defRPr/>
            </a:pPr>
            <a:r>
              <a:rPr lang="en-GB" sz="2200" dirty="0"/>
              <a:t>Problems and Issues</a:t>
            </a:r>
          </a:p>
          <a:p>
            <a:pPr lvl="1">
              <a:buFont typeface="Arial" pitchFamily="34" charset="0"/>
              <a:buChar char="•"/>
              <a:defRPr/>
            </a:pPr>
            <a:r>
              <a:rPr lang="en-GB" sz="2200" dirty="0"/>
              <a:t> Multiple jobs in memory must be protected from each other’s data</a:t>
            </a:r>
          </a:p>
          <a:p>
            <a:pPr lvl="1">
              <a:buFont typeface="Arial" pitchFamily="34" charset="0"/>
              <a:buChar char="•"/>
              <a:defRPr/>
            </a:pPr>
            <a:r>
              <a:rPr lang="en-GB" sz="2200" dirty="0"/>
              <a:t> File system must be protected so that only authorised users can </a:t>
            </a:r>
          </a:p>
          <a:p>
            <a:pPr lvl="1">
              <a:defRPr/>
            </a:pPr>
            <a:r>
              <a:rPr lang="en-GB" sz="2200" dirty="0"/>
              <a:t>  access</a:t>
            </a:r>
          </a:p>
          <a:p>
            <a:pPr lvl="1">
              <a:buFont typeface="Arial" pitchFamily="34" charset="0"/>
              <a:buChar char="•"/>
              <a:defRPr/>
            </a:pPr>
            <a:r>
              <a:rPr lang="en-GB" sz="2200" dirty="0"/>
              <a:t> Contention for resources must be handled</a:t>
            </a:r>
          </a:p>
          <a:p>
            <a:pPr lvl="2">
              <a:buFont typeface="Arial" pitchFamily="34" charset="0"/>
              <a:buChar char="•"/>
              <a:defRPr/>
            </a:pPr>
            <a:r>
              <a:rPr lang="en-GB" sz="2200" dirty="0"/>
              <a:t>Printers, storage etc</a:t>
            </a:r>
          </a:p>
          <a:p>
            <a:endParaRPr lang="en-IN" dirty="0"/>
          </a:p>
        </p:txBody>
      </p:sp>
    </p:spTree>
    <p:extLst>
      <p:ext uri="{BB962C8B-B14F-4D97-AF65-F5344CB8AC3E}">
        <p14:creationId xmlns:p14="http://schemas.microsoft.com/office/powerpoint/2010/main" val="27055848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620CD-C383-4982-A942-AE9DD0CC1C27}"/>
              </a:ext>
            </a:extLst>
          </p:cNvPr>
          <p:cNvSpPr>
            <a:spLocks noGrp="1"/>
          </p:cNvSpPr>
          <p:nvPr>
            <p:ph type="title"/>
          </p:nvPr>
        </p:nvSpPr>
        <p:spPr/>
        <p:txBody>
          <a:bodyPr/>
          <a:lstStyle/>
          <a:p>
            <a:r>
              <a:rPr lang="en-IN" dirty="0"/>
              <a:t>Roadmap</a:t>
            </a:r>
          </a:p>
        </p:txBody>
      </p:sp>
      <p:sp>
        <p:nvSpPr>
          <p:cNvPr id="3" name="Content Placeholder 2">
            <a:extLst>
              <a:ext uri="{FF2B5EF4-FFF2-40B4-BE49-F238E27FC236}">
                <a16:creationId xmlns:a16="http://schemas.microsoft.com/office/drawing/2014/main" id="{452FDECA-F182-44D4-A074-5C9656D9221F}"/>
              </a:ext>
            </a:extLst>
          </p:cNvPr>
          <p:cNvSpPr>
            <a:spLocks noGrp="1"/>
          </p:cNvSpPr>
          <p:nvPr>
            <p:ph idx="1"/>
          </p:nvPr>
        </p:nvSpPr>
        <p:spPr/>
        <p:txBody>
          <a:bodyPr>
            <a:normAutofit/>
          </a:bodyPr>
          <a:lstStyle/>
          <a:p>
            <a:endParaRPr lang="en-IN" dirty="0"/>
          </a:p>
          <a:p>
            <a:r>
              <a:rPr lang="en-US" dirty="0"/>
              <a:t>Introduction to Operating system, </a:t>
            </a:r>
          </a:p>
          <a:p>
            <a:r>
              <a:rPr lang="en-US" dirty="0"/>
              <a:t>Operating System Objectives and functions, </a:t>
            </a:r>
          </a:p>
          <a:p>
            <a:r>
              <a:rPr lang="en-US" dirty="0"/>
              <a:t>Evolution Of Operating System</a:t>
            </a:r>
          </a:p>
          <a:p>
            <a:r>
              <a:rPr lang="en-US" b="1" dirty="0"/>
              <a:t>Major achievements</a:t>
            </a:r>
          </a:p>
          <a:p>
            <a:pPr marL="0" indent="0">
              <a:buNone/>
            </a:pPr>
            <a:endParaRPr lang="en-US" dirty="0"/>
          </a:p>
          <a:p>
            <a:pPr marL="0" indent="0">
              <a:buNone/>
            </a:pPr>
            <a:r>
              <a:rPr lang="en-US" dirty="0"/>
              <a:t>	</a:t>
            </a:r>
          </a:p>
          <a:p>
            <a:endParaRPr lang="en-IN" dirty="0"/>
          </a:p>
        </p:txBody>
      </p:sp>
    </p:spTree>
    <p:extLst>
      <p:ext uri="{BB962C8B-B14F-4D97-AF65-F5344CB8AC3E}">
        <p14:creationId xmlns:p14="http://schemas.microsoft.com/office/powerpoint/2010/main" val="31822078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4A597-C312-4855-8BD0-58CC242D47E4}"/>
              </a:ext>
            </a:extLst>
          </p:cNvPr>
          <p:cNvSpPr>
            <a:spLocks noGrp="1"/>
          </p:cNvSpPr>
          <p:nvPr>
            <p:ph type="title"/>
          </p:nvPr>
        </p:nvSpPr>
        <p:spPr/>
        <p:txBody>
          <a:bodyPr/>
          <a:lstStyle/>
          <a:p>
            <a:r>
              <a:rPr lang="en-IN" dirty="0"/>
              <a:t>Major achievement</a:t>
            </a:r>
          </a:p>
        </p:txBody>
      </p:sp>
      <p:sp>
        <p:nvSpPr>
          <p:cNvPr id="3" name="Content Placeholder 2">
            <a:extLst>
              <a:ext uri="{FF2B5EF4-FFF2-40B4-BE49-F238E27FC236}">
                <a16:creationId xmlns:a16="http://schemas.microsoft.com/office/drawing/2014/main" id="{587665B7-5B9E-40A0-A8CA-69910C2DF088}"/>
              </a:ext>
            </a:extLst>
          </p:cNvPr>
          <p:cNvSpPr>
            <a:spLocks noGrp="1"/>
          </p:cNvSpPr>
          <p:nvPr>
            <p:ph idx="1"/>
          </p:nvPr>
        </p:nvSpPr>
        <p:spPr/>
        <p:txBody>
          <a:bodyPr/>
          <a:lstStyle/>
          <a:p>
            <a:pPr>
              <a:buFont typeface="Arial" pitchFamily="34" charset="0"/>
              <a:buChar char="•"/>
              <a:defRPr/>
            </a:pPr>
            <a:r>
              <a:rPr lang="en-GB" sz="2200" dirty="0"/>
              <a:t>Operating Systems are among the most complex pieces of software ever developed.</a:t>
            </a:r>
          </a:p>
          <a:p>
            <a:pPr>
              <a:buFont typeface="Arial" pitchFamily="34" charset="0"/>
              <a:buChar char="•"/>
              <a:defRPr/>
            </a:pPr>
            <a:r>
              <a:rPr lang="en-GB" sz="2200" dirty="0"/>
              <a:t>Major Advances include	</a:t>
            </a:r>
          </a:p>
          <a:p>
            <a:pPr marL="530352" lvl="1" indent="0">
              <a:buNone/>
              <a:defRPr/>
            </a:pPr>
            <a:r>
              <a:rPr lang="en-GB" sz="2200" dirty="0"/>
              <a:t>I. Processes</a:t>
            </a:r>
          </a:p>
          <a:p>
            <a:pPr marL="530352" lvl="1" indent="0">
              <a:buNone/>
              <a:defRPr/>
            </a:pPr>
            <a:r>
              <a:rPr lang="en-GB" sz="2200" dirty="0"/>
              <a:t>II. Memory management</a:t>
            </a:r>
          </a:p>
          <a:p>
            <a:pPr marL="530352" lvl="1" indent="0">
              <a:buNone/>
              <a:defRPr/>
            </a:pPr>
            <a:r>
              <a:rPr lang="en-GB" sz="2200" dirty="0"/>
              <a:t>III. Information protection and security</a:t>
            </a:r>
          </a:p>
          <a:p>
            <a:pPr marL="530352" lvl="1" indent="0">
              <a:buNone/>
              <a:defRPr/>
            </a:pPr>
            <a:r>
              <a:rPr lang="en-GB" sz="2200" dirty="0"/>
              <a:t>IV. Scheduling and resource management</a:t>
            </a:r>
          </a:p>
          <a:p>
            <a:pPr marL="530352" lvl="1" indent="0">
              <a:buNone/>
              <a:defRPr/>
            </a:pPr>
            <a:r>
              <a:rPr lang="en-GB" sz="2200" dirty="0"/>
              <a:t>V.  System structure</a:t>
            </a:r>
          </a:p>
          <a:p>
            <a:pPr marL="0" indent="0">
              <a:buNone/>
            </a:pPr>
            <a:r>
              <a:rPr lang="en-IN" b="1" dirty="0"/>
              <a:t>I. Process:</a:t>
            </a:r>
          </a:p>
          <a:p>
            <a:pPr>
              <a:defRPr/>
            </a:pPr>
            <a:r>
              <a:rPr lang="en-GB" sz="2200" dirty="0"/>
              <a:t>Fundamental to the structure of OS IS  A PROCESS.. </a:t>
            </a:r>
          </a:p>
          <a:p>
            <a:pPr lvl="1">
              <a:buFont typeface="Wingdings" pitchFamily="2" charset="2"/>
              <a:buChar char="ü"/>
              <a:defRPr/>
            </a:pPr>
            <a:r>
              <a:rPr lang="en-GB" sz="2200" dirty="0"/>
              <a:t>A program in execution</a:t>
            </a:r>
          </a:p>
          <a:p>
            <a:pPr lvl="1">
              <a:buFont typeface="Wingdings" pitchFamily="2" charset="2"/>
              <a:buChar char="ü"/>
              <a:defRPr/>
            </a:pPr>
            <a:r>
              <a:rPr lang="en-GB" sz="2200" dirty="0"/>
              <a:t>An instance of a program running on a computer</a:t>
            </a:r>
          </a:p>
          <a:p>
            <a:pPr lvl="1">
              <a:buFont typeface="Wingdings" pitchFamily="2" charset="2"/>
              <a:buChar char="ü"/>
              <a:defRPr/>
            </a:pPr>
            <a:r>
              <a:rPr lang="en-GB" sz="2200" dirty="0"/>
              <a:t>A single sequential thread of execution</a:t>
            </a:r>
          </a:p>
          <a:p>
            <a:pPr marL="457200" indent="-457200">
              <a:buAutoNum type="arabicPeriod"/>
            </a:pPr>
            <a:endParaRPr lang="en-IN" b="1" dirty="0"/>
          </a:p>
        </p:txBody>
      </p:sp>
    </p:spTree>
    <p:extLst>
      <p:ext uri="{BB962C8B-B14F-4D97-AF65-F5344CB8AC3E}">
        <p14:creationId xmlns:p14="http://schemas.microsoft.com/office/powerpoint/2010/main" val="29102593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91DC8-7385-4E07-833D-A02C3C31571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C38FE9D-1FED-4E43-87DB-D9E633DA5920}"/>
              </a:ext>
            </a:extLst>
          </p:cNvPr>
          <p:cNvSpPr>
            <a:spLocks noGrp="1"/>
          </p:cNvSpPr>
          <p:nvPr>
            <p:ph idx="1"/>
          </p:nvPr>
        </p:nvSpPr>
        <p:spPr/>
        <p:txBody>
          <a:bodyPr>
            <a:normAutofit fontScale="92500" lnSpcReduction="10000"/>
          </a:bodyPr>
          <a:lstStyle/>
          <a:p>
            <a:pPr>
              <a:buFont typeface="Arial" pitchFamily="34" charset="0"/>
              <a:buChar char="•"/>
              <a:defRPr/>
            </a:pPr>
            <a:r>
              <a:rPr lang="en-GB" sz="2100" dirty="0"/>
              <a:t>Causes of Errors when Designing System Software</a:t>
            </a:r>
          </a:p>
          <a:p>
            <a:pPr lvl="1">
              <a:buFont typeface="Wingdings" pitchFamily="2" charset="2"/>
              <a:buChar char="ü"/>
              <a:defRPr/>
            </a:pPr>
            <a:r>
              <a:rPr lang="en-GB" sz="2100" dirty="0"/>
              <a:t>Error in designing an OS are often subtle and difficult to diagnose</a:t>
            </a:r>
          </a:p>
          <a:p>
            <a:pPr lvl="1">
              <a:buFont typeface="Wingdings" pitchFamily="2" charset="2"/>
              <a:buChar char="ü"/>
              <a:defRPr/>
            </a:pPr>
            <a:endParaRPr lang="en-GB" sz="2100" dirty="0"/>
          </a:p>
          <a:p>
            <a:pPr>
              <a:buFont typeface="Arial" pitchFamily="34" charset="0"/>
              <a:buChar char="•"/>
              <a:defRPr/>
            </a:pPr>
            <a:r>
              <a:rPr lang="en-GB" sz="2100" dirty="0"/>
              <a:t>Errors typically include:</a:t>
            </a:r>
          </a:p>
          <a:p>
            <a:pPr lvl="1">
              <a:buFont typeface="Wingdings" pitchFamily="2" charset="2"/>
              <a:buChar char="ü"/>
              <a:defRPr/>
            </a:pPr>
            <a:r>
              <a:rPr lang="en-GB" sz="2100" dirty="0"/>
              <a:t>Improper synchronization</a:t>
            </a:r>
          </a:p>
          <a:p>
            <a:pPr lvl="1">
              <a:buFont typeface="Wingdings" pitchFamily="2" charset="2"/>
              <a:buChar char="ü"/>
              <a:defRPr/>
            </a:pPr>
            <a:r>
              <a:rPr lang="en-GB" sz="2100" dirty="0"/>
              <a:t> Failed mutual exclusion</a:t>
            </a:r>
          </a:p>
          <a:p>
            <a:pPr lvl="1">
              <a:buFont typeface="Wingdings" pitchFamily="2" charset="2"/>
              <a:buChar char="ü"/>
              <a:defRPr/>
            </a:pPr>
            <a:r>
              <a:rPr lang="en-GB" sz="2100" dirty="0"/>
              <a:t>Non-determinate program operation</a:t>
            </a:r>
          </a:p>
          <a:p>
            <a:pPr lvl="1">
              <a:buFont typeface="Wingdings" pitchFamily="2" charset="2"/>
              <a:buChar char="ü"/>
              <a:defRPr/>
            </a:pPr>
            <a:r>
              <a:rPr lang="en-GB" sz="2100" dirty="0"/>
              <a:t> Deadlocks</a:t>
            </a:r>
          </a:p>
          <a:p>
            <a:pPr marL="342900" indent="-342900">
              <a:spcBef>
                <a:spcPct val="20000"/>
              </a:spcBef>
              <a:buFontTx/>
              <a:buChar char="•"/>
              <a:defRPr/>
            </a:pPr>
            <a:r>
              <a:rPr lang="en-US" b="1" kern="0" dirty="0">
                <a:solidFill>
                  <a:schemeClr val="tx1"/>
                </a:solidFill>
              </a:rPr>
              <a:t>Components of a Process :-</a:t>
            </a:r>
            <a:endParaRPr lang="en-GB" kern="0" dirty="0">
              <a:solidFill>
                <a:schemeClr val="tx1"/>
              </a:solidFill>
            </a:endParaRPr>
          </a:p>
          <a:p>
            <a:pPr marL="342900" indent="-342900">
              <a:spcBef>
                <a:spcPct val="20000"/>
              </a:spcBef>
              <a:buFontTx/>
              <a:buChar char="•"/>
              <a:defRPr/>
            </a:pPr>
            <a:r>
              <a:rPr lang="en-GB" kern="0" dirty="0">
                <a:solidFill>
                  <a:schemeClr val="tx1"/>
                </a:solidFill>
              </a:rPr>
              <a:t>A process consists of</a:t>
            </a:r>
          </a:p>
          <a:p>
            <a:pPr marL="342900" indent="-342900">
              <a:spcBef>
                <a:spcPct val="20000"/>
              </a:spcBef>
              <a:defRPr/>
            </a:pPr>
            <a:r>
              <a:rPr lang="en-GB" kern="0" dirty="0">
                <a:solidFill>
                  <a:schemeClr val="tx1"/>
                </a:solidFill>
              </a:rPr>
              <a:t>	– An executable program</a:t>
            </a:r>
          </a:p>
          <a:p>
            <a:pPr marL="342900" indent="-342900">
              <a:spcBef>
                <a:spcPct val="20000"/>
              </a:spcBef>
              <a:defRPr/>
            </a:pPr>
            <a:r>
              <a:rPr lang="en-GB" kern="0" dirty="0">
                <a:solidFill>
                  <a:schemeClr val="tx1"/>
                </a:solidFill>
              </a:rPr>
              <a:t>	– Associated data needed by the program</a:t>
            </a:r>
          </a:p>
          <a:p>
            <a:pPr marL="342900" indent="-342900">
              <a:spcBef>
                <a:spcPct val="20000"/>
              </a:spcBef>
              <a:defRPr/>
            </a:pPr>
            <a:r>
              <a:rPr lang="en-GB" kern="0" dirty="0">
                <a:solidFill>
                  <a:schemeClr val="tx1"/>
                </a:solidFill>
              </a:rPr>
              <a:t>	– Execution context of the program (or “process state”)</a:t>
            </a:r>
          </a:p>
          <a:p>
            <a:pPr marL="342900" indent="-342900">
              <a:spcBef>
                <a:spcPct val="20000"/>
              </a:spcBef>
              <a:buFontTx/>
              <a:buChar char="•"/>
              <a:defRPr/>
            </a:pPr>
            <a:r>
              <a:rPr lang="en-GB" kern="0" dirty="0">
                <a:solidFill>
                  <a:schemeClr val="tx1"/>
                </a:solidFill>
              </a:rPr>
              <a:t>The execution context contains all information the operating system needs to manage the process</a:t>
            </a:r>
          </a:p>
          <a:p>
            <a:endParaRPr lang="en-IN" dirty="0"/>
          </a:p>
        </p:txBody>
      </p:sp>
    </p:spTree>
    <p:extLst>
      <p:ext uri="{BB962C8B-B14F-4D97-AF65-F5344CB8AC3E}">
        <p14:creationId xmlns:p14="http://schemas.microsoft.com/office/powerpoint/2010/main" val="2023927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07A9E-156A-4230-B5CE-854D856F3791}"/>
              </a:ext>
            </a:extLst>
          </p:cNvPr>
          <p:cNvSpPr>
            <a:spLocks noGrp="1"/>
          </p:cNvSpPr>
          <p:nvPr>
            <p:ph type="title"/>
          </p:nvPr>
        </p:nvSpPr>
        <p:spPr/>
        <p:txBody>
          <a:bodyPr/>
          <a:lstStyle/>
          <a:p>
            <a:r>
              <a:rPr lang="en-IN" dirty="0"/>
              <a:t>Process management</a:t>
            </a:r>
          </a:p>
        </p:txBody>
      </p:sp>
      <p:sp>
        <p:nvSpPr>
          <p:cNvPr id="3" name="Content Placeholder 2">
            <a:extLst>
              <a:ext uri="{FF2B5EF4-FFF2-40B4-BE49-F238E27FC236}">
                <a16:creationId xmlns:a16="http://schemas.microsoft.com/office/drawing/2014/main" id="{B207646A-4EDD-404F-8182-37FE8CB8908B}"/>
              </a:ext>
            </a:extLst>
          </p:cNvPr>
          <p:cNvSpPr>
            <a:spLocks noGrp="1"/>
          </p:cNvSpPr>
          <p:nvPr>
            <p:ph idx="1"/>
          </p:nvPr>
        </p:nvSpPr>
        <p:spPr/>
        <p:txBody>
          <a:bodyPr/>
          <a:lstStyle/>
          <a:p>
            <a:endParaRPr lang="en-IN"/>
          </a:p>
        </p:txBody>
      </p:sp>
      <p:pic>
        <p:nvPicPr>
          <p:cNvPr id="4" name="Picture 2">
            <a:extLst>
              <a:ext uri="{FF2B5EF4-FFF2-40B4-BE49-F238E27FC236}">
                <a16:creationId xmlns:a16="http://schemas.microsoft.com/office/drawing/2014/main" id="{267431BE-70BC-4498-A1FD-9235319039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132" y="1098222"/>
            <a:ext cx="11142482" cy="561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39421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0F683-2CF3-472A-9767-F3F0E38A30B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10CC9C7-5A67-4407-ADE8-25494BA3B346}"/>
              </a:ext>
            </a:extLst>
          </p:cNvPr>
          <p:cNvSpPr>
            <a:spLocks noGrp="1"/>
          </p:cNvSpPr>
          <p:nvPr>
            <p:ph idx="1"/>
          </p:nvPr>
        </p:nvSpPr>
        <p:spPr/>
        <p:txBody>
          <a:bodyPr/>
          <a:lstStyle/>
          <a:p>
            <a:pPr>
              <a:buFont typeface="Arial" pitchFamily="34" charset="0"/>
              <a:buChar char="•"/>
              <a:defRPr/>
            </a:pPr>
            <a:r>
              <a:rPr lang="en-US" dirty="0"/>
              <a:t>In Figure 2.8, the process index register indicates that process B is executing.</a:t>
            </a:r>
          </a:p>
          <a:p>
            <a:pPr>
              <a:buFont typeface="Arial" pitchFamily="34" charset="0"/>
              <a:buChar char="•"/>
              <a:defRPr/>
            </a:pPr>
            <a:r>
              <a:rPr lang="en-US" dirty="0"/>
              <a:t>Process A was temporarily interrupted. </a:t>
            </a:r>
          </a:p>
          <a:p>
            <a:pPr>
              <a:buFont typeface="Arial" pitchFamily="34" charset="0"/>
              <a:buChar char="•"/>
              <a:defRPr/>
            </a:pPr>
            <a:r>
              <a:rPr lang="en-US" dirty="0"/>
              <a:t> The contents of all the registers at the moment of A’s interruption were recorded in </a:t>
            </a:r>
          </a:p>
          <a:p>
            <a:pPr marL="0" indent="0">
              <a:buNone/>
              <a:defRPr/>
            </a:pPr>
            <a:r>
              <a:rPr lang="en-US" dirty="0"/>
              <a:t>        its execution context. </a:t>
            </a:r>
          </a:p>
          <a:p>
            <a:pPr>
              <a:buFont typeface="Arial" pitchFamily="34" charset="0"/>
              <a:buChar char="•"/>
              <a:defRPr/>
            </a:pPr>
            <a:r>
              <a:rPr lang="en-US" dirty="0"/>
              <a:t> The process switch consists of storing the context of B and restoring the context of A.</a:t>
            </a:r>
          </a:p>
          <a:p>
            <a:pPr>
              <a:buFont typeface="Arial" pitchFamily="34" charset="0"/>
              <a:buChar char="•"/>
              <a:defRPr/>
            </a:pPr>
            <a:r>
              <a:rPr lang="en-US" dirty="0"/>
              <a:t> When the program counter is loaded with a value pointing into A’s program area, </a:t>
            </a:r>
          </a:p>
          <a:p>
            <a:pPr marL="0" indent="0">
              <a:buNone/>
              <a:defRPr/>
            </a:pPr>
            <a:r>
              <a:rPr lang="en-US" dirty="0"/>
              <a:t>       process A will automatically resume execution.</a:t>
            </a:r>
          </a:p>
          <a:p>
            <a:endParaRPr lang="en-IN" dirty="0"/>
          </a:p>
        </p:txBody>
      </p:sp>
    </p:spTree>
    <p:extLst>
      <p:ext uri="{BB962C8B-B14F-4D97-AF65-F5344CB8AC3E}">
        <p14:creationId xmlns:p14="http://schemas.microsoft.com/office/powerpoint/2010/main" val="475494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FDBC7-B24A-4CC8-945A-1936782AE8D1}"/>
              </a:ext>
            </a:extLst>
          </p:cNvPr>
          <p:cNvSpPr>
            <a:spLocks noGrp="1"/>
          </p:cNvSpPr>
          <p:nvPr>
            <p:ph type="title"/>
          </p:nvPr>
        </p:nvSpPr>
        <p:spPr/>
        <p:txBody>
          <a:bodyPr/>
          <a:lstStyle/>
          <a:p>
            <a:r>
              <a:rPr lang="en-IN" dirty="0"/>
              <a:t>II. Memory management </a:t>
            </a:r>
          </a:p>
        </p:txBody>
      </p:sp>
      <p:sp>
        <p:nvSpPr>
          <p:cNvPr id="3" name="Content Placeholder 2">
            <a:extLst>
              <a:ext uri="{FF2B5EF4-FFF2-40B4-BE49-F238E27FC236}">
                <a16:creationId xmlns:a16="http://schemas.microsoft.com/office/drawing/2014/main" id="{4D3CB07B-0BBD-46C4-B2FE-57E307C6B15F}"/>
              </a:ext>
            </a:extLst>
          </p:cNvPr>
          <p:cNvSpPr>
            <a:spLocks noGrp="1"/>
          </p:cNvSpPr>
          <p:nvPr>
            <p:ph idx="1"/>
          </p:nvPr>
        </p:nvSpPr>
        <p:spPr/>
        <p:txBody>
          <a:bodyPr>
            <a:normAutofit/>
          </a:bodyPr>
          <a:lstStyle/>
          <a:p>
            <a:pPr>
              <a:defRPr/>
            </a:pPr>
            <a:r>
              <a:rPr lang="en-GB" dirty="0"/>
              <a:t>The OS has 5 principal storage management responsibilities</a:t>
            </a:r>
          </a:p>
          <a:p>
            <a:pPr marL="0" indent="0">
              <a:buNone/>
              <a:defRPr/>
            </a:pPr>
            <a:r>
              <a:rPr lang="en-GB" dirty="0"/>
              <a:t>1.  Process isolation:-</a:t>
            </a:r>
          </a:p>
          <a:p>
            <a:pPr>
              <a:defRPr/>
            </a:pPr>
            <a:r>
              <a:rPr lang="en-GB" dirty="0"/>
              <a:t>	</a:t>
            </a:r>
            <a:r>
              <a:rPr lang="en-US" dirty="0"/>
              <a:t>The OS must prevent independent processes from interfering with each 	other’s 	memory, both data and instructions.</a:t>
            </a:r>
          </a:p>
          <a:p>
            <a:pPr>
              <a:defRPr/>
            </a:pPr>
            <a:endParaRPr lang="en-US" dirty="0"/>
          </a:p>
          <a:p>
            <a:pPr marL="342900" indent="-342900">
              <a:buFontTx/>
              <a:buAutoNum type="arabicPeriod" startAt="2"/>
              <a:defRPr/>
            </a:pPr>
            <a:r>
              <a:rPr lang="en-GB" dirty="0"/>
              <a:t>Automatic allocation and management:-</a:t>
            </a:r>
          </a:p>
          <a:p>
            <a:pPr>
              <a:defRPr/>
            </a:pPr>
            <a:r>
              <a:rPr lang="en-US" dirty="0"/>
              <a:t>	Programs should be dynamically allocated across the memory hierarchy as 	required.</a:t>
            </a:r>
          </a:p>
          <a:p>
            <a:pPr>
              <a:defRPr/>
            </a:pPr>
            <a:endParaRPr lang="en-US" dirty="0"/>
          </a:p>
          <a:p>
            <a:pPr marL="0" indent="0">
              <a:buNone/>
              <a:defRPr/>
            </a:pPr>
            <a:r>
              <a:rPr lang="en-US" dirty="0"/>
              <a:t>3. </a:t>
            </a:r>
            <a:r>
              <a:rPr lang="en-GB" dirty="0"/>
              <a:t>Support of modular programming:-</a:t>
            </a:r>
          </a:p>
          <a:p>
            <a:pPr>
              <a:defRPr/>
            </a:pPr>
            <a:r>
              <a:rPr lang="en-US" dirty="0"/>
              <a:t>Programmers should be able to define program modules, and to create, destroy, and alter the size of modules dynamically.</a:t>
            </a:r>
          </a:p>
          <a:p>
            <a:endParaRPr lang="en-IN" dirty="0"/>
          </a:p>
        </p:txBody>
      </p:sp>
    </p:spTree>
    <p:extLst>
      <p:ext uri="{BB962C8B-B14F-4D97-AF65-F5344CB8AC3E}">
        <p14:creationId xmlns:p14="http://schemas.microsoft.com/office/powerpoint/2010/main" val="7185877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7653E-EBA1-4898-8BE0-9C5FB85326D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7A4747D-2216-4673-AE54-CDF99443AC5B}"/>
              </a:ext>
            </a:extLst>
          </p:cNvPr>
          <p:cNvSpPr>
            <a:spLocks noGrp="1"/>
          </p:cNvSpPr>
          <p:nvPr>
            <p:ph idx="1"/>
          </p:nvPr>
        </p:nvSpPr>
        <p:spPr/>
        <p:txBody>
          <a:bodyPr/>
          <a:lstStyle/>
          <a:p>
            <a:pPr marL="0" indent="0">
              <a:buNone/>
              <a:defRPr/>
            </a:pPr>
            <a:r>
              <a:rPr lang="en-US" dirty="0"/>
              <a:t>4. </a:t>
            </a:r>
            <a:r>
              <a:rPr lang="en-GB" dirty="0"/>
              <a:t>Protection and access control:-</a:t>
            </a:r>
          </a:p>
          <a:p>
            <a:pPr>
              <a:defRPr/>
            </a:pPr>
            <a:r>
              <a:rPr lang="en-US" dirty="0"/>
              <a:t>Sharing of memory, at any level of the memory hierarchy, creates the  potential for one program to address the memory space of another.</a:t>
            </a:r>
          </a:p>
          <a:p>
            <a:pPr>
              <a:defRPr/>
            </a:pPr>
            <a:endParaRPr lang="en-US" dirty="0"/>
          </a:p>
          <a:p>
            <a:pPr marL="0" indent="0">
              <a:buNone/>
              <a:defRPr/>
            </a:pPr>
            <a:r>
              <a:rPr lang="en-US" dirty="0"/>
              <a:t>5. </a:t>
            </a:r>
            <a:r>
              <a:rPr lang="en-GB" dirty="0"/>
              <a:t>Long-term storage:-</a:t>
            </a:r>
          </a:p>
          <a:p>
            <a:pPr>
              <a:defRPr/>
            </a:pPr>
            <a:r>
              <a:rPr lang="en-US" dirty="0"/>
              <a:t>Many application programs require means for storing information for  extended periods of time, after the computer has been powered down.</a:t>
            </a:r>
            <a:endParaRPr lang="en-GB" dirty="0"/>
          </a:p>
          <a:p>
            <a:endParaRPr lang="en-IN" dirty="0"/>
          </a:p>
        </p:txBody>
      </p:sp>
      <p:sp>
        <p:nvSpPr>
          <p:cNvPr id="4" name="Rectangle 3">
            <a:extLst>
              <a:ext uri="{FF2B5EF4-FFF2-40B4-BE49-F238E27FC236}">
                <a16:creationId xmlns:a16="http://schemas.microsoft.com/office/drawing/2014/main" id="{B8BC91B7-5AEE-459B-A59D-CEB11B2D8CAD}"/>
              </a:ext>
            </a:extLst>
          </p:cNvPr>
          <p:cNvSpPr/>
          <p:nvPr/>
        </p:nvSpPr>
        <p:spPr>
          <a:xfrm>
            <a:off x="1097280" y="4738321"/>
            <a:ext cx="10383520" cy="1200329"/>
          </a:xfrm>
          <a:prstGeom prst="rect">
            <a:avLst/>
          </a:prstGeom>
        </p:spPr>
        <p:txBody>
          <a:bodyPr wrap="square">
            <a:spAutoFit/>
          </a:bodyPr>
          <a:lstStyle/>
          <a:p>
            <a:pPr>
              <a:defRPr/>
            </a:pPr>
            <a:r>
              <a:rPr lang="en-GB" sz="2400" b="1" i="1" dirty="0">
                <a:latin typeface="Calibri" pitchFamily="34" charset="0"/>
              </a:rPr>
              <a:t>Virtual Memory:-</a:t>
            </a:r>
          </a:p>
          <a:p>
            <a:pPr lvl="1">
              <a:defRPr/>
            </a:pPr>
            <a:r>
              <a:rPr lang="en-US" sz="2400" i="1" dirty="0">
                <a:latin typeface="Calibri" pitchFamily="34" charset="0"/>
              </a:rPr>
              <a:t>Virtual memory refers to the technology in which some space in hard disk is used as an extension of main memory. As shown in the fig 2.9</a:t>
            </a:r>
            <a:r>
              <a:rPr lang="en-GB" sz="2400" i="1" dirty="0">
                <a:latin typeface="Calibri" pitchFamily="34" charset="0"/>
              </a:rPr>
              <a:t>	</a:t>
            </a:r>
            <a:endParaRPr lang="en-IN" sz="2400" i="1" dirty="0"/>
          </a:p>
        </p:txBody>
      </p:sp>
    </p:spTree>
    <p:extLst>
      <p:ext uri="{BB962C8B-B14F-4D97-AF65-F5344CB8AC3E}">
        <p14:creationId xmlns:p14="http://schemas.microsoft.com/office/powerpoint/2010/main" val="15392189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DD3B9-D10A-405B-9BA1-233A0A31B903}"/>
              </a:ext>
            </a:extLst>
          </p:cNvPr>
          <p:cNvSpPr>
            <a:spLocks noGrp="1"/>
          </p:cNvSpPr>
          <p:nvPr>
            <p:ph type="title"/>
          </p:nvPr>
        </p:nvSpPr>
        <p:spPr/>
        <p:txBody>
          <a:bodyPr/>
          <a:lstStyle/>
          <a:p>
            <a:r>
              <a:rPr lang="en-IN" dirty="0"/>
              <a:t>III. Information PROTCTION &amp; SECURITY</a:t>
            </a:r>
          </a:p>
        </p:txBody>
      </p:sp>
      <p:sp>
        <p:nvSpPr>
          <p:cNvPr id="3" name="Content Placeholder 2">
            <a:extLst>
              <a:ext uri="{FF2B5EF4-FFF2-40B4-BE49-F238E27FC236}">
                <a16:creationId xmlns:a16="http://schemas.microsoft.com/office/drawing/2014/main" id="{A2D26927-7FFC-4758-9AC0-991AC4C44F11}"/>
              </a:ext>
            </a:extLst>
          </p:cNvPr>
          <p:cNvSpPr>
            <a:spLocks noGrp="1"/>
          </p:cNvSpPr>
          <p:nvPr>
            <p:ph idx="1"/>
          </p:nvPr>
        </p:nvSpPr>
        <p:spPr/>
        <p:txBody>
          <a:bodyPr>
            <a:normAutofit lnSpcReduction="10000"/>
          </a:bodyPr>
          <a:lstStyle/>
          <a:p>
            <a:pPr>
              <a:buFont typeface="Arial" pitchFamily="34" charset="0"/>
              <a:buChar char="•"/>
              <a:defRPr/>
            </a:pPr>
            <a:r>
              <a:rPr lang="en-GB" dirty="0"/>
              <a:t> We are concerned with the problem of controlling access to computer  </a:t>
            </a:r>
          </a:p>
          <a:p>
            <a:pPr>
              <a:defRPr/>
            </a:pPr>
            <a:r>
              <a:rPr lang="en-GB" dirty="0"/>
              <a:t>  systems and the information stored in them.</a:t>
            </a:r>
          </a:p>
          <a:p>
            <a:pPr>
              <a:buFont typeface="Arial" pitchFamily="34" charset="0"/>
              <a:buChar char="•"/>
              <a:defRPr/>
            </a:pPr>
            <a:r>
              <a:rPr lang="en-GB" dirty="0"/>
              <a:t>Main issues are:</a:t>
            </a:r>
          </a:p>
          <a:p>
            <a:pPr marL="0" indent="0">
              <a:buNone/>
              <a:defRPr/>
            </a:pPr>
            <a:r>
              <a:rPr lang="en-GB" dirty="0"/>
              <a:t>	– Availability:-</a:t>
            </a:r>
          </a:p>
          <a:p>
            <a:pPr marL="0" indent="0">
              <a:buNone/>
              <a:defRPr/>
            </a:pPr>
            <a:r>
              <a:rPr lang="en-GB" dirty="0"/>
              <a:t>		</a:t>
            </a:r>
            <a:r>
              <a:rPr lang="en-US" dirty="0"/>
              <a:t>Concerned with protecting the system against interruption</a:t>
            </a:r>
            <a:endParaRPr lang="en-GB" dirty="0"/>
          </a:p>
          <a:p>
            <a:pPr marL="0" indent="0">
              <a:buNone/>
              <a:defRPr/>
            </a:pPr>
            <a:r>
              <a:rPr lang="en-GB" dirty="0"/>
              <a:t>	– Confidentiality:-</a:t>
            </a:r>
          </a:p>
          <a:p>
            <a:pPr marL="0" indent="0">
              <a:buNone/>
              <a:defRPr/>
            </a:pPr>
            <a:r>
              <a:rPr lang="en-GB" dirty="0"/>
              <a:t>		</a:t>
            </a:r>
            <a:r>
              <a:rPr lang="en-US" dirty="0"/>
              <a:t>Assures that users cannot read data for which access is unauthorized</a:t>
            </a:r>
            <a:endParaRPr lang="en-GB" dirty="0"/>
          </a:p>
          <a:p>
            <a:pPr marL="0" indent="0">
              <a:buNone/>
              <a:defRPr/>
            </a:pPr>
            <a:r>
              <a:rPr lang="en-GB" dirty="0"/>
              <a:t>	– Data integrity:-</a:t>
            </a:r>
          </a:p>
          <a:p>
            <a:pPr marL="0" indent="0">
              <a:buNone/>
              <a:defRPr/>
            </a:pPr>
            <a:r>
              <a:rPr lang="en-GB" dirty="0"/>
              <a:t>		</a:t>
            </a:r>
            <a:r>
              <a:rPr lang="en-US" dirty="0"/>
              <a:t>Protection of data from unauthorized modification</a:t>
            </a:r>
            <a:endParaRPr lang="en-GB" dirty="0"/>
          </a:p>
          <a:p>
            <a:pPr marL="0" indent="0">
              <a:buNone/>
              <a:defRPr/>
            </a:pPr>
            <a:r>
              <a:rPr lang="en-GB" dirty="0"/>
              <a:t>	– Authenticity:-</a:t>
            </a:r>
          </a:p>
          <a:p>
            <a:pPr marL="0" indent="0">
              <a:buNone/>
              <a:defRPr/>
            </a:pPr>
            <a:r>
              <a:rPr lang="en-GB" dirty="0"/>
              <a:t>		</a:t>
            </a:r>
            <a:r>
              <a:rPr lang="en-US" dirty="0"/>
              <a:t>Concerned with the proper verification of the identity of users and the validity of messages or data</a:t>
            </a:r>
            <a:endParaRPr lang="en-GB" dirty="0"/>
          </a:p>
          <a:p>
            <a:endParaRPr lang="en-IN" dirty="0"/>
          </a:p>
        </p:txBody>
      </p:sp>
    </p:spTree>
    <p:extLst>
      <p:ext uri="{BB962C8B-B14F-4D97-AF65-F5344CB8AC3E}">
        <p14:creationId xmlns:p14="http://schemas.microsoft.com/office/powerpoint/2010/main" val="10391777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AF9B46-05C9-4BF1-8630-CF21BC56C405}"/>
              </a:ext>
            </a:extLst>
          </p:cNvPr>
          <p:cNvSpPr>
            <a:spLocks noGrp="1"/>
          </p:cNvSpPr>
          <p:nvPr>
            <p:ph idx="1"/>
          </p:nvPr>
        </p:nvSpPr>
        <p:spPr/>
        <p:txBody>
          <a:bodyPr/>
          <a:lstStyle/>
          <a:p>
            <a:endParaRPr lang="en-IN"/>
          </a:p>
        </p:txBody>
      </p:sp>
      <p:pic>
        <p:nvPicPr>
          <p:cNvPr id="4" name="Picture 2">
            <a:extLst>
              <a:ext uri="{FF2B5EF4-FFF2-40B4-BE49-F238E27FC236}">
                <a16:creationId xmlns:a16="http://schemas.microsoft.com/office/drawing/2014/main" id="{777FFD19-EDF7-4A74-93CF-416105C723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132" y="957263"/>
            <a:ext cx="10772428" cy="561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DA4DF6AF-5720-C1D2-7276-72755A9E59D5}"/>
              </a:ext>
            </a:extLst>
          </p:cNvPr>
          <p:cNvSpPr txBox="1">
            <a:spLocks/>
          </p:cNvSpPr>
          <p:nvPr/>
        </p:nvSpPr>
        <p:spPr>
          <a:xfrm>
            <a:off x="1385779" y="197177"/>
            <a:ext cx="10012798" cy="813062"/>
          </a:xfrm>
          <a:prstGeom prst="rect">
            <a:avLst/>
          </a:prstGeom>
        </p:spPr>
        <p:txBody>
          <a:bodyPr vert="horz" lIns="91440" tIns="45720" rIns="91440" bIns="45720" rtlCol="0" anchor="t">
            <a:normAutofit fontScale="90000"/>
          </a:bodyPr>
          <a:lstStyle>
            <a:lvl1pPr algn="l" defTabSz="914400" rtl="0" eaLnBrk="1" latinLnBrk="0" hangingPunct="1">
              <a:lnSpc>
                <a:spcPct val="89000"/>
              </a:lnSpc>
              <a:spcBef>
                <a:spcPct val="0"/>
              </a:spcBef>
              <a:buNone/>
              <a:defRPr sz="4000" kern="1200" baseline="0">
                <a:solidFill>
                  <a:schemeClr val="tx2"/>
                </a:solidFill>
                <a:latin typeface="Algerian" panose="04020705040A02060702" pitchFamily="82" charset="0"/>
                <a:ea typeface="+mj-ea"/>
                <a:cs typeface="+mj-cs"/>
              </a:defRPr>
            </a:lvl1pPr>
          </a:lstStyle>
          <a:p>
            <a:r>
              <a:rPr lang="en-IN"/>
              <a:t>IV. SCHEDULING &amp; RESOURCE MANAGEMENT</a:t>
            </a:r>
            <a:endParaRPr lang="en-IN" dirty="0"/>
          </a:p>
        </p:txBody>
      </p:sp>
    </p:spTree>
    <p:extLst>
      <p:ext uri="{BB962C8B-B14F-4D97-AF65-F5344CB8AC3E}">
        <p14:creationId xmlns:p14="http://schemas.microsoft.com/office/powerpoint/2010/main" val="29412659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21C255-2539-4568-A31C-70BBF28635EC}"/>
              </a:ext>
            </a:extLst>
          </p:cNvPr>
          <p:cNvSpPr>
            <a:spLocks noGrp="1"/>
          </p:cNvSpPr>
          <p:nvPr>
            <p:ph idx="1"/>
          </p:nvPr>
        </p:nvSpPr>
        <p:spPr/>
        <p:txBody>
          <a:bodyPr>
            <a:normAutofit/>
          </a:bodyPr>
          <a:lstStyle/>
          <a:p>
            <a:pPr>
              <a:buFont typeface="Arial" pitchFamily="34" charset="0"/>
              <a:buChar char="•"/>
              <a:defRPr/>
            </a:pPr>
            <a:r>
              <a:rPr lang="en-US" sz="2000" dirty="0"/>
              <a:t>Figure 2.11 suggests the major elements of the OS involved in the scheduling of  processes and the allocation of resources in a multiprogramming environment. </a:t>
            </a:r>
          </a:p>
          <a:p>
            <a:pPr>
              <a:buFont typeface="Arial" pitchFamily="34" charset="0"/>
              <a:buChar char="•"/>
              <a:defRPr/>
            </a:pPr>
            <a:r>
              <a:rPr lang="en-US" sz="2000" dirty="0"/>
              <a:t>The OS maintains a number of queues, each of which is simply a list of processes waiting for some resource.</a:t>
            </a:r>
          </a:p>
          <a:p>
            <a:pPr>
              <a:buFont typeface="Arial" pitchFamily="34" charset="0"/>
              <a:buChar char="•"/>
              <a:defRPr/>
            </a:pPr>
            <a:r>
              <a:rPr lang="en-US" sz="2000" dirty="0">
                <a:effectLst>
                  <a:outerShdw blurRad="38100" dist="38100" dir="2700000" algn="tl">
                    <a:srgbClr val="000000">
                      <a:alpha val="43137"/>
                    </a:srgbClr>
                  </a:outerShdw>
                </a:effectLst>
              </a:rPr>
              <a:t>The short-term queue:- </a:t>
            </a:r>
          </a:p>
          <a:p>
            <a:pPr lvl="1">
              <a:buFont typeface="Arial" pitchFamily="34" charset="0"/>
              <a:buChar char="•"/>
              <a:defRPr/>
            </a:pPr>
            <a:r>
              <a:rPr lang="en-US" sz="2000" dirty="0"/>
              <a:t>Consists of processes that are in main memory and are ready to run as soon as the processor is made available.</a:t>
            </a:r>
          </a:p>
          <a:p>
            <a:pPr>
              <a:buFont typeface="Arial" pitchFamily="34" charset="0"/>
              <a:buChar char="•"/>
              <a:defRPr/>
            </a:pPr>
            <a:r>
              <a:rPr lang="en-US" sz="2000" dirty="0">
                <a:effectLst>
                  <a:outerShdw blurRad="38100" dist="38100" dir="2700000" algn="tl">
                    <a:srgbClr val="000000">
                      <a:alpha val="43137"/>
                    </a:srgbClr>
                  </a:outerShdw>
                </a:effectLst>
              </a:rPr>
              <a:t>The long-term queue:-</a:t>
            </a:r>
          </a:p>
          <a:p>
            <a:pPr lvl="1">
              <a:buFont typeface="Arial" pitchFamily="34" charset="0"/>
              <a:buChar char="•"/>
              <a:defRPr/>
            </a:pPr>
            <a:r>
              <a:rPr lang="en-US" sz="2000" dirty="0"/>
              <a:t>Consists of a list of new jobs waiting to use the processor. </a:t>
            </a:r>
          </a:p>
          <a:p>
            <a:pPr>
              <a:buFont typeface="Arial" pitchFamily="34" charset="0"/>
              <a:buChar char="•"/>
              <a:defRPr/>
            </a:pPr>
            <a:r>
              <a:rPr lang="en-US" sz="2000" dirty="0">
                <a:effectLst>
                  <a:outerShdw blurRad="38100" dist="38100" dir="2700000" algn="tl">
                    <a:srgbClr val="000000">
                      <a:alpha val="43137"/>
                    </a:srgbClr>
                  </a:outerShdw>
                </a:effectLst>
              </a:rPr>
              <a:t>The I/O queue:-</a:t>
            </a:r>
          </a:p>
          <a:p>
            <a:pPr lvl="1">
              <a:buFont typeface="Arial" pitchFamily="34" charset="0"/>
              <a:buChar char="•"/>
              <a:defRPr/>
            </a:pPr>
            <a:r>
              <a:rPr lang="en-US" sz="2000" dirty="0"/>
              <a:t> For each Input Output Device.</a:t>
            </a:r>
          </a:p>
          <a:p>
            <a:pPr lvl="1">
              <a:buFont typeface="Arial" pitchFamily="34" charset="0"/>
              <a:buChar char="•"/>
              <a:defRPr/>
            </a:pPr>
            <a:r>
              <a:rPr lang="en-US" sz="2000" dirty="0"/>
              <a:t> All processes waiting to use each device are lined up in that device’s queue.</a:t>
            </a:r>
          </a:p>
          <a:p>
            <a:endParaRPr lang="en-IN" dirty="0"/>
          </a:p>
        </p:txBody>
      </p:sp>
      <p:sp>
        <p:nvSpPr>
          <p:cNvPr id="4" name="Title 1">
            <a:extLst>
              <a:ext uri="{FF2B5EF4-FFF2-40B4-BE49-F238E27FC236}">
                <a16:creationId xmlns:a16="http://schemas.microsoft.com/office/drawing/2014/main" id="{89CEC333-12B6-4F8B-9E99-111E73013EDC}"/>
              </a:ext>
            </a:extLst>
          </p:cNvPr>
          <p:cNvSpPr txBox="1">
            <a:spLocks/>
          </p:cNvSpPr>
          <p:nvPr/>
        </p:nvSpPr>
        <p:spPr>
          <a:xfrm>
            <a:off x="1118492" y="182880"/>
            <a:ext cx="10012798" cy="813062"/>
          </a:xfrm>
          <a:prstGeom prst="rect">
            <a:avLst/>
          </a:prstGeom>
        </p:spPr>
        <p:txBody>
          <a:bodyPr vert="horz" lIns="91440" tIns="45720" rIns="91440" bIns="45720" rtlCol="0" anchor="t">
            <a:normAutofit fontScale="82500" lnSpcReduction="20000"/>
          </a:bodyPr>
          <a:lstStyle>
            <a:lvl1pPr algn="l" defTabSz="914400" rtl="0" eaLnBrk="1" latinLnBrk="0" hangingPunct="1">
              <a:lnSpc>
                <a:spcPct val="89000"/>
              </a:lnSpc>
              <a:spcBef>
                <a:spcPct val="0"/>
              </a:spcBef>
              <a:buNone/>
              <a:defRPr sz="4000" kern="1200" baseline="0">
                <a:solidFill>
                  <a:schemeClr val="tx2"/>
                </a:solidFill>
                <a:latin typeface="Algerian" panose="04020705040A02060702" pitchFamily="82" charset="0"/>
                <a:ea typeface="+mj-ea"/>
                <a:cs typeface="+mj-cs"/>
              </a:defRPr>
            </a:lvl1pPr>
          </a:lstStyle>
          <a:p>
            <a:r>
              <a:rPr lang="en-US" b="1" kern="0" dirty="0">
                <a:solidFill>
                  <a:schemeClr val="tx1"/>
                </a:solidFill>
                <a:latin typeface="Trebuchet MS" pitchFamily="34" charset="0"/>
              </a:rPr>
              <a:t>Key elements of </a:t>
            </a:r>
            <a:r>
              <a:rPr lang="en-US" b="1" kern="0" dirty="0" err="1">
                <a:solidFill>
                  <a:schemeClr val="tx1"/>
                </a:solidFill>
                <a:latin typeface="Trebuchet MS" pitchFamily="34" charset="0"/>
              </a:rPr>
              <a:t>o.s</a:t>
            </a:r>
            <a:r>
              <a:rPr lang="en-US" b="1" kern="0" dirty="0">
                <a:solidFill>
                  <a:schemeClr val="tx1"/>
                </a:solidFill>
                <a:latin typeface="Trebuchet MS" pitchFamily="34" charset="0"/>
              </a:rPr>
              <a:t>. in Multiprogramming</a:t>
            </a:r>
            <a:br>
              <a:rPr lang="en-US" b="1" kern="0" dirty="0">
                <a:solidFill>
                  <a:schemeClr val="tx1"/>
                </a:solidFill>
                <a:latin typeface="Trebuchet MS" pitchFamily="34" charset="0"/>
              </a:rPr>
            </a:br>
            <a:endParaRPr lang="en-IN" dirty="0">
              <a:solidFill>
                <a:schemeClr val="tx1"/>
              </a:solidFill>
            </a:endParaRPr>
          </a:p>
        </p:txBody>
      </p:sp>
    </p:spTree>
    <p:extLst>
      <p:ext uri="{BB962C8B-B14F-4D97-AF65-F5344CB8AC3E}">
        <p14:creationId xmlns:p14="http://schemas.microsoft.com/office/powerpoint/2010/main" val="36756205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19E40-D0B1-4AB0-87BC-268E71BCA2E2}"/>
              </a:ext>
            </a:extLst>
          </p:cNvPr>
          <p:cNvSpPr>
            <a:spLocks noGrp="1"/>
          </p:cNvSpPr>
          <p:nvPr>
            <p:ph type="title"/>
          </p:nvPr>
        </p:nvSpPr>
        <p:spPr/>
        <p:txBody>
          <a:bodyPr/>
          <a:lstStyle/>
          <a:p>
            <a:r>
              <a:rPr lang="en-IN" dirty="0"/>
              <a:t>v. System structure</a:t>
            </a:r>
          </a:p>
        </p:txBody>
      </p:sp>
      <p:sp>
        <p:nvSpPr>
          <p:cNvPr id="3" name="Content Placeholder 2">
            <a:extLst>
              <a:ext uri="{FF2B5EF4-FFF2-40B4-BE49-F238E27FC236}">
                <a16:creationId xmlns:a16="http://schemas.microsoft.com/office/drawing/2014/main" id="{82F6DDE1-B0E7-47ED-BD0C-BC299A0CE1B3}"/>
              </a:ext>
            </a:extLst>
          </p:cNvPr>
          <p:cNvSpPr>
            <a:spLocks noGrp="1"/>
          </p:cNvSpPr>
          <p:nvPr>
            <p:ph idx="1"/>
          </p:nvPr>
        </p:nvSpPr>
        <p:spPr/>
        <p:txBody>
          <a:bodyPr>
            <a:normAutofit/>
          </a:bodyPr>
          <a:lstStyle/>
          <a:p>
            <a:pPr>
              <a:buFont typeface="Arial" pitchFamily="34" charset="0"/>
              <a:buChar char="•"/>
              <a:defRPr/>
            </a:pPr>
            <a:r>
              <a:rPr lang="en-GB" dirty="0"/>
              <a:t>View the system as a series of levels.</a:t>
            </a:r>
          </a:p>
          <a:p>
            <a:pPr>
              <a:buFont typeface="Arial" pitchFamily="34" charset="0"/>
              <a:buChar char="•"/>
              <a:defRPr/>
            </a:pPr>
            <a:r>
              <a:rPr lang="en-GB" dirty="0"/>
              <a:t>Each level performs a related subset of functions.</a:t>
            </a:r>
          </a:p>
          <a:p>
            <a:pPr>
              <a:buFont typeface="Arial" pitchFamily="34" charset="0"/>
              <a:buChar char="•"/>
              <a:defRPr/>
            </a:pPr>
            <a:r>
              <a:rPr lang="en-GB" dirty="0"/>
              <a:t>Each level relies on the next lower level to perform more primitive functions.</a:t>
            </a:r>
          </a:p>
          <a:p>
            <a:pPr>
              <a:buFont typeface="Arial" pitchFamily="34" charset="0"/>
              <a:buChar char="•"/>
              <a:defRPr/>
            </a:pPr>
            <a:r>
              <a:rPr lang="en-GB" dirty="0"/>
              <a:t>This decomposes a problem into</a:t>
            </a:r>
          </a:p>
          <a:p>
            <a:pPr>
              <a:defRPr/>
            </a:pPr>
            <a:r>
              <a:rPr lang="en-US" b="1" dirty="0"/>
              <a:t>Level 1: </a:t>
            </a:r>
          </a:p>
          <a:p>
            <a:pPr marL="0" indent="0">
              <a:buNone/>
              <a:defRPr/>
            </a:pPr>
            <a:r>
              <a:rPr lang="en-US" b="1" dirty="0"/>
              <a:t>	</a:t>
            </a:r>
            <a:r>
              <a:rPr lang="en-US" dirty="0"/>
              <a:t>Consists of electronic circuits, where the objects that are dealt with are registers, memory cells, and logic gates</a:t>
            </a:r>
          </a:p>
          <a:p>
            <a:pPr>
              <a:defRPr/>
            </a:pPr>
            <a:r>
              <a:rPr lang="en-US" b="1" dirty="0"/>
              <a:t>Level 2: </a:t>
            </a:r>
          </a:p>
          <a:p>
            <a:pPr marL="0" indent="0">
              <a:buNone/>
              <a:defRPr/>
            </a:pPr>
            <a:r>
              <a:rPr lang="en-US" b="1" dirty="0"/>
              <a:t>	</a:t>
            </a:r>
            <a:r>
              <a:rPr lang="en-US" dirty="0"/>
              <a:t>The processor’s instruction set</a:t>
            </a:r>
          </a:p>
          <a:p>
            <a:pPr>
              <a:defRPr/>
            </a:pPr>
            <a:r>
              <a:rPr lang="en-US" b="1" dirty="0"/>
              <a:t>Level 3: </a:t>
            </a:r>
          </a:p>
          <a:p>
            <a:pPr marL="0" indent="0">
              <a:buNone/>
              <a:defRPr/>
            </a:pPr>
            <a:r>
              <a:rPr lang="en-US" b="1" dirty="0"/>
              <a:t>	</a:t>
            </a:r>
            <a:r>
              <a:rPr lang="en-US" dirty="0"/>
              <a:t>Adds the concept of a procedure or subroutine, plus the call/return operations.</a:t>
            </a:r>
          </a:p>
        </p:txBody>
      </p:sp>
    </p:spTree>
    <p:extLst>
      <p:ext uri="{BB962C8B-B14F-4D97-AF65-F5344CB8AC3E}">
        <p14:creationId xmlns:p14="http://schemas.microsoft.com/office/powerpoint/2010/main" val="38833134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368A0-48E2-4777-A1A0-BA58F77AC93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ECB04BF-7DEB-4A31-8B64-CD3C81DCD0ED}"/>
              </a:ext>
            </a:extLst>
          </p:cNvPr>
          <p:cNvSpPr>
            <a:spLocks noGrp="1"/>
          </p:cNvSpPr>
          <p:nvPr>
            <p:ph idx="1"/>
          </p:nvPr>
        </p:nvSpPr>
        <p:spPr/>
        <p:txBody>
          <a:bodyPr/>
          <a:lstStyle/>
          <a:p>
            <a:pPr>
              <a:defRPr/>
            </a:pPr>
            <a:r>
              <a:rPr lang="en-US" b="1" dirty="0"/>
              <a:t>Level 4: </a:t>
            </a:r>
          </a:p>
          <a:p>
            <a:pPr marL="0" indent="0">
              <a:buNone/>
              <a:defRPr/>
            </a:pPr>
            <a:r>
              <a:rPr lang="en-US" b="1" dirty="0"/>
              <a:t>	</a:t>
            </a:r>
            <a:r>
              <a:rPr lang="en-US" dirty="0"/>
              <a:t>Introduces interrupts, which cause the processor to save the current context and invoke an interrupt-handling routine.</a:t>
            </a:r>
          </a:p>
          <a:p>
            <a:pPr marL="0" indent="0">
              <a:buNone/>
              <a:defRPr/>
            </a:pPr>
            <a:endParaRPr lang="en-US" dirty="0"/>
          </a:p>
          <a:p>
            <a:pPr>
              <a:defRPr/>
            </a:pPr>
            <a:r>
              <a:rPr lang="en-US" dirty="0"/>
              <a:t>These first four levels are not part of the OS but constitute the processor hardware</a:t>
            </a:r>
            <a:r>
              <a:rPr lang="en-GB" dirty="0"/>
              <a:t> a number of more manageable sub problems.</a:t>
            </a:r>
            <a:endParaRPr lang="en-IN" dirty="0"/>
          </a:p>
          <a:p>
            <a:endParaRPr lang="en-IN" dirty="0"/>
          </a:p>
        </p:txBody>
      </p:sp>
    </p:spTree>
    <p:extLst>
      <p:ext uri="{BB962C8B-B14F-4D97-AF65-F5344CB8AC3E}">
        <p14:creationId xmlns:p14="http://schemas.microsoft.com/office/powerpoint/2010/main" val="9023514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74AF8-4BBD-43E4-B66D-F9A129D37AC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158C666-2F41-4B7C-9291-FFC49841CDE1}"/>
              </a:ext>
            </a:extLst>
          </p:cNvPr>
          <p:cNvSpPr>
            <a:spLocks noGrp="1"/>
          </p:cNvSpPr>
          <p:nvPr>
            <p:ph idx="1"/>
          </p:nvPr>
        </p:nvSpPr>
        <p:spPr/>
        <p:txBody>
          <a:bodyPr/>
          <a:lstStyle/>
          <a:p>
            <a:endParaRPr lang="en-IN"/>
          </a:p>
        </p:txBody>
      </p:sp>
      <p:pic>
        <p:nvPicPr>
          <p:cNvPr id="4" name="Picture 2">
            <a:extLst>
              <a:ext uri="{FF2B5EF4-FFF2-40B4-BE49-F238E27FC236}">
                <a16:creationId xmlns:a16="http://schemas.microsoft.com/office/drawing/2014/main" id="{53A3E2DE-DC4C-44FB-977E-14FC594FD003}"/>
              </a:ext>
            </a:extLst>
          </p:cNvPr>
          <p:cNvPicPr>
            <a:picLocks noChangeAspect="1" noChangeArrowheads="1"/>
          </p:cNvPicPr>
          <p:nvPr/>
        </p:nvPicPr>
        <p:blipFill>
          <a:blip r:embed="rId2"/>
          <a:srcRect/>
          <a:stretch>
            <a:fillRect/>
          </a:stretch>
        </p:blipFill>
        <p:spPr bwMode="auto">
          <a:xfrm>
            <a:off x="741680" y="34617"/>
            <a:ext cx="11450320" cy="682338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22009676"/>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TM10001105[[fn=Crop]]</Template>
  <TotalTime>1556</TotalTime>
  <Words>5294</Words>
  <Application>Microsoft Office PowerPoint</Application>
  <PresentationFormat>Widescreen</PresentationFormat>
  <Paragraphs>491</Paragraphs>
  <Slides>72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72</vt:i4>
      </vt:variant>
    </vt:vector>
  </HeadingPairs>
  <TitlesOfParts>
    <vt:vector size="81" baseType="lpstr">
      <vt:lpstr>Algerian</vt:lpstr>
      <vt:lpstr>Arial</vt:lpstr>
      <vt:lpstr>Calibri</vt:lpstr>
      <vt:lpstr>Franklin Gothic Book</vt:lpstr>
      <vt:lpstr>Times New Roman</vt:lpstr>
      <vt:lpstr>Trebuchet MS</vt:lpstr>
      <vt:lpstr>Wingdings</vt:lpstr>
      <vt:lpstr>Wingdings 2</vt:lpstr>
      <vt:lpstr>Crop</vt:lpstr>
      <vt:lpstr>Unit-1   INTRODUCTION TO OPERATING SYTEMS  </vt:lpstr>
      <vt:lpstr>Roadmap</vt:lpstr>
      <vt:lpstr>Operating system</vt:lpstr>
      <vt:lpstr>Operating system</vt:lpstr>
      <vt:lpstr>PowerPoint Presentation</vt:lpstr>
      <vt:lpstr>PowerPoint Presentation</vt:lpstr>
      <vt:lpstr>PowerPoint Presentation</vt:lpstr>
      <vt:lpstr>PowerPoint Presentation</vt:lpstr>
      <vt:lpstr>Roadmap</vt:lpstr>
      <vt:lpstr>Objectives of operating system</vt:lpstr>
      <vt:lpstr>Objectives of operating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Operating system evolution</vt:lpstr>
      <vt:lpstr>FUNCTIONS of operating system</vt:lpstr>
      <vt:lpstr>1. Process Management </vt:lpstr>
      <vt:lpstr>1. Process Management </vt:lpstr>
      <vt:lpstr>2. Memory Management  </vt:lpstr>
      <vt:lpstr>2. Memory Management  </vt:lpstr>
      <vt:lpstr>3. File System Management   </vt:lpstr>
      <vt:lpstr>3. File System Management   </vt:lpstr>
      <vt:lpstr>3. File System Management   </vt:lpstr>
      <vt:lpstr>4. Device Management (I/O System)    </vt:lpstr>
      <vt:lpstr>4. Device Management (I/O System)    </vt:lpstr>
      <vt:lpstr>5. Protection and Security     </vt:lpstr>
      <vt:lpstr>5. Protection and Security     </vt:lpstr>
      <vt:lpstr>Roadmap</vt:lpstr>
      <vt:lpstr>Evolution of operating system</vt:lpstr>
      <vt:lpstr>1. Serial processing</vt:lpstr>
      <vt:lpstr>PowerPoint Presentation</vt:lpstr>
      <vt:lpstr>eniac</vt:lpstr>
      <vt:lpstr>PowerPoint Presentation</vt:lpstr>
      <vt:lpstr>PowerPoint Presentation</vt:lpstr>
      <vt:lpstr>f</vt:lpstr>
      <vt:lpstr>PowerPoint Presentation</vt:lpstr>
      <vt:lpstr>2. Simple batch system</vt:lpstr>
      <vt:lpstr>2. Simple batch system</vt:lpstr>
      <vt:lpstr>PowerPoint Presentation</vt:lpstr>
      <vt:lpstr>PowerPoint Presentation</vt:lpstr>
      <vt:lpstr>Simple batch system</vt:lpstr>
      <vt:lpstr>Simple batch system</vt:lpstr>
      <vt:lpstr>Simple batch system</vt:lpstr>
      <vt:lpstr>PowerPoint Presentation</vt:lpstr>
      <vt:lpstr>PowerPoint Presentation</vt:lpstr>
      <vt:lpstr>PowerPoint Presentation</vt:lpstr>
      <vt:lpstr>Time sharing system</vt:lpstr>
      <vt:lpstr>PowerPoint Presentation</vt:lpstr>
      <vt:lpstr>PowerPoint Presentation</vt:lpstr>
      <vt:lpstr>Example Time Sharing System </vt:lpstr>
      <vt:lpstr>PowerPoint Presentation</vt:lpstr>
      <vt:lpstr>PowerPoint Presentation</vt:lpstr>
      <vt:lpstr>Time sharing system</vt:lpstr>
      <vt:lpstr>Roadmap</vt:lpstr>
      <vt:lpstr>Major achievement</vt:lpstr>
      <vt:lpstr>PowerPoint Presentation</vt:lpstr>
      <vt:lpstr>Process management</vt:lpstr>
      <vt:lpstr>PowerPoint Presentation</vt:lpstr>
      <vt:lpstr>II. Memory management </vt:lpstr>
      <vt:lpstr>PowerPoint Presentation</vt:lpstr>
      <vt:lpstr>III. Information PROTCTION &amp; SECURITY</vt:lpstr>
      <vt:lpstr>PowerPoint Presentation</vt:lpstr>
      <vt:lpstr>PowerPoint Presentation</vt:lpstr>
      <vt:lpstr>v. System structure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Riddhi Joshi</dc:creator>
  <cp:lastModifiedBy>Riddhi Joshi</cp:lastModifiedBy>
  <cp:revision>397</cp:revision>
  <dcterms:created xsi:type="dcterms:W3CDTF">2017-12-30T05:49:02Z</dcterms:created>
  <dcterms:modified xsi:type="dcterms:W3CDTF">2025-08-11T07:47:58Z</dcterms:modified>
</cp:coreProperties>
</file>