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media/image38.jpg" ContentType="image/gif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media/image51.jpg" ContentType="image/gif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7"/>
  </p:notesMasterIdLst>
  <p:handoutMasterIdLst>
    <p:handoutMasterId r:id="rId68"/>
  </p:handoutMasterIdLst>
  <p:sldIdLst>
    <p:sldId id="257" r:id="rId2"/>
    <p:sldId id="333" r:id="rId3"/>
    <p:sldId id="334" r:id="rId4"/>
    <p:sldId id="335" r:id="rId5"/>
    <p:sldId id="337" r:id="rId6"/>
    <p:sldId id="339" r:id="rId7"/>
    <p:sldId id="340" r:id="rId8"/>
    <p:sldId id="341" r:id="rId9"/>
    <p:sldId id="343" r:id="rId10"/>
    <p:sldId id="433" r:id="rId11"/>
    <p:sldId id="344" r:id="rId12"/>
    <p:sldId id="346" r:id="rId13"/>
    <p:sldId id="347" r:id="rId14"/>
    <p:sldId id="437" r:id="rId15"/>
    <p:sldId id="350" r:id="rId16"/>
    <p:sldId id="352" r:id="rId17"/>
    <p:sldId id="353" r:id="rId18"/>
    <p:sldId id="354" r:id="rId19"/>
    <p:sldId id="355" r:id="rId20"/>
    <p:sldId id="356" r:id="rId21"/>
    <p:sldId id="357" r:id="rId22"/>
    <p:sldId id="438" r:id="rId23"/>
    <p:sldId id="360" r:id="rId24"/>
    <p:sldId id="435" r:id="rId25"/>
    <p:sldId id="436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439" r:id="rId34"/>
    <p:sldId id="373" r:id="rId35"/>
    <p:sldId id="374" r:id="rId36"/>
    <p:sldId id="440" r:id="rId37"/>
    <p:sldId id="375" r:id="rId38"/>
    <p:sldId id="441" r:id="rId39"/>
    <p:sldId id="378" r:id="rId40"/>
    <p:sldId id="379" r:id="rId41"/>
    <p:sldId id="382" r:id="rId42"/>
    <p:sldId id="384" r:id="rId43"/>
    <p:sldId id="442" r:id="rId44"/>
    <p:sldId id="380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19" r:id="rId61"/>
    <p:sldId id="404" r:id="rId62"/>
    <p:sldId id="405" r:id="rId63"/>
    <p:sldId id="406" r:id="rId64"/>
    <p:sldId id="407" r:id="rId65"/>
    <p:sldId id="418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2E6B6-6545-4788-B90C-22EF6EA7FFDB}" type="datetimeFigureOut">
              <a:rPr lang="en-US" smtClean="0"/>
              <a:pPr/>
              <a:t>11/8/2022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4B41A-3C80-4D84-B6E9-F15D68CBA4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C13B5-6E7F-4BBD-B719-6368D27963C2}" type="datetimeFigureOut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76FDC-4671-497D-8161-FDB20B10C02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219E5C0-9AB7-4A50-8751-59F83C7DE950}" type="slidenum">
              <a:rPr lang="en-US" smtClean="0">
                <a:latin typeface="Arial" pitchFamily="34" charset="0"/>
              </a:rPr>
              <a:pPr/>
              <a:t>1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We begin with an overview, followed by a look at various file organization schemes.</a:t>
            </a:r>
          </a:p>
          <a:p>
            <a:endParaRPr lang="en-NZ"/>
          </a:p>
          <a:p>
            <a:r>
              <a:rPr lang="en-NZ"/>
              <a:t>Although file organization is generally beyond the scope of the operating system, it is essential to have a general understanding of the common alternatives to appreciate some of the design tradeoffs involved in file management. </a:t>
            </a:r>
          </a:p>
          <a:p>
            <a:endParaRPr lang="en-NZ"/>
          </a:p>
          <a:p>
            <a:r>
              <a:rPr lang="en-NZ"/>
              <a:t>The remainder of this chapter looks at other topics in file management.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55DA69-8441-4A74-AC41-5C499B0BC86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9E44A6-1702-42F7-98C5-1DDE6F5CE82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Discussed on following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056A5D-DDA3-4367-AE84-CF753121E4C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 dirty="0"/>
              <a:t>Objectives include:</a:t>
            </a:r>
          </a:p>
          <a:p>
            <a:pPr lvl="1">
              <a:buFontTx/>
              <a:buChar char="•"/>
            </a:pPr>
            <a:r>
              <a:rPr lang="en-NZ" dirty="0"/>
              <a:t> To meet the data management needs and requirements of the user, </a:t>
            </a:r>
          </a:p>
          <a:p>
            <a:pPr lvl="1">
              <a:buFontTx/>
              <a:buChar char="•"/>
            </a:pPr>
            <a:r>
              <a:rPr lang="en-NZ" dirty="0"/>
              <a:t> To guarantee, to the extent possible, that the data in the file are valid</a:t>
            </a:r>
          </a:p>
          <a:p>
            <a:pPr lvl="1">
              <a:buFontTx/>
              <a:buChar char="•"/>
            </a:pPr>
            <a:r>
              <a:rPr lang="en-NZ" dirty="0"/>
              <a:t> To optimize performance, both from the system point of view in terms of over-all throughput and from the user’s point of view in terms of response time</a:t>
            </a:r>
          </a:p>
          <a:p>
            <a:pPr lvl="1">
              <a:buFontTx/>
              <a:buChar char="•"/>
            </a:pPr>
            <a:r>
              <a:rPr lang="en-NZ"/>
              <a:t> To provide I/O support for a variety of storage device types</a:t>
            </a:r>
          </a:p>
          <a:p>
            <a:pPr lvl="1">
              <a:buFontTx/>
              <a:buChar char="•"/>
            </a:pPr>
            <a:r>
              <a:rPr lang="en-NZ" dirty="0"/>
              <a:t> To minimize or eliminate the potential for lost or destroyed data</a:t>
            </a:r>
          </a:p>
          <a:p>
            <a:pPr lvl="1">
              <a:buFontTx/>
              <a:buChar char="•"/>
            </a:pPr>
            <a:r>
              <a:rPr lang="en-NZ" dirty="0"/>
              <a:t> To provide a standardized set of I/O interface routines to user processes</a:t>
            </a:r>
          </a:p>
          <a:p>
            <a:pPr lvl="1">
              <a:buFontTx/>
              <a:buChar char="•"/>
            </a:pPr>
            <a:r>
              <a:rPr lang="en-NZ" dirty="0"/>
              <a:t> To provide I/O support for multiple users, in the case of multiple-user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4CCFF1-EF7F-4162-8A01-F0DE78F4324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Variations will exist between systems but typically have the aspects described above and in the following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A8DE6-DB41-4DEE-81FC-51E9381F97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NZ" dirty="0"/>
              <a:t>Users and application programs interact with the file system by means of commands for creating and deleting files and for performing operations on files. </a:t>
            </a:r>
          </a:p>
          <a:p>
            <a:pPr>
              <a:defRPr/>
            </a:pPr>
            <a:endParaRPr lang="en-NZ" dirty="0"/>
          </a:p>
          <a:p>
            <a:pPr>
              <a:defRPr/>
            </a:pPr>
            <a:r>
              <a:rPr lang="en-NZ" dirty="0"/>
              <a:t>Before performing any operation, the file system must identify and locate the selected file.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This requires the use of some sort of directory that serves to describe the location of all files, plus their attributes.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In addition, most shared systems enforce user access control</a:t>
            </a:r>
          </a:p>
          <a:p>
            <a:pPr lvl="1">
              <a:buFont typeface="Arial" pitchFamily="34" charset="0"/>
              <a:buChar char="•"/>
              <a:defRPr/>
            </a:pPr>
            <a:endParaRPr lang="en-NZ" dirty="0"/>
          </a:p>
          <a:p>
            <a:pPr>
              <a:defRPr/>
            </a:pPr>
            <a:r>
              <a:rPr lang="en-NZ" dirty="0"/>
              <a:t>The basic operations that a user or application may perform on a file are performed at the record level.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The user or application views the file as having some structure that organizes the records, such as a sequential structure</a:t>
            </a:r>
          </a:p>
          <a:p>
            <a:pPr>
              <a:buFont typeface="Arial" pitchFamily="34" charset="0"/>
              <a:buNone/>
              <a:defRPr/>
            </a:pPr>
            <a:endParaRPr lang="en-NZ" dirty="0"/>
          </a:p>
          <a:p>
            <a:pPr>
              <a:buFont typeface="Arial" pitchFamily="34" charset="0"/>
              <a:buNone/>
              <a:defRPr/>
            </a:pPr>
            <a:r>
              <a:rPr lang="en-NZ" dirty="0"/>
              <a:t>The secondary storage must be managed.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This involves allocating files to free blocks on secondary storage and managing free storage so as to know what blocks are available for new files and growth in existing files.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In addition, individual block I/O requests must be scheduled</a:t>
            </a:r>
          </a:p>
          <a:p>
            <a:pPr>
              <a:buFont typeface="Arial" pitchFamily="34" charset="0"/>
              <a:buNone/>
              <a:defRPr/>
            </a:pPr>
            <a:endParaRPr lang="en-NZ" dirty="0"/>
          </a:p>
          <a:p>
            <a:pPr>
              <a:buFont typeface="Arial" pitchFamily="34" charset="0"/>
              <a:buNone/>
              <a:defRPr/>
            </a:pPr>
            <a:r>
              <a:rPr lang="en-NZ" dirty="0"/>
              <a:t>Disk scheduling and file allocation are both concerned with optimizing performance. </a:t>
            </a:r>
          </a:p>
          <a:p>
            <a:pPr>
              <a:buFont typeface="Arial" pitchFamily="34" charset="0"/>
              <a:buNone/>
              <a:defRPr/>
            </a:pPr>
            <a:endParaRPr lang="en-NZ" dirty="0"/>
          </a:p>
          <a:p>
            <a:pPr>
              <a:buFont typeface="Arial" pitchFamily="34" charset="0"/>
              <a:buNone/>
              <a:defRPr/>
            </a:pPr>
            <a:r>
              <a:rPr lang="en-NZ" dirty="0"/>
              <a:t>The optimization will depend on the structure of the files and the access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D26AE2-FF90-49E4-8AB6-4C64ED6B976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We begin with an overview, followed by a look at various file organization schemes.</a:t>
            </a:r>
          </a:p>
          <a:p>
            <a:endParaRPr lang="en-NZ"/>
          </a:p>
          <a:p>
            <a:r>
              <a:rPr lang="en-NZ"/>
              <a:t>Although file organization is generally beyond the scope of the operating system, it is essential to have a general understanding of the common alternatives to appreciate some of the design tradeoffs involved in file management. </a:t>
            </a:r>
          </a:p>
          <a:p>
            <a:endParaRPr lang="en-NZ"/>
          </a:p>
          <a:p>
            <a:r>
              <a:rPr lang="en-NZ"/>
              <a:t>The remainder of this chapter looks at other topics in file management.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55DA69-8441-4A74-AC41-5C499B0BC86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715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 b="1"/>
              <a:t>“file organization” </a:t>
            </a:r>
            <a:r>
              <a:rPr lang="en-NZ"/>
              <a:t>refers to the logical structuring of the records as determined by the way in which they are accessed.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97DCF7-FD4C-4993-B525-05984A712FF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Most structures used in actual systems either fall into one of these categories or can be implemented with a combination of these organizations. </a:t>
            </a:r>
          </a:p>
          <a:p>
            <a:endParaRPr lang="en-NZ"/>
          </a:p>
          <a:p>
            <a:r>
              <a:rPr lang="en-NZ"/>
              <a:t>The five organizations are:</a:t>
            </a:r>
          </a:p>
          <a:p>
            <a:pPr lvl="1">
              <a:buFontTx/>
              <a:buChar char="•"/>
            </a:pPr>
            <a:r>
              <a:rPr lang="en-NZ"/>
              <a:t> The pile</a:t>
            </a:r>
          </a:p>
          <a:p>
            <a:pPr lvl="1">
              <a:buFontTx/>
              <a:buChar char="•"/>
            </a:pPr>
            <a:r>
              <a:rPr lang="en-NZ"/>
              <a:t> The sequential file</a:t>
            </a:r>
          </a:p>
          <a:p>
            <a:pPr lvl="1">
              <a:buFontTx/>
              <a:buChar char="•"/>
            </a:pPr>
            <a:r>
              <a:rPr lang="en-NZ"/>
              <a:t> The indexed sequential file</a:t>
            </a:r>
          </a:p>
          <a:p>
            <a:pPr lvl="1">
              <a:buFontTx/>
              <a:buChar char="•"/>
            </a:pPr>
            <a:r>
              <a:rPr lang="en-NZ"/>
              <a:t> The indexed file</a:t>
            </a:r>
          </a:p>
          <a:p>
            <a:pPr lvl="1">
              <a:buFontTx/>
              <a:buChar char="•"/>
            </a:pPr>
            <a:r>
              <a:rPr lang="en-NZ"/>
              <a:t> The direct, or hashed,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AE4D7C-4556-40D5-98D3-9A904B9404B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We begin with an overview, followed by a look at various file organization schemes.</a:t>
            </a:r>
          </a:p>
          <a:p>
            <a:endParaRPr lang="en-NZ"/>
          </a:p>
          <a:p>
            <a:r>
              <a:rPr lang="en-NZ"/>
              <a:t>Although file organization is generally beyond the scope of the operating system, it is essential to have a general understanding of the common alternatives to appreciate some of the design tradeoffs involved in file management. </a:t>
            </a:r>
          </a:p>
          <a:p>
            <a:endParaRPr lang="en-NZ"/>
          </a:p>
          <a:p>
            <a:r>
              <a:rPr lang="en-NZ"/>
              <a:t>The remainder of this chapter looks at other topics in file management.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55DA69-8441-4A74-AC41-5C499B0BC86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734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The directory contains information about the files, including attributes, location, and ownership. </a:t>
            </a:r>
          </a:p>
          <a:p>
            <a:pPr lvl="1">
              <a:buFontTx/>
              <a:buChar char="•"/>
            </a:pPr>
            <a:r>
              <a:rPr lang="en-NZ"/>
              <a:t> Much of this information is managed by the operating system. </a:t>
            </a:r>
          </a:p>
          <a:p>
            <a:endParaRPr lang="en-NZ"/>
          </a:p>
          <a:p>
            <a:r>
              <a:rPr lang="en-NZ"/>
              <a:t>The directory is itself a file, accessible by various file management routines.</a:t>
            </a:r>
          </a:p>
          <a:p>
            <a:pPr lvl="1">
              <a:buFontTx/>
              <a:buChar char="•"/>
            </a:pPr>
            <a:r>
              <a:rPr lang="en-NZ"/>
              <a:t> Although some of the information in directories is available to users and applications, this is generally provided indirectly by system routines.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3ADD84-5677-468E-9A2B-FDAA494AA94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The way in which the information of Table 12.2 is stored differs widely among various systems. </a:t>
            </a:r>
          </a:p>
          <a:p>
            <a:pPr lvl="1">
              <a:buFontTx/>
              <a:buChar char="•"/>
            </a:pPr>
            <a:r>
              <a:rPr lang="en-NZ"/>
              <a:t> Some of the information may be stored in a header record associated with the file;</a:t>
            </a:r>
          </a:p>
          <a:p>
            <a:pPr lvl="1">
              <a:buFontTx/>
              <a:buChar char="•"/>
            </a:pPr>
            <a:r>
              <a:rPr lang="en-NZ"/>
              <a:t> This reduces the amount of storage required for the directory, making it easier to keep all or much of the directory in main memory to improve speed.</a:t>
            </a:r>
          </a:p>
          <a:p>
            <a:pPr lvl="1">
              <a:buFontTx/>
              <a:buChar char="•"/>
            </a:pPr>
            <a:endParaRPr lang="en-NZ"/>
          </a:p>
          <a:p>
            <a:r>
              <a:rPr lang="en-NZ"/>
              <a:t>The simplest form of structure for a directory is that of a list of entries, one for each file. </a:t>
            </a:r>
          </a:p>
          <a:p>
            <a:pPr lvl="1">
              <a:buFontTx/>
              <a:buChar char="•"/>
            </a:pPr>
            <a:r>
              <a:rPr lang="en-NZ"/>
              <a:t> This structure could be represented by a simple sequential file, with the name of the file serving as the key.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BF077A-2C72-4A24-BB4A-54EE20F304C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C728F8-95E9-4B97-8C6A-89B67082FB7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It would be awkward for a user to have to spell out the entire pathname every time a reference is made to a file.</a:t>
            </a:r>
          </a:p>
          <a:p>
            <a:endParaRPr lang="en-NZ"/>
          </a:p>
          <a:p>
            <a:r>
              <a:rPr lang="en-NZ"/>
              <a:t>Typically, an interactive user or a process has associated with it a current directory, often referred to as the working directory. </a:t>
            </a:r>
          </a:p>
          <a:p>
            <a:pPr lvl="1">
              <a:buFontTx/>
              <a:buChar char="•"/>
            </a:pPr>
            <a:r>
              <a:rPr lang="en-NZ"/>
              <a:t> Files are then referenced relative to the working directory.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5D38E5-9F85-41FB-859A-10CFDA0EF0C6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We begin with an overview, followed by a look at various file organization schemes.</a:t>
            </a:r>
          </a:p>
          <a:p>
            <a:endParaRPr lang="en-NZ"/>
          </a:p>
          <a:p>
            <a:r>
              <a:rPr lang="en-NZ"/>
              <a:t>Although file organization is generally beyond the scope of the operating system, it is essential to have a general understanding of the common alternatives to appreciate some of the design tradeoffs involved in file management. </a:t>
            </a:r>
          </a:p>
          <a:p>
            <a:endParaRPr lang="en-NZ"/>
          </a:p>
          <a:p>
            <a:r>
              <a:rPr lang="en-NZ"/>
              <a:t>The remainder of this chapter looks at other topics in file management.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55DA69-8441-4A74-AC41-5C499B0BC86C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09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In a multiuser system, there is almost always a requirement for allowing files to be shared among a number of users.</a:t>
            </a:r>
          </a:p>
          <a:p>
            <a:endParaRPr lang="en-NZ"/>
          </a:p>
          <a:p>
            <a:r>
              <a:rPr lang="en-NZ"/>
              <a:t>Two issues arise: </a:t>
            </a:r>
          </a:p>
          <a:p>
            <a:pPr lvl="1">
              <a:buFontTx/>
              <a:buChar char="•"/>
            </a:pPr>
            <a:r>
              <a:rPr lang="en-NZ"/>
              <a:t> access rights and </a:t>
            </a:r>
          </a:p>
          <a:p>
            <a:pPr lvl="1">
              <a:buFontTx/>
              <a:buChar char="•"/>
            </a:pPr>
            <a:r>
              <a:rPr lang="en-NZ"/>
              <a:t> the management `of simultaneous access.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DBE59A-9AC4-42E6-8FAD-1711ECEA981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The file system should provide a number of options so that the way in which a particular file is accessed can be controlled. </a:t>
            </a:r>
          </a:p>
          <a:p>
            <a:endParaRPr lang="en-NZ"/>
          </a:p>
          <a:p>
            <a:r>
              <a:rPr lang="en-NZ"/>
              <a:t>Typically, users or groups of users are granted certain access rights to a file. </a:t>
            </a:r>
          </a:p>
          <a:p>
            <a:endParaRPr lang="en-NZ"/>
          </a:p>
          <a:p>
            <a:r>
              <a:rPr lang="en-NZ"/>
              <a:t> A wide range of access rights has been used.</a:t>
            </a:r>
          </a:p>
          <a:p>
            <a:pPr lvl="1">
              <a:buFontTx/>
              <a:buChar char="•"/>
            </a:pPr>
            <a:r>
              <a:rPr lang="en-NZ"/>
              <a:t>These rights can be considered to constitute a hierarchy, with each right implying those that precede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0860BC-CA78-4D7A-9E6D-38C69F2428CB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We begin with an overview, followed by a look at various file organization schemes.</a:t>
            </a:r>
          </a:p>
          <a:p>
            <a:endParaRPr lang="en-NZ"/>
          </a:p>
          <a:p>
            <a:r>
              <a:rPr lang="en-NZ"/>
              <a:t>Although file organization is generally beyond the scope of the operating system, it is essential to have a general understanding of the common alternatives to appreciate some of the design tradeoffs involved in file management. </a:t>
            </a:r>
          </a:p>
          <a:p>
            <a:endParaRPr lang="en-NZ"/>
          </a:p>
          <a:p>
            <a:r>
              <a:rPr lang="en-NZ"/>
              <a:t>The remainder of this chapter looks at other topics in file management.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55DA69-8441-4A74-AC41-5C499B0BC86C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46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Records are the logical unit of access of a structured file,</a:t>
            </a:r>
          </a:p>
          <a:p>
            <a:endParaRPr lang="en-NZ"/>
          </a:p>
          <a:p>
            <a:r>
              <a:rPr lang="en-NZ"/>
              <a:t>Whereas blocks are the unit of I/O with secondary storage. For I/O to be performed,</a:t>
            </a:r>
          </a:p>
          <a:p>
            <a:r>
              <a:rPr lang="en-NZ"/>
              <a:t>records must be organized as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3EDC2A-651C-443E-96D2-61C4715BA1B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 b="1"/>
              <a:t>Fixed blocking: </a:t>
            </a:r>
            <a:r>
              <a:rPr lang="en-NZ"/>
              <a:t>Fixed-length records are used, and an integral number of records are stored in a block. </a:t>
            </a:r>
          </a:p>
          <a:p>
            <a:pPr lvl="1">
              <a:buFontTx/>
              <a:buChar char="•"/>
            </a:pPr>
            <a:r>
              <a:rPr lang="en-NZ"/>
              <a:t> There may be unused space at the end of each block.</a:t>
            </a:r>
          </a:p>
          <a:p>
            <a:pPr lvl="1">
              <a:buFontTx/>
              <a:buChar char="•"/>
            </a:pPr>
            <a:r>
              <a:rPr lang="en-NZ"/>
              <a:t> This is referred to as </a:t>
            </a:r>
            <a:r>
              <a:rPr lang="en-NZ" b="1"/>
              <a:t>internal fragmentation.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BB087C-DC87-459F-8655-5D7B16F16AED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Variable-length records are used and are packed into blocks with no unused space. </a:t>
            </a:r>
          </a:p>
          <a:p>
            <a:endParaRPr lang="en-NZ"/>
          </a:p>
          <a:p>
            <a:r>
              <a:rPr lang="en-NZ"/>
              <a:t>Thus, some records must span two blocks, with the continuation indicated by a pointer to the successor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4B2205-03B3-4737-B4F0-A07F88E1954D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Variable-length records are used, but spanning is not employed.</a:t>
            </a:r>
          </a:p>
          <a:p>
            <a:endParaRPr lang="en-NZ"/>
          </a:p>
          <a:p>
            <a:r>
              <a:rPr lang="en-NZ"/>
              <a:t>There is wasted space in most blocks because of the inability to use the remainder of a block if the next record is larger than the remaining unused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1D4F40-9569-4761-ABD1-3A311530C902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We begin with an overview, followed by a look at various file organization schemes.</a:t>
            </a:r>
          </a:p>
          <a:p>
            <a:endParaRPr lang="en-NZ"/>
          </a:p>
          <a:p>
            <a:r>
              <a:rPr lang="en-NZ"/>
              <a:t>Although file organization is generally beyond the scope of the operating system, it is essential to have a general understanding of the common alternatives to appreciate some of the design tradeoffs involved in file management. </a:t>
            </a:r>
          </a:p>
          <a:p>
            <a:endParaRPr lang="en-NZ"/>
          </a:p>
          <a:p>
            <a:r>
              <a:rPr lang="en-NZ"/>
              <a:t>The remainder of this chapter looks at other topics in file management.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55DA69-8441-4A74-AC41-5C499B0BC86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0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At one extreme, a portion large enough to hold the entire file is allocated.</a:t>
            </a:r>
          </a:p>
          <a:p>
            <a:endParaRPr lang="en-NZ"/>
          </a:p>
          <a:p>
            <a:r>
              <a:rPr lang="en-NZ"/>
              <a:t>Space on the disk is allocated one block at a time. </a:t>
            </a:r>
          </a:p>
          <a:p>
            <a:endParaRPr lang="en-NZ"/>
          </a:p>
          <a:p>
            <a:r>
              <a:rPr lang="en-NZ"/>
              <a:t>In choosing a portion size, there is a tradeoff between efficiency from the point of view of a single file versus overall system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1D18DD-8161-45B1-866B-05DA2CCAEC69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AEE08C-7308-4F69-941B-DC230E2CB60E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External fragmentation will occur, making it difficult to find contiguous blocks of space of sufficient length. </a:t>
            </a:r>
          </a:p>
          <a:p>
            <a:endParaRPr lang="en-NZ"/>
          </a:p>
          <a:p>
            <a:r>
              <a:rPr lang="en-NZ"/>
              <a:t>From time to time, it will be necessary to perform a compaction algorithm to free up additional space on the disk.</a:t>
            </a:r>
          </a:p>
          <a:p>
            <a:endParaRPr lang="en-NZ"/>
          </a:p>
          <a:p>
            <a:r>
              <a:rPr lang="en-NZ"/>
              <a:t>Also, with preallocation, it is necessary to declare the size of the file at the time of creation, with the problems mentioned earlier.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1A8C01-FE56-468B-ADE0-519213C3482D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748B79-A9AB-4F7E-A523-89C0A9D89D37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One consequence of chaining, is that there is no accommodation of the principle of locality.</a:t>
            </a:r>
          </a:p>
          <a:p>
            <a:endParaRPr lang="en-NZ"/>
          </a:p>
          <a:p>
            <a:r>
              <a:rPr lang="en-NZ"/>
              <a:t>If it is necessary to bring in several blocks of a file at a time, as in sequential processing, then a series of accesses to different parts of the disk are required. </a:t>
            </a:r>
          </a:p>
          <a:p>
            <a:pPr lvl="1">
              <a:buFontTx/>
              <a:buChar char="•"/>
            </a:pPr>
            <a:r>
              <a:rPr lang="en-NZ"/>
              <a:t>This is perhaps a more significant effect on a single-user system but may also be of concern on a shared system. </a:t>
            </a:r>
          </a:p>
          <a:p>
            <a:pPr lvl="1">
              <a:buFontTx/>
              <a:buChar char="•"/>
            </a:pPr>
            <a:r>
              <a:rPr lang="en-NZ"/>
              <a:t> To overcome this problem, some systems periodically consolidate files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028E0A-F93A-447F-A166-D9D362EDACC0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BA1B-9050-4D8C-B885-76BBEA58AD8F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Just as the space that is allocated to files must be managed, so the space that is not currently allocated to any file must be managed. </a:t>
            </a:r>
          </a:p>
          <a:p>
            <a:endParaRPr lang="en-NZ"/>
          </a:p>
          <a:p>
            <a:r>
              <a:rPr lang="en-NZ"/>
              <a:t>To perform any of the file allocation techniques described previously, it is necessary to know what blocks on the disk are available. </a:t>
            </a:r>
          </a:p>
          <a:p>
            <a:endParaRPr lang="en-NZ"/>
          </a:p>
          <a:p>
            <a:r>
              <a:rPr lang="en-NZ"/>
              <a:t>Thus we need a disk allocation table in addition to a file allocation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407C40-1857-42F9-8D33-C32E43115B21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/>
              <a:t>The indexing approach treats free space as a file and uses an index table as described under file allocation.</a:t>
            </a:r>
          </a:p>
          <a:p>
            <a:endParaRPr lang="en-NZ"/>
          </a:p>
          <a:p>
            <a:r>
              <a:rPr lang="en-NZ"/>
              <a:t>For efficiency, the index should be on the basis of variable-size portions rather than blocks.</a:t>
            </a:r>
          </a:p>
          <a:p>
            <a:pPr lvl="1">
              <a:buFontTx/>
              <a:buChar char="•"/>
            </a:pPr>
            <a:r>
              <a:rPr lang="en-NZ"/>
              <a:t> Thus, there is one entry in the table for every free portion on the disk.</a:t>
            </a:r>
          </a:p>
          <a:p>
            <a:pPr lvl="1">
              <a:buFontTx/>
              <a:buChar char="•"/>
            </a:pPr>
            <a:r>
              <a:rPr lang="en-NZ"/>
              <a:t> This approach provides efficient support for all of the file allocation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1CAEAD-2418-4A74-B28D-9B118FD40BBB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NZ" dirty="0"/>
              <a:t>The term volume is used somewhat differently by different operating systems and file management systems, but in essence a volume is a logical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C6FE15-6150-467A-ABC4-89FB0E2245CD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138C026-C759-484D-A8CB-1281E0D7442C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83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571F-21D1-4CFB-9AAD-845353B02692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18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3CD6-701C-4F2D-B516-D0BBA1B791B4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86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88D8-CB77-4C0F-9B67-794D28101F28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7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FFBB3-4841-4F99-A166-11554173BF55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136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CBD5-932E-433C-A100-98C36789613A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95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50988-392F-4789-98C7-7EEE71C53E68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2BDB-4C8A-4001-B17C-E0227BB8EEFF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5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C9B5-0D57-4587-A6A2-A329F00309F4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22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95B9-4203-4CA4-8D36-3E61266FF109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62D1-BC3C-4448-B354-4E0B2A8F296A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53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05FFBB3-4841-4F99-A166-11554173BF55}" type="datetime1">
              <a:rPr lang="en-US" smtClean="0"/>
              <a:pPr/>
              <a:t>11/8/2022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Shri Sunshine Education instirute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88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gi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gi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gi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CBD190-626E-4CC3-907D-58A50C239010}"/>
              </a:ext>
            </a:extLst>
          </p:cNvPr>
          <p:cNvSpPr txBox="1">
            <a:spLocks/>
          </p:cNvSpPr>
          <p:nvPr/>
        </p:nvSpPr>
        <p:spPr>
          <a:xfrm>
            <a:off x="0" y="4544516"/>
            <a:ext cx="9144000" cy="231348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             Unit-4 part-2</a:t>
            </a:r>
          </a:p>
          <a:p>
            <a:pPr algn="ctr"/>
            <a:r>
              <a:rPr lang="en-NZ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         File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5577B-7299-4055-851F-56EE68039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1949"/>
            <a:ext cx="2743200" cy="23060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419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Overview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File organisation and Access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File Directories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File Sharing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Record Blocking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Secondary Storage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81000" y="14478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8407A-358B-4209-BDD5-AC58D83F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1479394"/>
            <a:ext cx="2102005" cy="294020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3200" b="1" dirty="0">
                <a:latin typeface="Calibri" pitchFamily="34" charset="0"/>
              </a:rPr>
              <a:t>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533400"/>
            <a:ext cx="8534400" cy="62478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In most applications, the file is the central element.</a:t>
            </a: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From the user’s point of view, one of the most important parts of an operating system is the file system.</a:t>
            </a:r>
          </a:p>
          <a:p>
            <a:pPr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The file system provides the resource abstractions typically associated with secondary storage. </a:t>
            </a:r>
          </a:p>
          <a:p>
            <a:pPr algn="just">
              <a:buFont typeface="Arial" pitchFamily="34" charset="0"/>
              <a:buChar char="•"/>
            </a:pPr>
            <a:endParaRPr lang="en-NZ" sz="2000" dirty="0">
              <a:latin typeface="Comic Sans MS" panose="030F0702030302020204" pitchFamily="66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Desirable properties include</a:t>
            </a:r>
          </a:p>
          <a:p>
            <a:pPr lvl="1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</a:t>
            </a:r>
            <a:r>
              <a:rPr lang="en-NZ" sz="2000" b="1" dirty="0">
                <a:latin typeface="Comic Sans MS" panose="030F0702030302020204" pitchFamily="66" charset="0"/>
              </a:rPr>
              <a:t>Long-term existence: </a:t>
            </a:r>
          </a:p>
          <a:p>
            <a:pPr lvl="3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Files are stored on disk or other secondary storage and do not disappear when a user logs off.</a:t>
            </a:r>
          </a:p>
          <a:p>
            <a:pPr lvl="1" algn="just">
              <a:buFontTx/>
              <a:buChar char="•"/>
            </a:pPr>
            <a:r>
              <a:rPr lang="en-NZ" sz="2000" b="1" dirty="0">
                <a:latin typeface="Comic Sans MS" panose="030F0702030302020204" pitchFamily="66" charset="0"/>
              </a:rPr>
              <a:t> Sharable between processes:</a:t>
            </a:r>
            <a:r>
              <a:rPr lang="en-NZ" sz="2000" dirty="0">
                <a:latin typeface="Comic Sans MS" panose="030F0702030302020204" pitchFamily="66" charset="0"/>
              </a:rPr>
              <a:t> </a:t>
            </a:r>
          </a:p>
          <a:p>
            <a:pPr lvl="3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Files have names and can have associated access permissions that permit controlled sharing.</a:t>
            </a:r>
          </a:p>
          <a:p>
            <a:pPr lvl="1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</a:t>
            </a:r>
            <a:r>
              <a:rPr lang="en-NZ" sz="2000" b="1" dirty="0">
                <a:latin typeface="Comic Sans MS" panose="030F0702030302020204" pitchFamily="66" charset="0"/>
              </a:rPr>
              <a:t>Structure: </a:t>
            </a:r>
          </a:p>
          <a:p>
            <a:pPr lvl="3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Depending on the file system, a file can have an internal structure that is convenient for particular applications. </a:t>
            </a:r>
          </a:p>
          <a:p>
            <a:pPr lvl="3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In addition, files can be organized into hierarchical or more complex structure to reflect the relationships among files.</a:t>
            </a:r>
          </a:p>
          <a:p>
            <a:pPr algn="just">
              <a:buFont typeface="Arial" pitchFamily="34" charset="0"/>
              <a:buChar char="•"/>
            </a:pPr>
            <a:endParaRPr lang="en-NZ" sz="2000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11619-07AF-4E3B-8A4D-D0F670D1D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5029200"/>
            <a:ext cx="1578664" cy="1578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File Management</a:t>
            </a:r>
          </a:p>
        </p:txBody>
      </p:sp>
      <p:sp>
        <p:nvSpPr>
          <p:cNvPr id="7171" name="Content Placeholder 3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82014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File management system consists of system utility programs that run as privileged applications </a:t>
            </a:r>
            <a:r>
              <a:rPr lang="en-US" dirty="0">
                <a:latin typeface="Comic Sans MS" panose="030F0702030302020204" pitchFamily="66" charset="0"/>
              </a:rPr>
              <a:t>co</a:t>
            </a:r>
            <a:r>
              <a:rPr lang="en-US" sz="2000" dirty="0">
                <a:latin typeface="Comic Sans MS" panose="030F0702030302020204" pitchFamily="66" charset="0"/>
              </a:rPr>
              <a:t>ncerned with secondary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63525" y="1438774"/>
            <a:ext cx="82296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Typical Operations</a:t>
            </a:r>
            <a:endParaRPr kumimoji="0" lang="en-NZ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949708"/>
            <a:ext cx="9067800" cy="48320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 Any file system provides not only a means to store data organized as files, but a collection of functions that can be performed on files. </a:t>
            </a:r>
          </a:p>
          <a:p>
            <a:pPr algn="just">
              <a:buFont typeface="Arial" pitchFamily="34" charset="0"/>
              <a:buChar char="•"/>
            </a:pP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 Typical operations include the following:</a:t>
            </a:r>
          </a:p>
          <a:p>
            <a:pPr lvl="1" algn="just">
              <a:buFontTx/>
              <a:buChar char="•"/>
            </a:pPr>
            <a:r>
              <a:rPr lang="en-NZ" sz="2200" b="1" dirty="0">
                <a:latin typeface="Calibri" panose="020F0502020204030204" pitchFamily="34" charset="0"/>
                <a:cs typeface="Calibri" panose="020F0502020204030204" pitchFamily="34" charset="0"/>
              </a:rPr>
              <a:t> Create: </a:t>
            </a: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A new file is defined and positioned within the structure of files.</a:t>
            </a:r>
          </a:p>
          <a:p>
            <a:pPr lvl="1" algn="just">
              <a:buFontTx/>
              <a:buChar char="•"/>
            </a:pPr>
            <a:r>
              <a:rPr lang="en-NZ" sz="2200" b="1" dirty="0">
                <a:latin typeface="Calibri" panose="020F0502020204030204" pitchFamily="34" charset="0"/>
                <a:cs typeface="Calibri" panose="020F0502020204030204" pitchFamily="34" charset="0"/>
              </a:rPr>
              <a:t> Delete: </a:t>
            </a: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A file is removed from the file structure and destroyed.</a:t>
            </a:r>
          </a:p>
          <a:p>
            <a:pPr lvl="1" algn="just">
              <a:buFontTx/>
              <a:buChar char="•"/>
            </a:pPr>
            <a:r>
              <a:rPr lang="en-NZ" sz="2200" b="1" dirty="0">
                <a:latin typeface="Calibri" panose="020F0502020204030204" pitchFamily="34" charset="0"/>
                <a:cs typeface="Calibri" panose="020F0502020204030204" pitchFamily="34" charset="0"/>
              </a:rPr>
              <a:t> Open: </a:t>
            </a: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An existing file is declared to be “opened” by a process, allowing the process to perform functions on the file.</a:t>
            </a:r>
          </a:p>
          <a:p>
            <a:pPr lvl="1" algn="just">
              <a:buFontTx/>
              <a:buChar char="•"/>
            </a:pP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Z" sz="2200" b="1" dirty="0">
                <a:latin typeface="Calibri" panose="020F0502020204030204" pitchFamily="34" charset="0"/>
                <a:cs typeface="Calibri" panose="020F0502020204030204" pitchFamily="34" charset="0"/>
              </a:rPr>
              <a:t>Close: </a:t>
            </a: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The file is closed with respect to a process, so that the process no longer may perform functions on the file, until the process opens the file again. </a:t>
            </a:r>
          </a:p>
          <a:p>
            <a:pPr lvl="1" algn="just">
              <a:buFontTx/>
              <a:buChar char="•"/>
            </a:pP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Z" sz="2200" b="1" dirty="0">
                <a:latin typeface="Calibri" panose="020F0502020204030204" pitchFamily="34" charset="0"/>
                <a:cs typeface="Calibri" panose="020F0502020204030204" pitchFamily="34" charset="0"/>
              </a:rPr>
              <a:t>Read: </a:t>
            </a: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A process reads all or a portion of the data in a file.</a:t>
            </a:r>
          </a:p>
          <a:p>
            <a:pPr lvl="1" algn="just">
              <a:buFontTx/>
              <a:buChar char="•"/>
            </a:pP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Z" sz="2200" b="1" dirty="0">
                <a:latin typeface="Calibri" panose="020F0502020204030204" pitchFamily="34" charset="0"/>
                <a:cs typeface="Calibri" panose="020F0502020204030204" pitchFamily="34" charset="0"/>
              </a:rPr>
              <a:t>Write:</a:t>
            </a:r>
            <a:r>
              <a:rPr lang="en-NZ" sz="2200" dirty="0">
                <a:latin typeface="Calibri" panose="020F0502020204030204" pitchFamily="34" charset="0"/>
                <a:cs typeface="Calibri" panose="020F0502020204030204" pitchFamily="34" charset="0"/>
              </a:rPr>
              <a:t> A process updates a file, either by adding new data that expands the size S of the file or by changing the values of existing data items in the file.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457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NZ" sz="2600" b="1" dirty="0">
                <a:latin typeface="Calibri" pitchFamily="34" charset="0"/>
              </a:rPr>
              <a:t>File Structure-Terms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76200" y="741682"/>
            <a:ext cx="8991600" cy="198119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000" dirty="0">
                <a:latin typeface="Comic Sans MS" panose="030F0702030302020204" pitchFamily="66" charset="0"/>
              </a:rPr>
              <a:t>Four terms are in common use when discussing files:</a:t>
            </a:r>
          </a:p>
          <a:p>
            <a:pPr lvl="1"/>
            <a:r>
              <a:rPr lang="en-NZ" sz="2000" dirty="0">
                <a:latin typeface="Comic Sans MS" panose="030F0702030302020204" pitchFamily="66" charset="0"/>
              </a:rPr>
              <a:t>Field</a:t>
            </a:r>
          </a:p>
          <a:p>
            <a:pPr lvl="1"/>
            <a:r>
              <a:rPr lang="en-NZ" sz="2000" dirty="0">
                <a:latin typeface="Comic Sans MS" panose="030F0702030302020204" pitchFamily="66" charset="0"/>
              </a:rPr>
              <a:t>Record</a:t>
            </a:r>
          </a:p>
          <a:p>
            <a:pPr lvl="1"/>
            <a:r>
              <a:rPr lang="en-NZ" sz="2000" dirty="0">
                <a:latin typeface="Comic Sans MS" panose="030F0702030302020204" pitchFamily="66" charset="0"/>
              </a:rPr>
              <a:t>File</a:t>
            </a:r>
          </a:p>
          <a:p>
            <a:pPr lvl="1"/>
            <a:r>
              <a:rPr lang="en-NZ" sz="2000" dirty="0">
                <a:latin typeface="Comic Sans MS" panose="030F0702030302020204" pitchFamily="66" charset="0"/>
              </a:rPr>
              <a:t>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68605" y="2799461"/>
            <a:ext cx="8229600" cy="381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Fields and Records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712" y="3190621"/>
            <a:ext cx="9026087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NZ" sz="2400" b="1" dirty="0">
                <a:latin typeface="Comic Sans MS" panose="030F0702030302020204" pitchFamily="66" charset="0"/>
              </a:rPr>
              <a:t>A field </a:t>
            </a:r>
            <a:r>
              <a:rPr lang="en-NZ" sz="2400" dirty="0">
                <a:latin typeface="Comic Sans MS" panose="030F0702030302020204" pitchFamily="66" charset="0"/>
              </a:rPr>
              <a:t>is the basic element of data.</a:t>
            </a:r>
          </a:p>
          <a:p>
            <a:pPr lvl="1" algn="just">
              <a:buFontTx/>
              <a:buChar char="•"/>
            </a:pPr>
            <a:r>
              <a:rPr lang="en-NZ" sz="2400" dirty="0">
                <a:latin typeface="Comic Sans MS" panose="030F0702030302020204" pitchFamily="66" charset="0"/>
              </a:rPr>
              <a:t> It is characterized by its length and data type (e.g. </a:t>
            </a:r>
            <a:r>
              <a:rPr lang="en-NZ" sz="2400">
                <a:latin typeface="Comic Sans MS" panose="030F0702030302020204" pitchFamily="66" charset="0"/>
              </a:rPr>
              <a:t>ASCII string</a:t>
            </a:r>
            <a:r>
              <a:rPr lang="en-NZ" sz="2400" dirty="0">
                <a:latin typeface="Comic Sans MS" panose="030F0702030302020204" pitchFamily="66" charset="0"/>
              </a:rPr>
              <a:t>, decimal). </a:t>
            </a:r>
          </a:p>
          <a:p>
            <a:pPr lvl="1" algn="just">
              <a:buFontTx/>
              <a:buChar char="•"/>
            </a:pPr>
            <a:r>
              <a:rPr lang="en-NZ" sz="2400" dirty="0">
                <a:latin typeface="Comic Sans MS" panose="030F0702030302020204" pitchFamily="66" charset="0"/>
              </a:rPr>
              <a:t> Depending on the file design, fields may be fixed length or variable length.</a:t>
            </a:r>
          </a:p>
          <a:p>
            <a:pPr algn="just">
              <a:buFont typeface="Arial" pitchFamily="34" charset="0"/>
              <a:buChar char="•"/>
            </a:pPr>
            <a:r>
              <a:rPr lang="en-NZ" sz="2400" b="1" dirty="0">
                <a:latin typeface="Comic Sans MS" panose="030F0702030302020204" pitchFamily="66" charset="0"/>
              </a:rPr>
              <a:t> A record </a:t>
            </a:r>
            <a:r>
              <a:rPr lang="en-NZ" sz="2400" dirty="0">
                <a:latin typeface="Comic Sans MS" panose="030F0702030302020204" pitchFamily="66" charset="0"/>
              </a:rPr>
              <a:t>is a collection of related fields that can be treated as a unit by some application program.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99BB0-03C0-49DE-9E2A-ECB2C0E4C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762001"/>
            <a:ext cx="2114353" cy="19041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File and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0350" y="638189"/>
            <a:ext cx="8229600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  <a:defRPr/>
            </a:pPr>
            <a:r>
              <a:rPr lang="en-NZ" sz="2200" b="1" dirty="0">
                <a:latin typeface="Comic Sans MS" panose="030F0702030302020204" pitchFamily="66" charset="0"/>
              </a:rPr>
              <a:t>A file </a:t>
            </a:r>
            <a:r>
              <a:rPr lang="en-NZ" sz="2200" dirty="0">
                <a:latin typeface="Comic Sans MS" panose="030F0702030302020204" pitchFamily="66" charset="0"/>
              </a:rPr>
              <a:t>is a collection of similar records. </a:t>
            </a:r>
          </a:p>
          <a:p>
            <a:pPr lvl="1" algn="just">
              <a:buFont typeface="Arial" pitchFamily="34" charset="0"/>
              <a:buChar char="•"/>
              <a:defRPr/>
            </a:pPr>
            <a:r>
              <a:rPr lang="en-NZ" sz="2200" dirty="0">
                <a:latin typeface="Comic Sans MS" panose="030F0702030302020204" pitchFamily="66" charset="0"/>
              </a:rPr>
              <a:t>  The file is treated as a single entity by users and applications and may be referenced by name.</a:t>
            </a:r>
          </a:p>
          <a:p>
            <a:pPr lvl="1" algn="just">
              <a:buFont typeface="Arial" pitchFamily="34" charset="0"/>
              <a:buChar char="•"/>
              <a:defRPr/>
            </a:pPr>
            <a:r>
              <a:rPr lang="en-NZ" sz="2200" dirty="0">
                <a:latin typeface="Comic Sans MS" panose="030F0702030302020204" pitchFamily="66" charset="0"/>
              </a:rPr>
              <a:t>  Files have file names and may be created and deleted. </a:t>
            </a:r>
          </a:p>
          <a:p>
            <a:pPr lvl="1" algn="just">
              <a:buFont typeface="Arial" pitchFamily="34" charset="0"/>
              <a:buChar char="•"/>
              <a:defRPr/>
            </a:pPr>
            <a:r>
              <a:rPr lang="en-NZ" sz="2200" dirty="0">
                <a:latin typeface="Comic Sans MS" panose="030F0702030302020204" pitchFamily="66" charset="0"/>
              </a:rPr>
              <a:t>  Access control restrictions usually apply at the file level.</a:t>
            </a:r>
          </a:p>
          <a:p>
            <a:pPr algn="just">
              <a:buFont typeface="Arial" pitchFamily="34" charset="0"/>
              <a:buChar char="•"/>
              <a:defRPr/>
            </a:pPr>
            <a:endParaRPr lang="en-NZ" sz="2200" dirty="0">
              <a:latin typeface="Comic Sans MS" panose="030F0702030302020204" pitchFamily="66" charset="0"/>
            </a:endParaRPr>
          </a:p>
          <a:p>
            <a:pPr algn="just">
              <a:buFont typeface="Arial" pitchFamily="34" charset="0"/>
              <a:buChar char="•"/>
              <a:defRPr/>
            </a:pPr>
            <a:r>
              <a:rPr lang="en-NZ" sz="2200" b="1" dirty="0">
                <a:latin typeface="Comic Sans MS" panose="030F0702030302020204" pitchFamily="66" charset="0"/>
              </a:rPr>
              <a:t>A database </a:t>
            </a:r>
            <a:r>
              <a:rPr lang="en-NZ" sz="2200" dirty="0">
                <a:latin typeface="Comic Sans MS" panose="030F0702030302020204" pitchFamily="66" charset="0"/>
              </a:rPr>
              <a:t>is a collection of related data. </a:t>
            </a:r>
          </a:p>
          <a:p>
            <a:pPr lvl="1" algn="just">
              <a:buFont typeface="Arial" pitchFamily="34" charset="0"/>
              <a:buChar char="•"/>
              <a:defRPr/>
            </a:pPr>
            <a:r>
              <a:rPr lang="en-NZ" sz="2200" dirty="0">
                <a:latin typeface="Comic Sans MS" panose="030F0702030302020204" pitchFamily="66" charset="0"/>
              </a:rPr>
              <a:t> Explicit relationships exist among elements of data </a:t>
            </a:r>
          </a:p>
          <a:p>
            <a:pPr lvl="1" algn="just">
              <a:buFont typeface="Arial" pitchFamily="34" charset="0"/>
              <a:buChar char="•"/>
              <a:defRPr/>
            </a:pPr>
            <a:r>
              <a:rPr lang="en-NZ" sz="2200" dirty="0">
                <a:latin typeface="Comic Sans MS" panose="030F0702030302020204" pitchFamily="66" charset="0"/>
              </a:rPr>
              <a:t> The database itself consists of one or more types of files.</a:t>
            </a:r>
          </a:p>
          <a:p>
            <a:pPr lvl="1" algn="just">
              <a:buFont typeface="Arial" pitchFamily="34" charset="0"/>
              <a:buChar char="•"/>
              <a:defRPr/>
            </a:pPr>
            <a:r>
              <a:rPr lang="en-NZ" sz="2200" dirty="0">
                <a:latin typeface="Comic Sans MS" panose="030F0702030302020204" pitchFamily="66" charset="0"/>
              </a:rPr>
              <a:t> Usually, there is a separate database management system that is independent of the operating system, although that system may make use of some file management programs.</a:t>
            </a:r>
            <a:endParaRPr lang="en-US" sz="22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File Management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643269"/>
            <a:ext cx="5257800" cy="4493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NZ" sz="2200" dirty="0">
                <a:latin typeface="Calibri" pitchFamily="34" charset="0"/>
              </a:rPr>
              <a:t> A file management system is the set of system software that provides services to users and applications in the use of files.</a:t>
            </a:r>
          </a:p>
          <a:p>
            <a:pPr lvl="1" algn="just">
              <a:buFontTx/>
              <a:buChar char="•"/>
            </a:pPr>
            <a:r>
              <a:rPr lang="en-NZ" sz="2200" dirty="0">
                <a:latin typeface="Calibri" pitchFamily="34" charset="0"/>
              </a:rPr>
              <a:t> Typically, the only way that a user or application may access files is through the file management system.</a:t>
            </a:r>
          </a:p>
          <a:p>
            <a:pPr algn="just">
              <a:buFont typeface="Arial" pitchFamily="34" charset="0"/>
              <a:buChar char="•"/>
            </a:pPr>
            <a:endParaRPr lang="en-NZ" sz="2200" dirty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NZ" sz="2200" dirty="0">
                <a:latin typeface="Calibri" pitchFamily="34" charset="0"/>
              </a:rPr>
              <a:t> This relieves the user or programmer of the necessity of developing special-purpose software for each application </a:t>
            </a:r>
          </a:p>
          <a:p>
            <a:pPr algn="just">
              <a:buFontTx/>
              <a:buChar char="•"/>
            </a:pPr>
            <a:r>
              <a:rPr lang="en-NZ" sz="2200" dirty="0">
                <a:latin typeface="Calibri" pitchFamily="34" charset="0"/>
              </a:rPr>
              <a:t> And provides the system with a consistent, well-defined means of controlling its most important asset.</a:t>
            </a:r>
            <a:endParaRPr lang="en-US" sz="2200" dirty="0">
              <a:latin typeface="Calibr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2D3DD-424B-4446-BBF2-A8DF76EA2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0"/>
            <a:ext cx="21336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b="1" dirty="0">
                <a:latin typeface="Calibri" pitchFamily="34" charset="0"/>
              </a:rPr>
              <a:t>Objectives for a File Management System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39445" y="1219200"/>
            <a:ext cx="5685155" cy="4876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itchFamily="34" charset="0"/>
              </a:rPr>
              <a:t>Meet the data management needs of the user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itchFamily="34" charset="0"/>
              </a:rPr>
              <a:t> Guarantee that the data in the file are valid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itchFamily="34" charset="0"/>
              </a:rPr>
              <a:t> Optimize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itchFamily="34" charset="0"/>
              </a:rPr>
              <a:t> Provide I/O support for a variety of storage device 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itchFamily="34" charset="0"/>
              </a:rPr>
              <a:t> </a:t>
            </a:r>
            <a:r>
              <a:rPr lang="en-NZ" sz="2400" dirty="0">
                <a:latin typeface="Calibri" pitchFamily="34" charset="0"/>
              </a:rPr>
              <a:t>Minimize lost or destroyed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NZ" sz="2400" dirty="0">
                <a:latin typeface="Calibri" pitchFamily="34" charset="0"/>
              </a:rPr>
              <a:t> Provide a standardized set of I/O interface routines to user processes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NZ" sz="2400" dirty="0">
                <a:latin typeface="Calibri" pitchFamily="34" charset="0"/>
              </a:rPr>
              <a:t> Provide I/O support for multiple users (if needed)</a:t>
            </a:r>
          </a:p>
          <a:p>
            <a:endParaRPr lang="en-US" sz="2400" dirty="0">
              <a:latin typeface="Calibri" pitchFamily="34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E28FD1-9675-4D2B-94CA-195D6D440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905000"/>
            <a:ext cx="1219200" cy="1905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b="1" dirty="0">
                <a:latin typeface="Calibri" pitchFamily="34" charset="0"/>
              </a:rPr>
              <a:t>File System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731" y="755705"/>
            <a:ext cx="8610599" cy="5714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EEC07B-00DF-4ED4-85EF-35A91A43E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066800"/>
            <a:ext cx="1563425" cy="15634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0"/>
            <a:ext cx="8229600" cy="4873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File System Architecture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685800"/>
            <a:ext cx="88392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  One way of getting a feel for the scope of file management is to look at a depiction of a typical software organization, as suggested in Figure 12.1.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  Different systems will be organized differently, but this organization is reasonably representative.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2778045"/>
            <a:ext cx="8229600" cy="41796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b="1" dirty="0">
                <a:latin typeface="Calibri" pitchFamily="34" charset="0"/>
              </a:rPr>
              <a:t>Device Drivers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3429000"/>
            <a:ext cx="8686800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000" b="1" dirty="0">
                <a:latin typeface="Comic Sans MS" panose="030F0702030302020204" pitchFamily="66" charset="0"/>
              </a:rPr>
              <a:t>device drivers </a:t>
            </a:r>
            <a:r>
              <a:rPr lang="en-NZ" sz="2000" dirty="0">
                <a:latin typeface="Comic Sans MS" panose="030F0702030302020204" pitchFamily="66" charset="0"/>
              </a:rPr>
              <a:t>communicate at the lowest level directly with peripheral devices or their controllers or channels.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A device driver is responsible for starting I/O operations on a device and processing the completion of an I/O request.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For file operations, the typical devices controlled are disk and tape drives.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Device drivers are usually considered to be part of the operating system.</a:t>
            </a:r>
            <a:endParaRPr lang="en-US" sz="2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0"/>
            <a:ext cx="8229600" cy="487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Basic File System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00" y="533400"/>
            <a:ext cx="899160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000" b="1" dirty="0">
                <a:latin typeface="Comic Sans MS" panose="030F0702030302020204" pitchFamily="66" charset="0"/>
              </a:rPr>
              <a:t>basic file system</a:t>
            </a:r>
            <a:r>
              <a:rPr lang="en-NZ" sz="2000" dirty="0">
                <a:latin typeface="Comic Sans MS" panose="030F0702030302020204" pitchFamily="66" charset="0"/>
              </a:rPr>
              <a:t>, or </a:t>
            </a:r>
            <a:r>
              <a:rPr lang="en-NZ" sz="2000" b="1" dirty="0">
                <a:latin typeface="Comic Sans MS" panose="030F0702030302020204" pitchFamily="66" charset="0"/>
              </a:rPr>
              <a:t>the physical I/O level.</a:t>
            </a:r>
          </a:p>
          <a:p>
            <a:endParaRPr lang="en-NZ" sz="2000" dirty="0">
              <a:latin typeface="Comic Sans MS" panose="030F0702030302020204" pitchFamily="66" charset="0"/>
            </a:endParaRPr>
          </a:p>
          <a:p>
            <a:r>
              <a:rPr lang="en-NZ" sz="2000" dirty="0">
                <a:latin typeface="Comic Sans MS" panose="030F0702030302020204" pitchFamily="66" charset="0"/>
              </a:rPr>
              <a:t>This is the primary interface with the environment outside of the computer system.</a:t>
            </a:r>
          </a:p>
          <a:p>
            <a:endParaRPr lang="en-NZ" sz="2000" dirty="0">
              <a:latin typeface="Comic Sans MS" panose="030F0702030302020204" pitchFamily="66" charset="0"/>
            </a:endParaRPr>
          </a:p>
          <a:p>
            <a:r>
              <a:rPr lang="en-NZ" sz="2000" dirty="0">
                <a:latin typeface="Comic Sans MS" panose="030F0702030302020204" pitchFamily="66" charset="0"/>
              </a:rPr>
              <a:t>It deals with blocks of data that are exchanged with disk or tape systems. 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170238"/>
            <a:ext cx="8229600" cy="41116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400" b="1" dirty="0">
                <a:latin typeface="Calibri" pitchFamily="34" charset="0"/>
              </a:rPr>
              <a:t>Basic I/O Supervisor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3687901"/>
            <a:ext cx="91440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Basic I/O supervisor is responsible for all file I/O initiation and termination.</a:t>
            </a: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Control structures are maintained that deal with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device I/O,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scheduling, and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file status.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C3C481-6545-4146-9E8F-3BF74B48D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83" y="4191000"/>
            <a:ext cx="1767417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alibri" pitchFamily="34" charset="0"/>
              </a:rPr>
              <a:t>Logical I/O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76200" y="3825432"/>
            <a:ext cx="8991600" cy="234676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Closest to the user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Reflect different file structures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NZ" sz="2000" dirty="0">
                <a:latin typeface="Comic Sans MS" panose="030F0702030302020204" pitchFamily="66" charset="0"/>
              </a:rPr>
              <a:t>Provides a standard interface between applications and the file systems and devices that hold the data</a:t>
            </a:r>
            <a:endParaRPr lang="en-US" sz="2000" dirty="0">
              <a:latin typeface="Comic Sans MS" panose="030F0702030302020204" pitchFamily="66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Access method varies depending on the ways to access and process data for the device.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685800"/>
            <a:ext cx="906780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NZ" sz="2000" b="1" dirty="0">
                <a:latin typeface="Comic Sans MS" panose="030F0702030302020204" pitchFamily="66" charset="0"/>
              </a:rPr>
              <a:t>Logical I/O </a:t>
            </a:r>
            <a:r>
              <a:rPr lang="en-NZ" sz="2000" dirty="0">
                <a:latin typeface="Comic Sans MS" panose="030F0702030302020204" pitchFamily="66" charset="0"/>
              </a:rPr>
              <a:t>enables users and applications to access records.</a:t>
            </a:r>
          </a:p>
          <a:p>
            <a:pPr algn="just">
              <a:buFont typeface="Arial" pitchFamily="34" charset="0"/>
              <a:buChar char="•"/>
            </a:pPr>
            <a:endParaRPr lang="en-NZ" sz="2000" dirty="0">
              <a:latin typeface="Comic Sans MS" panose="030F0702030302020204" pitchFamily="66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Whereas the basic file system deals with blocks of data, </a:t>
            </a:r>
          </a:p>
          <a:p>
            <a:pPr lvl="1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the logical I/O module deals with file records.</a:t>
            </a:r>
          </a:p>
          <a:p>
            <a:pPr algn="just">
              <a:buFont typeface="Arial" pitchFamily="34" charset="0"/>
              <a:buChar char="•"/>
            </a:pPr>
            <a:endParaRPr lang="en-NZ" sz="2000" dirty="0">
              <a:latin typeface="Comic Sans MS" panose="030F0702030302020204" pitchFamily="66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Logical I/O provides a general-purpose record I/O capability </a:t>
            </a:r>
          </a:p>
          <a:p>
            <a:pPr lvl="1" algn="just">
              <a:buFontTx/>
              <a:buChar char="•"/>
            </a:pPr>
            <a:r>
              <a:rPr lang="en-NZ" sz="2000" dirty="0">
                <a:latin typeface="Comic Sans MS" panose="030F0702030302020204" pitchFamily="66" charset="0"/>
              </a:rPr>
              <a:t> and maintains basic data about files.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3094038"/>
            <a:ext cx="8229600" cy="411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Access Method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620000" cy="411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b="1" dirty="0"/>
              <a:t>File Management Functions</a:t>
            </a:r>
            <a:endParaRPr lang="en-US" sz="2400" b="1" dirty="0"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533400"/>
            <a:ext cx="8991599" cy="6324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80DC74-D5DD-4BDB-9A80-D01841220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4572000"/>
            <a:ext cx="1428750" cy="1428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419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Overview</a:t>
            </a:r>
          </a:p>
          <a:p>
            <a:r>
              <a:rPr lang="en-NZ" sz="32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File organisation and Access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File Directories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File Sharing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Record Blocking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Secondary Storage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81000" y="20574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8407A-358B-4209-BDD5-AC58D83F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1479394"/>
            <a:ext cx="2102005" cy="294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3257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411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2800" b="1" dirty="0">
                <a:latin typeface="Calibri" pitchFamily="34" charset="0"/>
              </a:rPr>
              <a:t>File Organization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5400" y="506889"/>
            <a:ext cx="9144000" cy="1219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File Management Referring to the logical structure of records</a:t>
            </a:r>
          </a:p>
          <a:p>
            <a:pPr lvl="1"/>
            <a:r>
              <a:rPr lang="en-US" sz="2000" dirty="0">
                <a:latin typeface="Comic Sans MS" panose="030F0702030302020204" pitchFamily="66" charset="0"/>
              </a:rPr>
              <a:t>Physical organization discussed later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Determined by the </a:t>
            </a:r>
            <a:r>
              <a:rPr lang="en-US" sz="2000" b="1" i="1" dirty="0">
                <a:latin typeface="Comic Sans MS" panose="030F0702030302020204" pitchFamily="66" charset="0"/>
              </a:rPr>
              <a:t>way</a:t>
            </a:r>
            <a:r>
              <a:rPr lang="en-US" sz="2000" i="1" dirty="0">
                <a:latin typeface="Comic Sans MS" panose="030F0702030302020204" pitchFamily="66" charset="0"/>
              </a:rPr>
              <a:t> </a:t>
            </a:r>
            <a:r>
              <a:rPr lang="en-US" sz="2000" dirty="0">
                <a:latin typeface="Comic Sans MS" panose="030F0702030302020204" pitchFamily="66" charset="0"/>
              </a:rPr>
              <a:t>in which files are accessed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8600" y="2133600"/>
            <a:ext cx="8229600" cy="3048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Criteria for File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0" y="2743200"/>
            <a:ext cx="9144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</a:rPr>
              <a:t>Important criteria include: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</a:rPr>
              <a:t>Short access time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</a:rPr>
              <a:t>Ease of update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</a:rPr>
              <a:t>Economy of storage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</a:rPr>
              <a:t>Simple maintenance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</a:rPr>
              <a:t>Reliability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B9E6E-3BD8-4859-9768-1736CB3F5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09830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400" b="1" dirty="0">
                <a:latin typeface="Calibri" pitchFamily="34" charset="0"/>
              </a:rPr>
              <a:t>File Organisation Types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991600" cy="3200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400" dirty="0">
                <a:latin typeface="Comic Sans MS" panose="030F0702030302020204" pitchFamily="66" charset="0"/>
              </a:rPr>
              <a:t>Many exist, but usually variations of:</a:t>
            </a:r>
          </a:p>
          <a:p>
            <a:pPr lvl="1"/>
            <a:r>
              <a:rPr lang="en-NZ" sz="2400" dirty="0">
                <a:latin typeface="Comic Sans MS" panose="030F0702030302020204" pitchFamily="66" charset="0"/>
              </a:rPr>
              <a:t>Pile</a:t>
            </a:r>
          </a:p>
          <a:p>
            <a:pPr lvl="1"/>
            <a:r>
              <a:rPr lang="en-NZ" sz="2400" dirty="0">
                <a:latin typeface="Comic Sans MS" panose="030F0702030302020204" pitchFamily="66" charset="0"/>
              </a:rPr>
              <a:t>Sequential file</a:t>
            </a:r>
          </a:p>
          <a:p>
            <a:pPr lvl="1"/>
            <a:r>
              <a:rPr lang="en-NZ" sz="2400" dirty="0">
                <a:latin typeface="Comic Sans MS" panose="030F0702030302020204" pitchFamily="66" charset="0"/>
              </a:rPr>
              <a:t>Indexed sequential file</a:t>
            </a:r>
          </a:p>
          <a:p>
            <a:pPr lvl="1"/>
            <a:r>
              <a:rPr lang="en-NZ" sz="2400" dirty="0">
                <a:latin typeface="Comic Sans MS" panose="030F0702030302020204" pitchFamily="66" charset="0"/>
              </a:rPr>
              <a:t>Indexed file</a:t>
            </a:r>
          </a:p>
          <a:p>
            <a:pPr lvl="1"/>
            <a:r>
              <a:rPr lang="en-NZ" sz="2400" dirty="0">
                <a:latin typeface="Comic Sans MS" panose="030F0702030302020204" pitchFamily="66" charset="0"/>
              </a:rPr>
              <a:t>Direct, or hashed, file</a:t>
            </a:r>
          </a:p>
          <a:p>
            <a:pPr lvl="1"/>
            <a:endParaRPr lang="en-NZ" sz="24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B3B30-5CC3-4727-8F28-0CD2469D8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537764"/>
            <a:ext cx="49530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The Pile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533400"/>
            <a:ext cx="6172200" cy="5324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least-complicated form of file organization may be termed the pile. </a:t>
            </a: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are collected in the order in which they arrive.</a:t>
            </a:r>
          </a:p>
          <a:p>
            <a:pPr algn="just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record consists of one burst of data.</a:t>
            </a: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pile is simply to accumulate the mass of data and save it.</a:t>
            </a: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may have different fields, or similar fields in different orders.</a:t>
            </a:r>
          </a:p>
          <a:p>
            <a:pPr algn="just"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there is no structure to the pile file, record access is by exhaustive search.</a:t>
            </a:r>
          </a:p>
          <a:p>
            <a:pPr lvl="1" algn="just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NZ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to find a record that contains a particular field with a particular value, it is necessary to examine each record in the pile until the desired record is found or the entire file has been searched. </a:t>
            </a:r>
          </a:p>
          <a:p>
            <a:pPr lvl="1" algn="just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all records that contain a particular field or </a:t>
            </a:r>
          </a:p>
          <a:p>
            <a:pPr lvl="1" algn="just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contain that field with a particular value, then the entire file must be searched.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3" descr="Fig12_03a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5563" y="609600"/>
            <a:ext cx="2586037" cy="6019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latin typeface="Calibri" pitchFamily="34" charset="0"/>
              </a:rPr>
              <a:t>The Sequential File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Content Placeholder 3" descr="Fig12_03b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685800"/>
            <a:ext cx="3119437" cy="5943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76200" y="533400"/>
            <a:ext cx="5562600" cy="617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The most common form of file structure.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A fixed format is used for records.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 All records are of the same length, consisting of </a:t>
            </a:r>
          </a:p>
          <a:p>
            <a:r>
              <a:rPr lang="en-NZ" sz="2000" dirty="0">
                <a:latin typeface="Calibri" pitchFamily="34" charset="0"/>
              </a:rPr>
              <a:t>  the same number of fixed-length fields in a </a:t>
            </a:r>
          </a:p>
          <a:p>
            <a:r>
              <a:rPr lang="en-NZ" sz="2000" dirty="0">
                <a:latin typeface="Calibri" pitchFamily="34" charset="0"/>
              </a:rPr>
              <a:t>  particular order.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Because the length and position of each field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are known, only the values of fields need to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be stored;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The field name and length for each field are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attributes of the file structure.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The key field uniquely identifies the record;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Thus key values for different records are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always different.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The records are stored in key sequence: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 alphabetical order for a text key, and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 numerical order for a numerical key.</a:t>
            </a:r>
            <a:endParaRPr lang="en-US" sz="20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400" b="1">
                <a:latin typeface="Calibri" pitchFamily="34" charset="0"/>
              </a:rPr>
              <a:t>Indexed Sequential File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Content Placeholder 3" descr="Fig12_03c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533400"/>
            <a:ext cx="3657600" cy="5943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76200" y="533400"/>
            <a:ext cx="5029200" cy="5940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/>
              <a:t> The indexed sequential file maintains the key </a:t>
            </a:r>
          </a:p>
          <a:p>
            <a:r>
              <a:rPr lang="en-NZ" sz="2000" dirty="0"/>
              <a:t>  characteristic of the sequential file: </a:t>
            </a:r>
          </a:p>
          <a:p>
            <a:pPr lvl="1">
              <a:buFontTx/>
              <a:buChar char="•"/>
            </a:pPr>
            <a:r>
              <a:rPr lang="en-NZ" sz="2000" dirty="0"/>
              <a:t> Records are organized in sequence </a:t>
            </a:r>
          </a:p>
          <a:p>
            <a:pPr lvl="1"/>
            <a:r>
              <a:rPr lang="en-NZ" sz="2000" dirty="0"/>
              <a:t>   based on a key field.</a:t>
            </a:r>
          </a:p>
          <a:p>
            <a:pPr>
              <a:buFont typeface="Arial" pitchFamily="34" charset="0"/>
              <a:buChar char="•"/>
            </a:pPr>
            <a:r>
              <a:rPr lang="en-NZ" sz="2000" dirty="0"/>
              <a:t>Two features are added: </a:t>
            </a:r>
          </a:p>
          <a:p>
            <a:pPr lvl="1">
              <a:buFontTx/>
              <a:buChar char="•"/>
            </a:pPr>
            <a:r>
              <a:rPr lang="en-NZ" sz="2000" dirty="0"/>
              <a:t> An index to the file to support random </a:t>
            </a:r>
          </a:p>
          <a:p>
            <a:pPr lvl="1"/>
            <a:r>
              <a:rPr lang="en-NZ" sz="2000" dirty="0"/>
              <a:t>   access,</a:t>
            </a:r>
          </a:p>
          <a:p>
            <a:pPr lvl="1">
              <a:buFontTx/>
              <a:buChar char="•"/>
            </a:pPr>
            <a:r>
              <a:rPr lang="en-NZ" sz="2000" dirty="0"/>
              <a:t> And an overflow file. </a:t>
            </a:r>
          </a:p>
          <a:p>
            <a:pPr lvl="1">
              <a:buFontTx/>
              <a:buChar char="•"/>
            </a:pPr>
            <a:endParaRPr lang="en-NZ" sz="2000" dirty="0"/>
          </a:p>
          <a:p>
            <a:pPr>
              <a:buFont typeface="Arial" pitchFamily="34" charset="0"/>
              <a:buChar char="•"/>
            </a:pPr>
            <a:r>
              <a:rPr lang="en-NZ" sz="2000" dirty="0"/>
              <a:t> The index provides a lookup capability to </a:t>
            </a:r>
          </a:p>
          <a:p>
            <a:r>
              <a:rPr lang="en-NZ" sz="2000" dirty="0"/>
              <a:t>  reach quickly the vicinity of a desired record.</a:t>
            </a:r>
          </a:p>
          <a:p>
            <a:pPr>
              <a:buFont typeface="Arial" pitchFamily="34" charset="0"/>
              <a:buChar char="•"/>
            </a:pPr>
            <a:endParaRPr lang="en-NZ" sz="2000" dirty="0"/>
          </a:p>
          <a:p>
            <a:pPr>
              <a:buFont typeface="Arial" pitchFamily="34" charset="0"/>
              <a:buChar char="•"/>
            </a:pPr>
            <a:r>
              <a:rPr lang="en-US" sz="2000" dirty="0"/>
              <a:t> When a new record is to be inserted into the </a:t>
            </a:r>
          </a:p>
          <a:p>
            <a:r>
              <a:rPr lang="en-US" sz="2000" dirty="0"/>
              <a:t>   file, it is added to the overflow file. 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r>
              <a:rPr lang="en-US" sz="2000" dirty="0"/>
              <a:t> The record in the main file is updated to </a:t>
            </a:r>
          </a:p>
          <a:p>
            <a:r>
              <a:rPr lang="en-US" sz="2000" dirty="0"/>
              <a:t>   contain a pointer to the new record in the </a:t>
            </a:r>
          </a:p>
          <a:p>
            <a:r>
              <a:rPr lang="en-US" sz="2000" dirty="0"/>
              <a:t>   overflow file.</a:t>
            </a:r>
            <a:endParaRPr lang="en-NZ" sz="2000" dirty="0"/>
          </a:p>
          <a:p>
            <a:pPr>
              <a:buFont typeface="Arial" pitchFamily="34" charset="0"/>
              <a:buChar char="•"/>
            </a:pPr>
            <a:endParaRPr lang="en-NZ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400" b="1" dirty="0">
                <a:latin typeface="Calibri" pitchFamily="34" charset="0"/>
              </a:rPr>
              <a:t>Indexed File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Content Placeholder 3" descr="Fig12_03d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457200"/>
            <a:ext cx="2895600" cy="640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0" y="533400"/>
            <a:ext cx="6019800" cy="5940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general indexed file, the concept of sequentiality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a single key are abandoned. 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are accessed only through their indexes.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Now no restriction on the placement of records as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long as a pointer in at least one index refers to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that record.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variable-length records can be employed.</a:t>
            </a:r>
          </a:p>
          <a:p>
            <a:pPr lvl="1">
              <a:buFontTx/>
              <a:buChar char="•"/>
            </a:pP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indexes are used.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exhaustive index contains one entry for every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record in the main file. The index itself is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organized as a sequential file for ease of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searching.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partial index contains entries to records where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field of interest exists.</a:t>
            </a:r>
          </a:p>
          <a:p>
            <a:pPr lvl="1">
              <a:buFontTx/>
              <a:buChar char="•"/>
            </a:pP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When a new record is added to the main file, all of the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index files must be updated.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marL="0" lvl="1" algn="ctr"/>
            <a:r>
              <a:rPr lang="en-NZ" sz="2600" b="1" dirty="0"/>
              <a:t>Direct, or hashed,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838200"/>
            <a:ext cx="6477000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endParaRPr lang="en-NZ" sz="2400" dirty="0"/>
          </a:p>
          <a:p>
            <a:pPr algn="just">
              <a:buFont typeface="Arial" pitchFamily="34" charset="0"/>
              <a:buChar char="•"/>
            </a:pPr>
            <a:r>
              <a:rPr lang="en-NZ" sz="2400" dirty="0"/>
              <a:t> Exploits the capability found on disks to access directly any block of a known address.</a:t>
            </a:r>
          </a:p>
          <a:p>
            <a:pPr algn="just">
              <a:buFont typeface="Arial" pitchFamily="34" charset="0"/>
              <a:buChar char="•"/>
            </a:pPr>
            <a:endParaRPr lang="en-NZ" sz="2400" dirty="0"/>
          </a:p>
          <a:p>
            <a:pPr algn="just">
              <a:buFont typeface="Arial" pitchFamily="34" charset="0"/>
              <a:buChar char="•"/>
            </a:pPr>
            <a:r>
              <a:rPr lang="en-NZ" sz="2400" dirty="0"/>
              <a:t>A key field is required in each record.</a:t>
            </a:r>
          </a:p>
          <a:p>
            <a:pPr lvl="1" algn="just">
              <a:buFontTx/>
              <a:buChar char="•"/>
            </a:pPr>
            <a:r>
              <a:rPr lang="en-NZ" sz="2400" dirty="0"/>
              <a:t> But there is no concept of sequential ordering.</a:t>
            </a:r>
          </a:p>
          <a:p>
            <a:pPr lvl="1" algn="just">
              <a:buFontTx/>
              <a:buChar char="•"/>
            </a:pPr>
            <a:endParaRPr lang="en-NZ" sz="2400" dirty="0"/>
          </a:p>
          <a:p>
            <a:pPr algn="just">
              <a:buFont typeface="Arial" pitchFamily="34" charset="0"/>
              <a:buChar char="•"/>
            </a:pPr>
            <a:r>
              <a:rPr lang="en-NZ" sz="2400" dirty="0"/>
              <a:t>The direct file makes use of hashing on the key value.</a:t>
            </a:r>
          </a:p>
          <a:p>
            <a:pPr algn="just">
              <a:buFont typeface="Arial" pitchFamily="34" charset="0"/>
              <a:buChar char="•"/>
            </a:pPr>
            <a:endParaRPr lang="en-NZ" sz="2400" dirty="0"/>
          </a:p>
          <a:p>
            <a:pPr algn="just">
              <a:buFont typeface="Arial" pitchFamily="34" charset="0"/>
              <a:buChar char="•"/>
            </a:pPr>
            <a:r>
              <a:rPr lang="en-NZ" sz="2400" dirty="0"/>
              <a:t>Direct files are often used where very rapid access is required, where fixed length records are used, and where records are always accessed one at a time.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386277-DBB1-4B6C-9644-5D4BAB12C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524000"/>
            <a:ext cx="14478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419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Overview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organisation and Access</a:t>
            </a:r>
          </a:p>
          <a:p>
            <a:r>
              <a:rPr lang="en-NZ" sz="32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File Directories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File Sharing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Record Blocking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Secondary Storage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81000" y="2624377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8407A-358B-4209-BDD5-AC58D83F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1479394"/>
            <a:ext cx="2102005" cy="294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5831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Contents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4953000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Contains information about files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Attributes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Location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Ownership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Directory itself is a file owned by the operating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Provides mapping between file names and the files themselves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6400F-C10A-4D72-931A-63174DE8A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600200"/>
            <a:ext cx="2438400" cy="2438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76600"/>
            <a:ext cx="9144000" cy="358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391400" cy="381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200" b="1" dirty="0">
                <a:latin typeface="Calibri" pitchFamily="34" charset="0"/>
              </a:rPr>
              <a:t>Directory Elements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2286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NZ" sz="2000" dirty="0"/>
              <a:t>File Name</a:t>
            </a:r>
          </a:p>
          <a:p>
            <a:pPr lvl="1"/>
            <a:r>
              <a:rPr lang="en-NZ" sz="2000" dirty="0"/>
              <a:t>Name as chosen by creator (user or program).</a:t>
            </a:r>
          </a:p>
          <a:p>
            <a:pPr lvl="1"/>
            <a:r>
              <a:rPr lang="en-NZ" sz="2000" dirty="0"/>
              <a:t>Must be unique within a specific directory.</a:t>
            </a:r>
          </a:p>
          <a:p>
            <a:r>
              <a:rPr lang="en-NZ" sz="2000" dirty="0"/>
              <a:t>File type</a:t>
            </a:r>
          </a:p>
          <a:p>
            <a:r>
              <a:rPr lang="en-NZ" sz="2000" dirty="0"/>
              <a:t>File Organisation</a:t>
            </a:r>
          </a:p>
          <a:p>
            <a:pPr lvl="1"/>
            <a:r>
              <a:rPr lang="en-NZ" sz="2000" dirty="0"/>
              <a:t>For systems that support different organizations</a:t>
            </a:r>
          </a:p>
          <a:p>
            <a:pPr lvl="1"/>
            <a:endParaRPr lang="en-NZ" sz="20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457200"/>
            <a:ext cx="7391400" cy="33496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Directory Elements: Basic Information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26822-670F-4400-9606-E50D7767B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1430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04800"/>
            <a:ext cx="8991600" cy="6400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066800" y="46038"/>
            <a:ext cx="76200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Simple Structure for a Directory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6400800" cy="495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The method for storing the previous information varies widely between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Simplest is a list of entries, one for each file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Sequential file with the name of the file serving as the key provides no help in organizing the files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Forces user to be careful not to use the same name for two different files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2B3124-9C7D-44A0-9CEF-65913ACDD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633538"/>
            <a:ext cx="1681162" cy="168116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400" b="1" dirty="0">
                <a:latin typeface="Calibri" pitchFamily="34" charset="0"/>
              </a:rPr>
              <a:t>Operations Performed on a Directory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841712"/>
            <a:ext cx="9144000" cy="5940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A directory system should support a number of operations including:</a:t>
            </a:r>
          </a:p>
          <a:p>
            <a:pPr>
              <a:buFont typeface="Arial" pitchFamily="34" charset="0"/>
              <a:buChar char="•"/>
            </a:pPr>
            <a:r>
              <a:rPr lang="en-NZ" sz="2000" b="1" dirty="0">
                <a:latin typeface="Calibri" pitchFamily="34" charset="0"/>
              </a:rPr>
              <a:t>Search</a:t>
            </a:r>
            <a:r>
              <a:rPr lang="en-NZ" sz="2000" dirty="0">
                <a:latin typeface="Calibri" pitchFamily="34" charset="0"/>
              </a:rPr>
              <a:t>: </a:t>
            </a:r>
          </a:p>
          <a:p>
            <a:pPr lvl="1"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 When a user or application references a file, the directory must be searched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to find the entry corresponding to that file.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b="1" dirty="0">
                <a:latin typeface="Calibri" pitchFamily="34" charset="0"/>
              </a:rPr>
              <a:t>Create file: </a:t>
            </a:r>
          </a:p>
          <a:p>
            <a:pPr lvl="1"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When a new file is created, an entry must be added to the directory.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b="1" dirty="0">
                <a:latin typeface="Calibri" pitchFamily="34" charset="0"/>
              </a:rPr>
              <a:t>Delete file: </a:t>
            </a:r>
          </a:p>
          <a:p>
            <a:pPr lvl="1"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When a file is deleted, an entry must be removed from the directory.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b="1" dirty="0">
                <a:latin typeface="Calibri" pitchFamily="34" charset="0"/>
              </a:rPr>
              <a:t>List directory: </a:t>
            </a:r>
          </a:p>
          <a:p>
            <a:pPr lvl="1"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 All or a portion of the directory may be requested. Generally, this request is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made by a user and results in a listing of all files owned by that user, plus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some of the attributes of each file 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b="1" dirty="0">
                <a:latin typeface="Calibri" pitchFamily="34" charset="0"/>
              </a:rPr>
              <a:t>Update directory: </a:t>
            </a:r>
          </a:p>
          <a:p>
            <a:pPr lvl="1"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 Because some file attributes are stored in the directory, a change in one of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these attributes requires a change in the corresponding directory entry.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Two-Level Scheme for a Directory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984171"/>
            <a:ext cx="6172200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200" dirty="0">
                <a:latin typeface="Calibri" pitchFamily="34" charset="0"/>
              </a:rPr>
              <a:t>In this case, there is one directory for each user, and a master directory. </a:t>
            </a:r>
          </a:p>
          <a:p>
            <a:pPr lvl="1">
              <a:buFontTx/>
              <a:buChar char="•"/>
            </a:pPr>
            <a:r>
              <a:rPr lang="en-NZ" sz="2200" dirty="0">
                <a:latin typeface="Calibri" pitchFamily="34" charset="0"/>
              </a:rPr>
              <a:t> The master directory has an entry for each user directory, providing address and access control information.</a:t>
            </a:r>
          </a:p>
          <a:p>
            <a:pPr lvl="1">
              <a:buFontTx/>
              <a:buChar char="•"/>
            </a:pPr>
            <a:r>
              <a:rPr lang="en-NZ" sz="2200" dirty="0">
                <a:latin typeface="Calibri" pitchFamily="34" charset="0"/>
              </a:rPr>
              <a:t> Each user directory is a simple list of the files of that user.</a:t>
            </a:r>
          </a:p>
          <a:p>
            <a:pPr lvl="1">
              <a:buFontTx/>
              <a:buChar char="•"/>
            </a:pPr>
            <a:endParaRPr lang="en-NZ" sz="22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200" dirty="0">
                <a:latin typeface="Calibri" pitchFamily="34" charset="0"/>
              </a:rPr>
              <a:t> This arrangement means that names must be unique only within the collection of files of a single user, and that the file system can easily enforce access restriction on directories. </a:t>
            </a:r>
          </a:p>
          <a:p>
            <a:pPr>
              <a:buFont typeface="Arial" pitchFamily="34" charset="0"/>
              <a:buChar char="•"/>
            </a:pPr>
            <a:endParaRPr lang="en-NZ" sz="22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200" dirty="0">
                <a:latin typeface="Calibri" pitchFamily="34" charset="0"/>
              </a:rPr>
              <a:t> However, it still provides users with no help in structuring collections of files.</a:t>
            </a:r>
            <a:endParaRPr lang="en-US" sz="2200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F416-0022-47AE-B315-362B8D930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1" y="1600200"/>
            <a:ext cx="2346959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81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2800" b="1" dirty="0">
                <a:latin typeface="Calibri" pitchFamily="34" charset="0"/>
              </a:rPr>
              <a:t>Hierarchical, or Tree-Structured Directory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609600"/>
            <a:ext cx="4114800" cy="50167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master directory, which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has under it a number of user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directories. 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of these user directories, in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turn, may have subdirectories and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files as entries.</a:t>
            </a: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simplest approach is to store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each directory as a sequential file.</a:t>
            </a:r>
          </a:p>
          <a:p>
            <a:pPr>
              <a:buFont typeface="Arial" pitchFamily="34" charset="0"/>
              <a:buChar char="•"/>
            </a:pP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directories may contain a very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large number of entries, such an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organization may lead to  </a:t>
            </a:r>
          </a:p>
          <a:p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unnecessarily long search times.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so, a hashed structure is  </a:t>
            </a:r>
          </a:p>
          <a:p>
            <a:pPr lvl="1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preferred.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590550"/>
            <a:ext cx="4495800" cy="6038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Naming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914400"/>
            <a:ext cx="8763000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Users need to be able to refer to a file by a symbolic name.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Each file in the system must have a unique name in order that file references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be unambiguous.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But it is an unacceptable burden on users to require that they provide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unique names, especially in a shared system.</a:t>
            </a:r>
          </a:p>
          <a:p>
            <a:pPr lvl="1">
              <a:buFontTx/>
              <a:buChar char="•"/>
            </a:pPr>
            <a:endParaRPr lang="en-NZ" sz="20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000" dirty="0">
                <a:latin typeface="Calibri" pitchFamily="34" charset="0"/>
              </a:rPr>
              <a:t> The use of a tree-structured directory minimizes the difficulty in assigning unique </a:t>
            </a:r>
          </a:p>
          <a:p>
            <a:r>
              <a:rPr lang="en-NZ" sz="2000" dirty="0">
                <a:latin typeface="Calibri" pitchFamily="34" charset="0"/>
              </a:rPr>
              <a:t>   names.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Any file in the system can be located by following a path from the root or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master directory down various branches until the file is reached.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The series of directory names, culminating in the file name itself, constitutes </a:t>
            </a:r>
          </a:p>
          <a:p>
            <a:pPr lvl="1"/>
            <a:r>
              <a:rPr lang="en-NZ" sz="2000" dirty="0">
                <a:latin typeface="Calibri" pitchFamily="34" charset="0"/>
              </a:rPr>
              <a:t>   a pathname for the 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8D6BB7-1C24-42DD-BD86-5AF4E3C704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974690"/>
            <a:ext cx="1883310" cy="18833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2800" b="1" dirty="0">
                <a:latin typeface="Calibri" pitchFamily="34" charset="0"/>
              </a:rPr>
              <a:t>Example of Tree-Structured Directory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57200"/>
            <a:ext cx="9144000" cy="640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11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NZ" sz="2800" b="1" dirty="0">
                <a:latin typeface="Calibri" pitchFamily="34" charset="0"/>
              </a:rPr>
              <a:t>Working Directory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534400" cy="2667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NZ" sz="2000" dirty="0">
                <a:latin typeface="Comic Sans MS" panose="030F0702030302020204" pitchFamily="66" charset="0"/>
              </a:rPr>
              <a:t>Stating the full pathname and filename is awkward and tedious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An interactive user or a process has associated with it a current directory, often referred to as the </a:t>
            </a:r>
            <a:r>
              <a:rPr lang="en-US" sz="2000" b="1" dirty="0">
                <a:latin typeface="Comic Sans MS" panose="030F0702030302020204" pitchFamily="66" charset="0"/>
              </a:rPr>
              <a:t>working directory.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Files are then referenced relative to the working directory.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For example, if the working directory for user B is “Word,”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omic Sans MS" panose="030F0702030302020204" pitchFamily="66" charset="0"/>
              </a:rPr>
              <a:t>Then the pathname </a:t>
            </a:r>
            <a:r>
              <a:rPr lang="en-US" sz="2000" dirty="0" err="1">
                <a:latin typeface="Comic Sans MS" panose="030F0702030302020204" pitchFamily="66" charset="0"/>
              </a:rPr>
              <a:t>Unit_A</a:t>
            </a:r>
            <a:r>
              <a:rPr lang="en-US" sz="2000" dirty="0">
                <a:latin typeface="Comic Sans MS" panose="030F0702030302020204" pitchFamily="66" charset="0"/>
              </a:rPr>
              <a:t> /ABC is sufficient to identify the file</a:t>
            </a:r>
            <a:endParaRPr lang="en-NZ" sz="20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AD277B-2903-4934-8F4B-682D9465C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4038600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419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Overview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organisation and Access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Directories</a:t>
            </a:r>
          </a:p>
          <a:p>
            <a:r>
              <a:rPr lang="en-NZ" sz="32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File Sharing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Record Blocking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Secondary Storage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30200" y="32766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8407A-358B-4209-BDD5-AC58D83F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1479394"/>
            <a:ext cx="2102005" cy="294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9943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11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3200" b="1" dirty="0">
                <a:latin typeface="Calibri" pitchFamily="34" charset="0"/>
              </a:rPr>
              <a:t>File Sharing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152400" y="609601"/>
            <a:ext cx="8991600" cy="182879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200" dirty="0">
                <a:latin typeface="Comic Sans MS" panose="030F0702030302020204" pitchFamily="66" charset="0"/>
              </a:rPr>
              <a:t>In multiuser system, allow files to be shared among users</a:t>
            </a:r>
          </a:p>
          <a:p>
            <a:r>
              <a:rPr lang="en-US" sz="2200" dirty="0">
                <a:latin typeface="Comic Sans MS" panose="030F0702030302020204" pitchFamily="66" charset="0"/>
              </a:rPr>
              <a:t>Two issues</a:t>
            </a:r>
          </a:p>
          <a:p>
            <a:pPr lvl="1"/>
            <a:r>
              <a:rPr lang="en-US" sz="2200" dirty="0">
                <a:latin typeface="Comic Sans MS" panose="030F0702030302020204" pitchFamily="66" charset="0"/>
              </a:rPr>
              <a:t>Access rights</a:t>
            </a:r>
          </a:p>
          <a:p>
            <a:pPr lvl="1"/>
            <a:r>
              <a:rPr lang="en-US" sz="2200" dirty="0">
                <a:latin typeface="Comic Sans MS" panose="030F0702030302020204" pitchFamily="66" charset="0"/>
              </a:rPr>
              <a:t>Management of simultaneous access</a:t>
            </a:r>
          </a:p>
          <a:p>
            <a:endParaRPr lang="en-US" sz="22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4B0C1-17F6-4F3D-8DC3-785A5412F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048000"/>
            <a:ext cx="2962275" cy="29622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2800" b="1" dirty="0">
                <a:latin typeface="Calibri" pitchFamily="34" charset="0"/>
              </a:rPr>
              <a:t>Access Rights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067800" cy="6172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 variety of access rights have been used by various systems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as a hierarchy where one right implies previous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may not even know of the files existence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only determine that the file exists and who its owner 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load and execute a program but cannot copy 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read the file for any purpose, including copying and execution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979A5-8222-48E8-8EC3-EDB3D72D9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774" y="990600"/>
            <a:ext cx="1511026" cy="164511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F49E2-1FD9-4FD6-904A-4CDBD1EC3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533400"/>
            <a:ext cx="5029200" cy="402336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add data to the file but cannot modify or delete any of the file’s contents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modify, delete, and add to the file’s data.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protection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change access rights granted to other users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delete the file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BB5E1-996A-446B-ACC5-67119D04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906BBE-B2EE-4555-BB84-65C53581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2800" b="1" dirty="0">
                <a:latin typeface="Calibri" pitchFamily="34" charset="0"/>
              </a:rPr>
              <a:t>Access Rights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ABD5B-7F95-4CB9-9226-0DD12994B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0" y="1676400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20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User Classes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6200" y="5257800"/>
            <a:ext cx="8686800" cy="1524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/>
              <a:t>User may lock entire file when it is to be updated</a:t>
            </a:r>
          </a:p>
          <a:p>
            <a:r>
              <a:rPr lang="en-US" sz="2400" dirty="0"/>
              <a:t>User may lock the individual records during the update</a:t>
            </a:r>
          </a:p>
          <a:p>
            <a:r>
              <a:rPr lang="en-US" sz="2400" dirty="0"/>
              <a:t>Mutual exclusion and deadlock are issues for shared access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533400"/>
            <a:ext cx="9067800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/>
              <a:t> One user is designated as owner of a given file, usually the person who initially</a:t>
            </a:r>
          </a:p>
          <a:p>
            <a:r>
              <a:rPr lang="en-US" sz="2000" dirty="0"/>
              <a:t>  created a file.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 The owner has all of the access rights listed previously and may grant rights to </a:t>
            </a:r>
          </a:p>
          <a:p>
            <a:r>
              <a:rPr lang="en-US" sz="2000" dirty="0"/>
              <a:t>   others.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 Access can be provided to different classes of users:</a:t>
            </a:r>
            <a:endParaRPr lang="en-NZ" sz="2000" dirty="0"/>
          </a:p>
          <a:p>
            <a:pPr>
              <a:buFont typeface="Arial" pitchFamily="34" charset="0"/>
              <a:buChar char="•"/>
            </a:pPr>
            <a:endParaRPr lang="en-NZ" sz="2000" dirty="0"/>
          </a:p>
          <a:p>
            <a:pPr>
              <a:buFont typeface="Arial" pitchFamily="34" charset="0"/>
              <a:buChar char="•"/>
            </a:pPr>
            <a:r>
              <a:rPr lang="en-NZ" sz="2000" b="1" dirty="0"/>
              <a:t> Specific user: </a:t>
            </a:r>
            <a:r>
              <a:rPr lang="en-NZ" sz="2000" dirty="0"/>
              <a:t>Individual users who are designated by user ID.</a:t>
            </a:r>
          </a:p>
          <a:p>
            <a:pPr>
              <a:buFont typeface="Arial" pitchFamily="34" charset="0"/>
              <a:buChar char="•"/>
            </a:pPr>
            <a:endParaRPr lang="en-NZ" sz="2000" b="1" dirty="0"/>
          </a:p>
          <a:p>
            <a:pPr>
              <a:buFont typeface="Arial" pitchFamily="34" charset="0"/>
              <a:buChar char="•"/>
            </a:pPr>
            <a:r>
              <a:rPr lang="en-NZ" sz="2000" b="1" dirty="0"/>
              <a:t> User groups: </a:t>
            </a:r>
            <a:r>
              <a:rPr lang="en-NZ" sz="2000" dirty="0"/>
              <a:t>A set of users who are not individually defined.</a:t>
            </a:r>
          </a:p>
          <a:p>
            <a:pPr lvl="1">
              <a:buFontTx/>
              <a:buChar char="•"/>
            </a:pPr>
            <a:r>
              <a:rPr lang="en-NZ" sz="2000" dirty="0"/>
              <a:t> The system must have some way of keeping track of the membership of user </a:t>
            </a:r>
          </a:p>
          <a:p>
            <a:pPr lvl="1"/>
            <a:r>
              <a:rPr lang="en-NZ" sz="2000" dirty="0"/>
              <a:t>   groups.</a:t>
            </a:r>
          </a:p>
          <a:p>
            <a:pPr>
              <a:buFont typeface="Arial" pitchFamily="34" charset="0"/>
              <a:buChar char="•"/>
            </a:pPr>
            <a:endParaRPr lang="en-NZ" sz="2000" dirty="0"/>
          </a:p>
          <a:p>
            <a:pPr>
              <a:buFont typeface="Arial" pitchFamily="34" charset="0"/>
              <a:buChar char="•"/>
            </a:pPr>
            <a:r>
              <a:rPr lang="en-NZ" sz="2000" b="1" dirty="0"/>
              <a:t> All: </a:t>
            </a:r>
            <a:r>
              <a:rPr lang="en-NZ" sz="2000" dirty="0"/>
              <a:t>All users who have access to this system. These are public files.</a:t>
            </a:r>
            <a:endParaRPr lang="en-US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4694238"/>
            <a:ext cx="8229600" cy="4111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Simultaneous Access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419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Overview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organisation and Access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Directories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Sharing</a:t>
            </a:r>
          </a:p>
          <a:p>
            <a:r>
              <a:rPr lang="en-NZ" sz="32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Record Blocking</a:t>
            </a:r>
          </a:p>
          <a:p>
            <a:r>
              <a:rPr lang="en-NZ" sz="3200" dirty="0">
                <a:latin typeface="Comic Sans MS" panose="030F0702030302020204" pitchFamily="66" charset="0"/>
              </a:rPr>
              <a:t>Secondary Storage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40360" y="38862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8407A-358B-4209-BDD5-AC58D83F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1479394"/>
            <a:ext cx="2102005" cy="294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2033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11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NZ" sz="2800" b="1" dirty="0">
                <a:latin typeface="Calibri" pitchFamily="34" charset="0"/>
              </a:rPr>
              <a:t>Blocks and records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0" y="655637"/>
            <a:ext cx="5562600" cy="46783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NZ" sz="2200" dirty="0">
                <a:latin typeface="Comic Sans MS" panose="030F0702030302020204" pitchFamily="66" charset="0"/>
              </a:rPr>
              <a:t>Records are the logical unit of access of a structured file</a:t>
            </a: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But blocks are the unit for I/O with secondary storage</a:t>
            </a:r>
          </a:p>
          <a:p>
            <a:r>
              <a:rPr lang="en-US" sz="2200" dirty="0">
                <a:latin typeface="Comic Sans MS" panose="030F0702030302020204" pitchFamily="66" charset="0"/>
              </a:rPr>
              <a:t>For I/O to be performed, records must be organized as blocks.</a:t>
            </a:r>
            <a:endParaRPr lang="en-NZ" sz="2200" dirty="0">
              <a:latin typeface="Comic Sans MS" panose="030F0702030302020204" pitchFamily="66" charset="0"/>
            </a:endParaRPr>
          </a:p>
          <a:p>
            <a:r>
              <a:rPr lang="en-NZ" sz="2200" dirty="0">
                <a:latin typeface="Comic Sans MS" panose="030F0702030302020204" pitchFamily="66" charset="0"/>
              </a:rPr>
              <a:t>Three approaches are common</a:t>
            </a: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Fixed length blocking</a:t>
            </a: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Variable length spanned blocking</a:t>
            </a: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Variable-length unspanned blocking</a:t>
            </a:r>
          </a:p>
          <a:p>
            <a:pPr lvl="1"/>
            <a:endParaRPr lang="en-NZ" sz="22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87B62-8A36-4C15-9C88-E36E29839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24000"/>
            <a:ext cx="2514600" cy="3657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Fixed Blocking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0" y="609601"/>
            <a:ext cx="9144000" cy="1371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000" dirty="0"/>
              <a:t>Fixed-length records are used, and an integral number of records are stored in a block. </a:t>
            </a:r>
          </a:p>
          <a:p>
            <a:r>
              <a:rPr lang="en-NZ" sz="2000" dirty="0"/>
              <a:t>Unused space at the end of a block is </a:t>
            </a:r>
            <a:r>
              <a:rPr lang="en-NZ" sz="2000" b="1" i="1" dirty="0"/>
              <a:t>internal fragmentation</a:t>
            </a:r>
            <a:endParaRPr lang="en-NZ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2057401"/>
            <a:ext cx="8877300" cy="2971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105400"/>
            <a:ext cx="7467600" cy="167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11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NZ" sz="2800" b="1" dirty="0">
                <a:latin typeface="Calibri" pitchFamily="34" charset="0"/>
              </a:rPr>
              <a:t>Variable Length Spanned Blocking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0" y="533401"/>
            <a:ext cx="9144000" cy="121919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000" dirty="0"/>
              <a:t>Variable-length records are used and are packed into blocks with no unused space.</a:t>
            </a:r>
          </a:p>
          <a:p>
            <a:r>
              <a:rPr lang="en-NZ" sz="2000" dirty="0"/>
              <a:t>Some records may span multiple blocks</a:t>
            </a:r>
          </a:p>
          <a:p>
            <a:pPr lvl="1"/>
            <a:r>
              <a:rPr lang="en-NZ" sz="2000" dirty="0"/>
              <a:t>Continuation is indicated by a pointer to the successor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28800"/>
            <a:ext cx="9143999" cy="3124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029200"/>
            <a:ext cx="7467600" cy="167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Variable-length unspanned blocking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0" y="533401"/>
            <a:ext cx="9144000" cy="1066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NZ" sz="2000" dirty="0"/>
              <a:t>Uses variable length records without spanning</a:t>
            </a:r>
          </a:p>
          <a:p>
            <a:r>
              <a:rPr lang="en-NZ" sz="2000" dirty="0"/>
              <a:t>Wasted space in most blocks because of the inability to use the remainder of a block if the next record is larger than the remaining unused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1676400"/>
            <a:ext cx="9067800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819400" y="6427113"/>
            <a:ext cx="1298753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b="1" dirty="0"/>
              <a:t>Q-5 Ends.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419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Overview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organisation and Access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Directories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File Sharing</a:t>
            </a:r>
          </a:p>
          <a:p>
            <a:r>
              <a:rPr lang="en-NZ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Record Blocking</a:t>
            </a:r>
          </a:p>
          <a:p>
            <a:r>
              <a:rPr lang="en-NZ" sz="32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Secondary Storage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25120" y="44958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8407A-358B-4209-BDD5-AC58D83F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1479394"/>
            <a:ext cx="2102005" cy="294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02114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b="1" dirty="0">
                <a:latin typeface="Calibri" pitchFamily="34" charset="0"/>
              </a:rPr>
              <a:t>Secondary Storage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1066800"/>
            <a:ext cx="4800600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400" dirty="0"/>
              <a:t>On secondary storage, a file consists of a collection of blocks.</a:t>
            </a:r>
          </a:p>
          <a:p>
            <a:pPr lvl="1">
              <a:buFontTx/>
              <a:buChar char="•"/>
            </a:pPr>
            <a:r>
              <a:rPr lang="en-NZ" sz="2400" dirty="0"/>
              <a:t> The operating system or file management system is responsible for allocating blocks to files. </a:t>
            </a:r>
          </a:p>
          <a:p>
            <a:endParaRPr lang="en-NZ" sz="2400" dirty="0"/>
          </a:p>
          <a:p>
            <a:r>
              <a:rPr lang="en-NZ" sz="2400" dirty="0"/>
              <a:t>This raises two management issues. </a:t>
            </a:r>
          </a:p>
          <a:p>
            <a:pPr lvl="1">
              <a:buFontTx/>
              <a:buChar char="•"/>
            </a:pPr>
            <a:r>
              <a:rPr lang="en-NZ" sz="2400" dirty="0"/>
              <a:t> First, space on secondary storage must be allocated to files,</a:t>
            </a:r>
          </a:p>
          <a:p>
            <a:pPr lvl="1">
              <a:buFontTx/>
              <a:buChar char="•"/>
            </a:pPr>
            <a:r>
              <a:rPr lang="en-NZ" sz="2400" dirty="0"/>
              <a:t> second, it is necessary to keep track of the space available for allocation.</a:t>
            </a:r>
          </a:p>
          <a:p>
            <a:pPr lvl="1"/>
            <a:endParaRPr lang="en-NZ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FC280D-7E56-44CB-9085-3E26798B1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745" y="1295400"/>
            <a:ext cx="2619375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3200" b="1" dirty="0">
                <a:latin typeface="Calibri" pitchFamily="34" charset="0"/>
              </a:rPr>
              <a:t>Portion size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685801" y="1143000"/>
            <a:ext cx="4876800" cy="40233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400" dirty="0"/>
              <a:t>Two extremes:</a:t>
            </a:r>
          </a:p>
          <a:p>
            <a:pPr lvl="1"/>
            <a:r>
              <a:rPr lang="en-NZ" sz="2400" dirty="0"/>
              <a:t>Portion large enough to hold entire file is allocated</a:t>
            </a:r>
          </a:p>
          <a:p>
            <a:pPr lvl="1"/>
            <a:r>
              <a:rPr lang="en-NZ" sz="2400" dirty="0"/>
              <a:t>Allocate space one block at a time</a:t>
            </a:r>
          </a:p>
          <a:p>
            <a:r>
              <a:rPr lang="en-NZ" sz="2400" dirty="0"/>
              <a:t>Trade-off between efficiency from the point of view of a single file, or the overall system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671E6-8B49-4923-9BC5-9C8741BC9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905000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+mn-lt"/>
              </a:rPr>
              <a:t>File Allocation Method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685801" y="1600200"/>
            <a:ext cx="5181600" cy="40233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NZ" sz="2200" dirty="0">
              <a:latin typeface="Comic Sans MS" panose="030F0702030302020204" pitchFamily="66" charset="0"/>
            </a:endParaRPr>
          </a:p>
          <a:p>
            <a:r>
              <a:rPr lang="en-NZ" sz="2200" dirty="0">
                <a:latin typeface="Comic Sans MS" panose="030F0702030302020204" pitchFamily="66" charset="0"/>
              </a:rPr>
              <a:t>Three methods are in common use: </a:t>
            </a: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contiguous, </a:t>
            </a:r>
          </a:p>
          <a:p>
            <a:pPr lvl="1"/>
            <a:endParaRPr lang="en-NZ" sz="2200" dirty="0">
              <a:latin typeface="Comic Sans MS" panose="030F0702030302020204" pitchFamily="66" charset="0"/>
            </a:endParaRP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chained, and </a:t>
            </a:r>
          </a:p>
          <a:p>
            <a:pPr lvl="1"/>
            <a:endParaRPr lang="en-NZ" sz="2200" dirty="0">
              <a:latin typeface="Comic Sans MS" panose="030F0702030302020204" pitchFamily="66" charset="0"/>
            </a:endParaRPr>
          </a:p>
          <a:p>
            <a:pPr lvl="1"/>
            <a:r>
              <a:rPr lang="en-NZ" sz="2200" dirty="0">
                <a:latin typeface="Comic Sans MS" panose="030F0702030302020204" pitchFamily="66" charset="0"/>
              </a:rPr>
              <a:t>indexed.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764BD-EAD1-47B8-B5EE-867838388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060" y="2269020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Contiguous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914400"/>
            <a:ext cx="6477000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/>
              <a:t>A single contiguous set of blocks is allocated to a file at the time of file creation. </a:t>
            </a:r>
          </a:p>
          <a:p>
            <a:pPr>
              <a:buFontTx/>
              <a:buChar char="•"/>
            </a:pPr>
            <a:r>
              <a:rPr lang="en-NZ" sz="2400" dirty="0"/>
              <a:t> This is a </a:t>
            </a:r>
            <a:r>
              <a:rPr lang="en-NZ" sz="2400" dirty="0" err="1"/>
              <a:t>preallocation</a:t>
            </a:r>
            <a:r>
              <a:rPr lang="en-NZ" sz="2400" dirty="0"/>
              <a:t> strategy, using variable-size portions.</a:t>
            </a:r>
          </a:p>
          <a:p>
            <a:pPr lvl="1">
              <a:buFontTx/>
              <a:buChar char="•"/>
            </a:pPr>
            <a:endParaRPr lang="en-NZ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/>
              <a:t> The file allocation table needs just a single entry for each file, showing the starting block and the length of the file.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/>
              <a:t>Contiguous allocation is the best from the point of view of the individual sequential file. </a:t>
            </a:r>
          </a:p>
          <a:p>
            <a:pPr lvl="1">
              <a:buFontTx/>
              <a:buChar char="•"/>
            </a:pPr>
            <a:r>
              <a:rPr lang="en-NZ" sz="2400" dirty="0"/>
              <a:t>Multiple blocks can be read in at a time to improve I/O performance for sequential processing.</a:t>
            </a:r>
          </a:p>
          <a:p>
            <a:pPr lvl="1">
              <a:buFontTx/>
              <a:buChar char="•"/>
            </a:pPr>
            <a:r>
              <a:rPr lang="en-NZ" sz="2400" dirty="0"/>
              <a:t>It is also easy to retrieve a single block.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84758-0C43-496A-9480-325FEAC93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1905000"/>
            <a:ext cx="1905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Contiguous File Allocation</a:t>
            </a:r>
          </a:p>
        </p:txBody>
      </p:sp>
      <p:pic>
        <p:nvPicPr>
          <p:cNvPr id="68611" name="Content Placeholder 3" descr="Fig12_0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4800" y="1066800"/>
            <a:ext cx="8686800" cy="556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5DA5C-8C98-4928-B2C0-2DCD6EABB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498242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External fragmentation</a:t>
            </a:r>
          </a:p>
        </p:txBody>
      </p:sp>
      <p:pic>
        <p:nvPicPr>
          <p:cNvPr id="69635" name="Content Placeholder 3" descr="Fig12_08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685800"/>
            <a:ext cx="9144000" cy="4267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" y="5029200"/>
            <a:ext cx="89916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dirty="0"/>
              <a:t>External fragmentation will occur, making it difficult to find contiguous blocks of space of sufficient length. </a:t>
            </a:r>
          </a:p>
          <a:p>
            <a:r>
              <a:rPr lang="en-NZ" dirty="0"/>
              <a:t>From time to time, it will be necessary to perform a compaction algorithm to free up additional space on the disk.</a:t>
            </a:r>
          </a:p>
          <a:p>
            <a:r>
              <a:rPr lang="en-NZ" dirty="0"/>
              <a:t>Also, with </a:t>
            </a:r>
            <a:r>
              <a:rPr lang="en-NZ" dirty="0" err="1"/>
              <a:t>preallocation</a:t>
            </a:r>
            <a:r>
              <a:rPr lang="en-NZ" dirty="0"/>
              <a:t>, it is necessary to declare the size of the file at the time of creation, with the problems mentioned earlier.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8F14C-C6CC-4DD6-84AC-D412EFEEC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590800"/>
            <a:ext cx="1962150" cy="19621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Chained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0" y="914400"/>
            <a:ext cx="8305800" cy="5324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000" dirty="0">
                <a:latin typeface="Calibri" pitchFamily="34" charset="0"/>
              </a:rPr>
              <a:t>Typically, allocation is on an individual block basis.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Each block contains a pointer to the next block in the chain.</a:t>
            </a:r>
          </a:p>
          <a:p>
            <a:pPr lvl="1">
              <a:buFontTx/>
              <a:buChar char="•"/>
            </a:pPr>
            <a:endParaRPr lang="en-NZ" sz="2000" dirty="0">
              <a:latin typeface="Calibri" pitchFamily="34" charset="0"/>
            </a:endParaRPr>
          </a:p>
          <a:p>
            <a:r>
              <a:rPr lang="en-NZ" sz="2000" dirty="0">
                <a:latin typeface="Calibri" pitchFamily="34" charset="0"/>
              </a:rPr>
              <a:t>The file allocation table needs just a single entry for each file, showing the starting block and the length of the file.</a:t>
            </a:r>
          </a:p>
          <a:p>
            <a:endParaRPr lang="en-NZ" sz="2000" dirty="0">
              <a:latin typeface="Calibri" pitchFamily="34" charset="0"/>
            </a:endParaRPr>
          </a:p>
          <a:p>
            <a:r>
              <a:rPr lang="en-NZ" sz="2000" dirty="0">
                <a:latin typeface="Calibri" pitchFamily="34" charset="0"/>
              </a:rPr>
              <a:t>Although </a:t>
            </a:r>
            <a:r>
              <a:rPr lang="en-NZ" sz="2000" dirty="0" err="1">
                <a:latin typeface="Calibri" pitchFamily="34" charset="0"/>
              </a:rPr>
              <a:t>preallocation</a:t>
            </a:r>
            <a:r>
              <a:rPr lang="en-NZ" sz="2000" dirty="0">
                <a:latin typeface="Calibri" pitchFamily="34" charset="0"/>
              </a:rPr>
              <a:t> is possible, it is more common simply to allocate blocks as needed.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The selection of blocks is now a simple matter: any free block can be added to a chain.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There is no external fragmentation to worry about because only one block at a time is needed.</a:t>
            </a:r>
          </a:p>
          <a:p>
            <a:endParaRPr lang="en-NZ" sz="2000" dirty="0">
              <a:latin typeface="Calibri" pitchFamily="34" charset="0"/>
            </a:endParaRPr>
          </a:p>
          <a:p>
            <a:r>
              <a:rPr lang="en-NZ" sz="2000" dirty="0">
                <a:latin typeface="Calibri" pitchFamily="34" charset="0"/>
              </a:rPr>
              <a:t>This type of physical organization is best suited to sequential files that are to be processed sequentially.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To select an individual block of a file requires tracing through the chain to the desired block.</a:t>
            </a:r>
            <a:endParaRPr lang="en-US" sz="20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Chained Allocation</a:t>
            </a:r>
          </a:p>
        </p:txBody>
      </p:sp>
      <p:pic>
        <p:nvPicPr>
          <p:cNvPr id="71683" name="Content Placeholder 3" descr="Fig12_09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4800" y="1066800"/>
            <a:ext cx="8382000" cy="548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261F1B-1012-477C-9FA5-8D0E724F4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3276600"/>
            <a:ext cx="2755900" cy="27559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Chained Allocation Consolidation</a:t>
            </a:r>
          </a:p>
        </p:txBody>
      </p:sp>
      <p:pic>
        <p:nvPicPr>
          <p:cNvPr id="72707" name="Content Placeholder 3" descr="Fig12_10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609600"/>
            <a:ext cx="9144000" cy="4800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370C2-3CA7-4CF2-B7DF-49B11F8D8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667000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990600"/>
            <a:ext cx="6629400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/>
              <a:t>One consequence of chaining, is that there is no accommodation of the principle of locality.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/>
              <a:t>If it is necessary to bring in several blocks of a file at a time, as in sequential processing, then a series of accesses to different parts of the disk are required. </a:t>
            </a:r>
          </a:p>
          <a:p>
            <a:pPr lvl="1">
              <a:buFontTx/>
              <a:buChar char="•"/>
            </a:pPr>
            <a:r>
              <a:rPr lang="en-NZ" sz="2400" dirty="0"/>
              <a:t>This is perhaps a more significant effect on a single-user system but may also be of concern on a shared system. </a:t>
            </a:r>
          </a:p>
          <a:p>
            <a:pPr lvl="1">
              <a:buFontTx/>
              <a:buChar char="•"/>
            </a:pPr>
            <a:r>
              <a:rPr lang="en-NZ" sz="2400" dirty="0"/>
              <a:t> To overcome this problem, some systems periodically consolidate files </a:t>
            </a:r>
            <a:endParaRPr lang="en-US" sz="24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Chained Allocation Consolidation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AD29FE-AC98-4AEC-B35D-2AD4FC155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28800"/>
            <a:ext cx="17526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Indexed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3400" y="1443841"/>
            <a:ext cx="8229600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400" dirty="0"/>
              <a:t>This addresses many of the problems of contiguous and chained allocation. </a:t>
            </a:r>
          </a:p>
          <a:p>
            <a:endParaRPr lang="en-NZ" sz="2400" dirty="0"/>
          </a:p>
          <a:p>
            <a:r>
              <a:rPr lang="en-NZ" sz="2400" dirty="0"/>
              <a:t>In this case, the file allocation table contains a separate one-level index for each file; </a:t>
            </a:r>
          </a:p>
          <a:p>
            <a:pPr lvl="1">
              <a:buFontTx/>
              <a:buChar char="•"/>
            </a:pPr>
            <a:r>
              <a:rPr lang="en-NZ" sz="2400" dirty="0"/>
              <a:t> the index has one entry for each portion allocated to the file.</a:t>
            </a:r>
          </a:p>
          <a:p>
            <a:endParaRPr lang="en-NZ" sz="2400" dirty="0"/>
          </a:p>
          <a:p>
            <a:r>
              <a:rPr lang="en-NZ" sz="2400" dirty="0"/>
              <a:t>Typically, the file indexes are not physically stored as part of the file allocation table. </a:t>
            </a:r>
          </a:p>
          <a:p>
            <a:pPr lvl="1">
              <a:buFontTx/>
              <a:buChar char="•"/>
            </a:pPr>
            <a:r>
              <a:rPr lang="en-NZ" sz="2400" dirty="0"/>
              <a:t> Rather, the file index for a file is kept in a separate block, and the entry for the file in the file allocation table points to that block.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Indexed Allocation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0" y="762000"/>
            <a:ext cx="5334000" cy="60016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400" dirty="0"/>
              <a:t>Allocation may be on the basis of either</a:t>
            </a:r>
          </a:p>
          <a:p>
            <a:pPr lvl="1">
              <a:buFontTx/>
              <a:buChar char="•"/>
            </a:pPr>
            <a:r>
              <a:rPr lang="en-NZ" sz="2400" dirty="0"/>
              <a:t> fixed-size blocks or </a:t>
            </a:r>
          </a:p>
          <a:p>
            <a:pPr lvl="1">
              <a:buFontTx/>
              <a:buChar char="•"/>
            </a:pPr>
            <a:r>
              <a:rPr lang="en-NZ" sz="2400" dirty="0"/>
              <a:t>variable-size portions </a:t>
            </a:r>
          </a:p>
          <a:p>
            <a:endParaRPr lang="en-NZ" sz="2400" dirty="0"/>
          </a:p>
          <a:p>
            <a:r>
              <a:rPr lang="en-NZ" sz="2400" dirty="0"/>
              <a:t>Allocation by blocks eliminates external fragmentation, </a:t>
            </a:r>
          </a:p>
          <a:p>
            <a:pPr lvl="1">
              <a:buFontTx/>
              <a:buChar char="•"/>
            </a:pPr>
            <a:r>
              <a:rPr lang="en-NZ" sz="2400" dirty="0"/>
              <a:t> whereas allocation by variable-size portions improves locality. </a:t>
            </a:r>
          </a:p>
          <a:p>
            <a:endParaRPr lang="en-NZ" sz="2400" dirty="0"/>
          </a:p>
          <a:p>
            <a:r>
              <a:rPr lang="en-NZ" sz="2400" dirty="0"/>
              <a:t>In either case, file consolidation may be done from time to time. </a:t>
            </a:r>
          </a:p>
          <a:p>
            <a:pPr lvl="1">
              <a:buFontTx/>
              <a:buChar char="•"/>
            </a:pPr>
            <a:r>
              <a:rPr lang="en-NZ" sz="2400" dirty="0"/>
              <a:t> File consolidation reduces the size of the index in the case of variable-size portions, but not in the case of block allocation. </a:t>
            </a:r>
          </a:p>
          <a:p>
            <a:endParaRPr lang="en-NZ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4B48D5-F7AE-45A8-8E84-7F3DCD0F9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066800"/>
            <a:ext cx="2986088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Indexed allocation with Block Portions</a:t>
            </a:r>
          </a:p>
        </p:txBody>
      </p:sp>
      <p:pic>
        <p:nvPicPr>
          <p:cNvPr id="7577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8600" y="990600"/>
            <a:ext cx="8686800" cy="5181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92F452-71CB-4A67-8B8A-0E1129F3D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0" y="3454400"/>
            <a:ext cx="1733550" cy="17335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latin typeface="Calibri" pitchFamily="34" charset="0"/>
              </a:rPr>
              <a:t>Indexed Allocation with</a:t>
            </a:r>
            <a:br>
              <a:rPr lang="en-US" sz="2800" b="1" dirty="0">
                <a:latin typeface="Calibri" pitchFamily="34" charset="0"/>
              </a:rPr>
            </a:br>
            <a:r>
              <a:rPr lang="en-US" sz="2800" b="1" dirty="0">
                <a:latin typeface="Calibri" pitchFamily="34" charset="0"/>
              </a:rPr>
              <a:t> Variable Length Portions</a:t>
            </a:r>
          </a:p>
        </p:txBody>
      </p:sp>
      <p:pic>
        <p:nvPicPr>
          <p:cNvPr id="76803" name="Content Placeholder 3" descr="Fig12_1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990600"/>
            <a:ext cx="8305799" cy="533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F16F61-34BD-4F60-865E-C671A9B89C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199" y="4461017"/>
            <a:ext cx="1280600" cy="12765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Free Space Management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839200" cy="5791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400" dirty="0"/>
              <a:t>Just as allocated space must be managed, so must the unallocated space</a:t>
            </a:r>
          </a:p>
          <a:p>
            <a:r>
              <a:rPr lang="en-NZ" sz="2400" dirty="0"/>
              <a:t>To perform file allocation, we need to know which blocks are available.</a:t>
            </a:r>
          </a:p>
          <a:p>
            <a:r>
              <a:rPr lang="en-NZ" sz="2400" dirty="0"/>
              <a:t>We need a disk allocation table in addition to a file allocation table.</a:t>
            </a:r>
          </a:p>
          <a:p>
            <a:r>
              <a:rPr lang="en-US" sz="2400" dirty="0"/>
              <a:t>A number of techniques that have been implemented.</a:t>
            </a:r>
          </a:p>
          <a:p>
            <a:pPr marL="457200" indent="-457200">
              <a:buAutoNum type="arabicParenBoth"/>
            </a:pPr>
            <a:r>
              <a:rPr lang="en-US" sz="2400" dirty="0"/>
              <a:t>Bit Tables</a:t>
            </a:r>
          </a:p>
          <a:p>
            <a:pPr marL="457200" indent="-457200">
              <a:buAutoNum type="arabicParenBoth"/>
            </a:pPr>
            <a:r>
              <a:rPr lang="en-US" sz="2400" dirty="0"/>
              <a:t>Chained Free Portions</a:t>
            </a:r>
          </a:p>
          <a:p>
            <a:pPr marL="457200" indent="-457200">
              <a:buAutoNum type="arabicParenBoth"/>
            </a:pPr>
            <a:r>
              <a:rPr lang="en-US" sz="2400" dirty="0"/>
              <a:t>Indexing</a:t>
            </a:r>
          </a:p>
          <a:p>
            <a:pPr marL="457200" indent="-457200">
              <a:buAutoNum type="arabicParenBoth"/>
            </a:pPr>
            <a:r>
              <a:rPr lang="en-US" sz="2400" dirty="0"/>
              <a:t>Free Block List</a:t>
            </a:r>
            <a:endParaRPr lang="en-NZ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1DEAC4-AC84-4781-9FFF-BA70880D7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276600"/>
            <a:ext cx="4021505" cy="30194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(1)Bit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762000"/>
            <a:ext cx="9067800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NZ" sz="2000" dirty="0">
                <a:latin typeface="Calibri" pitchFamily="34" charset="0"/>
              </a:rPr>
              <a:t>This method uses a vector containing one bit for each block on the disk.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Each entry of a 0 corresponds to a free block, and each 1 corresponds to a block in use.</a:t>
            </a:r>
          </a:p>
          <a:p>
            <a:endParaRPr lang="en-NZ" sz="2000" dirty="0">
              <a:latin typeface="Calibri" pitchFamily="34" charset="0"/>
            </a:endParaRPr>
          </a:p>
          <a:p>
            <a:r>
              <a:rPr lang="en-NZ" sz="2000" dirty="0">
                <a:latin typeface="Calibri" pitchFamily="34" charset="0"/>
              </a:rPr>
              <a:t>A bit table has the advantage that it is relatively easy to find one or a contiguous group of free blocks.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Thus, a bit table works well with any of the file allocation methods outlined. </a:t>
            </a:r>
          </a:p>
          <a:p>
            <a:pPr lvl="1">
              <a:buFontTx/>
              <a:buChar char="•"/>
            </a:pPr>
            <a:r>
              <a:rPr lang="en-NZ" sz="2000" dirty="0">
                <a:latin typeface="Calibri" pitchFamily="34" charset="0"/>
              </a:rPr>
              <a:t> Another advantage is that it is as small as possible.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BBBDE-EE7E-48A7-BCF6-2FA7F15C8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845874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 descr="Fig12_07.gif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685800"/>
            <a:ext cx="8686800" cy="472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5629870"/>
            <a:ext cx="89154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For example, for the disk layout of Figure 12.7, a vector of length 35 is</a:t>
            </a:r>
          </a:p>
          <a:p>
            <a:r>
              <a:rPr lang="en-US" dirty="0"/>
              <a:t>needed and would have the following value:</a:t>
            </a:r>
          </a:p>
          <a:p>
            <a:r>
              <a:rPr lang="en-US" dirty="0"/>
              <a:t>00111000011111000011111111111011000</a:t>
            </a:r>
            <a:endParaRPr lang="en-NZ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7200" y="76200"/>
            <a:ext cx="8229600" cy="48736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(1)Bit Tables</a:t>
            </a:r>
            <a:endParaRPr kumimoji="0" lang="en-NZ" sz="2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651F6-2921-419F-8588-7D0205AFC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43200"/>
            <a:ext cx="180975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(2)Chained Free Portions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533400"/>
            <a:ext cx="9144000" cy="5909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NZ" dirty="0"/>
              <a:t> The free portions may be chained together by using a pointer and length value in each free </a:t>
            </a:r>
          </a:p>
          <a:p>
            <a:pPr>
              <a:defRPr/>
            </a:pPr>
            <a:r>
              <a:rPr lang="en-NZ" dirty="0"/>
              <a:t>  portion.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NZ" dirty="0"/>
              <a:t> This method has negligible space overhead because there is no need for a disk allocation table, </a:t>
            </a:r>
          </a:p>
          <a:p>
            <a:pPr>
              <a:defRPr/>
            </a:pPr>
            <a:r>
              <a:rPr lang="en-NZ" dirty="0"/>
              <a:t>   merely for a pointer to the beginning of the chain and the length of the first portion. </a:t>
            </a:r>
          </a:p>
          <a:p>
            <a:pPr>
              <a:buFont typeface="Arial" pitchFamily="34" charset="0"/>
              <a:buChar char="•"/>
              <a:defRPr/>
            </a:pPr>
            <a:endParaRPr lang="en-NZ" dirty="0"/>
          </a:p>
          <a:p>
            <a:pPr>
              <a:buFont typeface="Arial" pitchFamily="34" charset="0"/>
              <a:buChar char="•"/>
              <a:defRPr/>
            </a:pPr>
            <a:r>
              <a:rPr lang="en-NZ" dirty="0"/>
              <a:t>This method is suited to all of the file allocation methods.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If allocation is a block at a time, simply choose the free block at the head of the chain and </a:t>
            </a:r>
          </a:p>
          <a:p>
            <a:pPr lvl="1">
              <a:defRPr/>
            </a:pPr>
            <a:r>
              <a:rPr lang="en-NZ" dirty="0"/>
              <a:t>   adjust the first pointer or length value.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If allocation is by variable-length portion, a first-fit algorithm may be used: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The headers from the portions are fetched one at a time to determine the next suitable </a:t>
            </a:r>
          </a:p>
          <a:p>
            <a:pPr lvl="1">
              <a:defRPr/>
            </a:pPr>
            <a:r>
              <a:rPr lang="en-NZ" dirty="0"/>
              <a:t>  free portion in the chain.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Again, pointer and length values are adjusted.</a:t>
            </a:r>
          </a:p>
          <a:p>
            <a:pPr lvl="1">
              <a:buFont typeface="Arial" pitchFamily="34" charset="0"/>
              <a:buChar char="•"/>
              <a:defRPr/>
            </a:pPr>
            <a:endParaRPr lang="en-NZ" dirty="0"/>
          </a:p>
          <a:p>
            <a:pPr>
              <a:buFont typeface="Arial" pitchFamily="34" charset="0"/>
              <a:buChar char="•"/>
              <a:defRPr/>
            </a:pPr>
            <a:r>
              <a:rPr lang="en-NZ" dirty="0"/>
              <a:t>This method has its own problems.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After some use, the disk will become quite fragmented and many portions will be a single </a:t>
            </a:r>
          </a:p>
          <a:p>
            <a:pPr lvl="1">
              <a:defRPr/>
            </a:pPr>
            <a:r>
              <a:rPr lang="en-NZ" dirty="0"/>
              <a:t>   block long.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Also note that every time you allocate a block, you need to read the block first to recover </a:t>
            </a:r>
          </a:p>
          <a:p>
            <a:pPr lvl="1">
              <a:defRPr/>
            </a:pPr>
            <a:r>
              <a:rPr lang="en-NZ" dirty="0"/>
              <a:t>  the pointer to the new first free block before writing data to that block.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If many individual blocks need to be allocated at one time for a file operation, this greatly </a:t>
            </a:r>
          </a:p>
          <a:p>
            <a:pPr lvl="1">
              <a:defRPr/>
            </a:pPr>
            <a:r>
              <a:rPr lang="en-NZ" dirty="0"/>
              <a:t>   slows file creation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NZ" dirty="0"/>
              <a:t> Similarly, deleting highly fragmented files is very time consuming.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(3)Indexing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5867400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400" dirty="0"/>
              <a:t>Treats free space as a file and uses an index table as it would for file allocation</a:t>
            </a:r>
          </a:p>
          <a:p>
            <a:r>
              <a:rPr lang="en-NZ" sz="2400" dirty="0"/>
              <a:t>For efficiency, the index should be on the basis of variable-size portions rather than blocks.</a:t>
            </a:r>
          </a:p>
          <a:p>
            <a:pPr lvl="1"/>
            <a:r>
              <a:rPr lang="en-NZ" sz="2400" dirty="0"/>
              <a:t> Thus, there is one entry in the table for every free portion on the disk.</a:t>
            </a:r>
          </a:p>
          <a:p>
            <a:r>
              <a:rPr lang="en-NZ" sz="2400" dirty="0"/>
              <a:t> This approach provides efficient support for all of the file allocation methods.</a:t>
            </a:r>
          </a:p>
          <a:p>
            <a:endParaRPr lang="en-NZ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19288-AE7C-4616-8121-3371344C4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50" y="1828800"/>
            <a:ext cx="2133600" cy="2133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(4)Free Block List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838200"/>
            <a:ext cx="8915400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NZ" sz="2400" dirty="0">
                <a:latin typeface="Calibri" pitchFamily="34" charset="0"/>
              </a:rPr>
              <a:t>In this method, each block is assigned a number sequentially and the </a:t>
            </a:r>
          </a:p>
          <a:p>
            <a:r>
              <a:rPr lang="en-NZ" sz="2400" dirty="0">
                <a:latin typeface="Calibri" pitchFamily="34" charset="0"/>
              </a:rPr>
              <a:t>  list of the numbers of all free blocks is maintained in a reserved </a:t>
            </a:r>
          </a:p>
          <a:p>
            <a:r>
              <a:rPr lang="en-NZ" sz="2400" dirty="0">
                <a:latin typeface="Calibri" pitchFamily="34" charset="0"/>
              </a:rPr>
              <a:t>  portion of the disk. </a:t>
            </a:r>
          </a:p>
          <a:p>
            <a:pPr>
              <a:buFont typeface="Arial" pitchFamily="34" charset="0"/>
              <a:buChar char="•"/>
            </a:pPr>
            <a:endParaRPr lang="en-NZ" sz="24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 dirty="0">
                <a:latin typeface="Calibri" pitchFamily="34" charset="0"/>
              </a:rPr>
              <a:t> Depending on the size of the disk, either 24 or 32 bits will be needed </a:t>
            </a:r>
          </a:p>
          <a:p>
            <a:r>
              <a:rPr lang="en-NZ" sz="2400" dirty="0">
                <a:latin typeface="Calibri" pitchFamily="34" charset="0"/>
              </a:rPr>
              <a:t>  to store a single block number, so the size of the free block list is 24 </a:t>
            </a:r>
          </a:p>
          <a:p>
            <a:r>
              <a:rPr lang="en-NZ" sz="2400" dirty="0">
                <a:latin typeface="Calibri" pitchFamily="34" charset="0"/>
              </a:rPr>
              <a:t>  or 32 times the size of the corresponding bit table and thus must be </a:t>
            </a:r>
          </a:p>
          <a:p>
            <a:r>
              <a:rPr lang="en-NZ" sz="2400" dirty="0">
                <a:latin typeface="Calibri" pitchFamily="34" charset="0"/>
              </a:rPr>
              <a:t>  stored on disk rather than in main memory.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9E7F9-AC98-478A-974C-892F4D05B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130196"/>
            <a:ext cx="43434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NZ" sz="2800" b="1" dirty="0">
                <a:latin typeface="Calibri" pitchFamily="34" charset="0"/>
              </a:rPr>
              <a:t>Volumes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267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NZ" sz="2400" dirty="0"/>
              <a:t>A collection of addressable sectors in secondary memory that an OS or application can use for data storage.</a:t>
            </a:r>
          </a:p>
          <a:p>
            <a:r>
              <a:rPr lang="en-NZ" sz="2400" dirty="0"/>
              <a:t>The sectors in a volume need not be consecutive on a physical storage device;</a:t>
            </a:r>
          </a:p>
          <a:p>
            <a:pPr lvl="1"/>
            <a:r>
              <a:rPr lang="en-NZ" sz="2400" dirty="0"/>
              <a:t>instead they need only appear that way to the OS or application. </a:t>
            </a:r>
          </a:p>
          <a:p>
            <a:r>
              <a:rPr lang="en-NZ" sz="2400" dirty="0"/>
              <a:t>A volume may be the result of assembling and merging smaller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C0002-C331-47C8-83D6-29492BD8E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133600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71450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2831</TotalTime>
  <Words>6096</Words>
  <Application>Microsoft Office PowerPoint</Application>
  <PresentationFormat>On-screen Show (4:3)</PresentationFormat>
  <Paragraphs>743</Paragraphs>
  <Slides>65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Calibri</vt:lpstr>
      <vt:lpstr>Comic Sans MS</vt:lpstr>
      <vt:lpstr>Times New Roman</vt:lpstr>
      <vt:lpstr>Tw Cen MT</vt:lpstr>
      <vt:lpstr>Tw Cen MT Condensed</vt:lpstr>
      <vt:lpstr>Wingdings</vt:lpstr>
      <vt:lpstr>Wingdings 3</vt:lpstr>
      <vt:lpstr>Integral</vt:lpstr>
      <vt:lpstr>PowerPoint Presentation</vt:lpstr>
      <vt:lpstr>Roadmap</vt:lpstr>
      <vt:lpstr>Files</vt:lpstr>
      <vt:lpstr>File Management</vt:lpstr>
      <vt:lpstr>File Structure-Terms</vt:lpstr>
      <vt:lpstr>File and Database</vt:lpstr>
      <vt:lpstr>File Management Systems</vt:lpstr>
      <vt:lpstr>Objectives for a File Management System</vt:lpstr>
      <vt:lpstr>File System Architecture</vt:lpstr>
      <vt:lpstr>Device Drivers</vt:lpstr>
      <vt:lpstr>Basic I/O Supervisor</vt:lpstr>
      <vt:lpstr>Logical I/O</vt:lpstr>
      <vt:lpstr>File Management Functions</vt:lpstr>
      <vt:lpstr>Roadmap</vt:lpstr>
      <vt:lpstr>File Organization</vt:lpstr>
      <vt:lpstr>File Organisation Types</vt:lpstr>
      <vt:lpstr>The Pile</vt:lpstr>
      <vt:lpstr>The Sequential File</vt:lpstr>
      <vt:lpstr>Indexed Sequential File</vt:lpstr>
      <vt:lpstr>Indexed File</vt:lpstr>
      <vt:lpstr>Direct, or hashed, file</vt:lpstr>
      <vt:lpstr>Roadmap</vt:lpstr>
      <vt:lpstr>Contents</vt:lpstr>
      <vt:lpstr>Directory Elements</vt:lpstr>
      <vt:lpstr>PowerPoint Presentation</vt:lpstr>
      <vt:lpstr>Simple Structure for a Directory</vt:lpstr>
      <vt:lpstr>Operations Performed on a Directory</vt:lpstr>
      <vt:lpstr>Two-Level Scheme for a Directory</vt:lpstr>
      <vt:lpstr>Hierarchical, or Tree-Structured Directory</vt:lpstr>
      <vt:lpstr>Naming</vt:lpstr>
      <vt:lpstr>Example of Tree-Structured Directory</vt:lpstr>
      <vt:lpstr>Working Directory</vt:lpstr>
      <vt:lpstr>Roadmap</vt:lpstr>
      <vt:lpstr>File Sharing</vt:lpstr>
      <vt:lpstr>Access Rights</vt:lpstr>
      <vt:lpstr>Access Rights</vt:lpstr>
      <vt:lpstr>User Classes</vt:lpstr>
      <vt:lpstr>Roadmap</vt:lpstr>
      <vt:lpstr>Blocks and records</vt:lpstr>
      <vt:lpstr>Fixed Blocking</vt:lpstr>
      <vt:lpstr>Variable Length Spanned Blocking</vt:lpstr>
      <vt:lpstr>Variable-length unspanned blocking</vt:lpstr>
      <vt:lpstr>Roadmap</vt:lpstr>
      <vt:lpstr>Secondary Storage Management</vt:lpstr>
      <vt:lpstr>Portion size</vt:lpstr>
      <vt:lpstr>File Allocation Method</vt:lpstr>
      <vt:lpstr>Contiguous Allocation</vt:lpstr>
      <vt:lpstr>Contiguous File Allocation</vt:lpstr>
      <vt:lpstr>External fragmentation</vt:lpstr>
      <vt:lpstr>Chained Allocation</vt:lpstr>
      <vt:lpstr>Chained Allocation</vt:lpstr>
      <vt:lpstr>Chained Allocation Consolidation</vt:lpstr>
      <vt:lpstr>Chained Allocation Consolidation</vt:lpstr>
      <vt:lpstr>Indexed Allocation</vt:lpstr>
      <vt:lpstr>Indexed Allocation Method</vt:lpstr>
      <vt:lpstr>Indexed allocation with Block Portions</vt:lpstr>
      <vt:lpstr>Indexed Allocation with  Variable Length Portions</vt:lpstr>
      <vt:lpstr>Free Space Management</vt:lpstr>
      <vt:lpstr>(1)Bit Tables</vt:lpstr>
      <vt:lpstr>PowerPoint Presentation</vt:lpstr>
      <vt:lpstr>(2)Chained Free Portions </vt:lpstr>
      <vt:lpstr>(3)Indexing</vt:lpstr>
      <vt:lpstr>(4)Free Block List </vt:lpstr>
      <vt:lpstr>Volumes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Lenovo</cp:lastModifiedBy>
  <cp:revision>997</cp:revision>
  <dcterms:created xsi:type="dcterms:W3CDTF">2006-08-16T00:00:00Z</dcterms:created>
  <dcterms:modified xsi:type="dcterms:W3CDTF">2022-11-08T05:16:06Z</dcterms:modified>
</cp:coreProperties>
</file>