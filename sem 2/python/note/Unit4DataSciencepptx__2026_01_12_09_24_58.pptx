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3" r:id="rId47"/>
    <p:sldId id="352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62" r:id="rId57"/>
    <p:sldId id="363" r:id="rId58"/>
    <p:sldId id="364" r:id="rId59"/>
    <p:sldId id="365" r:id="rId60"/>
    <p:sldId id="366" r:id="rId61"/>
    <p:sldId id="367" r:id="rId62"/>
    <p:sldId id="368" r:id="rId63"/>
    <p:sldId id="369" r:id="rId64"/>
    <p:sldId id="370" r:id="rId65"/>
    <p:sldId id="371" r:id="rId66"/>
    <p:sldId id="372" r:id="rId67"/>
    <p:sldId id="375" r:id="rId68"/>
    <p:sldId id="376" r:id="rId69"/>
    <p:sldId id="377" r:id="rId70"/>
    <p:sldId id="378" r:id="rId71"/>
    <p:sldId id="379" r:id="rId72"/>
    <p:sldId id="380" r:id="rId73"/>
    <p:sldId id="373" r:id="rId74"/>
    <p:sldId id="374" r:id="rId75"/>
    <p:sldId id="381" r:id="rId76"/>
    <p:sldId id="384" r:id="rId77"/>
    <p:sldId id="382" r:id="rId78"/>
    <p:sldId id="383" r:id="rId79"/>
    <p:sldId id="385" r:id="rId80"/>
    <p:sldId id="386" r:id="rId81"/>
    <p:sldId id="387" r:id="rId82"/>
    <p:sldId id="388" r:id="rId83"/>
    <p:sldId id="389" r:id="rId84"/>
    <p:sldId id="390" r:id="rId85"/>
    <p:sldId id="391" r:id="rId86"/>
    <p:sldId id="392" r:id="rId87"/>
    <p:sldId id="393" r:id="rId88"/>
    <p:sldId id="394" r:id="rId89"/>
    <p:sldId id="395" r:id="rId90"/>
    <p:sldId id="396" r:id="rId91"/>
    <p:sldId id="397" r:id="rId92"/>
    <p:sldId id="308" r:id="rId9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30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E0E06-AB51-44FC-A4D6-DF92655569FF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3352800"/>
            <a:ext cx="8458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95400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sz="3100" b="1" dirty="0" err="1"/>
              <a:t>Marwadi</a:t>
            </a:r>
            <a:r>
              <a:rPr lang="en-US" sz="3100" b="1" dirty="0"/>
              <a:t> </a:t>
            </a:r>
            <a:r>
              <a:rPr lang="en-US" sz="3100" b="1" dirty="0" smtClean="0"/>
              <a:t>University</a:t>
            </a:r>
            <a:br>
              <a:rPr lang="en-US" sz="3100" b="1" dirty="0" smtClean="0"/>
            </a:br>
            <a:r>
              <a:rPr lang="en-US" sz="3600" dirty="0" smtClean="0"/>
              <a:t>Faculty </a:t>
            </a:r>
            <a:r>
              <a:rPr lang="en-US" sz="3600" dirty="0"/>
              <a:t>of Computer Applications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MCA </a:t>
            </a:r>
            <a:r>
              <a:rPr lang="en-US" b="1" dirty="0" err="1"/>
              <a:t>Sem</a:t>
            </a:r>
            <a:r>
              <a:rPr lang="en-US" b="1" dirty="0"/>
              <a:t>- </a:t>
            </a:r>
            <a:r>
              <a:rPr lang="en-US" b="1" dirty="0" smtClean="0"/>
              <a:t>II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5814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Basics of Python</a:t>
            </a:r>
          </a:p>
          <a:p>
            <a:pPr algn="ctr"/>
            <a:r>
              <a:rPr lang="en-US" sz="3200" dirty="0" smtClean="0"/>
              <a:t>(</a:t>
            </a:r>
            <a:r>
              <a:rPr lang="en-US" sz="3200" dirty="0" err="1" smtClean="0"/>
              <a:t>05MC0202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181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Unit – 4</a:t>
            </a:r>
          </a:p>
          <a:p>
            <a:pPr algn="ctr"/>
            <a:r>
              <a:rPr lang="en-US" sz="3200" b="1" dirty="0"/>
              <a:t>Data Science, </a:t>
            </a:r>
            <a:endParaRPr lang="en-US" sz="3200" b="1" dirty="0" smtClean="0"/>
          </a:p>
          <a:p>
            <a:pPr algn="ctr"/>
            <a:r>
              <a:rPr lang="en-US" sz="3200" b="1" dirty="0" smtClean="0"/>
              <a:t>Drawing </a:t>
            </a:r>
            <a:r>
              <a:rPr lang="en-US" sz="3200" b="1" dirty="0"/>
              <a:t>Graphs and Regular Expression</a:t>
            </a:r>
            <a:endParaRPr lang="en-US" sz="3200" dirty="0"/>
          </a:p>
        </p:txBody>
      </p:sp>
      <p:pic>
        <p:nvPicPr>
          <p:cNvPr id="11" name="Picture 3" descr="C:\Users\Kalpesh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150" y="4866007"/>
            <a:ext cx="2051050" cy="1382393"/>
          </a:xfrm>
          <a:prstGeom prst="rect">
            <a:avLst/>
          </a:prstGeom>
          <a:noFill/>
        </p:spPr>
      </p:pic>
      <p:pic>
        <p:nvPicPr>
          <p:cNvPr id="12" name="Picture 3" descr="C:\Users\Kalpesh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4876800"/>
            <a:ext cx="2051050" cy="1382393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04668"/>
            <a:ext cx="3686175" cy="1038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Understanding and Installing Pandas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Pandas is a Python library used for working with data sets.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It </a:t>
            </a:r>
            <a:r>
              <a:rPr lang="en-US" sz="3200" dirty="0"/>
              <a:t>has functions for analyzing, cleaning, exploring, and manipulating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name "Pandas" has a reference to both "Panel Data", and "Python Data Analysis" and was created by Wes McKinney in 2008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Need for Pandas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Pandas allows us to analyze big data and make conclusions based on statistical theories</a:t>
            </a:r>
            <a:r>
              <a:rPr lang="en-US" sz="3200" dirty="0" smtClean="0"/>
              <a:t>.</a:t>
            </a: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Pandas can clean messy data sets, and make them readable and relevant.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Relevant </a:t>
            </a:r>
            <a:r>
              <a:rPr lang="en-US" sz="3200" dirty="0"/>
              <a:t>data is very important in data science</a:t>
            </a:r>
            <a:r>
              <a:rPr lang="en-US" sz="32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Data </a:t>
            </a:r>
            <a:r>
              <a:rPr lang="en-US" sz="3200" b="1" dirty="0"/>
              <a:t>Science:</a:t>
            </a:r>
            <a:r>
              <a:rPr lang="en-US" sz="3200" dirty="0"/>
              <a:t> is a branch of computer science where we study how to store, use and analyze data for deriving information from it.</a:t>
            </a:r>
          </a:p>
        </p:txBody>
      </p:sp>
    </p:spTree>
    <p:extLst>
      <p:ext uri="{BB962C8B-B14F-4D97-AF65-F5344CB8AC3E}">
        <p14:creationId xmlns:p14="http://schemas.microsoft.com/office/powerpoint/2010/main" val="163788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What Pandas can do?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Pandas gives you answers about the data. Like: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Is </a:t>
            </a:r>
            <a:r>
              <a:rPr lang="en-US" sz="3200" dirty="0"/>
              <a:t>there a correlation between two or more columns?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What is average value?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Max value?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Min value?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Pandas are also able to delete rows that are not relevant, or contains wrong values, like empty or NULL values. This is called cleaning the data.</a:t>
            </a:r>
          </a:p>
        </p:txBody>
      </p:sp>
    </p:spTree>
    <p:extLst>
      <p:ext uri="{BB962C8B-B14F-4D97-AF65-F5344CB8AC3E}">
        <p14:creationId xmlns:p14="http://schemas.microsoft.com/office/powerpoint/2010/main" val="152668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Installation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install Pandas library in your machine you need to give following command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pip </a:t>
            </a:r>
            <a:r>
              <a:rPr lang="en-US" sz="3200" b="1" dirty="0"/>
              <a:t>install </a:t>
            </a:r>
            <a:r>
              <a:rPr lang="en-US" sz="3200" b="1" dirty="0" smtClean="0"/>
              <a:t>pandas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Once the installation gets over you can import Pandas library in your idle by using following command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import pandas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0590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Installation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check installation you can use following example :</a:t>
            </a:r>
          </a:p>
          <a:p>
            <a:pPr algn="just"/>
            <a:r>
              <a:rPr lang="en-US" sz="2400" dirty="0"/>
              <a:t>import pandas</a:t>
            </a:r>
          </a:p>
          <a:p>
            <a:pPr algn="just"/>
            <a:r>
              <a:rPr lang="en-US" sz="2400" dirty="0" err="1" smtClean="0"/>
              <a:t>mydataset</a:t>
            </a:r>
            <a:r>
              <a:rPr lang="en-US" sz="2400" dirty="0" smtClean="0"/>
              <a:t> </a:t>
            </a:r>
            <a:r>
              <a:rPr lang="en-US" sz="2400" dirty="0"/>
              <a:t>= {</a:t>
            </a:r>
          </a:p>
          <a:p>
            <a:pPr algn="just"/>
            <a:r>
              <a:rPr lang="en-US" sz="2400" dirty="0"/>
              <a:t>  'cars': ["BMW", "Volvo", "Ford"],</a:t>
            </a:r>
          </a:p>
          <a:p>
            <a:pPr algn="just"/>
            <a:r>
              <a:rPr lang="en-US" sz="2400" dirty="0"/>
              <a:t>  '</a:t>
            </a:r>
            <a:r>
              <a:rPr lang="en-US" sz="2400" dirty="0" err="1"/>
              <a:t>passings</a:t>
            </a:r>
            <a:r>
              <a:rPr lang="en-US" sz="2400" dirty="0"/>
              <a:t>': [3, 7, 2]</a:t>
            </a:r>
          </a:p>
          <a:p>
            <a:pPr algn="just"/>
            <a:r>
              <a:rPr lang="en-US" sz="2400" dirty="0"/>
              <a:t>}</a:t>
            </a:r>
          </a:p>
          <a:p>
            <a:pPr algn="just"/>
            <a:r>
              <a:rPr lang="en-US" sz="2400" dirty="0" err="1" smtClean="0"/>
              <a:t>myvar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/>
              <a:t>pandas.DataFrame</a:t>
            </a:r>
            <a:r>
              <a:rPr lang="en-US" sz="2400" dirty="0"/>
              <a:t>(</a:t>
            </a:r>
            <a:r>
              <a:rPr lang="en-US" sz="2400" dirty="0" err="1"/>
              <a:t>mydataset</a:t>
            </a:r>
            <a:r>
              <a:rPr lang="en-US" sz="2400" dirty="0"/>
              <a:t>)</a:t>
            </a:r>
          </a:p>
          <a:p>
            <a:pPr algn="just"/>
            <a:r>
              <a:rPr lang="en-US" sz="2400" dirty="0" smtClean="0"/>
              <a:t>print(</a:t>
            </a:r>
            <a:r>
              <a:rPr lang="en-US" sz="2400" dirty="0" err="1" smtClean="0"/>
              <a:t>myvar</a:t>
            </a:r>
            <a:r>
              <a:rPr lang="en-US" sz="2400" dirty="0"/>
              <a:t>)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O/p.</a:t>
            </a:r>
          </a:p>
          <a:p>
            <a:pPr algn="just"/>
            <a:r>
              <a:rPr lang="en-US" sz="2400" dirty="0"/>
              <a:t> </a:t>
            </a:r>
            <a:r>
              <a:rPr lang="en-US" sz="2400" dirty="0" smtClean="0"/>
              <a:t>      cars  </a:t>
            </a:r>
            <a:r>
              <a:rPr lang="en-US" sz="2400" dirty="0" err="1"/>
              <a:t>passings</a:t>
            </a:r>
            <a:endParaRPr lang="en-US" sz="2400" dirty="0"/>
          </a:p>
          <a:p>
            <a:pPr algn="just"/>
            <a:r>
              <a:rPr lang="en-US" sz="2400" dirty="0"/>
              <a:t>0    BMW         3</a:t>
            </a:r>
          </a:p>
          <a:p>
            <a:pPr algn="just"/>
            <a:r>
              <a:rPr lang="en-US" sz="2400" dirty="0"/>
              <a:t>1  </a:t>
            </a:r>
            <a:r>
              <a:rPr lang="en-US" sz="2400" dirty="0" smtClean="0"/>
              <a:t>  Volvo         </a:t>
            </a:r>
            <a:r>
              <a:rPr lang="en-US" sz="2400" dirty="0"/>
              <a:t>7</a:t>
            </a:r>
          </a:p>
          <a:p>
            <a:pPr algn="just"/>
            <a:r>
              <a:rPr lang="en-US" sz="2400" dirty="0"/>
              <a:t>2   </a:t>
            </a:r>
            <a:r>
              <a:rPr lang="en-US" sz="2400" dirty="0" smtClean="0"/>
              <a:t> Ford         </a:t>
            </a:r>
            <a:r>
              <a:rPr lang="en-US" sz="2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2342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/>
              <a:t>Pandas as </a:t>
            </a:r>
            <a:r>
              <a:rPr lang="en-US" b="1" dirty="0" err="1"/>
              <a:t>pd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Pandas is usually imported under the </a:t>
            </a:r>
            <a:r>
              <a:rPr lang="en-US" sz="3200" dirty="0" err="1"/>
              <a:t>pd</a:t>
            </a:r>
            <a:r>
              <a:rPr lang="en-US" sz="3200" dirty="0"/>
              <a:t> alias</a:t>
            </a:r>
            <a:r>
              <a:rPr lang="en-US" sz="3200" dirty="0" smtClean="0"/>
              <a:t>.</a:t>
            </a: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alias: In Python alias are an alternate name for referring to the same thing</a:t>
            </a:r>
            <a:r>
              <a:rPr lang="en-US" sz="3200" dirty="0" smtClean="0"/>
              <a:t>.</a:t>
            </a: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Create an alias with the as keyword while importing</a:t>
            </a:r>
            <a:r>
              <a:rPr lang="en-US" sz="3200" dirty="0" smtClean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import pandas as </a:t>
            </a:r>
            <a:r>
              <a:rPr lang="en-US" sz="3200" dirty="0" err="1"/>
              <a:t>pd</a:t>
            </a: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r>
              <a:rPr lang="en-IN" dirty="0" smtClean="0"/>
              <a:t>import</a:t>
            </a:r>
            <a:r>
              <a:rPr lang="en-IN" dirty="0"/>
              <a:t> pandas as </a:t>
            </a:r>
            <a:r>
              <a:rPr lang="en-IN" dirty="0" err="1" smtClean="0"/>
              <a:t>pd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/>
              <a:t>mydataset</a:t>
            </a:r>
            <a:r>
              <a:rPr lang="en-IN" dirty="0"/>
              <a:t> = {</a:t>
            </a:r>
            <a:br>
              <a:rPr lang="en-IN" dirty="0"/>
            </a:br>
            <a:r>
              <a:rPr lang="en-IN" dirty="0"/>
              <a:t>  'cars': ["BMW", "Volvo", "Ford"],</a:t>
            </a:r>
            <a:br>
              <a:rPr lang="en-IN" dirty="0"/>
            </a:br>
            <a:r>
              <a:rPr lang="en-IN" dirty="0"/>
              <a:t>  '</a:t>
            </a:r>
            <a:r>
              <a:rPr lang="en-IN" dirty="0" err="1"/>
              <a:t>passings</a:t>
            </a:r>
            <a:r>
              <a:rPr lang="en-IN" dirty="0"/>
              <a:t>': [3, 7, 2]</a:t>
            </a:r>
            <a:br>
              <a:rPr lang="en-IN" dirty="0"/>
            </a:br>
            <a:r>
              <a:rPr lang="en-IN" dirty="0" smtClean="0"/>
              <a:t>}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/>
              <a:t>myvar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</a:t>
            </a:r>
            <a:r>
              <a:rPr lang="en-IN" dirty="0" err="1"/>
              <a:t>mydataset</a:t>
            </a:r>
            <a:r>
              <a:rPr lang="en-IN" dirty="0" smtClean="0"/>
              <a:t>)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print(</a:t>
            </a:r>
            <a:r>
              <a:rPr lang="en-IN" dirty="0" err="1"/>
              <a:t>myvar</a:t>
            </a:r>
            <a:r>
              <a:rPr lang="en-IN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/>
              <a:t>Checking Pandas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The version string is stored under __version__ attribute.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import pandas as </a:t>
            </a:r>
            <a:r>
              <a:rPr lang="en-IN" dirty="0" err="1" smtClean="0"/>
              <a:t>pd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dirty="0"/>
              <a:t>print(</a:t>
            </a:r>
            <a:r>
              <a:rPr lang="en-IN" dirty="0" err="1"/>
              <a:t>pd</a:t>
            </a:r>
            <a:r>
              <a:rPr lang="en-IN" dirty="0"/>
              <a:t>.__version__)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9601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Frames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A Pandas </a:t>
            </a:r>
            <a:r>
              <a:rPr lang="en-US" sz="3200" dirty="0" err="1"/>
              <a:t>DataFrame</a:t>
            </a:r>
            <a:r>
              <a:rPr lang="en-US" sz="3200" dirty="0"/>
              <a:t> is a 2 dimensional data structure, like a 2 dimensional array, or a table with rows and columns</a:t>
            </a:r>
            <a:r>
              <a:rPr lang="en-US" sz="3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08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Simple Data Frame Example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smtClean="0"/>
              <a:t>data </a:t>
            </a:r>
            <a:r>
              <a:rPr lang="en-US" sz="2800" dirty="0"/>
              <a:t>= {</a:t>
            </a:r>
          </a:p>
          <a:p>
            <a:pPr algn="just"/>
            <a:r>
              <a:rPr lang="en-US" sz="2800" dirty="0"/>
              <a:t>  "calories": [420, 380, 390],</a:t>
            </a:r>
          </a:p>
          <a:p>
            <a:pPr algn="just"/>
            <a:r>
              <a:rPr lang="en-US" sz="2800" dirty="0"/>
              <a:t>  "duration": [50, 40, 45]</a:t>
            </a:r>
          </a:p>
          <a:p>
            <a:pPr algn="just"/>
            <a:r>
              <a:rPr lang="en-US" sz="2800" dirty="0"/>
              <a:t>}</a:t>
            </a:r>
          </a:p>
          <a:p>
            <a:pPr algn="just"/>
            <a:r>
              <a:rPr lang="en-US" sz="2800" dirty="0" smtClean="0"/>
              <a:t>#</a:t>
            </a:r>
            <a:r>
              <a:rPr lang="en-US" sz="2800" dirty="0"/>
              <a:t>load data into a </a:t>
            </a:r>
            <a:r>
              <a:rPr lang="en-US" sz="2800" dirty="0" err="1"/>
              <a:t>DataFrame</a:t>
            </a:r>
            <a:r>
              <a:rPr lang="en-US" sz="2800" dirty="0"/>
              <a:t> object: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</a:t>
            </a:r>
            <a:r>
              <a:rPr lang="en-US" sz="2800" dirty="0" smtClean="0"/>
              <a:t>)</a:t>
            </a:r>
            <a:endParaRPr lang="en-US" sz="2800" dirty="0"/>
          </a:p>
          <a:p>
            <a:pPr algn="just"/>
            <a:r>
              <a:rPr lang="en-US" sz="2800" dirty="0"/>
              <a:t>print(</a:t>
            </a:r>
            <a:r>
              <a:rPr lang="en-US" sz="2800" dirty="0" err="1"/>
              <a:t>df</a:t>
            </a:r>
            <a:r>
              <a:rPr lang="en-US" sz="2800" dirty="0"/>
              <a:t>) </a:t>
            </a:r>
            <a:endParaRPr lang="en-US" sz="2800" dirty="0" smtClean="0"/>
          </a:p>
          <a:p>
            <a:pPr algn="just"/>
            <a:r>
              <a:rPr lang="en-US" sz="2800" dirty="0" smtClean="0"/>
              <a:t>O/p.</a:t>
            </a:r>
          </a:p>
          <a:p>
            <a:pPr algn="just"/>
            <a:r>
              <a:rPr lang="fr-FR" sz="2800" dirty="0"/>
              <a:t> calories  duration</a:t>
            </a:r>
          </a:p>
          <a:p>
            <a:pPr algn="just"/>
            <a:r>
              <a:rPr lang="fr-FR" sz="2800" dirty="0"/>
              <a:t>  0       420        50</a:t>
            </a:r>
          </a:p>
          <a:p>
            <a:pPr algn="just"/>
            <a:r>
              <a:rPr lang="fr-FR" sz="2800" dirty="0"/>
              <a:t>  1       380        40</a:t>
            </a:r>
          </a:p>
          <a:p>
            <a:pPr algn="just"/>
            <a:r>
              <a:rPr lang="fr-FR" sz="2800" dirty="0"/>
              <a:t>  2       390        45</a:t>
            </a:r>
            <a:endParaRPr lang="en-US" sz="2800" dirty="0" smtClean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7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Frame in detail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A pandas </a:t>
            </a:r>
            <a:r>
              <a:rPr lang="en-US" sz="2800" dirty="0" err="1"/>
              <a:t>DataFrame</a:t>
            </a:r>
            <a:r>
              <a:rPr lang="en-US" sz="2800" dirty="0"/>
              <a:t> can be created using various inputs like −</a:t>
            </a:r>
          </a:p>
          <a:p>
            <a:pPr algn="just"/>
            <a:r>
              <a:rPr lang="en-US" sz="2800" dirty="0"/>
              <a:t>●	Lists</a:t>
            </a:r>
          </a:p>
          <a:p>
            <a:pPr algn="just"/>
            <a:r>
              <a:rPr lang="en-US" sz="2800" dirty="0"/>
              <a:t>●	</a:t>
            </a:r>
            <a:r>
              <a:rPr lang="en-US" sz="2800" dirty="0" err="1"/>
              <a:t>Dict</a:t>
            </a:r>
            <a:endParaRPr lang="en-US" sz="2800" dirty="0"/>
          </a:p>
          <a:p>
            <a:pPr algn="just"/>
            <a:r>
              <a:rPr lang="en-US" sz="2800" dirty="0"/>
              <a:t>●	</a:t>
            </a:r>
            <a:r>
              <a:rPr lang="en-US" sz="2800" dirty="0" err="1"/>
              <a:t>Dict</a:t>
            </a:r>
            <a:r>
              <a:rPr lang="en-US" sz="2800" dirty="0"/>
              <a:t> of list</a:t>
            </a:r>
          </a:p>
          <a:p>
            <a:pPr algn="just"/>
            <a:r>
              <a:rPr lang="en-US" sz="2800" dirty="0"/>
              <a:t>●	Another </a:t>
            </a:r>
            <a:r>
              <a:rPr lang="en-US" sz="2800" dirty="0" err="1"/>
              <a:t>DataFrame</a:t>
            </a:r>
            <a:r>
              <a:rPr lang="en-US" sz="2800" dirty="0"/>
              <a:t>, files like excel, csv  </a:t>
            </a:r>
            <a:r>
              <a:rPr lang="en-US" sz="2800" dirty="0" err="1"/>
              <a:t>etc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38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Empty Data Frame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A basic </a:t>
            </a:r>
            <a:r>
              <a:rPr lang="en-US" sz="2800" dirty="0" err="1"/>
              <a:t>DataFrame</a:t>
            </a:r>
            <a:r>
              <a:rPr lang="en-US" sz="2800" dirty="0"/>
              <a:t>, which can be created is an Empty </a:t>
            </a:r>
            <a:r>
              <a:rPr lang="en-US" sz="2800" dirty="0" err="1"/>
              <a:t>Dataframe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 smtClean="0"/>
              <a:t>Example</a:t>
            </a:r>
          </a:p>
          <a:p>
            <a:pPr algn="just"/>
            <a:r>
              <a:rPr lang="en-US" sz="2800" dirty="0" smtClean="0"/>
              <a:t>#import </a:t>
            </a:r>
            <a:r>
              <a:rPr lang="en-US" sz="2800" dirty="0"/>
              <a:t>the pandas library and aliasing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b="1" dirty="0" smtClean="0"/>
              <a:t>Output</a:t>
            </a:r>
            <a:endParaRPr lang="en-US" sz="2800" b="1" dirty="0"/>
          </a:p>
          <a:p>
            <a:pPr algn="just"/>
            <a:r>
              <a:rPr lang="en-US" sz="2800" dirty="0"/>
              <a:t>Empty </a:t>
            </a:r>
            <a:r>
              <a:rPr lang="en-US" sz="2800" dirty="0" err="1"/>
              <a:t>DataFrame</a:t>
            </a:r>
            <a:endParaRPr lang="en-US" sz="2800" dirty="0"/>
          </a:p>
          <a:p>
            <a:pPr algn="just"/>
            <a:r>
              <a:rPr lang="en-US" sz="2800" dirty="0"/>
              <a:t>Columns: []</a:t>
            </a:r>
          </a:p>
          <a:p>
            <a:pPr algn="just"/>
            <a:r>
              <a:rPr lang="en-US" sz="2800" dirty="0"/>
              <a:t>Index: </a:t>
            </a:r>
            <a:r>
              <a:rPr lang="en-US" sz="2800" dirty="0" smtClean="0"/>
              <a:t>[]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18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List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</a:t>
            </a:r>
            <a:r>
              <a:rPr lang="en-US" sz="2800" dirty="0" err="1"/>
              <a:t>DataFrame</a:t>
            </a:r>
            <a:r>
              <a:rPr lang="en-US" sz="2800" dirty="0"/>
              <a:t> can be created using a single list or a list of lists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b="1" dirty="0" smtClean="0"/>
              <a:t>Example</a:t>
            </a:r>
          </a:p>
          <a:p>
            <a:pPr algn="just"/>
            <a:r>
              <a:rPr lang="en-US" sz="2800" dirty="0" smtClean="0"/>
              <a:t>import </a:t>
            </a:r>
            <a:r>
              <a:rPr lang="en-US" sz="2800" dirty="0"/>
              <a:t>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data = [1,2,3,4,5]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algn="just"/>
            <a:r>
              <a:rPr lang="en-US" sz="2800" b="1" dirty="0" smtClean="0"/>
              <a:t>Output</a:t>
            </a:r>
            <a:endParaRPr lang="en-US" sz="2800" b="1" dirty="0"/>
          </a:p>
          <a:p>
            <a:pPr algn="just"/>
            <a:r>
              <a:rPr lang="en-US" sz="2800" dirty="0"/>
              <a:t>    </a:t>
            </a:r>
            <a:r>
              <a:rPr lang="en-US" sz="2800" dirty="0" smtClean="0"/>
              <a:t>  0</a:t>
            </a:r>
            <a:endParaRPr lang="en-US" sz="2800" dirty="0"/>
          </a:p>
          <a:p>
            <a:pPr algn="just"/>
            <a:r>
              <a:rPr lang="en-US" sz="2800" dirty="0"/>
              <a:t>0    1</a:t>
            </a:r>
          </a:p>
          <a:p>
            <a:pPr algn="just"/>
            <a:r>
              <a:rPr lang="en-US" sz="2800" dirty="0"/>
              <a:t>1    2</a:t>
            </a:r>
          </a:p>
          <a:p>
            <a:pPr algn="just"/>
            <a:r>
              <a:rPr lang="en-US" sz="2800" dirty="0"/>
              <a:t>2    3</a:t>
            </a:r>
          </a:p>
          <a:p>
            <a:pPr algn="just"/>
            <a:r>
              <a:rPr lang="en-US" sz="2800" dirty="0"/>
              <a:t>3    4</a:t>
            </a:r>
          </a:p>
          <a:p>
            <a:pPr algn="just"/>
            <a:r>
              <a:rPr lang="en-US" sz="2800" dirty="0"/>
              <a:t>4    </a:t>
            </a:r>
            <a:r>
              <a:rPr lang="en-US" sz="2800" dirty="0" smtClean="0"/>
              <a:t>5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23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List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data = [['</a:t>
            </a:r>
            <a:r>
              <a:rPr lang="en-US" sz="2800" dirty="0" err="1"/>
              <a:t>Alex',10</a:t>
            </a:r>
            <a:r>
              <a:rPr lang="en-US" sz="2800" dirty="0"/>
              <a:t>],['</a:t>
            </a:r>
            <a:r>
              <a:rPr lang="en-US" sz="2800" dirty="0" err="1"/>
              <a:t>Bob',12</a:t>
            </a:r>
            <a:r>
              <a:rPr lang="en-US" sz="2800" dirty="0"/>
              <a:t>],['</a:t>
            </a:r>
            <a:r>
              <a:rPr lang="en-US" sz="2800" dirty="0" err="1"/>
              <a:t>Clarke',13</a:t>
            </a:r>
            <a:r>
              <a:rPr lang="en-US" sz="2800" dirty="0"/>
              <a:t>]]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</a:t>
            </a:r>
            <a:r>
              <a:rPr lang="en-US" sz="2800" dirty="0" err="1"/>
              <a:t>data,columns</a:t>
            </a:r>
            <a:r>
              <a:rPr lang="en-US" sz="2800" dirty="0"/>
              <a:t>=['</a:t>
            </a:r>
            <a:r>
              <a:rPr lang="en-US" sz="2800" dirty="0" err="1"/>
              <a:t>Name','Age</a:t>
            </a:r>
            <a:r>
              <a:rPr lang="en-US" sz="2800" dirty="0"/>
              <a:t>'])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/>
              <a:t>Its output is as follows −</a:t>
            </a:r>
          </a:p>
          <a:p>
            <a:pPr algn="just"/>
            <a:r>
              <a:rPr lang="en-US" sz="2800" dirty="0"/>
              <a:t>     Name      Age</a:t>
            </a:r>
          </a:p>
          <a:p>
            <a:pPr algn="just"/>
            <a:r>
              <a:rPr lang="en-US" sz="2800" dirty="0"/>
              <a:t>0     Alex      10</a:t>
            </a:r>
          </a:p>
          <a:p>
            <a:pPr algn="just"/>
            <a:r>
              <a:rPr lang="en-US" sz="2800" dirty="0"/>
              <a:t>1     Bob       12</a:t>
            </a:r>
          </a:p>
          <a:p>
            <a:pPr algn="just"/>
            <a:r>
              <a:rPr lang="en-US" sz="2800" dirty="0"/>
              <a:t>2     Clarke    13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50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</a:t>
            </a:r>
            <a:r>
              <a:rPr lang="en-US" b="1" dirty="0" err="1" smtClean="0"/>
              <a:t>Dict</a:t>
            </a:r>
            <a:r>
              <a:rPr lang="en-US" b="1" dirty="0" smtClean="0"/>
              <a:t> of </a:t>
            </a:r>
            <a:r>
              <a:rPr lang="en-US" b="1" dirty="0" err="1" smtClean="0"/>
              <a:t>ndarrays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All the </a:t>
            </a:r>
            <a:r>
              <a:rPr lang="en-US" sz="2800" dirty="0" err="1"/>
              <a:t>ndarrays</a:t>
            </a:r>
            <a:r>
              <a:rPr lang="en-US" sz="2800" dirty="0"/>
              <a:t> must be of same length. If index is passed, then the length of the index should equal to the length of the arrays.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If </a:t>
            </a:r>
            <a:r>
              <a:rPr lang="en-US" sz="2800" dirty="0"/>
              <a:t>no index is passed, then by default, index will be range(n), where n is the array length</a:t>
            </a:r>
            <a:r>
              <a:rPr lang="en-US" sz="2800" dirty="0" smtClean="0"/>
              <a:t>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8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</a:t>
            </a:r>
            <a:r>
              <a:rPr lang="en-US" b="1" dirty="0" err="1" smtClean="0"/>
              <a:t>Dict</a:t>
            </a:r>
            <a:r>
              <a:rPr lang="en-US" b="1" dirty="0" smtClean="0"/>
              <a:t> of </a:t>
            </a:r>
            <a:r>
              <a:rPr lang="en-US" b="1" dirty="0" err="1" smtClean="0"/>
              <a:t>ndarrays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data = {'Name':['Tom', 'Jack', 'Steve', 'Ricky'],'Age':[28,34,29,42]}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/>
              <a:t>Its output is as follows −</a:t>
            </a:r>
          </a:p>
          <a:p>
            <a:pPr algn="just"/>
            <a:r>
              <a:rPr lang="en-US" sz="2800" dirty="0"/>
              <a:t>     Age      Name</a:t>
            </a:r>
          </a:p>
          <a:p>
            <a:pPr algn="just"/>
            <a:r>
              <a:rPr lang="en-US" sz="2800" dirty="0"/>
              <a:t>0     28        Tom</a:t>
            </a:r>
          </a:p>
          <a:p>
            <a:pPr algn="just"/>
            <a:r>
              <a:rPr lang="en-US" sz="2800" dirty="0"/>
              <a:t>1     34       Jack</a:t>
            </a:r>
          </a:p>
          <a:p>
            <a:pPr algn="just"/>
            <a:r>
              <a:rPr lang="en-US" sz="2800" dirty="0"/>
              <a:t>2     29      Steve</a:t>
            </a:r>
          </a:p>
          <a:p>
            <a:pPr algn="just"/>
            <a:r>
              <a:rPr lang="en-US" sz="2800" dirty="0"/>
              <a:t>3     42      Ricky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81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</a:t>
            </a:r>
            <a:r>
              <a:rPr lang="en-US" b="1" dirty="0" err="1" smtClean="0"/>
              <a:t>Dict</a:t>
            </a:r>
            <a:r>
              <a:rPr lang="en-US" b="1" dirty="0" smtClean="0"/>
              <a:t> of </a:t>
            </a:r>
            <a:r>
              <a:rPr lang="en-US" b="1" dirty="0" err="1" smtClean="0"/>
              <a:t>ndarrays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Let us now create an indexed </a:t>
            </a:r>
            <a:r>
              <a:rPr lang="en-US" sz="2800" dirty="0" err="1"/>
              <a:t>DataFrame</a:t>
            </a:r>
            <a:r>
              <a:rPr lang="en-US" sz="2800" dirty="0"/>
              <a:t> using arrays.</a:t>
            </a:r>
          </a:p>
          <a:p>
            <a:pPr algn="just"/>
            <a:r>
              <a:rPr lang="en-US" sz="2800" dirty="0" smtClean="0"/>
              <a:t>import </a:t>
            </a:r>
            <a:r>
              <a:rPr lang="en-US" sz="2800" dirty="0"/>
              <a:t>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data = {'Name':['Tom', 'Jack', 'Steve', 'Ricky'],'Age':[28,34,29,42]}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(data, index=['</a:t>
            </a:r>
            <a:r>
              <a:rPr lang="en-US" sz="2800" dirty="0" err="1"/>
              <a:t>rank1</a:t>
            </a:r>
            <a:r>
              <a:rPr lang="en-US" sz="2800" dirty="0"/>
              <a:t>','</a:t>
            </a:r>
            <a:r>
              <a:rPr lang="en-US" sz="2800" dirty="0" err="1"/>
              <a:t>rank2</a:t>
            </a:r>
            <a:r>
              <a:rPr lang="en-US" sz="2800" dirty="0"/>
              <a:t>','</a:t>
            </a:r>
            <a:r>
              <a:rPr lang="en-US" sz="2800" dirty="0" err="1"/>
              <a:t>rank3</a:t>
            </a:r>
            <a:r>
              <a:rPr lang="en-US" sz="2800" dirty="0"/>
              <a:t>','</a:t>
            </a:r>
            <a:r>
              <a:rPr lang="en-US" sz="2800" dirty="0" err="1"/>
              <a:t>rank4</a:t>
            </a:r>
            <a:r>
              <a:rPr lang="en-US" sz="2800" dirty="0"/>
              <a:t>'])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/>
              <a:t>Its output is as follows −  </a:t>
            </a:r>
            <a:r>
              <a:rPr lang="en-US" sz="2800" b="1" dirty="0"/>
              <a:t>Note − Observe, the index parameter assigns an index to each row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 smtClean="0"/>
              <a:t>            Age    </a:t>
            </a:r>
            <a:r>
              <a:rPr lang="en-US" sz="2800" dirty="0"/>
              <a:t>Name</a:t>
            </a:r>
          </a:p>
          <a:p>
            <a:pPr algn="just"/>
            <a:r>
              <a:rPr lang="en-US" sz="2800" dirty="0" err="1"/>
              <a:t>rank1</a:t>
            </a:r>
            <a:r>
              <a:rPr lang="en-US" sz="2800" dirty="0"/>
              <a:t>    28      Tom</a:t>
            </a:r>
          </a:p>
          <a:p>
            <a:pPr algn="just"/>
            <a:r>
              <a:rPr lang="en-US" sz="2800" dirty="0" err="1"/>
              <a:t>rank2</a:t>
            </a:r>
            <a:r>
              <a:rPr lang="en-US" sz="2800" dirty="0"/>
              <a:t>    34     Jack</a:t>
            </a:r>
          </a:p>
          <a:p>
            <a:pPr algn="just"/>
            <a:r>
              <a:rPr lang="en-US" sz="2800" dirty="0" err="1"/>
              <a:t>rank3</a:t>
            </a:r>
            <a:r>
              <a:rPr lang="en-US" sz="2800" dirty="0"/>
              <a:t>    29    Steve</a:t>
            </a:r>
          </a:p>
          <a:p>
            <a:pPr algn="just"/>
            <a:r>
              <a:rPr lang="en-US" sz="2800" dirty="0" err="1"/>
              <a:t>rank4</a:t>
            </a:r>
            <a:r>
              <a:rPr lang="en-US" sz="2800" dirty="0"/>
              <a:t>    42    Ricky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31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List of </a:t>
            </a:r>
            <a:r>
              <a:rPr lang="en-US" b="1" dirty="0" err="1" smtClean="0"/>
              <a:t>Dicts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List of Dictionaries can be passed as input data to create a </a:t>
            </a:r>
            <a:r>
              <a:rPr lang="en-US" sz="2800" dirty="0" err="1"/>
              <a:t>DataFrame</a:t>
            </a:r>
            <a:r>
              <a:rPr lang="en-US" sz="2800" dirty="0"/>
              <a:t>. The dictionary keys are by default taken as column names. </a:t>
            </a:r>
            <a:r>
              <a:rPr lang="en-US" sz="2800" b="1" dirty="0"/>
              <a:t>Note − Observe, </a:t>
            </a:r>
            <a:r>
              <a:rPr lang="en-US" sz="2800" b="1" dirty="0" err="1"/>
              <a:t>NaN</a:t>
            </a:r>
            <a:r>
              <a:rPr lang="en-US" sz="2800" b="1" dirty="0"/>
              <a:t> (Not a Number) is appended in missing areas.</a:t>
            </a:r>
            <a:endParaRPr lang="en-US" sz="2800" b="1" dirty="0" smtClean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data = [{'a': 1, 'b': 2},{'a': 5, 'b': 10, 'c': 20}]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/>
              <a:t>Its output is as follows −</a:t>
            </a:r>
          </a:p>
          <a:p>
            <a:pPr algn="just"/>
            <a:r>
              <a:rPr lang="en-US" sz="2800" dirty="0"/>
              <a:t>    a    b      c</a:t>
            </a:r>
          </a:p>
          <a:p>
            <a:pPr algn="just"/>
            <a:r>
              <a:rPr lang="en-US" sz="2800" dirty="0"/>
              <a:t>0   1   2     </a:t>
            </a:r>
            <a:r>
              <a:rPr lang="en-US" sz="2800" dirty="0" err="1"/>
              <a:t>NaN</a:t>
            </a:r>
            <a:endParaRPr lang="en-US" sz="2800" dirty="0"/>
          </a:p>
          <a:p>
            <a:pPr algn="just"/>
            <a:r>
              <a:rPr lang="en-US" sz="2800" dirty="0"/>
              <a:t>1   5   10   20.0</a:t>
            </a:r>
          </a:p>
          <a:p>
            <a:pPr algn="just"/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87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List of </a:t>
            </a:r>
            <a:r>
              <a:rPr lang="en-US" b="1" dirty="0" err="1" smtClean="0"/>
              <a:t>Dicts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following example shows how to create a </a:t>
            </a:r>
            <a:r>
              <a:rPr lang="en-US" sz="2800" dirty="0" err="1"/>
              <a:t>DataFrame</a:t>
            </a:r>
            <a:r>
              <a:rPr lang="en-US" sz="2800" dirty="0"/>
              <a:t> by passing a list of dictionaries and the row indices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data = [{'a': 1, 'b': 2},{'a': 5, 'b': 10, 'c': 20}]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(data, index=['first', 'second'])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/>
              <a:t>Its output is as follows −</a:t>
            </a:r>
          </a:p>
          <a:p>
            <a:pPr algn="just"/>
            <a:r>
              <a:rPr lang="en-US" sz="2800" dirty="0"/>
              <a:t>       </a:t>
            </a:r>
            <a:r>
              <a:rPr lang="en-US" sz="2800" dirty="0" smtClean="0"/>
              <a:t>       a   </a:t>
            </a:r>
            <a:r>
              <a:rPr lang="en-US" sz="2800" dirty="0"/>
              <a:t>b       c</a:t>
            </a:r>
          </a:p>
          <a:p>
            <a:pPr algn="just"/>
            <a:r>
              <a:rPr lang="en-US" sz="2800" dirty="0"/>
              <a:t>first   </a:t>
            </a:r>
            <a:r>
              <a:rPr lang="en-US" sz="2800" dirty="0" smtClean="0"/>
              <a:t>    1   </a:t>
            </a:r>
            <a:r>
              <a:rPr lang="en-US" sz="2800" dirty="0"/>
              <a:t>2     </a:t>
            </a:r>
            <a:r>
              <a:rPr lang="en-US" sz="2800" dirty="0" err="1"/>
              <a:t>NaN</a:t>
            </a:r>
            <a:endParaRPr lang="en-US" sz="2800" dirty="0"/>
          </a:p>
          <a:p>
            <a:pPr algn="just"/>
            <a:r>
              <a:rPr lang="en-US" sz="2800" dirty="0"/>
              <a:t>second  5   10   20.0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List of </a:t>
            </a:r>
            <a:r>
              <a:rPr lang="en-US" b="1" dirty="0" err="1" smtClean="0"/>
              <a:t>Dicts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following example shows how to create a </a:t>
            </a:r>
            <a:r>
              <a:rPr lang="en-US" sz="2800" dirty="0" err="1"/>
              <a:t>DataFrame</a:t>
            </a:r>
            <a:r>
              <a:rPr lang="en-US" sz="2800" dirty="0"/>
              <a:t> with a list of dictionaries, row indices, and column indices.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data = [{'a': 1, 'b': 2},{'a': 5, 'b': 10, 'c': 20}]</a:t>
            </a:r>
          </a:p>
          <a:p>
            <a:pPr algn="just"/>
            <a:r>
              <a:rPr lang="en-US" sz="2800" dirty="0" smtClean="0"/>
              <a:t>#</a:t>
            </a:r>
            <a:r>
              <a:rPr lang="en-US" sz="2800" dirty="0"/>
              <a:t>With two column indices, values same as dictionary keys</a:t>
            </a:r>
          </a:p>
          <a:p>
            <a:pPr algn="just"/>
            <a:r>
              <a:rPr lang="en-US" sz="2800" dirty="0" err="1"/>
              <a:t>df1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(data, index=['first', 'second'], columns=['a', 'b'])</a:t>
            </a:r>
          </a:p>
          <a:p>
            <a:pPr algn="just"/>
            <a:r>
              <a:rPr lang="en-US" sz="2800" dirty="0" smtClean="0"/>
              <a:t>#</a:t>
            </a:r>
            <a:r>
              <a:rPr lang="en-US" sz="2800" dirty="0"/>
              <a:t>With two column indices with one index with other name</a:t>
            </a:r>
          </a:p>
          <a:p>
            <a:pPr algn="just"/>
            <a:r>
              <a:rPr lang="en-US" sz="2800" dirty="0" err="1"/>
              <a:t>df2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(data, index=['first', 'second'], columns=['a', '</a:t>
            </a:r>
            <a:r>
              <a:rPr lang="en-US" sz="2800" dirty="0" err="1"/>
              <a:t>b1</a:t>
            </a:r>
            <a:r>
              <a:rPr lang="en-US" sz="2800" dirty="0"/>
              <a:t>'])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df1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/>
              <a:t>print (</a:t>
            </a:r>
            <a:r>
              <a:rPr lang="en-US" sz="2800" dirty="0" err="1"/>
              <a:t>df2</a:t>
            </a:r>
            <a:r>
              <a:rPr lang="en-US" sz="2800" dirty="0"/>
              <a:t>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05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from List of </a:t>
            </a:r>
            <a:r>
              <a:rPr lang="en-US" b="1" dirty="0" err="1" smtClean="0"/>
              <a:t>Dicts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#</a:t>
            </a:r>
            <a:r>
              <a:rPr lang="en-US" sz="2800" dirty="0" err="1"/>
              <a:t>df1</a:t>
            </a:r>
            <a:r>
              <a:rPr lang="en-US" sz="2800" dirty="0"/>
              <a:t> output</a:t>
            </a:r>
          </a:p>
          <a:p>
            <a:pPr algn="just"/>
            <a:r>
              <a:rPr lang="en-US" sz="2800" dirty="0"/>
              <a:t>         a  b</a:t>
            </a:r>
          </a:p>
          <a:p>
            <a:pPr algn="just"/>
            <a:r>
              <a:rPr lang="en-US" sz="2800" dirty="0"/>
              <a:t>first    1  2</a:t>
            </a:r>
          </a:p>
          <a:p>
            <a:pPr algn="just"/>
            <a:r>
              <a:rPr lang="en-US" sz="2800" dirty="0"/>
              <a:t>second   5  10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#</a:t>
            </a:r>
            <a:r>
              <a:rPr lang="en-US" sz="2800" dirty="0" err="1"/>
              <a:t>df2</a:t>
            </a:r>
            <a:r>
              <a:rPr lang="en-US" sz="2800" dirty="0"/>
              <a:t> output</a:t>
            </a:r>
          </a:p>
          <a:p>
            <a:pPr algn="just"/>
            <a:r>
              <a:rPr lang="en-US" sz="2800" dirty="0"/>
              <a:t>         a  </a:t>
            </a:r>
            <a:r>
              <a:rPr lang="en-US" sz="2800" dirty="0" err="1"/>
              <a:t>b1</a:t>
            </a:r>
            <a:endParaRPr lang="en-US" sz="2800" dirty="0"/>
          </a:p>
          <a:p>
            <a:pPr algn="just"/>
            <a:r>
              <a:rPr lang="en-US" sz="2800" dirty="0"/>
              <a:t>first    1  </a:t>
            </a:r>
            <a:r>
              <a:rPr lang="en-US" sz="2800" dirty="0" err="1"/>
              <a:t>NaN</a:t>
            </a:r>
            <a:endParaRPr lang="en-US" sz="2800" dirty="0"/>
          </a:p>
          <a:p>
            <a:pPr algn="just"/>
            <a:r>
              <a:rPr lang="en-US" sz="2800" dirty="0"/>
              <a:t>second   5  </a:t>
            </a:r>
            <a:r>
              <a:rPr lang="en-US" sz="2800" dirty="0" err="1" smtClean="0"/>
              <a:t>NaN</a:t>
            </a:r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Note − Observe, </a:t>
            </a:r>
            <a:r>
              <a:rPr lang="en-US" sz="2800" b="1" dirty="0" err="1"/>
              <a:t>df2</a:t>
            </a:r>
            <a:r>
              <a:rPr lang="en-US" sz="2800" b="1" dirty="0"/>
              <a:t> </a:t>
            </a:r>
            <a:r>
              <a:rPr lang="en-US" sz="2800" b="1" dirty="0" err="1"/>
              <a:t>DataFrame</a:t>
            </a:r>
            <a:r>
              <a:rPr lang="en-US" sz="2800" b="1" dirty="0"/>
              <a:t> is created with a column index other than the dictionary key; thus, appended the </a:t>
            </a:r>
            <a:r>
              <a:rPr lang="en-US" sz="2800" b="1" dirty="0" err="1"/>
              <a:t>NaN’s</a:t>
            </a:r>
            <a:r>
              <a:rPr lang="en-US" sz="2800" b="1" dirty="0"/>
              <a:t> in place. Whereas, </a:t>
            </a:r>
            <a:r>
              <a:rPr lang="en-US" sz="2800" b="1" dirty="0" err="1"/>
              <a:t>df1</a:t>
            </a:r>
            <a:r>
              <a:rPr lang="en-US" sz="2800" b="1" dirty="0"/>
              <a:t> is created with column indices same as dictionary keys, so </a:t>
            </a:r>
            <a:r>
              <a:rPr lang="en-US" sz="2800" b="1" dirty="0" err="1"/>
              <a:t>NaN’s</a:t>
            </a:r>
            <a:r>
              <a:rPr lang="en-US" sz="2800" b="1" dirty="0"/>
              <a:t> appended.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0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using excel files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Let’s see how to read excel files to Pandas </a:t>
            </a:r>
            <a:r>
              <a:rPr lang="en-US" sz="2800" dirty="0" err="1"/>
              <a:t>dataframe</a:t>
            </a:r>
            <a:r>
              <a:rPr lang="en-US" sz="2800" dirty="0"/>
              <a:t> objects using Pandas.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Note : install </a:t>
            </a:r>
            <a:r>
              <a:rPr lang="en-US" sz="2800" b="1" dirty="0" err="1"/>
              <a:t>openpyxl</a:t>
            </a:r>
            <a:r>
              <a:rPr lang="en-US" sz="2800" b="1" dirty="0"/>
              <a:t> </a:t>
            </a:r>
            <a:r>
              <a:rPr lang="en-US" sz="2800" b="1" dirty="0" smtClean="0"/>
              <a:t>required</a:t>
            </a:r>
            <a:endParaRPr lang="en-US" sz="2800" b="1" dirty="0"/>
          </a:p>
          <a:p>
            <a:pPr algn="just"/>
            <a:r>
              <a:rPr lang="en-US" sz="2800" dirty="0"/>
              <a:t>Go to </a:t>
            </a:r>
            <a:r>
              <a:rPr lang="en-US" sz="2800" dirty="0" err="1"/>
              <a:t>run→cmd</a:t>
            </a:r>
            <a:r>
              <a:rPr lang="en-US" sz="2800" dirty="0"/>
              <a:t>—&gt; pip install </a:t>
            </a:r>
            <a:r>
              <a:rPr lang="en-US" sz="2800" dirty="0" err="1"/>
              <a:t>openpyxl</a:t>
            </a:r>
            <a:r>
              <a:rPr lang="en-US" sz="2800" dirty="0"/>
              <a:t> </a:t>
            </a:r>
          </a:p>
          <a:p>
            <a:pPr algn="just"/>
            <a:r>
              <a:rPr lang="en-US" sz="2800" dirty="0"/>
              <a:t>Go to idle —-&gt; import </a:t>
            </a:r>
            <a:r>
              <a:rPr lang="en-US" sz="2800" dirty="0" err="1"/>
              <a:t>openpyxl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57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using excel files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# import pandas lib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# read by default 1st sheet of an excel file</a:t>
            </a:r>
          </a:p>
          <a:p>
            <a:pPr algn="just"/>
            <a:r>
              <a:rPr lang="en-US" sz="2800" dirty="0" err="1"/>
              <a:t>dataframe1</a:t>
            </a:r>
            <a:r>
              <a:rPr lang="en-US" sz="2800" dirty="0"/>
              <a:t>=</a:t>
            </a:r>
            <a:r>
              <a:rPr lang="en-US" sz="2800" dirty="0" err="1"/>
              <a:t>pd.read_excel</a:t>
            </a:r>
            <a:r>
              <a:rPr lang="en-US" sz="2800" dirty="0"/>
              <a:t>('d:\\</a:t>
            </a:r>
            <a:r>
              <a:rPr lang="en-US" sz="2800" dirty="0" err="1"/>
              <a:t>test.xlsx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/>
              <a:t>print(</a:t>
            </a:r>
            <a:r>
              <a:rPr lang="en-US" sz="2800" dirty="0" err="1"/>
              <a:t>dataframe1</a:t>
            </a:r>
            <a:r>
              <a:rPr lang="en-US" sz="2800" dirty="0" smtClean="0"/>
              <a:t>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Output :</a:t>
            </a:r>
          </a:p>
          <a:p>
            <a:pPr algn="just"/>
            <a:r>
              <a:rPr lang="en-US" sz="2800" dirty="0"/>
              <a:t>   </a:t>
            </a:r>
            <a:r>
              <a:rPr lang="en-US" sz="2800" dirty="0" err="1"/>
              <a:t>sr</a:t>
            </a:r>
            <a:r>
              <a:rPr lang="en-US" sz="2800" dirty="0"/>
              <a:t> name</a:t>
            </a:r>
          </a:p>
          <a:p>
            <a:pPr algn="just"/>
            <a:r>
              <a:rPr lang="en-US" sz="2800" dirty="0"/>
              <a:t>0   1    a</a:t>
            </a:r>
          </a:p>
          <a:p>
            <a:pPr algn="just"/>
            <a:r>
              <a:rPr lang="en-US" sz="2800" dirty="0"/>
              <a:t>1   2    b</a:t>
            </a:r>
          </a:p>
          <a:p>
            <a:pPr algn="just"/>
            <a:r>
              <a:rPr lang="en-US" sz="2800" dirty="0"/>
              <a:t>2   3    </a:t>
            </a:r>
            <a:r>
              <a:rPr lang="en-US" sz="2800" dirty="0" smtClean="0"/>
              <a:t>c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45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using excel files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#import pandas lib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/>
              <a:t>  </a:t>
            </a:r>
          </a:p>
          <a:p>
            <a:pPr algn="just"/>
            <a:r>
              <a:rPr lang="en-US" sz="2800" dirty="0"/>
              <a:t>#read 2nd sheet of an excel file</a:t>
            </a:r>
          </a:p>
          <a:p>
            <a:pPr algn="just"/>
            <a:r>
              <a:rPr lang="en-US" sz="2800" dirty="0" err="1"/>
              <a:t>dataframe2</a:t>
            </a:r>
            <a:r>
              <a:rPr lang="en-US" sz="2800" dirty="0"/>
              <a:t> = </a:t>
            </a:r>
            <a:r>
              <a:rPr lang="en-US" sz="2800" dirty="0" err="1"/>
              <a:t>pd.read_excel</a:t>
            </a:r>
            <a:r>
              <a:rPr lang="en-US" sz="2800" dirty="0" smtClean="0"/>
              <a:t>(‘d:\\</a:t>
            </a:r>
            <a:r>
              <a:rPr lang="en-US" sz="2800" dirty="0" err="1" smtClean="0"/>
              <a:t>test.xlsx</a:t>
            </a:r>
            <a:r>
              <a:rPr lang="en-US" sz="2800" dirty="0" smtClean="0"/>
              <a:t>', </a:t>
            </a:r>
            <a:r>
              <a:rPr lang="en-US" sz="2800" dirty="0" err="1"/>
              <a:t>sheet_name</a:t>
            </a:r>
            <a:r>
              <a:rPr lang="en-US" sz="2800" dirty="0"/>
              <a:t> = </a:t>
            </a:r>
            <a:r>
              <a:rPr lang="en-US" sz="2800" dirty="0" smtClean="0"/>
              <a:t>‘</a:t>
            </a:r>
            <a:r>
              <a:rPr lang="en-US" sz="2800" dirty="0" err="1" smtClean="0"/>
              <a:t>Sheet2</a:t>
            </a:r>
            <a:r>
              <a:rPr lang="en-US" sz="2800" dirty="0" smtClean="0"/>
              <a:t>’)</a:t>
            </a:r>
            <a:endParaRPr lang="en-US" sz="2800" dirty="0"/>
          </a:p>
          <a:p>
            <a:pPr algn="just"/>
            <a:r>
              <a:rPr lang="en-US" sz="2800" dirty="0"/>
              <a:t>  </a:t>
            </a:r>
          </a:p>
          <a:p>
            <a:pPr algn="just"/>
            <a:r>
              <a:rPr lang="en-US" sz="2800" dirty="0"/>
              <a:t>print(</a:t>
            </a:r>
            <a:r>
              <a:rPr lang="en-US" sz="2800" dirty="0" err="1"/>
              <a:t>dataframe2</a:t>
            </a:r>
            <a:r>
              <a:rPr lang="en-US" sz="2800" dirty="0" smtClean="0"/>
              <a:t>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83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using list of tuples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We can create a </a:t>
            </a:r>
            <a:r>
              <a:rPr lang="en-US" sz="2800" dirty="0" err="1"/>
              <a:t>DataFrame</a:t>
            </a:r>
            <a:r>
              <a:rPr lang="en-US" sz="2800" dirty="0"/>
              <a:t> from a list of simple tuples, and can even choose the specific elements of the tuples we want to use</a:t>
            </a:r>
            <a:endParaRPr lang="en-US" sz="2800" dirty="0" smtClean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91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using list of tuples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# import pandas to use pandas </a:t>
            </a:r>
            <a:r>
              <a:rPr lang="en-US" sz="2800" dirty="0" err="1"/>
              <a:t>DataFrame</a:t>
            </a: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 smtClean="0"/>
              <a:t>pd</a:t>
            </a:r>
            <a:endParaRPr lang="en-US" sz="2800" dirty="0"/>
          </a:p>
          <a:p>
            <a:pPr algn="just"/>
            <a:r>
              <a:rPr lang="en-US" sz="2800" dirty="0"/>
              <a:t># data in the form of list of tuples</a:t>
            </a:r>
          </a:p>
          <a:p>
            <a:pPr algn="just"/>
            <a:r>
              <a:rPr lang="en-US" sz="2800" dirty="0"/>
              <a:t>data = [('Peter', 18, 7),</a:t>
            </a:r>
          </a:p>
          <a:p>
            <a:pPr algn="just"/>
            <a:r>
              <a:rPr lang="en-US" sz="2800" dirty="0"/>
              <a:t>        ('Riff', 15, 6),</a:t>
            </a:r>
          </a:p>
          <a:p>
            <a:pPr algn="just"/>
            <a:r>
              <a:rPr lang="en-US" sz="2800" dirty="0"/>
              <a:t>        ('John', 17, 8),</a:t>
            </a:r>
          </a:p>
          <a:p>
            <a:pPr algn="just"/>
            <a:r>
              <a:rPr lang="en-US" sz="2800" dirty="0"/>
              <a:t>        ('Michel', 18, 7),</a:t>
            </a:r>
          </a:p>
          <a:p>
            <a:pPr algn="just"/>
            <a:r>
              <a:rPr lang="en-US" sz="2800" dirty="0"/>
              <a:t>        ('</a:t>
            </a:r>
            <a:r>
              <a:rPr lang="en-US" sz="2800" dirty="0" err="1"/>
              <a:t>Sheli</a:t>
            </a:r>
            <a:r>
              <a:rPr lang="en-US" sz="2800" dirty="0"/>
              <a:t>', 17, 5) </a:t>
            </a:r>
            <a:r>
              <a:rPr lang="en-US" sz="2800" dirty="0" smtClean="0"/>
              <a:t>]</a:t>
            </a:r>
            <a:endParaRPr lang="en-US" sz="2800" dirty="0"/>
          </a:p>
          <a:p>
            <a:pPr algn="just"/>
            <a:r>
              <a:rPr lang="en-US" sz="2800" dirty="0"/>
              <a:t># create </a:t>
            </a:r>
            <a:r>
              <a:rPr lang="en-US" sz="2800" dirty="0" err="1"/>
              <a:t>DataFrame</a:t>
            </a:r>
            <a:r>
              <a:rPr lang="en-US" sz="2800" dirty="0"/>
              <a:t> using data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(data, columns =['Name', 'Age', 'Score</a:t>
            </a:r>
            <a:r>
              <a:rPr lang="en-US" sz="2800" dirty="0" smtClean="0"/>
              <a:t>'])</a:t>
            </a:r>
            <a:endParaRPr lang="en-US" sz="2800" dirty="0"/>
          </a:p>
          <a:p>
            <a:pPr algn="just"/>
            <a:r>
              <a:rPr lang="en-US" sz="2800" dirty="0"/>
              <a:t>print(</a:t>
            </a:r>
            <a:r>
              <a:rPr lang="en-US" sz="2800" dirty="0" err="1"/>
              <a:t>df</a:t>
            </a:r>
            <a:r>
              <a:rPr lang="en-US" sz="2800" dirty="0"/>
              <a:t>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5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using csv file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CSV files are the “comma-separated values”, these values are separated by commas, this file can be view like as excel file</a:t>
            </a:r>
          </a:p>
          <a:p>
            <a:pPr algn="just"/>
            <a:r>
              <a:rPr lang="en-US" sz="2800" dirty="0" err="1"/>
              <a:t>read_csv</a:t>
            </a:r>
            <a:r>
              <a:rPr lang="en-US" sz="2800" dirty="0"/>
              <a:t>() method is an important pandas function to read csv files and do operations on it.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41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</a:t>
            </a:r>
            <a:r>
              <a:rPr lang="en-US" b="1" dirty="0" err="1" smtClean="0"/>
              <a:t>Dataframe</a:t>
            </a:r>
            <a:r>
              <a:rPr lang="en-US" b="1" dirty="0" smtClean="0"/>
              <a:t> using csv file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/>
              <a:t># </a:t>
            </a:r>
            <a:r>
              <a:rPr lang="en-US" sz="2800" dirty="0"/>
              <a:t>creating a data frame using CSV files</a:t>
            </a:r>
          </a:p>
          <a:p>
            <a:pPr algn="just"/>
            <a:r>
              <a:rPr lang="en-US" sz="2800" dirty="0" smtClean="0"/>
              <a:t># </a:t>
            </a:r>
            <a:r>
              <a:rPr lang="en-US" sz="2800" dirty="0"/>
              <a:t>import pandas module</a:t>
            </a:r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smtClean="0"/>
              <a:t># </a:t>
            </a:r>
            <a:r>
              <a:rPr lang="en-US" sz="2800" dirty="0"/>
              <a:t>creating a data frame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pd.read_csv</a:t>
            </a:r>
            <a:r>
              <a:rPr lang="en-US" sz="2800" dirty="0" smtClean="0"/>
              <a:t>(“d:\\</a:t>
            </a:r>
            <a:r>
              <a:rPr lang="en-US" sz="2800" dirty="0" err="1" smtClean="0"/>
              <a:t>test1.csv</a:t>
            </a:r>
            <a:r>
              <a:rPr lang="en-US" sz="2800" dirty="0" smtClean="0"/>
              <a:t>")</a:t>
            </a:r>
            <a:endParaRPr lang="en-US" sz="2800" dirty="0"/>
          </a:p>
          <a:p>
            <a:pPr algn="just"/>
            <a:r>
              <a:rPr lang="en-US" sz="2800" dirty="0"/>
              <a:t>print(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9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Head() function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head() method returns a specified number of rows, string from the top</a:t>
            </a:r>
            <a:r>
              <a:rPr lang="en-US" sz="2800" dirty="0" smtClean="0"/>
              <a:t>.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head() method returns the first 5 rows if a number is not specified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df.head</a:t>
            </a:r>
            <a:r>
              <a:rPr lang="en-US" sz="2800" dirty="0"/>
              <a:t>())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95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Tail() function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tail() method returns a specified number of last rows</a:t>
            </a:r>
            <a:r>
              <a:rPr lang="en-US" sz="2800" dirty="0" smtClean="0"/>
              <a:t>.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tail() method returns the last 5 rows if a number is not specified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df.tail</a:t>
            </a:r>
            <a:r>
              <a:rPr lang="en-US" sz="2800" dirty="0"/>
              <a:t>())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8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Shape property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shape property returns a tuple containing the shape of the </a:t>
            </a:r>
            <a:r>
              <a:rPr lang="en-US" sz="2800" dirty="0" err="1"/>
              <a:t>DataFrame</a:t>
            </a:r>
            <a:r>
              <a:rPr lang="en-US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shape is the number of rows and columns of the </a:t>
            </a:r>
            <a:r>
              <a:rPr lang="en-US" sz="2800" dirty="0" err="1" smtClean="0"/>
              <a:t>DataFrame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df.shape</a:t>
            </a:r>
            <a:r>
              <a:rPr lang="en-US" sz="2800" dirty="0"/>
              <a:t>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80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Columns property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columns property returns the label of each column in the </a:t>
            </a:r>
            <a:r>
              <a:rPr lang="en-US" sz="2800" dirty="0" err="1"/>
              <a:t>DataFrame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df.columns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0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Size property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size property returns the number of elements in the </a:t>
            </a:r>
            <a:r>
              <a:rPr lang="en-US" sz="2800" dirty="0" err="1"/>
              <a:t>DataFrame</a:t>
            </a:r>
            <a:r>
              <a:rPr lang="en-US" sz="2800" dirty="0" smtClean="0"/>
              <a:t>.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number of elements is the number of rows * the number of columns</a:t>
            </a:r>
            <a:r>
              <a:rPr lang="en-US" sz="2800" dirty="0" smtClean="0"/>
              <a:t>.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If in our </a:t>
            </a:r>
            <a:r>
              <a:rPr lang="en-US" sz="2800" dirty="0"/>
              <a:t>example the </a:t>
            </a:r>
            <a:r>
              <a:rPr lang="en-US" sz="2800" dirty="0" err="1"/>
              <a:t>DataFrame</a:t>
            </a:r>
            <a:r>
              <a:rPr lang="en-US" sz="2800" dirty="0"/>
              <a:t> has 169 rows and 4 columns: 169 * 4 = </a:t>
            </a:r>
            <a:r>
              <a:rPr lang="en-US" sz="2800" dirty="0" smtClean="0"/>
              <a:t>676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df.size</a:t>
            </a:r>
            <a:r>
              <a:rPr lang="en-US" sz="2800" dirty="0"/>
              <a:t>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37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</a:t>
            </a:r>
            <a:r>
              <a:rPr lang="en-US" b="1" dirty="0" err="1" smtClean="0"/>
              <a:t>Dtypes</a:t>
            </a:r>
            <a:r>
              <a:rPr lang="en-US" b="1" dirty="0" smtClean="0"/>
              <a:t> property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dtypes</a:t>
            </a:r>
            <a:r>
              <a:rPr lang="en-US" sz="2800" dirty="0"/>
              <a:t> property returns data type of each column in the </a:t>
            </a:r>
            <a:r>
              <a:rPr lang="en-US" sz="2800" dirty="0" err="1"/>
              <a:t>DataFrame</a:t>
            </a:r>
            <a:r>
              <a:rPr lang="en-US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df.dtypes</a:t>
            </a:r>
            <a:r>
              <a:rPr lang="en-US" sz="2800" dirty="0"/>
              <a:t>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4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describe()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describe() method returns description of the data in the </a:t>
            </a:r>
            <a:r>
              <a:rPr lang="en-US" sz="2800" dirty="0" err="1"/>
              <a:t>DataFrame</a:t>
            </a:r>
            <a:r>
              <a:rPr lang="en-US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If </a:t>
            </a:r>
            <a:r>
              <a:rPr lang="en-US" sz="2800" dirty="0"/>
              <a:t>the </a:t>
            </a:r>
            <a:r>
              <a:rPr lang="en-US" sz="2800" dirty="0" err="1"/>
              <a:t>DataFrame</a:t>
            </a:r>
            <a:r>
              <a:rPr lang="en-US" sz="2800" dirty="0"/>
              <a:t> contains numerical data, the description contains these information for each column: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count </a:t>
            </a:r>
            <a:r>
              <a:rPr lang="en-US" sz="2800" dirty="0"/>
              <a:t>- The number of not-empty values.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mean - The average (mean) value.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std</a:t>
            </a:r>
            <a:r>
              <a:rPr lang="en-US" sz="2800" dirty="0"/>
              <a:t> - The standard deviation.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min - the minimum value.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25% - The 25% percentile*.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50% - The 50% percentile*.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75% - The 75% percentile*.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max - the maximum value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*Percentile meaning: how many of the values are less than the given percentile.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66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describe()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import pandas as pd</a:t>
            </a:r>
          </a:p>
          <a:p>
            <a:pPr algn="just"/>
            <a:r>
              <a:rPr lang="pt-BR" sz="2800" dirty="0" smtClean="0"/>
              <a:t>data </a:t>
            </a:r>
            <a:r>
              <a:rPr lang="pt-BR" sz="2800" dirty="0"/>
              <a:t>= [[10, 18, 11], [13, 15, 8], [9, 20, 3]]</a:t>
            </a:r>
          </a:p>
          <a:p>
            <a:pPr algn="just"/>
            <a:r>
              <a:rPr lang="pt-BR" sz="2800" dirty="0" smtClean="0"/>
              <a:t>df </a:t>
            </a:r>
            <a:r>
              <a:rPr lang="pt-BR" sz="2800" dirty="0"/>
              <a:t>= pd.DataFrame(data)</a:t>
            </a:r>
          </a:p>
          <a:p>
            <a:pPr algn="just"/>
            <a:r>
              <a:rPr lang="pt-BR" sz="2800" dirty="0" smtClean="0"/>
              <a:t>print(df.describe</a:t>
            </a:r>
            <a:r>
              <a:rPr lang="pt-BR" sz="2800" dirty="0"/>
              <a:t>())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14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max()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max() method returns a Series with the maximum value of each column.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By </a:t>
            </a:r>
            <a:r>
              <a:rPr lang="en-US" sz="2800" dirty="0"/>
              <a:t>specifying the column axis (axis='columns'), the max() method searches column-wise and returns the maximum value for each row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pt-BR" sz="2800" dirty="0"/>
              <a:t>import pandas as pd</a:t>
            </a:r>
          </a:p>
          <a:p>
            <a:pPr algn="just"/>
            <a:r>
              <a:rPr lang="pt-BR" sz="2800" dirty="0"/>
              <a:t>data = [[10, 18, 11], [13, 15, 8], [9, 20, 3]]</a:t>
            </a:r>
          </a:p>
          <a:p>
            <a:pPr algn="just"/>
            <a:r>
              <a:rPr lang="pt-BR" sz="2800" dirty="0"/>
              <a:t>df = pd.DataFrame(data)</a:t>
            </a:r>
          </a:p>
          <a:p>
            <a:pPr algn="just"/>
            <a:r>
              <a:rPr lang="pt-BR" sz="2800" dirty="0"/>
              <a:t>print(df.max())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9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min()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min() method returns a Series with the minimum value of each column.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By </a:t>
            </a:r>
            <a:r>
              <a:rPr lang="en-US" sz="2800" dirty="0"/>
              <a:t>specifying the column axis (axis='columns'), the max() method searches column-wise and returns the minimum value for each row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pt-BR" sz="2800" dirty="0"/>
              <a:t>import pandas as pd</a:t>
            </a:r>
          </a:p>
          <a:p>
            <a:pPr algn="just"/>
            <a:r>
              <a:rPr lang="pt-BR" sz="2800" dirty="0"/>
              <a:t>data = [[10, 18, 11], [13, 15, 8], [9, 20, 3]]</a:t>
            </a:r>
          </a:p>
          <a:p>
            <a:pPr algn="just"/>
            <a:r>
              <a:rPr lang="pt-BR" sz="2800" dirty="0"/>
              <a:t>df = pd.DataFrame(data)</a:t>
            </a:r>
          </a:p>
          <a:p>
            <a:pPr algn="just"/>
            <a:r>
              <a:rPr lang="pt-BR" sz="2800" dirty="0"/>
              <a:t>print(df.min</a:t>
            </a:r>
            <a:r>
              <a:rPr lang="pt-BR" sz="2800" dirty="0" smtClean="0"/>
              <a:t>())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59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Other functions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For other functions related to Pandas you can refer to the following link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https://www.javatpoint.com/python-pandas-dataframe</a:t>
            </a:r>
            <a:endParaRPr lang="pt-BR" sz="2800" dirty="0" smtClean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31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Indexing and Sorting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Sorting and Indexing are two most important functions that we perform on any dataset.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These are very basic and useful because every dataset we need to have Sorting and indexing to do some analysis tasks on the data.</a:t>
            </a:r>
            <a:endParaRPr lang="pt-BR" sz="2800" dirty="0" smtClean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87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index property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index property returns the index information of the </a:t>
            </a:r>
            <a:r>
              <a:rPr lang="en-US" sz="2800" dirty="0" err="1"/>
              <a:t>DataFrame</a:t>
            </a:r>
            <a:r>
              <a:rPr lang="en-US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index information contains the labels of the rows. If the rows has NOT named indexes, the index property returns a </a:t>
            </a:r>
            <a:r>
              <a:rPr lang="en-US" sz="2800" dirty="0" err="1"/>
              <a:t>RangeIndex</a:t>
            </a:r>
            <a:r>
              <a:rPr lang="en-US" sz="2800" dirty="0"/>
              <a:t> object with the start, stop, and step values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df.index</a:t>
            </a:r>
            <a:r>
              <a:rPr lang="en-US" sz="2800" dirty="0"/>
              <a:t>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48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set_index</a:t>
            </a:r>
            <a:r>
              <a:rPr lang="en-US" b="1" dirty="0" smtClean="0"/>
              <a:t>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set_index</a:t>
            </a:r>
            <a:r>
              <a:rPr lang="en-US" sz="2800" dirty="0"/>
              <a:t>() method allows one or more column values become the row index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smtClean="0"/>
              <a:t>data </a:t>
            </a:r>
            <a:r>
              <a:rPr lang="en-US" sz="2800" dirty="0"/>
              <a:t>= {</a:t>
            </a:r>
          </a:p>
          <a:p>
            <a:pPr algn="just"/>
            <a:r>
              <a:rPr lang="en-US" sz="2800" dirty="0"/>
              <a:t>  "name": ["Sally", "Mary", "John", "Monica"],</a:t>
            </a:r>
          </a:p>
          <a:p>
            <a:pPr algn="just"/>
            <a:r>
              <a:rPr lang="en-US" sz="2800" dirty="0"/>
              <a:t>  "age": [50, 40, 30, 40],</a:t>
            </a:r>
          </a:p>
          <a:p>
            <a:pPr algn="just"/>
            <a:r>
              <a:rPr lang="en-US" sz="2800" dirty="0"/>
              <a:t>  "qualified": [True, False, False, False]</a:t>
            </a:r>
          </a:p>
          <a:p>
            <a:pPr algn="just"/>
            <a:r>
              <a:rPr lang="en-US" sz="2800" dirty="0"/>
              <a:t>}</a:t>
            </a:r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pd.DataFrame</a:t>
            </a:r>
            <a:r>
              <a:rPr lang="en-US" sz="2800" dirty="0"/>
              <a:t>(data</a:t>
            </a:r>
            <a:r>
              <a:rPr lang="en-US" sz="2800" dirty="0" smtClean="0"/>
              <a:t>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</a:t>
            </a:r>
            <a:r>
              <a:rPr lang="en-US" sz="2800" dirty="0" smtClean="0"/>
              <a:t>)</a:t>
            </a:r>
            <a:endParaRPr lang="en-US" sz="2800" dirty="0"/>
          </a:p>
          <a:p>
            <a:pPr algn="just"/>
            <a:r>
              <a:rPr lang="en-US" sz="2800" dirty="0" err="1" smtClean="0"/>
              <a:t>newdf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df.set_index</a:t>
            </a:r>
            <a:r>
              <a:rPr lang="en-US" sz="2800" dirty="0"/>
              <a:t>('name</a:t>
            </a:r>
            <a:r>
              <a:rPr lang="en-US" sz="2800" dirty="0" smtClean="0"/>
              <a:t>')</a:t>
            </a:r>
          </a:p>
          <a:p>
            <a:pPr algn="just"/>
            <a:r>
              <a:rPr lang="en-US" sz="2800" dirty="0"/>
              <a:t>p</a:t>
            </a:r>
            <a:r>
              <a:rPr lang="en-US" sz="2800" dirty="0" smtClean="0"/>
              <a:t>rint(</a:t>
            </a:r>
            <a:r>
              <a:rPr lang="en-US" sz="2800" dirty="0" err="1" smtClean="0"/>
              <a:t>newdf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9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loc</a:t>
            </a:r>
            <a:r>
              <a:rPr lang="en-US" b="1" dirty="0" smtClean="0"/>
              <a:t> property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loc</a:t>
            </a:r>
            <a:r>
              <a:rPr lang="en-US" sz="2800" dirty="0"/>
              <a:t> property gets, or sets, the value(s) of the specified labels.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Specify </a:t>
            </a:r>
            <a:r>
              <a:rPr lang="en-US" sz="2800" dirty="0"/>
              <a:t>both row and column with a label.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To </a:t>
            </a:r>
            <a:r>
              <a:rPr lang="en-US" sz="2800" dirty="0"/>
              <a:t>access more than one row, use double brackets and specify the labels, separated by commas: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 smtClean="0"/>
              <a:t>df.loc</a:t>
            </a:r>
            <a:r>
              <a:rPr lang="en-US" sz="2800" dirty="0"/>
              <a:t>[["Sally", "John"]]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Specify </a:t>
            </a:r>
            <a:r>
              <a:rPr lang="en-US" sz="2800" dirty="0"/>
              <a:t>columns by including their labels in another list: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 smtClean="0"/>
              <a:t>df.loc</a:t>
            </a:r>
            <a:r>
              <a:rPr lang="en-US" sz="2800" dirty="0"/>
              <a:t>[["Sally", "John"], ["age", "qualified"]]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You </a:t>
            </a:r>
            <a:r>
              <a:rPr lang="en-US" sz="2800" dirty="0"/>
              <a:t>can also specify a slice of the </a:t>
            </a:r>
            <a:r>
              <a:rPr lang="en-US" sz="2800" dirty="0" err="1"/>
              <a:t>DataFrame</a:t>
            </a:r>
            <a:r>
              <a:rPr lang="en-US" sz="2800" dirty="0"/>
              <a:t> with from and to labels, separated by a colon: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 smtClean="0"/>
              <a:t>df.loc</a:t>
            </a:r>
            <a:r>
              <a:rPr lang="en-US" sz="2800" dirty="0"/>
              <a:t>["Sally": "John</a:t>
            </a:r>
            <a:r>
              <a:rPr lang="en-US" sz="2800" dirty="0" smtClean="0"/>
              <a:t>"]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Note : </a:t>
            </a:r>
            <a:r>
              <a:rPr lang="en-US" sz="2800" b="1" dirty="0"/>
              <a:t>When slicing, both from and to are included in the result</a:t>
            </a:r>
            <a:r>
              <a:rPr lang="en-US" sz="2800" b="1" dirty="0" smtClean="0"/>
              <a:t>.</a:t>
            </a:r>
            <a:endParaRPr lang="en-US" sz="28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56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loc</a:t>
            </a:r>
            <a:r>
              <a:rPr lang="en-US" b="1" dirty="0" smtClean="0"/>
              <a:t> property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smtClean="0"/>
              <a:t>data </a:t>
            </a:r>
            <a:r>
              <a:rPr lang="en-US" sz="2800" dirty="0"/>
              <a:t>= [[50, True], [40, False], [30, False]]</a:t>
            </a:r>
          </a:p>
          <a:p>
            <a:pPr algn="just"/>
            <a:r>
              <a:rPr lang="en-US" sz="2800" dirty="0" err="1"/>
              <a:t>label_rows</a:t>
            </a:r>
            <a:r>
              <a:rPr lang="en-US" sz="2800" dirty="0"/>
              <a:t> = ["Sally", "Mary", "John"]</a:t>
            </a:r>
          </a:p>
          <a:p>
            <a:pPr algn="just"/>
            <a:r>
              <a:rPr lang="en-US" sz="2800" dirty="0" err="1"/>
              <a:t>label_cols</a:t>
            </a:r>
            <a:r>
              <a:rPr lang="en-US" sz="2800" dirty="0"/>
              <a:t> = ["age", "qualified"]</a:t>
            </a:r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pd.DataFrame</a:t>
            </a:r>
            <a:r>
              <a:rPr lang="en-US" sz="2800" dirty="0"/>
              <a:t>(data, </a:t>
            </a:r>
            <a:r>
              <a:rPr lang="en-US" sz="2800" dirty="0" err="1"/>
              <a:t>label_rows</a:t>
            </a:r>
            <a:r>
              <a:rPr lang="en-US" sz="2800" dirty="0"/>
              <a:t>, </a:t>
            </a:r>
            <a:r>
              <a:rPr lang="en-US" sz="2800" dirty="0" err="1"/>
              <a:t>label_cols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/>
              <a:t>print(</a:t>
            </a:r>
            <a:r>
              <a:rPr lang="en-US" sz="2800" dirty="0" err="1"/>
              <a:t>df.loc</a:t>
            </a:r>
            <a:r>
              <a:rPr lang="en-US" sz="2800" dirty="0"/>
              <a:t>["Mary", "age"])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7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reset_index</a:t>
            </a:r>
            <a:r>
              <a:rPr lang="en-US" b="1" dirty="0" smtClean="0"/>
              <a:t>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reset_index</a:t>
            </a:r>
            <a:r>
              <a:rPr lang="en-US" sz="2800" dirty="0"/>
              <a:t>() method allows you reset the index back to the default 0, 1, 2 </a:t>
            </a:r>
            <a:r>
              <a:rPr lang="en-US" sz="2800" dirty="0" err="1"/>
              <a:t>etc</a:t>
            </a:r>
            <a:r>
              <a:rPr lang="en-US" sz="2800" dirty="0"/>
              <a:t> indexes.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By </a:t>
            </a:r>
            <a:r>
              <a:rPr lang="en-US" sz="2800" dirty="0"/>
              <a:t>default this method will keep the "old" </a:t>
            </a:r>
            <a:r>
              <a:rPr lang="en-US" sz="2800" dirty="0" err="1"/>
              <a:t>idexes</a:t>
            </a:r>
            <a:r>
              <a:rPr lang="en-US" sz="2800" dirty="0"/>
              <a:t> in a column named "index", to avoid this, use the drop parameter.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2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reset_index</a:t>
            </a:r>
            <a:r>
              <a:rPr lang="en-US" b="1" dirty="0"/>
              <a:t>()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smtClean="0"/>
              <a:t>data </a:t>
            </a:r>
            <a:r>
              <a:rPr lang="en-US" sz="2800" dirty="0"/>
              <a:t>= {</a:t>
            </a:r>
          </a:p>
          <a:p>
            <a:pPr algn="just"/>
            <a:r>
              <a:rPr lang="en-US" sz="2800" dirty="0"/>
              <a:t>  "name": ["Sally", "Mary", "John"],</a:t>
            </a:r>
          </a:p>
          <a:p>
            <a:pPr algn="just"/>
            <a:r>
              <a:rPr lang="en-US" sz="2800" dirty="0"/>
              <a:t>  "age": [50, 40, 30],</a:t>
            </a:r>
          </a:p>
          <a:p>
            <a:pPr algn="just"/>
            <a:r>
              <a:rPr lang="en-US" sz="2800" dirty="0"/>
              <a:t>  "qualified": [True, False, False]</a:t>
            </a:r>
          </a:p>
          <a:p>
            <a:pPr algn="just"/>
            <a:r>
              <a:rPr lang="en-US" sz="2800" dirty="0"/>
              <a:t>}</a:t>
            </a:r>
          </a:p>
          <a:p>
            <a:pPr algn="just"/>
            <a:r>
              <a:rPr lang="en-US" sz="2800" dirty="0" err="1"/>
              <a:t>idx</a:t>
            </a:r>
            <a:r>
              <a:rPr lang="en-US" sz="2800" dirty="0"/>
              <a:t> = ["X", "Y", "Z"]</a:t>
            </a:r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pd.DataFrame</a:t>
            </a:r>
            <a:r>
              <a:rPr lang="en-US" sz="2800" dirty="0"/>
              <a:t>(data, index=</a:t>
            </a:r>
            <a:r>
              <a:rPr lang="en-US" sz="2800" dirty="0" err="1"/>
              <a:t>idx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</a:t>
            </a:r>
            <a:r>
              <a:rPr lang="en-US" sz="2800" dirty="0" smtClean="0"/>
              <a:t>)</a:t>
            </a:r>
            <a:endParaRPr lang="en-US" sz="2800" dirty="0"/>
          </a:p>
          <a:p>
            <a:pPr algn="just"/>
            <a:r>
              <a:rPr lang="en-US" sz="2800" dirty="0" err="1"/>
              <a:t>newdf</a:t>
            </a:r>
            <a:r>
              <a:rPr lang="en-US" sz="2800" dirty="0"/>
              <a:t> = </a:t>
            </a:r>
            <a:r>
              <a:rPr lang="en-US" sz="2800" dirty="0" err="1"/>
              <a:t>df.reset_index</a:t>
            </a:r>
            <a:r>
              <a:rPr lang="en-US" sz="2800" dirty="0" smtClean="0"/>
              <a:t>()</a:t>
            </a:r>
            <a:endParaRPr lang="en-US" sz="2800" dirty="0"/>
          </a:p>
          <a:p>
            <a:pPr algn="just"/>
            <a:r>
              <a:rPr lang="en-US" sz="2800" dirty="0"/>
              <a:t>print(</a:t>
            </a:r>
            <a:r>
              <a:rPr lang="en-US" sz="2800" dirty="0" err="1"/>
              <a:t>newdf</a:t>
            </a:r>
            <a:r>
              <a:rPr lang="en-US" sz="2800" dirty="0"/>
              <a:t>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60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sort_values</a:t>
            </a:r>
            <a:r>
              <a:rPr lang="en-US" b="1" dirty="0" smtClean="0"/>
              <a:t>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sort_values</a:t>
            </a:r>
            <a:r>
              <a:rPr lang="en-US" sz="2800" dirty="0"/>
              <a:t>() method sorts the </a:t>
            </a:r>
            <a:r>
              <a:rPr lang="en-US" sz="2800" dirty="0" err="1"/>
              <a:t>DataFrame</a:t>
            </a:r>
            <a:r>
              <a:rPr lang="en-US" sz="2800" dirty="0"/>
              <a:t> by the specified label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smtClean="0"/>
              <a:t>data </a:t>
            </a:r>
            <a:r>
              <a:rPr lang="en-US" sz="2800" dirty="0"/>
              <a:t>= {</a:t>
            </a:r>
          </a:p>
          <a:p>
            <a:pPr algn="just"/>
            <a:r>
              <a:rPr lang="en-US" sz="2800" dirty="0"/>
              <a:t>  "age": [50, 40, 30, 40, 20, 10, 30],</a:t>
            </a:r>
          </a:p>
          <a:p>
            <a:pPr algn="just"/>
            <a:r>
              <a:rPr lang="en-US" sz="2800" dirty="0"/>
              <a:t>  "qualified": [True, False, False, False, False, True, True]</a:t>
            </a:r>
          </a:p>
          <a:p>
            <a:pPr algn="just"/>
            <a:r>
              <a:rPr lang="en-US" sz="2800" dirty="0"/>
              <a:t>}</a:t>
            </a:r>
          </a:p>
          <a:p>
            <a:pPr algn="just"/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</a:t>
            </a:r>
            <a:r>
              <a:rPr lang="en-US" sz="2800" dirty="0" smtClean="0"/>
              <a:t>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df</a:t>
            </a:r>
            <a:r>
              <a:rPr lang="en-US" sz="2800" dirty="0" smtClean="0"/>
              <a:t>)</a:t>
            </a:r>
            <a:endParaRPr lang="en-US" sz="2800" dirty="0"/>
          </a:p>
          <a:p>
            <a:pPr algn="just"/>
            <a:r>
              <a:rPr lang="en-US" sz="2800" dirty="0" err="1" smtClean="0"/>
              <a:t>newdf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df.sort_values</a:t>
            </a:r>
            <a:r>
              <a:rPr lang="en-US" sz="2800" dirty="0"/>
              <a:t>(by='age</a:t>
            </a:r>
            <a:r>
              <a:rPr lang="en-US" sz="2800" dirty="0" smtClean="0"/>
              <a:t>')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newdf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25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dropna</a:t>
            </a:r>
            <a:r>
              <a:rPr lang="en-US" b="1" dirty="0" smtClean="0"/>
              <a:t>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dropna</a:t>
            </a:r>
            <a:r>
              <a:rPr lang="en-US" sz="2800" dirty="0"/>
              <a:t>() method removes the rows that contains NULL values.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 err="1"/>
              <a:t>dropna</a:t>
            </a:r>
            <a:r>
              <a:rPr lang="en-US" sz="2800" dirty="0"/>
              <a:t>() method returns a new </a:t>
            </a:r>
            <a:r>
              <a:rPr lang="en-US" sz="2800" dirty="0" err="1"/>
              <a:t>DataFrame</a:t>
            </a:r>
            <a:r>
              <a:rPr lang="en-US" sz="2800" dirty="0"/>
              <a:t> object unless the </a:t>
            </a:r>
            <a:r>
              <a:rPr lang="en-US" sz="2800" dirty="0" err="1"/>
              <a:t>inplace</a:t>
            </a:r>
            <a:r>
              <a:rPr lang="en-US" sz="2800" dirty="0"/>
              <a:t> parameter is set to True, in that case the </a:t>
            </a:r>
            <a:r>
              <a:rPr lang="en-US" sz="2800" dirty="0" err="1"/>
              <a:t>dropna</a:t>
            </a:r>
            <a:r>
              <a:rPr lang="en-US" sz="2800" dirty="0"/>
              <a:t>() method does the removing in the original </a:t>
            </a:r>
            <a:r>
              <a:rPr lang="en-US" sz="2800" dirty="0" err="1"/>
              <a:t>DataFrame</a:t>
            </a:r>
            <a:r>
              <a:rPr lang="en-US" sz="2800" dirty="0"/>
              <a:t> instead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err="1" smtClean="0"/>
              <a:t>newdf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df.dropna</a:t>
            </a:r>
            <a:r>
              <a:rPr lang="en-US" sz="2800" dirty="0" smtClean="0"/>
              <a:t>()</a:t>
            </a:r>
          </a:p>
          <a:p>
            <a:pPr algn="just"/>
            <a:r>
              <a:rPr lang="en-US" sz="2800" dirty="0" smtClean="0"/>
              <a:t>print(</a:t>
            </a:r>
            <a:r>
              <a:rPr lang="en-US" sz="2800" dirty="0" err="1" smtClean="0"/>
              <a:t>newdf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34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fillna</a:t>
            </a:r>
            <a:r>
              <a:rPr lang="en-US" b="1" dirty="0" smtClean="0"/>
              <a:t>() method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fillna</a:t>
            </a:r>
            <a:r>
              <a:rPr lang="en-US" sz="2800" dirty="0"/>
              <a:t>() method replaces the NULL values with a specified value</a:t>
            </a:r>
            <a:r>
              <a:rPr lang="en-US" sz="2800" dirty="0" smtClean="0"/>
              <a:t>.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fillna</a:t>
            </a:r>
            <a:r>
              <a:rPr lang="en-US" sz="2800" dirty="0"/>
              <a:t>() method returns a new </a:t>
            </a:r>
            <a:r>
              <a:rPr lang="en-US" sz="2800" dirty="0" err="1"/>
              <a:t>DataFrame</a:t>
            </a:r>
            <a:r>
              <a:rPr lang="en-US" sz="2800" dirty="0"/>
              <a:t> object unless the </a:t>
            </a:r>
            <a:r>
              <a:rPr lang="en-US" sz="2800" dirty="0" err="1"/>
              <a:t>inplace</a:t>
            </a:r>
            <a:r>
              <a:rPr lang="en-US" sz="2800" dirty="0"/>
              <a:t> parameter is set to True, in that case the </a:t>
            </a:r>
            <a:r>
              <a:rPr lang="en-US" sz="2800" dirty="0" err="1"/>
              <a:t>fillna</a:t>
            </a:r>
            <a:r>
              <a:rPr lang="en-US" sz="2800" dirty="0"/>
              <a:t>() method does the replacing in the original </a:t>
            </a:r>
            <a:r>
              <a:rPr lang="en-US" sz="2800" dirty="0" err="1"/>
              <a:t>DataFrame</a:t>
            </a:r>
            <a:r>
              <a:rPr lang="en-US" sz="2800" dirty="0"/>
              <a:t> instead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pandas as </a:t>
            </a:r>
            <a:r>
              <a:rPr lang="en-US" sz="2800" dirty="0" err="1"/>
              <a:t>pd</a:t>
            </a:r>
            <a:endParaRPr lang="en-US" sz="2800" dirty="0"/>
          </a:p>
          <a:p>
            <a:pPr algn="just"/>
            <a:r>
              <a:rPr lang="en-US" sz="2800" dirty="0" err="1" smtClean="0"/>
              <a:t>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pd.read_csv</a:t>
            </a:r>
            <a:r>
              <a:rPr lang="en-US" sz="2800" dirty="0"/>
              <a:t>('</a:t>
            </a:r>
            <a:r>
              <a:rPr lang="en-US" sz="2800" dirty="0" err="1"/>
              <a:t>data.csv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err="1" smtClean="0"/>
              <a:t>newdf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df.fillna</a:t>
            </a:r>
            <a:r>
              <a:rPr lang="en-US" sz="2800" dirty="0"/>
              <a:t>(222222)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6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Different types of Basic Graphs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There are various types of graphs available in python specifically for Data Analysis.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It includes 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Line Graph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Bar Graph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Histogram Graph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Pie Graph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3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3600"/>
            <a:ext cx="3044967" cy="2438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28800"/>
            <a:ext cx="4419600" cy="42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5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Bar Graph</a:t>
            </a:r>
            <a:endParaRPr lang="en-US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828800"/>
            <a:ext cx="4257314" cy="2895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057400"/>
            <a:ext cx="4151085" cy="249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5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Histogram Graph</a:t>
            </a:r>
            <a:endParaRPr lang="en-US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../_images/hist_n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6" y="1905001"/>
            <a:ext cx="43688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../_images/hist_new_stack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6" y="1905001"/>
            <a:ext cx="4165598" cy="312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4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Pie Graph</a:t>
            </a:r>
            <a:endParaRPr lang="en-US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52600"/>
            <a:ext cx="3781514" cy="3429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787434"/>
            <a:ext cx="4149048" cy="293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1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Matplotlib</a:t>
            </a:r>
            <a:r>
              <a:rPr lang="en-US" sz="2800" dirty="0"/>
              <a:t> is a data visualization library in Python. 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 err="1"/>
              <a:t>pyplot</a:t>
            </a:r>
            <a:r>
              <a:rPr lang="en-US" sz="2800" dirty="0"/>
              <a:t>, a </a:t>
            </a:r>
            <a:r>
              <a:rPr lang="en-US" sz="2800" dirty="0" err="1"/>
              <a:t>sublibrary</a:t>
            </a:r>
            <a:r>
              <a:rPr lang="en-US" sz="2800" dirty="0"/>
              <a:t> of </a:t>
            </a:r>
            <a:r>
              <a:rPr lang="en-US" sz="2800" dirty="0" err="1"/>
              <a:t>matplotlib</a:t>
            </a:r>
            <a:r>
              <a:rPr lang="en-US" sz="2800" dirty="0"/>
              <a:t>, is a collection of functions that helps in creating a variety of charts.  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Line </a:t>
            </a:r>
            <a:r>
              <a:rPr lang="en-US" sz="2800" dirty="0"/>
              <a:t>charts are used to represent the relation between two data X and Y on a different axis. 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Here </a:t>
            </a:r>
            <a:r>
              <a:rPr lang="en-US" sz="2800" dirty="0"/>
              <a:t>we will see some of the examples of a line chart in Python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First </a:t>
            </a:r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library for plotting functions. 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Also</a:t>
            </a:r>
            <a:r>
              <a:rPr lang="en-US" sz="2800" dirty="0"/>
              <a:t>, import the </a:t>
            </a:r>
            <a:r>
              <a:rPr lang="en-US" sz="2800" dirty="0" err="1"/>
              <a:t>Numpy</a:t>
            </a:r>
            <a:r>
              <a:rPr lang="en-US" sz="2800" dirty="0"/>
              <a:t> library as per requirement. 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Then </a:t>
            </a:r>
            <a:r>
              <a:rPr lang="en-US" sz="2800" dirty="0"/>
              <a:t>define data values x and y. 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pip install </a:t>
            </a:r>
            <a:r>
              <a:rPr lang="en-US" sz="2800" dirty="0" err="1" smtClean="0"/>
              <a:t>matplotlib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/>
              <a:t>  </a:t>
            </a:r>
          </a:p>
          <a:p>
            <a:pPr algn="just"/>
            <a:r>
              <a:rPr lang="en-US" sz="2800" dirty="0"/>
              <a:t># define data values</a:t>
            </a:r>
          </a:p>
          <a:p>
            <a:pPr algn="just"/>
            <a:r>
              <a:rPr lang="en-US" sz="2800" dirty="0"/>
              <a:t>x = [1, 2, 3, 4]  # X-axis points</a:t>
            </a:r>
          </a:p>
          <a:p>
            <a:pPr algn="just"/>
            <a:r>
              <a:rPr lang="en-US" sz="2800" dirty="0"/>
              <a:t>y = [2, 4, 6, 8]  # Y-axis points</a:t>
            </a:r>
          </a:p>
          <a:p>
            <a:pPr algn="just"/>
            <a:r>
              <a:rPr lang="en-US" sz="2800" dirty="0"/>
              <a:t>  </a:t>
            </a:r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(x, y)  # Plot the chart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29845"/>
            <a:ext cx="4471988" cy="34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4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ypoints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</a:t>
            </a:r>
            <a:r>
              <a:rPr lang="en-US" sz="2800" dirty="0" err="1"/>
              <a:t>ypoints</a:t>
            </a:r>
            <a:r>
              <a:rPr lang="en-US" sz="2800" dirty="0"/>
              <a:t>, </a:t>
            </a:r>
            <a:r>
              <a:rPr lang="en-US" sz="2800" dirty="0" err="1"/>
              <a:t>linestyle</a:t>
            </a:r>
            <a:r>
              <a:rPr lang="en-US" sz="2800" dirty="0"/>
              <a:t> = 'dotted')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050" y="3810000"/>
            <a:ext cx="3664550" cy="272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8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/>
              <a:t>import </a:t>
            </a:r>
            <a:r>
              <a:rPr lang="en-US" sz="2800" dirty="0" err="1" smtClean="0"/>
              <a:t>matplotlib.pyplot</a:t>
            </a:r>
            <a:r>
              <a:rPr lang="en-US" sz="2800" dirty="0" smtClean="0"/>
              <a:t> as </a:t>
            </a:r>
            <a:r>
              <a:rPr lang="en-US" sz="2800" dirty="0" err="1" smtClean="0"/>
              <a:t>plt</a:t>
            </a:r>
            <a:endParaRPr lang="en-US" sz="2800" dirty="0" smtClean="0"/>
          </a:p>
          <a:p>
            <a:pPr algn="just"/>
            <a:r>
              <a:rPr lang="en-US" sz="2800" dirty="0" smtClean="0"/>
              <a:t>import </a:t>
            </a:r>
            <a:r>
              <a:rPr lang="en-US" sz="2800" dirty="0" err="1" smtClean="0"/>
              <a:t>numpy</a:t>
            </a:r>
            <a:r>
              <a:rPr lang="en-US" sz="2800" dirty="0" smtClean="0"/>
              <a:t> as np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err="1" smtClean="0"/>
              <a:t>ypoints</a:t>
            </a:r>
            <a:r>
              <a:rPr lang="en-US" sz="2800" dirty="0" smtClean="0"/>
              <a:t> = </a:t>
            </a:r>
            <a:r>
              <a:rPr lang="en-US" sz="2800" dirty="0" err="1" smtClean="0"/>
              <a:t>np.array</a:t>
            </a:r>
            <a:r>
              <a:rPr lang="en-US" sz="2800" dirty="0" smtClean="0"/>
              <a:t>([3, 8, 1, 10])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err="1" smtClean="0"/>
              <a:t>plt.plot</a:t>
            </a:r>
            <a:r>
              <a:rPr lang="en-US" sz="2800" dirty="0" smtClean="0"/>
              <a:t>(</a:t>
            </a:r>
            <a:r>
              <a:rPr lang="en-US" sz="2800" dirty="0" err="1" smtClean="0"/>
              <a:t>ypoints</a:t>
            </a:r>
            <a:r>
              <a:rPr lang="en-US" sz="2800" dirty="0" smtClean="0"/>
              <a:t>, </a:t>
            </a:r>
            <a:r>
              <a:rPr lang="en-US" sz="2800" dirty="0" err="1" smtClean="0"/>
              <a:t>linestyle</a:t>
            </a:r>
            <a:r>
              <a:rPr lang="en-US" sz="2800" dirty="0" smtClean="0"/>
              <a:t> = 'dashed')</a:t>
            </a:r>
          </a:p>
          <a:p>
            <a:pPr algn="just"/>
            <a:r>
              <a:rPr lang="en-US" sz="2800" dirty="0" err="1" smtClean="0"/>
              <a:t>plt.show</a:t>
            </a:r>
            <a:r>
              <a:rPr lang="en-US" sz="2800" dirty="0" smtClean="0"/>
              <a:t>()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886200"/>
            <a:ext cx="3395662" cy="263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3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/>
              <a:t>You can use short syntax for some keywords as given in below examples :</a:t>
            </a:r>
            <a:endParaRPr lang="en-US" sz="2800" dirty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err="1" smtClean="0"/>
              <a:t>linestyle</a:t>
            </a:r>
            <a:r>
              <a:rPr lang="en-US" sz="2800" dirty="0" smtClean="0"/>
              <a:t> </a:t>
            </a:r>
            <a:r>
              <a:rPr lang="en-US" sz="2800" dirty="0"/>
              <a:t>can be written as ls.</a:t>
            </a:r>
          </a:p>
          <a:p>
            <a:pPr algn="just"/>
            <a:r>
              <a:rPr lang="en-US" sz="2800" dirty="0" smtClean="0"/>
              <a:t>dotted </a:t>
            </a:r>
            <a:r>
              <a:rPr lang="en-US" sz="2800" dirty="0"/>
              <a:t>can be written as :.</a:t>
            </a:r>
          </a:p>
          <a:p>
            <a:pPr algn="just"/>
            <a:r>
              <a:rPr lang="en-US" sz="2800" dirty="0" smtClean="0"/>
              <a:t>dashed </a:t>
            </a:r>
            <a:r>
              <a:rPr lang="en-US" sz="2800" dirty="0"/>
              <a:t>can be written as </a:t>
            </a:r>
            <a:r>
              <a:rPr lang="en-US" sz="2800" dirty="0" smtClean="0"/>
              <a:t>--.</a:t>
            </a:r>
          </a:p>
          <a:p>
            <a:pPr algn="just"/>
            <a:r>
              <a:rPr lang="en-US" sz="2800" dirty="0" err="1" smtClean="0"/>
              <a:t>dashdot</a:t>
            </a:r>
            <a:r>
              <a:rPr lang="en-US" sz="2800" dirty="0" smtClean="0"/>
              <a:t> can be written as -.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77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/>
              <a:t>Line Color 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You can use the keyword argument color or the shorter c to set the color of the line</a:t>
            </a:r>
            <a:r>
              <a:rPr lang="en-US" sz="2800" dirty="0" smtClean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 err="1" smtClean="0"/>
              <a:t>ypoints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r>
              <a:rPr lang="en-US" sz="2800" dirty="0" err="1" smtClean="0"/>
              <a:t>plt.plot</a:t>
            </a:r>
            <a:r>
              <a:rPr lang="en-US" sz="2800" dirty="0" smtClean="0"/>
              <a:t>(</a:t>
            </a:r>
            <a:r>
              <a:rPr lang="en-US" sz="2800" dirty="0" err="1" smtClean="0"/>
              <a:t>ypoints</a:t>
            </a:r>
            <a:r>
              <a:rPr lang="en-US" sz="2800" dirty="0"/>
              <a:t>, color = 'r')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 smtClean="0"/>
              <a:t>()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886200"/>
            <a:ext cx="3109912" cy="238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You can also use Hexadecimal color values</a:t>
            </a:r>
            <a:r>
              <a:rPr lang="en-US" sz="2800" dirty="0" smtClean="0"/>
              <a:t>: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ypoints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</a:t>
            </a:r>
            <a:r>
              <a:rPr lang="en-US" sz="2800" dirty="0" err="1"/>
              <a:t>ypoints</a:t>
            </a:r>
            <a:r>
              <a:rPr lang="en-US" sz="2800" dirty="0"/>
              <a:t>, color = '#</a:t>
            </a:r>
            <a:r>
              <a:rPr lang="en-US" sz="2800" dirty="0" err="1"/>
              <a:t>4CAF50</a:t>
            </a:r>
            <a:r>
              <a:rPr lang="en-US" sz="2800" dirty="0"/>
              <a:t>')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  <a:p>
            <a:pPr algn="just"/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886200"/>
            <a:ext cx="3358986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8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You can also use </a:t>
            </a:r>
            <a:r>
              <a:rPr lang="en-US" sz="2800" dirty="0" smtClean="0"/>
              <a:t>any supported </a:t>
            </a:r>
            <a:r>
              <a:rPr lang="en-US" sz="2800" dirty="0"/>
              <a:t>color values</a:t>
            </a:r>
            <a:r>
              <a:rPr lang="en-US" sz="2800" dirty="0" smtClean="0"/>
              <a:t>:</a:t>
            </a:r>
          </a:p>
          <a:p>
            <a:pPr algn="just"/>
            <a:r>
              <a:rPr lang="en-US" sz="2800" dirty="0"/>
              <a:t>https://</a:t>
            </a:r>
            <a:r>
              <a:rPr lang="en-US" sz="2800" dirty="0" err="1"/>
              <a:t>www.w3schools.com</a:t>
            </a:r>
            <a:r>
              <a:rPr lang="en-US" sz="2800" dirty="0"/>
              <a:t>/colors/</a:t>
            </a:r>
            <a:r>
              <a:rPr lang="en-US" sz="2800" dirty="0" err="1"/>
              <a:t>colors_names.asp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ypoints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</a:t>
            </a:r>
            <a:r>
              <a:rPr lang="en-US" sz="2800" dirty="0" err="1"/>
              <a:t>ypoints</a:t>
            </a:r>
            <a:r>
              <a:rPr lang="en-US" sz="2800" dirty="0"/>
              <a:t>, color = </a:t>
            </a:r>
            <a:r>
              <a:rPr lang="en-US" sz="2800" dirty="0" smtClean="0"/>
              <a:t>‘</a:t>
            </a:r>
            <a:r>
              <a:rPr lang="en-US" sz="2800" dirty="0" err="1" smtClean="0"/>
              <a:t>hotpink</a:t>
            </a:r>
            <a:r>
              <a:rPr lang="en-US" sz="2800" dirty="0" smtClean="0"/>
              <a:t>')</a:t>
            </a:r>
            <a:endParaRPr lang="en-US" sz="2800" dirty="0"/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  <a:p>
            <a:pPr algn="just"/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4172605"/>
            <a:ext cx="3443287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8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You can use the keyword argument linewidth or the shorter </a:t>
            </a:r>
            <a:r>
              <a:rPr lang="en-US" sz="2800" dirty="0" err="1"/>
              <a:t>lw</a:t>
            </a:r>
            <a:r>
              <a:rPr lang="en-US" sz="2800" dirty="0"/>
              <a:t> to change the width of the line.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value is a floating number, in points</a:t>
            </a:r>
            <a:r>
              <a:rPr lang="en-US" sz="2800" dirty="0" smtClean="0"/>
              <a:t>: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ypoints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</a:t>
            </a:r>
            <a:r>
              <a:rPr lang="en-US" sz="2800" dirty="0" err="1"/>
              <a:t>ypoints</a:t>
            </a:r>
            <a:r>
              <a:rPr lang="en-US" sz="2800" dirty="0"/>
              <a:t>, linewidth = '20.5')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4038600"/>
            <a:ext cx="3182456" cy="23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2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Multiple line graph is also possible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You can plot as many lines as you like by simply adding more </a:t>
            </a:r>
            <a:r>
              <a:rPr lang="en-US" sz="2800" dirty="0" err="1"/>
              <a:t>plt.plot</a:t>
            </a:r>
            <a:r>
              <a:rPr lang="en-US" sz="2800" dirty="0"/>
              <a:t>() functions</a:t>
            </a:r>
            <a:r>
              <a:rPr lang="en-US" sz="2800" dirty="0" smtClean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 err="1" smtClean="0"/>
              <a:t>y1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r>
              <a:rPr lang="en-US" sz="2800" dirty="0" err="1"/>
              <a:t>y2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([6, 2, 7, 11])</a:t>
            </a:r>
          </a:p>
          <a:p>
            <a:pPr algn="just"/>
            <a:r>
              <a:rPr lang="en-US" sz="2800" dirty="0" err="1" smtClean="0"/>
              <a:t>plt.plot</a:t>
            </a:r>
            <a:r>
              <a:rPr lang="en-US" sz="2800" dirty="0" smtClean="0"/>
              <a:t>(</a:t>
            </a:r>
            <a:r>
              <a:rPr lang="en-US" sz="2800" dirty="0" err="1" smtClean="0"/>
              <a:t>y1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</a:t>
            </a:r>
            <a:r>
              <a:rPr lang="en-US" sz="2800" dirty="0" err="1"/>
              <a:t>y2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 smtClean="0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657600"/>
            <a:ext cx="3790950" cy="29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0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You can also plot many lines by adding the points for the x- and y-axis for each line in the same </a:t>
            </a:r>
            <a:r>
              <a:rPr lang="en-US" sz="2800" dirty="0" err="1"/>
              <a:t>plt.plot</a:t>
            </a:r>
            <a:r>
              <a:rPr lang="en-US" sz="2800" dirty="0"/>
              <a:t>() function.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(</a:t>
            </a:r>
            <a:r>
              <a:rPr lang="en-US" sz="2800" dirty="0"/>
              <a:t>In the examples above we only specified the points on the y-axis, meaning that the points on the x-axis got the the default values (0, 1, 2, 3).)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x- and y- values come in pairs: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35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Line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x1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([0, 1, 2, 3])</a:t>
            </a:r>
          </a:p>
          <a:p>
            <a:pPr algn="just"/>
            <a:r>
              <a:rPr lang="en-US" sz="2800" dirty="0" err="1"/>
              <a:t>y1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r>
              <a:rPr lang="en-US" sz="2800" dirty="0" err="1"/>
              <a:t>x2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([0, 1, 2, 3])</a:t>
            </a:r>
          </a:p>
          <a:p>
            <a:pPr algn="just"/>
            <a:r>
              <a:rPr lang="en-US" sz="2800" dirty="0" err="1"/>
              <a:t>y2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([6, 2, 7, 11])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</a:t>
            </a:r>
            <a:r>
              <a:rPr lang="en-US" sz="2800" dirty="0" err="1"/>
              <a:t>x1</a:t>
            </a:r>
            <a:r>
              <a:rPr lang="en-US" sz="2800" dirty="0"/>
              <a:t>, </a:t>
            </a:r>
            <a:r>
              <a:rPr lang="en-US" sz="2800" dirty="0" err="1"/>
              <a:t>y1</a:t>
            </a:r>
            <a:r>
              <a:rPr lang="en-US" sz="2800" dirty="0"/>
              <a:t>, </a:t>
            </a:r>
            <a:r>
              <a:rPr lang="en-US" sz="2800" dirty="0" err="1"/>
              <a:t>x2</a:t>
            </a:r>
            <a:r>
              <a:rPr lang="en-US" sz="2800" dirty="0"/>
              <a:t>, </a:t>
            </a:r>
            <a:r>
              <a:rPr lang="en-US" sz="2800" dirty="0" err="1"/>
              <a:t>y2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124200"/>
            <a:ext cx="4386263" cy="345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1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Add labels to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x = </a:t>
            </a:r>
            <a:r>
              <a:rPr lang="en-US" sz="2800" dirty="0" err="1"/>
              <a:t>np.array</a:t>
            </a:r>
            <a:r>
              <a:rPr lang="en-US" sz="2800" dirty="0"/>
              <a:t>([80, 85, 90, 95, 100, 105, 110, 115, 120, 125])</a:t>
            </a:r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([240, 250, 260, 270, 280, 290, 300, 310, 320, 330])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(x, y)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plt.xlabel</a:t>
            </a:r>
            <a:r>
              <a:rPr lang="en-US" sz="2800" dirty="0"/>
              <a:t>("Average Pulse")</a:t>
            </a:r>
          </a:p>
          <a:p>
            <a:pPr algn="just"/>
            <a:r>
              <a:rPr lang="en-US" sz="2800" dirty="0" err="1"/>
              <a:t>plt.ylabel</a:t>
            </a:r>
            <a:r>
              <a:rPr lang="en-US" sz="2800" dirty="0"/>
              <a:t>("Calorie Burnage")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437754"/>
            <a:ext cx="4003315" cy="31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4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Chart Title to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x = </a:t>
            </a:r>
            <a:r>
              <a:rPr lang="en-US" sz="2800" dirty="0" err="1"/>
              <a:t>np.array</a:t>
            </a:r>
            <a:r>
              <a:rPr lang="en-US" sz="2800" dirty="0"/>
              <a:t>([80, 85, 90, 95, 100, 105, 110, 115, 120, 125])</a:t>
            </a:r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([240, 250, 260, 270, 280, 290, 300, 310, 320, 330])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(x, y)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plt.title</a:t>
            </a:r>
            <a:r>
              <a:rPr lang="en-US" sz="2800" dirty="0"/>
              <a:t>("Sports Watch Data")</a:t>
            </a:r>
          </a:p>
          <a:p>
            <a:pPr algn="just"/>
            <a:r>
              <a:rPr lang="en-US" sz="2800" dirty="0" err="1"/>
              <a:t>plt.xlabel</a:t>
            </a:r>
            <a:r>
              <a:rPr lang="en-US" sz="2800" dirty="0"/>
              <a:t>("Average Pulse")</a:t>
            </a:r>
          </a:p>
          <a:p>
            <a:pPr algn="just"/>
            <a:r>
              <a:rPr lang="en-US" sz="2800" dirty="0" err="1"/>
              <a:t>plt.ylabel</a:t>
            </a:r>
            <a:r>
              <a:rPr lang="en-US" sz="2800" dirty="0"/>
              <a:t>("Calorie Burnage")</a:t>
            </a:r>
          </a:p>
          <a:p>
            <a:pPr algn="just"/>
            <a:r>
              <a:rPr lang="en-US" sz="2800" dirty="0" err="1" smtClean="0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3733800"/>
            <a:ext cx="3352800" cy="263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7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Fonts and colors to titles in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 smtClean="0"/>
              <a:t>x </a:t>
            </a:r>
            <a:r>
              <a:rPr lang="en-US" sz="2800" dirty="0"/>
              <a:t>= </a:t>
            </a:r>
            <a:r>
              <a:rPr lang="en-US" sz="2800" dirty="0" err="1"/>
              <a:t>np.array</a:t>
            </a:r>
            <a:r>
              <a:rPr lang="en-US" sz="2800" dirty="0"/>
              <a:t>([80, 85, 90, 95, 100, 105, 110, 115, 120, 125])</a:t>
            </a:r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([240, 250, 260, 270, 280, 290, 300, 310, 320, 330])</a:t>
            </a:r>
          </a:p>
          <a:p>
            <a:pPr algn="just"/>
            <a:r>
              <a:rPr lang="en-US" sz="2800" dirty="0" err="1" smtClean="0"/>
              <a:t>font1</a:t>
            </a:r>
            <a:r>
              <a:rPr lang="en-US" sz="2800" dirty="0" smtClean="0"/>
              <a:t> </a:t>
            </a:r>
            <a:r>
              <a:rPr lang="en-US" sz="2800" dirty="0"/>
              <a:t>= {'</a:t>
            </a:r>
            <a:r>
              <a:rPr lang="en-US" sz="2800" dirty="0" err="1"/>
              <a:t>family':'serif','color':'blue','size':20</a:t>
            </a:r>
            <a:r>
              <a:rPr lang="en-US" sz="2800" dirty="0"/>
              <a:t>}</a:t>
            </a:r>
          </a:p>
          <a:p>
            <a:pPr algn="just"/>
            <a:r>
              <a:rPr lang="en-US" sz="2800" dirty="0" err="1"/>
              <a:t>font2</a:t>
            </a:r>
            <a:r>
              <a:rPr lang="en-US" sz="2800" dirty="0"/>
              <a:t> = {'family':'serif','color':'</a:t>
            </a:r>
            <a:r>
              <a:rPr lang="en-US" sz="2800" dirty="0" err="1"/>
              <a:t>darkred</a:t>
            </a:r>
            <a:r>
              <a:rPr lang="en-US" sz="2800" dirty="0"/>
              <a:t>','</a:t>
            </a:r>
            <a:r>
              <a:rPr lang="en-US" sz="2800" dirty="0" err="1"/>
              <a:t>size':15</a:t>
            </a:r>
            <a:r>
              <a:rPr lang="en-US" sz="2800" dirty="0"/>
              <a:t>}</a:t>
            </a:r>
          </a:p>
          <a:p>
            <a:pPr algn="just"/>
            <a:r>
              <a:rPr lang="en-US" sz="2800" dirty="0" err="1" smtClean="0"/>
              <a:t>plt.title</a:t>
            </a:r>
            <a:r>
              <a:rPr lang="en-US" sz="2800" dirty="0"/>
              <a:t>("Sports Watch Data", </a:t>
            </a:r>
            <a:r>
              <a:rPr lang="en-US" sz="2800" dirty="0" err="1"/>
              <a:t>fontdict</a:t>
            </a:r>
            <a:r>
              <a:rPr lang="en-US" sz="2800" dirty="0"/>
              <a:t> = </a:t>
            </a:r>
            <a:r>
              <a:rPr lang="en-US" sz="2800" dirty="0" err="1"/>
              <a:t>font1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plt.xlabel</a:t>
            </a:r>
            <a:r>
              <a:rPr lang="en-US" sz="2800" dirty="0"/>
              <a:t>("Average Pulse", </a:t>
            </a:r>
            <a:r>
              <a:rPr lang="en-US" sz="2800" dirty="0" err="1"/>
              <a:t>fontdict</a:t>
            </a:r>
            <a:r>
              <a:rPr lang="en-US" sz="2800" dirty="0"/>
              <a:t> = </a:t>
            </a:r>
            <a:r>
              <a:rPr lang="en-US" sz="2800" dirty="0" err="1"/>
              <a:t>font2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plt.ylabel</a:t>
            </a:r>
            <a:r>
              <a:rPr lang="en-US" sz="2800" dirty="0"/>
              <a:t>("Calorie Burnage", </a:t>
            </a:r>
            <a:r>
              <a:rPr lang="en-US" sz="2800" dirty="0" err="1"/>
              <a:t>fontdict</a:t>
            </a:r>
            <a:r>
              <a:rPr lang="en-US" sz="2800" dirty="0"/>
              <a:t> = </a:t>
            </a:r>
            <a:r>
              <a:rPr lang="en-US" sz="2800" dirty="0" err="1"/>
              <a:t>font2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 smtClean="0"/>
              <a:t>plt.plot</a:t>
            </a:r>
            <a:r>
              <a:rPr lang="en-US" sz="2800" dirty="0" smtClean="0"/>
              <a:t>(x</a:t>
            </a:r>
            <a:r>
              <a:rPr lang="en-US" sz="2800" dirty="0"/>
              <a:t>, y)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888" y="1219200"/>
            <a:ext cx="3109912" cy="244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0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Position of title in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x = </a:t>
            </a:r>
            <a:r>
              <a:rPr lang="en-US" sz="2800" dirty="0" err="1"/>
              <a:t>np.array</a:t>
            </a:r>
            <a:r>
              <a:rPr lang="en-US" sz="2800" dirty="0"/>
              <a:t>([80, 85, 90, 95, 100, 105, 110, 115, 120, 125])</a:t>
            </a:r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([240, 250, 260, 270, 280, 290, 300, 310, 320, 330])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plt.title</a:t>
            </a:r>
            <a:r>
              <a:rPr lang="en-US" sz="2800" dirty="0"/>
              <a:t>("Sports Watch Data", </a:t>
            </a:r>
            <a:r>
              <a:rPr lang="en-US" sz="2800" dirty="0" err="1"/>
              <a:t>loc</a:t>
            </a:r>
            <a:r>
              <a:rPr lang="en-US" sz="2800" dirty="0"/>
              <a:t> = 'left')</a:t>
            </a:r>
          </a:p>
          <a:p>
            <a:pPr algn="just"/>
            <a:r>
              <a:rPr lang="en-US" sz="2800" dirty="0" err="1"/>
              <a:t>plt.xlabel</a:t>
            </a:r>
            <a:r>
              <a:rPr lang="en-US" sz="2800" dirty="0"/>
              <a:t>("Average Pulse")</a:t>
            </a:r>
          </a:p>
          <a:p>
            <a:pPr algn="just"/>
            <a:r>
              <a:rPr lang="en-US" sz="2800" dirty="0" err="1"/>
              <a:t>plt.ylabel</a:t>
            </a:r>
            <a:r>
              <a:rPr lang="en-US" sz="2800" dirty="0"/>
              <a:t>("Calorie Burnage")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plt.plot</a:t>
            </a:r>
            <a:r>
              <a:rPr lang="en-US" sz="2800" dirty="0"/>
              <a:t>(x, y)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4114800"/>
            <a:ext cx="3105230" cy="249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3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Gridlines in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x = </a:t>
            </a:r>
            <a:r>
              <a:rPr lang="en-US" sz="2800" dirty="0" err="1"/>
              <a:t>np.array</a:t>
            </a:r>
            <a:r>
              <a:rPr lang="en-US" sz="2800" dirty="0"/>
              <a:t>([80, 85, 90, 95, 100, 105, 110, 115, 120, 125])</a:t>
            </a:r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([240, 250, 260, 270, 280, 290, 300, 310, 320, 330])</a:t>
            </a:r>
          </a:p>
          <a:p>
            <a:pPr algn="just"/>
            <a:r>
              <a:rPr lang="en-US" sz="2800" dirty="0" err="1" smtClean="0"/>
              <a:t>plt.title</a:t>
            </a:r>
            <a:r>
              <a:rPr lang="en-US" sz="2800" dirty="0"/>
              <a:t>("Sports Watch Data")</a:t>
            </a:r>
          </a:p>
          <a:p>
            <a:pPr algn="just"/>
            <a:r>
              <a:rPr lang="en-US" sz="2800" dirty="0" err="1"/>
              <a:t>plt.xlabel</a:t>
            </a:r>
            <a:r>
              <a:rPr lang="en-US" sz="2800" dirty="0"/>
              <a:t>("Average Pulse")</a:t>
            </a:r>
          </a:p>
          <a:p>
            <a:pPr algn="just"/>
            <a:r>
              <a:rPr lang="en-US" sz="2800" dirty="0" err="1"/>
              <a:t>plt.ylabel</a:t>
            </a:r>
            <a:r>
              <a:rPr lang="en-US" sz="2800" dirty="0"/>
              <a:t>("Calorie Burnage")</a:t>
            </a:r>
          </a:p>
          <a:p>
            <a:pPr algn="just"/>
            <a:r>
              <a:rPr lang="en-US" sz="2800" dirty="0" err="1" smtClean="0"/>
              <a:t>plt.plot</a:t>
            </a:r>
            <a:r>
              <a:rPr lang="en-US" sz="2800" dirty="0" smtClean="0"/>
              <a:t>(x</a:t>
            </a:r>
            <a:r>
              <a:rPr lang="en-US" sz="2800" dirty="0"/>
              <a:t>, y)</a:t>
            </a:r>
          </a:p>
          <a:p>
            <a:pPr algn="just"/>
            <a:r>
              <a:rPr lang="en-US" sz="2800" dirty="0" err="1" smtClean="0"/>
              <a:t>plt.grid</a:t>
            </a:r>
            <a:r>
              <a:rPr lang="en-US" sz="2800" dirty="0"/>
              <a:t>()</a:t>
            </a:r>
          </a:p>
          <a:p>
            <a:pPr algn="just"/>
            <a:r>
              <a:rPr lang="en-US" sz="2800" dirty="0" err="1" smtClean="0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581400"/>
            <a:ext cx="3914196" cy="305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8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Gridlines in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/>
              <a:t>plt.grid</a:t>
            </a:r>
            <a:r>
              <a:rPr lang="en-US" sz="2800" dirty="0"/>
              <a:t>(axis = </a:t>
            </a:r>
            <a:r>
              <a:rPr lang="en-US" sz="2800" dirty="0" smtClean="0"/>
              <a:t>'x‘)</a:t>
            </a:r>
          </a:p>
          <a:p>
            <a:pPr algn="just"/>
            <a:endParaRPr lang="en-US" sz="2800" dirty="0"/>
          </a:p>
          <a:p>
            <a:pPr algn="just"/>
            <a:r>
              <a:rPr lang="en-IN" sz="2800" dirty="0" err="1"/>
              <a:t>plt.grid</a:t>
            </a:r>
            <a:r>
              <a:rPr lang="en-IN" sz="2800" dirty="0"/>
              <a:t>(axis = 'y')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plt.grid</a:t>
            </a:r>
            <a:r>
              <a:rPr lang="en-US" sz="2800" dirty="0"/>
              <a:t>(color = 'green', </a:t>
            </a:r>
            <a:r>
              <a:rPr lang="en-US" sz="2800" dirty="0" err="1"/>
              <a:t>linestyle</a:t>
            </a:r>
            <a:r>
              <a:rPr lang="en-US" sz="2800" dirty="0"/>
              <a:t> = '--', linewidth = 0.5)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0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Bar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With </a:t>
            </a:r>
            <a:r>
              <a:rPr lang="en-US" sz="2800" dirty="0" err="1"/>
              <a:t>Pyplot</a:t>
            </a:r>
            <a:r>
              <a:rPr lang="en-US" sz="2800" dirty="0"/>
              <a:t>, you can use the bar() function to draw bar graphs</a:t>
            </a:r>
            <a:r>
              <a:rPr lang="en-US" sz="2800" dirty="0" smtClean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x = </a:t>
            </a:r>
            <a:r>
              <a:rPr lang="en-US" sz="2800" dirty="0" err="1"/>
              <a:t>np.array</a:t>
            </a:r>
            <a:r>
              <a:rPr lang="en-US" sz="2800" dirty="0"/>
              <a:t>(["A", "B", "C", "D"])</a:t>
            </a:r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plt.bar</a:t>
            </a:r>
            <a:r>
              <a:rPr lang="en-US" sz="2800" dirty="0"/>
              <a:t>(</a:t>
            </a:r>
            <a:r>
              <a:rPr lang="en-US" sz="2800" dirty="0" err="1"/>
              <a:t>x,y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276600"/>
            <a:ext cx="3534176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9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Bar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Horizontal Bars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x = </a:t>
            </a:r>
            <a:r>
              <a:rPr lang="en-US" sz="2800" dirty="0" err="1"/>
              <a:t>np.array</a:t>
            </a:r>
            <a:r>
              <a:rPr lang="en-US" sz="2800" dirty="0"/>
              <a:t>(["A", "B", "C", "D"])</a:t>
            </a:r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([3, 8, 1, 10])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plt.barh</a:t>
            </a:r>
            <a:r>
              <a:rPr lang="en-US" sz="2800" dirty="0"/>
              <a:t>(x, y)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3770467"/>
            <a:ext cx="4105275" cy="30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5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Bar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/>
              <a:t>plt.bar</a:t>
            </a:r>
            <a:r>
              <a:rPr lang="en-US" sz="2800" dirty="0"/>
              <a:t>(x, y, color = "red</a:t>
            </a:r>
            <a:r>
              <a:rPr lang="en-US" sz="2800" dirty="0" smtClean="0"/>
              <a:t>")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plt.bar</a:t>
            </a:r>
            <a:r>
              <a:rPr lang="en-US" sz="2800" dirty="0"/>
              <a:t>(x, y, width = 0.1</a:t>
            </a:r>
            <a:r>
              <a:rPr lang="en-US" sz="2800" dirty="0" smtClean="0"/>
              <a:t>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plt.barh</a:t>
            </a:r>
            <a:r>
              <a:rPr lang="en-US" sz="2800" dirty="0"/>
              <a:t>(x, y, height = 0.1)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69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Bar Graph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import </a:t>
            </a:r>
            <a:r>
              <a:rPr lang="en-US" sz="1100" dirty="0" err="1"/>
              <a:t>numpy</a:t>
            </a:r>
            <a:r>
              <a:rPr lang="en-US" sz="1100" dirty="0"/>
              <a:t> as np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import </a:t>
            </a:r>
            <a:r>
              <a:rPr lang="en-US" sz="1100" dirty="0" err="1"/>
              <a:t>matplotlib.pyplot</a:t>
            </a:r>
            <a:r>
              <a:rPr lang="en-US" sz="1100" dirty="0"/>
              <a:t> as </a:t>
            </a:r>
            <a:r>
              <a:rPr lang="en-US" sz="1100" dirty="0" err="1"/>
              <a:t>plt</a:t>
            </a:r>
            <a:r>
              <a:rPr lang="en-US" sz="11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# set width of bar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barWidth</a:t>
            </a:r>
            <a:r>
              <a:rPr lang="en-US" sz="1100" dirty="0"/>
              <a:t> = 0.25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fig = </a:t>
            </a:r>
            <a:r>
              <a:rPr lang="en-US" sz="1100" dirty="0" err="1"/>
              <a:t>plt.subplots</a:t>
            </a:r>
            <a:r>
              <a:rPr lang="en-US" sz="1100" dirty="0"/>
              <a:t>(</a:t>
            </a:r>
            <a:r>
              <a:rPr lang="en-US" sz="1100" dirty="0" err="1"/>
              <a:t>figsize</a:t>
            </a:r>
            <a:r>
              <a:rPr lang="en-US" sz="1100" dirty="0"/>
              <a:t> =(12, 8))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# set height of bar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IT = [12, 30, 1, 8, 22]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ECE</a:t>
            </a:r>
            <a:r>
              <a:rPr lang="en-US" sz="1100" dirty="0"/>
              <a:t> = [28, 6, 16, 5, 10]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CSE</a:t>
            </a:r>
            <a:r>
              <a:rPr lang="en-US" sz="1100" dirty="0"/>
              <a:t> = [29, 3, 24, 25, 17]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# Set position of bar on X axis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br1</a:t>
            </a:r>
            <a:r>
              <a:rPr lang="en-US" sz="1100" dirty="0"/>
              <a:t> = </a:t>
            </a:r>
            <a:r>
              <a:rPr lang="en-US" sz="1100" dirty="0" err="1"/>
              <a:t>np.arange</a:t>
            </a:r>
            <a:r>
              <a:rPr lang="en-US" sz="1100" dirty="0"/>
              <a:t>(</a:t>
            </a:r>
            <a:r>
              <a:rPr lang="en-US" sz="1100" dirty="0" err="1"/>
              <a:t>len</a:t>
            </a:r>
            <a:r>
              <a:rPr lang="en-US" sz="1100" dirty="0"/>
              <a:t>(IT))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br2</a:t>
            </a:r>
            <a:r>
              <a:rPr lang="en-US" sz="1100" dirty="0"/>
              <a:t> = [x + </a:t>
            </a:r>
            <a:r>
              <a:rPr lang="en-US" sz="1100" dirty="0" err="1"/>
              <a:t>barWidth</a:t>
            </a:r>
            <a:r>
              <a:rPr lang="en-US" sz="1100" dirty="0"/>
              <a:t> for x in </a:t>
            </a:r>
            <a:r>
              <a:rPr lang="en-US" sz="1100" dirty="0" err="1"/>
              <a:t>br1</a:t>
            </a:r>
            <a:r>
              <a:rPr lang="en-US" sz="1100" dirty="0"/>
              <a:t>]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br3</a:t>
            </a:r>
            <a:r>
              <a:rPr lang="en-US" sz="1100" dirty="0"/>
              <a:t> = [x + </a:t>
            </a:r>
            <a:r>
              <a:rPr lang="en-US" sz="1100" dirty="0" err="1"/>
              <a:t>barWidth</a:t>
            </a:r>
            <a:r>
              <a:rPr lang="en-US" sz="1100" dirty="0"/>
              <a:t> for x in </a:t>
            </a:r>
            <a:r>
              <a:rPr lang="en-US" sz="1100" dirty="0" err="1"/>
              <a:t>br2</a:t>
            </a:r>
            <a:r>
              <a:rPr lang="en-US" sz="1100" dirty="0"/>
              <a:t>]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# Make the plot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plt.bar</a:t>
            </a:r>
            <a:r>
              <a:rPr lang="en-US" sz="1100" dirty="0"/>
              <a:t>(</a:t>
            </a:r>
            <a:r>
              <a:rPr lang="en-US" sz="1100" dirty="0" err="1"/>
              <a:t>br1</a:t>
            </a:r>
            <a:r>
              <a:rPr lang="en-US" sz="1100" dirty="0"/>
              <a:t>, IT, color ='r', width = </a:t>
            </a:r>
            <a:r>
              <a:rPr lang="en-US" sz="1100" dirty="0" err="1"/>
              <a:t>barWidth</a:t>
            </a:r>
            <a:r>
              <a:rPr lang="en-US" sz="1100" dirty="0"/>
              <a:t>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		</a:t>
            </a:r>
            <a:r>
              <a:rPr lang="en-US" sz="1100" dirty="0" err="1"/>
              <a:t>edgecolor</a:t>
            </a:r>
            <a:r>
              <a:rPr lang="en-US" sz="1100" dirty="0"/>
              <a:t> ='grey', label ='IT')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plt.bar</a:t>
            </a:r>
            <a:r>
              <a:rPr lang="en-US" sz="1100" dirty="0"/>
              <a:t>(</a:t>
            </a:r>
            <a:r>
              <a:rPr lang="en-US" sz="1100" dirty="0" err="1"/>
              <a:t>br2</a:t>
            </a:r>
            <a:r>
              <a:rPr lang="en-US" sz="1100" dirty="0"/>
              <a:t>, </a:t>
            </a:r>
            <a:r>
              <a:rPr lang="en-US" sz="1100" dirty="0" err="1"/>
              <a:t>ECE</a:t>
            </a:r>
            <a:r>
              <a:rPr lang="en-US" sz="1100" dirty="0"/>
              <a:t>, color ='g', width = </a:t>
            </a:r>
            <a:r>
              <a:rPr lang="en-US" sz="1100" dirty="0" err="1"/>
              <a:t>barWidth</a:t>
            </a:r>
            <a:r>
              <a:rPr lang="en-US" sz="1100" dirty="0"/>
              <a:t>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		</a:t>
            </a:r>
            <a:r>
              <a:rPr lang="en-US" sz="1100" dirty="0" err="1"/>
              <a:t>edgecolor</a:t>
            </a:r>
            <a:r>
              <a:rPr lang="en-US" sz="1100" dirty="0"/>
              <a:t> ='grey', label ='</a:t>
            </a:r>
            <a:r>
              <a:rPr lang="en-US" sz="1100" dirty="0" err="1"/>
              <a:t>ECE</a:t>
            </a:r>
            <a:r>
              <a:rPr lang="en-US" sz="1100" dirty="0"/>
              <a:t>')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plt.bar</a:t>
            </a:r>
            <a:r>
              <a:rPr lang="en-US" sz="1100" dirty="0"/>
              <a:t>(</a:t>
            </a:r>
            <a:r>
              <a:rPr lang="en-US" sz="1100" dirty="0" err="1"/>
              <a:t>br3</a:t>
            </a:r>
            <a:r>
              <a:rPr lang="en-US" sz="1100" dirty="0"/>
              <a:t>, </a:t>
            </a:r>
            <a:r>
              <a:rPr lang="en-US" sz="1100" dirty="0" err="1"/>
              <a:t>CSE</a:t>
            </a:r>
            <a:r>
              <a:rPr lang="en-US" sz="1100" dirty="0"/>
              <a:t>, color ='b', width = </a:t>
            </a:r>
            <a:r>
              <a:rPr lang="en-US" sz="1100" dirty="0" err="1"/>
              <a:t>barWidth</a:t>
            </a:r>
            <a:r>
              <a:rPr lang="en-US" sz="1100" dirty="0"/>
              <a:t>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		</a:t>
            </a:r>
            <a:r>
              <a:rPr lang="en-US" sz="1100" dirty="0" err="1"/>
              <a:t>edgecolor</a:t>
            </a:r>
            <a:r>
              <a:rPr lang="en-US" sz="1100" dirty="0"/>
              <a:t> ='grey', label ='</a:t>
            </a:r>
            <a:r>
              <a:rPr lang="en-US" sz="1100" dirty="0" err="1"/>
              <a:t>CSE</a:t>
            </a:r>
            <a:r>
              <a:rPr lang="en-US" sz="1100" dirty="0"/>
              <a:t>')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# Adding </a:t>
            </a:r>
            <a:r>
              <a:rPr lang="en-US" sz="1100" dirty="0" err="1"/>
              <a:t>Xticks</a:t>
            </a:r>
            <a:r>
              <a:rPr lang="en-US" sz="11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plt.xlabel</a:t>
            </a:r>
            <a:r>
              <a:rPr lang="en-US" sz="1100" dirty="0"/>
              <a:t>('Branch', </a:t>
            </a:r>
            <a:r>
              <a:rPr lang="en-US" sz="1100" dirty="0" err="1"/>
              <a:t>fontweight</a:t>
            </a:r>
            <a:r>
              <a:rPr lang="en-US" sz="1100" dirty="0"/>
              <a:t> ='bold', </a:t>
            </a:r>
            <a:r>
              <a:rPr lang="en-US" sz="1100" dirty="0" err="1"/>
              <a:t>fontsize</a:t>
            </a:r>
            <a:r>
              <a:rPr lang="en-US" sz="1100" dirty="0"/>
              <a:t> = 15)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plt.ylabel</a:t>
            </a:r>
            <a:r>
              <a:rPr lang="en-US" sz="1100" dirty="0"/>
              <a:t>('Students passed', </a:t>
            </a:r>
            <a:r>
              <a:rPr lang="en-US" sz="1100" dirty="0" err="1"/>
              <a:t>fontweight</a:t>
            </a:r>
            <a:r>
              <a:rPr lang="en-US" sz="1100" dirty="0"/>
              <a:t> ='bold', </a:t>
            </a:r>
            <a:r>
              <a:rPr lang="en-US" sz="1100" dirty="0" err="1"/>
              <a:t>fontsize</a:t>
            </a:r>
            <a:r>
              <a:rPr lang="en-US" sz="1100" dirty="0"/>
              <a:t> = 15)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plt.xticks</a:t>
            </a:r>
            <a:r>
              <a:rPr lang="en-US" sz="1100" dirty="0"/>
              <a:t>([r + </a:t>
            </a:r>
            <a:r>
              <a:rPr lang="en-US" sz="1100" dirty="0" err="1"/>
              <a:t>barWidth</a:t>
            </a:r>
            <a:r>
              <a:rPr lang="en-US" sz="1100" dirty="0"/>
              <a:t> for r in range(</a:t>
            </a:r>
            <a:r>
              <a:rPr lang="en-US" sz="1100" dirty="0" err="1"/>
              <a:t>len</a:t>
            </a:r>
            <a:r>
              <a:rPr lang="en-US" sz="1100" dirty="0"/>
              <a:t>(IT))],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/>
              <a:t>		['2015', '2016', '2017', '2018', '2019'])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plt.legend</a:t>
            </a:r>
            <a:r>
              <a:rPr lang="en-US" sz="1100" dirty="0"/>
              <a:t>()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100" dirty="0" err="1"/>
              <a:t>plt.show</a:t>
            </a:r>
            <a:r>
              <a:rPr lang="en-US" sz="11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media.geeksforgeeks.org/wp-content/uploads/20210215232102/MultipleBarplo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657600"/>
            <a:ext cx="3740648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72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Histograms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 histogram is a graph showing frequency distributions.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is a graph showing the number of observations within each given interval.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Example</a:t>
            </a:r>
            <a:r>
              <a:rPr lang="en-US" sz="2800" dirty="0"/>
              <a:t>: Say you ask for the height of 250 people, you might end up with a histogram like this: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w3schools.com/python/img_matplotlib_histogram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93975"/>
            <a:ext cx="4724400" cy="352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59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Histograms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You can read from the histogram that there are approximately: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2 people from 140 to </a:t>
            </a:r>
            <a:r>
              <a:rPr lang="en-US" sz="2800" dirty="0" err="1"/>
              <a:t>145cm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5 people from 145 to </a:t>
            </a:r>
            <a:r>
              <a:rPr lang="en-US" sz="2800" dirty="0" err="1"/>
              <a:t>150cm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15 people from 151 to </a:t>
            </a:r>
            <a:r>
              <a:rPr lang="en-US" sz="2800" dirty="0" err="1"/>
              <a:t>156cm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31 people from 157 to </a:t>
            </a:r>
            <a:r>
              <a:rPr lang="en-US" sz="2800" dirty="0" err="1"/>
              <a:t>162cm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46 people from 163 to </a:t>
            </a:r>
            <a:r>
              <a:rPr lang="en-US" sz="2800" dirty="0" err="1"/>
              <a:t>168cm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53 people from 168 to </a:t>
            </a:r>
            <a:r>
              <a:rPr lang="en-US" sz="2800" dirty="0" err="1"/>
              <a:t>173cm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45 people from 173 to </a:t>
            </a:r>
            <a:r>
              <a:rPr lang="en-US" sz="2800" dirty="0" err="1"/>
              <a:t>178cm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28 people from 179 to </a:t>
            </a:r>
            <a:r>
              <a:rPr lang="en-US" sz="2800" dirty="0" err="1"/>
              <a:t>184cm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21 people from 185 to </a:t>
            </a:r>
            <a:r>
              <a:rPr lang="en-US" sz="2800" dirty="0" err="1"/>
              <a:t>190cm</a:t>
            </a: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4 people from 190 to </a:t>
            </a:r>
            <a:r>
              <a:rPr lang="en-US" sz="2800" dirty="0" err="1"/>
              <a:t>195cm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w3schools.com/python/img_matplotlib_histogram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200400"/>
            <a:ext cx="3584575" cy="2677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66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Histograms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 </a:t>
            </a:r>
            <a:r>
              <a:rPr lang="en-US" sz="2800" dirty="0" err="1"/>
              <a:t>Matplotlib</a:t>
            </a:r>
            <a:r>
              <a:rPr lang="en-US" sz="2800" dirty="0"/>
              <a:t>, we use the </a:t>
            </a:r>
            <a:r>
              <a:rPr lang="en-US" sz="2800" dirty="0" err="1"/>
              <a:t>hist</a:t>
            </a:r>
            <a:r>
              <a:rPr lang="en-US" sz="2800" dirty="0"/>
              <a:t>() function to create histograms.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hist</a:t>
            </a:r>
            <a:r>
              <a:rPr lang="en-US" sz="2800" dirty="0"/>
              <a:t>() function will use an array of numbers to create a histogram, the array is sent into the function as an argument.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For simplicity we use </a:t>
            </a:r>
            <a:r>
              <a:rPr lang="en-US" sz="2800" dirty="0" err="1"/>
              <a:t>NumPy</a:t>
            </a:r>
            <a:r>
              <a:rPr lang="en-US" sz="2800" dirty="0"/>
              <a:t> to randomly generate an array with 250 values, where the values will concentrate around 170, and the standard deviation is 10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39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Histograms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 smtClean="0"/>
              <a:t>x </a:t>
            </a:r>
            <a:r>
              <a:rPr lang="en-US" sz="2800" dirty="0"/>
              <a:t>= </a:t>
            </a:r>
            <a:r>
              <a:rPr lang="en-US" sz="2800" dirty="0" err="1"/>
              <a:t>np.random.normal</a:t>
            </a:r>
            <a:r>
              <a:rPr lang="en-US" sz="2800" dirty="0"/>
              <a:t>(170, 10, 250)</a:t>
            </a:r>
          </a:p>
          <a:p>
            <a:pPr algn="just"/>
            <a:r>
              <a:rPr lang="en-US" sz="2800" dirty="0" smtClean="0"/>
              <a:t>print(x)</a:t>
            </a:r>
          </a:p>
          <a:p>
            <a:pPr algn="just"/>
            <a:endParaRPr lang="en-US" sz="2800" dirty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r>
              <a:rPr lang="en-US" sz="2800" dirty="0" smtClean="0"/>
              <a:t>x </a:t>
            </a:r>
            <a:r>
              <a:rPr lang="en-US" sz="2800" dirty="0"/>
              <a:t>= </a:t>
            </a:r>
            <a:r>
              <a:rPr lang="en-US" sz="2800" dirty="0" err="1"/>
              <a:t>np.random.normal</a:t>
            </a:r>
            <a:r>
              <a:rPr lang="en-US" sz="2800" dirty="0"/>
              <a:t>(170, 10, 250)</a:t>
            </a:r>
          </a:p>
          <a:p>
            <a:pPr algn="just"/>
            <a:r>
              <a:rPr lang="en-US" sz="2800" dirty="0" err="1" smtClean="0"/>
              <a:t>plt.hist</a:t>
            </a:r>
            <a:r>
              <a:rPr lang="en-US" sz="2800" dirty="0" smtClean="0"/>
              <a:t>(x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3733800"/>
            <a:ext cx="3303098" cy="249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6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Pie Charts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With </a:t>
            </a:r>
            <a:r>
              <a:rPr lang="en-US" sz="2800" dirty="0" err="1"/>
              <a:t>Pyplot</a:t>
            </a:r>
            <a:r>
              <a:rPr lang="en-US" sz="2800" dirty="0"/>
              <a:t>, you can use the pie() function to draw pie charts</a:t>
            </a:r>
            <a:r>
              <a:rPr lang="en-US" sz="2800" dirty="0" smtClean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([35, 25, 25, 15])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plt.pie</a:t>
            </a:r>
            <a:r>
              <a:rPr lang="en-US" sz="2800" dirty="0"/>
              <a:t>(y)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801" y="3048000"/>
            <a:ext cx="375852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4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Pie Chart - Labels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([35, 25, 25, 15])</a:t>
            </a:r>
          </a:p>
          <a:p>
            <a:pPr algn="just"/>
            <a:r>
              <a:rPr lang="en-US" sz="2800" dirty="0" err="1"/>
              <a:t>mylabels</a:t>
            </a:r>
            <a:r>
              <a:rPr lang="en-US" sz="2800" dirty="0"/>
              <a:t> = ["Apples", "Bananas", "Cherries", "Dates"]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plt.pie</a:t>
            </a:r>
            <a:r>
              <a:rPr lang="en-US" sz="2800" dirty="0"/>
              <a:t>(y, labels = </a:t>
            </a:r>
            <a:r>
              <a:rPr lang="en-US" sz="2800" dirty="0" err="1"/>
              <a:t>mylabels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891542"/>
            <a:ext cx="3933825" cy="295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3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Pie Chart - explode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([35, 25, 25, 15])</a:t>
            </a:r>
          </a:p>
          <a:p>
            <a:pPr algn="just"/>
            <a:r>
              <a:rPr lang="en-US" sz="2800" dirty="0" err="1"/>
              <a:t>mylabels</a:t>
            </a:r>
            <a:r>
              <a:rPr lang="en-US" sz="2800" dirty="0"/>
              <a:t> = ["Apples", "Bananas", "Cherries", "Dates"]</a:t>
            </a:r>
          </a:p>
          <a:p>
            <a:pPr algn="just"/>
            <a:r>
              <a:rPr lang="en-US" sz="2800" dirty="0" err="1"/>
              <a:t>myexplode</a:t>
            </a:r>
            <a:r>
              <a:rPr lang="en-US" sz="2800" dirty="0"/>
              <a:t> = [0.2, 0, 0, 0]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plt.pie</a:t>
            </a:r>
            <a:r>
              <a:rPr lang="en-US" sz="2800" dirty="0"/>
              <a:t>(y, labels = </a:t>
            </a:r>
            <a:r>
              <a:rPr lang="en-US" sz="2800" dirty="0" err="1"/>
              <a:t>mylabels</a:t>
            </a:r>
            <a:r>
              <a:rPr lang="en-US" sz="2800" dirty="0"/>
              <a:t>, explode = </a:t>
            </a:r>
            <a:r>
              <a:rPr lang="en-US" sz="2800" dirty="0" err="1"/>
              <a:t>myexplode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4495800"/>
            <a:ext cx="3467757" cy="281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2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Pie Chart - shadow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([35, 25, 25, 15])</a:t>
            </a:r>
          </a:p>
          <a:p>
            <a:pPr algn="just"/>
            <a:r>
              <a:rPr lang="en-US" sz="2800" dirty="0" err="1"/>
              <a:t>mylabels</a:t>
            </a:r>
            <a:r>
              <a:rPr lang="en-US" sz="2800" dirty="0"/>
              <a:t> = ["Apples", "Bananas", "Cherries", "Dates"]</a:t>
            </a:r>
          </a:p>
          <a:p>
            <a:pPr algn="just"/>
            <a:r>
              <a:rPr lang="en-US" sz="2800" dirty="0" err="1"/>
              <a:t>myexplode</a:t>
            </a:r>
            <a:r>
              <a:rPr lang="en-US" sz="2800" dirty="0"/>
              <a:t> = [0.2, 0, 0, 0]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plt.pie</a:t>
            </a:r>
            <a:r>
              <a:rPr lang="en-US" sz="2800" dirty="0"/>
              <a:t>(y, labels = </a:t>
            </a:r>
            <a:r>
              <a:rPr lang="en-US" sz="2800" dirty="0" err="1"/>
              <a:t>mylabels</a:t>
            </a:r>
            <a:r>
              <a:rPr lang="en-US" sz="2800" dirty="0"/>
              <a:t>, explode = </a:t>
            </a:r>
            <a:r>
              <a:rPr lang="en-US" sz="2800" dirty="0" err="1"/>
              <a:t>myexplode</a:t>
            </a:r>
            <a:r>
              <a:rPr lang="en-US" sz="2800" dirty="0"/>
              <a:t>, shadow = True)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0"/>
            <a:ext cx="3542456" cy="28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8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Pie Chart - colors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([35, 25, 25, 15])</a:t>
            </a:r>
          </a:p>
          <a:p>
            <a:pPr algn="just"/>
            <a:r>
              <a:rPr lang="en-US" sz="2800" dirty="0" err="1"/>
              <a:t>mylabels</a:t>
            </a:r>
            <a:r>
              <a:rPr lang="en-US" sz="2800" dirty="0"/>
              <a:t> = ["Apples", "Bananas", "Cherries", "Dates"]</a:t>
            </a:r>
          </a:p>
          <a:p>
            <a:pPr algn="just"/>
            <a:r>
              <a:rPr lang="en-US" sz="2800" dirty="0" err="1"/>
              <a:t>mycolors</a:t>
            </a:r>
            <a:r>
              <a:rPr lang="en-US" sz="2800" dirty="0"/>
              <a:t> = ["black", "</a:t>
            </a:r>
            <a:r>
              <a:rPr lang="en-US" sz="2800" dirty="0" err="1"/>
              <a:t>hotpink</a:t>
            </a:r>
            <a:r>
              <a:rPr lang="en-US" sz="2800" dirty="0"/>
              <a:t>", "b", "#</a:t>
            </a:r>
            <a:r>
              <a:rPr lang="en-US" sz="2800" dirty="0" err="1"/>
              <a:t>4CAF50</a:t>
            </a:r>
            <a:r>
              <a:rPr lang="en-US" sz="2800" dirty="0"/>
              <a:t>"]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plt.pie</a:t>
            </a:r>
            <a:r>
              <a:rPr lang="en-US" sz="2800" dirty="0"/>
              <a:t>(y, labels = </a:t>
            </a:r>
            <a:r>
              <a:rPr lang="en-US" sz="2800" dirty="0" err="1"/>
              <a:t>mylabels</a:t>
            </a:r>
            <a:r>
              <a:rPr lang="en-US" sz="2800" dirty="0"/>
              <a:t>, colors = </a:t>
            </a:r>
            <a:r>
              <a:rPr lang="en-US" sz="2800" dirty="0" err="1"/>
              <a:t>mycolors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0"/>
            <a:ext cx="3676650" cy="305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9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Pie Chart - legends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([35, 25, 25, 15])</a:t>
            </a:r>
          </a:p>
          <a:p>
            <a:pPr algn="just"/>
            <a:r>
              <a:rPr lang="en-US" sz="2800" dirty="0" err="1"/>
              <a:t>mylabels</a:t>
            </a:r>
            <a:r>
              <a:rPr lang="en-US" sz="2800" dirty="0"/>
              <a:t> = ["Apples", "Bananas", "Cherries", "Dates"]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plt.pie</a:t>
            </a:r>
            <a:r>
              <a:rPr lang="en-US" sz="2800" dirty="0"/>
              <a:t>(y, labels = </a:t>
            </a:r>
            <a:r>
              <a:rPr lang="en-US" sz="2800" dirty="0" err="1"/>
              <a:t>mylabels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plt.legend</a:t>
            </a:r>
            <a:r>
              <a:rPr lang="en-US" sz="2800" dirty="0"/>
              <a:t>()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3657600"/>
            <a:ext cx="3362325" cy="286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0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Pie Chart - legends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 = </a:t>
            </a:r>
            <a:r>
              <a:rPr lang="en-US" sz="2800" dirty="0" err="1"/>
              <a:t>np.array</a:t>
            </a:r>
            <a:r>
              <a:rPr lang="en-US" sz="2800" dirty="0"/>
              <a:t>([35, 25, 25, 15])</a:t>
            </a:r>
          </a:p>
          <a:p>
            <a:pPr algn="just"/>
            <a:r>
              <a:rPr lang="en-US" sz="2800" dirty="0" err="1"/>
              <a:t>mylabels</a:t>
            </a:r>
            <a:r>
              <a:rPr lang="en-US" sz="2800" dirty="0"/>
              <a:t> = ["Apples", "Bananas", "Cherries", "Dates"]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plt.pie</a:t>
            </a:r>
            <a:r>
              <a:rPr lang="en-US" sz="2800" dirty="0"/>
              <a:t>(y, labels = </a:t>
            </a:r>
            <a:r>
              <a:rPr lang="en-US" sz="2800" dirty="0" err="1"/>
              <a:t>mylabels</a:t>
            </a:r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plt.legend</a:t>
            </a:r>
            <a:r>
              <a:rPr lang="en-US" sz="2800" dirty="0"/>
              <a:t>(title = "Four Fruits:")</a:t>
            </a:r>
          </a:p>
          <a:p>
            <a:pPr algn="just"/>
            <a:r>
              <a:rPr lang="en-US" sz="2800" dirty="0" err="1"/>
              <a:t>plt.show</a:t>
            </a:r>
            <a:r>
              <a:rPr lang="en-US" sz="2800" dirty="0"/>
              <a:t>()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593" y="4127480"/>
            <a:ext cx="2925383" cy="234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4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Regular Expression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dirty="0" err="1"/>
              <a:t>RegEx</a:t>
            </a:r>
            <a:r>
              <a:rPr lang="en-US" sz="2800" dirty="0"/>
              <a:t>, or Regular Expression, is a sequence of characters that forms a search pattern.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 smtClean="0"/>
              <a:t>RegEx</a:t>
            </a:r>
            <a:r>
              <a:rPr lang="en-US" sz="2800" dirty="0" smtClean="0"/>
              <a:t> </a:t>
            </a:r>
            <a:r>
              <a:rPr lang="en-US" sz="2800" dirty="0"/>
              <a:t>can be used to check if a string contains the specified search pattern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Python has a built-in package called re, which can be used to work with Regular Expressions.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Import </a:t>
            </a:r>
            <a:r>
              <a:rPr lang="en-US" sz="2800" dirty="0"/>
              <a:t>the re </a:t>
            </a:r>
            <a:r>
              <a:rPr lang="en-US" sz="2800" dirty="0" smtClean="0"/>
              <a:t>module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Import re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26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Regular Expression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import re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#Check if the string starts with "The" and ends with "Spain":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txt = "The rain in Spain"</a:t>
            </a:r>
          </a:p>
          <a:p>
            <a:pPr algn="just"/>
            <a:r>
              <a:rPr lang="en-US" sz="2800" dirty="0"/>
              <a:t>x = </a:t>
            </a:r>
            <a:r>
              <a:rPr lang="en-US" sz="2800" dirty="0" err="1"/>
              <a:t>re.search</a:t>
            </a:r>
            <a:r>
              <a:rPr lang="en-US" sz="2800" dirty="0"/>
              <a:t>("^The.*Spain$", txt)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if x:</a:t>
            </a:r>
          </a:p>
          <a:p>
            <a:pPr algn="just"/>
            <a:r>
              <a:rPr lang="en-US" sz="2800" dirty="0"/>
              <a:t>  print("YES! We have a match!")</a:t>
            </a:r>
          </a:p>
          <a:p>
            <a:pPr algn="just"/>
            <a:r>
              <a:rPr lang="en-US" sz="2800" dirty="0"/>
              <a:t>else:</a:t>
            </a:r>
          </a:p>
          <a:p>
            <a:pPr algn="just"/>
            <a:r>
              <a:rPr lang="en-US" sz="2800" dirty="0"/>
              <a:t>  print("No match")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18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RegEx</a:t>
            </a:r>
            <a:r>
              <a:rPr lang="en-US" b="1" dirty="0" smtClean="0"/>
              <a:t> Functions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re module offers a set of functions that allows us to search a string for a match: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f</a:t>
            </a:r>
            <a:r>
              <a:rPr lang="en-US" sz="2800" dirty="0" err="1" smtClean="0"/>
              <a:t>indall</a:t>
            </a:r>
            <a:r>
              <a:rPr lang="en-US" sz="2800" dirty="0" smtClean="0"/>
              <a:t> - Returns </a:t>
            </a:r>
            <a:r>
              <a:rPr lang="en-US" sz="2800" dirty="0"/>
              <a:t>a list containing all matches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</a:t>
            </a:r>
            <a:r>
              <a:rPr lang="en-US" sz="2800" dirty="0" smtClean="0"/>
              <a:t>earch - Returns </a:t>
            </a:r>
            <a:r>
              <a:rPr lang="en-US" sz="2800" dirty="0"/>
              <a:t>a Match object if there is a match anywhere in the string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</a:t>
            </a:r>
            <a:r>
              <a:rPr lang="en-US" sz="2800" dirty="0" smtClean="0"/>
              <a:t>plit - Returns </a:t>
            </a:r>
            <a:r>
              <a:rPr lang="en-US" sz="2800" dirty="0"/>
              <a:t>a list where the string has been split at each match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Sub - Replaces </a:t>
            </a:r>
            <a:r>
              <a:rPr lang="en-US" sz="2800" dirty="0"/>
              <a:t>one or many matches with a </a:t>
            </a:r>
            <a:r>
              <a:rPr lang="en-US" sz="2800" dirty="0" smtClean="0"/>
              <a:t>string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Remaining details on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https://</a:t>
            </a:r>
            <a:r>
              <a:rPr lang="en-US" sz="2800" dirty="0" err="1"/>
              <a:t>www.w3schools.com</a:t>
            </a:r>
            <a:r>
              <a:rPr lang="en-US" sz="2800" dirty="0"/>
              <a:t>/python/</a:t>
            </a:r>
            <a:r>
              <a:rPr lang="en-US" sz="2800" dirty="0" err="1"/>
              <a:t>python_regex.asp</a:t>
            </a:r>
            <a:endParaRPr 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85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Quantifies in </a:t>
            </a:r>
            <a:r>
              <a:rPr lang="en-US" b="1" dirty="0" err="1" smtClean="0"/>
              <a:t>RegEx</a:t>
            </a:r>
            <a:endParaRPr lang="en-US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calories duration 0 420 50 1 380 40 2 390 45</a:t>
            </a: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202664"/>
              </p:ext>
            </p:extLst>
          </p:nvPr>
        </p:nvGraphicFramePr>
        <p:xfrm>
          <a:off x="609600" y="1588749"/>
          <a:ext cx="8077200" cy="461861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384404818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3138162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51267343"/>
                    </a:ext>
                  </a:extLst>
                </a:gridCol>
              </a:tblGrid>
              <a:tr h="28287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>
                          <a:effectLst/>
                        </a:rPr>
                        <a:t>Quantifier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>
                          <a:effectLst/>
                        </a:rPr>
                        <a:t>Name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>
                          <a:effectLst/>
                        </a:rPr>
                        <a:t>Meaning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500095"/>
                  </a:ext>
                </a:extLst>
              </a:tr>
              <a:tr h="70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effectLst/>
                        </a:rPr>
                        <a:t>*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Asterisk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Match its preceding element zero or more times.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99890"/>
                  </a:ext>
                </a:extLst>
              </a:tr>
              <a:tr h="70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+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Plus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Match its preceding element one or more times.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229024"/>
                  </a:ext>
                </a:extLst>
              </a:tr>
              <a:tr h="70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?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Question Mark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Match its preceding element zero or one time.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37671"/>
                  </a:ext>
                </a:extLst>
              </a:tr>
              <a:tr h="70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{ </a:t>
                      </a:r>
                      <a:r>
                        <a:rPr lang="en-IN" sz="2000" i="1">
                          <a:effectLst/>
                        </a:rPr>
                        <a:t>n</a:t>
                      </a:r>
                      <a:r>
                        <a:rPr lang="en-IN" sz="2000">
                          <a:effectLst/>
                        </a:rPr>
                        <a:t> }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Curly Braces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Match its preceding element exactly n times.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56566"/>
                  </a:ext>
                </a:extLst>
              </a:tr>
              <a:tr h="70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{ </a:t>
                      </a:r>
                      <a:r>
                        <a:rPr lang="en-IN" sz="2000" i="1">
                          <a:effectLst/>
                        </a:rPr>
                        <a:t>n</a:t>
                      </a:r>
                      <a:r>
                        <a:rPr lang="en-IN" sz="2000">
                          <a:effectLst/>
                        </a:rPr>
                        <a:t> ,}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Curly Braces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Match its preceding element at least n times.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236554"/>
                  </a:ext>
                </a:extLst>
              </a:tr>
              <a:tr h="70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{ </a:t>
                      </a:r>
                      <a:r>
                        <a:rPr lang="en-IN" sz="2000" i="1">
                          <a:effectLst/>
                        </a:rPr>
                        <a:t>n</a:t>
                      </a:r>
                      <a:r>
                        <a:rPr lang="en-IN" sz="2000">
                          <a:effectLst/>
                        </a:rPr>
                        <a:t> , </a:t>
                      </a:r>
                      <a:r>
                        <a:rPr lang="en-IN" sz="2000" i="1">
                          <a:effectLst/>
                        </a:rPr>
                        <a:t>m</a:t>
                      </a:r>
                      <a:r>
                        <a:rPr lang="en-IN" sz="2000">
                          <a:effectLst/>
                        </a:rPr>
                        <a:t> }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Curly Braces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Match its preceding element from n to m times.</a:t>
                      </a:r>
                    </a:p>
                  </a:txBody>
                  <a:tcPr marL="70718" marR="70718" marT="35359" marB="35359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2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42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95600"/>
            <a:ext cx="9144000" cy="1470025"/>
          </a:xfrm>
        </p:spPr>
        <p:txBody>
          <a:bodyPr>
            <a:normAutofit/>
          </a:bodyPr>
          <a:lstStyle/>
          <a:p>
            <a:r>
              <a:rPr lang="en-US" sz="7200" b="1" dirty="0" smtClean="0"/>
              <a:t>Thank You</a:t>
            </a:r>
            <a:endParaRPr lang="en-US" sz="7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457200"/>
            <a:ext cx="3686175" cy="1038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6639</TotalTime>
  <Words>6204</Words>
  <Application>Microsoft Office PowerPoint</Application>
  <PresentationFormat>On-screen Show (4:3)</PresentationFormat>
  <Paragraphs>889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6" baseType="lpstr">
      <vt:lpstr>Arial</vt:lpstr>
      <vt:lpstr>Calibri</vt:lpstr>
      <vt:lpstr>Courier New</vt:lpstr>
      <vt:lpstr>Office Theme</vt:lpstr>
      <vt:lpstr>Marwadi University Faculty of Computer Applications MCA Sem- II</vt:lpstr>
      <vt:lpstr>Understanding and Installing Pandas</vt:lpstr>
      <vt:lpstr>Need for Pandas</vt:lpstr>
      <vt:lpstr>What Pandas can do?</vt:lpstr>
      <vt:lpstr>Installation</vt:lpstr>
      <vt:lpstr>Installation</vt:lpstr>
      <vt:lpstr>Pandas as pd</vt:lpstr>
      <vt:lpstr>Checking Pandas Version</vt:lpstr>
      <vt:lpstr>Data Frames</vt:lpstr>
      <vt:lpstr>Simple Data Frame Example</vt:lpstr>
      <vt:lpstr>Data Frame in detail</vt:lpstr>
      <vt:lpstr>Create Empty Data Frame</vt:lpstr>
      <vt:lpstr>Create Dataframe from List</vt:lpstr>
      <vt:lpstr>Create Dataframe from List</vt:lpstr>
      <vt:lpstr>Create Dataframe from Dict of ndarrays</vt:lpstr>
      <vt:lpstr>Create Dataframe from Dict of ndarrays</vt:lpstr>
      <vt:lpstr>Create Dataframe from Dict of ndarrays</vt:lpstr>
      <vt:lpstr>Create Dataframe from List of Dicts</vt:lpstr>
      <vt:lpstr>Create Dataframe from List of Dicts</vt:lpstr>
      <vt:lpstr>Create Dataframe from List of Dicts</vt:lpstr>
      <vt:lpstr>Create Dataframe from List of Dicts</vt:lpstr>
      <vt:lpstr>Create Dataframe using excel files</vt:lpstr>
      <vt:lpstr>Create Dataframe using excel files</vt:lpstr>
      <vt:lpstr>Create Dataframe using excel files</vt:lpstr>
      <vt:lpstr>Create Dataframe using list of tuples</vt:lpstr>
      <vt:lpstr>Create Dataframe using list of tuples</vt:lpstr>
      <vt:lpstr>Create Dataframe using csv file</vt:lpstr>
      <vt:lpstr>Create Dataframe using csv file</vt:lpstr>
      <vt:lpstr>Use of Head() function</vt:lpstr>
      <vt:lpstr>Use of Tail() function</vt:lpstr>
      <vt:lpstr>Use of Shape property</vt:lpstr>
      <vt:lpstr>Use of Columns property</vt:lpstr>
      <vt:lpstr>Use of Size property</vt:lpstr>
      <vt:lpstr>Use of Dtypes property</vt:lpstr>
      <vt:lpstr>Use of describe() method</vt:lpstr>
      <vt:lpstr>Use of describe() method</vt:lpstr>
      <vt:lpstr>Use of max() method</vt:lpstr>
      <vt:lpstr>Use of min() method</vt:lpstr>
      <vt:lpstr>Other functions</vt:lpstr>
      <vt:lpstr>Indexing and Sorting</vt:lpstr>
      <vt:lpstr>The index property</vt:lpstr>
      <vt:lpstr>The set_index() method</vt:lpstr>
      <vt:lpstr>The loc property</vt:lpstr>
      <vt:lpstr>The loc property</vt:lpstr>
      <vt:lpstr>The reset_index() method</vt:lpstr>
      <vt:lpstr>The reset_index() method</vt:lpstr>
      <vt:lpstr>The sort_values() method</vt:lpstr>
      <vt:lpstr>The dropna() method</vt:lpstr>
      <vt:lpstr>The fillna() method</vt:lpstr>
      <vt:lpstr>Different types of Basic Graphs</vt:lpstr>
      <vt:lpstr>Line Graph</vt:lpstr>
      <vt:lpstr>Bar Graph</vt:lpstr>
      <vt:lpstr>Histogram Graph</vt:lpstr>
      <vt:lpstr>Pie Graph</vt:lpstr>
      <vt:lpstr>Line Graph</vt:lpstr>
      <vt:lpstr>Line Graph</vt:lpstr>
      <vt:lpstr>Line Graph</vt:lpstr>
      <vt:lpstr>Line Graph</vt:lpstr>
      <vt:lpstr>Line Graph</vt:lpstr>
      <vt:lpstr>Line Graph</vt:lpstr>
      <vt:lpstr>Line Graph</vt:lpstr>
      <vt:lpstr>Line Graph</vt:lpstr>
      <vt:lpstr>Line Graph</vt:lpstr>
      <vt:lpstr>Line Graph</vt:lpstr>
      <vt:lpstr>Line Graph</vt:lpstr>
      <vt:lpstr>Line Graph</vt:lpstr>
      <vt:lpstr>Add labels to graph</vt:lpstr>
      <vt:lpstr>Chart Title to graph</vt:lpstr>
      <vt:lpstr>Fonts and colors to titles in graph</vt:lpstr>
      <vt:lpstr>Position of title in Graph</vt:lpstr>
      <vt:lpstr>Gridlines in Graph</vt:lpstr>
      <vt:lpstr>Gridlines in Graph</vt:lpstr>
      <vt:lpstr>Bar Graph</vt:lpstr>
      <vt:lpstr>Bar Graph</vt:lpstr>
      <vt:lpstr>Bar Graph</vt:lpstr>
      <vt:lpstr>Bar Graph</vt:lpstr>
      <vt:lpstr>Histograms</vt:lpstr>
      <vt:lpstr>Histograms</vt:lpstr>
      <vt:lpstr>Histograms</vt:lpstr>
      <vt:lpstr>Histograms</vt:lpstr>
      <vt:lpstr>Pie Charts</vt:lpstr>
      <vt:lpstr>Pie Chart - Labels</vt:lpstr>
      <vt:lpstr>Pie Chart - explode</vt:lpstr>
      <vt:lpstr>Pie Chart - shadow</vt:lpstr>
      <vt:lpstr>Pie Chart - colors</vt:lpstr>
      <vt:lpstr>Pie Chart - legends</vt:lpstr>
      <vt:lpstr>Pie Chart - legends</vt:lpstr>
      <vt:lpstr>Regular Expression</vt:lpstr>
      <vt:lpstr>Regular Expression</vt:lpstr>
      <vt:lpstr>RegEx Functions</vt:lpstr>
      <vt:lpstr>Quantifies in RegEx</vt:lpstr>
      <vt:lpstr>Thank You</vt:lpstr>
    </vt:vector>
  </TitlesOfParts>
  <Company>MEFGI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Marwadi Education Foundation’s Group of Institutions Faculty of Computer Applications MCA Sem- IV</dc:title>
  <dc:creator>MEFGI</dc:creator>
  <cp:lastModifiedBy>Admin</cp:lastModifiedBy>
  <cp:revision>1170</cp:revision>
  <dcterms:created xsi:type="dcterms:W3CDTF">2010-12-23T08:45:33Z</dcterms:created>
  <dcterms:modified xsi:type="dcterms:W3CDTF">2024-04-04T09:35:16Z</dcterms:modified>
</cp:coreProperties>
</file>