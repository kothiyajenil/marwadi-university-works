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09" r:id="rId4"/>
    <p:sldId id="310" r:id="rId5"/>
    <p:sldId id="311" r:id="rId6"/>
    <p:sldId id="312" r:id="rId7"/>
    <p:sldId id="313" r:id="rId8"/>
    <p:sldId id="314" r:id="rId9"/>
    <p:sldId id="315" r:id="rId10"/>
    <p:sldId id="316" r:id="rId11"/>
    <p:sldId id="317" r:id="rId12"/>
    <p:sldId id="318" r:id="rId13"/>
    <p:sldId id="319" r:id="rId14"/>
    <p:sldId id="320" r:id="rId15"/>
    <p:sldId id="321" r:id="rId16"/>
    <p:sldId id="322" r:id="rId17"/>
    <p:sldId id="323" r:id="rId18"/>
    <p:sldId id="324" r:id="rId19"/>
    <p:sldId id="325" r:id="rId20"/>
    <p:sldId id="326" r:id="rId21"/>
    <p:sldId id="327" r:id="rId22"/>
    <p:sldId id="328" r:id="rId23"/>
    <p:sldId id="329" r:id="rId24"/>
    <p:sldId id="330" r:id="rId25"/>
    <p:sldId id="331" r:id="rId26"/>
    <p:sldId id="332" r:id="rId27"/>
    <p:sldId id="333" r:id="rId28"/>
    <p:sldId id="334" r:id="rId29"/>
    <p:sldId id="335" r:id="rId30"/>
    <p:sldId id="336" r:id="rId31"/>
    <p:sldId id="337" r:id="rId32"/>
    <p:sldId id="338" r:id="rId33"/>
    <p:sldId id="339" r:id="rId34"/>
    <p:sldId id="340" r:id="rId35"/>
    <p:sldId id="341" r:id="rId36"/>
    <p:sldId id="342" r:id="rId37"/>
    <p:sldId id="343" r:id="rId38"/>
    <p:sldId id="344" r:id="rId39"/>
    <p:sldId id="345" r:id="rId40"/>
    <p:sldId id="346" r:id="rId41"/>
    <p:sldId id="347" r:id="rId42"/>
    <p:sldId id="348" r:id="rId43"/>
    <p:sldId id="349" r:id="rId44"/>
    <p:sldId id="350" r:id="rId45"/>
    <p:sldId id="351" r:id="rId46"/>
    <p:sldId id="352" r:id="rId47"/>
    <p:sldId id="353" r:id="rId48"/>
    <p:sldId id="354" r:id="rId49"/>
    <p:sldId id="355" r:id="rId50"/>
    <p:sldId id="356" r:id="rId51"/>
    <p:sldId id="357" r:id="rId52"/>
    <p:sldId id="358" r:id="rId53"/>
    <p:sldId id="359" r:id="rId54"/>
    <p:sldId id="360" r:id="rId55"/>
    <p:sldId id="361" r:id="rId56"/>
    <p:sldId id="362" r:id="rId57"/>
    <p:sldId id="363" r:id="rId58"/>
    <p:sldId id="364" r:id="rId59"/>
    <p:sldId id="365" r:id="rId60"/>
    <p:sldId id="366" r:id="rId61"/>
    <p:sldId id="367" r:id="rId62"/>
    <p:sldId id="368" r:id="rId63"/>
    <p:sldId id="369" r:id="rId64"/>
    <p:sldId id="370" r:id="rId65"/>
    <p:sldId id="371" r:id="rId66"/>
    <p:sldId id="372" r:id="rId67"/>
    <p:sldId id="373" r:id="rId68"/>
    <p:sldId id="374" r:id="rId69"/>
    <p:sldId id="375" r:id="rId70"/>
    <p:sldId id="376" r:id="rId71"/>
    <p:sldId id="377" r:id="rId72"/>
    <p:sldId id="378" r:id="rId73"/>
    <p:sldId id="379" r:id="rId74"/>
    <p:sldId id="380" r:id="rId75"/>
    <p:sldId id="381" r:id="rId76"/>
    <p:sldId id="382" r:id="rId77"/>
    <p:sldId id="383" r:id="rId78"/>
    <p:sldId id="384" r:id="rId79"/>
    <p:sldId id="385" r:id="rId80"/>
    <p:sldId id="386" r:id="rId81"/>
    <p:sldId id="387" r:id="rId82"/>
    <p:sldId id="388" r:id="rId83"/>
    <p:sldId id="389" r:id="rId84"/>
    <p:sldId id="390" r:id="rId85"/>
    <p:sldId id="391" r:id="rId86"/>
    <p:sldId id="392" r:id="rId87"/>
    <p:sldId id="393" r:id="rId88"/>
    <p:sldId id="394" r:id="rId89"/>
    <p:sldId id="395" r:id="rId90"/>
    <p:sldId id="396" r:id="rId91"/>
    <p:sldId id="397" r:id="rId92"/>
    <p:sldId id="398" r:id="rId93"/>
    <p:sldId id="399" r:id="rId94"/>
    <p:sldId id="400" r:id="rId95"/>
    <p:sldId id="401" r:id="rId96"/>
    <p:sldId id="402" r:id="rId97"/>
    <p:sldId id="403" r:id="rId98"/>
    <p:sldId id="404" r:id="rId99"/>
    <p:sldId id="405" r:id="rId100"/>
    <p:sldId id="406" r:id="rId101"/>
    <p:sldId id="407" r:id="rId102"/>
    <p:sldId id="408" r:id="rId103"/>
    <p:sldId id="409" r:id="rId104"/>
    <p:sldId id="410" r:id="rId105"/>
    <p:sldId id="411" r:id="rId106"/>
    <p:sldId id="412" r:id="rId107"/>
    <p:sldId id="413" r:id="rId108"/>
    <p:sldId id="414" r:id="rId109"/>
    <p:sldId id="415" r:id="rId110"/>
    <p:sldId id="416" r:id="rId111"/>
    <p:sldId id="308" r:id="rId1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p:cViewPr varScale="1">
        <p:scale>
          <a:sx n="73" d="100"/>
          <a:sy n="73" d="100"/>
        </p:scale>
        <p:origin x="-1296"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2E0E06-AB51-44FC-A4D6-DF92655569FF}" type="datetimeFigureOut">
              <a:rPr lang="en-US" smtClean="0"/>
              <a:pPr/>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2E0E06-AB51-44FC-A4D6-DF92655569FF}" type="datetimeFigureOut">
              <a:rPr lang="en-US" smtClean="0"/>
              <a:pPr/>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2E0E06-AB51-44FC-A4D6-DF92655569FF}" type="datetimeFigureOut">
              <a:rPr lang="en-US" smtClean="0"/>
              <a:pPr/>
              <a:t>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2E0E06-AB51-44FC-A4D6-DF92655569FF}" type="datetimeFigureOut">
              <a:rPr lang="en-US" smtClean="0"/>
              <a:pPr/>
              <a:t>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2E0E06-AB51-44FC-A4D6-DF92655569FF}" type="datetimeFigureOut">
              <a:rPr lang="en-US" smtClean="0"/>
              <a:pPr/>
              <a:t>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2E0E06-AB51-44FC-A4D6-DF92655569FF}" type="datetimeFigureOut">
              <a:rPr lang="en-US" smtClean="0"/>
              <a:pPr/>
              <a:t>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BD71CF-1D88-4D5E-98E0-847C657C6BC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www.geeksforgeeks.org/finally-keyword-in-python/"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hyperlink" Target="https://docs.python.org/3/library/os.html" TargetMode="Externa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04800" y="3352800"/>
            <a:ext cx="84582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0" y="1295400"/>
            <a:ext cx="9144000" cy="1470025"/>
          </a:xfrm>
        </p:spPr>
        <p:txBody>
          <a:bodyPr>
            <a:normAutofit fontScale="90000"/>
          </a:bodyPr>
          <a:lstStyle/>
          <a:p>
            <a:r>
              <a:rPr lang="en-US" sz="3100" b="1" dirty="0" err="1"/>
              <a:t>Marwadi</a:t>
            </a:r>
            <a:r>
              <a:rPr lang="en-US" sz="3100" b="1" dirty="0"/>
              <a:t> </a:t>
            </a:r>
            <a:r>
              <a:rPr lang="en-US" sz="3100" b="1" dirty="0" smtClean="0"/>
              <a:t>University</a:t>
            </a:r>
            <a:br>
              <a:rPr lang="en-US" sz="3100" b="1" dirty="0" smtClean="0"/>
            </a:br>
            <a:r>
              <a:rPr lang="en-US" sz="3600" dirty="0" smtClean="0"/>
              <a:t>Faculty </a:t>
            </a:r>
            <a:r>
              <a:rPr lang="en-US" sz="3600" dirty="0"/>
              <a:t>of Computer Applications</a:t>
            </a:r>
            <a:r>
              <a:rPr lang="en-US" dirty="0"/>
              <a:t/>
            </a:r>
            <a:br>
              <a:rPr lang="en-US" dirty="0"/>
            </a:br>
            <a:r>
              <a:rPr lang="en-US" b="1" dirty="0"/>
              <a:t>MCA </a:t>
            </a:r>
            <a:r>
              <a:rPr lang="en-US" b="1" dirty="0" err="1"/>
              <a:t>Sem</a:t>
            </a:r>
            <a:r>
              <a:rPr lang="en-US" b="1" dirty="0"/>
              <a:t>- </a:t>
            </a:r>
            <a:r>
              <a:rPr lang="en-US" b="1" dirty="0" smtClean="0"/>
              <a:t>II</a:t>
            </a:r>
            <a:endParaRPr lang="en-US" dirty="0"/>
          </a:p>
        </p:txBody>
      </p:sp>
      <p:sp>
        <p:nvSpPr>
          <p:cNvPr id="5" name="TextBox 4"/>
          <p:cNvSpPr txBox="1"/>
          <p:nvPr/>
        </p:nvSpPr>
        <p:spPr>
          <a:xfrm>
            <a:off x="0" y="3581400"/>
            <a:ext cx="9144000" cy="1077218"/>
          </a:xfrm>
          <a:prstGeom prst="rect">
            <a:avLst/>
          </a:prstGeom>
          <a:noFill/>
        </p:spPr>
        <p:txBody>
          <a:bodyPr wrap="square" rtlCol="0">
            <a:spAutoFit/>
          </a:bodyPr>
          <a:lstStyle/>
          <a:p>
            <a:pPr algn="ctr"/>
            <a:r>
              <a:rPr lang="en-US" sz="3200" b="1" dirty="0" smtClean="0"/>
              <a:t>Basics of Python</a:t>
            </a:r>
          </a:p>
          <a:p>
            <a:pPr algn="ctr"/>
            <a:r>
              <a:rPr lang="en-US" sz="3200" dirty="0" smtClean="0"/>
              <a:t>(</a:t>
            </a:r>
            <a:r>
              <a:rPr lang="en-US" sz="3200" dirty="0" err="1" smtClean="0"/>
              <a:t>05MC0202</a:t>
            </a:r>
            <a:r>
              <a:rPr lang="en-US" sz="3200" dirty="0" smtClean="0"/>
              <a:t>)</a:t>
            </a:r>
            <a:endParaRPr lang="en-US" sz="3200" dirty="0"/>
          </a:p>
        </p:txBody>
      </p:sp>
      <p:sp>
        <p:nvSpPr>
          <p:cNvPr id="6" name="TextBox 5"/>
          <p:cNvSpPr txBox="1"/>
          <p:nvPr/>
        </p:nvSpPr>
        <p:spPr>
          <a:xfrm>
            <a:off x="0" y="5181600"/>
            <a:ext cx="9144000" cy="1569660"/>
          </a:xfrm>
          <a:prstGeom prst="rect">
            <a:avLst/>
          </a:prstGeom>
          <a:noFill/>
        </p:spPr>
        <p:txBody>
          <a:bodyPr wrap="square" rtlCol="0">
            <a:spAutoFit/>
          </a:bodyPr>
          <a:lstStyle/>
          <a:p>
            <a:pPr algn="ctr"/>
            <a:r>
              <a:rPr lang="en-US" sz="3200" b="1" dirty="0" smtClean="0"/>
              <a:t>Unit – 2</a:t>
            </a:r>
          </a:p>
          <a:p>
            <a:pPr algn="ctr"/>
            <a:r>
              <a:rPr lang="en-US" sz="3200" b="1" dirty="0" smtClean="0"/>
              <a:t>Exception, Modules </a:t>
            </a:r>
          </a:p>
          <a:p>
            <a:pPr algn="ctr"/>
            <a:r>
              <a:rPr lang="en-US" sz="3200" b="1" dirty="0" smtClean="0"/>
              <a:t>and File Handling</a:t>
            </a:r>
            <a:endParaRPr lang="en-US" sz="3200" dirty="0"/>
          </a:p>
        </p:txBody>
      </p:sp>
      <p:pic>
        <p:nvPicPr>
          <p:cNvPr id="11" name="Picture 3" descr="C:\Users\Kalpesh\Desktop\download.jpg"/>
          <p:cNvPicPr>
            <a:picLocks noChangeAspect="1" noChangeArrowheads="1"/>
          </p:cNvPicPr>
          <p:nvPr/>
        </p:nvPicPr>
        <p:blipFill>
          <a:blip r:embed="rId2"/>
          <a:srcRect/>
          <a:stretch>
            <a:fillRect/>
          </a:stretch>
        </p:blipFill>
        <p:spPr bwMode="auto">
          <a:xfrm>
            <a:off x="311150" y="4866007"/>
            <a:ext cx="2051050" cy="1382393"/>
          </a:xfrm>
          <a:prstGeom prst="rect">
            <a:avLst/>
          </a:prstGeom>
          <a:noFill/>
        </p:spPr>
      </p:pic>
      <p:pic>
        <p:nvPicPr>
          <p:cNvPr id="12" name="Picture 3" descr="C:\Users\Kalpesh\Desktop\download.jpg"/>
          <p:cNvPicPr>
            <a:picLocks noChangeAspect="1" noChangeArrowheads="1"/>
          </p:cNvPicPr>
          <p:nvPr/>
        </p:nvPicPr>
        <p:blipFill>
          <a:blip r:embed="rId2"/>
          <a:srcRect/>
          <a:stretch>
            <a:fillRect/>
          </a:stretch>
        </p:blipFill>
        <p:spPr bwMode="auto">
          <a:xfrm>
            <a:off x="6934200" y="4876800"/>
            <a:ext cx="2051050" cy="1382393"/>
          </a:xfrm>
          <a:prstGeom prst="rect">
            <a:avLst/>
          </a:prstGeom>
          <a:noFill/>
        </p:spPr>
      </p:pic>
      <p:pic>
        <p:nvPicPr>
          <p:cNvPr id="8" name="Picture 7"/>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362200" y="104668"/>
            <a:ext cx="3686175" cy="103822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Exceptions</a:t>
            </a:r>
            <a:endParaRPr lang="en-US" dirty="0"/>
          </a:p>
        </p:txBody>
      </p:sp>
      <p:sp>
        <p:nvSpPr>
          <p:cNvPr id="4" name="TextBox 3"/>
          <p:cNvSpPr txBox="1"/>
          <p:nvPr/>
        </p:nvSpPr>
        <p:spPr>
          <a:xfrm>
            <a:off x="228600" y="1066800"/>
            <a:ext cx="8763000" cy="3539430"/>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smtClean="0"/>
              <a:t>Error </a:t>
            </a:r>
            <a:r>
              <a:rPr lang="en-US" sz="3200" dirty="0"/>
              <a:t>in Python can be of two types i.e. Syntax errors and Exceptions. Errors are the problems in a program due to which the program will stop the execution. </a:t>
            </a:r>
          </a:p>
          <a:p>
            <a:pPr marL="457200" indent="-457200" algn="just">
              <a:buFont typeface="Arial" panose="020B0604020202020204" pitchFamily="34" charset="0"/>
              <a:buChar char="•"/>
            </a:pPr>
            <a:r>
              <a:rPr lang="en-US" sz="3200" dirty="0" smtClean="0"/>
              <a:t>On </a:t>
            </a:r>
            <a:r>
              <a:rPr lang="en-US" sz="3200" dirty="0"/>
              <a:t>the other hand, exceptions are raised when some internal events occur which changes the normal flow of the program.</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Exceptions</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An exception is an event, which occurs during the execution of a program that disrupts the normal flow of the program's instructions. </a:t>
            </a:r>
          </a:p>
          <a:p>
            <a:pPr marL="457200" indent="-457200" algn="just">
              <a:buFont typeface="Arial" panose="020B0604020202020204" pitchFamily="34" charset="0"/>
              <a:buChar char="•"/>
            </a:pPr>
            <a:endParaRPr lang="en-US" sz="3200" dirty="0"/>
          </a:p>
          <a:p>
            <a:pPr marL="457200" indent="-457200" algn="just">
              <a:buFont typeface="Arial" panose="020B0604020202020204" pitchFamily="34" charset="0"/>
              <a:buChar char="•"/>
            </a:pPr>
            <a:r>
              <a:rPr lang="en-US" sz="3200" dirty="0"/>
              <a:t>In general, when a Python script encounters a situation that it cannot cope with, it raises an exception. An exception is a Python object that represents an error.</a:t>
            </a:r>
          </a:p>
        </p:txBody>
      </p:sp>
    </p:spTree>
    <p:extLst>
      <p:ext uri="{BB962C8B-B14F-4D97-AF65-F5344CB8AC3E}">
        <p14:creationId xmlns:p14="http://schemas.microsoft.com/office/powerpoint/2010/main" xmlns="" val="29033946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Exceptions</a:t>
            </a:r>
            <a:endParaRPr lang="en-US" dirty="0"/>
          </a:p>
        </p:txBody>
      </p:sp>
      <p:sp>
        <p:nvSpPr>
          <p:cNvPr id="4" name="TextBox 3"/>
          <p:cNvSpPr txBox="1"/>
          <p:nvPr/>
        </p:nvSpPr>
        <p:spPr>
          <a:xfrm>
            <a:off x="228600" y="1066800"/>
            <a:ext cx="8763000" cy="6001643"/>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There are mainly three kinds of distinguishable errors in Python: syntax errors, exceptions and logical errors.</a:t>
            </a:r>
          </a:p>
          <a:p>
            <a:pPr marL="457200" indent="-457200" algn="just">
              <a:buFont typeface="Arial" panose="020B0604020202020204" pitchFamily="34" charset="0"/>
              <a:buChar char="•"/>
            </a:pPr>
            <a:r>
              <a:rPr lang="en-US" sz="3200" dirty="0"/>
              <a:t>Syntax errors are similar to grammar or spelling errors in a Language. If there is such an error in your code, Python cannot start to execute your code. You get a clear error message stating what is wrong and what needs to be fixed. Therefore, it is the easiest error type you can fix.</a:t>
            </a:r>
          </a:p>
          <a:p>
            <a:pPr marL="457200" indent="-457200" algn="just">
              <a:buFont typeface="Arial" panose="020B0604020202020204" pitchFamily="34" charset="0"/>
              <a:buChar char="•"/>
            </a:pPr>
            <a:r>
              <a:rPr lang="en-US" sz="3200" dirty="0"/>
              <a:t>Missing symbols (such as comma, bracket, colon), misspelling a keyword, having incorrect indentation are common syntax errors in Python</a:t>
            </a:r>
            <a:r>
              <a:rPr lang="en-US" sz="3200" dirty="0" smtClean="0"/>
              <a:t>.</a:t>
            </a:r>
            <a:endParaRPr lang="en-US" sz="3200" dirty="0"/>
          </a:p>
        </p:txBody>
      </p:sp>
    </p:spTree>
    <p:extLst>
      <p:ext uri="{BB962C8B-B14F-4D97-AF65-F5344CB8AC3E}">
        <p14:creationId xmlns:p14="http://schemas.microsoft.com/office/powerpoint/2010/main" xmlns="" val="16641475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Exceptions</a:t>
            </a:r>
            <a:endParaRPr lang="en-US" dirty="0"/>
          </a:p>
        </p:txBody>
      </p:sp>
      <p:sp>
        <p:nvSpPr>
          <p:cNvPr id="4" name="TextBox 3"/>
          <p:cNvSpPr txBox="1"/>
          <p:nvPr/>
        </p:nvSpPr>
        <p:spPr>
          <a:xfrm>
            <a:off x="228600" y="1066800"/>
            <a:ext cx="8763000" cy="6001643"/>
          </a:xfrm>
          <a:prstGeom prst="rect">
            <a:avLst/>
          </a:prstGeom>
          <a:noFill/>
        </p:spPr>
        <p:txBody>
          <a:bodyPr wrap="square" rtlCol="0">
            <a:spAutoFit/>
          </a:bodyPr>
          <a:lstStyle/>
          <a:p>
            <a:pPr marL="457200" indent="-457200" algn="just">
              <a:buFont typeface="Arial" panose="020B0604020202020204" pitchFamily="34" charset="0"/>
              <a:buChar char="•"/>
            </a:pPr>
            <a:r>
              <a:rPr lang="en-US" sz="3200" b="1" dirty="0"/>
              <a:t>Exceptions</a:t>
            </a:r>
            <a:r>
              <a:rPr lang="en-US" sz="3200" dirty="0"/>
              <a:t> may occur in syntactically correct code blocks at run time. When Python cannot execute the requested action, it terminates the code and raises an error message.</a:t>
            </a:r>
          </a:p>
          <a:p>
            <a:pPr marL="457200" indent="-457200" algn="just">
              <a:buFont typeface="Arial" panose="020B0604020202020204" pitchFamily="34" charset="0"/>
              <a:buChar char="•"/>
            </a:pPr>
            <a:r>
              <a:rPr lang="en-US" sz="3200" dirty="0" smtClean="0"/>
              <a:t>Trying </a:t>
            </a:r>
            <a:r>
              <a:rPr lang="en-US" sz="3200" dirty="0"/>
              <a:t>to read from a file which does not exist, performing operations with incompatible types of variables, dividing a number by zero are common </a:t>
            </a:r>
            <a:r>
              <a:rPr lang="en-US" sz="3200" b="1" dirty="0"/>
              <a:t>exceptions</a:t>
            </a:r>
            <a:r>
              <a:rPr lang="en-US" sz="3200" dirty="0"/>
              <a:t> that raise an error in Python.</a:t>
            </a:r>
          </a:p>
          <a:p>
            <a:pPr marL="457200" indent="-457200" algn="just">
              <a:buFont typeface="Arial" panose="020B0604020202020204" pitchFamily="34" charset="0"/>
              <a:buChar char="•"/>
            </a:pPr>
            <a:r>
              <a:rPr lang="en-US" sz="3200" dirty="0" smtClean="0"/>
              <a:t>We </a:t>
            </a:r>
            <a:r>
              <a:rPr lang="en-US" sz="3200" dirty="0"/>
              <a:t>must eliminate the </a:t>
            </a:r>
            <a:r>
              <a:rPr lang="en-US" sz="3200" b="1" dirty="0"/>
              <a:t>syntax errors</a:t>
            </a:r>
            <a:r>
              <a:rPr lang="en-US" sz="3200" dirty="0"/>
              <a:t> to run our Python code, while </a:t>
            </a:r>
            <a:r>
              <a:rPr lang="en-US" sz="3200" b="1" dirty="0"/>
              <a:t>exceptions</a:t>
            </a:r>
            <a:r>
              <a:rPr lang="en-US" sz="3200" dirty="0"/>
              <a:t> can be handled at runtime</a:t>
            </a:r>
            <a:r>
              <a:rPr lang="en-US" sz="3200" dirty="0" smtClean="0"/>
              <a:t>.</a:t>
            </a:r>
            <a:endParaRPr lang="en-US" sz="3200" dirty="0"/>
          </a:p>
        </p:txBody>
      </p:sp>
    </p:spTree>
    <p:extLst>
      <p:ext uri="{BB962C8B-B14F-4D97-AF65-F5344CB8AC3E}">
        <p14:creationId xmlns:p14="http://schemas.microsoft.com/office/powerpoint/2010/main" xmlns="" val="14200871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Exceptions</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Logical errors are the most difficult errors to fix as they don’t crash your code and you don’t get any error message.</a:t>
            </a:r>
          </a:p>
          <a:p>
            <a:pPr marL="457200" indent="-457200" algn="just">
              <a:buFont typeface="Arial" panose="020B0604020202020204" pitchFamily="34" charset="0"/>
              <a:buChar char="•"/>
            </a:pPr>
            <a:r>
              <a:rPr lang="en-US" sz="3200" dirty="0"/>
              <a:t>If you have logical errors, your code does not run as you expected.</a:t>
            </a:r>
          </a:p>
          <a:p>
            <a:pPr marL="457200" indent="-457200" algn="just">
              <a:buFont typeface="Arial" panose="020B0604020202020204" pitchFamily="34" charset="0"/>
              <a:buChar char="•"/>
            </a:pPr>
            <a:r>
              <a:rPr lang="en-US" sz="3200" dirty="0"/>
              <a:t>Using incorrect variable names, code that is not reflecting the algorithm logic properly, making mistakes on </a:t>
            </a:r>
            <a:r>
              <a:rPr lang="en-US" sz="3200" dirty="0" err="1"/>
              <a:t>boolean</a:t>
            </a:r>
            <a:r>
              <a:rPr lang="en-US" sz="3200" dirty="0"/>
              <a:t> operators will result in logical errors.</a:t>
            </a:r>
          </a:p>
        </p:txBody>
      </p:sp>
    </p:spTree>
    <p:extLst>
      <p:ext uri="{BB962C8B-B14F-4D97-AF65-F5344CB8AC3E}">
        <p14:creationId xmlns:p14="http://schemas.microsoft.com/office/powerpoint/2010/main" xmlns="" val="35352103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Exceptions</a:t>
            </a:r>
            <a:endParaRPr lang="en-US" dirty="0"/>
          </a:p>
        </p:txBody>
      </p:sp>
      <p:sp>
        <p:nvSpPr>
          <p:cNvPr id="4" name="TextBox 3"/>
          <p:cNvSpPr txBox="1"/>
          <p:nvPr/>
        </p:nvSpPr>
        <p:spPr>
          <a:xfrm>
            <a:off x="228600" y="1066800"/>
            <a:ext cx="8763000" cy="2554545"/>
          </a:xfrm>
          <a:prstGeom prst="rect">
            <a:avLst/>
          </a:prstGeom>
          <a:noFill/>
        </p:spPr>
        <p:txBody>
          <a:bodyPr wrap="square" rtlCol="0">
            <a:spAutoFit/>
          </a:bodyPr>
          <a:lstStyle/>
          <a:p>
            <a:pPr marL="457200" indent="-457200" algn="just">
              <a:buFont typeface="Arial" panose="020B0604020202020204" pitchFamily="34" charset="0"/>
              <a:buChar char="•"/>
            </a:pPr>
            <a:r>
              <a:rPr lang="en-US" sz="3200" b="1" dirty="0"/>
              <a:t>The difference between Syntax Error and Exceptions</a:t>
            </a:r>
          </a:p>
          <a:p>
            <a:pPr marL="457200" indent="-457200" algn="just">
              <a:buFont typeface="Arial" panose="020B0604020202020204" pitchFamily="34" charset="0"/>
              <a:buChar char="•"/>
            </a:pPr>
            <a:r>
              <a:rPr lang="en-US" sz="3200" dirty="0" smtClean="0"/>
              <a:t>Syntax </a:t>
            </a:r>
            <a:r>
              <a:rPr lang="en-US" sz="3200" dirty="0"/>
              <a:t>Error: As the name suggest this error is caused by wrong syntax in the code. It leads to the termination of the program</a:t>
            </a:r>
            <a:r>
              <a:rPr lang="en-US" sz="3200" dirty="0" smtClean="0"/>
              <a:t>.</a:t>
            </a:r>
            <a:endParaRPr lang="en-US" sz="3200" dirty="0"/>
          </a:p>
        </p:txBody>
      </p:sp>
    </p:spTree>
    <p:extLst>
      <p:ext uri="{BB962C8B-B14F-4D97-AF65-F5344CB8AC3E}">
        <p14:creationId xmlns:p14="http://schemas.microsoft.com/office/powerpoint/2010/main" xmlns="" val="17301693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Exceptions</a:t>
            </a:r>
            <a:endParaRPr lang="en-US" dirty="0"/>
          </a:p>
        </p:txBody>
      </p:sp>
      <p:sp>
        <p:nvSpPr>
          <p:cNvPr id="4" name="TextBox 3"/>
          <p:cNvSpPr txBox="1"/>
          <p:nvPr/>
        </p:nvSpPr>
        <p:spPr>
          <a:xfrm>
            <a:off x="228600" y="1066800"/>
            <a:ext cx="8763000" cy="5016758"/>
          </a:xfrm>
          <a:prstGeom prst="rect">
            <a:avLst/>
          </a:prstGeom>
          <a:noFill/>
        </p:spPr>
        <p:txBody>
          <a:bodyPr wrap="square" rtlCol="0">
            <a:spAutoFit/>
          </a:bodyPr>
          <a:lstStyle/>
          <a:p>
            <a:pPr algn="just"/>
            <a:r>
              <a:rPr lang="en-US" sz="3200" dirty="0"/>
              <a:t>Example</a:t>
            </a:r>
          </a:p>
          <a:p>
            <a:pPr algn="just"/>
            <a:r>
              <a:rPr lang="en-US" sz="3200" dirty="0"/>
              <a:t># initialize the amount variable</a:t>
            </a:r>
          </a:p>
          <a:p>
            <a:pPr algn="just"/>
            <a:r>
              <a:rPr lang="en-US" sz="3200" dirty="0"/>
              <a:t>amount = </a:t>
            </a:r>
            <a:r>
              <a:rPr lang="en-US" sz="3200" dirty="0" smtClean="0"/>
              <a:t>10000</a:t>
            </a:r>
            <a:endParaRPr lang="en-US" sz="3200" dirty="0"/>
          </a:p>
          <a:p>
            <a:pPr algn="just"/>
            <a:r>
              <a:rPr lang="en-US" sz="3200" dirty="0"/>
              <a:t># check that You are eligible </a:t>
            </a:r>
            <a:r>
              <a:rPr lang="en-US" sz="3200" dirty="0" smtClean="0"/>
              <a:t>to purchase </a:t>
            </a:r>
            <a:r>
              <a:rPr lang="en-US" sz="3200" dirty="0" err="1"/>
              <a:t>Dsa</a:t>
            </a:r>
            <a:r>
              <a:rPr lang="en-US" sz="3200" dirty="0"/>
              <a:t> Self Paced or not</a:t>
            </a:r>
          </a:p>
          <a:p>
            <a:pPr algn="just"/>
            <a:r>
              <a:rPr lang="en-US" sz="3200" dirty="0"/>
              <a:t>if(amount&gt;2999)</a:t>
            </a:r>
          </a:p>
          <a:p>
            <a:pPr algn="just"/>
            <a:r>
              <a:rPr lang="en-US" sz="3200" dirty="0"/>
              <a:t>    print("You are eligible to purchase </a:t>
            </a:r>
            <a:r>
              <a:rPr lang="en-US" sz="3200" dirty="0" err="1"/>
              <a:t>Dsa</a:t>
            </a:r>
            <a:r>
              <a:rPr lang="en-US" sz="3200" dirty="0"/>
              <a:t> Self Paced</a:t>
            </a:r>
            <a:r>
              <a:rPr lang="en-US" sz="3200" dirty="0" smtClean="0"/>
              <a:t>")</a:t>
            </a:r>
            <a:endParaRPr lang="en-US" sz="3200" dirty="0"/>
          </a:p>
          <a:p>
            <a:pPr algn="just"/>
            <a:r>
              <a:rPr lang="en-US" sz="3200" dirty="0"/>
              <a:t>Output:</a:t>
            </a:r>
          </a:p>
          <a:p>
            <a:pPr algn="just"/>
            <a:r>
              <a:rPr lang="en-US" sz="3200" dirty="0"/>
              <a:t>Invalid syntax</a:t>
            </a:r>
          </a:p>
        </p:txBody>
      </p:sp>
    </p:spTree>
    <p:extLst>
      <p:ext uri="{BB962C8B-B14F-4D97-AF65-F5344CB8AC3E}">
        <p14:creationId xmlns:p14="http://schemas.microsoft.com/office/powerpoint/2010/main" xmlns="" val="5775038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Exceptions</a:t>
            </a:r>
            <a:endParaRPr lang="en-US" dirty="0"/>
          </a:p>
        </p:txBody>
      </p:sp>
      <p:sp>
        <p:nvSpPr>
          <p:cNvPr id="4" name="TextBox 3"/>
          <p:cNvSpPr txBox="1"/>
          <p:nvPr/>
        </p:nvSpPr>
        <p:spPr>
          <a:xfrm>
            <a:off x="228600" y="1066800"/>
            <a:ext cx="8763000" cy="2554545"/>
          </a:xfrm>
          <a:prstGeom prst="rect">
            <a:avLst/>
          </a:prstGeom>
          <a:noFill/>
        </p:spPr>
        <p:txBody>
          <a:bodyPr wrap="square" rtlCol="0">
            <a:spAutoFit/>
          </a:bodyPr>
          <a:lstStyle/>
          <a:p>
            <a:pPr algn="just"/>
            <a:r>
              <a:rPr lang="en-US" sz="3200" dirty="0"/>
              <a:t>Exceptions: Exceptions are raised when the program is syntactically correct but the code resulted in an error. This error does not stop the execution of the program, however, it changes the normal flow of the program</a:t>
            </a:r>
            <a:r>
              <a:rPr lang="en-US" sz="3200" dirty="0" smtClean="0"/>
              <a:t>.</a:t>
            </a:r>
            <a:endParaRPr lang="en-US" sz="3200" dirty="0"/>
          </a:p>
        </p:txBody>
      </p:sp>
    </p:spTree>
    <p:extLst>
      <p:ext uri="{BB962C8B-B14F-4D97-AF65-F5344CB8AC3E}">
        <p14:creationId xmlns:p14="http://schemas.microsoft.com/office/powerpoint/2010/main" xmlns="" val="23116233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Exceptions</a:t>
            </a:r>
            <a:endParaRPr lang="en-US" dirty="0"/>
          </a:p>
        </p:txBody>
      </p:sp>
      <p:sp>
        <p:nvSpPr>
          <p:cNvPr id="4" name="TextBox 3"/>
          <p:cNvSpPr txBox="1"/>
          <p:nvPr/>
        </p:nvSpPr>
        <p:spPr>
          <a:xfrm>
            <a:off x="228600" y="1066800"/>
            <a:ext cx="8763000" cy="5509200"/>
          </a:xfrm>
          <a:prstGeom prst="rect">
            <a:avLst/>
          </a:prstGeom>
          <a:noFill/>
        </p:spPr>
        <p:txBody>
          <a:bodyPr wrap="square" rtlCol="0">
            <a:spAutoFit/>
          </a:bodyPr>
          <a:lstStyle/>
          <a:p>
            <a:pPr algn="just"/>
            <a:r>
              <a:rPr lang="en-US" sz="3200" dirty="0"/>
              <a:t>Example:</a:t>
            </a:r>
          </a:p>
          <a:p>
            <a:pPr algn="just"/>
            <a:r>
              <a:rPr lang="en-US" sz="3200" dirty="0"/>
              <a:t>a=10</a:t>
            </a:r>
          </a:p>
          <a:p>
            <a:pPr algn="just"/>
            <a:r>
              <a:rPr lang="en-US" sz="3200" dirty="0"/>
              <a:t>b=0</a:t>
            </a:r>
          </a:p>
          <a:p>
            <a:pPr algn="just"/>
            <a:r>
              <a:rPr lang="en-US" sz="3200" dirty="0" smtClean="0"/>
              <a:t>print(a/b</a:t>
            </a:r>
            <a:r>
              <a:rPr lang="en-US" sz="3200" dirty="0"/>
              <a:t>)</a:t>
            </a:r>
          </a:p>
          <a:p>
            <a:pPr algn="just"/>
            <a:r>
              <a:rPr lang="en-US" sz="3200" dirty="0" smtClean="0"/>
              <a:t>print</a:t>
            </a:r>
            <a:r>
              <a:rPr lang="en-US" sz="3200" dirty="0"/>
              <a:t>("hello")</a:t>
            </a:r>
          </a:p>
          <a:p>
            <a:pPr algn="just"/>
            <a:r>
              <a:rPr lang="en-US" sz="3200" dirty="0" smtClean="0"/>
              <a:t>Output</a:t>
            </a:r>
            <a:r>
              <a:rPr lang="en-US" sz="3200" dirty="0"/>
              <a:t>:</a:t>
            </a:r>
          </a:p>
          <a:p>
            <a:pPr algn="just"/>
            <a:r>
              <a:rPr lang="en-US" sz="3200" dirty="0" err="1"/>
              <a:t>Traceback</a:t>
            </a:r>
            <a:r>
              <a:rPr lang="en-US" sz="3200" dirty="0"/>
              <a:t> (most recent call last):</a:t>
            </a:r>
          </a:p>
          <a:p>
            <a:pPr algn="just"/>
            <a:r>
              <a:rPr lang="en-US" sz="3200" dirty="0"/>
              <a:t>  File "C:/Users/admin/Desktop/</a:t>
            </a:r>
            <a:r>
              <a:rPr lang="en-US" sz="3200" dirty="0" err="1"/>
              <a:t>temp.py</a:t>
            </a:r>
            <a:r>
              <a:rPr lang="en-US" sz="3200" dirty="0"/>
              <a:t>", line 4, in &lt;module&gt;</a:t>
            </a:r>
          </a:p>
          <a:p>
            <a:pPr algn="just"/>
            <a:r>
              <a:rPr lang="en-US" sz="3200" dirty="0"/>
              <a:t>    print(a/b)</a:t>
            </a:r>
          </a:p>
          <a:p>
            <a:pPr algn="just"/>
            <a:r>
              <a:rPr lang="en-US" sz="3200" dirty="0" err="1"/>
              <a:t>ZeroDivisionError</a:t>
            </a:r>
            <a:r>
              <a:rPr lang="en-US" sz="3200" dirty="0"/>
              <a:t>: division by </a:t>
            </a:r>
            <a:r>
              <a:rPr lang="en-US" sz="3200" dirty="0" smtClean="0"/>
              <a:t>zero</a:t>
            </a:r>
            <a:endParaRPr lang="en-US" sz="3200" dirty="0"/>
          </a:p>
        </p:txBody>
      </p:sp>
    </p:spTree>
    <p:extLst>
      <p:ext uri="{BB962C8B-B14F-4D97-AF65-F5344CB8AC3E}">
        <p14:creationId xmlns:p14="http://schemas.microsoft.com/office/powerpoint/2010/main" xmlns="" val="8670264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Exceptions</a:t>
            </a:r>
            <a:endParaRPr lang="en-US" dirty="0"/>
          </a:p>
        </p:txBody>
      </p:sp>
      <p:sp>
        <p:nvSpPr>
          <p:cNvPr id="4" name="TextBox 3"/>
          <p:cNvSpPr txBox="1"/>
          <p:nvPr/>
        </p:nvSpPr>
        <p:spPr>
          <a:xfrm>
            <a:off x="228600" y="1066800"/>
            <a:ext cx="8763000" cy="2062103"/>
          </a:xfrm>
          <a:prstGeom prst="rect">
            <a:avLst/>
          </a:prstGeom>
          <a:noFill/>
        </p:spPr>
        <p:txBody>
          <a:bodyPr wrap="square" rtlCol="0">
            <a:spAutoFit/>
          </a:bodyPr>
          <a:lstStyle/>
          <a:p>
            <a:pPr algn="just"/>
            <a:r>
              <a:rPr lang="en-US" sz="3200" dirty="0" smtClean="0"/>
              <a:t>In </a:t>
            </a:r>
            <a:r>
              <a:rPr lang="en-US" sz="3200" dirty="0"/>
              <a:t>the above example raised the </a:t>
            </a:r>
            <a:r>
              <a:rPr lang="en-US" sz="3200" dirty="0" err="1"/>
              <a:t>ZeroDivisionError</a:t>
            </a:r>
            <a:r>
              <a:rPr lang="en-US" sz="3200" dirty="0"/>
              <a:t> as we are trying to divide a number by 0.</a:t>
            </a:r>
          </a:p>
          <a:p>
            <a:pPr algn="just"/>
            <a:r>
              <a:rPr lang="en-US" sz="3200" dirty="0"/>
              <a:t>Note: Exception is the base class for all the exceptions in Python. </a:t>
            </a:r>
          </a:p>
        </p:txBody>
      </p:sp>
    </p:spTree>
    <p:extLst>
      <p:ext uri="{BB962C8B-B14F-4D97-AF65-F5344CB8AC3E}">
        <p14:creationId xmlns:p14="http://schemas.microsoft.com/office/powerpoint/2010/main" xmlns="" val="11338282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Try and Except in Exception Handling</a:t>
            </a:r>
            <a:endParaRPr lang="en-US" dirty="0"/>
          </a:p>
        </p:txBody>
      </p:sp>
      <p:sp>
        <p:nvSpPr>
          <p:cNvPr id="4" name="TextBox 3"/>
          <p:cNvSpPr txBox="1"/>
          <p:nvPr/>
        </p:nvSpPr>
        <p:spPr>
          <a:xfrm>
            <a:off x="228600" y="1066800"/>
            <a:ext cx="8763000" cy="5663089"/>
          </a:xfrm>
          <a:prstGeom prst="rect">
            <a:avLst/>
          </a:prstGeom>
          <a:noFill/>
        </p:spPr>
        <p:txBody>
          <a:bodyPr wrap="square" rtlCol="0">
            <a:spAutoFit/>
          </a:bodyPr>
          <a:lstStyle/>
          <a:p>
            <a:pPr algn="just"/>
            <a:r>
              <a:rPr lang="en-US" sz="3200" dirty="0" smtClean="0"/>
              <a:t>Let us try to handle division by zero error in python using Try and Except keywords :</a:t>
            </a:r>
          </a:p>
          <a:p>
            <a:pPr algn="just"/>
            <a:endParaRPr lang="en-US" sz="3200" dirty="0"/>
          </a:p>
          <a:p>
            <a:r>
              <a:rPr lang="en-US" dirty="0"/>
              <a:t># Python program to handle simple runtime error</a:t>
            </a:r>
            <a:endParaRPr lang="en-IN" dirty="0"/>
          </a:p>
          <a:p>
            <a:r>
              <a:rPr lang="en-US" dirty="0"/>
              <a:t>  </a:t>
            </a:r>
            <a:endParaRPr lang="en-IN" dirty="0"/>
          </a:p>
          <a:p>
            <a:r>
              <a:rPr lang="en-US" dirty="0"/>
              <a:t>a=10</a:t>
            </a:r>
            <a:endParaRPr lang="en-IN" dirty="0"/>
          </a:p>
          <a:p>
            <a:r>
              <a:rPr lang="en-US" dirty="0"/>
              <a:t>b=0</a:t>
            </a:r>
            <a:endParaRPr lang="en-IN" dirty="0"/>
          </a:p>
          <a:p>
            <a:r>
              <a:rPr lang="en-US" dirty="0"/>
              <a:t> </a:t>
            </a:r>
            <a:endParaRPr lang="en-IN" dirty="0"/>
          </a:p>
          <a:p>
            <a:r>
              <a:rPr lang="en-US" dirty="0"/>
              <a:t>try:</a:t>
            </a:r>
            <a:endParaRPr lang="en-IN" dirty="0"/>
          </a:p>
          <a:p>
            <a:r>
              <a:rPr lang="en-US" dirty="0"/>
              <a:t>    print(a/b)</a:t>
            </a:r>
            <a:endParaRPr lang="en-IN" dirty="0"/>
          </a:p>
          <a:p>
            <a:r>
              <a:rPr lang="en-US" dirty="0"/>
              <a:t>except Exception as e:</a:t>
            </a:r>
            <a:endParaRPr lang="en-IN" dirty="0"/>
          </a:p>
          <a:p>
            <a:r>
              <a:rPr lang="en-US" dirty="0"/>
              <a:t>    print(e</a:t>
            </a:r>
            <a:r>
              <a:rPr lang="en-US" dirty="0" smtClean="0"/>
              <a:t>)</a:t>
            </a:r>
            <a:endParaRPr lang="en-IN" dirty="0"/>
          </a:p>
          <a:p>
            <a:r>
              <a:rPr lang="en-US" dirty="0"/>
              <a:t>print("hello")</a:t>
            </a:r>
            <a:endParaRPr lang="en-IN" dirty="0"/>
          </a:p>
          <a:p>
            <a:pPr algn="just"/>
            <a:endParaRPr lang="en-US" sz="3200" dirty="0" smtClean="0"/>
          </a:p>
          <a:p>
            <a:r>
              <a:rPr lang="en-US" b="1" dirty="0"/>
              <a:t>Output:</a:t>
            </a:r>
            <a:endParaRPr lang="en-IN" dirty="0"/>
          </a:p>
          <a:p>
            <a:r>
              <a:rPr lang="en-US" dirty="0"/>
              <a:t>division by zero</a:t>
            </a:r>
            <a:endParaRPr lang="en-IN" dirty="0"/>
          </a:p>
          <a:p>
            <a:r>
              <a:rPr lang="en-US" dirty="0" smtClean="0"/>
              <a:t>hello</a:t>
            </a:r>
            <a:endParaRPr lang="en-IN" dirty="0"/>
          </a:p>
        </p:txBody>
      </p:sp>
    </p:spTree>
    <p:extLst>
      <p:ext uri="{BB962C8B-B14F-4D97-AF65-F5344CB8AC3E}">
        <p14:creationId xmlns:p14="http://schemas.microsoft.com/office/powerpoint/2010/main" xmlns="" val="4074337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Try and Except in Exception Handling</a:t>
            </a:r>
            <a:endParaRPr lang="en-US" dirty="0"/>
          </a:p>
        </p:txBody>
      </p:sp>
      <p:sp>
        <p:nvSpPr>
          <p:cNvPr id="4" name="TextBox 3"/>
          <p:cNvSpPr txBox="1"/>
          <p:nvPr/>
        </p:nvSpPr>
        <p:spPr>
          <a:xfrm>
            <a:off x="228600" y="1066800"/>
            <a:ext cx="8763000" cy="4247317"/>
          </a:xfrm>
          <a:prstGeom prst="rect">
            <a:avLst/>
          </a:prstGeom>
          <a:noFill/>
        </p:spPr>
        <p:txBody>
          <a:bodyPr wrap="square" rtlCol="0">
            <a:spAutoFit/>
          </a:bodyPr>
          <a:lstStyle/>
          <a:p>
            <a:r>
              <a:rPr lang="en-US" dirty="0"/>
              <a:t>Example :</a:t>
            </a:r>
            <a:endParaRPr lang="en-IN" dirty="0"/>
          </a:p>
          <a:p>
            <a:r>
              <a:rPr lang="en-US" dirty="0"/>
              <a:t>a=10</a:t>
            </a:r>
            <a:endParaRPr lang="en-IN" dirty="0"/>
          </a:p>
          <a:p>
            <a:r>
              <a:rPr lang="en-US" dirty="0"/>
              <a:t>b=0</a:t>
            </a:r>
            <a:endParaRPr lang="en-IN" dirty="0"/>
          </a:p>
          <a:p>
            <a:r>
              <a:rPr lang="en-US" dirty="0"/>
              <a:t> </a:t>
            </a:r>
            <a:endParaRPr lang="en-IN" dirty="0"/>
          </a:p>
          <a:p>
            <a:r>
              <a:rPr lang="en-US" dirty="0"/>
              <a:t>try:</a:t>
            </a:r>
            <a:endParaRPr lang="en-IN" dirty="0"/>
          </a:p>
          <a:p>
            <a:r>
              <a:rPr lang="en-US" dirty="0"/>
              <a:t>    print(a/b)</a:t>
            </a:r>
            <a:endParaRPr lang="en-IN" dirty="0"/>
          </a:p>
          <a:p>
            <a:r>
              <a:rPr lang="en-US" dirty="0"/>
              <a:t>except Exception as e:</a:t>
            </a:r>
            <a:endParaRPr lang="en-IN" dirty="0"/>
          </a:p>
          <a:p>
            <a:r>
              <a:rPr lang="en-US" dirty="0"/>
              <a:t>    print( "</a:t>
            </a:r>
            <a:r>
              <a:rPr lang="en-US" dirty="0" err="1"/>
              <a:t>ohh</a:t>
            </a:r>
            <a:r>
              <a:rPr lang="en-US" dirty="0"/>
              <a:t> its </a:t>
            </a:r>
            <a:r>
              <a:rPr lang="en-US" dirty="0" err="1"/>
              <a:t>error",e</a:t>
            </a:r>
            <a:r>
              <a:rPr lang="en-US" dirty="0"/>
              <a:t>)</a:t>
            </a:r>
            <a:endParaRPr lang="en-IN" dirty="0"/>
          </a:p>
          <a:p>
            <a:r>
              <a:rPr lang="en-US" dirty="0"/>
              <a:t>    </a:t>
            </a:r>
            <a:endParaRPr lang="en-IN" dirty="0"/>
          </a:p>
          <a:p>
            <a:r>
              <a:rPr lang="en-US" dirty="0"/>
              <a:t>finally:    </a:t>
            </a:r>
            <a:endParaRPr lang="en-IN" dirty="0"/>
          </a:p>
          <a:p>
            <a:r>
              <a:rPr lang="en-US" dirty="0"/>
              <a:t>    print("hello")    </a:t>
            </a:r>
            <a:endParaRPr lang="en-IN" dirty="0"/>
          </a:p>
          <a:p>
            <a:r>
              <a:rPr lang="en-US" dirty="0"/>
              <a:t> </a:t>
            </a:r>
            <a:endParaRPr lang="en-IN" dirty="0"/>
          </a:p>
          <a:p>
            <a:r>
              <a:rPr lang="en-US" dirty="0"/>
              <a:t>Output:</a:t>
            </a:r>
            <a:endParaRPr lang="en-IN" dirty="0"/>
          </a:p>
          <a:p>
            <a:r>
              <a:rPr lang="en-US" dirty="0" err="1"/>
              <a:t>ohh</a:t>
            </a:r>
            <a:r>
              <a:rPr lang="en-US" dirty="0"/>
              <a:t> its error division by zero</a:t>
            </a:r>
            <a:endParaRPr lang="en-IN" dirty="0"/>
          </a:p>
          <a:p>
            <a:r>
              <a:rPr lang="en-US" dirty="0"/>
              <a:t>hello</a:t>
            </a:r>
            <a:endParaRPr lang="en-IN" dirty="0"/>
          </a:p>
        </p:txBody>
      </p:sp>
    </p:spTree>
    <p:extLst>
      <p:ext uri="{BB962C8B-B14F-4D97-AF65-F5344CB8AC3E}">
        <p14:creationId xmlns:p14="http://schemas.microsoft.com/office/powerpoint/2010/main" xmlns="" val="40490585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Try and Except in Exception Handling</a:t>
            </a:r>
            <a:endParaRPr lang="en-US" dirty="0"/>
          </a:p>
        </p:txBody>
      </p:sp>
      <p:sp>
        <p:nvSpPr>
          <p:cNvPr id="4" name="TextBox 3"/>
          <p:cNvSpPr txBox="1"/>
          <p:nvPr/>
        </p:nvSpPr>
        <p:spPr>
          <a:xfrm>
            <a:off x="228600" y="1066800"/>
            <a:ext cx="8763000" cy="5909310"/>
          </a:xfrm>
          <a:prstGeom prst="rect">
            <a:avLst/>
          </a:prstGeom>
          <a:noFill/>
        </p:spPr>
        <p:txBody>
          <a:bodyPr wrap="square" rtlCol="0">
            <a:spAutoFit/>
          </a:bodyPr>
          <a:lstStyle/>
          <a:p>
            <a:r>
              <a:rPr lang="en-US" b="1" dirty="0"/>
              <a:t>Else Clause</a:t>
            </a:r>
          </a:p>
          <a:p>
            <a:r>
              <a:rPr lang="en-US" dirty="0"/>
              <a:t>In python, you can also use else clause on the try-except block which must be present after all the except clauses. The code enters the else block only if the try clause does not raise an exception.</a:t>
            </a:r>
          </a:p>
          <a:p>
            <a:r>
              <a:rPr lang="en-US" dirty="0" smtClean="0"/>
              <a:t># </a:t>
            </a:r>
            <a:r>
              <a:rPr lang="en-US" dirty="0"/>
              <a:t>Program to depict else clause with try-except</a:t>
            </a:r>
          </a:p>
          <a:p>
            <a:r>
              <a:rPr lang="en-US" dirty="0" smtClean="0"/>
              <a:t># </a:t>
            </a:r>
            <a:r>
              <a:rPr lang="en-US" dirty="0"/>
              <a:t>Function which returns a/b</a:t>
            </a:r>
          </a:p>
          <a:p>
            <a:r>
              <a:rPr lang="en-US" dirty="0" err="1" smtClean="0"/>
              <a:t>def</a:t>
            </a:r>
            <a:r>
              <a:rPr lang="en-US" dirty="0" smtClean="0"/>
              <a:t> </a:t>
            </a:r>
            <a:r>
              <a:rPr lang="en-US" dirty="0"/>
              <a:t>fun(a , b):</a:t>
            </a:r>
          </a:p>
          <a:p>
            <a:r>
              <a:rPr lang="en-US" dirty="0"/>
              <a:t>    try:</a:t>
            </a:r>
          </a:p>
          <a:p>
            <a:r>
              <a:rPr lang="en-US" dirty="0"/>
              <a:t>        c = ((</a:t>
            </a:r>
            <a:r>
              <a:rPr lang="en-US" dirty="0" err="1"/>
              <a:t>a+b</a:t>
            </a:r>
            <a:r>
              <a:rPr lang="en-US" dirty="0"/>
              <a:t>)/(a-b))</a:t>
            </a:r>
          </a:p>
          <a:p>
            <a:r>
              <a:rPr lang="en-US" dirty="0"/>
              <a:t>    except </a:t>
            </a:r>
            <a:r>
              <a:rPr lang="en-US" dirty="0" err="1"/>
              <a:t>ZeroDivisionError</a:t>
            </a:r>
            <a:r>
              <a:rPr lang="en-US" dirty="0"/>
              <a:t>:</a:t>
            </a:r>
          </a:p>
          <a:p>
            <a:r>
              <a:rPr lang="en-US" dirty="0"/>
              <a:t>        print ("a/b result in 0")</a:t>
            </a:r>
          </a:p>
          <a:p>
            <a:r>
              <a:rPr lang="en-US" dirty="0"/>
              <a:t>    else:</a:t>
            </a:r>
          </a:p>
          <a:p>
            <a:r>
              <a:rPr lang="en-US" dirty="0"/>
              <a:t>        print (c)</a:t>
            </a:r>
          </a:p>
          <a:p>
            <a:endParaRPr lang="en-US" dirty="0" smtClean="0"/>
          </a:p>
          <a:p>
            <a:r>
              <a:rPr lang="en-US" dirty="0" smtClean="0"/>
              <a:t># </a:t>
            </a:r>
            <a:r>
              <a:rPr lang="en-US" dirty="0"/>
              <a:t>Driver program to test above function</a:t>
            </a:r>
          </a:p>
          <a:p>
            <a:r>
              <a:rPr lang="en-US" dirty="0"/>
              <a:t>fun(2.0, 3.0)</a:t>
            </a:r>
          </a:p>
          <a:p>
            <a:r>
              <a:rPr lang="en-US" dirty="0"/>
              <a:t>fun(3.0, 3.0)</a:t>
            </a:r>
          </a:p>
          <a:p>
            <a:endParaRPr lang="en-US" dirty="0"/>
          </a:p>
          <a:p>
            <a:r>
              <a:rPr lang="en-US" dirty="0"/>
              <a:t>The output for above program will be :</a:t>
            </a:r>
          </a:p>
          <a:p>
            <a:r>
              <a:rPr lang="en-US" dirty="0"/>
              <a:t>-5.0</a:t>
            </a:r>
          </a:p>
          <a:p>
            <a:r>
              <a:rPr lang="en-US" dirty="0"/>
              <a:t>a/b result in 0</a:t>
            </a:r>
          </a:p>
        </p:txBody>
      </p:sp>
    </p:spTree>
    <p:extLst>
      <p:ext uri="{BB962C8B-B14F-4D97-AF65-F5344CB8AC3E}">
        <p14:creationId xmlns:p14="http://schemas.microsoft.com/office/powerpoint/2010/main" xmlns="" val="37983543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Try and Except in Exception Handling</a:t>
            </a:r>
            <a:endParaRPr lang="en-US" dirty="0"/>
          </a:p>
        </p:txBody>
      </p:sp>
      <p:sp>
        <p:nvSpPr>
          <p:cNvPr id="4" name="TextBox 3"/>
          <p:cNvSpPr txBox="1"/>
          <p:nvPr/>
        </p:nvSpPr>
        <p:spPr>
          <a:xfrm>
            <a:off x="228600" y="1066800"/>
            <a:ext cx="8763000" cy="3970318"/>
          </a:xfrm>
          <a:prstGeom prst="rect">
            <a:avLst/>
          </a:prstGeom>
          <a:noFill/>
        </p:spPr>
        <p:txBody>
          <a:bodyPr wrap="square" rtlCol="0">
            <a:spAutoFit/>
          </a:bodyPr>
          <a:lstStyle/>
          <a:p>
            <a:r>
              <a:rPr lang="en-US" b="1" dirty="0"/>
              <a:t>Finally Keyword in Python</a:t>
            </a:r>
            <a:endParaRPr lang="en-IN" b="1" dirty="0"/>
          </a:p>
          <a:p>
            <a:r>
              <a:rPr lang="en-US" dirty="0"/>
              <a:t>Python provides a keyword </a:t>
            </a:r>
            <a:r>
              <a:rPr lang="en-US" u="sng" dirty="0">
                <a:hlinkClick r:id="rId2"/>
              </a:rPr>
              <a:t>finally</a:t>
            </a:r>
            <a:r>
              <a:rPr lang="en-US" dirty="0"/>
              <a:t>, which is always executed after try and except blocks. The finally block always executes after normal termination of try block or after try block terminates due to some exception.</a:t>
            </a:r>
            <a:endParaRPr lang="en-IN" dirty="0"/>
          </a:p>
          <a:p>
            <a:r>
              <a:rPr lang="en-US" b="1" dirty="0"/>
              <a:t>Syntax:</a:t>
            </a:r>
            <a:endParaRPr lang="en-IN" dirty="0"/>
          </a:p>
          <a:p>
            <a:r>
              <a:rPr lang="en-US" dirty="0"/>
              <a:t>try:</a:t>
            </a:r>
            <a:endParaRPr lang="en-IN" dirty="0"/>
          </a:p>
          <a:p>
            <a:r>
              <a:rPr lang="en-US" dirty="0"/>
              <a:t>       # Some Code.... </a:t>
            </a:r>
            <a:endParaRPr lang="en-IN" dirty="0"/>
          </a:p>
          <a:p>
            <a:r>
              <a:rPr lang="en-US" dirty="0"/>
              <a:t>except:</a:t>
            </a:r>
            <a:endParaRPr lang="en-IN" dirty="0"/>
          </a:p>
          <a:p>
            <a:r>
              <a:rPr lang="en-US" dirty="0"/>
              <a:t>       # optional block</a:t>
            </a:r>
            <a:endParaRPr lang="en-IN" dirty="0"/>
          </a:p>
          <a:p>
            <a:r>
              <a:rPr lang="en-US" dirty="0"/>
              <a:t>       # Handling of exception (if required</a:t>
            </a:r>
            <a:r>
              <a:rPr lang="en-US" dirty="0" smtClean="0"/>
              <a:t>)</a:t>
            </a:r>
            <a:endParaRPr lang="en-IN" dirty="0"/>
          </a:p>
          <a:p>
            <a:r>
              <a:rPr lang="en-US" dirty="0"/>
              <a:t>else:</a:t>
            </a:r>
            <a:endParaRPr lang="en-IN" dirty="0"/>
          </a:p>
          <a:p>
            <a:r>
              <a:rPr lang="en-US" dirty="0"/>
              <a:t>       # execute if no </a:t>
            </a:r>
            <a:r>
              <a:rPr lang="en-US" dirty="0" smtClean="0"/>
              <a:t>exception</a:t>
            </a:r>
            <a:endParaRPr lang="en-IN" dirty="0"/>
          </a:p>
          <a:p>
            <a:r>
              <a:rPr lang="en-US" dirty="0"/>
              <a:t>finally:</a:t>
            </a:r>
            <a:endParaRPr lang="en-IN" dirty="0"/>
          </a:p>
          <a:p>
            <a:r>
              <a:rPr lang="en-US" dirty="0"/>
              <a:t>      # Some code .....(always executed</a:t>
            </a:r>
            <a:r>
              <a:rPr lang="en-US" dirty="0" smtClean="0"/>
              <a:t>)</a:t>
            </a:r>
            <a:endParaRPr lang="en-IN" dirty="0"/>
          </a:p>
        </p:txBody>
      </p:sp>
    </p:spTree>
    <p:extLst>
      <p:ext uri="{BB962C8B-B14F-4D97-AF65-F5344CB8AC3E}">
        <p14:creationId xmlns:p14="http://schemas.microsoft.com/office/powerpoint/2010/main" xmlns="" val="31479573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Try and Except in Exception Handling</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r>
              <a:rPr lang="en-US" b="1" dirty="0"/>
              <a:t>Example:</a:t>
            </a:r>
            <a:endParaRPr lang="en-IN" dirty="0"/>
          </a:p>
          <a:p>
            <a:r>
              <a:rPr lang="en-US" dirty="0"/>
              <a:t>a=10</a:t>
            </a:r>
            <a:endParaRPr lang="en-IN" dirty="0"/>
          </a:p>
          <a:p>
            <a:r>
              <a:rPr lang="en-US" dirty="0"/>
              <a:t>b=0</a:t>
            </a:r>
            <a:endParaRPr lang="en-IN" dirty="0"/>
          </a:p>
          <a:p>
            <a:r>
              <a:rPr lang="en-US" dirty="0"/>
              <a:t> </a:t>
            </a:r>
            <a:endParaRPr lang="en-IN" dirty="0"/>
          </a:p>
          <a:p>
            <a:r>
              <a:rPr lang="en-US" dirty="0"/>
              <a:t>try:</a:t>
            </a:r>
            <a:endParaRPr lang="en-IN" dirty="0"/>
          </a:p>
          <a:p>
            <a:r>
              <a:rPr lang="en-US" dirty="0"/>
              <a:t>    print(a/b)</a:t>
            </a:r>
            <a:endParaRPr lang="en-IN" dirty="0"/>
          </a:p>
          <a:p>
            <a:r>
              <a:rPr lang="en-US" dirty="0"/>
              <a:t>except Exception as e:</a:t>
            </a:r>
            <a:endParaRPr lang="en-IN" dirty="0"/>
          </a:p>
          <a:p>
            <a:r>
              <a:rPr lang="en-US" dirty="0"/>
              <a:t>    print( "</a:t>
            </a:r>
            <a:r>
              <a:rPr lang="en-US" dirty="0" err="1"/>
              <a:t>ohh</a:t>
            </a:r>
            <a:r>
              <a:rPr lang="en-US" dirty="0"/>
              <a:t> its </a:t>
            </a:r>
            <a:r>
              <a:rPr lang="en-US" dirty="0" err="1"/>
              <a:t>error",e</a:t>
            </a:r>
            <a:r>
              <a:rPr lang="en-US" dirty="0"/>
              <a:t>)</a:t>
            </a:r>
            <a:endParaRPr lang="en-IN" dirty="0"/>
          </a:p>
          <a:p>
            <a:r>
              <a:rPr lang="en-US" dirty="0"/>
              <a:t>    </a:t>
            </a:r>
            <a:endParaRPr lang="en-IN" dirty="0"/>
          </a:p>
          <a:p>
            <a:r>
              <a:rPr lang="en-US" dirty="0"/>
              <a:t>finally:    </a:t>
            </a:r>
            <a:endParaRPr lang="en-IN" dirty="0"/>
          </a:p>
          <a:p>
            <a:r>
              <a:rPr lang="en-US" dirty="0"/>
              <a:t>    print("this is always executed")    </a:t>
            </a:r>
            <a:endParaRPr lang="en-IN" dirty="0"/>
          </a:p>
          <a:p>
            <a:r>
              <a:rPr lang="en-US" dirty="0"/>
              <a:t> </a:t>
            </a:r>
            <a:endParaRPr lang="en-IN" dirty="0"/>
          </a:p>
          <a:p>
            <a:r>
              <a:rPr lang="en-US" dirty="0"/>
              <a:t> </a:t>
            </a:r>
            <a:endParaRPr lang="en-IN" dirty="0"/>
          </a:p>
          <a:p>
            <a:r>
              <a:rPr lang="en-US" b="1" dirty="0"/>
              <a:t>Output:</a:t>
            </a:r>
            <a:endParaRPr lang="en-IN" dirty="0"/>
          </a:p>
          <a:p>
            <a:r>
              <a:rPr lang="en-US" dirty="0" err="1"/>
              <a:t>ohh</a:t>
            </a:r>
            <a:r>
              <a:rPr lang="en-US" dirty="0"/>
              <a:t> its error division by zero</a:t>
            </a:r>
            <a:endParaRPr lang="en-IN" dirty="0"/>
          </a:p>
          <a:p>
            <a:r>
              <a:rPr lang="en-US" dirty="0"/>
              <a:t>this is always executed</a:t>
            </a:r>
            <a:endParaRPr lang="en-IN" dirty="0"/>
          </a:p>
        </p:txBody>
      </p:sp>
    </p:spTree>
    <p:extLst>
      <p:ext uri="{BB962C8B-B14F-4D97-AF65-F5344CB8AC3E}">
        <p14:creationId xmlns:p14="http://schemas.microsoft.com/office/powerpoint/2010/main" xmlns="" val="24853050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Try and Except in Exception Handling</a:t>
            </a:r>
            <a:endParaRPr lang="en-US" dirty="0"/>
          </a:p>
        </p:txBody>
      </p:sp>
      <p:sp>
        <p:nvSpPr>
          <p:cNvPr id="4" name="TextBox 3"/>
          <p:cNvSpPr txBox="1"/>
          <p:nvPr/>
        </p:nvSpPr>
        <p:spPr>
          <a:xfrm>
            <a:off x="228600" y="1066800"/>
            <a:ext cx="8763000" cy="5632311"/>
          </a:xfrm>
          <a:prstGeom prst="rect">
            <a:avLst/>
          </a:prstGeom>
          <a:noFill/>
        </p:spPr>
        <p:txBody>
          <a:bodyPr wrap="square" rtlCol="0">
            <a:spAutoFit/>
          </a:bodyPr>
          <a:lstStyle/>
          <a:p>
            <a:r>
              <a:rPr lang="en-US" b="1" dirty="0"/>
              <a:t>Multiple exception:</a:t>
            </a:r>
            <a:endParaRPr lang="en-IN" b="1" dirty="0"/>
          </a:p>
          <a:p>
            <a:r>
              <a:rPr lang="en-US" b="1" dirty="0" smtClean="0"/>
              <a:t>Example </a:t>
            </a:r>
            <a:r>
              <a:rPr lang="en-US" b="1" dirty="0"/>
              <a:t>:</a:t>
            </a:r>
            <a:endParaRPr lang="en-IN" b="1" dirty="0"/>
          </a:p>
          <a:p>
            <a:r>
              <a:rPr lang="en-US" dirty="0" smtClean="0"/>
              <a:t>a=10</a:t>
            </a:r>
            <a:endParaRPr lang="en-IN" dirty="0"/>
          </a:p>
          <a:p>
            <a:r>
              <a:rPr lang="en-US" dirty="0"/>
              <a:t>b=2</a:t>
            </a:r>
            <a:endParaRPr lang="en-IN" dirty="0"/>
          </a:p>
          <a:p>
            <a:r>
              <a:rPr lang="en-US" dirty="0" smtClean="0"/>
              <a:t>try</a:t>
            </a:r>
            <a:r>
              <a:rPr lang="en-US" dirty="0"/>
              <a:t>:</a:t>
            </a:r>
            <a:endParaRPr lang="en-IN" dirty="0"/>
          </a:p>
          <a:p>
            <a:r>
              <a:rPr lang="en-US" dirty="0"/>
              <a:t>    print(a/b)</a:t>
            </a:r>
            <a:endParaRPr lang="en-IN" dirty="0"/>
          </a:p>
          <a:p>
            <a:r>
              <a:rPr lang="en-US" dirty="0"/>
              <a:t>    k=</a:t>
            </a:r>
            <a:r>
              <a:rPr lang="en-US" dirty="0" err="1"/>
              <a:t>int</a:t>
            </a:r>
            <a:r>
              <a:rPr lang="en-US" dirty="0"/>
              <a:t>(input("enter the number"))</a:t>
            </a:r>
            <a:endParaRPr lang="en-IN" dirty="0"/>
          </a:p>
          <a:p>
            <a:r>
              <a:rPr lang="en-US" dirty="0"/>
              <a:t>    print(k)      </a:t>
            </a:r>
            <a:endParaRPr lang="en-IN" dirty="0"/>
          </a:p>
          <a:p>
            <a:r>
              <a:rPr lang="en-US" dirty="0"/>
              <a:t>except </a:t>
            </a:r>
            <a:r>
              <a:rPr lang="en-US" dirty="0" err="1"/>
              <a:t>ZeroDivisionError</a:t>
            </a:r>
            <a:r>
              <a:rPr lang="en-US" dirty="0"/>
              <a:t> as e:</a:t>
            </a:r>
            <a:endParaRPr lang="en-IN" dirty="0"/>
          </a:p>
          <a:p>
            <a:r>
              <a:rPr lang="en-US" dirty="0"/>
              <a:t>    print("zero div error")</a:t>
            </a:r>
            <a:endParaRPr lang="en-IN" dirty="0"/>
          </a:p>
          <a:p>
            <a:r>
              <a:rPr lang="en-US" dirty="0" smtClean="0"/>
              <a:t>except </a:t>
            </a:r>
            <a:r>
              <a:rPr lang="en-US" dirty="0" err="1"/>
              <a:t>ValueError</a:t>
            </a:r>
            <a:r>
              <a:rPr lang="en-US" dirty="0"/>
              <a:t> as e:</a:t>
            </a:r>
            <a:endParaRPr lang="en-IN" dirty="0"/>
          </a:p>
          <a:p>
            <a:r>
              <a:rPr lang="en-US" dirty="0"/>
              <a:t>    print("invalid input")</a:t>
            </a:r>
            <a:endParaRPr lang="en-IN" dirty="0"/>
          </a:p>
          <a:p>
            <a:r>
              <a:rPr lang="en-US" dirty="0" smtClean="0"/>
              <a:t>finally</a:t>
            </a:r>
            <a:r>
              <a:rPr lang="en-US" dirty="0"/>
              <a:t>:    </a:t>
            </a:r>
            <a:endParaRPr lang="en-IN" dirty="0"/>
          </a:p>
          <a:p>
            <a:r>
              <a:rPr lang="en-US" dirty="0"/>
              <a:t>    print("this is always executed")</a:t>
            </a:r>
            <a:endParaRPr lang="en-IN" dirty="0"/>
          </a:p>
          <a:p>
            <a:r>
              <a:rPr lang="en-US" dirty="0"/>
              <a:t> </a:t>
            </a:r>
            <a:endParaRPr lang="en-IN" dirty="0"/>
          </a:p>
          <a:p>
            <a:r>
              <a:rPr lang="en-US" dirty="0"/>
              <a:t>Output :</a:t>
            </a:r>
            <a:endParaRPr lang="en-IN" dirty="0"/>
          </a:p>
          <a:p>
            <a:r>
              <a:rPr lang="en-US" dirty="0" smtClean="0"/>
              <a:t>5.0</a:t>
            </a:r>
            <a:endParaRPr lang="en-IN" dirty="0"/>
          </a:p>
          <a:p>
            <a:r>
              <a:rPr lang="en-US" dirty="0"/>
              <a:t>enter the </a:t>
            </a:r>
            <a:r>
              <a:rPr lang="en-US" dirty="0" err="1"/>
              <a:t>number:p</a:t>
            </a:r>
            <a:endParaRPr lang="en-IN" dirty="0"/>
          </a:p>
          <a:p>
            <a:r>
              <a:rPr lang="en-US" dirty="0"/>
              <a:t>invalid input</a:t>
            </a:r>
            <a:endParaRPr lang="en-IN" dirty="0"/>
          </a:p>
          <a:p>
            <a:r>
              <a:rPr lang="en-US" dirty="0"/>
              <a:t>this is always executed</a:t>
            </a:r>
            <a:endParaRPr lang="en-IN" dirty="0"/>
          </a:p>
        </p:txBody>
      </p:sp>
    </p:spTree>
    <p:extLst>
      <p:ext uri="{BB962C8B-B14F-4D97-AF65-F5344CB8AC3E}">
        <p14:creationId xmlns:p14="http://schemas.microsoft.com/office/powerpoint/2010/main" xmlns="" val="1805559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Try and Except in Exception Handling</a:t>
            </a:r>
            <a:endParaRPr lang="en-US" dirty="0"/>
          </a:p>
        </p:txBody>
      </p:sp>
      <p:sp>
        <p:nvSpPr>
          <p:cNvPr id="4" name="TextBox 3"/>
          <p:cNvSpPr txBox="1"/>
          <p:nvPr/>
        </p:nvSpPr>
        <p:spPr>
          <a:xfrm>
            <a:off x="228600" y="1066800"/>
            <a:ext cx="8763000" cy="5909310"/>
          </a:xfrm>
          <a:prstGeom prst="rect">
            <a:avLst/>
          </a:prstGeom>
          <a:noFill/>
        </p:spPr>
        <p:txBody>
          <a:bodyPr wrap="square" rtlCol="0">
            <a:spAutoFit/>
          </a:bodyPr>
          <a:lstStyle/>
          <a:p>
            <a:r>
              <a:rPr lang="en-US" dirty="0"/>
              <a:t>try:</a:t>
            </a:r>
            <a:br>
              <a:rPr lang="en-US" dirty="0"/>
            </a:br>
            <a:r>
              <a:rPr lang="en-US" i="1" dirty="0"/>
              <a:t># code that may raise an exception</a:t>
            </a:r>
            <a:r>
              <a:rPr lang="en-US" dirty="0"/>
              <a:t/>
            </a:r>
            <a:br>
              <a:rPr lang="en-US" dirty="0"/>
            </a:br>
            <a:r>
              <a:rPr lang="en-US" dirty="0"/>
              <a:t>except Exception as e:</a:t>
            </a:r>
            <a:br>
              <a:rPr lang="en-US" dirty="0"/>
            </a:br>
            <a:r>
              <a:rPr lang="en-US" i="1" dirty="0"/>
              <a:t># code to handle the </a:t>
            </a:r>
            <a:r>
              <a:rPr lang="en-US" i="1" dirty="0" smtClean="0"/>
              <a:t>exception</a:t>
            </a:r>
          </a:p>
          <a:p>
            <a:endParaRPr lang="en-US" i="1" dirty="0"/>
          </a:p>
          <a:p>
            <a:endParaRPr lang="en-US" i="1" dirty="0" smtClean="0"/>
          </a:p>
          <a:p>
            <a:r>
              <a:rPr lang="en-US" dirty="0"/>
              <a:t>try:</a:t>
            </a:r>
            <a:br>
              <a:rPr lang="en-US" dirty="0"/>
            </a:br>
            <a:r>
              <a:rPr lang="en-US" i="1" dirty="0"/>
              <a:t># code that may raise a </a:t>
            </a:r>
            <a:r>
              <a:rPr lang="en-US" i="1" dirty="0" err="1"/>
              <a:t>ValueError</a:t>
            </a:r>
            <a:r>
              <a:rPr lang="en-US" i="1" dirty="0"/>
              <a:t> exception</a:t>
            </a:r>
            <a:r>
              <a:rPr lang="en-US" dirty="0"/>
              <a:t/>
            </a:r>
            <a:br>
              <a:rPr lang="en-US" dirty="0"/>
            </a:br>
            <a:r>
              <a:rPr lang="en-US" dirty="0"/>
              <a:t>except </a:t>
            </a:r>
            <a:r>
              <a:rPr lang="en-US" dirty="0" err="1"/>
              <a:t>ValueError</a:t>
            </a:r>
            <a:r>
              <a:rPr lang="en-US" dirty="0"/>
              <a:t> as e:</a:t>
            </a:r>
            <a:br>
              <a:rPr lang="en-US" dirty="0"/>
            </a:br>
            <a:r>
              <a:rPr lang="en-US" i="1" dirty="0"/>
              <a:t># code to handle the </a:t>
            </a:r>
            <a:r>
              <a:rPr lang="en-US" i="1" dirty="0" err="1"/>
              <a:t>ValueError</a:t>
            </a:r>
            <a:r>
              <a:rPr lang="en-US" i="1" dirty="0"/>
              <a:t> </a:t>
            </a:r>
            <a:r>
              <a:rPr lang="en-US" i="1" dirty="0" smtClean="0"/>
              <a:t>exception</a:t>
            </a:r>
          </a:p>
          <a:p>
            <a:endParaRPr lang="en-US" i="1" dirty="0"/>
          </a:p>
          <a:p>
            <a:endParaRPr lang="en-US" i="1" dirty="0" smtClean="0"/>
          </a:p>
          <a:p>
            <a:r>
              <a:rPr lang="en-US" dirty="0"/>
              <a:t>try:</a:t>
            </a:r>
            <a:br>
              <a:rPr lang="en-US" dirty="0"/>
            </a:br>
            <a:r>
              <a:rPr lang="en-US" i="1" dirty="0"/>
              <a:t># code that may raise a </a:t>
            </a:r>
            <a:r>
              <a:rPr lang="en-US" i="1" dirty="0" err="1"/>
              <a:t>ValueError</a:t>
            </a:r>
            <a:r>
              <a:rPr lang="en-US" i="1" dirty="0"/>
              <a:t> or </a:t>
            </a:r>
            <a:r>
              <a:rPr lang="en-US" i="1" dirty="0" err="1"/>
              <a:t>TypeError</a:t>
            </a:r>
            <a:r>
              <a:rPr lang="en-US" i="1" dirty="0"/>
              <a:t> exception</a:t>
            </a:r>
            <a:r>
              <a:rPr lang="en-US" dirty="0"/>
              <a:t/>
            </a:r>
            <a:br>
              <a:rPr lang="en-US" dirty="0"/>
            </a:br>
            <a:r>
              <a:rPr lang="en-US" dirty="0"/>
              <a:t>except (</a:t>
            </a:r>
            <a:r>
              <a:rPr lang="en-US" dirty="0" err="1"/>
              <a:t>ValueError</a:t>
            </a:r>
            <a:r>
              <a:rPr lang="en-US" dirty="0"/>
              <a:t>, </a:t>
            </a:r>
            <a:r>
              <a:rPr lang="en-US" dirty="0" err="1"/>
              <a:t>TypeError</a:t>
            </a:r>
            <a:r>
              <a:rPr lang="en-US" dirty="0"/>
              <a:t>) as e:</a:t>
            </a:r>
            <a:br>
              <a:rPr lang="en-US" dirty="0"/>
            </a:br>
            <a:r>
              <a:rPr lang="en-US" i="1" dirty="0"/>
              <a:t># code to handle the </a:t>
            </a:r>
            <a:r>
              <a:rPr lang="en-US" i="1" dirty="0" err="1"/>
              <a:t>ValueError</a:t>
            </a:r>
            <a:r>
              <a:rPr lang="en-US" i="1" dirty="0"/>
              <a:t> or </a:t>
            </a:r>
            <a:r>
              <a:rPr lang="en-US" i="1" dirty="0" err="1"/>
              <a:t>TypeError</a:t>
            </a:r>
            <a:r>
              <a:rPr lang="en-US" i="1" dirty="0"/>
              <a:t> </a:t>
            </a:r>
            <a:r>
              <a:rPr lang="en-US" i="1" dirty="0" smtClean="0"/>
              <a:t>exception</a:t>
            </a:r>
          </a:p>
          <a:p>
            <a:endParaRPr lang="en-US" i="1" dirty="0"/>
          </a:p>
          <a:p>
            <a:r>
              <a:rPr lang="en-US" dirty="0"/>
              <a:t>try:</a:t>
            </a:r>
            <a:br>
              <a:rPr lang="en-US" dirty="0"/>
            </a:br>
            <a:r>
              <a:rPr lang="en-US" i="1" dirty="0"/>
              <a:t># code that may raise any exception</a:t>
            </a:r>
            <a:r>
              <a:rPr lang="en-US" dirty="0"/>
              <a:t/>
            </a:r>
            <a:br>
              <a:rPr lang="en-US" dirty="0"/>
            </a:br>
            <a:r>
              <a:rPr lang="en-US" dirty="0"/>
              <a:t>except Exception as e:</a:t>
            </a:r>
            <a:br>
              <a:rPr lang="en-US" dirty="0"/>
            </a:br>
            <a:r>
              <a:rPr lang="en-US" i="1" dirty="0"/>
              <a:t># code to handle any exception</a:t>
            </a:r>
            <a:endParaRPr lang="en-IN" dirty="0"/>
          </a:p>
        </p:txBody>
      </p:sp>
    </p:spTree>
    <p:extLst>
      <p:ext uri="{BB962C8B-B14F-4D97-AF65-F5344CB8AC3E}">
        <p14:creationId xmlns:p14="http://schemas.microsoft.com/office/powerpoint/2010/main" xmlns="" val="30409962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Try and Except in Exception Handling</a:t>
            </a:r>
            <a:endParaRPr lang="en-US" dirty="0"/>
          </a:p>
        </p:txBody>
      </p:sp>
      <p:sp>
        <p:nvSpPr>
          <p:cNvPr id="4" name="TextBox 3"/>
          <p:cNvSpPr txBox="1"/>
          <p:nvPr/>
        </p:nvSpPr>
        <p:spPr>
          <a:xfrm>
            <a:off x="228600" y="1066800"/>
            <a:ext cx="8763000" cy="5324535"/>
          </a:xfrm>
          <a:prstGeom prst="rect">
            <a:avLst/>
          </a:prstGeom>
          <a:noFill/>
        </p:spPr>
        <p:txBody>
          <a:bodyPr wrap="square" rtlCol="0">
            <a:spAutoFit/>
          </a:bodyPr>
          <a:lstStyle/>
          <a:p>
            <a:pPr algn="just"/>
            <a:r>
              <a:rPr lang="en-IN" sz="2000" b="1" dirty="0" err="1"/>
              <a:t>OverflowError</a:t>
            </a:r>
            <a:r>
              <a:rPr lang="en-IN" sz="2000" b="1" dirty="0"/>
              <a:t>: </a:t>
            </a:r>
            <a:endParaRPr lang="en-IN" sz="2000" dirty="0"/>
          </a:p>
          <a:p>
            <a:pPr algn="just"/>
            <a:r>
              <a:rPr lang="en-US" sz="2000" dirty="0" err="1"/>
              <a:t>OverflowError</a:t>
            </a:r>
            <a:r>
              <a:rPr lang="en-US" sz="2000" dirty="0"/>
              <a:t> in Python indicates that an arithmetic operation has exceeded the limits of the current Python runtime. This is typically due to excessively large float values, as integer values that are too big will opt to raise memory errors instead. </a:t>
            </a:r>
          </a:p>
          <a:p>
            <a:pPr algn="just"/>
            <a:r>
              <a:rPr lang="en-IN" sz="2000" b="1" dirty="0" err="1"/>
              <a:t>ImportError</a:t>
            </a:r>
            <a:r>
              <a:rPr lang="en-IN" sz="2000" b="1" dirty="0"/>
              <a:t>: </a:t>
            </a:r>
            <a:endParaRPr lang="en-IN" sz="2000" dirty="0"/>
          </a:p>
          <a:p>
            <a:pPr algn="just"/>
            <a:r>
              <a:rPr lang="en-US" sz="2000" dirty="0"/>
              <a:t>It is raised when you try to import a module which does not exist. This may happen if you made a typing mistake in the module name or the module doesn't exist in its standard path. In the example below, a module named "</a:t>
            </a:r>
            <a:r>
              <a:rPr lang="en-US" sz="2000" dirty="0" err="1"/>
              <a:t>non_existing_module</a:t>
            </a:r>
            <a:r>
              <a:rPr lang="en-US" sz="2000" dirty="0"/>
              <a:t>" is being imported but it doesn't exist, hence an import error exception is raised. </a:t>
            </a:r>
          </a:p>
          <a:p>
            <a:pPr algn="just"/>
            <a:r>
              <a:rPr lang="en-IN" sz="2000" b="1" dirty="0" err="1"/>
              <a:t>IndexError</a:t>
            </a:r>
            <a:r>
              <a:rPr lang="en-IN" sz="2000" b="1" dirty="0"/>
              <a:t>: </a:t>
            </a:r>
            <a:endParaRPr lang="en-IN" sz="2000" dirty="0"/>
          </a:p>
          <a:p>
            <a:pPr algn="just"/>
            <a:r>
              <a:rPr lang="en-US" sz="2000" dirty="0"/>
              <a:t>An </a:t>
            </a:r>
            <a:r>
              <a:rPr lang="en-US" sz="2000" dirty="0" err="1"/>
              <a:t>IndexError</a:t>
            </a:r>
            <a:r>
              <a:rPr lang="en-US" sz="2000" dirty="0"/>
              <a:t> exception is raised when you refer a sequence which is out of range. In the example below, the list </a:t>
            </a:r>
            <a:r>
              <a:rPr lang="en-US" sz="2000" dirty="0" err="1"/>
              <a:t>abc</a:t>
            </a:r>
            <a:r>
              <a:rPr lang="en-US" sz="2000" dirty="0"/>
              <a:t> contains only 3 entries, but the 4th index is being accessed, which will result an </a:t>
            </a:r>
            <a:r>
              <a:rPr lang="en-US" sz="2000" dirty="0" err="1"/>
              <a:t>IndexError</a:t>
            </a:r>
            <a:r>
              <a:rPr lang="en-US" sz="2000" dirty="0"/>
              <a:t> exception. </a:t>
            </a:r>
          </a:p>
          <a:p>
            <a:pPr algn="just"/>
            <a:r>
              <a:rPr lang="en-IN" sz="2000" b="1" dirty="0" err="1"/>
              <a:t>TypeError</a:t>
            </a:r>
            <a:r>
              <a:rPr lang="en-IN" sz="2000" b="1" dirty="0"/>
              <a:t>: </a:t>
            </a:r>
            <a:endParaRPr lang="en-IN" sz="2000" dirty="0"/>
          </a:p>
          <a:p>
            <a:pPr algn="just"/>
            <a:r>
              <a:rPr lang="en-US" sz="2000" dirty="0"/>
              <a:t>When two unrelated type of objects are combined, </a:t>
            </a:r>
            <a:r>
              <a:rPr lang="en-US" sz="2000" dirty="0" err="1"/>
              <a:t>TypeErrorexception</a:t>
            </a:r>
            <a:r>
              <a:rPr lang="en-US" sz="2000" dirty="0"/>
              <a:t> is </a:t>
            </a:r>
            <a:r>
              <a:rPr lang="en-US" sz="2000" dirty="0" err="1"/>
              <a:t>raised.In</a:t>
            </a:r>
            <a:r>
              <a:rPr lang="en-US" sz="2000" dirty="0"/>
              <a:t> example below, an </a:t>
            </a:r>
            <a:r>
              <a:rPr lang="en-US" sz="2000" dirty="0" err="1"/>
              <a:t>int</a:t>
            </a:r>
            <a:r>
              <a:rPr lang="en-US" sz="2000" dirty="0"/>
              <a:t> and a string is added, which will result in </a:t>
            </a:r>
            <a:r>
              <a:rPr lang="en-US" sz="2000" dirty="0" err="1"/>
              <a:t>TypeError</a:t>
            </a:r>
            <a:r>
              <a:rPr lang="en-US" sz="2000" dirty="0"/>
              <a:t> exception. </a:t>
            </a:r>
            <a:endParaRPr lang="en-IN" sz="2000" dirty="0"/>
          </a:p>
        </p:txBody>
      </p:sp>
    </p:spTree>
    <p:extLst>
      <p:ext uri="{BB962C8B-B14F-4D97-AF65-F5344CB8AC3E}">
        <p14:creationId xmlns:p14="http://schemas.microsoft.com/office/powerpoint/2010/main" xmlns="" val="40794136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Try and Except in Exception Handling</a:t>
            </a:r>
            <a:endParaRPr lang="en-US" dirty="0"/>
          </a:p>
        </p:txBody>
      </p:sp>
      <p:sp>
        <p:nvSpPr>
          <p:cNvPr id="4" name="TextBox 3"/>
          <p:cNvSpPr txBox="1"/>
          <p:nvPr/>
        </p:nvSpPr>
        <p:spPr>
          <a:xfrm>
            <a:off x="228600" y="1066800"/>
            <a:ext cx="8763000" cy="5078313"/>
          </a:xfrm>
          <a:prstGeom prst="rect">
            <a:avLst/>
          </a:prstGeom>
          <a:noFill/>
        </p:spPr>
        <p:txBody>
          <a:bodyPr wrap="square" rtlCol="0">
            <a:spAutoFit/>
          </a:bodyPr>
          <a:lstStyle/>
          <a:p>
            <a:pPr algn="just"/>
            <a:r>
              <a:rPr lang="en-IN" b="1" dirty="0" err="1"/>
              <a:t>IndentationError</a:t>
            </a:r>
            <a:r>
              <a:rPr lang="en-IN" b="1" dirty="0"/>
              <a:t>: </a:t>
            </a:r>
            <a:endParaRPr lang="en-IN" dirty="0"/>
          </a:p>
          <a:p>
            <a:pPr algn="just"/>
            <a:r>
              <a:rPr lang="en-US" dirty="0"/>
              <a:t>Unexpected indent. As mentioned in the "expected an </a:t>
            </a:r>
            <a:r>
              <a:rPr lang="en-US" dirty="0" err="1"/>
              <a:t>indentedblock</a:t>
            </a:r>
            <a:r>
              <a:rPr lang="en-US" dirty="0"/>
              <a:t>" section, Python not only insists on indentation, it insists on </a:t>
            </a:r>
            <a:r>
              <a:rPr lang="en-US" dirty="0" err="1"/>
              <a:t>consistentindentation</a:t>
            </a:r>
            <a:r>
              <a:rPr lang="en-US" dirty="0"/>
              <a:t>. You are free to choose the number of spaces of indentation to use, but you then need to stick with it. </a:t>
            </a:r>
          </a:p>
          <a:p>
            <a:pPr algn="just"/>
            <a:r>
              <a:rPr lang="en-IN" b="1" dirty="0"/>
              <a:t>Syntax errors</a:t>
            </a:r>
            <a:r>
              <a:rPr lang="en-IN" dirty="0"/>
              <a:t>: </a:t>
            </a:r>
          </a:p>
          <a:p>
            <a:pPr algn="just"/>
            <a:r>
              <a:rPr lang="en-US" dirty="0"/>
              <a:t>These are the most basic type of error. They arise when the Python parser is unable to understand a line of code. Syntax errors are almost always fatal, i.e. there is almost never a way to successfully execute a piece of code containing syntax errors. </a:t>
            </a:r>
          </a:p>
          <a:p>
            <a:pPr algn="just"/>
            <a:r>
              <a:rPr lang="en-IN" b="1" dirty="0"/>
              <a:t>Run-time error</a:t>
            </a:r>
            <a:r>
              <a:rPr lang="en-IN" dirty="0"/>
              <a:t>: </a:t>
            </a:r>
          </a:p>
          <a:p>
            <a:pPr algn="just"/>
            <a:r>
              <a:rPr lang="en-US" dirty="0"/>
              <a:t>A run-time error happens when Python understands what you are saying, but runs into trouble when following your instructions. </a:t>
            </a:r>
          </a:p>
          <a:p>
            <a:pPr algn="just"/>
            <a:r>
              <a:rPr lang="en-IN" b="1" dirty="0"/>
              <a:t>Key Error : </a:t>
            </a:r>
            <a:endParaRPr lang="en-IN" dirty="0"/>
          </a:p>
          <a:p>
            <a:pPr algn="just"/>
            <a:r>
              <a:rPr lang="en-US" dirty="0"/>
              <a:t>Python raises a </a:t>
            </a:r>
            <a:r>
              <a:rPr lang="en-US" dirty="0" err="1"/>
              <a:t>KeyError</a:t>
            </a:r>
            <a:r>
              <a:rPr lang="en-US" dirty="0"/>
              <a:t> whenever a </a:t>
            </a:r>
            <a:r>
              <a:rPr lang="en-US" dirty="0" err="1"/>
              <a:t>dict</a:t>
            </a:r>
            <a:r>
              <a:rPr lang="en-US" dirty="0"/>
              <a:t>() object is requested (using the format a = </a:t>
            </a:r>
            <a:r>
              <a:rPr lang="en-US" dirty="0" err="1"/>
              <a:t>adict</a:t>
            </a:r>
            <a:r>
              <a:rPr lang="en-US" dirty="0"/>
              <a:t>[key]) and the key is not in the dictionary. </a:t>
            </a:r>
          </a:p>
          <a:p>
            <a:pPr algn="just"/>
            <a:r>
              <a:rPr lang="en-IN" b="1" dirty="0"/>
              <a:t>Value Error: </a:t>
            </a:r>
            <a:endParaRPr lang="en-IN" dirty="0"/>
          </a:p>
          <a:p>
            <a:pPr algn="just"/>
            <a:r>
              <a:rPr lang="en-US" dirty="0"/>
              <a:t>In Python, a value is the information that is stored within a certain object. To encounter a </a:t>
            </a:r>
            <a:r>
              <a:rPr lang="en-US" dirty="0" err="1"/>
              <a:t>ValueError</a:t>
            </a:r>
            <a:r>
              <a:rPr lang="en-US" dirty="0"/>
              <a:t> in Python means that is a problem with the content of the object you tried to assign the value to</a:t>
            </a:r>
            <a:r>
              <a:rPr lang="en-US" dirty="0" smtClean="0"/>
              <a:t>.</a:t>
            </a:r>
            <a:endParaRPr lang="en-US" dirty="0"/>
          </a:p>
        </p:txBody>
      </p:sp>
    </p:spTree>
    <p:extLst>
      <p:ext uri="{BB962C8B-B14F-4D97-AF65-F5344CB8AC3E}">
        <p14:creationId xmlns:p14="http://schemas.microsoft.com/office/powerpoint/2010/main" xmlns="" val="1610963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Try and Except in Exception Handling</a:t>
            </a:r>
            <a:endParaRPr lang="en-US" dirty="0"/>
          </a:p>
        </p:txBody>
      </p:sp>
      <p:sp>
        <p:nvSpPr>
          <p:cNvPr id="4" name="TextBox 3"/>
          <p:cNvSpPr txBox="1"/>
          <p:nvPr/>
        </p:nvSpPr>
        <p:spPr>
          <a:xfrm>
            <a:off x="228600" y="1066800"/>
            <a:ext cx="8763000" cy="3539430"/>
          </a:xfrm>
          <a:prstGeom prst="rect">
            <a:avLst/>
          </a:prstGeom>
          <a:noFill/>
        </p:spPr>
        <p:txBody>
          <a:bodyPr wrap="square" rtlCol="0">
            <a:spAutoFit/>
          </a:bodyPr>
          <a:lstStyle/>
          <a:p>
            <a:pPr algn="just"/>
            <a:r>
              <a:rPr lang="en-IN" sz="2800" b="1" dirty="0"/>
              <a:t>Different types of exceptions:</a:t>
            </a:r>
          </a:p>
          <a:p>
            <a:pPr marL="285750" indent="-285750" algn="just">
              <a:buFont typeface="Arial" panose="020B0604020202020204" pitchFamily="34" charset="0"/>
              <a:buChar char="•"/>
            </a:pPr>
            <a:r>
              <a:rPr lang="en-IN" sz="2800" dirty="0" err="1" smtClean="0"/>
              <a:t>ArrayIndexOutOfBoundException</a:t>
            </a:r>
            <a:r>
              <a:rPr lang="en-IN" sz="2800" dirty="0" smtClean="0"/>
              <a:t>.</a:t>
            </a:r>
            <a:endParaRPr lang="en-IN" sz="2800" dirty="0"/>
          </a:p>
          <a:p>
            <a:pPr marL="285750" indent="-285750" algn="just">
              <a:buFont typeface="Arial" panose="020B0604020202020204" pitchFamily="34" charset="0"/>
              <a:buChar char="•"/>
            </a:pPr>
            <a:r>
              <a:rPr lang="en-IN" sz="2800" dirty="0" err="1" smtClean="0"/>
              <a:t>ClassNotFoundException</a:t>
            </a:r>
            <a:r>
              <a:rPr lang="en-IN" sz="2800" dirty="0" smtClean="0"/>
              <a:t>.</a:t>
            </a:r>
            <a:endParaRPr lang="en-IN" sz="2800" dirty="0"/>
          </a:p>
          <a:p>
            <a:pPr marL="285750" indent="-285750" algn="just">
              <a:buFont typeface="Arial" panose="020B0604020202020204" pitchFamily="34" charset="0"/>
              <a:buChar char="•"/>
            </a:pPr>
            <a:r>
              <a:rPr lang="en-IN" sz="2800" dirty="0" err="1" smtClean="0"/>
              <a:t>FileNotFoundException</a:t>
            </a:r>
            <a:r>
              <a:rPr lang="en-IN" sz="2800" dirty="0" smtClean="0"/>
              <a:t>.</a:t>
            </a:r>
            <a:endParaRPr lang="en-IN" sz="2800" dirty="0"/>
          </a:p>
          <a:p>
            <a:pPr marL="285750" indent="-285750" algn="just">
              <a:buFont typeface="Arial" panose="020B0604020202020204" pitchFamily="34" charset="0"/>
              <a:buChar char="•"/>
            </a:pPr>
            <a:r>
              <a:rPr lang="en-IN" sz="2800" dirty="0" err="1" smtClean="0"/>
              <a:t>IOException</a:t>
            </a:r>
            <a:r>
              <a:rPr lang="en-IN" sz="2800" dirty="0" smtClean="0"/>
              <a:t>.</a:t>
            </a:r>
            <a:endParaRPr lang="en-IN" sz="2800" dirty="0"/>
          </a:p>
          <a:p>
            <a:pPr marL="285750" indent="-285750" algn="just">
              <a:buFont typeface="Arial" panose="020B0604020202020204" pitchFamily="34" charset="0"/>
              <a:buChar char="•"/>
            </a:pPr>
            <a:r>
              <a:rPr lang="en-IN" sz="2800" dirty="0" err="1" smtClean="0"/>
              <a:t>InterruptedException</a:t>
            </a:r>
            <a:r>
              <a:rPr lang="en-IN" sz="2800" dirty="0" smtClean="0"/>
              <a:t>.</a:t>
            </a:r>
            <a:endParaRPr lang="en-IN" sz="2800" dirty="0"/>
          </a:p>
          <a:p>
            <a:pPr marL="285750" indent="-285750" algn="just">
              <a:buFont typeface="Arial" panose="020B0604020202020204" pitchFamily="34" charset="0"/>
              <a:buChar char="•"/>
            </a:pPr>
            <a:r>
              <a:rPr lang="en-IN" sz="2800" dirty="0" err="1" smtClean="0"/>
              <a:t>NoSuchFieldException</a:t>
            </a:r>
            <a:r>
              <a:rPr lang="en-IN" sz="2800" dirty="0" smtClean="0"/>
              <a:t>.</a:t>
            </a:r>
            <a:endParaRPr lang="en-IN" sz="2800" dirty="0"/>
          </a:p>
          <a:p>
            <a:pPr marL="285750" indent="-285750" algn="just">
              <a:buFont typeface="Arial" panose="020B0604020202020204" pitchFamily="34" charset="0"/>
              <a:buChar char="•"/>
            </a:pPr>
            <a:r>
              <a:rPr lang="en-IN" sz="2800" dirty="0" err="1" smtClean="0"/>
              <a:t>NoSuchMethodException</a:t>
            </a:r>
            <a:endParaRPr lang="en-US" sz="2800" dirty="0"/>
          </a:p>
        </p:txBody>
      </p:sp>
    </p:spTree>
    <p:extLst>
      <p:ext uri="{BB962C8B-B14F-4D97-AF65-F5344CB8AC3E}">
        <p14:creationId xmlns:p14="http://schemas.microsoft.com/office/powerpoint/2010/main" xmlns="" val="4570606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Assertion Error</a:t>
            </a:r>
            <a:endParaRPr lang="en-US" dirty="0"/>
          </a:p>
        </p:txBody>
      </p:sp>
      <p:sp>
        <p:nvSpPr>
          <p:cNvPr id="4" name="TextBox 3"/>
          <p:cNvSpPr txBox="1"/>
          <p:nvPr/>
        </p:nvSpPr>
        <p:spPr>
          <a:xfrm>
            <a:off x="228600" y="1066800"/>
            <a:ext cx="8763000" cy="4832092"/>
          </a:xfrm>
          <a:prstGeom prst="rect">
            <a:avLst/>
          </a:prstGeom>
          <a:noFill/>
        </p:spPr>
        <p:txBody>
          <a:bodyPr wrap="square" rtlCol="0">
            <a:spAutoFit/>
          </a:bodyPr>
          <a:lstStyle/>
          <a:p>
            <a:pPr algn="just"/>
            <a:r>
              <a:rPr lang="en-US" sz="2800" b="1" dirty="0"/>
              <a:t>Assertion Error</a:t>
            </a:r>
          </a:p>
          <a:p>
            <a:pPr marL="457200" indent="-457200" algn="just">
              <a:buFont typeface="Arial" panose="020B0604020202020204" pitchFamily="34" charset="0"/>
              <a:buChar char="•"/>
            </a:pPr>
            <a:r>
              <a:rPr lang="en-US" sz="2800" dirty="0" smtClean="0"/>
              <a:t>Assertion </a:t>
            </a:r>
            <a:r>
              <a:rPr lang="en-US" sz="2800" dirty="0"/>
              <a:t>is a programming concept used while writing a code where the user declares a condition to be true using assert statement prior to running the module.</a:t>
            </a:r>
          </a:p>
          <a:p>
            <a:pPr marL="457200" indent="-457200" algn="just">
              <a:buFont typeface="Arial" panose="020B0604020202020204" pitchFamily="34" charset="0"/>
              <a:buChar char="•"/>
            </a:pPr>
            <a:r>
              <a:rPr lang="en-US" sz="2800" dirty="0" smtClean="0"/>
              <a:t>If </a:t>
            </a:r>
            <a:r>
              <a:rPr lang="en-US" sz="2800" dirty="0"/>
              <a:t>the condition is True, the control simply moves to the next line of code. In case if it is False the program stops running and returns </a:t>
            </a:r>
            <a:r>
              <a:rPr lang="en-US" sz="2800" dirty="0" err="1"/>
              <a:t>AssertionError</a:t>
            </a:r>
            <a:r>
              <a:rPr lang="en-US" sz="2800" dirty="0"/>
              <a:t> Exception.</a:t>
            </a:r>
          </a:p>
          <a:p>
            <a:pPr marL="457200" indent="-457200" algn="just">
              <a:buFont typeface="Arial" panose="020B0604020202020204" pitchFamily="34" charset="0"/>
              <a:buChar char="•"/>
            </a:pPr>
            <a:r>
              <a:rPr lang="en-US" sz="2800" dirty="0" smtClean="0"/>
              <a:t>The </a:t>
            </a:r>
            <a:r>
              <a:rPr lang="en-US" sz="2800" dirty="0"/>
              <a:t>function of assert statement is the same irrespective of the language in which it is implemented, it is a language-independent concept, only the syntax varies with the programming language.</a:t>
            </a:r>
          </a:p>
        </p:txBody>
      </p:sp>
    </p:spTree>
    <p:extLst>
      <p:ext uri="{BB962C8B-B14F-4D97-AF65-F5344CB8AC3E}">
        <p14:creationId xmlns:p14="http://schemas.microsoft.com/office/powerpoint/2010/main" xmlns="" val="6788194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Assertion Error</a:t>
            </a:r>
            <a:endParaRPr lang="en-US" dirty="0"/>
          </a:p>
        </p:txBody>
      </p:sp>
      <p:pic>
        <p:nvPicPr>
          <p:cNvPr id="5" name="image22.png"/>
          <p:cNvPicPr/>
          <p:nvPr/>
        </p:nvPicPr>
        <p:blipFill>
          <a:blip r:embed="rId2"/>
          <a:srcRect/>
          <a:stretch>
            <a:fillRect/>
          </a:stretch>
        </p:blipFill>
        <p:spPr>
          <a:xfrm>
            <a:off x="1905000" y="1295400"/>
            <a:ext cx="5911850" cy="4719815"/>
          </a:xfrm>
          <a:prstGeom prst="rect">
            <a:avLst/>
          </a:prstGeom>
          <a:ln/>
        </p:spPr>
      </p:pic>
    </p:spTree>
    <p:extLst>
      <p:ext uri="{BB962C8B-B14F-4D97-AF65-F5344CB8AC3E}">
        <p14:creationId xmlns:p14="http://schemas.microsoft.com/office/powerpoint/2010/main" xmlns="" val="31944602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Assertion Error</a:t>
            </a:r>
            <a:endParaRPr lang="en-US" dirty="0"/>
          </a:p>
        </p:txBody>
      </p:sp>
      <p:sp>
        <p:nvSpPr>
          <p:cNvPr id="4" name="TextBox 3"/>
          <p:cNvSpPr txBox="1"/>
          <p:nvPr/>
        </p:nvSpPr>
        <p:spPr>
          <a:xfrm>
            <a:off x="228600" y="1066800"/>
            <a:ext cx="8763000" cy="5078313"/>
          </a:xfrm>
          <a:prstGeom prst="rect">
            <a:avLst/>
          </a:prstGeom>
          <a:noFill/>
        </p:spPr>
        <p:txBody>
          <a:bodyPr wrap="square" rtlCol="0">
            <a:spAutoFit/>
          </a:bodyPr>
          <a:lstStyle/>
          <a:p>
            <a:pPr algn="just"/>
            <a:r>
              <a:rPr lang="en-US" b="1" dirty="0"/>
              <a:t>Syntax of assertion:</a:t>
            </a:r>
            <a:endParaRPr lang="en-IN" dirty="0"/>
          </a:p>
          <a:p>
            <a:pPr algn="just"/>
            <a:r>
              <a:rPr lang="en-US" b="1" i="1" dirty="0"/>
              <a:t>assert</a:t>
            </a:r>
            <a:r>
              <a:rPr lang="en-US" b="1" dirty="0"/>
              <a:t> </a:t>
            </a:r>
            <a:r>
              <a:rPr lang="en-US" dirty="0"/>
              <a:t>condition, </a:t>
            </a:r>
            <a:r>
              <a:rPr lang="en-US" dirty="0" err="1"/>
              <a:t>error_message</a:t>
            </a:r>
            <a:r>
              <a:rPr lang="en-US" dirty="0"/>
              <a:t>(optional)</a:t>
            </a:r>
            <a:endParaRPr lang="en-IN" dirty="0"/>
          </a:p>
          <a:p>
            <a:pPr algn="just"/>
            <a:endParaRPr lang="en-IN" dirty="0"/>
          </a:p>
          <a:p>
            <a:pPr algn="just"/>
            <a:r>
              <a:rPr lang="en-US" dirty="0"/>
              <a:t>Example -1:</a:t>
            </a:r>
            <a:endParaRPr lang="en-IN" dirty="0"/>
          </a:p>
          <a:p>
            <a:pPr algn="just"/>
            <a:r>
              <a:rPr lang="en-US" dirty="0"/>
              <a:t> </a:t>
            </a:r>
            <a:r>
              <a:rPr lang="en-US" dirty="0" smtClean="0"/>
              <a:t># </a:t>
            </a:r>
            <a:r>
              <a:rPr lang="en-US" dirty="0" err="1"/>
              <a:t>AssertionError</a:t>
            </a:r>
            <a:r>
              <a:rPr lang="en-US" dirty="0"/>
              <a:t> with </a:t>
            </a:r>
            <a:r>
              <a:rPr lang="en-US" dirty="0" err="1"/>
              <a:t>error_message</a:t>
            </a:r>
            <a:r>
              <a:rPr lang="en-US" dirty="0"/>
              <a:t>.</a:t>
            </a:r>
            <a:endParaRPr lang="en-IN" dirty="0"/>
          </a:p>
          <a:p>
            <a:pPr algn="just"/>
            <a:r>
              <a:rPr lang="en-US" dirty="0"/>
              <a:t>x = 1</a:t>
            </a:r>
            <a:endParaRPr lang="en-IN" dirty="0"/>
          </a:p>
          <a:p>
            <a:pPr algn="just"/>
            <a:r>
              <a:rPr lang="en-US" dirty="0"/>
              <a:t>y = 0</a:t>
            </a:r>
            <a:endParaRPr lang="en-IN" dirty="0"/>
          </a:p>
          <a:p>
            <a:pPr algn="just"/>
            <a:r>
              <a:rPr lang="en-US" dirty="0"/>
              <a:t>assert y != 0, "Invalid Operation" # denominator can't be 0</a:t>
            </a:r>
            <a:endParaRPr lang="en-IN" dirty="0"/>
          </a:p>
          <a:p>
            <a:pPr algn="just"/>
            <a:r>
              <a:rPr lang="en-US" dirty="0"/>
              <a:t>print(x / y)</a:t>
            </a:r>
            <a:endParaRPr lang="en-IN" dirty="0"/>
          </a:p>
          <a:p>
            <a:pPr algn="just"/>
            <a:r>
              <a:rPr lang="en-US" dirty="0"/>
              <a:t>Output:</a:t>
            </a:r>
            <a:endParaRPr lang="en-IN" dirty="0"/>
          </a:p>
          <a:p>
            <a:pPr algn="just"/>
            <a:r>
              <a:rPr lang="en-US" dirty="0" err="1"/>
              <a:t>Traceback</a:t>
            </a:r>
            <a:r>
              <a:rPr lang="en-US" dirty="0"/>
              <a:t> (most recent call last):</a:t>
            </a:r>
            <a:endParaRPr lang="en-IN" dirty="0"/>
          </a:p>
          <a:p>
            <a:pPr algn="just"/>
            <a:r>
              <a:rPr lang="en-US" dirty="0"/>
              <a:t>  File "/home/</a:t>
            </a:r>
            <a:r>
              <a:rPr lang="en-US" dirty="0" err="1"/>
              <a:t>bafc2f900d9791144fbf59f477cd4059.py</a:t>
            </a:r>
            <a:r>
              <a:rPr lang="en-US" dirty="0"/>
              <a:t>", line 4, in </a:t>
            </a:r>
            <a:endParaRPr lang="en-IN" dirty="0"/>
          </a:p>
          <a:p>
            <a:pPr algn="just"/>
            <a:r>
              <a:rPr lang="en-US" dirty="0"/>
              <a:t>    assert y!=0, "Invalid Operation" # denominator can't be 0</a:t>
            </a:r>
            <a:endParaRPr lang="en-IN" dirty="0"/>
          </a:p>
          <a:p>
            <a:pPr algn="just"/>
            <a:r>
              <a:rPr lang="en-US" dirty="0" err="1"/>
              <a:t>AssertionError</a:t>
            </a:r>
            <a:r>
              <a:rPr lang="en-US" dirty="0"/>
              <a:t>: Invalid Operation</a:t>
            </a:r>
            <a:endParaRPr lang="en-IN" dirty="0"/>
          </a:p>
          <a:p>
            <a:pPr algn="just"/>
            <a:r>
              <a:rPr lang="en-US" dirty="0"/>
              <a:t> </a:t>
            </a:r>
            <a:endParaRPr lang="en-IN" dirty="0"/>
          </a:p>
          <a:p>
            <a:pPr algn="just"/>
            <a:r>
              <a:rPr lang="en-US" dirty="0"/>
              <a:t>The default exception handler in python will print the </a:t>
            </a:r>
            <a:r>
              <a:rPr lang="en-US" dirty="0" err="1"/>
              <a:t>error_message</a:t>
            </a:r>
            <a:r>
              <a:rPr lang="en-US" dirty="0"/>
              <a:t> written by the programmer, or else will just handle the error without any message.</a:t>
            </a:r>
            <a:endParaRPr lang="en-IN" dirty="0"/>
          </a:p>
          <a:p>
            <a:pPr algn="just"/>
            <a:r>
              <a:rPr lang="en-US" dirty="0"/>
              <a:t>Both of the ways are valid.</a:t>
            </a:r>
            <a:endParaRPr lang="en-US" sz="2800" dirty="0"/>
          </a:p>
        </p:txBody>
      </p:sp>
    </p:spTree>
    <p:extLst>
      <p:ext uri="{BB962C8B-B14F-4D97-AF65-F5344CB8AC3E}">
        <p14:creationId xmlns:p14="http://schemas.microsoft.com/office/powerpoint/2010/main" xmlns="" val="23499082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Assertion Error</a:t>
            </a:r>
            <a:endParaRPr lang="en-US" dirty="0"/>
          </a:p>
        </p:txBody>
      </p:sp>
      <p:sp>
        <p:nvSpPr>
          <p:cNvPr id="4" name="TextBox 3"/>
          <p:cNvSpPr txBox="1"/>
          <p:nvPr/>
        </p:nvSpPr>
        <p:spPr>
          <a:xfrm>
            <a:off x="228600" y="1066800"/>
            <a:ext cx="8763000" cy="5632311"/>
          </a:xfrm>
          <a:prstGeom prst="rect">
            <a:avLst/>
          </a:prstGeom>
          <a:noFill/>
        </p:spPr>
        <p:txBody>
          <a:bodyPr wrap="square" rtlCol="0">
            <a:spAutoFit/>
          </a:bodyPr>
          <a:lstStyle/>
          <a:p>
            <a:r>
              <a:rPr lang="en-US" b="1" dirty="0"/>
              <a:t>Handling </a:t>
            </a:r>
            <a:r>
              <a:rPr lang="en-US" b="1" dirty="0" err="1"/>
              <a:t>AssertionError</a:t>
            </a:r>
            <a:r>
              <a:rPr lang="en-US" b="1" dirty="0"/>
              <a:t> exception:</a:t>
            </a:r>
            <a:endParaRPr lang="en-IN" dirty="0"/>
          </a:p>
          <a:p>
            <a:r>
              <a:rPr lang="en-US" i="1" dirty="0" err="1"/>
              <a:t>AssertionError</a:t>
            </a:r>
            <a:r>
              <a:rPr lang="en-US" dirty="0"/>
              <a:t> is inherited from Exception class, when this exception occurs and raises </a:t>
            </a:r>
            <a:r>
              <a:rPr lang="en-US" dirty="0" err="1"/>
              <a:t>AssertionError</a:t>
            </a:r>
            <a:r>
              <a:rPr lang="en-US" dirty="0"/>
              <a:t> there are two ways to handle, either the user handles it or the default exception handler.</a:t>
            </a:r>
            <a:endParaRPr lang="en-IN" dirty="0"/>
          </a:p>
          <a:p>
            <a:r>
              <a:rPr lang="en-US" dirty="0"/>
              <a:t>In Example 1 we have seen how the default exception handler does the work.</a:t>
            </a:r>
            <a:endParaRPr lang="en-IN" dirty="0"/>
          </a:p>
          <a:p>
            <a:r>
              <a:rPr lang="en-US" dirty="0"/>
              <a:t>Now let’s dig into handling it manually.</a:t>
            </a:r>
            <a:endParaRPr lang="en-IN" dirty="0"/>
          </a:p>
          <a:p>
            <a:r>
              <a:rPr lang="en-US" dirty="0"/>
              <a:t> </a:t>
            </a:r>
            <a:endParaRPr lang="en-IN" dirty="0"/>
          </a:p>
          <a:p>
            <a:r>
              <a:rPr lang="en-US" dirty="0"/>
              <a:t># Handling it manually</a:t>
            </a:r>
            <a:endParaRPr lang="en-IN" dirty="0"/>
          </a:p>
          <a:p>
            <a:r>
              <a:rPr lang="en-US" dirty="0"/>
              <a:t>try:</a:t>
            </a:r>
            <a:endParaRPr lang="en-IN" dirty="0"/>
          </a:p>
          <a:p>
            <a:r>
              <a:rPr lang="en-US" dirty="0"/>
              <a:t>    x = 1</a:t>
            </a:r>
            <a:endParaRPr lang="en-IN" dirty="0"/>
          </a:p>
          <a:p>
            <a:r>
              <a:rPr lang="en-US" dirty="0"/>
              <a:t>    y = 0</a:t>
            </a:r>
            <a:endParaRPr lang="en-IN" dirty="0"/>
          </a:p>
          <a:p>
            <a:r>
              <a:rPr lang="en-US" dirty="0"/>
              <a:t>    assert y != 0, "Invalid Operation"</a:t>
            </a:r>
            <a:endParaRPr lang="en-IN" dirty="0"/>
          </a:p>
          <a:p>
            <a:r>
              <a:rPr lang="en-US" dirty="0"/>
              <a:t>    print(x / y)</a:t>
            </a:r>
            <a:endParaRPr lang="en-IN" dirty="0"/>
          </a:p>
          <a:p>
            <a:r>
              <a:rPr lang="en-US" dirty="0"/>
              <a:t>  </a:t>
            </a:r>
            <a:endParaRPr lang="en-IN" dirty="0"/>
          </a:p>
          <a:p>
            <a:r>
              <a:rPr lang="en-US" dirty="0"/>
              <a:t># the </a:t>
            </a:r>
            <a:r>
              <a:rPr lang="en-US" dirty="0" err="1"/>
              <a:t>errror_message</a:t>
            </a:r>
            <a:r>
              <a:rPr lang="en-US" dirty="0"/>
              <a:t> provided by the user gets printed </a:t>
            </a:r>
            <a:endParaRPr lang="en-IN" dirty="0"/>
          </a:p>
          <a:p>
            <a:r>
              <a:rPr lang="en-US" dirty="0"/>
              <a:t>except </a:t>
            </a:r>
            <a:r>
              <a:rPr lang="en-US" dirty="0" err="1"/>
              <a:t>AssertionError</a:t>
            </a:r>
            <a:r>
              <a:rPr lang="en-US" dirty="0"/>
              <a:t> as </a:t>
            </a:r>
            <a:r>
              <a:rPr lang="en-US" dirty="0" err="1"/>
              <a:t>msg</a:t>
            </a:r>
            <a:r>
              <a:rPr lang="en-US" dirty="0"/>
              <a:t>: </a:t>
            </a:r>
            <a:endParaRPr lang="en-IN" dirty="0"/>
          </a:p>
          <a:p>
            <a:r>
              <a:rPr lang="en-US" dirty="0"/>
              <a:t>    print(</a:t>
            </a:r>
            <a:r>
              <a:rPr lang="en-US" dirty="0" err="1"/>
              <a:t>msg</a:t>
            </a:r>
            <a:r>
              <a:rPr lang="en-US" dirty="0"/>
              <a:t>)</a:t>
            </a:r>
            <a:endParaRPr lang="en-IN" dirty="0"/>
          </a:p>
          <a:p>
            <a:r>
              <a:rPr lang="en-US" dirty="0"/>
              <a:t> </a:t>
            </a:r>
            <a:endParaRPr lang="en-IN" dirty="0"/>
          </a:p>
          <a:p>
            <a:r>
              <a:rPr lang="en-US" b="1" dirty="0"/>
              <a:t>Output :</a:t>
            </a:r>
            <a:endParaRPr lang="en-IN" dirty="0"/>
          </a:p>
          <a:p>
            <a:r>
              <a:rPr lang="en-US" dirty="0"/>
              <a:t>Invalid Operation</a:t>
            </a:r>
            <a:endParaRPr lang="en-IN" dirty="0"/>
          </a:p>
        </p:txBody>
      </p:sp>
    </p:spTree>
    <p:extLst>
      <p:ext uri="{BB962C8B-B14F-4D97-AF65-F5344CB8AC3E}">
        <p14:creationId xmlns:p14="http://schemas.microsoft.com/office/powerpoint/2010/main" xmlns="" val="28594593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Logging in Python</a:t>
            </a:r>
            <a:endParaRPr lang="en-US" dirty="0"/>
          </a:p>
        </p:txBody>
      </p:sp>
      <p:sp>
        <p:nvSpPr>
          <p:cNvPr id="4" name="TextBox 3"/>
          <p:cNvSpPr txBox="1"/>
          <p:nvPr/>
        </p:nvSpPr>
        <p:spPr>
          <a:xfrm>
            <a:off x="228600" y="1066800"/>
            <a:ext cx="8763000" cy="5262979"/>
          </a:xfrm>
          <a:prstGeom prst="rect">
            <a:avLst/>
          </a:prstGeom>
          <a:noFill/>
        </p:spPr>
        <p:txBody>
          <a:bodyPr wrap="square" rtlCol="0">
            <a:spAutoFit/>
          </a:bodyPr>
          <a:lstStyle/>
          <a:p>
            <a:pPr marL="285750" indent="-285750" algn="just">
              <a:buFont typeface="Arial" panose="020B0604020202020204" pitchFamily="34" charset="0"/>
              <a:buChar char="•"/>
            </a:pPr>
            <a:r>
              <a:rPr lang="en-US" sz="2800" dirty="0" smtClean="0"/>
              <a:t>Logging </a:t>
            </a:r>
            <a:r>
              <a:rPr lang="en-US" sz="2800" dirty="0"/>
              <a:t>is a means of tracking events that happen when some software runs. Logging is important for software developing, debugging and running. If you don’t have any logging record and your program crashes, there are very little chances that you detect the cause of the problem</a:t>
            </a:r>
          </a:p>
          <a:p>
            <a:pPr marL="285750" indent="-285750" algn="just">
              <a:buFont typeface="Arial" panose="020B0604020202020204" pitchFamily="34" charset="0"/>
              <a:buChar char="•"/>
            </a:pPr>
            <a:r>
              <a:rPr lang="en-US" sz="2800" dirty="0" smtClean="0"/>
              <a:t>Logging </a:t>
            </a:r>
            <a:r>
              <a:rPr lang="en-US" sz="2800" dirty="0"/>
              <a:t>an exception in python with an error can be done in the </a:t>
            </a:r>
            <a:r>
              <a:rPr lang="en-US" sz="2800" dirty="0" err="1"/>
              <a:t>logging.exception</a:t>
            </a:r>
            <a:r>
              <a:rPr lang="en-US" sz="2800" dirty="0"/>
              <a:t>()method. </a:t>
            </a:r>
          </a:p>
          <a:p>
            <a:pPr marL="285750" indent="-285750" algn="just">
              <a:buFont typeface="Arial" panose="020B0604020202020204" pitchFamily="34" charset="0"/>
              <a:buChar char="•"/>
            </a:pPr>
            <a:r>
              <a:rPr lang="en-US" sz="2800" dirty="0" smtClean="0"/>
              <a:t>This </a:t>
            </a:r>
            <a:r>
              <a:rPr lang="en-US" sz="2800" dirty="0"/>
              <a:t>function logs a message with level ERROR on this logger. </a:t>
            </a:r>
          </a:p>
          <a:p>
            <a:pPr marL="285750" indent="-285750" algn="just">
              <a:buFont typeface="Arial" panose="020B0604020202020204" pitchFamily="34" charset="0"/>
              <a:buChar char="•"/>
            </a:pPr>
            <a:r>
              <a:rPr lang="en-US" sz="2800" dirty="0" smtClean="0"/>
              <a:t>The </a:t>
            </a:r>
            <a:r>
              <a:rPr lang="en-US" sz="2800" dirty="0"/>
              <a:t>arguments are interpreted as for debug(). </a:t>
            </a:r>
          </a:p>
          <a:p>
            <a:pPr marL="285750" indent="-285750" algn="just">
              <a:buFont typeface="Arial" panose="020B0604020202020204" pitchFamily="34" charset="0"/>
              <a:buChar char="•"/>
            </a:pPr>
            <a:r>
              <a:rPr lang="en-US" sz="2800" dirty="0" smtClean="0"/>
              <a:t>Exception </a:t>
            </a:r>
            <a:r>
              <a:rPr lang="en-US" sz="2800" dirty="0"/>
              <a:t>info is added to the logging message. This method should only be called from an exception handler.</a:t>
            </a:r>
          </a:p>
        </p:txBody>
      </p:sp>
    </p:spTree>
    <p:extLst>
      <p:ext uri="{BB962C8B-B14F-4D97-AF65-F5344CB8AC3E}">
        <p14:creationId xmlns:p14="http://schemas.microsoft.com/office/powerpoint/2010/main" xmlns="" val="32077742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Logging in Python</a:t>
            </a:r>
            <a:endParaRPr lang="en-US" dirty="0"/>
          </a:p>
        </p:txBody>
      </p:sp>
      <p:sp>
        <p:nvSpPr>
          <p:cNvPr id="4" name="TextBox 3"/>
          <p:cNvSpPr txBox="1"/>
          <p:nvPr/>
        </p:nvSpPr>
        <p:spPr>
          <a:xfrm>
            <a:off x="228600" y="1066800"/>
            <a:ext cx="8763000" cy="5262979"/>
          </a:xfrm>
          <a:prstGeom prst="rect">
            <a:avLst/>
          </a:prstGeom>
          <a:noFill/>
        </p:spPr>
        <p:txBody>
          <a:bodyPr wrap="square" rtlCol="0">
            <a:spAutoFit/>
          </a:bodyPr>
          <a:lstStyle/>
          <a:p>
            <a:r>
              <a:rPr lang="en-US" sz="2400" dirty="0"/>
              <a:t>Example :</a:t>
            </a:r>
            <a:endParaRPr lang="en-IN" sz="2400" dirty="0"/>
          </a:p>
          <a:p>
            <a:r>
              <a:rPr lang="en-US" sz="2400" dirty="0"/>
              <a:t> </a:t>
            </a:r>
            <a:endParaRPr lang="en-IN" sz="2400" dirty="0"/>
          </a:p>
          <a:p>
            <a:r>
              <a:rPr lang="en-US" sz="2400" dirty="0"/>
              <a:t>import </a:t>
            </a:r>
            <a:r>
              <a:rPr lang="en-US" sz="2400" dirty="0" smtClean="0"/>
              <a:t>logging</a:t>
            </a:r>
            <a:endParaRPr lang="en-IN" sz="2400" dirty="0"/>
          </a:p>
          <a:p>
            <a:r>
              <a:rPr lang="en-US" sz="2400" dirty="0"/>
              <a:t>try: </a:t>
            </a:r>
            <a:endParaRPr lang="en-IN" sz="2400" dirty="0"/>
          </a:p>
          <a:p>
            <a:r>
              <a:rPr lang="en-US" sz="2400" dirty="0"/>
              <a:t>    </a:t>
            </a:r>
            <a:r>
              <a:rPr lang="en-US" sz="2400" dirty="0" err="1"/>
              <a:t>printf</a:t>
            </a:r>
            <a:r>
              <a:rPr lang="en-US" sz="2400" dirty="0"/>
              <a:t>("Hello")</a:t>
            </a:r>
            <a:endParaRPr lang="en-IN" sz="2400" dirty="0"/>
          </a:p>
          <a:p>
            <a:r>
              <a:rPr lang="en-US" sz="2400" dirty="0"/>
              <a:t>except Exception as Argument: </a:t>
            </a:r>
            <a:endParaRPr lang="en-IN" sz="2400" dirty="0"/>
          </a:p>
          <a:p>
            <a:r>
              <a:rPr lang="en-US" sz="2400" dirty="0"/>
              <a:t>    </a:t>
            </a:r>
            <a:r>
              <a:rPr lang="en-US" sz="2400" dirty="0" err="1"/>
              <a:t>logging.exception</a:t>
            </a:r>
            <a:r>
              <a:rPr lang="en-US" sz="2400" dirty="0"/>
              <a:t>("Error </a:t>
            </a:r>
            <a:r>
              <a:rPr lang="en-US" sz="2400" dirty="0" err="1"/>
              <a:t>occured</a:t>
            </a:r>
            <a:r>
              <a:rPr lang="en-US" sz="2400" dirty="0"/>
              <a:t> while printing Hello")</a:t>
            </a:r>
            <a:endParaRPr lang="en-IN" sz="2400" dirty="0"/>
          </a:p>
          <a:p>
            <a:r>
              <a:rPr lang="en-US" sz="2400" dirty="0"/>
              <a:t> </a:t>
            </a:r>
            <a:endParaRPr lang="en-IN" sz="2400" dirty="0"/>
          </a:p>
          <a:p>
            <a:r>
              <a:rPr lang="en-US" sz="2400" dirty="0"/>
              <a:t>Output:</a:t>
            </a:r>
            <a:endParaRPr lang="en-IN" sz="2400" dirty="0"/>
          </a:p>
          <a:p>
            <a:r>
              <a:rPr lang="en-US" sz="2400" dirty="0" err="1"/>
              <a:t>ERROR:root:Error</a:t>
            </a:r>
            <a:r>
              <a:rPr lang="en-US" sz="2400" dirty="0"/>
              <a:t> </a:t>
            </a:r>
            <a:r>
              <a:rPr lang="en-US" sz="2400" dirty="0" err="1"/>
              <a:t>occured</a:t>
            </a:r>
            <a:r>
              <a:rPr lang="en-US" sz="2400" dirty="0"/>
              <a:t> while printing </a:t>
            </a:r>
            <a:r>
              <a:rPr lang="en-US" sz="2400" dirty="0" err="1"/>
              <a:t>GeeksforGeeks</a:t>
            </a:r>
            <a:endParaRPr lang="en-IN" sz="2400" dirty="0"/>
          </a:p>
          <a:p>
            <a:r>
              <a:rPr lang="en-US" sz="2400" dirty="0" err="1"/>
              <a:t>Traceback</a:t>
            </a:r>
            <a:r>
              <a:rPr lang="en-US" sz="2400" dirty="0"/>
              <a:t> (most recent call last):</a:t>
            </a:r>
            <a:endParaRPr lang="en-IN" sz="2400" dirty="0"/>
          </a:p>
          <a:p>
            <a:r>
              <a:rPr lang="en-US" sz="2400" dirty="0"/>
              <a:t>  File "/home/</a:t>
            </a:r>
            <a:r>
              <a:rPr lang="en-US" sz="2400" dirty="0" err="1"/>
              <a:t>gfg.py</a:t>
            </a:r>
            <a:r>
              <a:rPr lang="en-US" sz="2400" dirty="0"/>
              <a:t>", line 3, in </a:t>
            </a:r>
            <a:endParaRPr lang="en-IN" sz="2400" dirty="0"/>
          </a:p>
          <a:p>
            <a:r>
              <a:rPr lang="en-US" sz="2400" dirty="0"/>
              <a:t>    </a:t>
            </a:r>
            <a:r>
              <a:rPr lang="en-US" sz="2400" dirty="0" err="1"/>
              <a:t>printf</a:t>
            </a:r>
            <a:r>
              <a:rPr lang="en-US" sz="2400" dirty="0"/>
              <a:t>("</a:t>
            </a:r>
            <a:r>
              <a:rPr lang="en-US" sz="2400" dirty="0" err="1"/>
              <a:t>GeeksforGeeks</a:t>
            </a:r>
            <a:r>
              <a:rPr lang="en-US" sz="2400" dirty="0"/>
              <a:t>")</a:t>
            </a:r>
            <a:endParaRPr lang="en-IN" sz="2400" dirty="0"/>
          </a:p>
          <a:p>
            <a:r>
              <a:rPr lang="en-US" sz="2400" dirty="0" err="1"/>
              <a:t>NameError</a:t>
            </a:r>
            <a:r>
              <a:rPr lang="en-US" sz="2400" dirty="0"/>
              <a:t>: name '</a:t>
            </a:r>
            <a:r>
              <a:rPr lang="en-US" sz="2400" dirty="0" err="1"/>
              <a:t>printf</a:t>
            </a:r>
            <a:r>
              <a:rPr lang="en-US" sz="2400" dirty="0"/>
              <a:t>' is not defined</a:t>
            </a:r>
            <a:endParaRPr lang="en-IN" sz="2400" dirty="0"/>
          </a:p>
        </p:txBody>
      </p:sp>
    </p:spTree>
    <p:extLst>
      <p:ext uri="{BB962C8B-B14F-4D97-AF65-F5344CB8AC3E}">
        <p14:creationId xmlns:p14="http://schemas.microsoft.com/office/powerpoint/2010/main" xmlns="" val="14948015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Logging in Python</a:t>
            </a:r>
            <a:endParaRPr lang="en-US" dirty="0"/>
          </a:p>
        </p:txBody>
      </p:sp>
      <p:sp>
        <p:nvSpPr>
          <p:cNvPr id="4" name="TextBox 3"/>
          <p:cNvSpPr txBox="1"/>
          <p:nvPr/>
        </p:nvSpPr>
        <p:spPr>
          <a:xfrm>
            <a:off x="228600" y="1066800"/>
            <a:ext cx="8763000" cy="5632311"/>
          </a:xfrm>
          <a:prstGeom prst="rect">
            <a:avLst/>
          </a:prstGeom>
          <a:noFill/>
        </p:spPr>
        <p:txBody>
          <a:bodyPr wrap="square" rtlCol="0">
            <a:spAutoFit/>
          </a:bodyPr>
          <a:lstStyle/>
          <a:p>
            <a:r>
              <a:rPr lang="en-US" b="1" dirty="0"/>
              <a:t>Example -2 :</a:t>
            </a:r>
            <a:endParaRPr lang="en-IN" dirty="0"/>
          </a:p>
          <a:p>
            <a:r>
              <a:rPr lang="en-US" dirty="0"/>
              <a:t> </a:t>
            </a:r>
            <a:endParaRPr lang="en-IN" dirty="0"/>
          </a:p>
          <a:p>
            <a:r>
              <a:rPr lang="en-US" dirty="0"/>
              <a:t># importing the module</a:t>
            </a:r>
            <a:endParaRPr lang="en-IN" dirty="0"/>
          </a:p>
          <a:p>
            <a:r>
              <a:rPr lang="en-US" dirty="0"/>
              <a:t>import logging</a:t>
            </a:r>
            <a:endParaRPr lang="en-IN" dirty="0"/>
          </a:p>
          <a:p>
            <a:r>
              <a:rPr lang="en-US" dirty="0"/>
              <a:t>  </a:t>
            </a:r>
            <a:endParaRPr lang="en-IN" dirty="0"/>
          </a:p>
          <a:p>
            <a:r>
              <a:rPr lang="en-US" dirty="0"/>
              <a:t>try: </a:t>
            </a:r>
            <a:endParaRPr lang="en-IN" dirty="0"/>
          </a:p>
          <a:p>
            <a:r>
              <a:rPr lang="en-US" dirty="0"/>
              <a:t>    </a:t>
            </a:r>
            <a:r>
              <a:rPr lang="en-US" dirty="0" err="1"/>
              <a:t>printf</a:t>
            </a:r>
            <a:r>
              <a:rPr lang="en-US" dirty="0"/>
              <a:t>("Hello")</a:t>
            </a:r>
            <a:endParaRPr lang="en-IN" dirty="0"/>
          </a:p>
          <a:p>
            <a:r>
              <a:rPr lang="en-US" dirty="0"/>
              <a:t>except Exception as Argument:</a:t>
            </a:r>
            <a:endParaRPr lang="en-IN" dirty="0"/>
          </a:p>
          <a:p>
            <a:r>
              <a:rPr lang="en-US" dirty="0"/>
              <a:t>  </a:t>
            </a:r>
            <a:endParaRPr lang="en-IN" dirty="0"/>
          </a:p>
          <a:p>
            <a:r>
              <a:rPr lang="en-US" dirty="0"/>
              <a:t>     # creating/opening a file</a:t>
            </a:r>
            <a:endParaRPr lang="en-IN" dirty="0"/>
          </a:p>
          <a:p>
            <a:r>
              <a:rPr lang="en-US" dirty="0"/>
              <a:t>     f=open("/Users/</a:t>
            </a:r>
            <a:r>
              <a:rPr lang="en-US" dirty="0" err="1"/>
              <a:t>vivekgondalia</a:t>
            </a:r>
            <a:r>
              <a:rPr lang="en-US" dirty="0"/>
              <a:t>/Desktop/</a:t>
            </a:r>
            <a:r>
              <a:rPr lang="en-US" dirty="0" err="1"/>
              <a:t>demofile2.txt</a:t>
            </a:r>
            <a:r>
              <a:rPr lang="en-US" dirty="0"/>
              <a:t>", "w")</a:t>
            </a:r>
            <a:endParaRPr lang="en-IN" dirty="0"/>
          </a:p>
          <a:p>
            <a:r>
              <a:rPr lang="en-US" dirty="0"/>
              <a:t>  </a:t>
            </a:r>
            <a:endParaRPr lang="en-IN" dirty="0"/>
          </a:p>
          <a:p>
            <a:r>
              <a:rPr lang="en-US" dirty="0"/>
              <a:t>     # writing in the file</a:t>
            </a:r>
            <a:endParaRPr lang="en-IN" dirty="0"/>
          </a:p>
          <a:p>
            <a:r>
              <a:rPr lang="en-US" dirty="0"/>
              <a:t>     </a:t>
            </a:r>
            <a:r>
              <a:rPr lang="en-US" dirty="0" err="1"/>
              <a:t>f.write</a:t>
            </a:r>
            <a:r>
              <a:rPr lang="en-US" dirty="0"/>
              <a:t>(</a:t>
            </a:r>
            <a:r>
              <a:rPr lang="en-US" dirty="0" err="1"/>
              <a:t>str</a:t>
            </a:r>
            <a:r>
              <a:rPr lang="en-US" dirty="0"/>
              <a:t>(Argument))</a:t>
            </a:r>
            <a:endParaRPr lang="en-IN" dirty="0"/>
          </a:p>
          <a:p>
            <a:r>
              <a:rPr lang="en-US" dirty="0"/>
              <a:t>       </a:t>
            </a:r>
            <a:endParaRPr lang="en-IN" dirty="0"/>
          </a:p>
          <a:p>
            <a:r>
              <a:rPr lang="en-US" dirty="0"/>
              <a:t>     # closing the file</a:t>
            </a:r>
            <a:endParaRPr lang="en-IN" dirty="0"/>
          </a:p>
          <a:p>
            <a:r>
              <a:rPr lang="en-US" dirty="0"/>
              <a:t>     </a:t>
            </a:r>
            <a:r>
              <a:rPr lang="en-US" dirty="0" err="1"/>
              <a:t>f.close</a:t>
            </a:r>
            <a:r>
              <a:rPr lang="en-US" dirty="0"/>
              <a:t>() </a:t>
            </a:r>
            <a:endParaRPr lang="en-IN" dirty="0"/>
          </a:p>
          <a:p>
            <a:r>
              <a:rPr lang="en-US" dirty="0"/>
              <a:t> </a:t>
            </a:r>
            <a:endParaRPr lang="en-IN" dirty="0"/>
          </a:p>
          <a:p>
            <a:r>
              <a:rPr lang="en-US" dirty="0"/>
              <a:t> </a:t>
            </a:r>
            <a:endParaRPr lang="en-IN" dirty="0"/>
          </a:p>
          <a:p>
            <a:r>
              <a:rPr lang="en-US" dirty="0"/>
              <a:t>Error message will be stored in file name </a:t>
            </a:r>
            <a:r>
              <a:rPr lang="en-US" i="1" dirty="0" err="1"/>
              <a:t>demofille2.txt</a:t>
            </a:r>
            <a:r>
              <a:rPr lang="en-US" i="1" dirty="0"/>
              <a:t> </a:t>
            </a:r>
            <a:r>
              <a:rPr lang="en-US" dirty="0"/>
              <a:t>in same directory as code.</a:t>
            </a:r>
            <a:endParaRPr lang="en-IN" dirty="0"/>
          </a:p>
        </p:txBody>
      </p:sp>
    </p:spTree>
    <p:extLst>
      <p:ext uri="{BB962C8B-B14F-4D97-AF65-F5344CB8AC3E}">
        <p14:creationId xmlns:p14="http://schemas.microsoft.com/office/powerpoint/2010/main" xmlns="" val="37289661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Module</a:t>
            </a:r>
            <a:endParaRPr lang="en-US" dirty="0"/>
          </a:p>
        </p:txBody>
      </p:sp>
      <p:sp>
        <p:nvSpPr>
          <p:cNvPr id="4" name="TextBox 3"/>
          <p:cNvSpPr txBox="1"/>
          <p:nvPr/>
        </p:nvSpPr>
        <p:spPr>
          <a:xfrm>
            <a:off x="228600" y="1066800"/>
            <a:ext cx="8763000"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Consider a module to be the same as a code library.</a:t>
            </a:r>
          </a:p>
          <a:p>
            <a:pPr marL="285750" indent="-285750">
              <a:buFont typeface="Arial" panose="020B0604020202020204" pitchFamily="34" charset="0"/>
              <a:buChar char="•"/>
            </a:pPr>
            <a:r>
              <a:rPr lang="en-US" sz="2800" dirty="0"/>
              <a:t>A file containing a set of functions you want to include in your application</a:t>
            </a:r>
            <a:r>
              <a:rPr lang="en-US" sz="2800" dirty="0" smtClean="0"/>
              <a:t>.</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smtClean="0"/>
          </a:p>
          <a:p>
            <a:r>
              <a:rPr lang="en-US" sz="2800" b="1" dirty="0" smtClean="0"/>
              <a:t>Example :</a:t>
            </a:r>
          </a:p>
          <a:p>
            <a:r>
              <a:rPr lang="en-US" sz="2800" dirty="0" smtClean="0"/>
              <a:t>Save </a:t>
            </a:r>
            <a:r>
              <a:rPr lang="en-US" sz="2800" dirty="0"/>
              <a:t>this code in a file named </a:t>
            </a:r>
            <a:r>
              <a:rPr lang="en-US" sz="2800" dirty="0" err="1"/>
              <a:t>mymodule.py</a:t>
            </a:r>
            <a:endParaRPr lang="en-US" sz="2800" dirty="0"/>
          </a:p>
          <a:p>
            <a:endParaRPr lang="en-US" sz="2800" dirty="0"/>
          </a:p>
          <a:p>
            <a:r>
              <a:rPr lang="en-US" sz="2800" dirty="0" err="1"/>
              <a:t>def</a:t>
            </a:r>
            <a:r>
              <a:rPr lang="en-US" sz="2800" dirty="0"/>
              <a:t> greeting(name):</a:t>
            </a:r>
          </a:p>
          <a:p>
            <a:r>
              <a:rPr lang="en-US" sz="2800" dirty="0"/>
              <a:t>  print("Hello, " + name)</a:t>
            </a:r>
          </a:p>
        </p:txBody>
      </p:sp>
    </p:spTree>
    <p:extLst>
      <p:ext uri="{BB962C8B-B14F-4D97-AF65-F5344CB8AC3E}">
        <p14:creationId xmlns:p14="http://schemas.microsoft.com/office/powerpoint/2010/main" xmlns="" val="6334001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Module</a:t>
            </a:r>
            <a:endParaRPr lang="en-US" dirty="0"/>
          </a:p>
        </p:txBody>
      </p:sp>
      <p:sp>
        <p:nvSpPr>
          <p:cNvPr id="4" name="TextBox 3"/>
          <p:cNvSpPr txBox="1"/>
          <p:nvPr/>
        </p:nvSpPr>
        <p:spPr>
          <a:xfrm>
            <a:off x="228600" y="1066800"/>
            <a:ext cx="8763000" cy="4401205"/>
          </a:xfrm>
          <a:prstGeom prst="rect">
            <a:avLst/>
          </a:prstGeom>
          <a:noFill/>
        </p:spPr>
        <p:txBody>
          <a:bodyPr wrap="square" rtlCol="0">
            <a:spAutoFit/>
          </a:bodyPr>
          <a:lstStyle/>
          <a:p>
            <a:pPr algn="just"/>
            <a:r>
              <a:rPr lang="en-US" sz="2800" b="1" dirty="0"/>
              <a:t>Use a Module</a:t>
            </a:r>
          </a:p>
          <a:p>
            <a:pPr marL="285750" indent="-285750" algn="just">
              <a:buFont typeface="Arial" panose="020B0604020202020204" pitchFamily="34" charset="0"/>
              <a:buChar char="•"/>
            </a:pPr>
            <a:r>
              <a:rPr lang="en-US" sz="2800" dirty="0"/>
              <a:t>Now we can use the module we just created, by using the import statement:</a:t>
            </a:r>
          </a:p>
          <a:p>
            <a:pPr marL="285750" indent="-285750" algn="just">
              <a:buFont typeface="Arial" panose="020B0604020202020204" pitchFamily="34" charset="0"/>
              <a:buChar char="•"/>
            </a:pPr>
            <a:endParaRPr lang="en-US" sz="2800" dirty="0"/>
          </a:p>
          <a:p>
            <a:pPr algn="just"/>
            <a:r>
              <a:rPr lang="en-US" sz="2800" b="1" dirty="0" smtClean="0"/>
              <a:t>Example :</a:t>
            </a:r>
            <a:endParaRPr lang="en-US" sz="2800" b="1" dirty="0"/>
          </a:p>
          <a:p>
            <a:pPr marL="285750" indent="-285750" algn="just">
              <a:buFont typeface="Arial" panose="020B0604020202020204" pitchFamily="34" charset="0"/>
              <a:buChar char="•"/>
            </a:pPr>
            <a:r>
              <a:rPr lang="en-US" sz="2800" dirty="0"/>
              <a:t>Import the module named </a:t>
            </a:r>
            <a:r>
              <a:rPr lang="en-US" sz="2800" dirty="0" err="1"/>
              <a:t>mymodule</a:t>
            </a:r>
            <a:r>
              <a:rPr lang="en-US" sz="2800" dirty="0"/>
              <a:t>, and call the greeting function:</a:t>
            </a:r>
          </a:p>
          <a:p>
            <a:pPr algn="just"/>
            <a:endParaRPr lang="en-US" sz="2800" dirty="0"/>
          </a:p>
          <a:p>
            <a:pPr algn="just"/>
            <a:r>
              <a:rPr lang="en-US" sz="2800" dirty="0"/>
              <a:t>import </a:t>
            </a:r>
            <a:r>
              <a:rPr lang="en-US" sz="2800" dirty="0" err="1"/>
              <a:t>mymodule</a:t>
            </a:r>
            <a:endParaRPr lang="en-US" sz="2800" dirty="0"/>
          </a:p>
          <a:p>
            <a:pPr algn="just"/>
            <a:r>
              <a:rPr lang="en-US" sz="2800" dirty="0" err="1" smtClean="0"/>
              <a:t>mymodule.greeting</a:t>
            </a:r>
            <a:r>
              <a:rPr lang="en-US" sz="2800" dirty="0" smtClean="0"/>
              <a:t>(“</a:t>
            </a:r>
            <a:r>
              <a:rPr lang="en-US" sz="2800" dirty="0" err="1" smtClean="0"/>
              <a:t>Kalpesh</a:t>
            </a:r>
            <a:r>
              <a:rPr lang="en-US" sz="2800" dirty="0" smtClean="0"/>
              <a:t>")</a:t>
            </a:r>
            <a:endParaRPr lang="en-US" sz="2800" dirty="0"/>
          </a:p>
        </p:txBody>
      </p:sp>
    </p:spTree>
    <p:extLst>
      <p:ext uri="{BB962C8B-B14F-4D97-AF65-F5344CB8AC3E}">
        <p14:creationId xmlns:p14="http://schemas.microsoft.com/office/powerpoint/2010/main" xmlns="" val="12749699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Module</a:t>
            </a:r>
            <a:endParaRPr lang="en-US" dirty="0"/>
          </a:p>
        </p:txBody>
      </p:sp>
      <p:sp>
        <p:nvSpPr>
          <p:cNvPr id="4" name="TextBox 3"/>
          <p:cNvSpPr txBox="1"/>
          <p:nvPr/>
        </p:nvSpPr>
        <p:spPr>
          <a:xfrm>
            <a:off x="228600" y="1066800"/>
            <a:ext cx="8763000" cy="4893647"/>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smtClean="0"/>
              <a:t>A </a:t>
            </a:r>
            <a:r>
              <a:rPr lang="en-US" sz="2400" dirty="0"/>
              <a:t>module allows you to logically organize your Python code. </a:t>
            </a:r>
          </a:p>
          <a:p>
            <a:pPr marL="342900" indent="-342900" algn="just">
              <a:buFont typeface="Arial" panose="020B0604020202020204" pitchFamily="34" charset="0"/>
              <a:buChar char="•"/>
            </a:pPr>
            <a:r>
              <a:rPr lang="en-US" sz="2400" dirty="0" smtClean="0"/>
              <a:t>Grouping </a:t>
            </a:r>
            <a:r>
              <a:rPr lang="en-US" sz="2400" dirty="0"/>
              <a:t>related code into a module makes the code easier to understand and use.</a:t>
            </a:r>
          </a:p>
          <a:p>
            <a:pPr marL="342900" indent="-342900" algn="just">
              <a:buFont typeface="Arial" panose="020B0604020202020204" pitchFamily="34" charset="0"/>
              <a:buChar char="•"/>
            </a:pPr>
            <a:r>
              <a:rPr lang="en-US" sz="2400" dirty="0" smtClean="0"/>
              <a:t>Simply</a:t>
            </a:r>
            <a:r>
              <a:rPr lang="en-US" sz="2400" dirty="0"/>
              <a:t>, a module is a file consisting of Python code. A module can define functions, classes and variables. A module can also include runnable code.</a:t>
            </a:r>
          </a:p>
          <a:p>
            <a:pPr marL="342900" indent="-342900" algn="just">
              <a:buFont typeface="Arial" panose="020B0604020202020204" pitchFamily="34" charset="0"/>
              <a:buChar char="•"/>
            </a:pPr>
            <a:r>
              <a:rPr lang="en-US" sz="2400" dirty="0" smtClean="0"/>
              <a:t>You </a:t>
            </a:r>
            <a:r>
              <a:rPr lang="en-US" sz="2400" dirty="0"/>
              <a:t>can use any Python source file as a module by executing an import statement in some other Python source file. </a:t>
            </a:r>
          </a:p>
          <a:p>
            <a:pPr marL="342900" indent="-342900" algn="just">
              <a:buFont typeface="Arial" panose="020B0604020202020204" pitchFamily="34" charset="0"/>
              <a:buChar char="•"/>
            </a:pPr>
            <a:r>
              <a:rPr lang="en-US" sz="2400" b="1" dirty="0"/>
              <a:t>Import </a:t>
            </a:r>
            <a:r>
              <a:rPr lang="en-US" sz="2400" b="1" dirty="0" err="1"/>
              <a:t>modname</a:t>
            </a:r>
            <a:endParaRPr lang="en-US" sz="2400" b="1" dirty="0"/>
          </a:p>
          <a:p>
            <a:pPr marL="342900" indent="-342900" algn="just">
              <a:buFont typeface="Arial" panose="020B0604020202020204" pitchFamily="34" charset="0"/>
              <a:buChar char="•"/>
            </a:pPr>
            <a:r>
              <a:rPr lang="en-US" sz="2400" dirty="0" smtClean="0"/>
              <a:t>When </a:t>
            </a:r>
            <a:r>
              <a:rPr lang="en-US" sz="2400" dirty="0"/>
              <a:t>the interpreter encounters an import statement, it imports the module if the module is present in the search path. </a:t>
            </a:r>
          </a:p>
          <a:p>
            <a:pPr marL="342900" indent="-342900" algn="just">
              <a:buFont typeface="Arial" panose="020B0604020202020204" pitchFamily="34" charset="0"/>
              <a:buChar char="•"/>
            </a:pPr>
            <a:r>
              <a:rPr lang="en-US" sz="2400" dirty="0" smtClean="0"/>
              <a:t>Python's </a:t>
            </a:r>
            <a:r>
              <a:rPr lang="en-US" sz="2400" dirty="0"/>
              <a:t>from statement lets you import specific attributes from a module into the current namespace</a:t>
            </a:r>
            <a:r>
              <a:rPr lang="en-US" sz="2400" dirty="0" smtClean="0"/>
              <a:t>.</a:t>
            </a:r>
            <a:endParaRPr lang="en-US" sz="2400" dirty="0"/>
          </a:p>
        </p:txBody>
      </p:sp>
    </p:spTree>
    <p:extLst>
      <p:ext uri="{BB962C8B-B14F-4D97-AF65-F5344CB8AC3E}">
        <p14:creationId xmlns:p14="http://schemas.microsoft.com/office/powerpoint/2010/main" xmlns="" val="21070785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Module</a:t>
            </a:r>
            <a:endParaRPr lang="en-US" dirty="0"/>
          </a:p>
        </p:txBody>
      </p:sp>
      <p:sp>
        <p:nvSpPr>
          <p:cNvPr id="4" name="TextBox 3"/>
          <p:cNvSpPr txBox="1"/>
          <p:nvPr/>
        </p:nvSpPr>
        <p:spPr>
          <a:xfrm>
            <a:off x="228600" y="1066800"/>
            <a:ext cx="8763000" cy="1569660"/>
          </a:xfrm>
          <a:prstGeom prst="rect">
            <a:avLst/>
          </a:prstGeom>
          <a:noFill/>
        </p:spPr>
        <p:txBody>
          <a:bodyPr wrap="square" rtlCol="0">
            <a:spAutoFit/>
          </a:bodyPr>
          <a:lstStyle/>
          <a:p>
            <a:pPr marL="342900" indent="-342900" algn="just">
              <a:buFont typeface="Arial" panose="020B0604020202020204" pitchFamily="34" charset="0"/>
              <a:buChar char="•"/>
            </a:pPr>
            <a:r>
              <a:rPr lang="en-US" sz="2400" b="1" dirty="0"/>
              <a:t>from </a:t>
            </a:r>
            <a:r>
              <a:rPr lang="en-US" sz="2400" b="1" dirty="0" err="1"/>
              <a:t>modname</a:t>
            </a:r>
            <a:r>
              <a:rPr lang="en-US" sz="2400" b="1" dirty="0"/>
              <a:t> import </a:t>
            </a:r>
            <a:r>
              <a:rPr lang="en-US" sz="2400" b="1" dirty="0" err="1"/>
              <a:t>mod1,mod2</a:t>
            </a:r>
            <a:endParaRPr lang="en-US" sz="2400" b="1" dirty="0"/>
          </a:p>
          <a:p>
            <a:pPr marL="342900" indent="-342900" algn="just">
              <a:buFont typeface="Arial" panose="020B0604020202020204" pitchFamily="34" charset="0"/>
              <a:buChar char="•"/>
            </a:pPr>
            <a:r>
              <a:rPr lang="en-US" sz="2400" dirty="0"/>
              <a:t>It is also possible to import all names from a module into the current namespace.</a:t>
            </a:r>
          </a:p>
          <a:p>
            <a:pPr marL="342900" indent="-342900" algn="just">
              <a:buFont typeface="Arial" panose="020B0604020202020204" pitchFamily="34" charset="0"/>
              <a:buChar char="•"/>
            </a:pPr>
            <a:r>
              <a:rPr lang="en-US" sz="2400" dirty="0"/>
              <a:t>from </a:t>
            </a:r>
            <a:r>
              <a:rPr lang="en-US" sz="2400" dirty="0" err="1"/>
              <a:t>modname</a:t>
            </a:r>
            <a:r>
              <a:rPr lang="en-US" sz="2400" dirty="0"/>
              <a:t> import *</a:t>
            </a:r>
          </a:p>
        </p:txBody>
      </p:sp>
    </p:spTree>
    <p:extLst>
      <p:ext uri="{BB962C8B-B14F-4D97-AF65-F5344CB8AC3E}">
        <p14:creationId xmlns:p14="http://schemas.microsoft.com/office/powerpoint/2010/main" xmlns="" val="136450168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Module</a:t>
            </a:r>
            <a:endParaRPr lang="en-US" dirty="0"/>
          </a:p>
        </p:txBody>
      </p:sp>
      <p:sp>
        <p:nvSpPr>
          <p:cNvPr id="4" name="TextBox 3"/>
          <p:cNvSpPr txBox="1"/>
          <p:nvPr/>
        </p:nvSpPr>
        <p:spPr>
          <a:xfrm>
            <a:off x="228600" y="1066800"/>
            <a:ext cx="8763000" cy="5632311"/>
          </a:xfrm>
          <a:prstGeom prst="rect">
            <a:avLst/>
          </a:prstGeom>
          <a:noFill/>
        </p:spPr>
        <p:txBody>
          <a:bodyPr wrap="square" rtlCol="0">
            <a:spAutoFit/>
          </a:bodyPr>
          <a:lstStyle/>
          <a:p>
            <a:r>
              <a:rPr lang="en-US" b="1" dirty="0"/>
              <a:t>Example :</a:t>
            </a:r>
            <a:endParaRPr lang="en-IN" b="1" dirty="0"/>
          </a:p>
          <a:p>
            <a:r>
              <a:rPr lang="en-US" dirty="0"/>
              <a:t> </a:t>
            </a:r>
            <a:endParaRPr lang="en-IN" dirty="0"/>
          </a:p>
          <a:p>
            <a:r>
              <a:rPr lang="en-US" u="sng" dirty="0" err="1"/>
              <a:t>Calc.py</a:t>
            </a:r>
            <a:r>
              <a:rPr lang="en-US" u="sng" dirty="0"/>
              <a:t> file :</a:t>
            </a:r>
            <a:endParaRPr lang="en-IN" dirty="0"/>
          </a:p>
          <a:p>
            <a:r>
              <a:rPr lang="en-US" dirty="0"/>
              <a:t> </a:t>
            </a:r>
            <a:endParaRPr lang="en-IN" dirty="0"/>
          </a:p>
          <a:p>
            <a:r>
              <a:rPr lang="en-US" dirty="0" err="1"/>
              <a:t>def</a:t>
            </a:r>
            <a:r>
              <a:rPr lang="en-US" dirty="0"/>
              <a:t> add(</a:t>
            </a:r>
            <a:r>
              <a:rPr lang="en-US" dirty="0" err="1"/>
              <a:t>a,b</a:t>
            </a:r>
            <a:r>
              <a:rPr lang="en-US" dirty="0"/>
              <a:t>):</a:t>
            </a:r>
            <a:endParaRPr lang="en-IN" dirty="0"/>
          </a:p>
          <a:p>
            <a:r>
              <a:rPr lang="en-US" dirty="0"/>
              <a:t>    return </a:t>
            </a:r>
            <a:r>
              <a:rPr lang="en-US" dirty="0" err="1"/>
              <a:t>a+b</a:t>
            </a:r>
            <a:endParaRPr lang="en-IN" dirty="0"/>
          </a:p>
          <a:p>
            <a:r>
              <a:rPr lang="en-US" dirty="0"/>
              <a:t> </a:t>
            </a:r>
            <a:endParaRPr lang="en-IN" dirty="0"/>
          </a:p>
          <a:p>
            <a:r>
              <a:rPr lang="en-US" dirty="0" err="1"/>
              <a:t>def</a:t>
            </a:r>
            <a:r>
              <a:rPr lang="en-US" dirty="0"/>
              <a:t> sub(</a:t>
            </a:r>
            <a:r>
              <a:rPr lang="en-US" dirty="0" err="1"/>
              <a:t>a,b</a:t>
            </a:r>
            <a:r>
              <a:rPr lang="en-US" dirty="0"/>
              <a:t>):</a:t>
            </a:r>
            <a:endParaRPr lang="en-IN" dirty="0"/>
          </a:p>
          <a:p>
            <a:r>
              <a:rPr lang="en-US" dirty="0"/>
              <a:t>    return a-b</a:t>
            </a:r>
            <a:endParaRPr lang="en-IN" dirty="0"/>
          </a:p>
          <a:p>
            <a:r>
              <a:rPr lang="en-US" dirty="0"/>
              <a:t> </a:t>
            </a:r>
            <a:endParaRPr lang="en-IN" dirty="0"/>
          </a:p>
          <a:p>
            <a:r>
              <a:rPr lang="en-US" u="sng" dirty="0" err="1"/>
              <a:t>Main.py</a:t>
            </a:r>
            <a:r>
              <a:rPr lang="en-US" u="sng" dirty="0"/>
              <a:t> file code:</a:t>
            </a:r>
            <a:endParaRPr lang="en-IN" dirty="0"/>
          </a:p>
          <a:p>
            <a:r>
              <a:rPr lang="en-US" dirty="0"/>
              <a:t> </a:t>
            </a:r>
            <a:endParaRPr lang="en-IN" dirty="0"/>
          </a:p>
          <a:p>
            <a:r>
              <a:rPr lang="en-US" dirty="0"/>
              <a:t>import </a:t>
            </a:r>
            <a:r>
              <a:rPr lang="en-US" dirty="0" err="1"/>
              <a:t>calc</a:t>
            </a:r>
            <a:endParaRPr lang="en-IN" dirty="0"/>
          </a:p>
          <a:p>
            <a:r>
              <a:rPr lang="en-US" dirty="0"/>
              <a:t> </a:t>
            </a:r>
            <a:endParaRPr lang="en-IN" dirty="0"/>
          </a:p>
          <a:p>
            <a:r>
              <a:rPr lang="en-US" dirty="0"/>
              <a:t>a=10</a:t>
            </a:r>
            <a:endParaRPr lang="en-IN" dirty="0"/>
          </a:p>
          <a:p>
            <a:r>
              <a:rPr lang="en-US" dirty="0"/>
              <a:t>b=20</a:t>
            </a:r>
            <a:endParaRPr lang="en-IN" dirty="0"/>
          </a:p>
          <a:p>
            <a:r>
              <a:rPr lang="en-US" dirty="0"/>
              <a:t> </a:t>
            </a:r>
            <a:endParaRPr lang="en-IN" dirty="0"/>
          </a:p>
          <a:p>
            <a:r>
              <a:rPr lang="en-US" dirty="0" err="1"/>
              <a:t>ans</a:t>
            </a:r>
            <a:r>
              <a:rPr lang="en-US" dirty="0"/>
              <a:t>=</a:t>
            </a:r>
            <a:r>
              <a:rPr lang="en-US" dirty="0" err="1"/>
              <a:t>calc.add</a:t>
            </a:r>
            <a:r>
              <a:rPr lang="en-US" dirty="0"/>
              <a:t>(</a:t>
            </a:r>
            <a:r>
              <a:rPr lang="en-US" dirty="0" err="1"/>
              <a:t>a,b</a:t>
            </a:r>
            <a:r>
              <a:rPr lang="en-US" dirty="0"/>
              <a:t>)</a:t>
            </a:r>
            <a:endParaRPr lang="en-IN" dirty="0"/>
          </a:p>
          <a:p>
            <a:r>
              <a:rPr lang="en-US" dirty="0"/>
              <a:t> </a:t>
            </a:r>
            <a:endParaRPr lang="en-IN" dirty="0"/>
          </a:p>
          <a:p>
            <a:r>
              <a:rPr lang="en-US" dirty="0"/>
              <a:t>print(</a:t>
            </a:r>
            <a:r>
              <a:rPr lang="en-US" dirty="0" err="1"/>
              <a:t>ans</a:t>
            </a:r>
            <a:r>
              <a:rPr lang="en-US" dirty="0" smtClean="0"/>
              <a:t>)</a:t>
            </a:r>
            <a:endParaRPr lang="en-IN" dirty="0"/>
          </a:p>
        </p:txBody>
      </p:sp>
    </p:spTree>
    <p:extLst>
      <p:ext uri="{BB962C8B-B14F-4D97-AF65-F5344CB8AC3E}">
        <p14:creationId xmlns:p14="http://schemas.microsoft.com/office/powerpoint/2010/main" xmlns="" val="76524850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Module</a:t>
            </a:r>
            <a:endParaRPr lang="en-US" dirty="0"/>
          </a:p>
        </p:txBody>
      </p:sp>
      <p:sp>
        <p:nvSpPr>
          <p:cNvPr id="4" name="TextBox 3"/>
          <p:cNvSpPr txBox="1"/>
          <p:nvPr/>
        </p:nvSpPr>
        <p:spPr>
          <a:xfrm>
            <a:off x="228600" y="1066800"/>
            <a:ext cx="8763000" cy="5632311"/>
          </a:xfrm>
          <a:prstGeom prst="rect">
            <a:avLst/>
          </a:prstGeom>
          <a:noFill/>
        </p:spPr>
        <p:txBody>
          <a:bodyPr wrap="square" rtlCol="0">
            <a:spAutoFit/>
          </a:bodyPr>
          <a:lstStyle/>
          <a:p>
            <a:r>
              <a:rPr lang="en-US" dirty="0" smtClean="0"/>
              <a:t>OR-</a:t>
            </a:r>
            <a:r>
              <a:rPr lang="en-US" dirty="0"/>
              <a:t>------------------------</a:t>
            </a:r>
            <a:endParaRPr lang="en-IN" dirty="0"/>
          </a:p>
          <a:p>
            <a:r>
              <a:rPr lang="en-US" dirty="0"/>
              <a:t> </a:t>
            </a:r>
            <a:endParaRPr lang="en-IN" dirty="0"/>
          </a:p>
          <a:p>
            <a:r>
              <a:rPr lang="en-US" dirty="0"/>
              <a:t>from </a:t>
            </a:r>
            <a:r>
              <a:rPr lang="en-US" dirty="0" err="1"/>
              <a:t>calc</a:t>
            </a:r>
            <a:r>
              <a:rPr lang="en-US" dirty="0"/>
              <a:t> import </a:t>
            </a:r>
            <a:r>
              <a:rPr lang="en-US" dirty="0" err="1"/>
              <a:t>add,sub</a:t>
            </a:r>
            <a:endParaRPr lang="en-IN" dirty="0"/>
          </a:p>
          <a:p>
            <a:r>
              <a:rPr lang="en-US" dirty="0"/>
              <a:t> </a:t>
            </a:r>
            <a:endParaRPr lang="en-IN" dirty="0"/>
          </a:p>
          <a:p>
            <a:r>
              <a:rPr lang="en-US" dirty="0"/>
              <a:t>a=10</a:t>
            </a:r>
            <a:endParaRPr lang="en-IN" dirty="0"/>
          </a:p>
          <a:p>
            <a:r>
              <a:rPr lang="en-US" dirty="0"/>
              <a:t>b=20</a:t>
            </a:r>
            <a:endParaRPr lang="en-IN" dirty="0"/>
          </a:p>
          <a:p>
            <a:r>
              <a:rPr lang="en-US" dirty="0"/>
              <a:t> </a:t>
            </a:r>
            <a:endParaRPr lang="en-IN" dirty="0"/>
          </a:p>
          <a:p>
            <a:r>
              <a:rPr lang="en-US" dirty="0" err="1"/>
              <a:t>ans</a:t>
            </a:r>
            <a:r>
              <a:rPr lang="en-US" dirty="0"/>
              <a:t>=add(</a:t>
            </a:r>
            <a:r>
              <a:rPr lang="en-US" dirty="0" err="1"/>
              <a:t>a,b</a:t>
            </a:r>
            <a:r>
              <a:rPr lang="en-US" dirty="0"/>
              <a:t>)</a:t>
            </a:r>
            <a:endParaRPr lang="en-IN" dirty="0"/>
          </a:p>
          <a:p>
            <a:r>
              <a:rPr lang="en-US" dirty="0"/>
              <a:t> </a:t>
            </a:r>
            <a:endParaRPr lang="en-IN" dirty="0"/>
          </a:p>
          <a:p>
            <a:r>
              <a:rPr lang="en-US" dirty="0"/>
              <a:t>print(</a:t>
            </a:r>
            <a:r>
              <a:rPr lang="en-US" dirty="0" err="1"/>
              <a:t>ans</a:t>
            </a:r>
            <a:r>
              <a:rPr lang="en-US" dirty="0"/>
              <a:t>)</a:t>
            </a:r>
            <a:endParaRPr lang="en-IN" dirty="0"/>
          </a:p>
          <a:p>
            <a:r>
              <a:rPr lang="en-US" dirty="0"/>
              <a:t> </a:t>
            </a:r>
            <a:endParaRPr lang="en-IN" dirty="0"/>
          </a:p>
          <a:p>
            <a:r>
              <a:rPr lang="en-US" dirty="0" smtClean="0"/>
              <a:t>OR-</a:t>
            </a:r>
            <a:r>
              <a:rPr lang="en-US" dirty="0"/>
              <a:t>------------------------</a:t>
            </a:r>
            <a:endParaRPr lang="en-IN" dirty="0"/>
          </a:p>
          <a:p>
            <a:r>
              <a:rPr lang="en-US" dirty="0"/>
              <a:t> </a:t>
            </a:r>
            <a:endParaRPr lang="en-IN" dirty="0"/>
          </a:p>
          <a:p>
            <a:r>
              <a:rPr lang="en-US" dirty="0"/>
              <a:t>from </a:t>
            </a:r>
            <a:r>
              <a:rPr lang="en-US" dirty="0" err="1"/>
              <a:t>calc</a:t>
            </a:r>
            <a:r>
              <a:rPr lang="en-US" dirty="0"/>
              <a:t> import *</a:t>
            </a:r>
            <a:endParaRPr lang="en-IN" dirty="0"/>
          </a:p>
          <a:p>
            <a:r>
              <a:rPr lang="en-US" dirty="0" smtClean="0"/>
              <a:t>a=10</a:t>
            </a:r>
            <a:endParaRPr lang="en-IN" dirty="0"/>
          </a:p>
          <a:p>
            <a:r>
              <a:rPr lang="en-US" dirty="0"/>
              <a:t>b=20</a:t>
            </a:r>
            <a:endParaRPr lang="en-IN" dirty="0"/>
          </a:p>
          <a:p>
            <a:r>
              <a:rPr lang="en-US" dirty="0"/>
              <a:t> </a:t>
            </a:r>
            <a:endParaRPr lang="en-IN" dirty="0"/>
          </a:p>
          <a:p>
            <a:r>
              <a:rPr lang="en-US" dirty="0" err="1"/>
              <a:t>ans</a:t>
            </a:r>
            <a:r>
              <a:rPr lang="en-US" dirty="0"/>
              <a:t>=add(</a:t>
            </a:r>
            <a:r>
              <a:rPr lang="en-US" dirty="0" err="1"/>
              <a:t>a,b</a:t>
            </a:r>
            <a:r>
              <a:rPr lang="en-US" dirty="0"/>
              <a:t>)</a:t>
            </a:r>
            <a:endParaRPr lang="en-IN" dirty="0"/>
          </a:p>
          <a:p>
            <a:r>
              <a:rPr lang="en-US" dirty="0"/>
              <a:t> </a:t>
            </a:r>
            <a:endParaRPr lang="en-IN" dirty="0"/>
          </a:p>
          <a:p>
            <a:r>
              <a:rPr lang="en-US" dirty="0"/>
              <a:t>print(</a:t>
            </a:r>
            <a:r>
              <a:rPr lang="en-US" dirty="0" err="1"/>
              <a:t>ans</a:t>
            </a:r>
            <a:r>
              <a:rPr lang="en-US" dirty="0"/>
              <a:t>)</a:t>
            </a:r>
            <a:endParaRPr lang="en-IN" dirty="0"/>
          </a:p>
        </p:txBody>
      </p:sp>
    </p:spTree>
    <p:extLst>
      <p:ext uri="{BB962C8B-B14F-4D97-AF65-F5344CB8AC3E}">
        <p14:creationId xmlns:p14="http://schemas.microsoft.com/office/powerpoint/2010/main" xmlns="" val="217438759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Re-naming a Module</a:t>
            </a:r>
          </a:p>
        </p:txBody>
      </p:sp>
      <p:sp>
        <p:nvSpPr>
          <p:cNvPr id="4" name="TextBox 3"/>
          <p:cNvSpPr txBox="1"/>
          <p:nvPr/>
        </p:nvSpPr>
        <p:spPr>
          <a:xfrm>
            <a:off x="228600" y="1066800"/>
            <a:ext cx="8763000" cy="1754326"/>
          </a:xfrm>
          <a:prstGeom prst="rect">
            <a:avLst/>
          </a:prstGeom>
          <a:noFill/>
        </p:spPr>
        <p:txBody>
          <a:bodyPr wrap="square" rtlCol="0">
            <a:spAutoFit/>
          </a:bodyPr>
          <a:lstStyle/>
          <a:p>
            <a:r>
              <a:rPr lang="en-US" b="1" dirty="0" smtClean="0"/>
              <a:t>Example :</a:t>
            </a:r>
            <a:endParaRPr lang="en-US" b="1" dirty="0"/>
          </a:p>
          <a:p>
            <a:r>
              <a:rPr lang="en-US" dirty="0"/>
              <a:t>Create an alias for </a:t>
            </a:r>
            <a:r>
              <a:rPr lang="en-US" dirty="0" err="1"/>
              <a:t>mymodule</a:t>
            </a:r>
            <a:r>
              <a:rPr lang="en-US" dirty="0"/>
              <a:t> called mx:</a:t>
            </a:r>
          </a:p>
          <a:p>
            <a:endParaRPr lang="en-US" dirty="0"/>
          </a:p>
          <a:p>
            <a:r>
              <a:rPr lang="en-US" dirty="0"/>
              <a:t>import </a:t>
            </a:r>
            <a:r>
              <a:rPr lang="en-US" dirty="0" err="1"/>
              <a:t>mymodule</a:t>
            </a:r>
            <a:r>
              <a:rPr lang="en-US" dirty="0"/>
              <a:t> as </a:t>
            </a:r>
            <a:r>
              <a:rPr lang="en-US" dirty="0" smtClean="0"/>
              <a:t>mx</a:t>
            </a:r>
            <a:endParaRPr lang="en-US" dirty="0"/>
          </a:p>
          <a:p>
            <a:r>
              <a:rPr lang="en-US" dirty="0"/>
              <a:t>a = </a:t>
            </a:r>
            <a:r>
              <a:rPr lang="en-US" dirty="0" err="1"/>
              <a:t>mx.person1</a:t>
            </a:r>
            <a:r>
              <a:rPr lang="en-US" dirty="0"/>
              <a:t>["age"]</a:t>
            </a:r>
          </a:p>
          <a:p>
            <a:r>
              <a:rPr lang="en-US" dirty="0"/>
              <a:t>print(a)</a:t>
            </a:r>
            <a:endParaRPr lang="en-IN" dirty="0"/>
          </a:p>
        </p:txBody>
      </p:sp>
    </p:spTree>
    <p:extLst>
      <p:ext uri="{BB962C8B-B14F-4D97-AF65-F5344CB8AC3E}">
        <p14:creationId xmlns:p14="http://schemas.microsoft.com/office/powerpoint/2010/main" xmlns="" val="250219978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Module in detail</a:t>
            </a:r>
            <a:endParaRPr lang="en-US" b="1" dirty="0"/>
          </a:p>
        </p:txBody>
      </p:sp>
      <p:sp>
        <p:nvSpPr>
          <p:cNvPr id="4" name="TextBox 3"/>
          <p:cNvSpPr txBox="1"/>
          <p:nvPr/>
        </p:nvSpPr>
        <p:spPr>
          <a:xfrm>
            <a:off x="228600" y="1066800"/>
            <a:ext cx="8763000" cy="3785652"/>
          </a:xfrm>
          <a:prstGeom prst="rect">
            <a:avLst/>
          </a:prstGeom>
          <a:noFill/>
        </p:spPr>
        <p:txBody>
          <a:bodyPr wrap="square" rtlCol="0">
            <a:spAutoFit/>
          </a:bodyPr>
          <a:lstStyle/>
          <a:p>
            <a:pPr algn="just" fontAlgn="base"/>
            <a:r>
              <a:rPr lang="en-US" sz="2400" b="1" dirty="0"/>
              <a:t>Built-in Modules in Python</a:t>
            </a:r>
          </a:p>
          <a:p>
            <a:pPr algn="just" fontAlgn="base"/>
            <a:r>
              <a:rPr lang="en-US" sz="2400" dirty="0"/>
              <a:t>One of the many superpowers of Python is that it comes with a “rich standard library”. This rich standard library contains lots of built-in modules. Hence, it provides a lot of reusable code.</a:t>
            </a:r>
          </a:p>
          <a:p>
            <a:pPr algn="just" fontAlgn="base"/>
            <a:endParaRPr lang="en-US" sz="2400" dirty="0"/>
          </a:p>
          <a:p>
            <a:pPr algn="just" fontAlgn="base"/>
            <a:r>
              <a:rPr lang="en-US" sz="2400" dirty="0"/>
              <a:t>To name a few, Python contains modules like “</a:t>
            </a:r>
            <a:r>
              <a:rPr lang="en-US" sz="2400" dirty="0" err="1"/>
              <a:t>os</a:t>
            </a:r>
            <a:r>
              <a:rPr lang="en-US" sz="2400" dirty="0"/>
              <a:t>”, “sys”, “</a:t>
            </a:r>
            <a:r>
              <a:rPr lang="en-US" sz="2400" dirty="0" err="1"/>
              <a:t>datetime</a:t>
            </a:r>
            <a:r>
              <a:rPr lang="en-US" sz="2400" dirty="0"/>
              <a:t>”, “random”.</a:t>
            </a:r>
          </a:p>
          <a:p>
            <a:pPr algn="just" fontAlgn="base"/>
            <a:r>
              <a:rPr lang="en-US" sz="2400" dirty="0"/>
              <a:t/>
            </a:r>
            <a:br>
              <a:rPr lang="en-US" sz="2400" dirty="0"/>
            </a:br>
            <a:r>
              <a:rPr lang="en-US" sz="2400" dirty="0"/>
              <a:t>You can import and use any of the built-in modules whenever you like in your program.</a:t>
            </a:r>
          </a:p>
        </p:txBody>
      </p:sp>
    </p:spTree>
    <p:extLst>
      <p:ext uri="{BB962C8B-B14F-4D97-AF65-F5344CB8AC3E}">
        <p14:creationId xmlns:p14="http://schemas.microsoft.com/office/powerpoint/2010/main" xmlns="" val="36096606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Importing built-in module</a:t>
            </a:r>
            <a:endParaRPr lang="en-US" b="1" dirty="0"/>
          </a:p>
        </p:txBody>
      </p:sp>
      <p:sp>
        <p:nvSpPr>
          <p:cNvPr id="4" name="TextBox 3"/>
          <p:cNvSpPr txBox="1"/>
          <p:nvPr/>
        </p:nvSpPr>
        <p:spPr>
          <a:xfrm>
            <a:off x="228600" y="1066800"/>
            <a:ext cx="8763000" cy="3416320"/>
          </a:xfrm>
          <a:prstGeom prst="rect">
            <a:avLst/>
          </a:prstGeom>
          <a:noFill/>
        </p:spPr>
        <p:txBody>
          <a:bodyPr wrap="square" rtlCol="0">
            <a:spAutoFit/>
          </a:bodyPr>
          <a:lstStyle/>
          <a:p>
            <a:r>
              <a:rPr lang="en-US" sz="2400" b="1" dirty="0"/>
              <a:t>Let’s now import a built-in module into our Python shell:</a:t>
            </a:r>
          </a:p>
          <a:p>
            <a:endParaRPr lang="en-US" sz="2400" b="1" dirty="0"/>
          </a:p>
          <a:p>
            <a:pPr fontAlgn="base"/>
            <a:r>
              <a:rPr lang="en-US" sz="2400" dirty="0"/>
              <a:t>&gt;&gt;&gt; import random</a:t>
            </a:r>
          </a:p>
          <a:p>
            <a:pPr fontAlgn="base"/>
            <a:endParaRPr lang="en-US" sz="2400" dirty="0"/>
          </a:p>
          <a:p>
            <a:pPr fontAlgn="base"/>
            <a:r>
              <a:rPr lang="en-US" sz="2400" dirty="0"/>
              <a:t>To call the </a:t>
            </a:r>
            <a:r>
              <a:rPr lang="en-US" sz="2400" dirty="0" err="1"/>
              <a:t>randint</a:t>
            </a:r>
            <a:r>
              <a:rPr lang="en-US" sz="2400" dirty="0"/>
              <a:t> </a:t>
            </a:r>
            <a:r>
              <a:rPr lang="en-US" sz="2400" b="1" dirty="0"/>
              <a:t>function</a:t>
            </a:r>
            <a:r>
              <a:rPr lang="en-US" sz="2400" dirty="0"/>
              <a:t> </a:t>
            </a:r>
            <a:r>
              <a:rPr lang="en-US" sz="2400" b="1" dirty="0"/>
              <a:t>of</a:t>
            </a:r>
            <a:r>
              <a:rPr lang="en-US" sz="2400" dirty="0"/>
              <a:t> random, we simply need to use the dot notation:</a:t>
            </a:r>
          </a:p>
          <a:p>
            <a:pPr fontAlgn="base"/>
            <a:endParaRPr lang="en-US" sz="2400" dirty="0"/>
          </a:p>
          <a:p>
            <a:pPr fontAlgn="base"/>
            <a:r>
              <a:rPr lang="en-US" sz="2400" dirty="0"/>
              <a:t>&gt;&gt;&gt; </a:t>
            </a:r>
            <a:r>
              <a:rPr lang="en-US" sz="2400" dirty="0" err="1"/>
              <a:t>random.randint</a:t>
            </a:r>
            <a:r>
              <a:rPr lang="en-US" sz="2400" dirty="0"/>
              <a:t>(20, 100)</a:t>
            </a:r>
          </a:p>
          <a:p>
            <a:endParaRPr lang="en-US" sz="2400" dirty="0"/>
          </a:p>
        </p:txBody>
      </p:sp>
    </p:spTree>
    <p:extLst>
      <p:ext uri="{BB962C8B-B14F-4D97-AF65-F5344CB8AC3E}">
        <p14:creationId xmlns:p14="http://schemas.microsoft.com/office/powerpoint/2010/main" xmlns="" val="418860564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The </a:t>
            </a:r>
            <a:r>
              <a:rPr lang="en-US" b="1" dirty="0" err="1" smtClean="0"/>
              <a:t>dir</a:t>
            </a:r>
            <a:r>
              <a:rPr lang="en-US" b="1" dirty="0" smtClean="0"/>
              <a:t>() function</a:t>
            </a:r>
            <a:endParaRPr lang="en-US" b="1" dirty="0"/>
          </a:p>
        </p:txBody>
      </p:sp>
      <p:sp>
        <p:nvSpPr>
          <p:cNvPr id="4" name="TextBox 3"/>
          <p:cNvSpPr txBox="1"/>
          <p:nvPr/>
        </p:nvSpPr>
        <p:spPr>
          <a:xfrm>
            <a:off x="228600" y="1066800"/>
            <a:ext cx="8763000" cy="4401205"/>
          </a:xfrm>
          <a:prstGeom prst="rect">
            <a:avLst/>
          </a:prstGeom>
          <a:noFill/>
        </p:spPr>
        <p:txBody>
          <a:bodyPr wrap="square" rtlCol="0">
            <a:spAutoFit/>
          </a:bodyPr>
          <a:lstStyle/>
          <a:p>
            <a:pPr fontAlgn="base"/>
            <a:r>
              <a:rPr lang="en-US" sz="2000" b="1" dirty="0"/>
              <a:t>Python </a:t>
            </a:r>
            <a:r>
              <a:rPr lang="en-US" sz="2000" b="1" dirty="0" err="1"/>
              <a:t>dir</a:t>
            </a:r>
            <a:r>
              <a:rPr lang="en-US" sz="2000" b="1" dirty="0"/>
              <a:t>() function</a:t>
            </a:r>
          </a:p>
          <a:p>
            <a:pPr fontAlgn="base"/>
            <a:r>
              <a:rPr lang="en-US" sz="2000" dirty="0"/>
              <a:t>The </a:t>
            </a:r>
            <a:r>
              <a:rPr lang="en-US" sz="2000" dirty="0" err="1"/>
              <a:t>dir</a:t>
            </a:r>
            <a:r>
              <a:rPr lang="en-US" sz="2000" dirty="0"/>
              <a:t>() function will return the names of all the properties and methods present in a module.</a:t>
            </a:r>
          </a:p>
          <a:p>
            <a:pPr fontAlgn="base"/>
            <a:r>
              <a:rPr lang="en-US" sz="2000" dirty="0"/>
              <a:t>&gt;&gt;&gt; import random</a:t>
            </a:r>
          </a:p>
          <a:p>
            <a:pPr fontAlgn="base"/>
            <a:r>
              <a:rPr lang="en-US" sz="2000" dirty="0"/>
              <a:t>&gt;&gt;&gt; </a:t>
            </a:r>
            <a:r>
              <a:rPr lang="en-US" sz="2000" dirty="0" err="1"/>
              <a:t>dir</a:t>
            </a:r>
            <a:r>
              <a:rPr lang="en-US" sz="2000" dirty="0"/>
              <a:t>(random)</a:t>
            </a:r>
          </a:p>
          <a:p>
            <a:pPr fontAlgn="base"/>
            <a:r>
              <a:rPr lang="en-US" sz="2000" dirty="0"/>
              <a:t>['</a:t>
            </a:r>
            <a:r>
              <a:rPr lang="en-US" sz="2000" dirty="0" err="1"/>
              <a:t>BPF</a:t>
            </a:r>
            <a:r>
              <a:rPr lang="en-US" sz="2000" dirty="0"/>
              <a:t>', '</a:t>
            </a:r>
            <a:r>
              <a:rPr lang="en-US" sz="2000" dirty="0" err="1"/>
              <a:t>LOG4</a:t>
            </a:r>
            <a:r>
              <a:rPr lang="en-US" sz="2000" dirty="0"/>
              <a:t>', '</a:t>
            </a:r>
            <a:r>
              <a:rPr lang="en-US" sz="2000" dirty="0" err="1"/>
              <a:t>NV_MAGICCONST</a:t>
            </a:r>
            <a:r>
              <a:rPr lang="en-US" sz="2000" dirty="0"/>
              <a:t>', '</a:t>
            </a:r>
            <a:r>
              <a:rPr lang="en-US" sz="2000" dirty="0" err="1"/>
              <a:t>RECIP_BPF</a:t>
            </a:r>
            <a:r>
              <a:rPr lang="en-US" sz="2000" dirty="0"/>
              <a:t>', 'Random', '</a:t>
            </a:r>
            <a:r>
              <a:rPr lang="en-US" sz="2000" dirty="0" err="1"/>
              <a:t>SG_MAGICCONST</a:t>
            </a:r>
            <a:r>
              <a:rPr lang="en-US" sz="2000" dirty="0"/>
              <a:t>', '</a:t>
            </a:r>
            <a:r>
              <a:rPr lang="en-US" sz="2000" dirty="0" err="1"/>
              <a:t>SystemRandom</a:t>
            </a:r>
            <a:r>
              <a:rPr lang="en-US" sz="2000" dirty="0"/>
              <a:t>', '</a:t>
            </a:r>
            <a:r>
              <a:rPr lang="en-US" sz="2000" dirty="0" err="1"/>
              <a:t>TWOPI</a:t>
            </a:r>
            <a:r>
              <a:rPr lang="en-US" sz="2000" dirty="0"/>
              <a:t>', '_Sequence', '_Set', '__all__', '__</a:t>
            </a:r>
            <a:r>
              <a:rPr lang="en-US" sz="2000" dirty="0" err="1"/>
              <a:t>builtins</a:t>
            </a:r>
            <a:r>
              <a:rPr lang="en-US" sz="2000" dirty="0"/>
              <a:t>__', '__cached__', '__doc__', '__file__', '__loader__', '__name__', '__package__', '__spec__', '_accumulate', '_</a:t>
            </a:r>
            <a:r>
              <a:rPr lang="en-US" sz="2000" dirty="0" err="1"/>
              <a:t>acos</a:t>
            </a:r>
            <a:r>
              <a:rPr lang="en-US" sz="2000" dirty="0"/>
              <a:t>', '_bisect', '_ceil', '_cos', '_e', '_</a:t>
            </a:r>
            <a:r>
              <a:rPr lang="en-US" sz="2000" dirty="0" err="1"/>
              <a:t>exp</a:t>
            </a:r>
            <a:r>
              <a:rPr lang="en-US" sz="2000" dirty="0"/>
              <a:t>', '_</a:t>
            </a:r>
            <a:r>
              <a:rPr lang="en-US" sz="2000" dirty="0" err="1"/>
              <a:t>inst</a:t>
            </a:r>
            <a:r>
              <a:rPr lang="en-US" sz="2000" dirty="0"/>
              <a:t>', '_log', '_</a:t>
            </a:r>
            <a:r>
              <a:rPr lang="en-US" sz="2000" dirty="0" err="1"/>
              <a:t>os</a:t>
            </a:r>
            <a:r>
              <a:rPr lang="en-US" sz="2000" dirty="0"/>
              <a:t>', '_pi', '_random', '_repeat', '_</a:t>
            </a:r>
            <a:r>
              <a:rPr lang="en-US" sz="2000" dirty="0" err="1"/>
              <a:t>sha512</a:t>
            </a:r>
            <a:r>
              <a:rPr lang="en-US" sz="2000" dirty="0"/>
              <a:t>', '_sin', '_</a:t>
            </a:r>
            <a:r>
              <a:rPr lang="en-US" sz="2000" dirty="0" err="1"/>
              <a:t>sqrt</a:t>
            </a:r>
            <a:r>
              <a:rPr lang="en-US" sz="2000" dirty="0"/>
              <a:t>', '_test', '_</a:t>
            </a:r>
            <a:r>
              <a:rPr lang="en-US" sz="2000" dirty="0" err="1"/>
              <a:t>test_generator</a:t>
            </a:r>
            <a:r>
              <a:rPr lang="en-US" sz="2000" dirty="0"/>
              <a:t>', '_</a:t>
            </a:r>
            <a:r>
              <a:rPr lang="en-US" sz="2000" dirty="0" err="1"/>
              <a:t>urandom</a:t>
            </a:r>
            <a:r>
              <a:rPr lang="en-US" sz="2000" dirty="0"/>
              <a:t>', '_warn', '</a:t>
            </a:r>
            <a:r>
              <a:rPr lang="en-US" sz="2000" dirty="0" err="1"/>
              <a:t>betavariate</a:t>
            </a:r>
            <a:r>
              <a:rPr lang="en-US" sz="2000" dirty="0"/>
              <a:t>', 'choice', 'choices', '</a:t>
            </a:r>
            <a:r>
              <a:rPr lang="en-US" sz="2000" dirty="0" err="1"/>
              <a:t>expovariate</a:t>
            </a:r>
            <a:r>
              <a:rPr lang="en-US" sz="2000" dirty="0"/>
              <a:t>', '</a:t>
            </a:r>
            <a:r>
              <a:rPr lang="en-US" sz="2000" dirty="0" err="1"/>
              <a:t>gammavariate</a:t>
            </a:r>
            <a:r>
              <a:rPr lang="en-US" sz="2000" dirty="0"/>
              <a:t>', 'gauss', '</a:t>
            </a:r>
            <a:r>
              <a:rPr lang="en-US" sz="2000" dirty="0" err="1"/>
              <a:t>getrandbits</a:t>
            </a:r>
            <a:r>
              <a:rPr lang="en-US" sz="2000" dirty="0"/>
              <a:t>', '</a:t>
            </a:r>
            <a:r>
              <a:rPr lang="en-US" sz="2000" dirty="0" err="1"/>
              <a:t>getstate</a:t>
            </a:r>
            <a:r>
              <a:rPr lang="en-US" sz="2000" dirty="0"/>
              <a:t>', '</a:t>
            </a:r>
            <a:r>
              <a:rPr lang="en-US" sz="2000" dirty="0" err="1"/>
              <a:t>lognormvariate</a:t>
            </a:r>
            <a:r>
              <a:rPr lang="en-US" sz="2000" dirty="0"/>
              <a:t>', '</a:t>
            </a:r>
            <a:r>
              <a:rPr lang="en-US" sz="2000" dirty="0" err="1"/>
              <a:t>normalvariate</a:t>
            </a:r>
            <a:r>
              <a:rPr lang="en-US" sz="2000" dirty="0"/>
              <a:t>', '</a:t>
            </a:r>
            <a:r>
              <a:rPr lang="en-US" sz="2000" dirty="0" err="1"/>
              <a:t>paretovariate</a:t>
            </a:r>
            <a:r>
              <a:rPr lang="en-US" sz="2000" dirty="0"/>
              <a:t>', '</a:t>
            </a:r>
            <a:r>
              <a:rPr lang="en-US" sz="2000" dirty="0" err="1"/>
              <a:t>randint</a:t>
            </a:r>
            <a:r>
              <a:rPr lang="en-US" sz="2000" dirty="0"/>
              <a:t>', 'random', '</a:t>
            </a:r>
            <a:r>
              <a:rPr lang="en-US" sz="2000" dirty="0" err="1"/>
              <a:t>randrange</a:t>
            </a:r>
            <a:r>
              <a:rPr lang="en-US" sz="2000" dirty="0"/>
              <a:t>', 'sample', 'seed', '</a:t>
            </a:r>
            <a:r>
              <a:rPr lang="en-US" sz="2000" dirty="0" err="1"/>
              <a:t>setstate</a:t>
            </a:r>
            <a:r>
              <a:rPr lang="en-US" sz="2000" dirty="0"/>
              <a:t>', 'shuffle', 'triangular', 'uniform', '</a:t>
            </a:r>
            <a:r>
              <a:rPr lang="en-US" sz="2000" dirty="0" err="1"/>
              <a:t>vonmisesvariate</a:t>
            </a:r>
            <a:r>
              <a:rPr lang="en-US" sz="2000" dirty="0"/>
              <a:t>', '</a:t>
            </a:r>
            <a:r>
              <a:rPr lang="en-US" sz="2000" dirty="0" err="1"/>
              <a:t>weibullvariate</a:t>
            </a:r>
            <a:r>
              <a:rPr lang="en-US" sz="2000" dirty="0"/>
              <a:t>‘]</a:t>
            </a:r>
          </a:p>
        </p:txBody>
      </p:sp>
    </p:spTree>
    <p:extLst>
      <p:ext uri="{BB962C8B-B14F-4D97-AF65-F5344CB8AC3E}">
        <p14:creationId xmlns:p14="http://schemas.microsoft.com/office/powerpoint/2010/main" xmlns="" val="49080164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fontScale="90000"/>
          </a:bodyPr>
          <a:lstStyle/>
          <a:p>
            <a:r>
              <a:rPr lang="en-US" b="1" dirty="0" smtClean="0"/>
              <a:t>Difference between Modules and Libraries</a:t>
            </a:r>
            <a:endParaRPr lang="en-US" b="1" dirty="0"/>
          </a:p>
        </p:txBody>
      </p:sp>
      <p:graphicFrame>
        <p:nvGraphicFramePr>
          <p:cNvPr id="5" name="Table 4"/>
          <p:cNvGraphicFramePr>
            <a:graphicFrameLocks noGrp="1"/>
          </p:cNvGraphicFramePr>
          <p:nvPr>
            <p:extLst>
              <p:ext uri="{D42A27DB-BD31-4B8C-83A1-F6EECF244321}">
                <p14:modId xmlns:p14="http://schemas.microsoft.com/office/powerpoint/2010/main" xmlns="" val="3139792325"/>
              </p:ext>
            </p:extLst>
          </p:nvPr>
        </p:nvGraphicFramePr>
        <p:xfrm>
          <a:off x="266700" y="762000"/>
          <a:ext cx="8610600" cy="5908270"/>
        </p:xfrm>
        <a:graphic>
          <a:graphicData uri="http://schemas.openxmlformats.org/drawingml/2006/table">
            <a:tbl>
              <a:tblPr/>
              <a:tblGrid>
                <a:gridCol w="4305300">
                  <a:extLst>
                    <a:ext uri="{9D8B030D-6E8A-4147-A177-3AD203B41FA5}">
                      <a16:colId xmlns:a16="http://schemas.microsoft.com/office/drawing/2014/main" xmlns="" val="20000"/>
                    </a:ext>
                  </a:extLst>
                </a:gridCol>
                <a:gridCol w="4305300">
                  <a:extLst>
                    <a:ext uri="{9D8B030D-6E8A-4147-A177-3AD203B41FA5}">
                      <a16:colId xmlns:a16="http://schemas.microsoft.com/office/drawing/2014/main" xmlns="" val="20001"/>
                    </a:ext>
                  </a:extLst>
                </a:gridCol>
              </a:tblGrid>
              <a:tr h="114495">
                <a:tc>
                  <a:txBody>
                    <a:bodyPr/>
                    <a:lstStyle/>
                    <a:p>
                      <a:r>
                        <a:rPr lang="en-US" sz="2700" dirty="0"/>
                        <a:t>Modules</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solidFill>
                      <a:srgbClr val="04703C"/>
                    </a:solidFill>
                  </a:tcPr>
                </a:tc>
                <a:tc>
                  <a:txBody>
                    <a:bodyPr/>
                    <a:lstStyle/>
                    <a:p>
                      <a:r>
                        <a:rPr lang="en-US" sz="2700" dirty="0"/>
                        <a:t>Libraries</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solidFill>
                      <a:srgbClr val="04703C"/>
                    </a:solidFill>
                  </a:tcPr>
                </a:tc>
                <a:extLst>
                  <a:ext uri="{0D108BD9-81ED-4DB2-BD59-A6C34878D82A}">
                    <a16:rowId xmlns:a16="http://schemas.microsoft.com/office/drawing/2014/main" xmlns="" val="10000"/>
                  </a:ext>
                </a:extLst>
              </a:tr>
              <a:tr h="284468">
                <a:tc>
                  <a:txBody>
                    <a:bodyPr/>
                    <a:lstStyle/>
                    <a:p>
                      <a:r>
                        <a:rPr lang="en-US" sz="2700" dirty="0"/>
                        <a:t>A module is a collection of code or functions that uses the .</a:t>
                      </a:r>
                      <a:r>
                        <a:rPr lang="en-US" sz="2700" dirty="0" err="1"/>
                        <a:t>py</a:t>
                      </a:r>
                      <a:r>
                        <a:rPr lang="en-US" sz="2700" dirty="0"/>
                        <a:t> extension.</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tcPr>
                </a:tc>
                <a:tc>
                  <a:txBody>
                    <a:bodyPr/>
                    <a:lstStyle/>
                    <a:p>
                      <a:r>
                        <a:rPr lang="en-US" sz="2700"/>
                        <a:t>A Python library is a set of related modules or packages bundled together.</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tcPr>
                </a:tc>
                <a:extLst>
                  <a:ext uri="{0D108BD9-81ED-4DB2-BD59-A6C34878D82A}">
                    <a16:rowId xmlns:a16="http://schemas.microsoft.com/office/drawing/2014/main" xmlns="" val="10001"/>
                  </a:ext>
                </a:extLst>
              </a:tr>
              <a:tr h="284468">
                <a:tc>
                  <a:txBody>
                    <a:bodyPr/>
                    <a:lstStyle/>
                    <a:p>
                      <a:r>
                        <a:rPr lang="en-US" sz="2700"/>
                        <a:t>It is used by the programmers as well as the developers.</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solidFill>
                      <a:srgbClr val="F1F1F1"/>
                    </a:solidFill>
                  </a:tcPr>
                </a:tc>
                <a:tc>
                  <a:txBody>
                    <a:bodyPr/>
                    <a:lstStyle/>
                    <a:p>
                      <a:r>
                        <a:rPr lang="en-US" sz="2700"/>
                        <a:t>It is mostly used by the community members, developers, and researchers.</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solidFill>
                      <a:srgbClr val="F1F1F1"/>
                    </a:solidFill>
                  </a:tcPr>
                </a:tc>
                <a:extLst>
                  <a:ext uri="{0D108BD9-81ED-4DB2-BD59-A6C34878D82A}">
                    <a16:rowId xmlns:a16="http://schemas.microsoft.com/office/drawing/2014/main" xmlns="" val="10002"/>
                  </a:ext>
                </a:extLst>
              </a:tr>
              <a:tr h="199482">
                <a:tc>
                  <a:txBody>
                    <a:bodyPr/>
                    <a:lstStyle/>
                    <a:p>
                      <a:r>
                        <a:rPr lang="en-US" sz="2700"/>
                        <a:t>Use of modules makes reading the code easier.</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tcPr>
                </a:tc>
                <a:tc>
                  <a:txBody>
                    <a:bodyPr/>
                    <a:lstStyle/>
                    <a:p>
                      <a:r>
                        <a:rPr lang="en-US" sz="2700"/>
                        <a:t>Libraries do not contribute in better readability.</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tcPr>
                </a:tc>
                <a:extLst>
                  <a:ext uri="{0D108BD9-81ED-4DB2-BD59-A6C34878D82A}">
                    <a16:rowId xmlns:a16="http://schemas.microsoft.com/office/drawing/2014/main" xmlns="" val="10003"/>
                  </a:ext>
                </a:extLst>
              </a:tr>
              <a:tr h="454441">
                <a:tc>
                  <a:txBody>
                    <a:bodyPr/>
                    <a:lstStyle/>
                    <a:p>
                      <a:r>
                        <a:rPr lang="en-US" sz="2700"/>
                        <a:t>Modules logically cluster the functionality that programmers can import to reuse their code or set of statements.</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solidFill>
                      <a:srgbClr val="F1F1F1"/>
                    </a:solidFill>
                  </a:tcPr>
                </a:tc>
                <a:tc>
                  <a:txBody>
                    <a:bodyPr/>
                    <a:lstStyle/>
                    <a:p>
                      <a:r>
                        <a:rPr lang="en-US" sz="2700" dirty="0"/>
                        <a:t>Libraries make the collection of logically related code reusable for the programming language users, developers, and other researchers.</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solidFill>
                      <a:srgbClr val="F1F1F1"/>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xmlns="" val="129075244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fontScale="90000"/>
          </a:bodyPr>
          <a:lstStyle/>
          <a:p>
            <a:r>
              <a:rPr lang="en-US" b="1" dirty="0" smtClean="0"/>
              <a:t>Difference between Modules and Libraries</a:t>
            </a:r>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xmlns="" val="182927131"/>
              </p:ext>
            </p:extLst>
          </p:nvPr>
        </p:nvGraphicFramePr>
        <p:xfrm>
          <a:off x="248194" y="816429"/>
          <a:ext cx="8915400" cy="4448140"/>
        </p:xfrm>
        <a:graphic>
          <a:graphicData uri="http://schemas.openxmlformats.org/drawingml/2006/table">
            <a:tbl>
              <a:tblPr/>
              <a:tblGrid>
                <a:gridCol w="4457700">
                  <a:extLst>
                    <a:ext uri="{9D8B030D-6E8A-4147-A177-3AD203B41FA5}">
                      <a16:colId xmlns:a16="http://schemas.microsoft.com/office/drawing/2014/main" xmlns="" val="20000"/>
                    </a:ext>
                  </a:extLst>
                </a:gridCol>
                <a:gridCol w="4457700">
                  <a:extLst>
                    <a:ext uri="{9D8B030D-6E8A-4147-A177-3AD203B41FA5}">
                      <a16:colId xmlns:a16="http://schemas.microsoft.com/office/drawing/2014/main" xmlns="" val="20001"/>
                    </a:ext>
                  </a:extLst>
                </a:gridCol>
              </a:tblGrid>
              <a:tr h="1675430">
                <a:tc>
                  <a:txBody>
                    <a:bodyPr/>
                    <a:lstStyle/>
                    <a:p>
                      <a:r>
                        <a:rPr lang="en-US" sz="2400" dirty="0"/>
                        <a:t>Whenever a programmer imports a module in a Python program, the interpreter scans for several locations to look for the module's definition or body.</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tcPr>
                </a:tc>
                <a:tc>
                  <a:txBody>
                    <a:bodyPr/>
                    <a:lstStyle/>
                    <a:p>
                      <a:r>
                        <a:rPr lang="en-US" sz="2400" dirty="0"/>
                        <a:t>We have to install the libraries in our Python project before using its modules or packages. Usually, we use the pip install command.</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tcPr>
                </a:tc>
                <a:extLst>
                  <a:ext uri="{0D108BD9-81ED-4DB2-BD59-A6C34878D82A}">
                    <a16:rowId xmlns:a16="http://schemas.microsoft.com/office/drawing/2014/main" xmlns="" val="10000"/>
                  </a:ext>
                </a:extLst>
              </a:tr>
              <a:tr h="794386">
                <a:tc>
                  <a:txBody>
                    <a:bodyPr/>
                    <a:lstStyle/>
                    <a:p>
                      <a:r>
                        <a:rPr lang="en-US" sz="2400" dirty="0"/>
                        <a:t>When a module is not found by Python's import statement, it searches for each directory within the shell variable i.e., </a:t>
                      </a:r>
                      <a:r>
                        <a:rPr lang="en-US" sz="2400" dirty="0" err="1"/>
                        <a:t>PYTHONPATH</a:t>
                      </a:r>
                      <a:r>
                        <a:rPr lang="en-US" sz="2400" dirty="0"/>
                        <a:t>. The </a:t>
                      </a:r>
                      <a:r>
                        <a:rPr lang="en-US" sz="2400" dirty="0" err="1"/>
                        <a:t>PYTHONPATH</a:t>
                      </a:r>
                      <a:r>
                        <a:rPr lang="en-US" sz="2400" dirty="0"/>
                        <a:t> is Python's environment variable consisting of a list of directories.</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solidFill>
                      <a:srgbClr val="F1F1F1"/>
                    </a:solidFill>
                  </a:tcPr>
                </a:tc>
                <a:tc>
                  <a:txBody>
                    <a:bodyPr/>
                    <a:lstStyle/>
                    <a:p>
                      <a:r>
                        <a:rPr lang="en-US" sz="2400" dirty="0"/>
                        <a:t>Whenever the Python interpreter do not found the Python library associated with the project, it shows an error message and the program ends abruptly.</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solidFill>
                      <a:srgbClr val="F1F1F1"/>
                    </a:solidFill>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147264208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fontScale="90000"/>
          </a:bodyPr>
          <a:lstStyle/>
          <a:p>
            <a:r>
              <a:rPr lang="en-US" b="1" dirty="0" smtClean="0"/>
              <a:t>Difference between Modules and Libraries</a:t>
            </a:r>
            <a:endParaRPr lang="en-US" b="1" dirty="0"/>
          </a:p>
        </p:txBody>
      </p:sp>
      <p:graphicFrame>
        <p:nvGraphicFramePr>
          <p:cNvPr id="5" name="Table 4"/>
          <p:cNvGraphicFramePr>
            <a:graphicFrameLocks noGrp="1"/>
          </p:cNvGraphicFramePr>
          <p:nvPr>
            <p:extLst>
              <p:ext uri="{D42A27DB-BD31-4B8C-83A1-F6EECF244321}">
                <p14:modId xmlns:p14="http://schemas.microsoft.com/office/powerpoint/2010/main" xmlns="" val="229721858"/>
              </p:ext>
            </p:extLst>
          </p:nvPr>
        </p:nvGraphicFramePr>
        <p:xfrm>
          <a:off x="381000" y="838200"/>
          <a:ext cx="8382000" cy="5238680"/>
        </p:xfrm>
        <a:graphic>
          <a:graphicData uri="http://schemas.openxmlformats.org/drawingml/2006/table">
            <a:tbl>
              <a:tblPr/>
              <a:tblGrid>
                <a:gridCol w="4191000">
                  <a:extLst>
                    <a:ext uri="{9D8B030D-6E8A-4147-A177-3AD203B41FA5}">
                      <a16:colId xmlns:a16="http://schemas.microsoft.com/office/drawing/2014/main" xmlns="" val="20000"/>
                    </a:ext>
                  </a:extLst>
                </a:gridCol>
                <a:gridCol w="4191000">
                  <a:extLst>
                    <a:ext uri="{9D8B030D-6E8A-4147-A177-3AD203B41FA5}">
                      <a16:colId xmlns:a16="http://schemas.microsoft.com/office/drawing/2014/main" xmlns="" val="20001"/>
                    </a:ext>
                  </a:extLst>
                </a:gridCol>
              </a:tblGrid>
              <a:tr h="284468">
                <a:tc>
                  <a:txBody>
                    <a:bodyPr/>
                    <a:lstStyle/>
                    <a:p>
                      <a:r>
                        <a:rPr lang="en-US" sz="2400" dirty="0"/>
                        <a:t>Modules are mostly written using valid Python statements or codes.</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tcPr>
                </a:tc>
                <a:tc>
                  <a:txBody>
                    <a:bodyPr/>
                    <a:lstStyle/>
                    <a:p>
                      <a:r>
                        <a:rPr lang="en-US" sz="2400"/>
                        <a:t>Libraries, mainly standard libraries, are mostly written using C language or Python.</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tcPr>
                </a:tc>
                <a:extLst>
                  <a:ext uri="{0D108BD9-81ED-4DB2-BD59-A6C34878D82A}">
                    <a16:rowId xmlns:a16="http://schemas.microsoft.com/office/drawing/2014/main" xmlns="" val="10000"/>
                  </a:ext>
                </a:extLst>
              </a:tr>
              <a:tr h="284468">
                <a:tc>
                  <a:txBody>
                    <a:bodyPr/>
                    <a:lstStyle/>
                    <a:p>
                      <a:r>
                        <a:rPr lang="en-US" sz="2400" dirty="0"/>
                        <a:t>The main focus of creating modules is to avoid DRY (Don’t Repeat Yourself).</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solidFill>
                      <a:srgbClr val="F1F1F1"/>
                    </a:solidFill>
                  </a:tcPr>
                </a:tc>
                <a:tc>
                  <a:txBody>
                    <a:bodyPr/>
                    <a:lstStyle/>
                    <a:p>
                      <a:r>
                        <a:rPr lang="en-US" sz="2400" dirty="0"/>
                        <a:t>Libraries do not have any such objective.</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solidFill>
                      <a:srgbClr val="F1F1F1"/>
                    </a:solidFill>
                  </a:tcPr>
                </a:tc>
                <a:extLst>
                  <a:ext uri="{0D108BD9-81ED-4DB2-BD59-A6C34878D82A}">
                    <a16:rowId xmlns:a16="http://schemas.microsoft.com/office/drawing/2014/main" xmlns="" val="10001"/>
                  </a:ext>
                </a:extLst>
              </a:tr>
              <a:tr h="539427">
                <a:tc>
                  <a:txBody>
                    <a:bodyPr/>
                    <a:lstStyle/>
                    <a:p>
                      <a:r>
                        <a:rPr lang="en-US" sz="2400"/>
                        <a:t>We can use the Python’s built-in dir() function to return a sorted list of strings holding the function names defined within a module.</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tcPr>
                </a:tc>
                <a:tc>
                  <a:txBody>
                    <a:bodyPr/>
                    <a:lstStyle/>
                    <a:p>
                      <a:r>
                        <a:rPr lang="en-US" sz="2400" dirty="0"/>
                        <a:t>There is not such explicit function that can return the number of modules a library contain. Still, programmers can use the help() to extract some information.</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tcPr>
                </a:tc>
                <a:extLst>
                  <a:ext uri="{0D108BD9-81ED-4DB2-BD59-A6C34878D82A}">
                    <a16:rowId xmlns:a16="http://schemas.microsoft.com/office/drawing/2014/main" xmlns="" val="10002"/>
                  </a:ext>
                </a:extLst>
              </a:tr>
              <a:tr h="284468">
                <a:tc>
                  <a:txBody>
                    <a:bodyPr/>
                    <a:lstStyle/>
                    <a:p>
                      <a:r>
                        <a:rPr lang="en-US" sz="2400"/>
                        <a:t>Example of popular built-in Python modules are os, sys, math, random, etc.</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solidFill>
                      <a:srgbClr val="F1F1F1"/>
                    </a:solidFill>
                  </a:tcPr>
                </a:tc>
                <a:tc>
                  <a:txBody>
                    <a:bodyPr/>
                    <a:lstStyle/>
                    <a:p>
                      <a:r>
                        <a:rPr lang="en-US" sz="2400" dirty="0"/>
                        <a:t>Example of popular built-in Python libraries are </a:t>
                      </a:r>
                      <a:r>
                        <a:rPr lang="en-US" sz="2400" dirty="0" err="1"/>
                        <a:t>Pygame</a:t>
                      </a:r>
                      <a:r>
                        <a:rPr lang="en-US" sz="2400" dirty="0"/>
                        <a:t>, </a:t>
                      </a:r>
                      <a:r>
                        <a:rPr lang="en-US" sz="2400" dirty="0" err="1"/>
                        <a:t>Pytorch</a:t>
                      </a:r>
                      <a:r>
                        <a:rPr lang="en-US" sz="2400" dirty="0"/>
                        <a:t>, </a:t>
                      </a:r>
                      <a:r>
                        <a:rPr lang="en-US" sz="2400" dirty="0" err="1"/>
                        <a:t>matplotlib</a:t>
                      </a:r>
                      <a:r>
                        <a:rPr lang="en-US" sz="2400" dirty="0"/>
                        <a:t>, etc.</a:t>
                      </a:r>
                    </a:p>
                  </a:txBody>
                  <a:tcPr marL="14755" marR="14755" marT="14755" marB="14755" anchor="ctr">
                    <a:lnL w="4763" cap="flat" cmpd="sng" algn="ctr">
                      <a:solidFill>
                        <a:srgbClr val="8FBC8F"/>
                      </a:solidFill>
                      <a:prstDash val="solid"/>
                      <a:round/>
                      <a:headEnd type="none" w="med" len="med"/>
                      <a:tailEnd type="none" w="med" len="med"/>
                    </a:lnL>
                    <a:lnR w="4763" cap="flat" cmpd="sng" algn="ctr">
                      <a:solidFill>
                        <a:srgbClr val="8FBC8F"/>
                      </a:solidFill>
                      <a:prstDash val="solid"/>
                      <a:round/>
                      <a:headEnd type="none" w="med" len="med"/>
                      <a:tailEnd type="none" w="med" len="med"/>
                    </a:lnR>
                    <a:lnT w="4763" cap="flat" cmpd="sng" algn="ctr">
                      <a:solidFill>
                        <a:srgbClr val="8FBC8F"/>
                      </a:solidFill>
                      <a:prstDash val="solid"/>
                      <a:round/>
                      <a:headEnd type="none" w="med" len="med"/>
                      <a:tailEnd type="none" w="med" len="med"/>
                    </a:lnT>
                    <a:lnB w="4763" cap="flat" cmpd="sng" algn="ctr">
                      <a:solidFill>
                        <a:srgbClr val="8FBC8F"/>
                      </a:solidFill>
                      <a:prstDash val="solid"/>
                      <a:round/>
                      <a:headEnd type="none" w="med" len="med"/>
                      <a:tailEnd type="none" w="med" len="med"/>
                    </a:lnB>
                    <a:solidFill>
                      <a:srgbClr val="F1F1F1"/>
                    </a:solidFill>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xmlns="" val="4377159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The </a:t>
            </a:r>
            <a:r>
              <a:rPr lang="en-US" b="1" dirty="0" err="1" smtClean="0"/>
              <a:t>PYTHONPATH</a:t>
            </a:r>
            <a:r>
              <a:rPr lang="en-US" b="1" dirty="0" smtClean="0"/>
              <a:t> Variable</a:t>
            </a:r>
            <a:endParaRPr lang="en-US" b="1" dirty="0"/>
          </a:p>
        </p:txBody>
      </p:sp>
      <p:sp>
        <p:nvSpPr>
          <p:cNvPr id="4" name="TextBox 3"/>
          <p:cNvSpPr txBox="1"/>
          <p:nvPr/>
        </p:nvSpPr>
        <p:spPr>
          <a:xfrm>
            <a:off x="228600" y="1066800"/>
            <a:ext cx="8763000" cy="5262979"/>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The </a:t>
            </a:r>
            <a:r>
              <a:rPr lang="en-US" sz="2400" dirty="0" err="1"/>
              <a:t>PYTHONPATH</a:t>
            </a:r>
            <a:r>
              <a:rPr lang="en-US" sz="2400" dirty="0"/>
              <a:t> environment variable is a list of directories that Python will search for modules when importing them. It is a colon-separated list of directories, and can be set in the environment before starting Python, or in a Python script using the </a:t>
            </a:r>
            <a:r>
              <a:rPr lang="en-US" sz="2400" dirty="0" err="1"/>
              <a:t>os.path.append</a:t>
            </a:r>
            <a:r>
              <a:rPr lang="en-US" sz="2400" dirty="0"/>
              <a:t>() </a:t>
            </a:r>
            <a:r>
              <a:rPr lang="en-US" sz="2400" dirty="0" smtClean="0"/>
              <a:t>function.</a:t>
            </a:r>
          </a:p>
          <a:p>
            <a:pPr marL="342900" indent="-342900" algn="just">
              <a:buFont typeface="Arial" panose="020B0604020202020204" pitchFamily="34" charset="0"/>
              <a:buChar char="•"/>
            </a:pPr>
            <a:r>
              <a:rPr lang="en-US" sz="2400" dirty="0" smtClean="0"/>
              <a:t>The </a:t>
            </a:r>
            <a:r>
              <a:rPr lang="en-US" sz="2400" dirty="0" err="1"/>
              <a:t>PYTHONPATH</a:t>
            </a:r>
            <a:r>
              <a:rPr lang="en-US" sz="2400" dirty="0"/>
              <a:t> variable is useful for a number of reasons. First, it allows you to import modules that are not installed in the default Python installation directory. Second, it allows you to organize your Python code more efficiently by grouping related modules together in a single directory. Third, it can be used to override the default search path for modules, which can be useful for debugging or testing </a:t>
            </a:r>
            <a:r>
              <a:rPr lang="en-US" sz="2400" dirty="0" smtClean="0"/>
              <a:t>purposes.</a:t>
            </a:r>
          </a:p>
          <a:p>
            <a:pPr marL="342900" indent="-342900" algn="just">
              <a:buFont typeface="Arial" panose="020B0604020202020204" pitchFamily="34" charset="0"/>
              <a:buChar char="•"/>
            </a:pPr>
            <a:r>
              <a:rPr lang="en-US" sz="2400" dirty="0" smtClean="0"/>
              <a:t>To </a:t>
            </a:r>
            <a:r>
              <a:rPr lang="en-US" sz="2400" dirty="0"/>
              <a:t>set the </a:t>
            </a:r>
            <a:r>
              <a:rPr lang="en-US" sz="2400" dirty="0" err="1"/>
              <a:t>PYTHONPATH</a:t>
            </a:r>
            <a:r>
              <a:rPr lang="en-US" sz="2400" dirty="0"/>
              <a:t> environment variable in the environment, you can use the following command:</a:t>
            </a:r>
          </a:p>
        </p:txBody>
      </p:sp>
    </p:spTree>
    <p:extLst>
      <p:ext uri="{BB962C8B-B14F-4D97-AF65-F5344CB8AC3E}">
        <p14:creationId xmlns:p14="http://schemas.microsoft.com/office/powerpoint/2010/main" xmlns="" val="228722465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The </a:t>
            </a:r>
            <a:r>
              <a:rPr lang="en-US" b="1" dirty="0" err="1" smtClean="0"/>
              <a:t>PYTHONPATH</a:t>
            </a:r>
            <a:r>
              <a:rPr lang="en-US" b="1" dirty="0" smtClean="0"/>
              <a:t> Variable</a:t>
            </a:r>
            <a:endParaRPr lang="en-US" b="1" dirty="0"/>
          </a:p>
        </p:txBody>
      </p:sp>
      <p:sp>
        <p:nvSpPr>
          <p:cNvPr id="4" name="TextBox 3"/>
          <p:cNvSpPr txBox="1"/>
          <p:nvPr/>
        </p:nvSpPr>
        <p:spPr>
          <a:xfrm>
            <a:off x="228600" y="1066800"/>
            <a:ext cx="8763000" cy="3046988"/>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export </a:t>
            </a:r>
            <a:r>
              <a:rPr lang="en-US" sz="2400" dirty="0" err="1"/>
              <a:t>PYTHONPATH</a:t>
            </a:r>
            <a:r>
              <a:rPr lang="en-US" sz="2400" dirty="0"/>
              <a:t>=/path/to/</a:t>
            </a:r>
            <a:r>
              <a:rPr lang="en-US" sz="2400" dirty="0" err="1"/>
              <a:t>directory1</a:t>
            </a:r>
            <a:r>
              <a:rPr lang="en-US" sz="2400" dirty="0"/>
              <a:t>:/</a:t>
            </a:r>
            <a:r>
              <a:rPr lang="en-US" sz="2400" dirty="0" smtClean="0"/>
              <a:t>path/to/</a:t>
            </a:r>
            <a:r>
              <a:rPr lang="en-US" sz="2400" dirty="0" err="1" smtClean="0"/>
              <a:t>directory2</a:t>
            </a:r>
            <a:endParaRPr lang="en-US" sz="2400" dirty="0" smtClean="0"/>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endParaRPr lang="en-US" sz="2400" dirty="0" smtClean="0"/>
          </a:p>
          <a:p>
            <a:pPr marL="342900" indent="-342900" algn="just">
              <a:buFont typeface="Arial" panose="020B0604020202020204" pitchFamily="34" charset="0"/>
              <a:buChar char="•"/>
            </a:pPr>
            <a:r>
              <a:rPr lang="en-US" sz="2400" dirty="0" err="1"/>
              <a:t>Pythonpath</a:t>
            </a:r>
            <a:r>
              <a:rPr lang="en-US" sz="2400" dirty="0"/>
              <a:t> is a special environment variable that provides guidance to the Python interpreter about where to find various libraries and applications. It is similar to the PATH environment variable in other languages, such as C and Java, but has additional directories for Python modules.</a:t>
            </a:r>
          </a:p>
        </p:txBody>
      </p:sp>
    </p:spTree>
    <p:extLst>
      <p:ext uri="{BB962C8B-B14F-4D97-AF65-F5344CB8AC3E}">
        <p14:creationId xmlns:p14="http://schemas.microsoft.com/office/powerpoint/2010/main" xmlns="" val="11595055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Dates in Python</a:t>
            </a:r>
            <a:endParaRPr lang="en-US" b="1" dirty="0"/>
          </a:p>
        </p:txBody>
      </p:sp>
      <p:sp>
        <p:nvSpPr>
          <p:cNvPr id="4" name="TextBox 3"/>
          <p:cNvSpPr txBox="1"/>
          <p:nvPr/>
        </p:nvSpPr>
        <p:spPr>
          <a:xfrm>
            <a:off x="228600" y="1066800"/>
            <a:ext cx="8763000" cy="3785652"/>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A date in Python is not a data type of its own, but we can import a module named </a:t>
            </a:r>
            <a:r>
              <a:rPr lang="en-US" sz="2400" dirty="0" err="1"/>
              <a:t>datetime</a:t>
            </a:r>
            <a:r>
              <a:rPr lang="en-US" sz="2400" dirty="0"/>
              <a:t> to work with dates as date objects.</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smtClean="0"/>
              <a:t>Example</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smtClean="0"/>
              <a:t>Import </a:t>
            </a:r>
            <a:r>
              <a:rPr lang="en-US" sz="2400" dirty="0"/>
              <a:t>the </a:t>
            </a:r>
            <a:r>
              <a:rPr lang="en-US" sz="2400" dirty="0" err="1"/>
              <a:t>datetime</a:t>
            </a:r>
            <a:r>
              <a:rPr lang="en-US" sz="2400" dirty="0"/>
              <a:t> module and display the current date:</a:t>
            </a:r>
          </a:p>
          <a:p>
            <a:pPr marL="342900" indent="-342900" algn="just">
              <a:buFont typeface="Arial" panose="020B0604020202020204" pitchFamily="34" charset="0"/>
              <a:buChar char="•"/>
            </a:pPr>
            <a:endParaRPr lang="en-US" sz="2400" dirty="0"/>
          </a:p>
          <a:p>
            <a:pPr algn="just"/>
            <a:r>
              <a:rPr lang="en-US" sz="2400" dirty="0"/>
              <a:t>import </a:t>
            </a:r>
            <a:r>
              <a:rPr lang="en-US" sz="2400" dirty="0" err="1"/>
              <a:t>datetime</a:t>
            </a:r>
            <a:endParaRPr lang="en-US" sz="2400" dirty="0"/>
          </a:p>
          <a:p>
            <a:pPr algn="just"/>
            <a:r>
              <a:rPr lang="en-US" sz="2400" dirty="0" smtClean="0"/>
              <a:t>x </a:t>
            </a:r>
            <a:r>
              <a:rPr lang="en-US" sz="2400" dirty="0"/>
              <a:t>= </a:t>
            </a:r>
            <a:r>
              <a:rPr lang="en-US" sz="2400" dirty="0" err="1"/>
              <a:t>datetime.datetime.now</a:t>
            </a:r>
            <a:r>
              <a:rPr lang="en-US" sz="2400" dirty="0" smtClean="0"/>
              <a:t>()</a:t>
            </a:r>
          </a:p>
          <a:p>
            <a:pPr algn="just"/>
            <a:r>
              <a:rPr lang="en-US" sz="2400" dirty="0" smtClean="0"/>
              <a:t>print(x</a:t>
            </a:r>
            <a:r>
              <a:rPr lang="en-US" sz="2400" dirty="0"/>
              <a:t>)</a:t>
            </a:r>
          </a:p>
        </p:txBody>
      </p:sp>
    </p:spTree>
    <p:extLst>
      <p:ext uri="{BB962C8B-B14F-4D97-AF65-F5344CB8AC3E}">
        <p14:creationId xmlns:p14="http://schemas.microsoft.com/office/powerpoint/2010/main" xmlns="" val="225005530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Dates in Python</a:t>
            </a:r>
            <a:endParaRPr lang="en-US" b="1" dirty="0"/>
          </a:p>
        </p:txBody>
      </p:sp>
      <p:sp>
        <p:nvSpPr>
          <p:cNvPr id="4" name="TextBox 3"/>
          <p:cNvSpPr txBox="1"/>
          <p:nvPr/>
        </p:nvSpPr>
        <p:spPr>
          <a:xfrm>
            <a:off x="228600" y="1066800"/>
            <a:ext cx="8763000" cy="3785652"/>
          </a:xfrm>
          <a:prstGeom prst="rect">
            <a:avLst/>
          </a:prstGeom>
          <a:noFill/>
        </p:spPr>
        <p:txBody>
          <a:bodyPr wrap="square" rtlCol="0">
            <a:spAutoFit/>
          </a:bodyPr>
          <a:lstStyle/>
          <a:p>
            <a:r>
              <a:rPr lang="en-IN" sz="2400" dirty="0"/>
              <a:t>import </a:t>
            </a:r>
            <a:r>
              <a:rPr lang="en-IN" sz="2400" dirty="0" err="1"/>
              <a:t>datetime</a:t>
            </a:r>
            <a:r>
              <a:rPr lang="en-IN" sz="2400" dirty="0"/>
              <a:t/>
            </a:r>
            <a:br>
              <a:rPr lang="en-IN" sz="2400" dirty="0"/>
            </a:br>
            <a:r>
              <a:rPr lang="en-IN" sz="2400" dirty="0" smtClean="0"/>
              <a:t>x </a:t>
            </a:r>
            <a:r>
              <a:rPr lang="en-IN" sz="2400" dirty="0"/>
              <a:t>= </a:t>
            </a:r>
            <a:r>
              <a:rPr lang="en-IN" sz="2400" dirty="0" err="1"/>
              <a:t>datetime.datetime.now</a:t>
            </a:r>
            <a:r>
              <a:rPr lang="en-IN" sz="2400" dirty="0"/>
              <a:t>()</a:t>
            </a:r>
            <a:br>
              <a:rPr lang="en-IN" sz="2400" dirty="0"/>
            </a:br>
            <a:r>
              <a:rPr lang="en-IN" sz="2400" dirty="0" smtClean="0"/>
              <a:t>print(</a:t>
            </a:r>
            <a:r>
              <a:rPr lang="en-IN" sz="2400" dirty="0" err="1" smtClean="0"/>
              <a:t>x.year</a:t>
            </a:r>
            <a:r>
              <a:rPr lang="en-IN" sz="2400" dirty="0"/>
              <a:t>)</a:t>
            </a:r>
            <a:br>
              <a:rPr lang="en-IN" sz="2400" dirty="0"/>
            </a:br>
            <a:r>
              <a:rPr lang="en-IN" sz="2400" dirty="0"/>
              <a:t>print(</a:t>
            </a:r>
            <a:r>
              <a:rPr lang="en-IN" sz="2400" dirty="0" err="1"/>
              <a:t>x.strftime</a:t>
            </a:r>
            <a:r>
              <a:rPr lang="en-IN" sz="2400" dirty="0"/>
              <a:t>("%A</a:t>
            </a:r>
            <a:r>
              <a:rPr lang="en-IN" sz="2400" dirty="0" smtClean="0"/>
              <a:t>"))</a:t>
            </a:r>
          </a:p>
          <a:p>
            <a:endParaRPr lang="en-US" sz="2400" dirty="0"/>
          </a:p>
          <a:p>
            <a:r>
              <a:rPr lang="en-US" sz="2400" b="1" dirty="0" smtClean="0"/>
              <a:t>You can also create a date object</a:t>
            </a:r>
          </a:p>
          <a:p>
            <a:endParaRPr lang="en-US" sz="2400" dirty="0"/>
          </a:p>
          <a:p>
            <a:r>
              <a:rPr lang="nn-NO" sz="2400" dirty="0"/>
              <a:t>import datetime</a:t>
            </a:r>
            <a:br>
              <a:rPr lang="nn-NO" sz="2400" dirty="0"/>
            </a:br>
            <a:r>
              <a:rPr lang="nn-NO" sz="2400" dirty="0" smtClean="0"/>
              <a:t>x </a:t>
            </a:r>
            <a:r>
              <a:rPr lang="nn-NO" sz="2400" dirty="0"/>
              <a:t>= datetime.datetime(2020, 5, 17)</a:t>
            </a:r>
            <a:br>
              <a:rPr lang="nn-NO" sz="2400" dirty="0"/>
            </a:br>
            <a:r>
              <a:rPr lang="nn-NO" sz="2400" dirty="0" smtClean="0"/>
              <a:t>print(x</a:t>
            </a:r>
            <a:r>
              <a:rPr lang="nn-NO" sz="2400" dirty="0"/>
              <a:t>)</a:t>
            </a:r>
            <a:endParaRPr lang="en-US" sz="2400" dirty="0"/>
          </a:p>
        </p:txBody>
      </p:sp>
    </p:spTree>
    <p:extLst>
      <p:ext uri="{BB962C8B-B14F-4D97-AF65-F5344CB8AC3E}">
        <p14:creationId xmlns:p14="http://schemas.microsoft.com/office/powerpoint/2010/main" xmlns="" val="23483095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IN" dirty="0"/>
              <a:t>The </a:t>
            </a:r>
            <a:r>
              <a:rPr lang="en-IN" dirty="0" err="1"/>
              <a:t>strftime</a:t>
            </a:r>
            <a:r>
              <a:rPr lang="en-IN" dirty="0"/>
              <a:t>() Method</a:t>
            </a:r>
          </a:p>
        </p:txBody>
      </p:sp>
      <p:sp>
        <p:nvSpPr>
          <p:cNvPr id="4" name="TextBox 3"/>
          <p:cNvSpPr txBox="1"/>
          <p:nvPr/>
        </p:nvSpPr>
        <p:spPr>
          <a:xfrm>
            <a:off x="228600" y="1066800"/>
            <a:ext cx="8763000" cy="4524315"/>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smtClean="0"/>
              <a:t>The </a:t>
            </a:r>
            <a:r>
              <a:rPr lang="en-US" sz="2400" dirty="0" err="1"/>
              <a:t>datetime</a:t>
            </a:r>
            <a:r>
              <a:rPr lang="en-US" sz="2400" dirty="0"/>
              <a:t> object has a method for formatting date objects into readable strings.</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The method is called </a:t>
            </a:r>
            <a:r>
              <a:rPr lang="en-US" sz="2400" dirty="0" err="1"/>
              <a:t>strftime</a:t>
            </a:r>
            <a:r>
              <a:rPr lang="en-US" sz="2400" dirty="0"/>
              <a:t>(), and takes one parameter, format, to specify the format of the returned string</a:t>
            </a:r>
            <a:r>
              <a:rPr lang="en-US" sz="2400" dirty="0" smtClean="0"/>
              <a:t>:</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endParaRPr lang="en-US" sz="2400" dirty="0" smtClean="0"/>
          </a:p>
          <a:p>
            <a:pPr algn="just"/>
            <a:r>
              <a:rPr lang="en-US" sz="2400" dirty="0"/>
              <a:t>import </a:t>
            </a:r>
            <a:r>
              <a:rPr lang="en-US" sz="2400" dirty="0" err="1"/>
              <a:t>datetime</a:t>
            </a:r>
            <a:endParaRPr lang="en-US" sz="2400" dirty="0"/>
          </a:p>
          <a:p>
            <a:pPr algn="just"/>
            <a:r>
              <a:rPr lang="en-US" sz="2400" dirty="0" smtClean="0"/>
              <a:t>x </a:t>
            </a:r>
            <a:r>
              <a:rPr lang="en-US" sz="2400" dirty="0"/>
              <a:t>= </a:t>
            </a:r>
            <a:r>
              <a:rPr lang="en-US" sz="2400" dirty="0" err="1"/>
              <a:t>datetime.datetime</a:t>
            </a:r>
            <a:r>
              <a:rPr lang="en-US" sz="2400" dirty="0"/>
              <a:t>(2018, 6, 1)</a:t>
            </a:r>
          </a:p>
          <a:p>
            <a:pPr algn="just"/>
            <a:r>
              <a:rPr lang="en-US" sz="2400" dirty="0" smtClean="0"/>
              <a:t>print(</a:t>
            </a:r>
            <a:r>
              <a:rPr lang="en-US" sz="2400" dirty="0" err="1" smtClean="0"/>
              <a:t>x.strftime</a:t>
            </a:r>
            <a:r>
              <a:rPr lang="en-US" sz="2400" dirty="0"/>
              <a:t>("%B</a:t>
            </a:r>
            <a:r>
              <a:rPr lang="en-US" sz="2400" dirty="0" smtClean="0"/>
              <a:t>"))</a:t>
            </a:r>
          </a:p>
          <a:p>
            <a:pPr algn="just"/>
            <a:endParaRPr lang="en-US" sz="2400" dirty="0"/>
          </a:p>
          <a:p>
            <a:pPr algn="just"/>
            <a:r>
              <a:rPr lang="en-US" sz="2400" dirty="0"/>
              <a:t>https://</a:t>
            </a:r>
            <a:r>
              <a:rPr lang="en-US" sz="2400" dirty="0" err="1"/>
              <a:t>www.w3schools.com</a:t>
            </a:r>
            <a:r>
              <a:rPr lang="en-US" sz="2400" dirty="0"/>
              <a:t>/python/</a:t>
            </a:r>
            <a:r>
              <a:rPr lang="en-US" sz="2400" dirty="0" err="1"/>
              <a:t>python_datetime.asp</a:t>
            </a:r>
            <a:endParaRPr lang="en-US" sz="2400" dirty="0"/>
          </a:p>
        </p:txBody>
      </p:sp>
    </p:spTree>
    <p:extLst>
      <p:ext uri="{BB962C8B-B14F-4D97-AF65-F5344CB8AC3E}">
        <p14:creationId xmlns:p14="http://schemas.microsoft.com/office/powerpoint/2010/main" xmlns="" val="329245209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Math in Python</a:t>
            </a:r>
            <a:endParaRPr lang="en-US" b="1" dirty="0"/>
          </a:p>
        </p:txBody>
      </p:sp>
      <p:sp>
        <p:nvSpPr>
          <p:cNvPr id="4" name="TextBox 3"/>
          <p:cNvSpPr txBox="1"/>
          <p:nvPr/>
        </p:nvSpPr>
        <p:spPr>
          <a:xfrm>
            <a:off x="228600" y="1066800"/>
            <a:ext cx="8763000" cy="4893647"/>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Python has a set of built-in math functions, including an extensive math module, that allows you to perform mathematical tasks on numbers</a:t>
            </a:r>
            <a:r>
              <a:rPr lang="en-US" sz="2400" dirty="0" smtClean="0"/>
              <a:t>.</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smtClean="0"/>
              <a:t>min()</a:t>
            </a:r>
          </a:p>
          <a:p>
            <a:pPr marL="342900" indent="-342900" algn="just">
              <a:buFont typeface="Arial" panose="020B0604020202020204" pitchFamily="34" charset="0"/>
              <a:buChar char="•"/>
            </a:pPr>
            <a:r>
              <a:rPr lang="en-US" sz="2400" dirty="0" smtClean="0"/>
              <a:t>max()</a:t>
            </a:r>
          </a:p>
          <a:p>
            <a:pPr marL="342900" indent="-342900" algn="just">
              <a:buFont typeface="Arial" panose="020B0604020202020204" pitchFamily="34" charset="0"/>
              <a:buChar char="•"/>
            </a:pPr>
            <a:r>
              <a:rPr lang="en-US" sz="2400" dirty="0" smtClean="0"/>
              <a:t>abs()</a:t>
            </a:r>
          </a:p>
          <a:p>
            <a:pPr marL="342900" indent="-342900" algn="just">
              <a:buFont typeface="Arial" panose="020B0604020202020204" pitchFamily="34" charset="0"/>
              <a:buChar char="•"/>
            </a:pPr>
            <a:r>
              <a:rPr lang="en-US" sz="2400" dirty="0" smtClean="0"/>
              <a:t>pow()</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smtClean="0"/>
              <a:t>Above are built-in functions.  Python has Math module also for some mathematical functions</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https://</a:t>
            </a:r>
            <a:r>
              <a:rPr lang="en-US" sz="2400" dirty="0" err="1"/>
              <a:t>www.w3schools.com</a:t>
            </a:r>
            <a:r>
              <a:rPr lang="en-US" sz="2400" dirty="0"/>
              <a:t>/python/</a:t>
            </a:r>
            <a:r>
              <a:rPr lang="en-US" sz="2400" dirty="0" err="1"/>
              <a:t>module_math.asp</a:t>
            </a:r>
            <a:endParaRPr lang="en-US" sz="2400" dirty="0"/>
          </a:p>
        </p:txBody>
      </p:sp>
    </p:spTree>
    <p:extLst>
      <p:ext uri="{BB962C8B-B14F-4D97-AF65-F5344CB8AC3E}">
        <p14:creationId xmlns:p14="http://schemas.microsoft.com/office/powerpoint/2010/main" xmlns="" val="421358986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File Handling in Python</a:t>
            </a:r>
            <a:endParaRPr lang="en-US" b="1" dirty="0"/>
          </a:p>
        </p:txBody>
      </p:sp>
      <p:sp>
        <p:nvSpPr>
          <p:cNvPr id="4" name="TextBox 3"/>
          <p:cNvSpPr txBox="1"/>
          <p:nvPr/>
        </p:nvSpPr>
        <p:spPr>
          <a:xfrm>
            <a:off x="228600" y="1066800"/>
            <a:ext cx="8763000" cy="415498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File handling is an important part of any web application.</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Python has several functions for creating, reading, updating, and deleting files</a:t>
            </a:r>
            <a:r>
              <a:rPr lang="en-US" sz="2400" dirty="0" smtClean="0"/>
              <a:t>.</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The key function for working with files in Python is the open() function.</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The open() function takes two parameters; filename, and mode.</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There are four different methods (modes) for opening a file:</a:t>
            </a:r>
          </a:p>
        </p:txBody>
      </p:sp>
    </p:spTree>
    <p:extLst>
      <p:ext uri="{BB962C8B-B14F-4D97-AF65-F5344CB8AC3E}">
        <p14:creationId xmlns:p14="http://schemas.microsoft.com/office/powerpoint/2010/main" xmlns="" val="105368024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File Handling in Python</a:t>
            </a:r>
            <a:endParaRPr lang="en-US" b="1" dirty="0"/>
          </a:p>
        </p:txBody>
      </p:sp>
      <p:sp>
        <p:nvSpPr>
          <p:cNvPr id="4" name="TextBox 3"/>
          <p:cNvSpPr txBox="1"/>
          <p:nvPr/>
        </p:nvSpPr>
        <p:spPr>
          <a:xfrm>
            <a:off x="228600" y="1066800"/>
            <a:ext cx="8763000" cy="415498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"r" - Read - Default value. Opens a file for reading, error if the file does not exist</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"a" - Append - Opens a file for appending, creates the file if it does not exist</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"w" - Write - Opens a file for writing, creates the file if it does not exist</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"x" - Create - Creates the specified file, returns an error if the file exists</a:t>
            </a:r>
          </a:p>
        </p:txBody>
      </p:sp>
    </p:spTree>
    <p:extLst>
      <p:ext uri="{BB962C8B-B14F-4D97-AF65-F5344CB8AC3E}">
        <p14:creationId xmlns:p14="http://schemas.microsoft.com/office/powerpoint/2010/main" xmlns="" val="168705383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File Handling in Python</a:t>
            </a:r>
            <a:endParaRPr lang="en-US" b="1" dirty="0"/>
          </a:p>
        </p:txBody>
      </p:sp>
      <p:sp>
        <p:nvSpPr>
          <p:cNvPr id="4" name="TextBox 3"/>
          <p:cNvSpPr txBox="1"/>
          <p:nvPr/>
        </p:nvSpPr>
        <p:spPr>
          <a:xfrm>
            <a:off x="228600" y="1066800"/>
            <a:ext cx="8763000" cy="230832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In addition you can specify if the file should be handled as binary or text mode</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"t" - Text - Default value. Text mode</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"b" - Binary - Binary mode (e.g. images)</a:t>
            </a:r>
          </a:p>
        </p:txBody>
      </p:sp>
    </p:spTree>
    <p:extLst>
      <p:ext uri="{BB962C8B-B14F-4D97-AF65-F5344CB8AC3E}">
        <p14:creationId xmlns:p14="http://schemas.microsoft.com/office/powerpoint/2010/main" xmlns="" val="303420884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File Handling in Python</a:t>
            </a:r>
            <a:endParaRPr lang="en-US" b="1" dirty="0"/>
          </a:p>
        </p:txBody>
      </p:sp>
      <p:sp>
        <p:nvSpPr>
          <p:cNvPr id="4" name="TextBox 3"/>
          <p:cNvSpPr txBox="1"/>
          <p:nvPr/>
        </p:nvSpPr>
        <p:spPr>
          <a:xfrm>
            <a:off x="228600" y="1066800"/>
            <a:ext cx="8763000" cy="4893647"/>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To open a file for reading it is enough to specify the name of the file:</a:t>
            </a:r>
          </a:p>
          <a:p>
            <a:pPr marL="342900" indent="-342900" algn="just">
              <a:buFont typeface="Arial" panose="020B0604020202020204" pitchFamily="34" charset="0"/>
              <a:buChar char="•"/>
            </a:pPr>
            <a:endParaRPr lang="en-US" sz="2400" dirty="0"/>
          </a:p>
          <a:p>
            <a:pPr algn="just"/>
            <a:r>
              <a:rPr lang="en-US" sz="2400" dirty="0"/>
              <a:t>f = open("</a:t>
            </a:r>
            <a:r>
              <a:rPr lang="en-US" sz="2400" dirty="0" err="1"/>
              <a:t>demofile.txt</a:t>
            </a:r>
            <a:r>
              <a:rPr lang="en-US" sz="2400" dirty="0" smtClean="0"/>
              <a:t>")</a:t>
            </a:r>
          </a:p>
          <a:p>
            <a:pPr algn="just"/>
            <a:endParaRPr lang="en-US" sz="2400" dirty="0"/>
          </a:p>
          <a:p>
            <a:pPr marL="342900" indent="-342900" algn="just">
              <a:buFont typeface="Arial" panose="020B0604020202020204" pitchFamily="34" charset="0"/>
              <a:buChar char="•"/>
            </a:pPr>
            <a:r>
              <a:rPr lang="en-US" sz="2400" dirty="0"/>
              <a:t>The code above is the same as:</a:t>
            </a:r>
          </a:p>
          <a:p>
            <a:pPr marL="342900" indent="-342900" algn="just">
              <a:buFont typeface="Arial" panose="020B0604020202020204" pitchFamily="34" charset="0"/>
              <a:buChar char="•"/>
            </a:pPr>
            <a:endParaRPr lang="en-US" sz="2400" dirty="0"/>
          </a:p>
          <a:p>
            <a:pPr algn="just"/>
            <a:r>
              <a:rPr lang="en-US" sz="2400" dirty="0"/>
              <a:t>f = open("</a:t>
            </a:r>
            <a:r>
              <a:rPr lang="en-US" sz="2400" dirty="0" err="1"/>
              <a:t>demofile.txt</a:t>
            </a:r>
            <a:r>
              <a:rPr lang="en-US" sz="2400" dirty="0"/>
              <a:t>", "</a:t>
            </a:r>
            <a:r>
              <a:rPr lang="en-US" sz="2400" dirty="0" err="1"/>
              <a:t>rt</a:t>
            </a:r>
            <a:r>
              <a:rPr lang="en-US" sz="2400" dirty="0" smtClean="0"/>
              <a:t>")</a:t>
            </a:r>
          </a:p>
          <a:p>
            <a:pPr algn="just"/>
            <a:endParaRPr lang="en-US" sz="2400" dirty="0"/>
          </a:p>
          <a:p>
            <a:pPr marL="342900" indent="-342900" algn="just">
              <a:buFont typeface="Arial" panose="020B0604020202020204" pitchFamily="34" charset="0"/>
              <a:buChar char="•"/>
            </a:pPr>
            <a:r>
              <a:rPr lang="en-US" sz="2400" dirty="0"/>
              <a:t>Because "r" for read, and "t" for text are the default values, you do not need to specify them.</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Note: Make sure the file exists, or else you will get an error.</a:t>
            </a:r>
          </a:p>
        </p:txBody>
      </p:sp>
    </p:spTree>
    <p:extLst>
      <p:ext uri="{BB962C8B-B14F-4D97-AF65-F5344CB8AC3E}">
        <p14:creationId xmlns:p14="http://schemas.microsoft.com/office/powerpoint/2010/main" xmlns="" val="304443707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Reading files in python</a:t>
            </a:r>
            <a:endParaRPr lang="en-US" b="1" dirty="0"/>
          </a:p>
        </p:txBody>
      </p:sp>
      <p:sp>
        <p:nvSpPr>
          <p:cNvPr id="4" name="TextBox 3"/>
          <p:cNvSpPr txBox="1"/>
          <p:nvPr/>
        </p:nvSpPr>
        <p:spPr>
          <a:xfrm>
            <a:off x="228600" y="1066800"/>
            <a:ext cx="8763000" cy="4031873"/>
          </a:xfrm>
          <a:prstGeom prst="rect">
            <a:avLst/>
          </a:prstGeom>
          <a:noFill/>
        </p:spPr>
        <p:txBody>
          <a:bodyPr wrap="square" rtlCol="0">
            <a:spAutoFit/>
          </a:bodyPr>
          <a:lstStyle/>
          <a:p>
            <a:pPr algn="just"/>
            <a:r>
              <a:rPr lang="en-US" sz="3200" dirty="0"/>
              <a:t>After we open a file, we use the read() method to read its contents. For example,</a:t>
            </a:r>
          </a:p>
          <a:p>
            <a:pPr algn="just"/>
            <a:endParaRPr lang="en-US" sz="3200" dirty="0"/>
          </a:p>
          <a:p>
            <a:pPr algn="just"/>
            <a:r>
              <a:rPr lang="en-US" sz="3200" dirty="0"/>
              <a:t># open a file</a:t>
            </a:r>
          </a:p>
          <a:p>
            <a:pPr algn="just"/>
            <a:r>
              <a:rPr lang="en-US" sz="3200" dirty="0"/>
              <a:t> </a:t>
            </a:r>
            <a:r>
              <a:rPr lang="en-US" sz="3200" dirty="0" err="1"/>
              <a:t>file1</a:t>
            </a:r>
            <a:r>
              <a:rPr lang="en-US" sz="3200" dirty="0"/>
              <a:t> = open("</a:t>
            </a:r>
            <a:r>
              <a:rPr lang="en-US" sz="3200" dirty="0" err="1"/>
              <a:t>test.txt</a:t>
            </a:r>
            <a:r>
              <a:rPr lang="en-US" sz="3200" dirty="0"/>
              <a:t>", "r") </a:t>
            </a:r>
          </a:p>
          <a:p>
            <a:pPr algn="just"/>
            <a:r>
              <a:rPr lang="en-US" sz="3200" dirty="0"/>
              <a:t># read the file</a:t>
            </a:r>
          </a:p>
          <a:p>
            <a:pPr algn="just"/>
            <a:r>
              <a:rPr lang="en-US" sz="3200" dirty="0"/>
              <a:t> </a:t>
            </a:r>
            <a:r>
              <a:rPr lang="en-US" sz="3200" dirty="0" err="1"/>
              <a:t>read_content</a:t>
            </a:r>
            <a:r>
              <a:rPr lang="en-US" sz="3200" dirty="0"/>
              <a:t> = </a:t>
            </a:r>
            <a:r>
              <a:rPr lang="en-US" sz="3200" dirty="0" err="1"/>
              <a:t>file1.read</a:t>
            </a:r>
            <a:r>
              <a:rPr lang="en-US" sz="3200" dirty="0"/>
              <a:t>() </a:t>
            </a:r>
          </a:p>
          <a:p>
            <a:pPr algn="just"/>
            <a:r>
              <a:rPr lang="en-US" sz="3200" dirty="0"/>
              <a:t>print(</a:t>
            </a:r>
            <a:r>
              <a:rPr lang="en-US" sz="3200" dirty="0" err="1"/>
              <a:t>read_content</a:t>
            </a:r>
            <a:r>
              <a:rPr lang="en-US" sz="3200" dirty="0"/>
              <a:t>) </a:t>
            </a:r>
          </a:p>
        </p:txBody>
      </p:sp>
    </p:spTree>
    <p:extLst>
      <p:ext uri="{BB962C8B-B14F-4D97-AF65-F5344CB8AC3E}">
        <p14:creationId xmlns:p14="http://schemas.microsoft.com/office/powerpoint/2010/main" xmlns="" val="42843963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Closing file in python</a:t>
            </a:r>
            <a:endParaRPr lang="en-US" b="1" dirty="0"/>
          </a:p>
        </p:txBody>
      </p:sp>
      <p:sp>
        <p:nvSpPr>
          <p:cNvPr id="4" name="TextBox 3"/>
          <p:cNvSpPr txBox="1"/>
          <p:nvPr/>
        </p:nvSpPr>
        <p:spPr>
          <a:xfrm>
            <a:off x="228600" y="1066800"/>
            <a:ext cx="8763000" cy="6001643"/>
          </a:xfrm>
          <a:prstGeom prst="rect">
            <a:avLst/>
          </a:prstGeom>
          <a:noFill/>
        </p:spPr>
        <p:txBody>
          <a:bodyPr wrap="square" rtlCol="0">
            <a:spAutoFit/>
          </a:bodyPr>
          <a:lstStyle/>
          <a:p>
            <a:pPr lvl="0" algn="just" eaLnBrk="0" fontAlgn="base" hangingPunct="0">
              <a:spcBef>
                <a:spcPct val="0"/>
              </a:spcBef>
              <a:spcAft>
                <a:spcPct val="0"/>
              </a:spcAft>
            </a:pPr>
            <a:r>
              <a:rPr lang="en-US" sz="3200" dirty="0">
                <a:cs typeface="Arial" pitchFamily="34" charset="0"/>
              </a:rPr>
              <a:t>When we are done with performing operations on the file, we need to properly close the file.</a:t>
            </a:r>
          </a:p>
          <a:p>
            <a:pPr lvl="0" algn="just" eaLnBrk="0" fontAlgn="base" hangingPunct="0">
              <a:spcBef>
                <a:spcPct val="0"/>
              </a:spcBef>
              <a:spcAft>
                <a:spcPct val="0"/>
              </a:spcAft>
            </a:pPr>
            <a:r>
              <a:rPr lang="en-US" sz="3200" dirty="0">
                <a:cs typeface="Arial" pitchFamily="34" charset="0"/>
              </a:rPr>
              <a:t>Closing a file will free up the resources that were tied with the file. It is done using the close() method in Python. For example,</a:t>
            </a:r>
          </a:p>
          <a:p>
            <a:pPr lvl="0" algn="just" eaLnBrk="0" fontAlgn="base" hangingPunct="0">
              <a:spcBef>
                <a:spcPct val="0"/>
              </a:spcBef>
              <a:spcAft>
                <a:spcPct val="0"/>
              </a:spcAft>
            </a:pPr>
            <a:endParaRPr lang="en-IN" sz="3200" dirty="0">
              <a:cs typeface="Arial" pitchFamily="34" charset="0"/>
            </a:endParaRPr>
          </a:p>
          <a:p>
            <a:pPr lvl="0" algn="just" eaLnBrk="0" fontAlgn="base" hangingPunct="0">
              <a:spcBef>
                <a:spcPct val="0"/>
              </a:spcBef>
              <a:spcAft>
                <a:spcPct val="0"/>
              </a:spcAft>
            </a:pPr>
            <a:r>
              <a:rPr lang="en-US" sz="3200" dirty="0"/>
              <a:t># open a file </a:t>
            </a:r>
          </a:p>
          <a:p>
            <a:pPr lvl="0" algn="just" eaLnBrk="0" fontAlgn="base" hangingPunct="0">
              <a:spcBef>
                <a:spcPct val="0"/>
              </a:spcBef>
              <a:spcAft>
                <a:spcPct val="0"/>
              </a:spcAft>
            </a:pPr>
            <a:r>
              <a:rPr lang="en-US" sz="3200" dirty="0" err="1"/>
              <a:t>file1</a:t>
            </a:r>
            <a:r>
              <a:rPr lang="en-US" sz="3200" dirty="0"/>
              <a:t> = open("</a:t>
            </a:r>
            <a:r>
              <a:rPr lang="en-US" sz="3200" dirty="0" err="1"/>
              <a:t>test.txt</a:t>
            </a:r>
            <a:r>
              <a:rPr lang="en-US" sz="3200" dirty="0"/>
              <a:t>", "r") </a:t>
            </a:r>
          </a:p>
          <a:p>
            <a:pPr lvl="0" algn="just" eaLnBrk="0" fontAlgn="base" hangingPunct="0">
              <a:spcBef>
                <a:spcPct val="0"/>
              </a:spcBef>
              <a:spcAft>
                <a:spcPct val="0"/>
              </a:spcAft>
            </a:pPr>
            <a:r>
              <a:rPr lang="en-US" sz="3200" dirty="0"/>
              <a:t># read the file </a:t>
            </a:r>
          </a:p>
          <a:p>
            <a:pPr lvl="0" algn="just" eaLnBrk="0" fontAlgn="base" hangingPunct="0">
              <a:spcBef>
                <a:spcPct val="0"/>
              </a:spcBef>
              <a:spcAft>
                <a:spcPct val="0"/>
              </a:spcAft>
            </a:pPr>
            <a:r>
              <a:rPr lang="en-US" sz="3200" dirty="0" err="1"/>
              <a:t>read_content</a:t>
            </a:r>
            <a:r>
              <a:rPr lang="en-US" sz="3200" dirty="0"/>
              <a:t> = </a:t>
            </a:r>
            <a:r>
              <a:rPr lang="en-US" sz="3200" dirty="0" err="1"/>
              <a:t>file1.read</a:t>
            </a:r>
            <a:r>
              <a:rPr lang="en-US" sz="3200" dirty="0"/>
              <a:t>() print(</a:t>
            </a:r>
            <a:r>
              <a:rPr lang="en-US" sz="3200" dirty="0" err="1"/>
              <a:t>read_content</a:t>
            </a:r>
            <a:r>
              <a:rPr lang="en-US" sz="3200" dirty="0"/>
              <a:t>)</a:t>
            </a:r>
          </a:p>
          <a:p>
            <a:pPr lvl="0" algn="just" eaLnBrk="0" fontAlgn="base" hangingPunct="0">
              <a:spcBef>
                <a:spcPct val="0"/>
              </a:spcBef>
              <a:spcAft>
                <a:spcPct val="0"/>
              </a:spcAft>
            </a:pPr>
            <a:r>
              <a:rPr lang="en-US" sz="3200" dirty="0"/>
              <a:t> # close the file </a:t>
            </a:r>
          </a:p>
          <a:p>
            <a:pPr lvl="0" algn="just" eaLnBrk="0" fontAlgn="base" hangingPunct="0">
              <a:spcBef>
                <a:spcPct val="0"/>
              </a:spcBef>
              <a:spcAft>
                <a:spcPct val="0"/>
              </a:spcAft>
            </a:pPr>
            <a:r>
              <a:rPr lang="en-US" sz="3200" dirty="0" err="1"/>
              <a:t>file1.close</a:t>
            </a:r>
            <a:r>
              <a:rPr lang="en-US" sz="3200" dirty="0"/>
              <a:t>()</a:t>
            </a:r>
            <a:endParaRPr lang="en-US" sz="3200" dirty="0">
              <a:cs typeface="Arial" pitchFamily="34" charset="0"/>
            </a:endParaRPr>
          </a:p>
        </p:txBody>
      </p:sp>
    </p:spTree>
    <p:extLst>
      <p:ext uri="{BB962C8B-B14F-4D97-AF65-F5344CB8AC3E}">
        <p14:creationId xmlns:p14="http://schemas.microsoft.com/office/powerpoint/2010/main" xmlns="" val="378353847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Use of with…open</a:t>
            </a:r>
            <a:endParaRPr lang="en-US" b="1" dirty="0"/>
          </a:p>
        </p:txBody>
      </p:sp>
      <p:sp>
        <p:nvSpPr>
          <p:cNvPr id="4" name="TextBox 3"/>
          <p:cNvSpPr txBox="1"/>
          <p:nvPr/>
        </p:nvSpPr>
        <p:spPr>
          <a:xfrm>
            <a:off x="228600" y="1066800"/>
            <a:ext cx="8763000" cy="5016758"/>
          </a:xfrm>
          <a:prstGeom prst="rect">
            <a:avLst/>
          </a:prstGeom>
          <a:noFill/>
        </p:spPr>
        <p:txBody>
          <a:bodyPr wrap="square" rtlCol="0">
            <a:spAutoFit/>
          </a:bodyPr>
          <a:lstStyle/>
          <a:p>
            <a:pPr lvl="0" eaLnBrk="0" fontAlgn="base" hangingPunct="0">
              <a:spcBef>
                <a:spcPct val="0"/>
              </a:spcBef>
              <a:spcAft>
                <a:spcPct val="0"/>
              </a:spcAft>
            </a:pPr>
            <a:r>
              <a:rPr lang="en-US" sz="3200" dirty="0">
                <a:cs typeface="Arial" pitchFamily="34" charset="0"/>
              </a:rPr>
              <a:t>In Python, we can use the with...open syntax to automatically close the file. For example,</a:t>
            </a:r>
          </a:p>
          <a:p>
            <a:pPr lvl="0" eaLnBrk="0" fontAlgn="base" hangingPunct="0">
              <a:spcBef>
                <a:spcPct val="0"/>
              </a:spcBef>
              <a:spcAft>
                <a:spcPct val="0"/>
              </a:spcAft>
            </a:pPr>
            <a:endParaRPr lang="en-US" sz="3200" dirty="0">
              <a:cs typeface="Arial" pitchFamily="34" charset="0"/>
            </a:endParaRPr>
          </a:p>
          <a:p>
            <a:pPr lvl="0" eaLnBrk="0" fontAlgn="base" hangingPunct="0">
              <a:spcBef>
                <a:spcPct val="0"/>
              </a:spcBef>
              <a:spcAft>
                <a:spcPct val="0"/>
              </a:spcAft>
            </a:pPr>
            <a:r>
              <a:rPr lang="en-US" sz="3200" dirty="0">
                <a:cs typeface="Arial" pitchFamily="34" charset="0"/>
              </a:rPr>
              <a:t>with open("</a:t>
            </a:r>
            <a:r>
              <a:rPr lang="en-US" sz="3200" dirty="0" err="1">
                <a:cs typeface="Arial" pitchFamily="34" charset="0"/>
              </a:rPr>
              <a:t>test.txt</a:t>
            </a:r>
            <a:r>
              <a:rPr lang="en-US" sz="3200" dirty="0">
                <a:cs typeface="Arial" pitchFamily="34" charset="0"/>
              </a:rPr>
              <a:t>", "r") as </a:t>
            </a:r>
            <a:r>
              <a:rPr lang="en-US" sz="3200" dirty="0" err="1">
                <a:cs typeface="Arial" pitchFamily="34" charset="0"/>
              </a:rPr>
              <a:t>file1</a:t>
            </a:r>
            <a:r>
              <a:rPr lang="en-US" sz="3200" dirty="0">
                <a:cs typeface="Arial" pitchFamily="34" charset="0"/>
              </a:rPr>
              <a:t>: </a:t>
            </a:r>
          </a:p>
          <a:p>
            <a:pPr lvl="0" eaLnBrk="0" fontAlgn="base" hangingPunct="0">
              <a:spcBef>
                <a:spcPct val="0"/>
              </a:spcBef>
              <a:spcAft>
                <a:spcPct val="0"/>
              </a:spcAft>
            </a:pPr>
            <a:r>
              <a:rPr lang="en-US" sz="3200" dirty="0">
                <a:cs typeface="Arial" pitchFamily="34" charset="0"/>
              </a:rPr>
              <a:t>	</a:t>
            </a:r>
            <a:r>
              <a:rPr lang="en-US" sz="3200" dirty="0" err="1">
                <a:cs typeface="Arial" pitchFamily="34" charset="0"/>
              </a:rPr>
              <a:t>read_content</a:t>
            </a:r>
            <a:r>
              <a:rPr lang="en-US" sz="3200" dirty="0">
                <a:cs typeface="Arial" pitchFamily="34" charset="0"/>
              </a:rPr>
              <a:t> = </a:t>
            </a:r>
            <a:r>
              <a:rPr lang="en-US" sz="3200" dirty="0" err="1">
                <a:cs typeface="Arial" pitchFamily="34" charset="0"/>
              </a:rPr>
              <a:t>file1.read</a:t>
            </a:r>
            <a:r>
              <a:rPr lang="en-US" sz="3200" dirty="0">
                <a:cs typeface="Arial" pitchFamily="34" charset="0"/>
              </a:rPr>
              <a:t>() </a:t>
            </a:r>
          </a:p>
          <a:p>
            <a:pPr lvl="0" eaLnBrk="0" fontAlgn="base" hangingPunct="0">
              <a:spcBef>
                <a:spcPct val="0"/>
              </a:spcBef>
              <a:spcAft>
                <a:spcPct val="0"/>
              </a:spcAft>
            </a:pPr>
            <a:r>
              <a:rPr lang="en-US" sz="3200" dirty="0">
                <a:cs typeface="Arial" pitchFamily="34" charset="0"/>
              </a:rPr>
              <a:t>	print(</a:t>
            </a:r>
            <a:r>
              <a:rPr lang="en-US" sz="3200" dirty="0" err="1">
                <a:cs typeface="Arial" pitchFamily="34" charset="0"/>
              </a:rPr>
              <a:t>read_content</a:t>
            </a:r>
            <a:r>
              <a:rPr lang="en-US" sz="3200" dirty="0">
                <a:cs typeface="Arial" pitchFamily="34" charset="0"/>
              </a:rPr>
              <a:t>) </a:t>
            </a:r>
          </a:p>
          <a:p>
            <a:pPr lvl="0" eaLnBrk="0" fontAlgn="base" hangingPunct="0">
              <a:spcBef>
                <a:spcPct val="0"/>
              </a:spcBef>
              <a:spcAft>
                <a:spcPct val="0"/>
              </a:spcAft>
            </a:pPr>
            <a:endParaRPr lang="en-IN" sz="3200" dirty="0">
              <a:cs typeface="Arial" pitchFamily="34" charset="0"/>
            </a:endParaRPr>
          </a:p>
          <a:p>
            <a:pPr lvl="0" eaLnBrk="0" fontAlgn="base" hangingPunct="0">
              <a:spcBef>
                <a:spcPct val="0"/>
              </a:spcBef>
              <a:spcAft>
                <a:spcPct val="0"/>
              </a:spcAft>
            </a:pPr>
            <a:r>
              <a:rPr lang="en-US" sz="3200" b="1" dirty="0"/>
              <a:t>Note</a:t>
            </a:r>
            <a:r>
              <a:rPr lang="en-US" sz="3200" dirty="0"/>
              <a:t>: Since we don't have to worry about closing the file, make a habit of using the with...open syntax.</a:t>
            </a:r>
            <a:endParaRPr lang="en-IN" sz="3200" dirty="0">
              <a:cs typeface="Arial" pitchFamily="34" charset="0"/>
            </a:endParaRPr>
          </a:p>
        </p:txBody>
      </p:sp>
    </p:spTree>
    <p:extLst>
      <p:ext uri="{BB962C8B-B14F-4D97-AF65-F5344CB8AC3E}">
        <p14:creationId xmlns:p14="http://schemas.microsoft.com/office/powerpoint/2010/main" xmlns="" val="201011254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3046988"/>
          </a:xfrm>
          <a:prstGeom prst="rect">
            <a:avLst/>
          </a:prstGeom>
          <a:noFill/>
        </p:spPr>
        <p:txBody>
          <a:bodyPr wrap="square" rtlCol="0">
            <a:spAutoFit/>
          </a:bodyPr>
          <a:lstStyle/>
          <a:p>
            <a:pPr lvl="0" algn="just" eaLnBrk="0" fontAlgn="base" hangingPunct="0">
              <a:spcBef>
                <a:spcPct val="0"/>
              </a:spcBef>
              <a:spcAft>
                <a:spcPct val="0"/>
              </a:spcAft>
            </a:pPr>
            <a:r>
              <a:rPr lang="en-US" sz="3200" dirty="0">
                <a:cs typeface="Arial" pitchFamily="34" charset="0"/>
              </a:rPr>
              <a:t>There are two things we need to remember while writing to a file.</a:t>
            </a:r>
          </a:p>
          <a:p>
            <a:pPr marL="457200" lvl="0" indent="-457200" algn="just" eaLnBrk="0" fontAlgn="base" hangingPunct="0">
              <a:spcBef>
                <a:spcPct val="0"/>
              </a:spcBef>
              <a:spcAft>
                <a:spcPct val="0"/>
              </a:spcAft>
              <a:buFont typeface="Arial" panose="020B0604020202020204" pitchFamily="34" charset="0"/>
              <a:buChar char="•"/>
            </a:pPr>
            <a:r>
              <a:rPr lang="en-US" sz="3200" dirty="0">
                <a:cs typeface="Arial" pitchFamily="34" charset="0"/>
              </a:rPr>
              <a:t>If we try to open a file that doesn't exist, a new file is created.</a:t>
            </a:r>
          </a:p>
          <a:p>
            <a:pPr marL="457200" lvl="0" indent="-457200" algn="just" eaLnBrk="0" fontAlgn="base" hangingPunct="0">
              <a:spcBef>
                <a:spcPct val="0"/>
              </a:spcBef>
              <a:spcAft>
                <a:spcPct val="0"/>
              </a:spcAft>
              <a:buFont typeface="Arial" panose="020B0604020202020204" pitchFamily="34" charset="0"/>
              <a:buChar char="•"/>
            </a:pPr>
            <a:r>
              <a:rPr lang="en-US" sz="3200" dirty="0">
                <a:cs typeface="Arial" pitchFamily="34" charset="0"/>
              </a:rPr>
              <a:t>If a file already exists, its content is erased, and new content is added to the file.</a:t>
            </a:r>
          </a:p>
        </p:txBody>
      </p:sp>
    </p:spTree>
    <p:extLst>
      <p:ext uri="{BB962C8B-B14F-4D97-AF65-F5344CB8AC3E}">
        <p14:creationId xmlns:p14="http://schemas.microsoft.com/office/powerpoint/2010/main" xmlns="" val="238792590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6001643"/>
          </a:xfrm>
          <a:prstGeom prst="rect">
            <a:avLst/>
          </a:prstGeom>
          <a:noFill/>
        </p:spPr>
        <p:txBody>
          <a:bodyPr wrap="square" rtlCol="0">
            <a:spAutoFit/>
          </a:bodyPr>
          <a:lstStyle/>
          <a:p>
            <a:pPr lvl="0" algn="just" fontAlgn="base">
              <a:spcBef>
                <a:spcPct val="0"/>
              </a:spcBef>
              <a:spcAft>
                <a:spcPct val="0"/>
              </a:spcAft>
            </a:pPr>
            <a:r>
              <a:rPr lang="en-US" sz="3200" dirty="0">
                <a:cs typeface="Arial" pitchFamily="34" charset="0"/>
              </a:rPr>
              <a:t>In order to write into a file in Python, we need </a:t>
            </a:r>
            <a:r>
              <a:rPr lang="en-US" sz="3200" dirty="0" smtClean="0">
                <a:cs typeface="Arial" pitchFamily="34" charset="0"/>
              </a:rPr>
              <a:t>to open </a:t>
            </a:r>
            <a:r>
              <a:rPr lang="en-US" sz="3200" dirty="0">
                <a:cs typeface="Arial" pitchFamily="34" charset="0"/>
              </a:rPr>
              <a:t>it in write mode </a:t>
            </a:r>
            <a:r>
              <a:rPr lang="en-US" sz="3200" dirty="0" smtClean="0">
                <a:cs typeface="Arial" pitchFamily="34" charset="0"/>
              </a:rPr>
              <a:t>by passing</a:t>
            </a:r>
            <a:r>
              <a:rPr lang="en-US" sz="3200" dirty="0">
                <a:cs typeface="Arial" pitchFamily="34" charset="0"/>
              </a:rPr>
              <a:t> </a:t>
            </a:r>
            <a:r>
              <a:rPr lang="en-US" sz="3200" dirty="0" smtClean="0">
                <a:cs typeface="Arial" pitchFamily="34" charset="0"/>
              </a:rPr>
              <a:t>"</a:t>
            </a:r>
            <a:r>
              <a:rPr lang="en-US" sz="3200" dirty="0">
                <a:cs typeface="Arial" pitchFamily="34" charset="0"/>
              </a:rPr>
              <a:t>w" </a:t>
            </a:r>
            <a:r>
              <a:rPr lang="en-US" sz="3200" dirty="0" smtClean="0">
                <a:cs typeface="Arial" pitchFamily="34" charset="0"/>
              </a:rPr>
              <a:t>inside</a:t>
            </a:r>
            <a:r>
              <a:rPr lang="en-US" sz="3200" dirty="0">
                <a:cs typeface="Arial" pitchFamily="34" charset="0"/>
              </a:rPr>
              <a:t> open() as a second argument.</a:t>
            </a:r>
          </a:p>
          <a:p>
            <a:pPr lvl="0" algn="just" eaLnBrk="0" fontAlgn="base" hangingPunct="0">
              <a:spcBef>
                <a:spcPct val="0"/>
              </a:spcBef>
              <a:spcAft>
                <a:spcPct val="0"/>
              </a:spcAft>
            </a:pPr>
            <a:r>
              <a:rPr lang="en-US" sz="3200" dirty="0">
                <a:cs typeface="Arial" pitchFamily="34" charset="0"/>
              </a:rPr>
              <a:t>Suppose, we don't have a file named </a:t>
            </a:r>
            <a:r>
              <a:rPr lang="en-US" sz="3200" b="1" dirty="0" err="1">
                <a:cs typeface="Arial" pitchFamily="34" charset="0"/>
              </a:rPr>
              <a:t>test2.txt</a:t>
            </a:r>
            <a:r>
              <a:rPr lang="en-US" sz="3200" dirty="0">
                <a:cs typeface="Arial" pitchFamily="34" charset="0"/>
              </a:rPr>
              <a:t>. Let's see what happens if we write contents to the </a:t>
            </a:r>
            <a:r>
              <a:rPr lang="en-US" sz="3200" dirty="0" err="1">
                <a:cs typeface="Arial" pitchFamily="34" charset="0"/>
              </a:rPr>
              <a:t>test2.txt</a:t>
            </a:r>
            <a:r>
              <a:rPr lang="en-US" sz="3200" dirty="0">
                <a:cs typeface="Arial" pitchFamily="34" charset="0"/>
              </a:rPr>
              <a:t> file.</a:t>
            </a:r>
            <a:endParaRPr lang="en-IN" sz="3200" dirty="0">
              <a:cs typeface="Arial" pitchFamily="34" charset="0"/>
            </a:endParaRPr>
          </a:p>
          <a:p>
            <a:pPr lvl="0" algn="just" eaLnBrk="0" fontAlgn="base" hangingPunct="0">
              <a:spcBef>
                <a:spcPct val="0"/>
              </a:spcBef>
              <a:spcAft>
                <a:spcPct val="0"/>
              </a:spcAft>
            </a:pPr>
            <a:r>
              <a:rPr lang="en-US" sz="3200" b="1" dirty="0"/>
              <a:t>with open(</a:t>
            </a:r>
            <a:r>
              <a:rPr lang="en-US" sz="3200" b="1" dirty="0" err="1"/>
              <a:t>test2.txt</a:t>
            </a:r>
            <a:r>
              <a:rPr lang="en-US" sz="3200" b="1" dirty="0"/>
              <a:t>', 'w') as </a:t>
            </a:r>
            <a:r>
              <a:rPr lang="en-US" sz="3200" b="1" dirty="0" err="1"/>
              <a:t>file2</a:t>
            </a:r>
            <a:r>
              <a:rPr lang="en-US" sz="3200" b="1" dirty="0"/>
              <a:t>:</a:t>
            </a:r>
          </a:p>
          <a:p>
            <a:pPr lvl="0" algn="just" eaLnBrk="0" fontAlgn="base" hangingPunct="0">
              <a:spcBef>
                <a:spcPct val="0"/>
              </a:spcBef>
              <a:spcAft>
                <a:spcPct val="0"/>
              </a:spcAft>
            </a:pPr>
            <a:r>
              <a:rPr lang="en-US" sz="3200" b="1" dirty="0"/>
              <a:t> # write contents to the </a:t>
            </a:r>
            <a:r>
              <a:rPr lang="en-US" sz="3200" b="1" dirty="0" err="1"/>
              <a:t>test2.txt</a:t>
            </a:r>
            <a:r>
              <a:rPr lang="en-US" sz="3200" b="1" dirty="0"/>
              <a:t> file </a:t>
            </a:r>
          </a:p>
          <a:p>
            <a:pPr lvl="0" algn="just" eaLnBrk="0" fontAlgn="base" hangingPunct="0">
              <a:spcBef>
                <a:spcPct val="0"/>
              </a:spcBef>
              <a:spcAft>
                <a:spcPct val="0"/>
              </a:spcAft>
            </a:pPr>
            <a:r>
              <a:rPr lang="en-US" sz="3200" b="1" dirty="0"/>
              <a:t>	</a:t>
            </a:r>
            <a:r>
              <a:rPr lang="en-US" sz="3200" b="1" dirty="0" err="1"/>
              <a:t>file2.write</a:t>
            </a:r>
            <a:r>
              <a:rPr lang="en-US" sz="3200" b="1" dirty="0"/>
              <a:t>('Programming is Fun.') </a:t>
            </a:r>
          </a:p>
          <a:p>
            <a:pPr lvl="0" algn="just" eaLnBrk="0" fontAlgn="base" hangingPunct="0">
              <a:spcBef>
                <a:spcPct val="0"/>
              </a:spcBef>
              <a:spcAft>
                <a:spcPct val="0"/>
              </a:spcAft>
            </a:pPr>
            <a:r>
              <a:rPr lang="en-US" sz="3200" b="1" dirty="0"/>
              <a:t>	</a:t>
            </a:r>
            <a:r>
              <a:rPr lang="en-US" sz="3200" b="1" dirty="0" err="1"/>
              <a:t>file2.write</a:t>
            </a:r>
            <a:r>
              <a:rPr lang="en-US" sz="3200" b="1" dirty="0"/>
              <a:t>('Python for beginners')</a:t>
            </a:r>
          </a:p>
          <a:p>
            <a:pPr lvl="0" algn="just" eaLnBrk="0" fontAlgn="base" hangingPunct="0">
              <a:spcBef>
                <a:spcPct val="0"/>
              </a:spcBef>
              <a:spcAft>
                <a:spcPct val="0"/>
              </a:spcAft>
            </a:pPr>
            <a:r>
              <a:rPr lang="en-US" sz="3200" dirty="0"/>
              <a:t>Here, a new </a:t>
            </a:r>
            <a:r>
              <a:rPr lang="en-US" sz="3200" dirty="0" err="1"/>
              <a:t>test2.txt</a:t>
            </a:r>
            <a:r>
              <a:rPr lang="en-US" sz="3200" dirty="0"/>
              <a:t> file is created and this file will have contents specified inside the write() method.</a:t>
            </a:r>
            <a:endParaRPr lang="en-US" sz="3200" dirty="0">
              <a:cs typeface="Arial" pitchFamily="34" charset="0"/>
            </a:endParaRPr>
          </a:p>
        </p:txBody>
      </p:sp>
    </p:spTree>
    <p:extLst>
      <p:ext uri="{BB962C8B-B14F-4D97-AF65-F5344CB8AC3E}">
        <p14:creationId xmlns:p14="http://schemas.microsoft.com/office/powerpoint/2010/main" xmlns="" val="134656195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5016758"/>
          </a:xfrm>
          <a:prstGeom prst="rect">
            <a:avLst/>
          </a:prstGeom>
          <a:noFill/>
        </p:spPr>
        <p:txBody>
          <a:bodyPr wrap="square" rtlCol="0">
            <a:spAutoFit/>
          </a:bodyPr>
          <a:lstStyle/>
          <a:p>
            <a:pPr lvl="0" algn="just" fontAlgn="base">
              <a:spcBef>
                <a:spcPct val="0"/>
              </a:spcBef>
              <a:spcAft>
                <a:spcPct val="0"/>
              </a:spcAft>
            </a:pPr>
            <a:r>
              <a:rPr lang="en-US" sz="3200" dirty="0">
                <a:solidFill>
                  <a:srgbClr val="222222"/>
                </a:solidFill>
                <a:cs typeface="Arial" pitchFamily="34" charset="0"/>
              </a:rPr>
              <a:t>When you access a file on an operating system, a file path is required. The file path is a string that represents the location of a file. It’s broken up into three major parts:</a:t>
            </a:r>
          </a:p>
          <a:p>
            <a:pPr lvl="0" algn="just" eaLnBrk="0" fontAlgn="base" hangingPunct="0">
              <a:spcBef>
                <a:spcPct val="0"/>
              </a:spcBef>
              <a:spcAft>
                <a:spcPct val="0"/>
              </a:spcAft>
              <a:buFontTx/>
              <a:buAutoNum type="arabicPeriod"/>
            </a:pPr>
            <a:r>
              <a:rPr lang="en-US" sz="3200" b="1" dirty="0" smtClean="0">
                <a:solidFill>
                  <a:srgbClr val="222222"/>
                </a:solidFill>
                <a:cs typeface="Arial" pitchFamily="34" charset="0"/>
              </a:rPr>
              <a:t>Folder </a:t>
            </a:r>
            <a:r>
              <a:rPr lang="en-US" sz="3200" b="1" dirty="0">
                <a:solidFill>
                  <a:srgbClr val="222222"/>
                </a:solidFill>
                <a:cs typeface="Arial" pitchFamily="34" charset="0"/>
              </a:rPr>
              <a:t>Path:</a:t>
            </a:r>
            <a:r>
              <a:rPr lang="en-US" sz="3200" dirty="0">
                <a:solidFill>
                  <a:srgbClr val="222222"/>
                </a:solidFill>
                <a:cs typeface="Arial" pitchFamily="34" charset="0"/>
              </a:rPr>
              <a:t> the file folder location on the file system where subsequent folders are separated by a forward slash / (Unix) or backslash \ (Windows)</a:t>
            </a:r>
          </a:p>
          <a:p>
            <a:pPr lvl="0" algn="just" eaLnBrk="0" fontAlgn="base" hangingPunct="0">
              <a:spcBef>
                <a:spcPct val="0"/>
              </a:spcBef>
              <a:spcAft>
                <a:spcPct val="0"/>
              </a:spcAft>
              <a:buFontTx/>
              <a:buAutoNum type="arabicPeriod" startAt="2"/>
            </a:pPr>
            <a:r>
              <a:rPr lang="en-US" sz="3200" b="1" dirty="0" smtClean="0">
                <a:solidFill>
                  <a:srgbClr val="222222"/>
                </a:solidFill>
                <a:cs typeface="Arial" pitchFamily="34" charset="0"/>
              </a:rPr>
              <a:t>File </a:t>
            </a:r>
            <a:r>
              <a:rPr lang="en-US" sz="3200" b="1" dirty="0">
                <a:solidFill>
                  <a:srgbClr val="222222"/>
                </a:solidFill>
                <a:cs typeface="Arial" pitchFamily="34" charset="0"/>
              </a:rPr>
              <a:t>Name:</a:t>
            </a:r>
            <a:r>
              <a:rPr lang="en-US" sz="3200" dirty="0">
                <a:solidFill>
                  <a:srgbClr val="222222"/>
                </a:solidFill>
                <a:cs typeface="Arial" pitchFamily="34" charset="0"/>
              </a:rPr>
              <a:t> the actual name of the file</a:t>
            </a:r>
          </a:p>
          <a:p>
            <a:pPr lvl="0" algn="just" eaLnBrk="0" fontAlgn="base" hangingPunct="0">
              <a:spcBef>
                <a:spcPct val="0"/>
              </a:spcBef>
              <a:spcAft>
                <a:spcPct val="0"/>
              </a:spcAft>
              <a:buFontTx/>
              <a:buAutoNum type="arabicPeriod" startAt="3"/>
            </a:pPr>
            <a:r>
              <a:rPr lang="en-US" sz="3200" b="1" dirty="0" smtClean="0">
                <a:solidFill>
                  <a:srgbClr val="222222"/>
                </a:solidFill>
                <a:cs typeface="Arial" pitchFamily="34" charset="0"/>
              </a:rPr>
              <a:t>Extension</a:t>
            </a:r>
            <a:r>
              <a:rPr lang="en-US" sz="3200" b="1" dirty="0">
                <a:solidFill>
                  <a:srgbClr val="222222"/>
                </a:solidFill>
                <a:cs typeface="Arial" pitchFamily="34" charset="0"/>
              </a:rPr>
              <a:t>:</a:t>
            </a:r>
            <a:r>
              <a:rPr lang="en-US" sz="3200" dirty="0">
                <a:solidFill>
                  <a:srgbClr val="222222"/>
                </a:solidFill>
                <a:cs typeface="Arial" pitchFamily="34" charset="0"/>
              </a:rPr>
              <a:t> the end of the file path pre-pended with a period (.) used to indicate the file </a:t>
            </a:r>
            <a:r>
              <a:rPr lang="en-US" sz="3200" dirty="0" smtClean="0">
                <a:solidFill>
                  <a:srgbClr val="222222"/>
                </a:solidFill>
                <a:cs typeface="Arial" pitchFamily="34" charset="0"/>
              </a:rPr>
              <a:t>type</a:t>
            </a:r>
            <a:endParaRPr lang="en-US" sz="3200" dirty="0">
              <a:solidFill>
                <a:srgbClr val="222222"/>
              </a:solidFill>
              <a:cs typeface="Arial" pitchFamily="34" charset="0"/>
            </a:endParaRPr>
          </a:p>
        </p:txBody>
      </p:sp>
    </p:spTree>
    <p:extLst>
      <p:ext uri="{BB962C8B-B14F-4D97-AF65-F5344CB8AC3E}">
        <p14:creationId xmlns:p14="http://schemas.microsoft.com/office/powerpoint/2010/main" xmlns="" val="237803698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4832092"/>
          </a:xfrm>
          <a:prstGeom prst="rect">
            <a:avLst/>
          </a:prstGeom>
          <a:noFill/>
        </p:spPr>
        <p:txBody>
          <a:bodyPr wrap="square" rtlCol="0">
            <a:spAutoFit/>
          </a:bodyPr>
          <a:lstStyle/>
          <a:p>
            <a:pPr lvl="0" algn="just" fontAlgn="base">
              <a:spcBef>
                <a:spcPct val="0"/>
              </a:spcBef>
              <a:spcAft>
                <a:spcPct val="0"/>
              </a:spcAft>
            </a:pPr>
            <a:r>
              <a:rPr lang="en-US" sz="2800" dirty="0">
                <a:solidFill>
                  <a:srgbClr val="000000"/>
                </a:solidFill>
                <a:cs typeface="Arial" pitchFamily="34" charset="0"/>
              </a:rPr>
              <a:t>A path is either </a:t>
            </a:r>
            <a:r>
              <a:rPr lang="en-US" sz="2800" i="1" dirty="0">
                <a:solidFill>
                  <a:srgbClr val="000000"/>
                </a:solidFill>
                <a:cs typeface="Arial" pitchFamily="34" charset="0"/>
              </a:rPr>
              <a:t>relative</a:t>
            </a:r>
            <a:r>
              <a:rPr lang="en-US" sz="2800" dirty="0">
                <a:solidFill>
                  <a:srgbClr val="000000"/>
                </a:solidFill>
                <a:cs typeface="Arial" pitchFamily="34" charset="0"/>
              </a:rPr>
              <a:t> or </a:t>
            </a:r>
            <a:r>
              <a:rPr lang="en-US" sz="2800" i="1" dirty="0">
                <a:solidFill>
                  <a:srgbClr val="000000"/>
                </a:solidFill>
                <a:cs typeface="Arial" pitchFamily="34" charset="0"/>
              </a:rPr>
              <a:t>absolute</a:t>
            </a:r>
            <a:r>
              <a:rPr lang="en-US" sz="2800" dirty="0">
                <a:solidFill>
                  <a:srgbClr val="000000"/>
                </a:solidFill>
                <a:cs typeface="Arial" pitchFamily="34" charset="0"/>
              </a:rPr>
              <a:t>. An absolute path always contains the root element and the complete directory list required to locate the file. For example, /home/sally/</a:t>
            </a:r>
            <a:r>
              <a:rPr lang="en-US" sz="2800" dirty="0" err="1">
                <a:solidFill>
                  <a:srgbClr val="000000"/>
                </a:solidFill>
                <a:cs typeface="Arial" pitchFamily="34" charset="0"/>
              </a:rPr>
              <a:t>statusReport</a:t>
            </a:r>
            <a:r>
              <a:rPr lang="en-US" sz="2800" dirty="0">
                <a:solidFill>
                  <a:srgbClr val="000000"/>
                </a:solidFill>
                <a:cs typeface="Arial" pitchFamily="34" charset="0"/>
              </a:rPr>
              <a:t> is an absolute path. All of the information needed to locate the file is contained in the path string.</a:t>
            </a:r>
          </a:p>
          <a:p>
            <a:pPr lvl="0" algn="just" fontAlgn="base">
              <a:spcBef>
                <a:spcPct val="0"/>
              </a:spcBef>
              <a:spcAft>
                <a:spcPct val="0"/>
              </a:spcAft>
            </a:pPr>
            <a:endParaRPr lang="en-US" sz="2800" dirty="0">
              <a:cs typeface="Arial" pitchFamily="34" charset="0"/>
            </a:endParaRPr>
          </a:p>
          <a:p>
            <a:pPr lvl="0" algn="just" eaLnBrk="0" fontAlgn="base" hangingPunct="0">
              <a:spcBef>
                <a:spcPct val="0"/>
              </a:spcBef>
              <a:spcAft>
                <a:spcPct val="0"/>
              </a:spcAft>
            </a:pPr>
            <a:r>
              <a:rPr lang="en-US" sz="2800" dirty="0">
                <a:solidFill>
                  <a:srgbClr val="000000"/>
                </a:solidFill>
                <a:cs typeface="Arial" pitchFamily="34" charset="0"/>
              </a:rPr>
              <a:t>A relative path needs to be combined with another path in order to access a file. For example, joe/foo is a relative path. Without more information, a program cannot reliably locate the joe/foo directory in the file system.</a:t>
            </a:r>
            <a:endParaRPr lang="en-US" sz="2800" dirty="0">
              <a:cs typeface="Arial" pitchFamily="34" charset="0"/>
            </a:endParaRPr>
          </a:p>
        </p:txBody>
      </p:sp>
    </p:spTree>
    <p:extLst>
      <p:ext uri="{BB962C8B-B14F-4D97-AF65-F5344CB8AC3E}">
        <p14:creationId xmlns:p14="http://schemas.microsoft.com/office/powerpoint/2010/main" xmlns="" val="424293250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4401205"/>
          </a:xfrm>
          <a:prstGeom prst="rect">
            <a:avLst/>
          </a:prstGeom>
          <a:noFill/>
        </p:spPr>
        <p:txBody>
          <a:bodyPr wrap="square" rtlCol="0">
            <a:spAutoFit/>
          </a:bodyPr>
          <a:lstStyle/>
          <a:p>
            <a:pPr lvl="0" algn="just" fontAlgn="base">
              <a:spcBef>
                <a:spcPct val="0"/>
              </a:spcBef>
              <a:spcAft>
                <a:spcPct val="0"/>
              </a:spcAft>
            </a:pPr>
            <a:r>
              <a:rPr lang="en-US" sz="2800" b="1" dirty="0">
                <a:solidFill>
                  <a:srgbClr val="000000"/>
                </a:solidFill>
                <a:cs typeface="Arial" pitchFamily="34" charset="0"/>
              </a:rPr>
              <a:t>To find an absolute path in Python</a:t>
            </a:r>
            <a:r>
              <a:rPr lang="en-US" sz="2800" dirty="0">
                <a:solidFill>
                  <a:srgbClr val="000000"/>
                </a:solidFill>
                <a:cs typeface="Arial" pitchFamily="34" charset="0"/>
              </a:rPr>
              <a:t> you import the </a:t>
            </a:r>
            <a:r>
              <a:rPr lang="en-US" sz="2800" dirty="0" err="1">
                <a:solidFill>
                  <a:srgbClr val="000000"/>
                </a:solidFill>
                <a:cs typeface="Arial" pitchFamily="34" charset="0"/>
              </a:rPr>
              <a:t>os</a:t>
            </a:r>
            <a:r>
              <a:rPr lang="en-US" sz="2800" dirty="0">
                <a:solidFill>
                  <a:srgbClr val="000000"/>
                </a:solidFill>
                <a:cs typeface="Arial" pitchFamily="34" charset="0"/>
              </a:rPr>
              <a:t> module then you can find the current working directory using </a:t>
            </a:r>
          </a:p>
          <a:p>
            <a:pPr lvl="0" algn="just" fontAlgn="base">
              <a:spcBef>
                <a:spcPct val="0"/>
              </a:spcBef>
              <a:spcAft>
                <a:spcPct val="0"/>
              </a:spcAft>
            </a:pPr>
            <a:r>
              <a:rPr lang="en-US" sz="2800" b="1" dirty="0" err="1">
                <a:solidFill>
                  <a:srgbClr val="000000"/>
                </a:solidFill>
                <a:cs typeface="Arial" pitchFamily="34" charset="0"/>
              </a:rPr>
              <a:t>os.path.abspath</a:t>
            </a:r>
            <a:r>
              <a:rPr lang="en-US" sz="2800" b="1" dirty="0">
                <a:solidFill>
                  <a:srgbClr val="000000"/>
                </a:solidFill>
                <a:cs typeface="Arial" pitchFamily="34" charset="0"/>
              </a:rPr>
              <a:t>("insert-file-name-here")</a:t>
            </a:r>
            <a:r>
              <a:rPr lang="en-US" sz="2800" dirty="0">
                <a:solidFill>
                  <a:srgbClr val="000000"/>
                </a:solidFill>
                <a:cs typeface="Arial" pitchFamily="34" charset="0"/>
              </a:rPr>
              <a:t> in your Python script.</a:t>
            </a:r>
            <a:r>
              <a:rPr lang="en-US" sz="2800" dirty="0">
                <a:cs typeface="Arial" pitchFamily="34" charset="0"/>
              </a:rPr>
              <a:t> </a:t>
            </a:r>
          </a:p>
          <a:p>
            <a:pPr lvl="0" algn="just" fontAlgn="base">
              <a:spcBef>
                <a:spcPct val="0"/>
              </a:spcBef>
              <a:spcAft>
                <a:spcPct val="0"/>
              </a:spcAft>
            </a:pPr>
            <a:endParaRPr lang="en-IN" sz="2800" dirty="0">
              <a:cs typeface="Arial" pitchFamily="34" charset="0"/>
            </a:endParaRPr>
          </a:p>
          <a:p>
            <a:pPr algn="just" fontAlgn="base">
              <a:spcBef>
                <a:spcPct val="0"/>
              </a:spcBef>
              <a:spcAft>
                <a:spcPct val="0"/>
              </a:spcAft>
            </a:pPr>
            <a:r>
              <a:rPr lang="en-US" sz="2800" b="1" dirty="0"/>
              <a:t>to find the absolute path in Python</a:t>
            </a:r>
          </a:p>
          <a:p>
            <a:r>
              <a:rPr lang="en-US" sz="2800" dirty="0"/>
              <a:t>To get the absolute path in Python you write the following code:</a:t>
            </a:r>
          </a:p>
          <a:p>
            <a:r>
              <a:rPr lang="en-US" sz="2800" dirty="0"/>
              <a:t>import </a:t>
            </a:r>
            <a:r>
              <a:rPr lang="en-US" sz="2800" dirty="0" err="1"/>
              <a:t>os</a:t>
            </a:r>
            <a:r>
              <a:rPr lang="en-US" sz="2800" dirty="0"/>
              <a:t> </a:t>
            </a:r>
            <a:r>
              <a:rPr lang="en-US" sz="2800" dirty="0" err="1"/>
              <a:t>os.path.abspath</a:t>
            </a:r>
            <a:r>
              <a:rPr lang="en-US" sz="2800" dirty="0"/>
              <a:t>("</a:t>
            </a:r>
            <a:r>
              <a:rPr lang="en-US" sz="2800" dirty="0" err="1"/>
              <a:t>src</a:t>
            </a:r>
            <a:r>
              <a:rPr lang="en-US" sz="2800" dirty="0"/>
              <a:t>/</a:t>
            </a:r>
            <a:r>
              <a:rPr lang="en-US" sz="2800" dirty="0" err="1"/>
              <a:t>examplefile.txt</a:t>
            </a:r>
            <a:r>
              <a:rPr lang="en-US" sz="2800" dirty="0"/>
              <a:t>")</a:t>
            </a:r>
            <a:endParaRPr lang="en-US" sz="2800" dirty="0">
              <a:cs typeface="Arial" pitchFamily="34" charset="0"/>
            </a:endParaRPr>
          </a:p>
        </p:txBody>
      </p:sp>
    </p:spTree>
    <p:extLst>
      <p:ext uri="{BB962C8B-B14F-4D97-AF65-F5344CB8AC3E}">
        <p14:creationId xmlns:p14="http://schemas.microsoft.com/office/powerpoint/2010/main" xmlns="" val="370100202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3108543"/>
          </a:xfrm>
          <a:prstGeom prst="rect">
            <a:avLst/>
          </a:prstGeom>
          <a:noFill/>
        </p:spPr>
        <p:txBody>
          <a:bodyPr wrap="square" rtlCol="0">
            <a:spAutoFit/>
          </a:bodyPr>
          <a:lstStyle/>
          <a:p>
            <a:pPr algn="just"/>
            <a:r>
              <a:rPr lang="en-US" sz="2800" b="1" dirty="0"/>
              <a:t>to find the relative path in Python</a:t>
            </a:r>
          </a:p>
          <a:p>
            <a:pPr algn="just"/>
            <a:r>
              <a:rPr lang="en-US" sz="2800" dirty="0"/>
              <a:t>To get the relative path in Python you write the following code:</a:t>
            </a:r>
          </a:p>
          <a:p>
            <a:pPr algn="just"/>
            <a:r>
              <a:rPr lang="en-US" sz="2800" dirty="0"/>
              <a:t>import </a:t>
            </a:r>
            <a:r>
              <a:rPr lang="en-US" sz="2800" dirty="0" err="1"/>
              <a:t>os</a:t>
            </a:r>
            <a:r>
              <a:rPr lang="en-US" sz="2800" dirty="0"/>
              <a:t> </a:t>
            </a:r>
          </a:p>
          <a:p>
            <a:pPr algn="just"/>
            <a:r>
              <a:rPr lang="en-US" sz="2800" dirty="0" err="1"/>
              <a:t>absolute_path</a:t>
            </a:r>
            <a:r>
              <a:rPr lang="en-US" sz="2800" dirty="0"/>
              <a:t> = </a:t>
            </a:r>
            <a:r>
              <a:rPr lang="en-US" sz="2800" dirty="0" err="1"/>
              <a:t>os.path.dirname</a:t>
            </a:r>
            <a:r>
              <a:rPr lang="en-US" sz="2800" dirty="0"/>
              <a:t>(__file__) </a:t>
            </a:r>
          </a:p>
          <a:p>
            <a:pPr algn="just"/>
            <a:r>
              <a:rPr lang="en-US" sz="2800" dirty="0" err="1"/>
              <a:t>relative_path</a:t>
            </a:r>
            <a:r>
              <a:rPr lang="en-US" sz="2800" dirty="0"/>
              <a:t> = "</a:t>
            </a:r>
            <a:r>
              <a:rPr lang="en-US" sz="2800" dirty="0" err="1"/>
              <a:t>src</a:t>
            </a:r>
            <a:r>
              <a:rPr lang="en-US" sz="2800" dirty="0"/>
              <a:t>/lib“</a:t>
            </a:r>
          </a:p>
          <a:p>
            <a:pPr algn="just"/>
            <a:r>
              <a:rPr lang="en-US" sz="2800" dirty="0"/>
              <a:t> </a:t>
            </a:r>
            <a:r>
              <a:rPr lang="en-US" sz="2800" dirty="0" err="1"/>
              <a:t>full_path</a:t>
            </a:r>
            <a:r>
              <a:rPr lang="en-US" sz="2800" dirty="0"/>
              <a:t> = </a:t>
            </a:r>
            <a:r>
              <a:rPr lang="en-US" sz="2800" dirty="0" err="1"/>
              <a:t>os.path.join</a:t>
            </a:r>
            <a:r>
              <a:rPr lang="en-US" sz="2800" dirty="0"/>
              <a:t>(</a:t>
            </a:r>
            <a:r>
              <a:rPr lang="en-US" sz="2800" dirty="0" err="1"/>
              <a:t>absolute_path</a:t>
            </a:r>
            <a:r>
              <a:rPr lang="en-US" sz="2800" dirty="0"/>
              <a:t>, </a:t>
            </a:r>
            <a:r>
              <a:rPr lang="en-US" sz="2800" dirty="0" err="1"/>
              <a:t>relative_path</a:t>
            </a:r>
            <a:r>
              <a:rPr lang="en-US" sz="2800" dirty="0"/>
              <a:t>)</a:t>
            </a:r>
            <a:endParaRPr lang="en-US" sz="2800" b="1" dirty="0"/>
          </a:p>
        </p:txBody>
      </p:sp>
    </p:spTree>
    <p:extLst>
      <p:ext uri="{BB962C8B-B14F-4D97-AF65-F5344CB8AC3E}">
        <p14:creationId xmlns:p14="http://schemas.microsoft.com/office/powerpoint/2010/main" xmlns="" val="169930677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4401205"/>
          </a:xfrm>
          <a:prstGeom prst="rect">
            <a:avLst/>
          </a:prstGeom>
          <a:noFill/>
        </p:spPr>
        <p:txBody>
          <a:bodyPr wrap="square" rtlCol="0">
            <a:spAutoFit/>
          </a:bodyPr>
          <a:lstStyle/>
          <a:p>
            <a:pPr lvl="0" algn="just" fontAlgn="base">
              <a:spcBef>
                <a:spcPct val="0"/>
              </a:spcBef>
              <a:spcAft>
                <a:spcPct val="0"/>
              </a:spcAft>
            </a:pPr>
            <a:r>
              <a:rPr lang="en-US" sz="2800" dirty="0">
                <a:solidFill>
                  <a:srgbClr val="000000"/>
                </a:solidFill>
                <a:cs typeface="Arial" pitchFamily="34" charset="0"/>
              </a:rPr>
              <a:t>First, you have to import the </a:t>
            </a:r>
            <a:r>
              <a:rPr lang="en-US" sz="2800" dirty="0" err="1">
                <a:solidFill>
                  <a:srgbClr val="000000"/>
                </a:solidFill>
                <a:cs typeface="Arial" pitchFamily="34" charset="0"/>
                <a:hlinkClick r:id="rId2"/>
              </a:rPr>
              <a:t>os</a:t>
            </a:r>
            <a:r>
              <a:rPr lang="en-US" sz="2800" dirty="0">
                <a:solidFill>
                  <a:srgbClr val="000000"/>
                </a:solidFill>
                <a:cs typeface="Arial" pitchFamily="34" charset="0"/>
                <a:hlinkClick r:id="rId2"/>
              </a:rPr>
              <a:t> module</a:t>
            </a:r>
            <a:r>
              <a:rPr lang="en-US" sz="2800" dirty="0">
                <a:solidFill>
                  <a:srgbClr val="000000"/>
                </a:solidFill>
                <a:cs typeface="Arial" pitchFamily="34" charset="0"/>
              </a:rPr>
              <a:t> in Python so you can run operating system functionalities in your code.</a:t>
            </a:r>
            <a:endParaRPr lang="en-US" sz="2800" dirty="0">
              <a:cs typeface="Arial" pitchFamily="34" charset="0"/>
            </a:endParaRPr>
          </a:p>
          <a:p>
            <a:pPr lvl="0" algn="just" eaLnBrk="0" fontAlgn="base" hangingPunct="0">
              <a:spcBef>
                <a:spcPct val="0"/>
              </a:spcBef>
              <a:spcAft>
                <a:spcPct val="0"/>
              </a:spcAft>
            </a:pPr>
            <a:r>
              <a:rPr lang="en-US" sz="2800" dirty="0">
                <a:solidFill>
                  <a:srgbClr val="000000"/>
                </a:solidFill>
                <a:cs typeface="Arial" pitchFamily="34" charset="0"/>
              </a:rPr>
              <a:t>Then you create the variable </a:t>
            </a:r>
            <a:r>
              <a:rPr lang="en-US" sz="2800" dirty="0" err="1">
                <a:solidFill>
                  <a:srgbClr val="000000"/>
                </a:solidFill>
                <a:cs typeface="Arial" pitchFamily="34" charset="0"/>
              </a:rPr>
              <a:t>absolute_path</a:t>
            </a:r>
            <a:r>
              <a:rPr lang="en-US" sz="2800" dirty="0">
                <a:solidFill>
                  <a:srgbClr val="000000"/>
                </a:solidFill>
                <a:cs typeface="Arial" pitchFamily="34" charset="0"/>
              </a:rPr>
              <a:t> which fetches the current directory relative to the root folder. This is the full path to your working directory, in this case, ~/home/projects/example-project/.</a:t>
            </a:r>
          </a:p>
          <a:p>
            <a:pPr lvl="0" algn="just" eaLnBrk="0" fontAlgn="base" hangingPunct="0">
              <a:spcBef>
                <a:spcPct val="0"/>
              </a:spcBef>
              <a:spcAft>
                <a:spcPct val="0"/>
              </a:spcAft>
            </a:pPr>
            <a:endParaRPr lang="en-US" sz="2800" dirty="0">
              <a:cs typeface="Arial" pitchFamily="34" charset="0"/>
            </a:endParaRPr>
          </a:p>
          <a:p>
            <a:pPr lvl="0" algn="just" eaLnBrk="0" fontAlgn="base" hangingPunct="0">
              <a:spcBef>
                <a:spcPct val="0"/>
              </a:spcBef>
              <a:spcAft>
                <a:spcPct val="0"/>
              </a:spcAft>
            </a:pPr>
            <a:r>
              <a:rPr lang="en-US" sz="2800" dirty="0">
                <a:solidFill>
                  <a:srgbClr val="000000"/>
                </a:solidFill>
                <a:cs typeface="Arial" pitchFamily="34" charset="0"/>
              </a:rPr>
              <a:t>The advantage to getting the absolute path on your operating system is that it makes it possible to run the script on different systems on different working directories</a:t>
            </a:r>
            <a:r>
              <a:rPr lang="en-US" sz="2800" dirty="0" smtClean="0">
                <a:solidFill>
                  <a:srgbClr val="000000"/>
                </a:solidFill>
                <a:cs typeface="Arial" pitchFamily="34" charset="0"/>
              </a:rPr>
              <a:t>.</a:t>
            </a:r>
            <a:endParaRPr lang="en-US" sz="2800" dirty="0">
              <a:cs typeface="Arial" pitchFamily="34" charset="0"/>
            </a:endParaRPr>
          </a:p>
        </p:txBody>
      </p:sp>
    </p:spTree>
    <p:extLst>
      <p:ext uri="{BB962C8B-B14F-4D97-AF65-F5344CB8AC3E}">
        <p14:creationId xmlns:p14="http://schemas.microsoft.com/office/powerpoint/2010/main" xmlns="" val="209354600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4401205"/>
          </a:xfrm>
          <a:prstGeom prst="rect">
            <a:avLst/>
          </a:prstGeom>
          <a:noFill/>
        </p:spPr>
        <p:txBody>
          <a:bodyPr wrap="square" rtlCol="0">
            <a:spAutoFit/>
          </a:bodyPr>
          <a:lstStyle/>
          <a:p>
            <a:pPr lvl="0" algn="just" eaLnBrk="0" fontAlgn="base" hangingPunct="0">
              <a:spcBef>
                <a:spcPct val="0"/>
              </a:spcBef>
              <a:spcAft>
                <a:spcPct val="0"/>
              </a:spcAft>
            </a:pPr>
            <a:r>
              <a:rPr lang="en-US" sz="2800" dirty="0">
                <a:solidFill>
                  <a:srgbClr val="000000"/>
                </a:solidFill>
                <a:cs typeface="Arial" pitchFamily="34" charset="0"/>
              </a:rPr>
              <a:t>The </a:t>
            </a:r>
            <a:r>
              <a:rPr lang="en-US" sz="2800" dirty="0" err="1">
                <a:solidFill>
                  <a:srgbClr val="000000"/>
                </a:solidFill>
                <a:cs typeface="Arial" pitchFamily="34" charset="0"/>
              </a:rPr>
              <a:t>relative_path</a:t>
            </a:r>
            <a:r>
              <a:rPr lang="en-US" sz="2800" dirty="0">
                <a:solidFill>
                  <a:srgbClr val="000000"/>
                </a:solidFill>
                <a:cs typeface="Arial" pitchFamily="34" charset="0"/>
              </a:rPr>
              <a:t> variable is a string in which you define the location of the folder that you want to fetch relative to the working directory. </a:t>
            </a:r>
          </a:p>
          <a:p>
            <a:pPr lvl="0" algn="just" eaLnBrk="0" fontAlgn="base" hangingPunct="0">
              <a:spcBef>
                <a:spcPct val="0"/>
              </a:spcBef>
              <a:spcAft>
                <a:spcPct val="0"/>
              </a:spcAft>
            </a:pPr>
            <a:r>
              <a:rPr lang="en-US" sz="2800" dirty="0">
                <a:solidFill>
                  <a:srgbClr val="000000"/>
                </a:solidFill>
                <a:cs typeface="Arial" pitchFamily="34" charset="0"/>
              </a:rPr>
              <a:t>In this case, "</a:t>
            </a:r>
            <a:r>
              <a:rPr lang="en-US" sz="2800" dirty="0" err="1">
                <a:solidFill>
                  <a:srgbClr val="000000"/>
                </a:solidFill>
                <a:cs typeface="Arial" pitchFamily="34" charset="0"/>
              </a:rPr>
              <a:t>src</a:t>
            </a:r>
            <a:r>
              <a:rPr lang="en-US" sz="2800" dirty="0">
                <a:solidFill>
                  <a:srgbClr val="000000"/>
                </a:solidFill>
                <a:cs typeface="Arial" pitchFamily="34" charset="0"/>
              </a:rPr>
              <a:t>/lib".</a:t>
            </a:r>
          </a:p>
          <a:p>
            <a:pPr lvl="0" algn="just" eaLnBrk="0" fontAlgn="base" hangingPunct="0">
              <a:spcBef>
                <a:spcPct val="0"/>
              </a:spcBef>
              <a:spcAft>
                <a:spcPct val="0"/>
              </a:spcAft>
            </a:pPr>
            <a:endParaRPr lang="en-US" sz="2800" dirty="0">
              <a:cs typeface="Arial" pitchFamily="34" charset="0"/>
            </a:endParaRPr>
          </a:p>
          <a:p>
            <a:pPr lvl="0" algn="just" eaLnBrk="0" fontAlgn="base" hangingPunct="0">
              <a:spcBef>
                <a:spcPct val="0"/>
              </a:spcBef>
              <a:spcAft>
                <a:spcPct val="0"/>
              </a:spcAft>
            </a:pPr>
            <a:r>
              <a:rPr lang="en-US" sz="2800" dirty="0">
                <a:solidFill>
                  <a:srgbClr val="000000"/>
                </a:solidFill>
                <a:cs typeface="Arial" pitchFamily="34" charset="0"/>
              </a:rPr>
              <a:t>Then we use the </a:t>
            </a:r>
            <a:r>
              <a:rPr lang="en-US" sz="2800" dirty="0" err="1">
                <a:solidFill>
                  <a:srgbClr val="000000"/>
                </a:solidFill>
                <a:cs typeface="Arial" pitchFamily="34" charset="0"/>
              </a:rPr>
              <a:t>absolute_path</a:t>
            </a:r>
            <a:r>
              <a:rPr lang="en-US" sz="2800" dirty="0">
                <a:solidFill>
                  <a:srgbClr val="000000"/>
                </a:solidFill>
                <a:cs typeface="Arial" pitchFamily="34" charset="0"/>
              </a:rPr>
              <a:t> and combine it via join with the </a:t>
            </a:r>
            <a:r>
              <a:rPr lang="en-US" sz="2800" dirty="0" err="1">
                <a:solidFill>
                  <a:srgbClr val="000000"/>
                </a:solidFill>
                <a:cs typeface="Arial" pitchFamily="34" charset="0"/>
              </a:rPr>
              <a:t>relative_path</a:t>
            </a:r>
            <a:r>
              <a:rPr lang="en-US" sz="2800" dirty="0">
                <a:solidFill>
                  <a:srgbClr val="000000"/>
                </a:solidFill>
                <a:cs typeface="Arial" pitchFamily="34" charset="0"/>
              </a:rPr>
              <a:t> to get the full path to the lib folder which results in:</a:t>
            </a:r>
          </a:p>
          <a:p>
            <a:pPr lvl="0" algn="just" eaLnBrk="0" fontAlgn="base" hangingPunct="0">
              <a:spcBef>
                <a:spcPct val="0"/>
              </a:spcBef>
              <a:spcAft>
                <a:spcPct val="0"/>
              </a:spcAft>
            </a:pPr>
            <a:endParaRPr lang="en-US" sz="2800" dirty="0">
              <a:solidFill>
                <a:srgbClr val="F8F8F2"/>
              </a:solidFill>
              <a:cs typeface="Arial" pitchFamily="34" charset="0"/>
            </a:endParaRPr>
          </a:p>
          <a:p>
            <a:pPr lvl="0" algn="just" eaLnBrk="0" fontAlgn="base" hangingPunct="0">
              <a:spcBef>
                <a:spcPct val="0"/>
              </a:spcBef>
              <a:spcAft>
                <a:spcPct val="0"/>
              </a:spcAft>
            </a:pPr>
            <a:r>
              <a:rPr lang="en-US" sz="2800" dirty="0">
                <a:cs typeface="Arial" pitchFamily="34" charset="0"/>
              </a:rPr>
              <a:t>/Users/</a:t>
            </a:r>
            <a:r>
              <a:rPr lang="en-US" sz="2800" dirty="0" err="1">
                <a:cs typeface="Arial" pitchFamily="34" charset="0"/>
              </a:rPr>
              <a:t>dannysteenman</a:t>
            </a:r>
            <a:r>
              <a:rPr lang="en-US" sz="2800" dirty="0">
                <a:cs typeface="Arial" pitchFamily="34" charset="0"/>
              </a:rPr>
              <a:t>/projects/example-project/</a:t>
            </a:r>
            <a:r>
              <a:rPr lang="en-US" sz="2800" dirty="0" err="1">
                <a:cs typeface="Arial" pitchFamily="34" charset="0"/>
              </a:rPr>
              <a:t>src</a:t>
            </a:r>
            <a:r>
              <a:rPr lang="en-US" sz="2800" dirty="0">
                <a:cs typeface="Arial" pitchFamily="34" charset="0"/>
              </a:rPr>
              <a:t>/lib</a:t>
            </a:r>
            <a:r>
              <a:rPr lang="en-US" sz="2800" dirty="0">
                <a:solidFill>
                  <a:srgbClr val="F8F8F2"/>
                </a:solidFill>
                <a:cs typeface="Arial" pitchFamily="34" charset="0"/>
              </a:rPr>
              <a:t>/</a:t>
            </a:r>
            <a:endParaRPr lang="en-US" sz="2800" b="1" dirty="0">
              <a:solidFill>
                <a:srgbClr val="000000"/>
              </a:solidFill>
              <a:cs typeface="Arial" pitchFamily="34" charset="0"/>
            </a:endParaRPr>
          </a:p>
        </p:txBody>
      </p:sp>
    </p:spTree>
    <p:extLst>
      <p:ext uri="{BB962C8B-B14F-4D97-AF65-F5344CB8AC3E}">
        <p14:creationId xmlns:p14="http://schemas.microsoft.com/office/powerpoint/2010/main" xmlns="" val="340002012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3539430"/>
          </a:xfrm>
          <a:prstGeom prst="rect">
            <a:avLst/>
          </a:prstGeom>
          <a:noFill/>
        </p:spPr>
        <p:txBody>
          <a:bodyPr wrap="square" rtlCol="0">
            <a:spAutoFit/>
          </a:bodyPr>
          <a:lstStyle/>
          <a:p>
            <a:r>
              <a:rPr lang="en-US" sz="2800" dirty="0"/>
              <a:t>Manipulating Pathnames </a:t>
            </a:r>
          </a:p>
          <a:p>
            <a:endParaRPr lang="en-US" sz="2800" dirty="0"/>
          </a:p>
          <a:p>
            <a:r>
              <a:rPr lang="en-US" sz="2800" dirty="0"/>
              <a:t>Here are some different examples used mentioned below −</a:t>
            </a:r>
          </a:p>
          <a:p>
            <a:pPr marL="457200" indent="-457200">
              <a:buFont typeface="Arial" panose="020B0604020202020204" pitchFamily="34" charset="0"/>
              <a:buChar char="•"/>
            </a:pPr>
            <a:r>
              <a:rPr lang="en-US" sz="2800" dirty="0"/>
              <a:t>Getting the main filename from the file path</a:t>
            </a:r>
          </a:p>
          <a:p>
            <a:pPr marL="457200" indent="-457200">
              <a:buFont typeface="Arial" panose="020B0604020202020204" pitchFamily="34" charset="0"/>
              <a:buChar char="•"/>
            </a:pPr>
            <a:r>
              <a:rPr lang="en-US" sz="2800" dirty="0"/>
              <a:t>Getting the directory name from the file path</a:t>
            </a:r>
          </a:p>
          <a:p>
            <a:pPr marL="457200" indent="-457200">
              <a:buFont typeface="Arial" panose="020B0604020202020204" pitchFamily="34" charset="0"/>
              <a:buChar char="•"/>
            </a:pPr>
            <a:r>
              <a:rPr lang="en-US" sz="2800" dirty="0"/>
              <a:t>Joining path components together</a:t>
            </a:r>
          </a:p>
          <a:p>
            <a:pPr marL="457200" indent="-457200">
              <a:buFont typeface="Arial" panose="020B0604020202020204" pitchFamily="34" charset="0"/>
              <a:buChar char="•"/>
            </a:pPr>
            <a:r>
              <a:rPr lang="en-US" sz="2800" dirty="0"/>
              <a:t>Expanding the User's Home Directory</a:t>
            </a:r>
          </a:p>
          <a:p>
            <a:pPr marL="457200" indent="-457200">
              <a:buFont typeface="Arial" panose="020B0604020202020204" pitchFamily="34" charset="0"/>
              <a:buChar char="•"/>
            </a:pPr>
            <a:r>
              <a:rPr lang="en-US" sz="2800" dirty="0"/>
              <a:t>Splitting the file extension from the file </a:t>
            </a:r>
            <a:r>
              <a:rPr lang="en-US" sz="2800" dirty="0" smtClean="0"/>
              <a:t>path</a:t>
            </a:r>
            <a:endParaRPr lang="en-US" sz="2800" dirty="0"/>
          </a:p>
        </p:txBody>
      </p:sp>
    </p:spTree>
    <p:extLst>
      <p:ext uri="{BB962C8B-B14F-4D97-AF65-F5344CB8AC3E}">
        <p14:creationId xmlns:p14="http://schemas.microsoft.com/office/powerpoint/2010/main" xmlns="" val="355805368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5262979"/>
          </a:xfrm>
          <a:prstGeom prst="rect">
            <a:avLst/>
          </a:prstGeom>
          <a:noFill/>
        </p:spPr>
        <p:txBody>
          <a:bodyPr wrap="square" rtlCol="0">
            <a:spAutoFit/>
          </a:bodyPr>
          <a:lstStyle/>
          <a:p>
            <a:pPr algn="just"/>
            <a:r>
              <a:rPr lang="en-US" sz="2800" dirty="0" smtClean="0"/>
              <a:t>Getting </a:t>
            </a:r>
            <a:r>
              <a:rPr lang="en-US" sz="2800" dirty="0"/>
              <a:t>the main filename from the file path</a:t>
            </a:r>
          </a:p>
          <a:p>
            <a:pPr algn="just"/>
            <a:r>
              <a:rPr lang="en-US" sz="2800" dirty="0"/>
              <a:t>The following program returns the main file name from the input file using the </a:t>
            </a:r>
            <a:r>
              <a:rPr lang="en-US" sz="2800" dirty="0" err="1"/>
              <a:t>os.path.basename</a:t>
            </a:r>
            <a:r>
              <a:rPr lang="en-US" sz="2800" dirty="0"/>
              <a:t>() function −</a:t>
            </a:r>
          </a:p>
          <a:p>
            <a:pPr algn="just"/>
            <a:r>
              <a:rPr lang="en-US" sz="2800" dirty="0"/>
              <a:t># importing </a:t>
            </a:r>
            <a:r>
              <a:rPr lang="en-US" sz="2800" dirty="0" err="1"/>
              <a:t>os</a:t>
            </a:r>
            <a:r>
              <a:rPr lang="en-US" sz="2800" dirty="0"/>
              <a:t> module </a:t>
            </a:r>
          </a:p>
          <a:p>
            <a:pPr algn="just"/>
            <a:r>
              <a:rPr lang="en-US" sz="2800" dirty="0"/>
              <a:t>import </a:t>
            </a:r>
            <a:r>
              <a:rPr lang="en-US" sz="2800" dirty="0" err="1"/>
              <a:t>os</a:t>
            </a:r>
            <a:r>
              <a:rPr lang="en-US" sz="2800" dirty="0"/>
              <a:t> </a:t>
            </a:r>
          </a:p>
          <a:p>
            <a:pPr algn="just"/>
            <a:r>
              <a:rPr lang="en-US" sz="2800" dirty="0"/>
              <a:t># input path of the file </a:t>
            </a:r>
          </a:p>
          <a:p>
            <a:pPr algn="just"/>
            <a:r>
              <a:rPr lang="en-US" sz="2800" dirty="0" err="1"/>
              <a:t>inputFilepath</a:t>
            </a:r>
            <a:r>
              <a:rPr lang="en-US" sz="2800" dirty="0"/>
              <a:t> = 'C:/Users/</a:t>
            </a:r>
            <a:r>
              <a:rPr lang="en-US" sz="2800" dirty="0" err="1"/>
              <a:t>cirus</a:t>
            </a:r>
            <a:r>
              <a:rPr lang="en-US" sz="2800" dirty="0"/>
              <a:t>/Desktop/</a:t>
            </a:r>
            <a:r>
              <a:rPr lang="en-US" sz="2800" dirty="0" err="1"/>
              <a:t>test.pdf</a:t>
            </a:r>
            <a:r>
              <a:rPr lang="en-US" sz="2800" dirty="0"/>
              <a:t>' </a:t>
            </a:r>
          </a:p>
          <a:p>
            <a:pPr algn="just"/>
            <a:r>
              <a:rPr lang="en-US" sz="2800" dirty="0"/>
              <a:t># Printing the given input path </a:t>
            </a:r>
          </a:p>
          <a:p>
            <a:pPr algn="just"/>
            <a:r>
              <a:rPr lang="en-US" sz="2800" dirty="0"/>
              <a:t>print("Give Input Path is:",</a:t>
            </a:r>
            <a:r>
              <a:rPr lang="en-US" sz="2800" dirty="0" err="1"/>
              <a:t>inputFilepath</a:t>
            </a:r>
            <a:r>
              <a:rPr lang="en-US" sz="2800" dirty="0"/>
              <a:t>) </a:t>
            </a:r>
          </a:p>
          <a:p>
            <a:pPr algn="just"/>
            <a:r>
              <a:rPr lang="en-US" sz="2800" dirty="0"/>
              <a:t># getting the last component(main file name )of the input file path print("Base Name of the given path is :", </a:t>
            </a:r>
            <a:r>
              <a:rPr lang="en-US" sz="2800" dirty="0" err="1"/>
              <a:t>os.path.basename</a:t>
            </a:r>
            <a:r>
              <a:rPr lang="en-US" sz="2800" dirty="0"/>
              <a:t>(</a:t>
            </a:r>
            <a:r>
              <a:rPr lang="en-US" sz="2800" dirty="0" err="1"/>
              <a:t>inputFilepath</a:t>
            </a:r>
            <a:r>
              <a:rPr lang="en-US" sz="2800" dirty="0"/>
              <a:t>)) </a:t>
            </a:r>
          </a:p>
        </p:txBody>
      </p:sp>
    </p:spTree>
    <p:extLst>
      <p:ext uri="{BB962C8B-B14F-4D97-AF65-F5344CB8AC3E}">
        <p14:creationId xmlns:p14="http://schemas.microsoft.com/office/powerpoint/2010/main" xmlns="" val="358755962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2246769"/>
          </a:xfrm>
          <a:prstGeom prst="rect">
            <a:avLst/>
          </a:prstGeom>
          <a:noFill/>
        </p:spPr>
        <p:txBody>
          <a:bodyPr wrap="square" rtlCol="0">
            <a:spAutoFit/>
          </a:bodyPr>
          <a:lstStyle/>
          <a:p>
            <a:pPr algn="just"/>
            <a:r>
              <a:rPr lang="en-US" sz="2800" dirty="0"/>
              <a:t>Getting the directory name from the file path</a:t>
            </a:r>
          </a:p>
          <a:p>
            <a:pPr algn="just"/>
            <a:r>
              <a:rPr lang="en-US" sz="2800" dirty="0"/>
              <a:t>Use the </a:t>
            </a:r>
            <a:r>
              <a:rPr lang="en-US" sz="2800" b="1" dirty="0" err="1"/>
              <a:t>os.path.dirname</a:t>
            </a:r>
            <a:r>
              <a:rPr lang="en-US" sz="2800" b="1" dirty="0"/>
              <a:t>()</a:t>
            </a:r>
            <a:r>
              <a:rPr lang="en-US" sz="2800" dirty="0"/>
              <a:t> function(returns the directory name from the given file path) to get the directory/folder of the given input file path by passing the input file path as an argument to it</a:t>
            </a:r>
            <a:r>
              <a:rPr lang="en-US" sz="2800" dirty="0" smtClean="0"/>
              <a:t>.</a:t>
            </a:r>
            <a:endParaRPr lang="en-US" sz="2800" dirty="0"/>
          </a:p>
        </p:txBody>
      </p:sp>
    </p:spTree>
    <p:extLst>
      <p:ext uri="{BB962C8B-B14F-4D97-AF65-F5344CB8AC3E}">
        <p14:creationId xmlns:p14="http://schemas.microsoft.com/office/powerpoint/2010/main" xmlns="" val="337692864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4339650"/>
          </a:xfrm>
          <a:prstGeom prst="rect">
            <a:avLst/>
          </a:prstGeom>
          <a:noFill/>
        </p:spPr>
        <p:txBody>
          <a:bodyPr wrap="square" rtlCol="0">
            <a:spAutoFit/>
          </a:bodyPr>
          <a:lstStyle/>
          <a:p>
            <a:pPr algn="just"/>
            <a:r>
              <a:rPr lang="en-US" sz="2800" dirty="0"/>
              <a:t>Example</a:t>
            </a:r>
          </a:p>
          <a:p>
            <a:pPr algn="just"/>
            <a:r>
              <a:rPr lang="en-US" sz="2800" dirty="0"/>
              <a:t>The following program returns the directory name from the input file path using the </a:t>
            </a:r>
            <a:r>
              <a:rPr lang="en-US" sz="2800" dirty="0" err="1"/>
              <a:t>os.path.dirname</a:t>
            </a:r>
            <a:r>
              <a:rPr lang="en-US" sz="2800" dirty="0"/>
              <a:t>() function −</a:t>
            </a:r>
          </a:p>
          <a:p>
            <a:pPr algn="just"/>
            <a:r>
              <a:rPr lang="en-US" sz="2800" dirty="0"/>
              <a:t>import </a:t>
            </a:r>
            <a:r>
              <a:rPr lang="en-US" sz="2800" dirty="0" err="1"/>
              <a:t>os</a:t>
            </a:r>
            <a:r>
              <a:rPr lang="en-US" sz="2800" dirty="0"/>
              <a:t> </a:t>
            </a:r>
          </a:p>
          <a:p>
            <a:pPr algn="just"/>
            <a:r>
              <a:rPr lang="en-US" sz="2800" dirty="0" err="1"/>
              <a:t>inputFilepath</a:t>
            </a:r>
            <a:r>
              <a:rPr lang="en-US" sz="2800" dirty="0"/>
              <a:t> = 'C:/Users/</a:t>
            </a:r>
            <a:r>
              <a:rPr lang="en-US" sz="2800" dirty="0" err="1"/>
              <a:t>cirus</a:t>
            </a:r>
            <a:r>
              <a:rPr lang="en-US" sz="2800" dirty="0"/>
              <a:t>/Desktop/</a:t>
            </a:r>
            <a:r>
              <a:rPr lang="en-US" sz="2800" dirty="0" err="1"/>
              <a:t>test.pdf</a:t>
            </a:r>
            <a:r>
              <a:rPr lang="en-US" sz="2800" dirty="0"/>
              <a:t>' </a:t>
            </a:r>
          </a:p>
          <a:p>
            <a:pPr algn="just"/>
            <a:r>
              <a:rPr lang="en-US" sz="2800" dirty="0"/>
              <a:t>print("Give Input Path is:",</a:t>
            </a:r>
            <a:r>
              <a:rPr lang="en-US" sz="2800" dirty="0" err="1"/>
              <a:t>inputFilepath</a:t>
            </a:r>
            <a:r>
              <a:rPr lang="en-US" sz="2800" dirty="0"/>
              <a:t>) </a:t>
            </a:r>
          </a:p>
          <a:p>
            <a:pPr algn="just"/>
            <a:r>
              <a:rPr lang="en-US" sz="2800" dirty="0"/>
              <a:t># getting the directory/folder path from the input file path using </a:t>
            </a:r>
            <a:r>
              <a:rPr lang="en-US" sz="2800" dirty="0" err="1"/>
              <a:t>dirname</a:t>
            </a:r>
            <a:r>
              <a:rPr lang="en-US" sz="2800" dirty="0"/>
              <a:t>() function</a:t>
            </a:r>
          </a:p>
          <a:p>
            <a:pPr algn="just"/>
            <a:r>
              <a:rPr lang="en-US" sz="2800" dirty="0"/>
              <a:t> </a:t>
            </a:r>
            <a:r>
              <a:rPr lang="en-US" sz="2400" dirty="0"/>
              <a:t>print("Directory path of the given path is: ", </a:t>
            </a:r>
            <a:r>
              <a:rPr lang="en-US" sz="2400" dirty="0" err="1"/>
              <a:t>os.path.dirname</a:t>
            </a:r>
            <a:r>
              <a:rPr lang="en-US" sz="2400" dirty="0"/>
              <a:t>(</a:t>
            </a:r>
            <a:r>
              <a:rPr lang="en-US" sz="2400" dirty="0" err="1"/>
              <a:t>inputFilepath</a:t>
            </a:r>
            <a:r>
              <a:rPr lang="en-US" sz="2400" dirty="0"/>
              <a:t>)) </a:t>
            </a:r>
            <a:endParaRPr lang="en-US" sz="2800" dirty="0"/>
          </a:p>
        </p:txBody>
      </p:sp>
    </p:spTree>
    <p:extLst>
      <p:ext uri="{BB962C8B-B14F-4D97-AF65-F5344CB8AC3E}">
        <p14:creationId xmlns:p14="http://schemas.microsoft.com/office/powerpoint/2010/main" xmlns="" val="306094867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5262979"/>
          </a:xfrm>
          <a:prstGeom prst="rect">
            <a:avLst/>
          </a:prstGeom>
          <a:noFill/>
        </p:spPr>
        <p:txBody>
          <a:bodyPr wrap="square" rtlCol="0">
            <a:spAutoFit/>
          </a:bodyPr>
          <a:lstStyle/>
          <a:p>
            <a:pPr algn="just"/>
            <a:r>
              <a:rPr lang="en-US" sz="2800" dirty="0"/>
              <a:t>Joining path components together</a:t>
            </a:r>
          </a:p>
          <a:p>
            <a:pPr algn="just"/>
            <a:r>
              <a:rPr lang="en-US" sz="2800" dirty="0" err="1"/>
              <a:t>os.path.join</a:t>
            </a:r>
            <a:r>
              <a:rPr lang="en-US" sz="2800" dirty="0"/>
              <a:t>() function</a:t>
            </a:r>
          </a:p>
          <a:p>
            <a:pPr algn="just"/>
            <a:r>
              <a:rPr lang="en-US" sz="2800" dirty="0"/>
              <a:t>Python's </a:t>
            </a:r>
            <a:r>
              <a:rPr lang="en-US" sz="2800" dirty="0" err="1"/>
              <a:t>os.path.join</a:t>
            </a:r>
            <a:r>
              <a:rPr lang="en-US" sz="2800" dirty="0"/>
              <a:t>() function effectively joins one or more path components. With the exception of the last path component, this approach concatenates different path components by placing exactly one directory separator </a:t>
            </a:r>
            <a:r>
              <a:rPr lang="en-US" sz="2800" b="1" dirty="0"/>
              <a:t>('/')</a:t>
            </a:r>
            <a:r>
              <a:rPr lang="en-US" sz="2800" dirty="0"/>
              <a:t> after each non-empty portion. A directory separator ('/') is added at the end of the last path component to be joined is empty.</a:t>
            </a:r>
          </a:p>
          <a:p>
            <a:pPr algn="just"/>
            <a:r>
              <a:rPr lang="en-US" sz="2800" dirty="0"/>
              <a:t>All previously joined components are deleted if a path component represents an absolute path, and joining moves on from the absolute path component.</a:t>
            </a:r>
          </a:p>
        </p:txBody>
      </p:sp>
    </p:spTree>
    <p:extLst>
      <p:ext uri="{BB962C8B-B14F-4D97-AF65-F5344CB8AC3E}">
        <p14:creationId xmlns:p14="http://schemas.microsoft.com/office/powerpoint/2010/main" xmlns="" val="293115602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5447645"/>
          </a:xfrm>
          <a:prstGeom prst="rect">
            <a:avLst/>
          </a:prstGeom>
          <a:noFill/>
        </p:spPr>
        <p:txBody>
          <a:bodyPr wrap="square" rtlCol="0">
            <a:spAutoFit/>
          </a:bodyPr>
          <a:lstStyle/>
          <a:p>
            <a:pPr lvl="0" fontAlgn="base">
              <a:spcBef>
                <a:spcPct val="0"/>
              </a:spcBef>
              <a:spcAft>
                <a:spcPct val="0"/>
              </a:spcAft>
            </a:pPr>
            <a:r>
              <a:rPr lang="en-US" sz="2000" dirty="0">
                <a:cs typeface="Arial" pitchFamily="34" charset="0"/>
              </a:rPr>
              <a:t>Example</a:t>
            </a:r>
          </a:p>
          <a:p>
            <a:pPr lvl="0" eaLnBrk="0" fontAlgn="base" hangingPunct="0">
              <a:spcBef>
                <a:spcPct val="0"/>
              </a:spcBef>
              <a:spcAft>
                <a:spcPct val="0"/>
              </a:spcAft>
            </a:pPr>
            <a:r>
              <a:rPr lang="en-US" sz="2000" dirty="0">
                <a:solidFill>
                  <a:srgbClr val="000000"/>
                </a:solidFill>
                <a:cs typeface="Arial" pitchFamily="34" charset="0"/>
              </a:rPr>
              <a:t>The following program joins the given path components with the base name using the </a:t>
            </a:r>
            <a:r>
              <a:rPr lang="en-US" sz="2000" dirty="0" err="1">
                <a:solidFill>
                  <a:srgbClr val="000000"/>
                </a:solidFill>
                <a:cs typeface="Arial" pitchFamily="34" charset="0"/>
              </a:rPr>
              <a:t>os.path.join</a:t>
            </a:r>
            <a:r>
              <a:rPr lang="en-US" sz="2000" dirty="0">
                <a:solidFill>
                  <a:srgbClr val="000000"/>
                </a:solidFill>
                <a:cs typeface="Arial" pitchFamily="34" charset="0"/>
              </a:rPr>
              <a:t>() function </a:t>
            </a:r>
            <a:r>
              <a:rPr lang="en-US" sz="2000" dirty="0" smtClean="0">
                <a:solidFill>
                  <a:srgbClr val="000000"/>
                </a:solidFill>
                <a:cs typeface="Arial" pitchFamily="34" charset="0"/>
              </a:rPr>
              <a:t>−</a:t>
            </a:r>
          </a:p>
          <a:p>
            <a:pPr lvl="0" eaLnBrk="0" fontAlgn="base" hangingPunct="0">
              <a:spcBef>
                <a:spcPct val="0"/>
              </a:spcBef>
              <a:spcAft>
                <a:spcPct val="0"/>
              </a:spcAft>
            </a:pPr>
            <a:endParaRPr lang="en-US" sz="2000" dirty="0">
              <a:solidFill>
                <a:srgbClr val="000000"/>
              </a:solidFill>
              <a:cs typeface="Arial" pitchFamily="34" charset="0"/>
            </a:endParaRPr>
          </a:p>
          <a:p>
            <a:pPr lvl="0" fontAlgn="base">
              <a:spcBef>
                <a:spcPct val="0"/>
              </a:spcBef>
              <a:spcAft>
                <a:spcPct val="0"/>
              </a:spcAft>
            </a:pPr>
            <a:r>
              <a:rPr lang="en-US" sz="2000" dirty="0">
                <a:solidFill>
                  <a:srgbClr val="708090"/>
                </a:solidFill>
                <a:latin typeface="Liberation Mono"/>
                <a:cs typeface="Courier New" pitchFamily="49" charset="0"/>
              </a:rPr>
              <a:t># importing </a:t>
            </a:r>
            <a:r>
              <a:rPr lang="en-US" sz="2000" dirty="0" err="1">
                <a:solidFill>
                  <a:srgbClr val="708090"/>
                </a:solidFill>
                <a:latin typeface="Liberation Mono"/>
                <a:cs typeface="Courier New" pitchFamily="49" charset="0"/>
              </a:rPr>
              <a:t>os</a:t>
            </a:r>
            <a:r>
              <a:rPr lang="en-US" sz="2000" dirty="0">
                <a:solidFill>
                  <a:srgbClr val="708090"/>
                </a:solidFill>
                <a:latin typeface="Liberation Mono"/>
                <a:cs typeface="Courier New" pitchFamily="49" charset="0"/>
              </a:rPr>
              <a:t> module</a:t>
            </a:r>
            <a:r>
              <a:rPr lang="en-US" sz="2000" dirty="0">
                <a:solidFill>
                  <a:srgbClr val="000000"/>
                </a:solidFill>
                <a:latin typeface="Liberation Mono"/>
                <a:cs typeface="Courier New" pitchFamily="49" charset="0"/>
              </a:rPr>
              <a:t> </a:t>
            </a:r>
          </a:p>
          <a:p>
            <a:pPr lvl="0" fontAlgn="base">
              <a:spcBef>
                <a:spcPct val="0"/>
              </a:spcBef>
              <a:spcAft>
                <a:spcPct val="0"/>
              </a:spcAft>
            </a:pPr>
            <a:r>
              <a:rPr lang="en-US" sz="2000" dirty="0">
                <a:solidFill>
                  <a:srgbClr val="0714B7"/>
                </a:solidFill>
                <a:latin typeface="Liberation Mono"/>
                <a:cs typeface="Courier New" pitchFamily="49" charset="0"/>
              </a:rPr>
              <a:t>import</a:t>
            </a:r>
            <a:r>
              <a:rPr lang="en-US" sz="2000" dirty="0">
                <a:solidFill>
                  <a:srgbClr val="000000"/>
                </a:solidFill>
                <a:latin typeface="Liberation Mono"/>
                <a:cs typeface="Courier New" pitchFamily="49" charset="0"/>
              </a:rPr>
              <a:t> </a:t>
            </a:r>
            <a:r>
              <a:rPr lang="en-US" sz="2000" dirty="0" err="1">
                <a:solidFill>
                  <a:srgbClr val="000000"/>
                </a:solidFill>
                <a:latin typeface="Liberation Mono"/>
                <a:cs typeface="Courier New" pitchFamily="49" charset="0"/>
              </a:rPr>
              <a:t>os</a:t>
            </a:r>
            <a:endParaRPr lang="en-US" sz="2000" dirty="0">
              <a:solidFill>
                <a:srgbClr val="000000"/>
              </a:solidFill>
              <a:latin typeface="Liberation Mono"/>
              <a:cs typeface="Courier New" pitchFamily="49" charset="0"/>
            </a:endParaRPr>
          </a:p>
          <a:p>
            <a:pPr lvl="0" fontAlgn="base">
              <a:spcBef>
                <a:spcPct val="0"/>
              </a:spcBef>
              <a:spcAft>
                <a:spcPct val="0"/>
              </a:spcAft>
            </a:pPr>
            <a:r>
              <a:rPr lang="en-US" sz="2000" dirty="0">
                <a:solidFill>
                  <a:srgbClr val="000000"/>
                </a:solidFill>
                <a:latin typeface="Liberation Mono"/>
                <a:cs typeface="Courier New" pitchFamily="49" charset="0"/>
              </a:rPr>
              <a:t> </a:t>
            </a:r>
            <a:r>
              <a:rPr lang="en-US" sz="2000" dirty="0">
                <a:solidFill>
                  <a:srgbClr val="708090"/>
                </a:solidFill>
                <a:latin typeface="Liberation Mono"/>
                <a:cs typeface="Courier New" pitchFamily="49" charset="0"/>
              </a:rPr>
              <a:t># input path of the file </a:t>
            </a:r>
          </a:p>
          <a:p>
            <a:pPr lvl="0" fontAlgn="base">
              <a:spcBef>
                <a:spcPct val="0"/>
              </a:spcBef>
              <a:spcAft>
                <a:spcPct val="0"/>
              </a:spcAft>
            </a:pPr>
            <a:r>
              <a:rPr lang="en-US" sz="2000" dirty="0" err="1">
                <a:solidFill>
                  <a:srgbClr val="000000"/>
                </a:solidFill>
                <a:latin typeface="Liberation Mono"/>
                <a:cs typeface="Courier New" pitchFamily="49" charset="0"/>
              </a:rPr>
              <a:t>inputFilepath</a:t>
            </a:r>
            <a:r>
              <a:rPr lang="en-US" sz="2000" dirty="0">
                <a:solidFill>
                  <a:srgbClr val="000000"/>
                </a:solidFill>
                <a:latin typeface="Liberation Mono"/>
                <a:cs typeface="Courier New" pitchFamily="49" charset="0"/>
              </a:rPr>
              <a:t> </a:t>
            </a:r>
            <a:r>
              <a:rPr lang="en-US" sz="2000" dirty="0">
                <a:solidFill>
                  <a:srgbClr val="9A6E3A"/>
                </a:solidFill>
                <a:latin typeface="Liberation Mono"/>
                <a:cs typeface="Courier New" pitchFamily="49" charset="0"/>
              </a:rPr>
              <a:t>=</a:t>
            </a:r>
            <a:r>
              <a:rPr lang="en-US" sz="2000" dirty="0">
                <a:solidFill>
                  <a:srgbClr val="000000"/>
                </a:solidFill>
                <a:latin typeface="Liberation Mono"/>
                <a:cs typeface="Courier New" pitchFamily="49" charset="0"/>
              </a:rPr>
              <a:t> </a:t>
            </a:r>
            <a:r>
              <a:rPr lang="en-US" sz="2000" dirty="0">
                <a:solidFill>
                  <a:srgbClr val="039624"/>
                </a:solidFill>
                <a:latin typeface="Liberation Mono"/>
                <a:cs typeface="Courier New" pitchFamily="49" charset="0"/>
              </a:rPr>
              <a:t>'C:/Users/</a:t>
            </a:r>
            <a:r>
              <a:rPr lang="en-US" sz="2000" dirty="0" err="1">
                <a:solidFill>
                  <a:srgbClr val="039624"/>
                </a:solidFill>
                <a:latin typeface="Liberation Mono"/>
                <a:cs typeface="Courier New" pitchFamily="49" charset="0"/>
              </a:rPr>
              <a:t>cirus</a:t>
            </a:r>
            <a:r>
              <a:rPr lang="en-US" sz="2000" dirty="0">
                <a:solidFill>
                  <a:srgbClr val="039624"/>
                </a:solidFill>
                <a:latin typeface="Liberation Mono"/>
                <a:cs typeface="Courier New" pitchFamily="49" charset="0"/>
              </a:rPr>
              <a:t>/Desktop/</a:t>
            </a:r>
            <a:r>
              <a:rPr lang="en-US" sz="2000" dirty="0" err="1">
                <a:solidFill>
                  <a:srgbClr val="039624"/>
                </a:solidFill>
                <a:latin typeface="Liberation Mono"/>
                <a:cs typeface="Courier New" pitchFamily="49" charset="0"/>
              </a:rPr>
              <a:t>kohli.pdf</a:t>
            </a:r>
            <a:r>
              <a:rPr lang="en-US" sz="2000" dirty="0">
                <a:solidFill>
                  <a:srgbClr val="039624"/>
                </a:solidFill>
                <a:latin typeface="Liberation Mono"/>
                <a:cs typeface="Courier New" pitchFamily="49" charset="0"/>
              </a:rPr>
              <a:t>‘</a:t>
            </a:r>
          </a:p>
          <a:p>
            <a:pPr lvl="0" fontAlgn="base">
              <a:spcBef>
                <a:spcPct val="0"/>
              </a:spcBef>
              <a:spcAft>
                <a:spcPct val="0"/>
              </a:spcAft>
            </a:pPr>
            <a:r>
              <a:rPr lang="en-US" sz="2000" dirty="0">
                <a:solidFill>
                  <a:srgbClr val="000000"/>
                </a:solidFill>
                <a:latin typeface="Liberation Mono"/>
                <a:cs typeface="Courier New" pitchFamily="49" charset="0"/>
              </a:rPr>
              <a:t> </a:t>
            </a:r>
            <a:r>
              <a:rPr lang="en-US" sz="2000" dirty="0">
                <a:solidFill>
                  <a:srgbClr val="708090"/>
                </a:solidFill>
                <a:latin typeface="Liberation Mono"/>
                <a:cs typeface="Courier New" pitchFamily="49" charset="0"/>
              </a:rPr>
              <a:t># Printing the given input path</a:t>
            </a:r>
          </a:p>
          <a:p>
            <a:pPr lvl="0" fontAlgn="base">
              <a:spcBef>
                <a:spcPct val="0"/>
              </a:spcBef>
              <a:spcAft>
                <a:spcPct val="0"/>
              </a:spcAft>
            </a:pPr>
            <a:r>
              <a:rPr lang="en-US" sz="2000" dirty="0">
                <a:solidFill>
                  <a:srgbClr val="000000"/>
                </a:solidFill>
                <a:latin typeface="Liberation Mono"/>
                <a:cs typeface="Courier New" pitchFamily="49" charset="0"/>
              </a:rPr>
              <a:t> </a:t>
            </a:r>
            <a:r>
              <a:rPr lang="en-US" sz="2000" dirty="0">
                <a:solidFill>
                  <a:srgbClr val="0714B7"/>
                </a:solidFill>
                <a:latin typeface="Liberation Mono"/>
                <a:cs typeface="Courier New" pitchFamily="49" charset="0"/>
              </a:rPr>
              <a:t>print</a:t>
            </a:r>
            <a:r>
              <a:rPr lang="en-US" sz="2000" dirty="0">
                <a:solidFill>
                  <a:srgbClr val="999999"/>
                </a:solidFill>
                <a:latin typeface="Liberation Mono"/>
                <a:cs typeface="Courier New" pitchFamily="49" charset="0"/>
              </a:rPr>
              <a:t>(</a:t>
            </a:r>
            <a:r>
              <a:rPr lang="en-US" sz="2000" dirty="0">
                <a:solidFill>
                  <a:srgbClr val="039624"/>
                </a:solidFill>
                <a:latin typeface="Liberation Mono"/>
                <a:cs typeface="Courier New" pitchFamily="49" charset="0"/>
              </a:rPr>
              <a:t>"Give Input Path is:"</a:t>
            </a:r>
            <a:r>
              <a:rPr lang="en-US" sz="2000" dirty="0">
                <a:solidFill>
                  <a:srgbClr val="999999"/>
                </a:solidFill>
                <a:latin typeface="Liberation Mono"/>
                <a:cs typeface="Courier New" pitchFamily="49" charset="0"/>
              </a:rPr>
              <a:t>,</a:t>
            </a:r>
            <a:r>
              <a:rPr lang="en-US" sz="2000" dirty="0" err="1">
                <a:solidFill>
                  <a:srgbClr val="000000"/>
                </a:solidFill>
                <a:latin typeface="Liberation Mono"/>
                <a:cs typeface="Courier New" pitchFamily="49" charset="0"/>
              </a:rPr>
              <a:t>inputFilepath</a:t>
            </a:r>
            <a:r>
              <a:rPr lang="en-US" sz="2000" dirty="0">
                <a:solidFill>
                  <a:srgbClr val="999999"/>
                </a:solidFill>
                <a:latin typeface="Liberation Mono"/>
                <a:cs typeface="Courier New" pitchFamily="49" charset="0"/>
              </a:rPr>
              <a:t>)</a:t>
            </a:r>
            <a:r>
              <a:rPr lang="en-US" sz="2000" dirty="0">
                <a:solidFill>
                  <a:srgbClr val="000000"/>
                </a:solidFill>
                <a:latin typeface="Liberation Mono"/>
                <a:cs typeface="Courier New" pitchFamily="49" charset="0"/>
              </a:rPr>
              <a:t> </a:t>
            </a:r>
          </a:p>
          <a:p>
            <a:pPr lvl="0" fontAlgn="base">
              <a:spcBef>
                <a:spcPct val="0"/>
              </a:spcBef>
              <a:spcAft>
                <a:spcPct val="0"/>
              </a:spcAft>
            </a:pPr>
            <a:r>
              <a:rPr lang="en-US" sz="2000" dirty="0">
                <a:solidFill>
                  <a:srgbClr val="708090"/>
                </a:solidFill>
                <a:latin typeface="Liberation Mono"/>
                <a:cs typeface="Courier New" pitchFamily="49" charset="0"/>
              </a:rPr>
              <a:t># joining the components to the main file name of the input file path </a:t>
            </a:r>
          </a:p>
          <a:p>
            <a:pPr lvl="0" fontAlgn="base">
              <a:spcBef>
                <a:spcPct val="0"/>
              </a:spcBef>
              <a:spcAft>
                <a:spcPct val="0"/>
              </a:spcAft>
            </a:pPr>
            <a:r>
              <a:rPr lang="en-US" sz="2000" dirty="0">
                <a:solidFill>
                  <a:srgbClr val="0714B7"/>
                </a:solidFill>
                <a:latin typeface="Liberation Mono"/>
                <a:cs typeface="Courier New" pitchFamily="49" charset="0"/>
              </a:rPr>
              <a:t>print</a:t>
            </a:r>
            <a:r>
              <a:rPr lang="en-US" sz="2000" dirty="0">
                <a:solidFill>
                  <a:srgbClr val="999999"/>
                </a:solidFill>
                <a:latin typeface="Liberation Mono"/>
                <a:cs typeface="Courier New" pitchFamily="49" charset="0"/>
              </a:rPr>
              <a:t>(</a:t>
            </a:r>
            <a:r>
              <a:rPr lang="en-US" sz="2000" dirty="0">
                <a:solidFill>
                  <a:srgbClr val="039624"/>
                </a:solidFill>
                <a:latin typeface="Liberation Mono"/>
                <a:cs typeface="Courier New" pitchFamily="49" charset="0"/>
              </a:rPr>
              <a:t>"Joining the given paths to input Path:\n"</a:t>
            </a:r>
            <a:r>
              <a:rPr lang="en-US" sz="2000" dirty="0">
                <a:solidFill>
                  <a:srgbClr val="999999"/>
                </a:solidFill>
                <a:latin typeface="Liberation Mono"/>
                <a:cs typeface="Courier New" pitchFamily="49" charset="0"/>
              </a:rPr>
              <a:t>,</a:t>
            </a:r>
            <a:r>
              <a:rPr lang="en-US" sz="2000" dirty="0">
                <a:solidFill>
                  <a:srgbClr val="000000"/>
                </a:solidFill>
                <a:latin typeface="Liberation Mono"/>
                <a:cs typeface="Courier New" pitchFamily="49" charset="0"/>
              </a:rPr>
              <a:t> </a:t>
            </a:r>
            <a:r>
              <a:rPr lang="en-US" sz="2000" dirty="0" err="1">
                <a:solidFill>
                  <a:srgbClr val="000000"/>
                </a:solidFill>
                <a:latin typeface="Liberation Mono"/>
                <a:cs typeface="Courier New" pitchFamily="49" charset="0"/>
              </a:rPr>
              <a:t>os</a:t>
            </a:r>
            <a:r>
              <a:rPr lang="en-US" sz="2000" dirty="0" err="1">
                <a:solidFill>
                  <a:srgbClr val="999999"/>
                </a:solidFill>
                <a:latin typeface="Liberation Mono"/>
                <a:cs typeface="Courier New" pitchFamily="49" charset="0"/>
              </a:rPr>
              <a:t>.</a:t>
            </a:r>
            <a:r>
              <a:rPr lang="en-US" sz="2000" dirty="0" err="1">
                <a:solidFill>
                  <a:srgbClr val="000000"/>
                </a:solidFill>
                <a:latin typeface="Liberation Mono"/>
                <a:cs typeface="Courier New" pitchFamily="49" charset="0"/>
              </a:rPr>
              <a:t>path</a:t>
            </a:r>
            <a:r>
              <a:rPr lang="en-US" sz="2000" dirty="0" err="1">
                <a:solidFill>
                  <a:srgbClr val="999999"/>
                </a:solidFill>
                <a:latin typeface="Liberation Mono"/>
                <a:cs typeface="Courier New" pitchFamily="49" charset="0"/>
              </a:rPr>
              <a:t>.</a:t>
            </a:r>
            <a:r>
              <a:rPr lang="en-US" sz="2000" dirty="0" err="1">
                <a:solidFill>
                  <a:srgbClr val="000000"/>
                </a:solidFill>
                <a:latin typeface="Liberation Mono"/>
                <a:cs typeface="Courier New" pitchFamily="49" charset="0"/>
              </a:rPr>
              <a:t>join</a:t>
            </a:r>
            <a:r>
              <a:rPr lang="en-US" sz="2000" dirty="0">
                <a:solidFill>
                  <a:srgbClr val="999999"/>
                </a:solidFill>
                <a:latin typeface="Liberation Mono"/>
                <a:cs typeface="Courier New" pitchFamily="49" charset="0"/>
              </a:rPr>
              <a:t>(</a:t>
            </a:r>
            <a:r>
              <a:rPr lang="en-US" sz="2000" dirty="0">
                <a:solidFill>
                  <a:srgbClr val="039624"/>
                </a:solidFill>
                <a:latin typeface="Liberation Mono"/>
                <a:cs typeface="Courier New" pitchFamily="49" charset="0"/>
              </a:rPr>
              <a:t>'tutorials'</a:t>
            </a:r>
            <a:r>
              <a:rPr lang="en-US" sz="2000" dirty="0">
                <a:solidFill>
                  <a:srgbClr val="999999"/>
                </a:solidFill>
                <a:latin typeface="Liberation Mono"/>
                <a:cs typeface="Courier New" pitchFamily="49" charset="0"/>
              </a:rPr>
              <a:t>,</a:t>
            </a:r>
            <a:r>
              <a:rPr lang="en-US" sz="2000" dirty="0">
                <a:solidFill>
                  <a:srgbClr val="000000"/>
                </a:solidFill>
                <a:latin typeface="Liberation Mono"/>
                <a:cs typeface="Courier New" pitchFamily="49" charset="0"/>
              </a:rPr>
              <a:t> </a:t>
            </a:r>
            <a:r>
              <a:rPr lang="en-US" sz="2000" dirty="0">
                <a:solidFill>
                  <a:srgbClr val="039624"/>
                </a:solidFill>
                <a:latin typeface="Liberation Mono"/>
                <a:cs typeface="Courier New" pitchFamily="49" charset="0"/>
              </a:rPr>
              <a:t>'python'</a:t>
            </a:r>
            <a:r>
              <a:rPr lang="en-US" sz="2000" dirty="0">
                <a:solidFill>
                  <a:srgbClr val="999999"/>
                </a:solidFill>
                <a:latin typeface="Liberation Mono"/>
                <a:cs typeface="Courier New" pitchFamily="49" charset="0"/>
              </a:rPr>
              <a:t>,</a:t>
            </a:r>
            <a:r>
              <a:rPr lang="en-US" sz="2000" dirty="0">
                <a:solidFill>
                  <a:srgbClr val="000000"/>
                </a:solidFill>
                <a:latin typeface="Liberation Mono"/>
                <a:cs typeface="Courier New" pitchFamily="49" charset="0"/>
              </a:rPr>
              <a:t> </a:t>
            </a:r>
            <a:r>
              <a:rPr lang="en-US" sz="2000" dirty="0" err="1">
                <a:solidFill>
                  <a:srgbClr val="000000"/>
                </a:solidFill>
                <a:latin typeface="Liberation Mono"/>
                <a:cs typeface="Courier New" pitchFamily="49" charset="0"/>
              </a:rPr>
              <a:t>os</a:t>
            </a:r>
            <a:r>
              <a:rPr lang="en-US" sz="2000" dirty="0" err="1">
                <a:solidFill>
                  <a:srgbClr val="999999"/>
                </a:solidFill>
                <a:latin typeface="Liberation Mono"/>
                <a:cs typeface="Courier New" pitchFamily="49" charset="0"/>
              </a:rPr>
              <a:t>.</a:t>
            </a:r>
            <a:r>
              <a:rPr lang="en-US" sz="2000" dirty="0" err="1">
                <a:solidFill>
                  <a:srgbClr val="000000"/>
                </a:solidFill>
                <a:latin typeface="Liberation Mono"/>
                <a:cs typeface="Courier New" pitchFamily="49" charset="0"/>
              </a:rPr>
              <a:t>path</a:t>
            </a:r>
            <a:r>
              <a:rPr lang="en-US" sz="2000" dirty="0" err="1">
                <a:solidFill>
                  <a:srgbClr val="999999"/>
                </a:solidFill>
                <a:latin typeface="Liberation Mono"/>
                <a:cs typeface="Courier New" pitchFamily="49" charset="0"/>
              </a:rPr>
              <a:t>.</a:t>
            </a:r>
            <a:r>
              <a:rPr lang="en-US" sz="2000" dirty="0" err="1">
                <a:solidFill>
                  <a:srgbClr val="000000"/>
                </a:solidFill>
                <a:latin typeface="Liberation Mono"/>
                <a:cs typeface="Courier New" pitchFamily="49" charset="0"/>
              </a:rPr>
              <a:t>basename</a:t>
            </a:r>
            <a:r>
              <a:rPr lang="en-US" sz="2000" dirty="0">
                <a:solidFill>
                  <a:srgbClr val="999999"/>
                </a:solidFill>
                <a:latin typeface="Liberation Mono"/>
                <a:cs typeface="Courier New" pitchFamily="49" charset="0"/>
              </a:rPr>
              <a:t>(</a:t>
            </a:r>
            <a:r>
              <a:rPr lang="en-US" sz="2000" dirty="0" err="1">
                <a:solidFill>
                  <a:srgbClr val="000000"/>
                </a:solidFill>
                <a:latin typeface="Liberation Mono"/>
                <a:cs typeface="Courier New" pitchFamily="49" charset="0"/>
              </a:rPr>
              <a:t>inputFilepath</a:t>
            </a:r>
            <a:r>
              <a:rPr lang="en-US" sz="2000" dirty="0">
                <a:solidFill>
                  <a:srgbClr val="999999"/>
                </a:solidFill>
                <a:latin typeface="Liberation Mono"/>
                <a:cs typeface="Courier New" pitchFamily="49" charset="0"/>
              </a:rPr>
              <a:t>)))</a:t>
            </a:r>
            <a:r>
              <a:rPr lang="en-US" sz="2000" dirty="0">
                <a:solidFill>
                  <a:srgbClr val="000000"/>
                </a:solidFill>
                <a:latin typeface="Liberation Mono"/>
                <a:cs typeface="Courier New" pitchFamily="49" charset="0"/>
              </a:rPr>
              <a:t> </a:t>
            </a:r>
            <a:endParaRPr lang="en-US" sz="2000" dirty="0" smtClean="0">
              <a:solidFill>
                <a:srgbClr val="000000"/>
              </a:solidFill>
              <a:latin typeface="Liberation Mono"/>
              <a:cs typeface="Courier New" pitchFamily="49" charset="0"/>
            </a:endParaRPr>
          </a:p>
          <a:p>
            <a:pPr lvl="0" fontAlgn="base">
              <a:spcBef>
                <a:spcPct val="0"/>
              </a:spcBef>
              <a:spcAft>
                <a:spcPct val="0"/>
              </a:spcAft>
            </a:pPr>
            <a:endParaRPr lang="en-US" sz="2000" dirty="0">
              <a:solidFill>
                <a:srgbClr val="000000"/>
              </a:solidFill>
              <a:latin typeface="Liberation Mono"/>
              <a:cs typeface="Courier New" pitchFamily="49" charset="0"/>
            </a:endParaRPr>
          </a:p>
          <a:p>
            <a:pPr lvl="0" fontAlgn="base">
              <a:spcBef>
                <a:spcPct val="0"/>
              </a:spcBef>
              <a:spcAft>
                <a:spcPct val="0"/>
              </a:spcAft>
            </a:pPr>
            <a:r>
              <a:rPr lang="en-US" sz="2800" b="1" dirty="0">
                <a:cs typeface="Arial" pitchFamily="34" charset="0"/>
              </a:rPr>
              <a:t>Output</a:t>
            </a:r>
          </a:p>
          <a:p>
            <a:pPr lvl="0" eaLnBrk="0" fontAlgn="base" hangingPunct="0">
              <a:spcBef>
                <a:spcPct val="0"/>
              </a:spcBef>
              <a:spcAft>
                <a:spcPct val="0"/>
              </a:spcAft>
            </a:pPr>
            <a:r>
              <a:rPr lang="en-US" sz="2000" b="1" dirty="0">
                <a:solidFill>
                  <a:srgbClr val="000000"/>
                </a:solidFill>
                <a:cs typeface="Arial" pitchFamily="34" charset="0"/>
              </a:rPr>
              <a:t>Give Input Path is: C:/Users/</a:t>
            </a:r>
            <a:r>
              <a:rPr lang="en-US" sz="2000" b="1" dirty="0" err="1">
                <a:solidFill>
                  <a:srgbClr val="000000"/>
                </a:solidFill>
                <a:cs typeface="Arial" pitchFamily="34" charset="0"/>
              </a:rPr>
              <a:t>cirus</a:t>
            </a:r>
            <a:r>
              <a:rPr lang="en-US" sz="2000" b="1" dirty="0">
                <a:solidFill>
                  <a:srgbClr val="000000"/>
                </a:solidFill>
                <a:cs typeface="Arial" pitchFamily="34" charset="0"/>
              </a:rPr>
              <a:t>/Desktop/</a:t>
            </a:r>
            <a:r>
              <a:rPr lang="en-US" sz="2000" b="1" dirty="0" err="1">
                <a:solidFill>
                  <a:srgbClr val="000000"/>
                </a:solidFill>
                <a:cs typeface="Arial" pitchFamily="34" charset="0"/>
              </a:rPr>
              <a:t>kohli.pdf</a:t>
            </a:r>
            <a:r>
              <a:rPr lang="en-US" sz="2000" b="1" dirty="0">
                <a:solidFill>
                  <a:srgbClr val="000000"/>
                </a:solidFill>
                <a:cs typeface="Arial" pitchFamily="34" charset="0"/>
              </a:rPr>
              <a:t> </a:t>
            </a:r>
          </a:p>
          <a:p>
            <a:pPr lvl="0" eaLnBrk="0" fontAlgn="base" hangingPunct="0">
              <a:spcBef>
                <a:spcPct val="0"/>
              </a:spcBef>
              <a:spcAft>
                <a:spcPct val="0"/>
              </a:spcAft>
            </a:pPr>
            <a:r>
              <a:rPr lang="en-US" sz="2000" b="1" dirty="0">
                <a:solidFill>
                  <a:srgbClr val="000000"/>
                </a:solidFill>
                <a:cs typeface="Arial" pitchFamily="34" charset="0"/>
              </a:rPr>
              <a:t>Joining the given paths to input Path: tutorials/python/</a:t>
            </a:r>
            <a:r>
              <a:rPr lang="en-US" sz="2000" b="1" dirty="0" err="1">
                <a:solidFill>
                  <a:srgbClr val="000000"/>
                </a:solidFill>
                <a:cs typeface="Arial" pitchFamily="34" charset="0"/>
              </a:rPr>
              <a:t>kohli.pdf</a:t>
            </a:r>
            <a:r>
              <a:rPr lang="en-US" sz="1200" b="1" dirty="0">
                <a:cs typeface="Arial" pitchFamily="34" charset="0"/>
              </a:rPr>
              <a:t> </a:t>
            </a:r>
            <a:endParaRPr lang="en-US" sz="3600" b="1" dirty="0">
              <a:cs typeface="Arial" pitchFamily="34" charset="0"/>
            </a:endParaRPr>
          </a:p>
        </p:txBody>
      </p:sp>
    </p:spTree>
    <p:extLst>
      <p:ext uri="{BB962C8B-B14F-4D97-AF65-F5344CB8AC3E}">
        <p14:creationId xmlns:p14="http://schemas.microsoft.com/office/powerpoint/2010/main" xmlns="" val="255347847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5693866"/>
          </a:xfrm>
          <a:prstGeom prst="rect">
            <a:avLst/>
          </a:prstGeom>
          <a:noFill/>
        </p:spPr>
        <p:txBody>
          <a:bodyPr wrap="square" rtlCol="0">
            <a:spAutoFit/>
          </a:bodyPr>
          <a:lstStyle/>
          <a:p>
            <a:pPr lvl="0" algn="just" fontAlgn="base">
              <a:spcBef>
                <a:spcPct val="0"/>
              </a:spcBef>
              <a:spcAft>
                <a:spcPct val="0"/>
              </a:spcAft>
            </a:pPr>
            <a:r>
              <a:rPr lang="en-US" sz="2800" dirty="0">
                <a:solidFill>
                  <a:srgbClr val="000000"/>
                </a:solidFill>
                <a:cs typeface="Arial" pitchFamily="34" charset="0"/>
              </a:rPr>
              <a:t>Splitting the file extension from file path:</a:t>
            </a:r>
          </a:p>
          <a:p>
            <a:pPr lvl="0" algn="just" fontAlgn="base">
              <a:spcBef>
                <a:spcPct val="0"/>
              </a:spcBef>
              <a:spcAft>
                <a:spcPct val="0"/>
              </a:spcAft>
            </a:pPr>
            <a:endParaRPr lang="en-US" sz="2800" dirty="0">
              <a:solidFill>
                <a:srgbClr val="000000"/>
              </a:solidFill>
              <a:cs typeface="Arial" pitchFamily="34" charset="0"/>
            </a:endParaRPr>
          </a:p>
          <a:p>
            <a:pPr lvl="0" algn="just" eaLnBrk="0" fontAlgn="base" hangingPunct="0">
              <a:spcBef>
                <a:spcPct val="0"/>
              </a:spcBef>
              <a:spcAft>
                <a:spcPct val="0"/>
              </a:spcAft>
            </a:pPr>
            <a:r>
              <a:rPr lang="en-US" sz="2800" b="1" dirty="0" err="1">
                <a:solidFill>
                  <a:srgbClr val="000000"/>
                </a:solidFill>
                <a:cs typeface="Arial" pitchFamily="34" charset="0"/>
              </a:rPr>
              <a:t>os.path.splitext</a:t>
            </a:r>
            <a:r>
              <a:rPr lang="en-US" sz="2800" b="1" dirty="0">
                <a:solidFill>
                  <a:srgbClr val="000000"/>
                </a:solidFill>
                <a:cs typeface="Arial" pitchFamily="34" charset="0"/>
              </a:rPr>
              <a:t>() function</a:t>
            </a:r>
            <a:r>
              <a:rPr lang="en-US" sz="2800" dirty="0">
                <a:solidFill>
                  <a:srgbClr val="000000"/>
                </a:solidFill>
                <a:cs typeface="Arial" pitchFamily="34" charset="0"/>
              </a:rPr>
              <a:t> − Splits the file path name into a pair root and extension. The root here is everything except the file extension.</a:t>
            </a:r>
            <a:endParaRPr lang="en-US" sz="2800" dirty="0">
              <a:cs typeface="Arial" pitchFamily="34" charset="0"/>
            </a:endParaRPr>
          </a:p>
          <a:p>
            <a:pPr lvl="0" algn="just" eaLnBrk="0" fontAlgn="base" hangingPunct="0">
              <a:spcBef>
                <a:spcPct val="0"/>
              </a:spcBef>
              <a:spcAft>
                <a:spcPct val="0"/>
              </a:spcAft>
            </a:pPr>
            <a:r>
              <a:rPr lang="en-US" sz="2800" dirty="0">
                <a:solidFill>
                  <a:srgbClr val="000000"/>
                </a:solidFill>
                <a:cs typeface="Arial" pitchFamily="34" charset="0"/>
              </a:rPr>
              <a:t>If the given file path has no extensions, then the extension is empty. The given path will be ignored if it has a leading period ('.').</a:t>
            </a:r>
            <a:endParaRPr lang="en-US" sz="2800" dirty="0">
              <a:cs typeface="Arial" pitchFamily="34" charset="0"/>
            </a:endParaRPr>
          </a:p>
          <a:p>
            <a:pPr lvl="0" algn="just" eaLnBrk="0" fontAlgn="base" hangingPunct="0">
              <a:spcBef>
                <a:spcPct val="0"/>
              </a:spcBef>
              <a:spcAft>
                <a:spcPct val="0"/>
              </a:spcAft>
            </a:pPr>
            <a:r>
              <a:rPr lang="en-US" sz="2800" dirty="0">
                <a:cs typeface="Arial" pitchFamily="34" charset="0"/>
              </a:rPr>
              <a:t>Syntax</a:t>
            </a:r>
          </a:p>
          <a:p>
            <a:pPr lvl="0" algn="just" eaLnBrk="0" fontAlgn="base" hangingPunct="0">
              <a:spcBef>
                <a:spcPct val="0"/>
              </a:spcBef>
              <a:spcAft>
                <a:spcPct val="0"/>
              </a:spcAft>
            </a:pPr>
            <a:r>
              <a:rPr lang="en-US" sz="2800" dirty="0">
                <a:solidFill>
                  <a:srgbClr val="000000"/>
                </a:solidFill>
                <a:cs typeface="Arial" pitchFamily="34" charset="0"/>
              </a:rPr>
              <a:t>Below is the syntax of the function.</a:t>
            </a:r>
          </a:p>
          <a:p>
            <a:pPr lvl="0" algn="just" eaLnBrk="0" fontAlgn="base" hangingPunct="0">
              <a:spcBef>
                <a:spcPct val="0"/>
              </a:spcBef>
              <a:spcAft>
                <a:spcPct val="0"/>
              </a:spcAft>
            </a:pPr>
            <a:r>
              <a:rPr lang="en-US" sz="2800" dirty="0" err="1">
                <a:solidFill>
                  <a:srgbClr val="000000"/>
                </a:solidFill>
                <a:cs typeface="Arial" pitchFamily="34" charset="0"/>
              </a:rPr>
              <a:t>os.path.splitext</a:t>
            </a:r>
            <a:r>
              <a:rPr lang="en-US" sz="2800" dirty="0">
                <a:solidFill>
                  <a:srgbClr val="000000"/>
                </a:solidFill>
                <a:cs typeface="Arial" pitchFamily="34" charset="0"/>
              </a:rPr>
              <a:t>(path) </a:t>
            </a:r>
            <a:endParaRPr lang="en-US" sz="2800" dirty="0">
              <a:cs typeface="Arial" pitchFamily="34" charset="0"/>
            </a:endParaRPr>
          </a:p>
          <a:p>
            <a:pPr lvl="0" algn="just" eaLnBrk="0" fontAlgn="base" hangingPunct="0">
              <a:spcBef>
                <a:spcPct val="0"/>
              </a:spcBef>
              <a:spcAft>
                <a:spcPct val="0"/>
              </a:spcAft>
            </a:pPr>
            <a:r>
              <a:rPr lang="en-US" sz="2800" dirty="0">
                <a:solidFill>
                  <a:srgbClr val="000000"/>
                </a:solidFill>
                <a:cs typeface="Arial" pitchFamily="34" charset="0"/>
              </a:rPr>
              <a:t>Use the </a:t>
            </a:r>
            <a:r>
              <a:rPr lang="en-US" sz="2800" b="1" dirty="0" err="1">
                <a:solidFill>
                  <a:srgbClr val="000000"/>
                </a:solidFill>
                <a:cs typeface="Arial" pitchFamily="34" charset="0"/>
              </a:rPr>
              <a:t>os.path.splitext</a:t>
            </a:r>
            <a:r>
              <a:rPr lang="en-US" sz="2800" b="1" dirty="0">
                <a:solidFill>
                  <a:srgbClr val="000000"/>
                </a:solidFill>
                <a:cs typeface="Arial" pitchFamily="34" charset="0"/>
              </a:rPr>
              <a:t>()</a:t>
            </a:r>
            <a:r>
              <a:rPr lang="en-US" sz="2800" dirty="0">
                <a:solidFill>
                  <a:srgbClr val="000000"/>
                </a:solidFill>
                <a:cs typeface="Arial" pitchFamily="34" charset="0"/>
              </a:rPr>
              <a:t> function to split the file path and file extension from the input file path.</a:t>
            </a:r>
            <a:endParaRPr lang="en-US" sz="2800" dirty="0">
              <a:cs typeface="Arial" pitchFamily="34" charset="0"/>
            </a:endParaRPr>
          </a:p>
        </p:txBody>
      </p:sp>
    </p:spTree>
    <p:extLst>
      <p:ext uri="{BB962C8B-B14F-4D97-AF65-F5344CB8AC3E}">
        <p14:creationId xmlns:p14="http://schemas.microsoft.com/office/powerpoint/2010/main" xmlns="" val="193662897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6001643"/>
          </a:xfrm>
          <a:prstGeom prst="rect">
            <a:avLst/>
          </a:prstGeom>
          <a:noFill/>
        </p:spPr>
        <p:txBody>
          <a:bodyPr wrap="square" rtlCol="0">
            <a:spAutoFit/>
          </a:bodyPr>
          <a:lstStyle/>
          <a:p>
            <a:r>
              <a:rPr lang="en-US" sz="2800" dirty="0"/>
              <a:t>Example</a:t>
            </a:r>
          </a:p>
          <a:p>
            <a:r>
              <a:rPr lang="en-US" sz="2800" dirty="0"/>
              <a:t>The following program splits the main file path and file extension from the input file path using the </a:t>
            </a:r>
            <a:r>
              <a:rPr lang="en-US" sz="2800" dirty="0" err="1"/>
              <a:t>os.path.splitext</a:t>
            </a:r>
            <a:r>
              <a:rPr lang="en-US" sz="2800" dirty="0"/>
              <a:t>() function −</a:t>
            </a:r>
          </a:p>
          <a:p>
            <a:endParaRPr lang="en-IN" sz="2800" dirty="0"/>
          </a:p>
          <a:p>
            <a:r>
              <a:rPr lang="en-US" sz="2800" dirty="0"/>
              <a:t>import </a:t>
            </a:r>
            <a:r>
              <a:rPr lang="en-US" sz="2800" dirty="0" err="1"/>
              <a:t>os</a:t>
            </a:r>
            <a:r>
              <a:rPr lang="en-US" sz="2800" dirty="0"/>
              <a:t> </a:t>
            </a:r>
          </a:p>
          <a:p>
            <a:r>
              <a:rPr lang="en-US" sz="2800" dirty="0"/>
              <a:t># input path of the file</a:t>
            </a:r>
          </a:p>
          <a:p>
            <a:r>
              <a:rPr lang="en-US" sz="2800" dirty="0"/>
              <a:t> </a:t>
            </a:r>
            <a:r>
              <a:rPr lang="en-US" sz="2800" dirty="0" err="1"/>
              <a:t>inputFilepath</a:t>
            </a:r>
            <a:r>
              <a:rPr lang="en-US" sz="2800" dirty="0"/>
              <a:t> ='C:/Users/</a:t>
            </a:r>
            <a:r>
              <a:rPr lang="en-US" sz="2800" dirty="0" err="1"/>
              <a:t>cirus</a:t>
            </a:r>
            <a:r>
              <a:rPr lang="en-US" sz="2800" dirty="0"/>
              <a:t>/Desktop/</a:t>
            </a:r>
            <a:r>
              <a:rPr lang="en-US" sz="2800" dirty="0" err="1"/>
              <a:t>tutorial.pdf</a:t>
            </a:r>
            <a:r>
              <a:rPr lang="en-US" sz="2800" dirty="0"/>
              <a:t>' </a:t>
            </a:r>
          </a:p>
          <a:p>
            <a:r>
              <a:rPr lang="en-US" sz="2800" dirty="0"/>
              <a:t># Printing the given input path</a:t>
            </a:r>
          </a:p>
          <a:p>
            <a:r>
              <a:rPr lang="en-US" sz="2800" dirty="0"/>
              <a:t> print("Give Input Path is:",</a:t>
            </a:r>
            <a:r>
              <a:rPr lang="en-US" sz="2800" dirty="0" err="1"/>
              <a:t>inputFilepath</a:t>
            </a:r>
            <a:r>
              <a:rPr lang="en-US" sz="2800" dirty="0"/>
              <a:t>) </a:t>
            </a:r>
          </a:p>
          <a:p>
            <a:r>
              <a:rPr lang="en-US" sz="2800" dirty="0"/>
              <a:t># splitting the file path and file extension from the input file path</a:t>
            </a:r>
          </a:p>
          <a:p>
            <a:r>
              <a:rPr lang="en-US" sz="2800" dirty="0"/>
              <a:t> # using the </a:t>
            </a:r>
            <a:r>
              <a:rPr lang="en-US" sz="2800" dirty="0" err="1"/>
              <a:t>splitext</a:t>
            </a:r>
            <a:r>
              <a:rPr lang="en-US" sz="2800" dirty="0"/>
              <a:t>() function </a:t>
            </a:r>
          </a:p>
          <a:p>
            <a:r>
              <a:rPr lang="en-US" sz="2000" dirty="0"/>
              <a:t>print("Splitting the given path by extension :\n",</a:t>
            </a:r>
            <a:r>
              <a:rPr lang="en-US" sz="2000" dirty="0" err="1"/>
              <a:t>os.path.splitext</a:t>
            </a:r>
            <a:r>
              <a:rPr lang="en-US" sz="2000" dirty="0"/>
              <a:t>(</a:t>
            </a:r>
            <a:r>
              <a:rPr lang="en-US" sz="2000" dirty="0" err="1"/>
              <a:t>inputFilepath</a:t>
            </a:r>
            <a:r>
              <a:rPr lang="en-US" sz="2000" dirty="0"/>
              <a:t>))</a:t>
            </a:r>
          </a:p>
        </p:txBody>
      </p:sp>
    </p:spTree>
    <p:extLst>
      <p:ext uri="{BB962C8B-B14F-4D97-AF65-F5344CB8AC3E}">
        <p14:creationId xmlns:p14="http://schemas.microsoft.com/office/powerpoint/2010/main" xmlns="" val="232368055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file in python</a:t>
            </a:r>
            <a:endParaRPr lang="en-US" b="1" dirty="0"/>
          </a:p>
        </p:txBody>
      </p:sp>
      <p:sp>
        <p:nvSpPr>
          <p:cNvPr id="4" name="TextBox 3"/>
          <p:cNvSpPr txBox="1"/>
          <p:nvPr/>
        </p:nvSpPr>
        <p:spPr>
          <a:xfrm>
            <a:off x="228600" y="1066800"/>
            <a:ext cx="8763000" cy="4401205"/>
          </a:xfrm>
          <a:prstGeom prst="rect">
            <a:avLst/>
          </a:prstGeom>
          <a:noFill/>
        </p:spPr>
        <p:txBody>
          <a:bodyPr wrap="square" rtlCol="0">
            <a:spAutoFit/>
          </a:bodyPr>
          <a:lstStyle/>
          <a:p>
            <a:pPr lvl="0" fontAlgn="base">
              <a:spcBef>
                <a:spcPct val="0"/>
              </a:spcBef>
              <a:spcAft>
                <a:spcPct val="0"/>
              </a:spcAft>
            </a:pPr>
            <a:r>
              <a:rPr lang="en-US" sz="2800" dirty="0">
                <a:cs typeface="Arial" pitchFamily="34" charset="0"/>
              </a:rPr>
              <a:t>Output</a:t>
            </a:r>
          </a:p>
          <a:p>
            <a:pPr lvl="0" fontAlgn="base">
              <a:spcBef>
                <a:spcPct val="0"/>
              </a:spcBef>
              <a:spcAft>
                <a:spcPct val="0"/>
              </a:spcAft>
            </a:pPr>
            <a:endParaRPr lang="en-US" sz="2800" dirty="0">
              <a:cs typeface="Arial" pitchFamily="34" charset="0"/>
            </a:endParaRPr>
          </a:p>
          <a:p>
            <a:pPr lvl="0" eaLnBrk="0" fontAlgn="base" hangingPunct="0">
              <a:spcBef>
                <a:spcPct val="0"/>
              </a:spcBef>
              <a:spcAft>
                <a:spcPct val="0"/>
              </a:spcAft>
            </a:pPr>
            <a:r>
              <a:rPr lang="en-US" sz="2800" dirty="0">
                <a:solidFill>
                  <a:srgbClr val="000000"/>
                </a:solidFill>
                <a:cs typeface="Arial" pitchFamily="34" charset="0"/>
              </a:rPr>
              <a:t>On execution, the above program will generate the following </a:t>
            </a:r>
          </a:p>
          <a:p>
            <a:pPr lvl="0" eaLnBrk="0" fontAlgn="base" hangingPunct="0">
              <a:spcBef>
                <a:spcPct val="0"/>
              </a:spcBef>
              <a:spcAft>
                <a:spcPct val="0"/>
              </a:spcAft>
            </a:pPr>
            <a:endParaRPr lang="en-US" sz="2800" dirty="0">
              <a:solidFill>
                <a:srgbClr val="000000"/>
              </a:solidFill>
              <a:cs typeface="Arial" pitchFamily="34" charset="0"/>
            </a:endParaRPr>
          </a:p>
          <a:p>
            <a:pPr lvl="0" eaLnBrk="0" fontAlgn="base" hangingPunct="0">
              <a:spcBef>
                <a:spcPct val="0"/>
              </a:spcBef>
              <a:spcAft>
                <a:spcPct val="0"/>
              </a:spcAft>
            </a:pPr>
            <a:r>
              <a:rPr lang="en-US" sz="2800" dirty="0">
                <a:solidFill>
                  <a:srgbClr val="000000"/>
                </a:solidFill>
                <a:cs typeface="Arial" pitchFamily="34" charset="0"/>
              </a:rPr>
              <a:t>output −</a:t>
            </a:r>
          </a:p>
          <a:p>
            <a:pPr lvl="0" eaLnBrk="0" fontAlgn="base" hangingPunct="0">
              <a:spcBef>
                <a:spcPct val="0"/>
              </a:spcBef>
              <a:spcAft>
                <a:spcPct val="0"/>
              </a:spcAft>
            </a:pPr>
            <a:endParaRPr lang="en-US" sz="2800" dirty="0">
              <a:solidFill>
                <a:srgbClr val="000000"/>
              </a:solidFill>
              <a:cs typeface="Arial" pitchFamily="34" charset="0"/>
            </a:endParaRPr>
          </a:p>
          <a:p>
            <a:pPr lvl="0" eaLnBrk="0" fontAlgn="base" hangingPunct="0">
              <a:spcBef>
                <a:spcPct val="0"/>
              </a:spcBef>
              <a:spcAft>
                <a:spcPct val="0"/>
              </a:spcAft>
            </a:pPr>
            <a:r>
              <a:rPr lang="en-US" sz="2800" dirty="0">
                <a:solidFill>
                  <a:srgbClr val="000000"/>
                </a:solidFill>
                <a:cs typeface="Arial" pitchFamily="34" charset="0"/>
              </a:rPr>
              <a:t>Give Input Path is: C:/Users/</a:t>
            </a:r>
            <a:r>
              <a:rPr lang="en-US" sz="2800" dirty="0" err="1">
                <a:solidFill>
                  <a:srgbClr val="000000"/>
                </a:solidFill>
                <a:cs typeface="Arial" pitchFamily="34" charset="0"/>
              </a:rPr>
              <a:t>cirus</a:t>
            </a:r>
            <a:r>
              <a:rPr lang="en-US" sz="2800" dirty="0">
                <a:solidFill>
                  <a:srgbClr val="000000"/>
                </a:solidFill>
                <a:cs typeface="Arial" pitchFamily="34" charset="0"/>
              </a:rPr>
              <a:t>/Desktop/</a:t>
            </a:r>
            <a:r>
              <a:rPr lang="en-US" sz="2800" dirty="0" err="1">
                <a:solidFill>
                  <a:srgbClr val="000000"/>
                </a:solidFill>
                <a:cs typeface="Arial" pitchFamily="34" charset="0"/>
              </a:rPr>
              <a:t>tutorial.pdf</a:t>
            </a:r>
            <a:r>
              <a:rPr lang="en-US" sz="2800" dirty="0">
                <a:solidFill>
                  <a:srgbClr val="000000"/>
                </a:solidFill>
                <a:cs typeface="Arial" pitchFamily="34" charset="0"/>
              </a:rPr>
              <a:t> </a:t>
            </a:r>
          </a:p>
          <a:p>
            <a:pPr lvl="0" eaLnBrk="0" fontAlgn="base" hangingPunct="0">
              <a:spcBef>
                <a:spcPct val="0"/>
              </a:spcBef>
              <a:spcAft>
                <a:spcPct val="0"/>
              </a:spcAft>
            </a:pPr>
            <a:r>
              <a:rPr lang="en-US" sz="2800" dirty="0">
                <a:solidFill>
                  <a:srgbClr val="000000"/>
                </a:solidFill>
                <a:cs typeface="Arial" pitchFamily="34" charset="0"/>
              </a:rPr>
              <a:t>Splitting the given path by extension: ('C:/Users/</a:t>
            </a:r>
            <a:r>
              <a:rPr lang="en-US" sz="2800" dirty="0" err="1">
                <a:solidFill>
                  <a:srgbClr val="000000"/>
                </a:solidFill>
                <a:cs typeface="Arial" pitchFamily="34" charset="0"/>
              </a:rPr>
              <a:t>cirus</a:t>
            </a:r>
            <a:r>
              <a:rPr lang="en-US" sz="2800" dirty="0">
                <a:solidFill>
                  <a:srgbClr val="000000"/>
                </a:solidFill>
                <a:cs typeface="Arial" pitchFamily="34" charset="0"/>
              </a:rPr>
              <a:t>/Desktop/tutorial, '.pdf')</a:t>
            </a:r>
            <a:r>
              <a:rPr lang="en-US" sz="2800" dirty="0">
                <a:cs typeface="Arial" pitchFamily="34" charset="0"/>
              </a:rPr>
              <a:t> </a:t>
            </a:r>
          </a:p>
        </p:txBody>
      </p:sp>
    </p:spTree>
    <p:extLst>
      <p:ext uri="{BB962C8B-B14F-4D97-AF65-F5344CB8AC3E}">
        <p14:creationId xmlns:p14="http://schemas.microsoft.com/office/powerpoint/2010/main" xmlns="" val="241042229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OS Path Module</a:t>
            </a:r>
            <a:endParaRPr lang="en-US" b="1" dirty="0"/>
          </a:p>
        </p:txBody>
      </p:sp>
      <p:sp>
        <p:nvSpPr>
          <p:cNvPr id="4" name="TextBox 3"/>
          <p:cNvSpPr txBox="1"/>
          <p:nvPr/>
        </p:nvSpPr>
        <p:spPr>
          <a:xfrm>
            <a:off x="228600" y="1066800"/>
            <a:ext cx="8763000" cy="3539430"/>
          </a:xfrm>
          <a:prstGeom prst="rect">
            <a:avLst/>
          </a:prstGeom>
          <a:noFill/>
        </p:spPr>
        <p:txBody>
          <a:bodyPr wrap="square" rtlCol="0">
            <a:spAutoFit/>
          </a:bodyPr>
          <a:lstStyle/>
          <a:p>
            <a:pPr algn="just" fontAlgn="base"/>
            <a:r>
              <a:rPr lang="en-US" sz="2800" dirty="0" smtClean="0"/>
              <a:t>Following </a:t>
            </a:r>
            <a:r>
              <a:rPr lang="en-US" sz="2800" dirty="0"/>
              <a:t>are some functions of OS Path module.</a:t>
            </a:r>
            <a:br>
              <a:rPr lang="en-US" sz="2800" dirty="0"/>
            </a:br>
            <a:r>
              <a:rPr lang="en-US" sz="2800" b="1" dirty="0"/>
              <a:t>1. </a:t>
            </a:r>
            <a:r>
              <a:rPr lang="en-US" sz="2800" b="1" dirty="0" err="1"/>
              <a:t>os.path.basename</a:t>
            </a:r>
            <a:r>
              <a:rPr lang="en-US" sz="2800" b="1" dirty="0"/>
              <a:t>(path) :</a:t>
            </a:r>
            <a:r>
              <a:rPr lang="en-US" sz="2800" dirty="0"/>
              <a:t> It is used to return the </a:t>
            </a:r>
            <a:r>
              <a:rPr lang="en-US" sz="2800" dirty="0" err="1"/>
              <a:t>basename</a:t>
            </a:r>
            <a:r>
              <a:rPr lang="en-US" sz="2800" dirty="0"/>
              <a:t> of the file . This function basically return the file name from the path given. </a:t>
            </a:r>
          </a:p>
          <a:p>
            <a:pPr algn="just" fontAlgn="base"/>
            <a:endParaRPr lang="en-US" sz="2800" b="1" dirty="0"/>
          </a:p>
          <a:p>
            <a:pPr fontAlgn="base"/>
            <a:r>
              <a:rPr lang="en-US" sz="2800" b="1" dirty="0"/>
              <a:t>import </a:t>
            </a:r>
            <a:r>
              <a:rPr lang="en-US" sz="2800" b="1" dirty="0" err="1"/>
              <a:t>os</a:t>
            </a:r>
            <a:endParaRPr lang="en-US" sz="2800" b="1" dirty="0"/>
          </a:p>
          <a:p>
            <a:pPr fontAlgn="base"/>
            <a:r>
              <a:rPr lang="en-US" sz="2800" b="1" dirty="0"/>
              <a:t>out = </a:t>
            </a:r>
            <a:r>
              <a:rPr lang="en-US" sz="2800" b="1" dirty="0" err="1"/>
              <a:t>os.path.basename</a:t>
            </a:r>
            <a:r>
              <a:rPr lang="en-US" sz="2800" b="1" dirty="0"/>
              <a:t>("/</a:t>
            </a:r>
            <a:r>
              <a:rPr lang="en-US" sz="2800" b="1" dirty="0" err="1"/>
              <a:t>baz</a:t>
            </a:r>
            <a:r>
              <a:rPr lang="en-US" sz="2800" b="1" dirty="0"/>
              <a:t>/foo")</a:t>
            </a:r>
          </a:p>
          <a:p>
            <a:pPr fontAlgn="base"/>
            <a:r>
              <a:rPr lang="en-US" sz="2800" b="1" dirty="0"/>
              <a:t>print(out</a:t>
            </a:r>
            <a:r>
              <a:rPr lang="en-US" sz="2800" b="1" dirty="0" smtClean="0"/>
              <a:t>)</a:t>
            </a:r>
            <a:endParaRPr lang="en-US" sz="2800" b="1" dirty="0"/>
          </a:p>
        </p:txBody>
      </p:sp>
    </p:spTree>
    <p:extLst>
      <p:ext uri="{BB962C8B-B14F-4D97-AF65-F5344CB8AC3E}">
        <p14:creationId xmlns:p14="http://schemas.microsoft.com/office/powerpoint/2010/main" xmlns="" val="413183705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OS Path Module</a:t>
            </a:r>
            <a:endParaRPr lang="en-US" b="1" dirty="0"/>
          </a:p>
        </p:txBody>
      </p:sp>
      <p:sp>
        <p:nvSpPr>
          <p:cNvPr id="4" name="TextBox 3"/>
          <p:cNvSpPr txBox="1"/>
          <p:nvPr/>
        </p:nvSpPr>
        <p:spPr>
          <a:xfrm>
            <a:off x="228600" y="1066800"/>
            <a:ext cx="8763000" cy="3108543"/>
          </a:xfrm>
          <a:prstGeom prst="rect">
            <a:avLst/>
          </a:prstGeom>
          <a:noFill/>
        </p:spPr>
        <p:txBody>
          <a:bodyPr wrap="square" rtlCol="0">
            <a:spAutoFit/>
          </a:bodyPr>
          <a:lstStyle/>
          <a:p>
            <a:pPr algn="just"/>
            <a:r>
              <a:rPr lang="en-US" sz="2800" b="1" dirty="0" smtClean="0"/>
              <a:t>2. </a:t>
            </a:r>
            <a:r>
              <a:rPr lang="en-US" sz="2800" b="1" dirty="0" err="1" smtClean="0"/>
              <a:t>os.path.dirname</a:t>
            </a:r>
            <a:r>
              <a:rPr lang="en-US" sz="2800" b="1" dirty="0" smtClean="0"/>
              <a:t>(path</a:t>
            </a:r>
            <a:r>
              <a:rPr lang="en-US" sz="2800" b="1" dirty="0"/>
              <a:t>) :</a:t>
            </a:r>
            <a:r>
              <a:rPr lang="en-US" sz="2800" dirty="0"/>
              <a:t> It is used to return the directory name from the path given. This function returns the name from the path except the path name. </a:t>
            </a:r>
          </a:p>
          <a:p>
            <a:pPr algn="just"/>
            <a:endParaRPr lang="en-US" sz="2800" dirty="0"/>
          </a:p>
          <a:p>
            <a:pPr algn="just" fontAlgn="base"/>
            <a:r>
              <a:rPr lang="en-US" sz="2800" b="1" dirty="0"/>
              <a:t>import </a:t>
            </a:r>
            <a:r>
              <a:rPr lang="en-US" sz="2800" b="1" dirty="0" err="1"/>
              <a:t>os</a:t>
            </a:r>
            <a:endParaRPr lang="en-US" sz="2800" b="1" dirty="0"/>
          </a:p>
          <a:p>
            <a:pPr algn="just" fontAlgn="base"/>
            <a:r>
              <a:rPr lang="en-US" sz="2800" b="1" dirty="0"/>
              <a:t>out = </a:t>
            </a:r>
            <a:r>
              <a:rPr lang="en-US" sz="2800" b="1" dirty="0" err="1"/>
              <a:t>os.path.dirname</a:t>
            </a:r>
            <a:r>
              <a:rPr lang="en-US" sz="2800" b="1" dirty="0"/>
              <a:t>("/</a:t>
            </a:r>
            <a:r>
              <a:rPr lang="en-US" sz="2800" b="1" dirty="0" err="1"/>
              <a:t>baz</a:t>
            </a:r>
            <a:r>
              <a:rPr lang="en-US" sz="2800" b="1" dirty="0"/>
              <a:t>/foo")</a:t>
            </a:r>
          </a:p>
          <a:p>
            <a:pPr algn="just" fontAlgn="base"/>
            <a:r>
              <a:rPr lang="en-US" sz="2800" b="1" dirty="0"/>
              <a:t>print(out</a:t>
            </a:r>
            <a:r>
              <a:rPr lang="en-US" sz="2800" b="1" dirty="0" smtClean="0"/>
              <a:t>)</a:t>
            </a:r>
            <a:endParaRPr lang="en-US" sz="2800" b="1" dirty="0"/>
          </a:p>
        </p:txBody>
      </p:sp>
    </p:spTree>
    <p:extLst>
      <p:ext uri="{BB962C8B-B14F-4D97-AF65-F5344CB8AC3E}">
        <p14:creationId xmlns:p14="http://schemas.microsoft.com/office/powerpoint/2010/main" xmlns="" val="394157061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OS Path Module</a:t>
            </a:r>
            <a:endParaRPr lang="en-US" b="1" dirty="0"/>
          </a:p>
        </p:txBody>
      </p:sp>
      <p:sp>
        <p:nvSpPr>
          <p:cNvPr id="4" name="TextBox 3"/>
          <p:cNvSpPr txBox="1"/>
          <p:nvPr/>
        </p:nvSpPr>
        <p:spPr>
          <a:xfrm>
            <a:off x="228600" y="1066800"/>
            <a:ext cx="8763000" cy="4401205"/>
          </a:xfrm>
          <a:prstGeom prst="rect">
            <a:avLst/>
          </a:prstGeom>
          <a:noFill/>
        </p:spPr>
        <p:txBody>
          <a:bodyPr wrap="square" rtlCol="0">
            <a:spAutoFit/>
          </a:bodyPr>
          <a:lstStyle/>
          <a:p>
            <a:pPr algn="just"/>
            <a:r>
              <a:rPr lang="en-US" sz="2800" b="1" dirty="0" smtClean="0"/>
              <a:t>3. </a:t>
            </a:r>
            <a:r>
              <a:rPr lang="en-US" sz="2800" b="1" dirty="0" err="1" smtClean="0"/>
              <a:t>os.path.isabs</a:t>
            </a:r>
            <a:r>
              <a:rPr lang="en-US" sz="2800" b="1" dirty="0" smtClean="0"/>
              <a:t>(path</a:t>
            </a:r>
            <a:r>
              <a:rPr lang="en-US" sz="2800" b="1" dirty="0"/>
              <a:t>) : </a:t>
            </a:r>
            <a:r>
              <a:rPr lang="en-US" sz="2800" dirty="0"/>
              <a:t>It specifies whether the path is absolute or not. In Unix system absolute path means path begins with the slash(‘/’) and in Windows that it begins with a (back)slash after chopping off a potential drive letter. </a:t>
            </a:r>
          </a:p>
          <a:p>
            <a:pPr algn="just"/>
            <a:endParaRPr lang="en-US" sz="2800" b="1" dirty="0"/>
          </a:p>
          <a:p>
            <a:pPr algn="just"/>
            <a:r>
              <a:rPr lang="en-US" sz="2800" b="1" dirty="0"/>
              <a:t>import </a:t>
            </a:r>
            <a:r>
              <a:rPr lang="en-US" sz="2800" b="1" dirty="0" err="1"/>
              <a:t>os</a:t>
            </a:r>
            <a:endParaRPr lang="en-US" sz="2800" b="1" dirty="0"/>
          </a:p>
          <a:p>
            <a:pPr algn="just"/>
            <a:r>
              <a:rPr lang="en-US" sz="2800" b="1" dirty="0"/>
              <a:t>out = </a:t>
            </a:r>
            <a:r>
              <a:rPr lang="en-US" sz="2800" b="1" dirty="0" err="1"/>
              <a:t>os.path.isabs</a:t>
            </a:r>
            <a:r>
              <a:rPr lang="en-US" sz="2800" b="1" dirty="0"/>
              <a:t>("/</a:t>
            </a:r>
            <a:r>
              <a:rPr lang="en-US" sz="2800" b="1" dirty="0" err="1"/>
              <a:t>baz</a:t>
            </a:r>
            <a:r>
              <a:rPr lang="en-US" sz="2800" b="1" dirty="0"/>
              <a:t>/foo")</a:t>
            </a:r>
          </a:p>
          <a:p>
            <a:pPr algn="just"/>
            <a:r>
              <a:rPr lang="en-US" sz="2800" b="1" dirty="0"/>
              <a:t>print(out)</a:t>
            </a:r>
          </a:p>
          <a:p>
            <a:pPr algn="just"/>
            <a:endParaRPr lang="en-US" sz="2800" b="1" dirty="0"/>
          </a:p>
        </p:txBody>
      </p:sp>
    </p:spTree>
    <p:extLst>
      <p:ext uri="{BB962C8B-B14F-4D97-AF65-F5344CB8AC3E}">
        <p14:creationId xmlns:p14="http://schemas.microsoft.com/office/powerpoint/2010/main" xmlns="" val="209226610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OS Path Module</a:t>
            </a:r>
            <a:endParaRPr lang="en-US" b="1" dirty="0"/>
          </a:p>
        </p:txBody>
      </p:sp>
      <p:sp>
        <p:nvSpPr>
          <p:cNvPr id="4" name="TextBox 3"/>
          <p:cNvSpPr txBox="1"/>
          <p:nvPr/>
        </p:nvSpPr>
        <p:spPr>
          <a:xfrm>
            <a:off x="228600" y="1066800"/>
            <a:ext cx="8763000" cy="2677656"/>
          </a:xfrm>
          <a:prstGeom prst="rect">
            <a:avLst/>
          </a:prstGeom>
          <a:noFill/>
        </p:spPr>
        <p:txBody>
          <a:bodyPr wrap="square" rtlCol="0">
            <a:spAutoFit/>
          </a:bodyPr>
          <a:lstStyle/>
          <a:p>
            <a:pPr algn="just"/>
            <a:r>
              <a:rPr lang="en-US" sz="2800" b="1" dirty="0" smtClean="0"/>
              <a:t>4. </a:t>
            </a:r>
            <a:r>
              <a:rPr lang="en-US" sz="2800" b="1" dirty="0" err="1" smtClean="0"/>
              <a:t>os.path.isdir</a:t>
            </a:r>
            <a:r>
              <a:rPr lang="en-US" sz="2800" b="1" dirty="0" smtClean="0"/>
              <a:t>(path</a:t>
            </a:r>
            <a:r>
              <a:rPr lang="en-US" sz="2800" b="1" dirty="0"/>
              <a:t>) :</a:t>
            </a:r>
            <a:r>
              <a:rPr lang="en-US" sz="2800" dirty="0"/>
              <a:t> This function specifies whether the path is existing directory or not.</a:t>
            </a:r>
          </a:p>
          <a:p>
            <a:endParaRPr lang="en-US" sz="2800" dirty="0"/>
          </a:p>
          <a:p>
            <a:pPr fontAlgn="base"/>
            <a:r>
              <a:rPr lang="en-US" sz="2800" b="1" dirty="0"/>
              <a:t>import </a:t>
            </a:r>
            <a:r>
              <a:rPr lang="en-US" sz="2800" b="1" dirty="0" err="1"/>
              <a:t>os</a:t>
            </a:r>
            <a:endParaRPr lang="en-US" sz="2800" b="1" dirty="0"/>
          </a:p>
          <a:p>
            <a:pPr fontAlgn="base"/>
            <a:r>
              <a:rPr lang="en-US" sz="2800" b="1" dirty="0"/>
              <a:t>out = </a:t>
            </a:r>
            <a:r>
              <a:rPr lang="en-US" sz="2800" b="1" dirty="0" err="1"/>
              <a:t>os.path.isdir</a:t>
            </a:r>
            <a:r>
              <a:rPr lang="en-US" sz="2800" b="1" dirty="0"/>
              <a:t>("C:\\Users")</a:t>
            </a:r>
          </a:p>
          <a:p>
            <a:pPr fontAlgn="base"/>
            <a:r>
              <a:rPr lang="en-US" sz="2800" b="1" dirty="0"/>
              <a:t>print(out</a:t>
            </a:r>
            <a:r>
              <a:rPr lang="en-US" sz="2800" b="1" dirty="0" smtClean="0"/>
              <a:t>)</a:t>
            </a:r>
            <a:endParaRPr lang="en-US" sz="2800" b="1" dirty="0"/>
          </a:p>
        </p:txBody>
      </p:sp>
    </p:spTree>
    <p:extLst>
      <p:ext uri="{BB962C8B-B14F-4D97-AF65-F5344CB8AC3E}">
        <p14:creationId xmlns:p14="http://schemas.microsoft.com/office/powerpoint/2010/main" xmlns="" val="218047565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OS Path Module</a:t>
            </a:r>
            <a:endParaRPr lang="en-US" b="1" dirty="0"/>
          </a:p>
        </p:txBody>
      </p:sp>
      <p:sp>
        <p:nvSpPr>
          <p:cNvPr id="4" name="TextBox 3"/>
          <p:cNvSpPr txBox="1"/>
          <p:nvPr/>
        </p:nvSpPr>
        <p:spPr>
          <a:xfrm>
            <a:off x="228600" y="1066800"/>
            <a:ext cx="8763000" cy="2677656"/>
          </a:xfrm>
          <a:prstGeom prst="rect">
            <a:avLst/>
          </a:prstGeom>
          <a:noFill/>
        </p:spPr>
        <p:txBody>
          <a:bodyPr wrap="square" rtlCol="0">
            <a:spAutoFit/>
          </a:bodyPr>
          <a:lstStyle/>
          <a:p>
            <a:pPr algn="just"/>
            <a:r>
              <a:rPr lang="en-US" sz="2800" b="1" dirty="0" smtClean="0"/>
              <a:t>5. </a:t>
            </a:r>
            <a:r>
              <a:rPr lang="en-US" sz="2800" b="1" dirty="0" err="1" smtClean="0"/>
              <a:t>os.path.isfile</a:t>
            </a:r>
            <a:r>
              <a:rPr lang="en-US" sz="2800" b="1" dirty="0" smtClean="0"/>
              <a:t>(path</a:t>
            </a:r>
            <a:r>
              <a:rPr lang="en-US" sz="2800" b="1" dirty="0"/>
              <a:t>) :</a:t>
            </a:r>
            <a:r>
              <a:rPr lang="en-US" sz="2800" dirty="0"/>
              <a:t> This function specifies whether the path is existing file or not.</a:t>
            </a:r>
          </a:p>
          <a:p>
            <a:pPr algn="just"/>
            <a:endParaRPr lang="en-US" sz="2800" dirty="0"/>
          </a:p>
          <a:p>
            <a:pPr fontAlgn="base"/>
            <a:r>
              <a:rPr lang="en-US" sz="2800" b="1" dirty="0"/>
              <a:t>import </a:t>
            </a:r>
            <a:r>
              <a:rPr lang="en-US" sz="2800" b="1" dirty="0" err="1"/>
              <a:t>os</a:t>
            </a:r>
            <a:endParaRPr lang="en-US" sz="2800" b="1" dirty="0"/>
          </a:p>
          <a:p>
            <a:pPr fontAlgn="base"/>
            <a:r>
              <a:rPr lang="en-US" sz="2800" b="1" dirty="0"/>
              <a:t>out = </a:t>
            </a:r>
            <a:r>
              <a:rPr lang="en-US" sz="2800" b="1" dirty="0" err="1"/>
              <a:t>os.path.isfile</a:t>
            </a:r>
            <a:r>
              <a:rPr lang="en-US" sz="2800" b="1" dirty="0"/>
              <a:t>("C:\\Users\</a:t>
            </a:r>
            <a:r>
              <a:rPr lang="en-US" sz="2800" b="1" dirty="0" err="1"/>
              <a:t>foo.csv</a:t>
            </a:r>
            <a:r>
              <a:rPr lang="en-US" sz="2800" b="1" dirty="0"/>
              <a:t>")</a:t>
            </a:r>
          </a:p>
          <a:p>
            <a:pPr fontAlgn="base"/>
            <a:r>
              <a:rPr lang="en-US" sz="2800" b="1" dirty="0"/>
              <a:t>print(out</a:t>
            </a:r>
            <a:r>
              <a:rPr lang="en-US" sz="2800" b="1" dirty="0" smtClean="0"/>
              <a:t>)</a:t>
            </a:r>
            <a:endParaRPr lang="en-US" sz="2800" b="1" dirty="0"/>
          </a:p>
        </p:txBody>
      </p:sp>
    </p:spTree>
    <p:extLst>
      <p:ext uri="{BB962C8B-B14F-4D97-AF65-F5344CB8AC3E}">
        <p14:creationId xmlns:p14="http://schemas.microsoft.com/office/powerpoint/2010/main" xmlns="" val="104435698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Getting file information in python</a:t>
            </a:r>
            <a:endParaRPr lang="en-US" b="1" dirty="0"/>
          </a:p>
        </p:txBody>
      </p:sp>
      <p:sp>
        <p:nvSpPr>
          <p:cNvPr id="4" name="TextBox 3"/>
          <p:cNvSpPr txBox="1"/>
          <p:nvPr/>
        </p:nvSpPr>
        <p:spPr>
          <a:xfrm>
            <a:off x="228600" y="1066800"/>
            <a:ext cx="8763000" cy="4832092"/>
          </a:xfrm>
          <a:prstGeom prst="rect">
            <a:avLst/>
          </a:prstGeom>
          <a:noFill/>
        </p:spPr>
        <p:txBody>
          <a:bodyPr wrap="square" rtlCol="0">
            <a:spAutoFit/>
          </a:bodyPr>
          <a:lstStyle/>
          <a:p>
            <a:pPr algn="just"/>
            <a:r>
              <a:rPr lang="en-US" sz="2800" dirty="0" smtClean="0"/>
              <a:t>Because</a:t>
            </a:r>
            <a:r>
              <a:rPr lang="en-US" sz="2800" dirty="0"/>
              <a:t> Python is a server-side language, it can access and manipulate the file system just like any other language.</a:t>
            </a:r>
          </a:p>
          <a:p>
            <a:pPr algn="just"/>
            <a:r>
              <a:rPr lang="en-US" sz="2800" dirty="0"/>
              <a:t>That means that you can use Python to get information about files, such as their size, creation date, and more.</a:t>
            </a:r>
          </a:p>
          <a:p>
            <a:pPr algn="just"/>
            <a:endParaRPr lang="en-IN" sz="2800" dirty="0"/>
          </a:p>
          <a:p>
            <a:pPr algn="just"/>
            <a:r>
              <a:rPr lang="en-US" sz="2800" b="1" dirty="0"/>
              <a:t>Get the file size</a:t>
            </a:r>
          </a:p>
          <a:p>
            <a:pPr algn="just"/>
            <a:r>
              <a:rPr lang="en-US" sz="2800" dirty="0"/>
              <a:t>Now that you've imported the </a:t>
            </a:r>
            <a:r>
              <a:rPr lang="en-US" sz="2800" dirty="0" err="1"/>
              <a:t>os</a:t>
            </a:r>
            <a:r>
              <a:rPr lang="en-US" sz="2800" dirty="0"/>
              <a:t> module, you can use the </a:t>
            </a:r>
            <a:r>
              <a:rPr lang="en-US" sz="2800" dirty="0" err="1"/>
              <a:t>os.path.getsize</a:t>
            </a:r>
            <a:r>
              <a:rPr lang="en-US" sz="2800" dirty="0"/>
              <a:t>() function to get the size of a file.</a:t>
            </a:r>
          </a:p>
          <a:p>
            <a:pPr algn="just"/>
            <a:r>
              <a:rPr lang="en-US" sz="2800" dirty="0"/>
              <a:t>First define a file path to the file you want to get the size of, and keep in mind that the path will be different depending on your operating </a:t>
            </a:r>
            <a:r>
              <a:rPr lang="en-US" sz="2800" dirty="0" smtClean="0"/>
              <a:t>system</a:t>
            </a:r>
            <a:r>
              <a:rPr lang="en-US" sz="2800" dirty="0"/>
              <a:t>.</a:t>
            </a:r>
          </a:p>
        </p:txBody>
      </p:sp>
    </p:spTree>
    <p:extLst>
      <p:ext uri="{BB962C8B-B14F-4D97-AF65-F5344CB8AC3E}">
        <p14:creationId xmlns:p14="http://schemas.microsoft.com/office/powerpoint/2010/main" xmlns="" val="145376632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Getting file information in python</a:t>
            </a:r>
            <a:endParaRPr lang="en-US" b="1" dirty="0"/>
          </a:p>
        </p:txBody>
      </p:sp>
      <p:sp>
        <p:nvSpPr>
          <p:cNvPr id="4" name="TextBox 3"/>
          <p:cNvSpPr txBox="1"/>
          <p:nvPr/>
        </p:nvSpPr>
        <p:spPr>
          <a:xfrm>
            <a:off x="228600" y="1066800"/>
            <a:ext cx="8763000" cy="3108543"/>
          </a:xfrm>
          <a:prstGeom prst="rect">
            <a:avLst/>
          </a:prstGeom>
          <a:noFill/>
        </p:spPr>
        <p:txBody>
          <a:bodyPr wrap="square" rtlCol="0">
            <a:spAutoFit/>
          </a:bodyPr>
          <a:lstStyle/>
          <a:p>
            <a:pPr algn="just"/>
            <a:r>
              <a:rPr lang="en-US" sz="2800" dirty="0" err="1"/>
              <a:t>file_path</a:t>
            </a:r>
            <a:r>
              <a:rPr lang="en-US" sz="2800" dirty="0"/>
              <a:t> = "C:\\Users\\</a:t>
            </a:r>
            <a:r>
              <a:rPr lang="en-US" sz="2800" dirty="0" err="1"/>
              <a:t>sabe</a:t>
            </a:r>
            <a:r>
              <a:rPr lang="en-US" sz="2800" dirty="0"/>
              <a:t>\\</a:t>
            </a:r>
            <a:r>
              <a:rPr lang="en-US" sz="2800" dirty="0" err="1"/>
              <a:t>text.txt</a:t>
            </a:r>
            <a:r>
              <a:rPr lang="en-US" sz="2800" dirty="0"/>
              <a:t>" # Windows </a:t>
            </a:r>
          </a:p>
          <a:p>
            <a:pPr algn="just"/>
            <a:endParaRPr lang="en-US" sz="2800" dirty="0"/>
          </a:p>
          <a:p>
            <a:pPr algn="just"/>
            <a:r>
              <a:rPr lang="en-US" sz="2800" dirty="0"/>
              <a:t>Then use the </a:t>
            </a:r>
            <a:r>
              <a:rPr lang="en-US" sz="2800" dirty="0" err="1"/>
              <a:t>os.path.getsize</a:t>
            </a:r>
            <a:r>
              <a:rPr lang="en-US" sz="2800" dirty="0"/>
              <a:t>() function to get the size of the file:</a:t>
            </a:r>
          </a:p>
          <a:p>
            <a:pPr algn="just"/>
            <a:r>
              <a:rPr lang="en-US" sz="2800" dirty="0"/>
              <a:t>import </a:t>
            </a:r>
            <a:r>
              <a:rPr lang="en-US" sz="2800" dirty="0" err="1"/>
              <a:t>os</a:t>
            </a:r>
            <a:endParaRPr lang="en-US" sz="2800" dirty="0"/>
          </a:p>
          <a:p>
            <a:pPr algn="just"/>
            <a:r>
              <a:rPr lang="en-US" sz="2800" dirty="0" err="1"/>
              <a:t>file_path</a:t>
            </a:r>
            <a:r>
              <a:rPr lang="en-US" sz="2800" dirty="0"/>
              <a:t> = "/Users/</a:t>
            </a:r>
            <a:r>
              <a:rPr lang="en-US" sz="2800" dirty="0" err="1"/>
              <a:t>sabe</a:t>
            </a:r>
            <a:r>
              <a:rPr lang="en-US" sz="2800" dirty="0"/>
              <a:t>/</a:t>
            </a:r>
            <a:r>
              <a:rPr lang="en-US" sz="2800" dirty="0" err="1"/>
              <a:t>text.txt</a:t>
            </a:r>
            <a:r>
              <a:rPr lang="en-US" sz="2800" dirty="0"/>
              <a:t>“</a:t>
            </a:r>
          </a:p>
          <a:p>
            <a:pPr algn="just"/>
            <a:r>
              <a:rPr lang="en-US" sz="2800" dirty="0"/>
              <a:t> </a:t>
            </a:r>
            <a:r>
              <a:rPr lang="en-US" sz="2800" dirty="0" err="1"/>
              <a:t>file_size</a:t>
            </a:r>
            <a:r>
              <a:rPr lang="en-US" sz="2800" dirty="0"/>
              <a:t> = </a:t>
            </a:r>
            <a:r>
              <a:rPr lang="en-US" sz="2800" dirty="0" err="1"/>
              <a:t>os.path.getsize</a:t>
            </a:r>
            <a:r>
              <a:rPr lang="en-US" sz="2800" dirty="0"/>
              <a:t>(</a:t>
            </a:r>
            <a:r>
              <a:rPr lang="en-US" sz="2800" dirty="0" err="1"/>
              <a:t>file_path</a:t>
            </a:r>
            <a:r>
              <a:rPr lang="en-US" sz="2800" dirty="0"/>
              <a:t>) print(</a:t>
            </a:r>
            <a:r>
              <a:rPr lang="en-US" sz="2800" dirty="0" err="1"/>
              <a:t>file_size</a:t>
            </a:r>
            <a:r>
              <a:rPr lang="en-US" sz="2800" dirty="0"/>
              <a:t>)</a:t>
            </a:r>
          </a:p>
        </p:txBody>
      </p:sp>
    </p:spTree>
    <p:extLst>
      <p:ext uri="{BB962C8B-B14F-4D97-AF65-F5344CB8AC3E}">
        <p14:creationId xmlns:p14="http://schemas.microsoft.com/office/powerpoint/2010/main" xmlns="" val="309760892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Getting file information in python</a:t>
            </a:r>
            <a:endParaRPr lang="en-US" b="1" dirty="0"/>
          </a:p>
        </p:txBody>
      </p:sp>
      <p:sp>
        <p:nvSpPr>
          <p:cNvPr id="4" name="TextBox 3"/>
          <p:cNvSpPr txBox="1"/>
          <p:nvPr/>
        </p:nvSpPr>
        <p:spPr>
          <a:xfrm>
            <a:off x="228600" y="1066800"/>
            <a:ext cx="8763000" cy="4401205"/>
          </a:xfrm>
          <a:prstGeom prst="rect">
            <a:avLst/>
          </a:prstGeom>
          <a:noFill/>
        </p:spPr>
        <p:txBody>
          <a:bodyPr wrap="square" rtlCol="0">
            <a:spAutoFit/>
          </a:bodyPr>
          <a:lstStyle/>
          <a:p>
            <a:pPr algn="just"/>
            <a:r>
              <a:rPr lang="en-US" sz="2800" b="1" dirty="0"/>
              <a:t>Get the file creation date</a:t>
            </a:r>
          </a:p>
          <a:p>
            <a:pPr algn="just"/>
            <a:r>
              <a:rPr lang="en-US" sz="2800" dirty="0"/>
              <a:t>To get the creation date of a file, you can use the </a:t>
            </a:r>
            <a:r>
              <a:rPr lang="en-US" sz="2800" dirty="0" err="1"/>
              <a:t>os.path.getctime</a:t>
            </a:r>
            <a:r>
              <a:rPr lang="en-US" sz="2800" dirty="0"/>
              <a:t>() function.</a:t>
            </a:r>
          </a:p>
          <a:p>
            <a:pPr algn="just"/>
            <a:r>
              <a:rPr lang="en-US" sz="2800" dirty="0"/>
              <a:t>import </a:t>
            </a:r>
            <a:r>
              <a:rPr lang="en-US" sz="2800" dirty="0" err="1"/>
              <a:t>os</a:t>
            </a:r>
            <a:r>
              <a:rPr lang="en-US" sz="2800" dirty="0"/>
              <a:t> </a:t>
            </a:r>
          </a:p>
          <a:p>
            <a:pPr algn="just"/>
            <a:r>
              <a:rPr lang="en-US" sz="2800" dirty="0" err="1"/>
              <a:t>file_path</a:t>
            </a:r>
            <a:r>
              <a:rPr lang="en-US" sz="2800" dirty="0"/>
              <a:t> = "/Users/</a:t>
            </a:r>
            <a:r>
              <a:rPr lang="en-US" sz="2800" dirty="0" err="1"/>
              <a:t>sabe</a:t>
            </a:r>
            <a:r>
              <a:rPr lang="en-US" sz="2800" dirty="0"/>
              <a:t>/</a:t>
            </a:r>
            <a:r>
              <a:rPr lang="en-US" sz="2800" dirty="0" err="1"/>
              <a:t>text.txt</a:t>
            </a:r>
            <a:r>
              <a:rPr lang="en-US" sz="2800" dirty="0"/>
              <a:t>" </a:t>
            </a:r>
          </a:p>
          <a:p>
            <a:pPr algn="just"/>
            <a:r>
              <a:rPr lang="en-US" sz="2800" dirty="0" err="1"/>
              <a:t>file_creation_date</a:t>
            </a:r>
            <a:r>
              <a:rPr lang="en-US" sz="2800" dirty="0"/>
              <a:t> = </a:t>
            </a:r>
            <a:r>
              <a:rPr lang="en-US" sz="2800" dirty="0" err="1"/>
              <a:t>os.path.getctime</a:t>
            </a:r>
            <a:r>
              <a:rPr lang="en-US" sz="2800" dirty="0"/>
              <a:t>(</a:t>
            </a:r>
            <a:r>
              <a:rPr lang="en-US" sz="2800" dirty="0" err="1"/>
              <a:t>file_path</a:t>
            </a:r>
            <a:r>
              <a:rPr lang="en-US" sz="2800" dirty="0"/>
              <a:t>) print(</a:t>
            </a:r>
            <a:r>
              <a:rPr lang="en-US" sz="2800" dirty="0" err="1"/>
              <a:t>file_creation_date</a:t>
            </a:r>
            <a:r>
              <a:rPr lang="en-US" sz="2800" dirty="0"/>
              <a:t>)</a:t>
            </a:r>
          </a:p>
          <a:p>
            <a:pPr algn="just"/>
            <a:endParaRPr lang="en-US" sz="2800" dirty="0"/>
          </a:p>
          <a:p>
            <a:pPr algn="just"/>
            <a:r>
              <a:rPr lang="en-US" sz="2800" dirty="0"/>
              <a:t>This returns the number of seconds since the epoch, which is January 1, 1970.</a:t>
            </a:r>
          </a:p>
        </p:txBody>
      </p:sp>
    </p:spTree>
    <p:extLst>
      <p:ext uri="{BB962C8B-B14F-4D97-AF65-F5344CB8AC3E}">
        <p14:creationId xmlns:p14="http://schemas.microsoft.com/office/powerpoint/2010/main" xmlns="" val="65405748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Getting file information in python</a:t>
            </a:r>
            <a:endParaRPr lang="en-US" b="1" dirty="0"/>
          </a:p>
        </p:txBody>
      </p:sp>
      <p:sp>
        <p:nvSpPr>
          <p:cNvPr id="4" name="TextBox 3"/>
          <p:cNvSpPr txBox="1"/>
          <p:nvPr/>
        </p:nvSpPr>
        <p:spPr>
          <a:xfrm>
            <a:off x="228600" y="1066800"/>
            <a:ext cx="8763000" cy="3108543"/>
          </a:xfrm>
          <a:prstGeom prst="rect">
            <a:avLst/>
          </a:prstGeom>
          <a:noFill/>
        </p:spPr>
        <p:txBody>
          <a:bodyPr wrap="square" rtlCol="0">
            <a:spAutoFit/>
          </a:bodyPr>
          <a:lstStyle/>
          <a:p>
            <a:pPr algn="just"/>
            <a:r>
              <a:rPr lang="en-US" sz="2800" b="1" dirty="0"/>
              <a:t>Get the file modification date</a:t>
            </a:r>
          </a:p>
          <a:p>
            <a:pPr algn="just"/>
            <a:r>
              <a:rPr lang="en-US" sz="2800" dirty="0"/>
              <a:t>To get the modification date of a file, you can use the </a:t>
            </a:r>
            <a:r>
              <a:rPr lang="en-US" sz="2800" dirty="0" err="1"/>
              <a:t>os.path.getmtime</a:t>
            </a:r>
            <a:r>
              <a:rPr lang="en-US" sz="2800" dirty="0"/>
              <a:t>() function.</a:t>
            </a:r>
          </a:p>
          <a:p>
            <a:pPr algn="just"/>
            <a:endParaRPr lang="en-US" sz="2800" dirty="0"/>
          </a:p>
          <a:p>
            <a:pPr algn="just"/>
            <a:r>
              <a:rPr lang="en-US" sz="2800" dirty="0"/>
              <a:t>import </a:t>
            </a:r>
            <a:r>
              <a:rPr lang="en-US" sz="2800" dirty="0" err="1"/>
              <a:t>os</a:t>
            </a:r>
            <a:r>
              <a:rPr lang="en-US" sz="2800" dirty="0"/>
              <a:t> </a:t>
            </a:r>
            <a:r>
              <a:rPr lang="en-US" sz="2800" dirty="0" err="1"/>
              <a:t>file_path</a:t>
            </a:r>
            <a:r>
              <a:rPr lang="en-US" sz="2800" dirty="0"/>
              <a:t> = "/Users/</a:t>
            </a:r>
            <a:r>
              <a:rPr lang="en-US" sz="2800" dirty="0" err="1"/>
              <a:t>sabe</a:t>
            </a:r>
            <a:r>
              <a:rPr lang="en-US" sz="2800" dirty="0"/>
              <a:t>/</a:t>
            </a:r>
            <a:r>
              <a:rPr lang="en-US" sz="2800" dirty="0" err="1"/>
              <a:t>text.txt</a:t>
            </a:r>
            <a:r>
              <a:rPr lang="en-US" sz="2800" dirty="0"/>
              <a:t>" </a:t>
            </a:r>
            <a:r>
              <a:rPr lang="en-US" sz="2800" dirty="0" err="1"/>
              <a:t>file_modification_date</a:t>
            </a:r>
            <a:r>
              <a:rPr lang="en-US" sz="2800" dirty="0"/>
              <a:t> = </a:t>
            </a:r>
            <a:r>
              <a:rPr lang="en-US" sz="2800" dirty="0" err="1"/>
              <a:t>os.path.getmtime</a:t>
            </a:r>
            <a:r>
              <a:rPr lang="en-US" sz="2800" dirty="0"/>
              <a:t>(</a:t>
            </a:r>
            <a:r>
              <a:rPr lang="en-US" sz="2800" dirty="0" err="1"/>
              <a:t>file_path</a:t>
            </a:r>
            <a:r>
              <a:rPr lang="en-US" sz="2800" dirty="0"/>
              <a:t>) print(</a:t>
            </a:r>
            <a:r>
              <a:rPr lang="en-US" sz="2800" dirty="0" err="1"/>
              <a:t>file_modification_date</a:t>
            </a:r>
            <a:r>
              <a:rPr lang="en-US" sz="2800" dirty="0"/>
              <a:t>)</a:t>
            </a:r>
          </a:p>
        </p:txBody>
      </p:sp>
    </p:spTree>
    <p:extLst>
      <p:ext uri="{BB962C8B-B14F-4D97-AF65-F5344CB8AC3E}">
        <p14:creationId xmlns:p14="http://schemas.microsoft.com/office/powerpoint/2010/main" xmlns="" val="343700562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Getting file information in python</a:t>
            </a:r>
            <a:endParaRPr lang="en-US" b="1" dirty="0"/>
          </a:p>
        </p:txBody>
      </p:sp>
      <p:sp>
        <p:nvSpPr>
          <p:cNvPr id="4" name="TextBox 3"/>
          <p:cNvSpPr txBox="1"/>
          <p:nvPr/>
        </p:nvSpPr>
        <p:spPr>
          <a:xfrm>
            <a:off x="228600" y="1066800"/>
            <a:ext cx="8763000" cy="5262979"/>
          </a:xfrm>
          <a:prstGeom prst="rect">
            <a:avLst/>
          </a:prstGeom>
          <a:noFill/>
        </p:spPr>
        <p:txBody>
          <a:bodyPr wrap="square" rtlCol="0">
            <a:spAutoFit/>
          </a:bodyPr>
          <a:lstStyle/>
          <a:p>
            <a:pPr algn="just"/>
            <a:r>
              <a:rPr lang="en-US" sz="2800" b="1" dirty="0"/>
              <a:t>How to get the stats of a file</a:t>
            </a:r>
          </a:p>
          <a:p>
            <a:pPr algn="just"/>
            <a:r>
              <a:rPr lang="en-US" sz="2800" dirty="0"/>
              <a:t>Another thing you can fetch about a file is its stats.</a:t>
            </a:r>
          </a:p>
          <a:p>
            <a:pPr algn="just"/>
            <a:r>
              <a:rPr lang="en-US" sz="2800" dirty="0"/>
              <a:t>The </a:t>
            </a:r>
            <a:r>
              <a:rPr lang="en-US" sz="2800" dirty="0" err="1"/>
              <a:t>os.stat</a:t>
            </a:r>
            <a:r>
              <a:rPr lang="en-US" sz="2800" dirty="0"/>
              <a:t>() function returns a </a:t>
            </a:r>
            <a:r>
              <a:rPr lang="en-US" sz="2800" dirty="0" err="1"/>
              <a:t>stat_result</a:t>
            </a:r>
            <a:r>
              <a:rPr lang="en-US" sz="2800" dirty="0"/>
              <a:t> object that contains a number of attributes about the file.</a:t>
            </a:r>
          </a:p>
          <a:p>
            <a:pPr algn="just"/>
            <a:endParaRPr lang="en-US" sz="2800" dirty="0"/>
          </a:p>
          <a:p>
            <a:pPr algn="just"/>
            <a:r>
              <a:rPr lang="en-US" sz="2800" dirty="0"/>
              <a:t>import </a:t>
            </a:r>
            <a:r>
              <a:rPr lang="en-US" sz="2800" dirty="0" err="1"/>
              <a:t>os</a:t>
            </a:r>
            <a:r>
              <a:rPr lang="en-US" sz="2800" dirty="0"/>
              <a:t> </a:t>
            </a:r>
          </a:p>
          <a:p>
            <a:pPr algn="just"/>
            <a:r>
              <a:rPr lang="en-US" sz="2800" dirty="0" err="1"/>
              <a:t>file_path</a:t>
            </a:r>
            <a:r>
              <a:rPr lang="en-US" sz="2800" dirty="0"/>
              <a:t> = "/Users/</a:t>
            </a:r>
            <a:r>
              <a:rPr lang="en-US" sz="2800" dirty="0" err="1"/>
              <a:t>sabe</a:t>
            </a:r>
            <a:r>
              <a:rPr lang="en-US" sz="2800" dirty="0"/>
              <a:t>/</a:t>
            </a:r>
            <a:r>
              <a:rPr lang="en-US" sz="2800" dirty="0" err="1"/>
              <a:t>text.txt</a:t>
            </a:r>
            <a:r>
              <a:rPr lang="en-US" sz="2800" dirty="0"/>
              <a:t>" </a:t>
            </a:r>
          </a:p>
          <a:p>
            <a:pPr algn="just"/>
            <a:r>
              <a:rPr lang="en-US" sz="2800" dirty="0" err="1"/>
              <a:t>file_stats</a:t>
            </a:r>
            <a:r>
              <a:rPr lang="en-US" sz="2800" dirty="0"/>
              <a:t> = </a:t>
            </a:r>
            <a:r>
              <a:rPr lang="en-US" sz="2800" dirty="0" err="1"/>
              <a:t>os.stat</a:t>
            </a:r>
            <a:r>
              <a:rPr lang="en-US" sz="2800" dirty="0"/>
              <a:t>(</a:t>
            </a:r>
            <a:r>
              <a:rPr lang="en-US" sz="2800" dirty="0" err="1"/>
              <a:t>file_path</a:t>
            </a:r>
            <a:r>
              <a:rPr lang="en-US" sz="2800" dirty="0"/>
              <a:t>) </a:t>
            </a:r>
          </a:p>
          <a:p>
            <a:pPr algn="just"/>
            <a:r>
              <a:rPr lang="en-US" sz="2800" dirty="0"/>
              <a:t>print(</a:t>
            </a:r>
            <a:r>
              <a:rPr lang="en-US" sz="2800" dirty="0" err="1"/>
              <a:t>file_stats</a:t>
            </a:r>
            <a:r>
              <a:rPr lang="en-US" sz="2800" dirty="0"/>
              <a:t>)</a:t>
            </a:r>
          </a:p>
          <a:p>
            <a:pPr algn="just"/>
            <a:endParaRPr lang="en-US" sz="2800" dirty="0"/>
          </a:p>
          <a:p>
            <a:pPr algn="just"/>
            <a:r>
              <a:rPr lang="en-US" sz="2800" dirty="0"/>
              <a:t>These attributes include the file size, file owner id, file group id, permissions, and more.</a:t>
            </a:r>
          </a:p>
        </p:txBody>
      </p:sp>
    </p:spTree>
    <p:extLst>
      <p:ext uri="{BB962C8B-B14F-4D97-AF65-F5344CB8AC3E}">
        <p14:creationId xmlns:p14="http://schemas.microsoft.com/office/powerpoint/2010/main" xmlns="" val="404087255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Getting file information in python</a:t>
            </a:r>
            <a:endParaRPr lang="en-US" b="1" dirty="0"/>
          </a:p>
        </p:txBody>
      </p:sp>
      <p:sp>
        <p:nvSpPr>
          <p:cNvPr id="4" name="TextBox 3"/>
          <p:cNvSpPr txBox="1"/>
          <p:nvPr/>
        </p:nvSpPr>
        <p:spPr>
          <a:xfrm>
            <a:off x="228600" y="1066800"/>
            <a:ext cx="8763000" cy="4832092"/>
          </a:xfrm>
          <a:prstGeom prst="rect">
            <a:avLst/>
          </a:prstGeom>
          <a:noFill/>
        </p:spPr>
        <p:txBody>
          <a:bodyPr wrap="square" rtlCol="0">
            <a:spAutoFit/>
          </a:bodyPr>
          <a:lstStyle/>
          <a:p>
            <a:pPr algn="just"/>
            <a:r>
              <a:rPr lang="en-US" sz="2800" b="1" dirty="0"/>
              <a:t>Traversing Directories and Processing Files</a:t>
            </a:r>
          </a:p>
          <a:p>
            <a:pPr algn="just"/>
            <a:r>
              <a:rPr lang="en-US" sz="2800" dirty="0"/>
              <a:t>A common programming task is walking a directory tree and processing files in the tree. Let’s explore how the built-in Python function </a:t>
            </a:r>
            <a:r>
              <a:rPr lang="en-US" sz="2800" dirty="0" err="1"/>
              <a:t>os.walk</a:t>
            </a:r>
            <a:r>
              <a:rPr lang="en-US" sz="2800" dirty="0"/>
              <a:t>() can be used to do this. </a:t>
            </a:r>
            <a:r>
              <a:rPr lang="en-US" sz="2800" dirty="0" err="1"/>
              <a:t>os.walk</a:t>
            </a:r>
            <a:r>
              <a:rPr lang="en-US" sz="2800" dirty="0"/>
              <a:t>() is used to generate filename in a directory tree by walking the tree either top-down or bottom-up. </a:t>
            </a:r>
          </a:p>
          <a:p>
            <a:pPr algn="just"/>
            <a:endParaRPr lang="en-US" sz="2800" dirty="0"/>
          </a:p>
          <a:p>
            <a:pPr algn="just"/>
            <a:r>
              <a:rPr lang="en-US" sz="2800" dirty="0"/>
              <a:t>The following is an example that shows you how to list all files and directories in a directory tree using </a:t>
            </a:r>
            <a:r>
              <a:rPr lang="en-US" sz="2800" dirty="0" err="1"/>
              <a:t>os.walk</a:t>
            </a:r>
            <a:r>
              <a:rPr lang="en-US" sz="2800" dirty="0"/>
              <a:t>().</a:t>
            </a:r>
          </a:p>
          <a:p>
            <a:pPr algn="just"/>
            <a:r>
              <a:rPr lang="en-US" sz="2800" dirty="0" err="1"/>
              <a:t>os.walk</a:t>
            </a:r>
            <a:r>
              <a:rPr lang="en-US" sz="2800" dirty="0"/>
              <a:t>() defaults to traversing directories in a top-down manner:</a:t>
            </a:r>
          </a:p>
        </p:txBody>
      </p:sp>
    </p:spTree>
    <p:extLst>
      <p:ext uri="{BB962C8B-B14F-4D97-AF65-F5344CB8AC3E}">
        <p14:creationId xmlns:p14="http://schemas.microsoft.com/office/powerpoint/2010/main" xmlns="" val="234921343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Getting file information in python</a:t>
            </a:r>
            <a:endParaRPr lang="en-US" b="1" dirty="0"/>
          </a:p>
        </p:txBody>
      </p:sp>
      <p:sp>
        <p:nvSpPr>
          <p:cNvPr id="4" name="TextBox 3"/>
          <p:cNvSpPr txBox="1"/>
          <p:nvPr/>
        </p:nvSpPr>
        <p:spPr>
          <a:xfrm>
            <a:off x="228600" y="1066800"/>
            <a:ext cx="8763000" cy="5478423"/>
          </a:xfrm>
          <a:prstGeom prst="rect">
            <a:avLst/>
          </a:prstGeom>
          <a:noFill/>
        </p:spPr>
        <p:txBody>
          <a:bodyPr wrap="square" rtlCol="0">
            <a:spAutoFit/>
          </a:bodyPr>
          <a:lstStyle/>
          <a:p>
            <a:pPr lvl="0" algn="just" eaLnBrk="0" fontAlgn="base" hangingPunct="0">
              <a:spcBef>
                <a:spcPct val="30000"/>
              </a:spcBef>
              <a:spcAft>
                <a:spcPct val="0"/>
              </a:spcAft>
            </a:pPr>
            <a:r>
              <a:rPr lang="en-US" sz="2800" b="1" dirty="0">
                <a:solidFill>
                  <a:srgbClr val="8F5902"/>
                </a:solidFill>
                <a:cs typeface="Arial" pitchFamily="34" charset="0"/>
              </a:rPr>
              <a:t># Walking a directory tree and printing the names of the directories and files</a:t>
            </a:r>
            <a:r>
              <a:rPr lang="en-US" sz="2800" b="1" dirty="0">
                <a:solidFill>
                  <a:srgbClr val="212529"/>
                </a:solidFill>
                <a:cs typeface="Arial" pitchFamily="34" charset="0"/>
              </a:rPr>
              <a:t> </a:t>
            </a:r>
          </a:p>
          <a:p>
            <a:pPr lvl="0" algn="just" eaLnBrk="0" fontAlgn="base" hangingPunct="0">
              <a:spcBef>
                <a:spcPct val="30000"/>
              </a:spcBef>
              <a:spcAft>
                <a:spcPct val="0"/>
              </a:spcAft>
            </a:pPr>
            <a:r>
              <a:rPr lang="en-US" sz="2800" dirty="0">
                <a:solidFill>
                  <a:srgbClr val="204A87"/>
                </a:solidFill>
                <a:cs typeface="Arial" pitchFamily="34" charset="0"/>
              </a:rPr>
              <a:t>for</a:t>
            </a:r>
            <a:r>
              <a:rPr lang="en-US" sz="2800" dirty="0">
                <a:solidFill>
                  <a:srgbClr val="212529"/>
                </a:solidFill>
                <a:cs typeface="Arial" pitchFamily="34" charset="0"/>
              </a:rPr>
              <a:t> </a:t>
            </a:r>
            <a:r>
              <a:rPr lang="en-US" sz="2800" dirty="0" err="1">
                <a:solidFill>
                  <a:srgbClr val="000000"/>
                </a:solidFill>
              </a:rPr>
              <a:t>dirpath</a:t>
            </a:r>
            <a:r>
              <a:rPr lang="en-US" sz="2800" dirty="0">
                <a:solidFill>
                  <a:srgbClr val="000000"/>
                </a:solidFill>
                <a:cs typeface="Arial" pitchFamily="34" charset="0"/>
              </a:rPr>
              <a:t>,</a:t>
            </a:r>
            <a:r>
              <a:rPr lang="en-US" sz="2800" dirty="0">
                <a:solidFill>
                  <a:srgbClr val="212529"/>
                </a:solidFill>
                <a:cs typeface="Arial" pitchFamily="34" charset="0"/>
              </a:rPr>
              <a:t> </a:t>
            </a:r>
            <a:r>
              <a:rPr lang="en-US" sz="2800" dirty="0" err="1">
                <a:solidFill>
                  <a:srgbClr val="000000"/>
                </a:solidFill>
              </a:rPr>
              <a:t>dirnames</a:t>
            </a:r>
            <a:r>
              <a:rPr lang="en-US" sz="2800" dirty="0">
                <a:solidFill>
                  <a:srgbClr val="000000"/>
                </a:solidFill>
                <a:cs typeface="Arial" pitchFamily="34" charset="0"/>
              </a:rPr>
              <a:t>,</a:t>
            </a:r>
            <a:r>
              <a:rPr lang="en-US" sz="2800" dirty="0">
                <a:solidFill>
                  <a:srgbClr val="212529"/>
                </a:solidFill>
                <a:cs typeface="Arial" pitchFamily="34" charset="0"/>
              </a:rPr>
              <a:t> </a:t>
            </a:r>
            <a:r>
              <a:rPr lang="en-US" sz="2800" dirty="0">
                <a:solidFill>
                  <a:srgbClr val="000000"/>
                </a:solidFill>
              </a:rPr>
              <a:t>files</a:t>
            </a:r>
            <a:r>
              <a:rPr lang="en-US" sz="2800" dirty="0">
                <a:solidFill>
                  <a:srgbClr val="212529"/>
                </a:solidFill>
                <a:cs typeface="Arial" pitchFamily="34" charset="0"/>
              </a:rPr>
              <a:t> </a:t>
            </a:r>
            <a:r>
              <a:rPr lang="en-US" sz="2800" dirty="0">
                <a:solidFill>
                  <a:srgbClr val="204A87"/>
                </a:solidFill>
                <a:cs typeface="Arial" pitchFamily="34" charset="0"/>
              </a:rPr>
              <a:t>in</a:t>
            </a:r>
            <a:r>
              <a:rPr lang="en-US" sz="2800" dirty="0">
                <a:solidFill>
                  <a:srgbClr val="212529"/>
                </a:solidFill>
                <a:cs typeface="Arial" pitchFamily="34" charset="0"/>
              </a:rPr>
              <a:t> </a:t>
            </a:r>
            <a:r>
              <a:rPr lang="en-US" sz="2800" dirty="0" err="1">
                <a:solidFill>
                  <a:srgbClr val="000000"/>
                </a:solidFill>
              </a:rPr>
              <a:t>os</a:t>
            </a:r>
            <a:r>
              <a:rPr lang="en-US" sz="2800" dirty="0" err="1">
                <a:solidFill>
                  <a:srgbClr val="CE5C00"/>
                </a:solidFill>
              </a:rPr>
              <a:t>.</a:t>
            </a:r>
            <a:r>
              <a:rPr lang="en-US" sz="2800" dirty="0" err="1">
                <a:solidFill>
                  <a:srgbClr val="000000"/>
                </a:solidFill>
              </a:rPr>
              <a:t>walk</a:t>
            </a:r>
            <a:r>
              <a:rPr lang="en-US" sz="2800" dirty="0">
                <a:solidFill>
                  <a:srgbClr val="000000"/>
                </a:solidFill>
                <a:cs typeface="Arial" pitchFamily="34" charset="0"/>
              </a:rPr>
              <a:t>(</a:t>
            </a:r>
            <a:r>
              <a:rPr lang="en-US" sz="2800" dirty="0">
                <a:solidFill>
                  <a:srgbClr val="4E9A06"/>
                </a:solidFill>
                <a:cs typeface="Arial" pitchFamily="34" charset="0"/>
              </a:rPr>
              <a:t>'.'</a:t>
            </a:r>
            <a:r>
              <a:rPr lang="en-US" sz="2800" dirty="0">
                <a:solidFill>
                  <a:srgbClr val="000000"/>
                </a:solidFill>
                <a:cs typeface="Arial" pitchFamily="34" charset="0"/>
              </a:rPr>
              <a:t>):</a:t>
            </a:r>
            <a:r>
              <a:rPr lang="en-US" sz="2800" dirty="0">
                <a:solidFill>
                  <a:srgbClr val="212529"/>
                </a:solidFill>
                <a:cs typeface="Arial" pitchFamily="34" charset="0"/>
              </a:rPr>
              <a:t> </a:t>
            </a:r>
            <a:endParaRPr lang="en-US" sz="2800" dirty="0">
              <a:solidFill>
                <a:srgbClr val="204A87"/>
              </a:solidFill>
              <a:cs typeface="Arial" pitchFamily="34" charset="0"/>
            </a:endParaRPr>
          </a:p>
          <a:p>
            <a:pPr lvl="0" algn="just" eaLnBrk="0" fontAlgn="base" hangingPunct="0">
              <a:spcBef>
                <a:spcPct val="30000"/>
              </a:spcBef>
              <a:spcAft>
                <a:spcPct val="0"/>
              </a:spcAft>
            </a:pPr>
            <a:r>
              <a:rPr lang="en-US" sz="2800" dirty="0">
                <a:solidFill>
                  <a:srgbClr val="000000"/>
                </a:solidFill>
                <a:cs typeface="Arial" pitchFamily="34" charset="0"/>
              </a:rPr>
              <a:t>	print(</a:t>
            </a:r>
            <a:r>
              <a:rPr lang="en-US" sz="2800" dirty="0" err="1">
                <a:solidFill>
                  <a:srgbClr val="1B6700"/>
                </a:solidFill>
                <a:cs typeface="Arial" pitchFamily="34" charset="0"/>
              </a:rPr>
              <a:t>f</a:t>
            </a:r>
            <a:r>
              <a:rPr lang="en-US" sz="2800" dirty="0" err="1">
                <a:solidFill>
                  <a:srgbClr val="4E9A06"/>
                </a:solidFill>
                <a:cs typeface="Arial" pitchFamily="34" charset="0"/>
              </a:rPr>
              <a:t>'Found</a:t>
            </a:r>
            <a:r>
              <a:rPr lang="en-US" sz="2800" dirty="0">
                <a:solidFill>
                  <a:srgbClr val="4E9A06"/>
                </a:solidFill>
                <a:cs typeface="Arial" pitchFamily="34" charset="0"/>
              </a:rPr>
              <a:t> directory: </a:t>
            </a:r>
            <a:r>
              <a:rPr lang="en-US" sz="2800" dirty="0">
                <a:solidFill>
                  <a:srgbClr val="1B6700"/>
                </a:solidFill>
                <a:cs typeface="Arial" pitchFamily="34" charset="0"/>
              </a:rPr>
              <a:t>{</a:t>
            </a:r>
            <a:r>
              <a:rPr lang="en-US" sz="2800" dirty="0" err="1">
                <a:solidFill>
                  <a:srgbClr val="000000"/>
                </a:solidFill>
              </a:rPr>
              <a:t>dirpath</a:t>
            </a:r>
            <a:r>
              <a:rPr lang="en-US" sz="2800" dirty="0">
                <a:solidFill>
                  <a:srgbClr val="1B6700"/>
                </a:solidFill>
                <a:cs typeface="Arial" pitchFamily="34" charset="0"/>
              </a:rPr>
              <a:t>}</a:t>
            </a:r>
            <a:r>
              <a:rPr lang="en-US" sz="2800" dirty="0">
                <a:solidFill>
                  <a:srgbClr val="4E9A06"/>
                </a:solidFill>
                <a:cs typeface="Arial" pitchFamily="34" charset="0"/>
              </a:rPr>
              <a:t>'</a:t>
            </a:r>
            <a:r>
              <a:rPr lang="en-US" sz="2800" dirty="0">
                <a:solidFill>
                  <a:srgbClr val="000000"/>
                </a:solidFill>
                <a:cs typeface="Arial" pitchFamily="34" charset="0"/>
              </a:rPr>
              <a:t>)</a:t>
            </a:r>
            <a:r>
              <a:rPr lang="en-US" sz="2800" dirty="0">
                <a:solidFill>
                  <a:srgbClr val="212529"/>
                </a:solidFill>
                <a:cs typeface="Arial" pitchFamily="34" charset="0"/>
              </a:rPr>
              <a:t> </a:t>
            </a:r>
          </a:p>
          <a:p>
            <a:pPr lvl="0" algn="just" eaLnBrk="0" fontAlgn="base" hangingPunct="0">
              <a:spcBef>
                <a:spcPct val="30000"/>
              </a:spcBef>
              <a:spcAft>
                <a:spcPct val="0"/>
              </a:spcAft>
            </a:pPr>
            <a:r>
              <a:rPr lang="en-US" sz="2800" dirty="0">
                <a:solidFill>
                  <a:srgbClr val="204A87"/>
                </a:solidFill>
                <a:cs typeface="Arial" pitchFamily="34" charset="0"/>
              </a:rPr>
              <a:t>	for</a:t>
            </a:r>
            <a:r>
              <a:rPr lang="en-US" sz="2800" dirty="0">
                <a:solidFill>
                  <a:srgbClr val="212529"/>
                </a:solidFill>
                <a:cs typeface="Arial" pitchFamily="34" charset="0"/>
              </a:rPr>
              <a:t> </a:t>
            </a:r>
            <a:r>
              <a:rPr lang="en-US" sz="2800" dirty="0" err="1">
                <a:solidFill>
                  <a:srgbClr val="000000"/>
                </a:solidFill>
              </a:rPr>
              <a:t>file_name</a:t>
            </a:r>
            <a:r>
              <a:rPr lang="en-US" sz="2800" dirty="0">
                <a:solidFill>
                  <a:srgbClr val="212529"/>
                </a:solidFill>
                <a:cs typeface="Arial" pitchFamily="34" charset="0"/>
              </a:rPr>
              <a:t> </a:t>
            </a:r>
            <a:r>
              <a:rPr lang="en-US" sz="2800" dirty="0">
                <a:solidFill>
                  <a:srgbClr val="204A87"/>
                </a:solidFill>
                <a:cs typeface="Arial" pitchFamily="34" charset="0"/>
              </a:rPr>
              <a:t>in</a:t>
            </a:r>
            <a:r>
              <a:rPr lang="en-US" sz="2800" dirty="0">
                <a:solidFill>
                  <a:srgbClr val="212529"/>
                </a:solidFill>
                <a:cs typeface="Arial" pitchFamily="34" charset="0"/>
              </a:rPr>
              <a:t> </a:t>
            </a:r>
            <a:r>
              <a:rPr lang="en-US" sz="2800" dirty="0">
                <a:solidFill>
                  <a:srgbClr val="000000"/>
                </a:solidFill>
              </a:rPr>
              <a:t>files</a:t>
            </a:r>
            <a:r>
              <a:rPr lang="en-US" sz="2800" dirty="0">
                <a:solidFill>
                  <a:srgbClr val="000000"/>
                </a:solidFill>
                <a:cs typeface="Arial" pitchFamily="34" charset="0"/>
              </a:rPr>
              <a:t>:</a:t>
            </a:r>
            <a:r>
              <a:rPr lang="en-US" sz="2800" dirty="0">
                <a:solidFill>
                  <a:srgbClr val="212529"/>
                </a:solidFill>
                <a:cs typeface="Arial" pitchFamily="34" charset="0"/>
              </a:rPr>
              <a:t> </a:t>
            </a:r>
            <a:endParaRPr lang="en-US" sz="2800" dirty="0">
              <a:solidFill>
                <a:srgbClr val="204A87"/>
              </a:solidFill>
              <a:cs typeface="Arial" pitchFamily="34" charset="0"/>
            </a:endParaRPr>
          </a:p>
          <a:p>
            <a:pPr lvl="0" algn="just" eaLnBrk="0" fontAlgn="base" hangingPunct="0">
              <a:spcBef>
                <a:spcPct val="30000"/>
              </a:spcBef>
              <a:spcAft>
                <a:spcPct val="0"/>
              </a:spcAft>
            </a:pPr>
            <a:r>
              <a:rPr lang="en-US" sz="2800" dirty="0">
                <a:cs typeface="Arial" pitchFamily="34" charset="0"/>
              </a:rPr>
              <a:t>		</a:t>
            </a:r>
            <a:r>
              <a:rPr lang="en-US" sz="2800" dirty="0">
                <a:solidFill>
                  <a:srgbClr val="000000"/>
                </a:solidFill>
                <a:cs typeface="Arial" pitchFamily="34" charset="0"/>
              </a:rPr>
              <a:t>print(</a:t>
            </a:r>
            <a:r>
              <a:rPr lang="en-US" sz="2800" dirty="0" err="1">
                <a:solidFill>
                  <a:srgbClr val="000000"/>
                </a:solidFill>
              </a:rPr>
              <a:t>file_name</a:t>
            </a:r>
            <a:r>
              <a:rPr lang="en-US" sz="2800" dirty="0">
                <a:solidFill>
                  <a:srgbClr val="000000"/>
                </a:solidFill>
                <a:cs typeface="Arial" pitchFamily="34" charset="0"/>
              </a:rPr>
              <a:t>)</a:t>
            </a:r>
            <a:r>
              <a:rPr lang="en-US" sz="2800" dirty="0">
                <a:cs typeface="Arial" pitchFamily="34" charset="0"/>
              </a:rPr>
              <a:t> </a:t>
            </a:r>
          </a:p>
          <a:p>
            <a:pPr lvl="0" algn="just" eaLnBrk="0" fontAlgn="base" hangingPunct="0">
              <a:spcBef>
                <a:spcPct val="30000"/>
              </a:spcBef>
              <a:spcAft>
                <a:spcPct val="0"/>
              </a:spcAft>
            </a:pPr>
            <a:endParaRPr lang="en-IN" sz="2800" dirty="0">
              <a:cs typeface="Arial" pitchFamily="34" charset="0"/>
            </a:endParaRPr>
          </a:p>
          <a:p>
            <a:pPr algn="just"/>
            <a:r>
              <a:rPr lang="en-US" sz="2800" dirty="0" err="1"/>
              <a:t>os.walk</a:t>
            </a:r>
            <a:r>
              <a:rPr lang="en-US" sz="2800" dirty="0"/>
              <a:t>() returns three values on each iteration of the loop:</a:t>
            </a:r>
          </a:p>
          <a:p>
            <a:pPr marL="514350" indent="-514350" algn="just">
              <a:buFont typeface="+mj-lt"/>
              <a:buAutoNum type="arabicPeriod"/>
            </a:pPr>
            <a:r>
              <a:rPr lang="en-US" sz="2800" dirty="0"/>
              <a:t>The name of the current folder</a:t>
            </a:r>
          </a:p>
          <a:p>
            <a:pPr marL="514350" indent="-514350" algn="just">
              <a:buFont typeface="+mj-lt"/>
              <a:buAutoNum type="arabicPeriod"/>
            </a:pPr>
            <a:r>
              <a:rPr lang="en-US" sz="2800" dirty="0"/>
              <a:t>A list of folders in the current folder</a:t>
            </a:r>
          </a:p>
          <a:p>
            <a:pPr marL="514350" indent="-514350" algn="just">
              <a:buFont typeface="+mj-lt"/>
              <a:buAutoNum type="arabicPeriod"/>
            </a:pPr>
            <a:r>
              <a:rPr lang="en-US" sz="2800" dirty="0"/>
              <a:t>A list of files in the current </a:t>
            </a:r>
            <a:r>
              <a:rPr lang="en-US" sz="2800" dirty="0" smtClean="0"/>
              <a:t>folder</a:t>
            </a:r>
            <a:endParaRPr lang="en-US" sz="2800" dirty="0"/>
          </a:p>
        </p:txBody>
      </p:sp>
    </p:spTree>
    <p:extLst>
      <p:ext uri="{BB962C8B-B14F-4D97-AF65-F5344CB8AC3E}">
        <p14:creationId xmlns:p14="http://schemas.microsoft.com/office/powerpoint/2010/main" xmlns="" val="331745134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Getting file information in python</a:t>
            </a:r>
            <a:endParaRPr lang="en-US" b="1" dirty="0"/>
          </a:p>
        </p:txBody>
      </p:sp>
      <p:sp>
        <p:nvSpPr>
          <p:cNvPr id="4" name="TextBox 3"/>
          <p:cNvSpPr txBox="1"/>
          <p:nvPr/>
        </p:nvSpPr>
        <p:spPr>
          <a:xfrm>
            <a:off x="228600" y="1066800"/>
            <a:ext cx="8763000" cy="3496342"/>
          </a:xfrm>
          <a:prstGeom prst="rect">
            <a:avLst/>
          </a:prstGeom>
          <a:noFill/>
        </p:spPr>
        <p:txBody>
          <a:bodyPr wrap="square" rtlCol="0">
            <a:spAutoFit/>
          </a:bodyPr>
          <a:lstStyle/>
          <a:p>
            <a:pPr lvl="0" algn="just" fontAlgn="base">
              <a:spcBef>
                <a:spcPct val="0"/>
              </a:spcBef>
              <a:spcAft>
                <a:spcPct val="0"/>
              </a:spcAft>
            </a:pPr>
            <a:r>
              <a:rPr lang="en-US" sz="2800" dirty="0">
                <a:solidFill>
                  <a:srgbClr val="222222"/>
                </a:solidFill>
                <a:cs typeface="Arial" pitchFamily="34" charset="0"/>
              </a:rPr>
              <a:t>To traverse the directory tree in a bottom-up manner, pass in a </a:t>
            </a:r>
            <a:r>
              <a:rPr lang="en-US" sz="2800" dirty="0" err="1">
                <a:solidFill>
                  <a:srgbClr val="222222"/>
                </a:solidFill>
                <a:cs typeface="Arial" pitchFamily="34" charset="0"/>
              </a:rPr>
              <a:t>topdown</a:t>
            </a:r>
            <a:r>
              <a:rPr lang="en-US" sz="2800" dirty="0">
                <a:solidFill>
                  <a:srgbClr val="222222"/>
                </a:solidFill>
                <a:cs typeface="Arial" pitchFamily="34" charset="0"/>
              </a:rPr>
              <a:t>=False keyword argument to </a:t>
            </a:r>
            <a:r>
              <a:rPr lang="en-US" sz="2800" dirty="0" err="1">
                <a:solidFill>
                  <a:srgbClr val="222222"/>
                </a:solidFill>
                <a:cs typeface="Arial" pitchFamily="34" charset="0"/>
              </a:rPr>
              <a:t>os.walk</a:t>
            </a:r>
            <a:r>
              <a:rPr lang="en-US" sz="2800" dirty="0">
                <a:solidFill>
                  <a:srgbClr val="222222"/>
                </a:solidFill>
                <a:cs typeface="Arial" pitchFamily="34" charset="0"/>
              </a:rPr>
              <a:t>():</a:t>
            </a:r>
          </a:p>
          <a:p>
            <a:pPr lvl="0" algn="just" fontAlgn="base">
              <a:spcBef>
                <a:spcPct val="0"/>
              </a:spcBef>
              <a:spcAft>
                <a:spcPct val="0"/>
              </a:spcAft>
            </a:pPr>
            <a:endParaRPr lang="en-US" sz="2800" dirty="0">
              <a:cs typeface="Arial" pitchFamily="34" charset="0"/>
            </a:endParaRPr>
          </a:p>
          <a:p>
            <a:pPr lvl="0" algn="just" eaLnBrk="0" fontAlgn="base" hangingPunct="0">
              <a:spcBef>
                <a:spcPct val="0"/>
              </a:spcBef>
              <a:spcAft>
                <a:spcPct val="0"/>
              </a:spcAft>
            </a:pPr>
            <a:r>
              <a:rPr lang="en-US" sz="2800" dirty="0">
                <a:solidFill>
                  <a:srgbClr val="204A87"/>
                </a:solidFill>
                <a:cs typeface="Arial" pitchFamily="34" charset="0"/>
              </a:rPr>
              <a:t>for</a:t>
            </a:r>
            <a:r>
              <a:rPr lang="en-US" sz="2800" dirty="0">
                <a:solidFill>
                  <a:srgbClr val="212529"/>
                </a:solidFill>
                <a:cs typeface="Arial" pitchFamily="34" charset="0"/>
              </a:rPr>
              <a:t> </a:t>
            </a:r>
            <a:r>
              <a:rPr lang="en-US" sz="2800" dirty="0" err="1">
                <a:solidFill>
                  <a:srgbClr val="000000"/>
                </a:solidFill>
              </a:rPr>
              <a:t>dirpath</a:t>
            </a:r>
            <a:r>
              <a:rPr lang="en-US" sz="2800" dirty="0">
                <a:solidFill>
                  <a:srgbClr val="000000"/>
                </a:solidFill>
                <a:cs typeface="Arial" pitchFamily="34" charset="0"/>
              </a:rPr>
              <a:t>,</a:t>
            </a:r>
            <a:r>
              <a:rPr lang="en-US" sz="2800" dirty="0">
                <a:solidFill>
                  <a:srgbClr val="212529"/>
                </a:solidFill>
                <a:cs typeface="Arial" pitchFamily="34" charset="0"/>
              </a:rPr>
              <a:t> </a:t>
            </a:r>
            <a:r>
              <a:rPr lang="en-US" sz="2800" dirty="0" err="1">
                <a:solidFill>
                  <a:srgbClr val="000000"/>
                </a:solidFill>
              </a:rPr>
              <a:t>dirnames</a:t>
            </a:r>
            <a:r>
              <a:rPr lang="en-US" sz="2800" dirty="0">
                <a:solidFill>
                  <a:srgbClr val="000000"/>
                </a:solidFill>
                <a:cs typeface="Arial" pitchFamily="34" charset="0"/>
              </a:rPr>
              <a:t>,</a:t>
            </a:r>
            <a:r>
              <a:rPr lang="en-US" sz="2800" dirty="0">
                <a:solidFill>
                  <a:srgbClr val="212529"/>
                </a:solidFill>
                <a:cs typeface="Arial" pitchFamily="34" charset="0"/>
              </a:rPr>
              <a:t> </a:t>
            </a:r>
            <a:r>
              <a:rPr lang="en-US" sz="2800" dirty="0">
                <a:solidFill>
                  <a:srgbClr val="000000"/>
                </a:solidFill>
              </a:rPr>
              <a:t>files</a:t>
            </a:r>
            <a:r>
              <a:rPr lang="en-US" sz="2800" dirty="0">
                <a:solidFill>
                  <a:srgbClr val="212529"/>
                </a:solidFill>
                <a:cs typeface="Arial" pitchFamily="34" charset="0"/>
              </a:rPr>
              <a:t> </a:t>
            </a:r>
            <a:r>
              <a:rPr lang="en-US" sz="2800" dirty="0">
                <a:solidFill>
                  <a:srgbClr val="204A87"/>
                </a:solidFill>
                <a:cs typeface="Arial" pitchFamily="34" charset="0"/>
              </a:rPr>
              <a:t>in</a:t>
            </a:r>
            <a:r>
              <a:rPr lang="en-US" sz="2800" dirty="0">
                <a:solidFill>
                  <a:srgbClr val="212529"/>
                </a:solidFill>
                <a:cs typeface="Arial" pitchFamily="34" charset="0"/>
              </a:rPr>
              <a:t> </a:t>
            </a:r>
            <a:r>
              <a:rPr lang="en-US" sz="2800" dirty="0" err="1">
                <a:solidFill>
                  <a:srgbClr val="000000"/>
                </a:solidFill>
              </a:rPr>
              <a:t>os</a:t>
            </a:r>
            <a:r>
              <a:rPr lang="en-US" sz="2800" dirty="0" err="1">
                <a:solidFill>
                  <a:srgbClr val="CE5C00"/>
                </a:solidFill>
              </a:rPr>
              <a:t>.</a:t>
            </a:r>
            <a:r>
              <a:rPr lang="en-US" sz="2800" dirty="0" err="1">
                <a:solidFill>
                  <a:srgbClr val="000000"/>
                </a:solidFill>
              </a:rPr>
              <a:t>walk</a:t>
            </a:r>
            <a:r>
              <a:rPr lang="en-US" sz="2800" dirty="0">
                <a:solidFill>
                  <a:srgbClr val="000000"/>
                </a:solidFill>
                <a:cs typeface="Arial" pitchFamily="34" charset="0"/>
              </a:rPr>
              <a:t>(</a:t>
            </a:r>
            <a:r>
              <a:rPr lang="en-US" sz="2800" dirty="0">
                <a:solidFill>
                  <a:srgbClr val="4E9A06"/>
                </a:solidFill>
                <a:cs typeface="Arial" pitchFamily="34" charset="0"/>
              </a:rPr>
              <a:t>'.'</a:t>
            </a:r>
            <a:r>
              <a:rPr lang="en-US" sz="2800" dirty="0">
                <a:solidFill>
                  <a:srgbClr val="000000"/>
                </a:solidFill>
                <a:cs typeface="Arial" pitchFamily="34" charset="0"/>
              </a:rPr>
              <a:t>,</a:t>
            </a:r>
            <a:r>
              <a:rPr lang="en-US" sz="2800" dirty="0">
                <a:solidFill>
                  <a:srgbClr val="212529"/>
                </a:solidFill>
                <a:cs typeface="Arial" pitchFamily="34" charset="0"/>
              </a:rPr>
              <a:t> </a:t>
            </a:r>
            <a:r>
              <a:rPr lang="en-US" sz="2800" dirty="0" err="1">
                <a:solidFill>
                  <a:srgbClr val="000000"/>
                </a:solidFill>
              </a:rPr>
              <a:t>topdown</a:t>
            </a:r>
            <a:r>
              <a:rPr lang="en-US" sz="2800" dirty="0">
                <a:solidFill>
                  <a:srgbClr val="CE5C00"/>
                </a:solidFill>
              </a:rPr>
              <a:t>=</a:t>
            </a:r>
            <a:r>
              <a:rPr lang="en-US" sz="2800" dirty="0">
                <a:solidFill>
                  <a:srgbClr val="204A87"/>
                </a:solidFill>
                <a:cs typeface="Arial" pitchFamily="34" charset="0"/>
              </a:rPr>
              <a:t>False</a:t>
            </a:r>
            <a:r>
              <a:rPr lang="en-US" sz="2800" dirty="0">
                <a:solidFill>
                  <a:srgbClr val="000000"/>
                </a:solidFill>
                <a:cs typeface="Arial" pitchFamily="34" charset="0"/>
              </a:rPr>
              <a:t>):</a:t>
            </a:r>
            <a:r>
              <a:rPr lang="en-US" sz="2800" dirty="0">
                <a:solidFill>
                  <a:srgbClr val="212529"/>
                </a:solidFill>
                <a:cs typeface="Arial" pitchFamily="34" charset="0"/>
              </a:rPr>
              <a:t> </a:t>
            </a:r>
            <a:endParaRPr lang="en-US" sz="2800" dirty="0">
              <a:solidFill>
                <a:srgbClr val="204A87"/>
              </a:solidFill>
              <a:cs typeface="Arial" pitchFamily="34" charset="0"/>
            </a:endParaRPr>
          </a:p>
          <a:p>
            <a:pPr lvl="0" algn="just" eaLnBrk="0" fontAlgn="base" hangingPunct="0">
              <a:spcBef>
                <a:spcPct val="30000"/>
              </a:spcBef>
              <a:spcAft>
                <a:spcPct val="0"/>
              </a:spcAft>
            </a:pPr>
            <a:r>
              <a:rPr lang="en-US" sz="2800" dirty="0">
                <a:solidFill>
                  <a:srgbClr val="000000"/>
                </a:solidFill>
                <a:cs typeface="Arial" pitchFamily="34" charset="0"/>
              </a:rPr>
              <a:t>	print(</a:t>
            </a:r>
            <a:r>
              <a:rPr lang="en-US" sz="2800" dirty="0" err="1">
                <a:solidFill>
                  <a:srgbClr val="1B6700"/>
                </a:solidFill>
                <a:cs typeface="Arial" pitchFamily="34" charset="0"/>
              </a:rPr>
              <a:t>f</a:t>
            </a:r>
            <a:r>
              <a:rPr lang="en-US" sz="2800" dirty="0" err="1">
                <a:solidFill>
                  <a:srgbClr val="4E9A06"/>
                </a:solidFill>
                <a:cs typeface="Arial" pitchFamily="34" charset="0"/>
              </a:rPr>
              <a:t>'Found</a:t>
            </a:r>
            <a:r>
              <a:rPr lang="en-US" sz="2800" dirty="0">
                <a:solidFill>
                  <a:srgbClr val="4E9A06"/>
                </a:solidFill>
                <a:cs typeface="Arial" pitchFamily="34" charset="0"/>
              </a:rPr>
              <a:t> directory: </a:t>
            </a:r>
            <a:r>
              <a:rPr lang="en-US" sz="2800" dirty="0">
                <a:solidFill>
                  <a:srgbClr val="1B6700"/>
                </a:solidFill>
                <a:cs typeface="Arial" pitchFamily="34" charset="0"/>
              </a:rPr>
              <a:t>{</a:t>
            </a:r>
            <a:r>
              <a:rPr lang="en-US" sz="2800" dirty="0" err="1">
                <a:solidFill>
                  <a:srgbClr val="000000"/>
                </a:solidFill>
              </a:rPr>
              <a:t>dirpath</a:t>
            </a:r>
            <a:r>
              <a:rPr lang="en-US" sz="2800" dirty="0">
                <a:solidFill>
                  <a:srgbClr val="1B6700"/>
                </a:solidFill>
                <a:cs typeface="Arial" pitchFamily="34" charset="0"/>
              </a:rPr>
              <a:t>}</a:t>
            </a:r>
            <a:r>
              <a:rPr lang="en-US" sz="2800" dirty="0">
                <a:solidFill>
                  <a:srgbClr val="4E9A06"/>
                </a:solidFill>
                <a:cs typeface="Arial" pitchFamily="34" charset="0"/>
              </a:rPr>
              <a:t>'</a:t>
            </a:r>
            <a:r>
              <a:rPr lang="en-US" sz="2800" dirty="0">
                <a:solidFill>
                  <a:srgbClr val="000000"/>
                </a:solidFill>
                <a:cs typeface="Arial" pitchFamily="34" charset="0"/>
              </a:rPr>
              <a:t>)</a:t>
            </a:r>
            <a:r>
              <a:rPr lang="en-US" sz="2800" dirty="0">
                <a:solidFill>
                  <a:srgbClr val="212529"/>
                </a:solidFill>
                <a:cs typeface="Arial" pitchFamily="34" charset="0"/>
              </a:rPr>
              <a:t> </a:t>
            </a:r>
          </a:p>
          <a:p>
            <a:pPr lvl="0" algn="just" eaLnBrk="0" fontAlgn="base" hangingPunct="0">
              <a:spcBef>
                <a:spcPct val="30000"/>
              </a:spcBef>
              <a:spcAft>
                <a:spcPct val="0"/>
              </a:spcAft>
            </a:pPr>
            <a:r>
              <a:rPr lang="en-US" sz="2800" dirty="0">
                <a:solidFill>
                  <a:srgbClr val="204A87"/>
                </a:solidFill>
                <a:cs typeface="Arial" pitchFamily="34" charset="0"/>
              </a:rPr>
              <a:t>	for</a:t>
            </a:r>
            <a:r>
              <a:rPr lang="en-US" sz="2800" dirty="0">
                <a:solidFill>
                  <a:srgbClr val="212529"/>
                </a:solidFill>
                <a:cs typeface="Arial" pitchFamily="34" charset="0"/>
              </a:rPr>
              <a:t> </a:t>
            </a:r>
            <a:r>
              <a:rPr lang="en-US" sz="2800" dirty="0" err="1">
                <a:solidFill>
                  <a:srgbClr val="000000"/>
                </a:solidFill>
              </a:rPr>
              <a:t>file_name</a:t>
            </a:r>
            <a:r>
              <a:rPr lang="en-US" sz="2800" dirty="0">
                <a:solidFill>
                  <a:srgbClr val="212529"/>
                </a:solidFill>
                <a:cs typeface="Arial" pitchFamily="34" charset="0"/>
              </a:rPr>
              <a:t> </a:t>
            </a:r>
            <a:r>
              <a:rPr lang="en-US" sz="2800" dirty="0">
                <a:solidFill>
                  <a:srgbClr val="204A87"/>
                </a:solidFill>
                <a:cs typeface="Arial" pitchFamily="34" charset="0"/>
              </a:rPr>
              <a:t>in</a:t>
            </a:r>
            <a:r>
              <a:rPr lang="en-US" sz="2800" dirty="0">
                <a:solidFill>
                  <a:srgbClr val="212529"/>
                </a:solidFill>
                <a:cs typeface="Arial" pitchFamily="34" charset="0"/>
              </a:rPr>
              <a:t> </a:t>
            </a:r>
            <a:r>
              <a:rPr lang="en-US" sz="2800" dirty="0">
                <a:solidFill>
                  <a:srgbClr val="000000"/>
                </a:solidFill>
              </a:rPr>
              <a:t>files</a:t>
            </a:r>
            <a:r>
              <a:rPr lang="en-US" sz="2800" dirty="0">
                <a:solidFill>
                  <a:srgbClr val="000000"/>
                </a:solidFill>
                <a:cs typeface="Arial" pitchFamily="34" charset="0"/>
              </a:rPr>
              <a:t>:</a:t>
            </a:r>
            <a:r>
              <a:rPr lang="en-US" sz="2800" dirty="0">
                <a:solidFill>
                  <a:srgbClr val="212529"/>
                </a:solidFill>
                <a:cs typeface="Arial" pitchFamily="34" charset="0"/>
              </a:rPr>
              <a:t> </a:t>
            </a:r>
            <a:endParaRPr lang="en-US" sz="2800" dirty="0">
              <a:solidFill>
                <a:srgbClr val="204A87"/>
              </a:solidFill>
              <a:cs typeface="Arial" pitchFamily="34" charset="0"/>
            </a:endParaRPr>
          </a:p>
          <a:p>
            <a:pPr lvl="0" algn="just" eaLnBrk="0" fontAlgn="base" hangingPunct="0">
              <a:spcBef>
                <a:spcPct val="30000"/>
              </a:spcBef>
              <a:spcAft>
                <a:spcPct val="0"/>
              </a:spcAft>
            </a:pPr>
            <a:r>
              <a:rPr lang="en-US" sz="2800" dirty="0">
                <a:solidFill>
                  <a:srgbClr val="000000"/>
                </a:solidFill>
                <a:cs typeface="Arial" pitchFamily="34" charset="0"/>
              </a:rPr>
              <a:t>		print(</a:t>
            </a:r>
            <a:r>
              <a:rPr lang="en-US" sz="2800" dirty="0" err="1">
                <a:solidFill>
                  <a:srgbClr val="000000"/>
                </a:solidFill>
              </a:rPr>
              <a:t>file_name</a:t>
            </a:r>
            <a:r>
              <a:rPr lang="en-US" sz="2800" dirty="0">
                <a:solidFill>
                  <a:srgbClr val="000000"/>
                </a:solidFill>
                <a:cs typeface="Arial" pitchFamily="34" charset="0"/>
              </a:rPr>
              <a:t>)</a:t>
            </a:r>
            <a:endParaRPr lang="en-US" sz="2800" dirty="0">
              <a:cs typeface="Arial" pitchFamily="34" charset="0"/>
            </a:endParaRPr>
          </a:p>
        </p:txBody>
      </p:sp>
    </p:spTree>
    <p:extLst>
      <p:ext uri="{BB962C8B-B14F-4D97-AF65-F5344CB8AC3E}">
        <p14:creationId xmlns:p14="http://schemas.microsoft.com/office/powerpoint/2010/main" xmlns="" val="9183488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Deleting file in python</a:t>
            </a:r>
            <a:endParaRPr lang="en-US" b="1" dirty="0"/>
          </a:p>
        </p:txBody>
      </p:sp>
      <p:sp>
        <p:nvSpPr>
          <p:cNvPr id="4" name="TextBox 3"/>
          <p:cNvSpPr txBox="1"/>
          <p:nvPr/>
        </p:nvSpPr>
        <p:spPr>
          <a:xfrm>
            <a:off x="228600" y="1066800"/>
            <a:ext cx="8763000" cy="3970318"/>
          </a:xfrm>
          <a:prstGeom prst="rect">
            <a:avLst/>
          </a:prstGeom>
          <a:noFill/>
        </p:spPr>
        <p:txBody>
          <a:bodyPr wrap="square" rtlCol="0">
            <a:spAutoFit/>
          </a:bodyPr>
          <a:lstStyle/>
          <a:p>
            <a:pPr lvl="0" algn="just" fontAlgn="base">
              <a:spcBef>
                <a:spcPct val="0"/>
              </a:spcBef>
              <a:spcAft>
                <a:spcPct val="0"/>
              </a:spcAft>
            </a:pPr>
            <a:r>
              <a:rPr lang="en-US" sz="2800" dirty="0">
                <a:solidFill>
                  <a:srgbClr val="222222"/>
                </a:solidFill>
                <a:cs typeface="Arial" pitchFamily="34" charset="0"/>
              </a:rPr>
              <a:t>Deleting Files in Python</a:t>
            </a:r>
          </a:p>
          <a:p>
            <a:pPr lvl="0" algn="just" eaLnBrk="0" fontAlgn="base" hangingPunct="0">
              <a:spcBef>
                <a:spcPct val="0"/>
              </a:spcBef>
              <a:spcAft>
                <a:spcPct val="0"/>
              </a:spcAft>
            </a:pPr>
            <a:r>
              <a:rPr lang="en-US" sz="2800" dirty="0">
                <a:solidFill>
                  <a:srgbClr val="222222"/>
                </a:solidFill>
                <a:cs typeface="Arial" pitchFamily="34" charset="0"/>
              </a:rPr>
              <a:t>To delete a single file, use </a:t>
            </a:r>
            <a:r>
              <a:rPr lang="en-US" sz="2800" dirty="0" err="1">
                <a:solidFill>
                  <a:srgbClr val="222222"/>
                </a:solidFill>
                <a:cs typeface="Arial" pitchFamily="34" charset="0"/>
              </a:rPr>
              <a:t>pathlib.Path.unlink</a:t>
            </a:r>
            <a:r>
              <a:rPr lang="en-US" sz="2800" dirty="0">
                <a:solidFill>
                  <a:srgbClr val="222222"/>
                </a:solidFill>
                <a:cs typeface="Arial" pitchFamily="34" charset="0"/>
              </a:rPr>
              <a:t>(), </a:t>
            </a:r>
            <a:r>
              <a:rPr lang="en-US" sz="2800" dirty="0" err="1">
                <a:solidFill>
                  <a:srgbClr val="222222"/>
                </a:solidFill>
                <a:cs typeface="Arial" pitchFamily="34" charset="0"/>
              </a:rPr>
              <a:t>os.remove</a:t>
            </a:r>
            <a:r>
              <a:rPr lang="en-US" sz="2800" dirty="0">
                <a:solidFill>
                  <a:srgbClr val="222222"/>
                </a:solidFill>
                <a:cs typeface="Arial" pitchFamily="34" charset="0"/>
              </a:rPr>
              <a:t>(). or </a:t>
            </a:r>
            <a:r>
              <a:rPr lang="en-US" sz="2800" dirty="0" err="1">
                <a:solidFill>
                  <a:srgbClr val="222222"/>
                </a:solidFill>
                <a:cs typeface="Arial" pitchFamily="34" charset="0"/>
              </a:rPr>
              <a:t>os.unlink</a:t>
            </a:r>
            <a:r>
              <a:rPr lang="en-US" sz="2800" dirty="0">
                <a:solidFill>
                  <a:srgbClr val="222222"/>
                </a:solidFill>
                <a:cs typeface="Arial" pitchFamily="34" charset="0"/>
              </a:rPr>
              <a:t>().</a:t>
            </a:r>
            <a:endParaRPr lang="en-US" sz="2800" dirty="0">
              <a:cs typeface="Arial" pitchFamily="34" charset="0"/>
            </a:endParaRPr>
          </a:p>
          <a:p>
            <a:pPr lvl="0" algn="just" eaLnBrk="0" fontAlgn="base" hangingPunct="0">
              <a:spcBef>
                <a:spcPct val="0"/>
              </a:spcBef>
              <a:spcAft>
                <a:spcPct val="0"/>
              </a:spcAft>
            </a:pPr>
            <a:r>
              <a:rPr lang="en-US" sz="2800" dirty="0" err="1">
                <a:solidFill>
                  <a:srgbClr val="222222"/>
                </a:solidFill>
                <a:cs typeface="Arial" pitchFamily="34" charset="0"/>
              </a:rPr>
              <a:t>os.remove</a:t>
            </a:r>
            <a:r>
              <a:rPr lang="en-US" sz="2800" dirty="0">
                <a:solidFill>
                  <a:srgbClr val="222222"/>
                </a:solidFill>
                <a:cs typeface="Arial" pitchFamily="34" charset="0"/>
              </a:rPr>
              <a:t>() and </a:t>
            </a:r>
            <a:r>
              <a:rPr lang="en-US" sz="2800" dirty="0" err="1">
                <a:solidFill>
                  <a:srgbClr val="222222"/>
                </a:solidFill>
                <a:cs typeface="Arial" pitchFamily="34" charset="0"/>
              </a:rPr>
              <a:t>os.unlink</a:t>
            </a:r>
            <a:r>
              <a:rPr lang="en-US" sz="2800" dirty="0">
                <a:solidFill>
                  <a:srgbClr val="222222"/>
                </a:solidFill>
                <a:cs typeface="Arial" pitchFamily="34" charset="0"/>
              </a:rPr>
              <a:t>() are semantically identical. To delete a file using </a:t>
            </a:r>
            <a:r>
              <a:rPr lang="en-US" sz="2800" dirty="0" err="1">
                <a:solidFill>
                  <a:srgbClr val="222222"/>
                </a:solidFill>
                <a:cs typeface="Arial" pitchFamily="34" charset="0"/>
              </a:rPr>
              <a:t>os.remove</a:t>
            </a:r>
            <a:r>
              <a:rPr lang="en-US" sz="2800" dirty="0">
                <a:solidFill>
                  <a:srgbClr val="222222"/>
                </a:solidFill>
                <a:cs typeface="Arial" pitchFamily="34" charset="0"/>
              </a:rPr>
              <a:t>(), do the following:</a:t>
            </a:r>
          </a:p>
          <a:p>
            <a:pPr lvl="0" algn="just" eaLnBrk="0" fontAlgn="base" hangingPunct="0">
              <a:spcBef>
                <a:spcPct val="0"/>
              </a:spcBef>
              <a:spcAft>
                <a:spcPct val="0"/>
              </a:spcAft>
            </a:pPr>
            <a:endParaRPr lang="en-IN" sz="2800" dirty="0">
              <a:solidFill>
                <a:srgbClr val="222222"/>
              </a:solidFill>
              <a:cs typeface="Arial" pitchFamily="34" charset="0"/>
            </a:endParaRPr>
          </a:p>
          <a:p>
            <a:pPr lvl="0" algn="just" eaLnBrk="0" fontAlgn="base" hangingPunct="0">
              <a:spcBef>
                <a:spcPct val="0"/>
              </a:spcBef>
              <a:spcAft>
                <a:spcPct val="0"/>
              </a:spcAft>
            </a:pPr>
            <a:r>
              <a:rPr lang="en-US" sz="2800" b="1" dirty="0"/>
              <a:t>import </a:t>
            </a:r>
            <a:r>
              <a:rPr lang="en-US" sz="2800" b="1" dirty="0" err="1"/>
              <a:t>os</a:t>
            </a:r>
            <a:r>
              <a:rPr lang="en-US" sz="2800" b="1" dirty="0"/>
              <a:t> </a:t>
            </a:r>
          </a:p>
          <a:p>
            <a:pPr lvl="0" algn="just" eaLnBrk="0" fontAlgn="base" hangingPunct="0">
              <a:spcBef>
                <a:spcPct val="0"/>
              </a:spcBef>
              <a:spcAft>
                <a:spcPct val="0"/>
              </a:spcAft>
            </a:pPr>
            <a:r>
              <a:rPr lang="en-US" sz="2800" b="1" dirty="0" err="1"/>
              <a:t>data_file</a:t>
            </a:r>
            <a:r>
              <a:rPr lang="en-US" sz="2800" b="1" dirty="0"/>
              <a:t> = 'C:\\Users\\</a:t>
            </a:r>
            <a:r>
              <a:rPr lang="en-US" sz="2800" b="1" dirty="0" err="1"/>
              <a:t>vuyisile</a:t>
            </a:r>
            <a:r>
              <a:rPr lang="en-US" sz="2800" b="1" dirty="0"/>
              <a:t>\\Desktop\\Test\\</a:t>
            </a:r>
            <a:r>
              <a:rPr lang="en-US" sz="2800" b="1" dirty="0" err="1"/>
              <a:t>data.txt</a:t>
            </a:r>
            <a:r>
              <a:rPr lang="en-US" sz="2800" b="1" dirty="0"/>
              <a:t>' </a:t>
            </a:r>
            <a:r>
              <a:rPr lang="en-US" sz="2800" b="1" dirty="0" err="1"/>
              <a:t>os.remove</a:t>
            </a:r>
            <a:r>
              <a:rPr lang="en-US" sz="2800" b="1" dirty="0"/>
              <a:t>(</a:t>
            </a:r>
            <a:r>
              <a:rPr lang="en-US" sz="2800" b="1" dirty="0" err="1"/>
              <a:t>data_file</a:t>
            </a:r>
            <a:r>
              <a:rPr lang="en-US" sz="2800" b="1" dirty="0"/>
              <a:t>)</a:t>
            </a:r>
            <a:endParaRPr lang="en-US" sz="2800" b="1" dirty="0">
              <a:cs typeface="Arial" pitchFamily="34" charset="0"/>
            </a:endParaRPr>
          </a:p>
        </p:txBody>
      </p:sp>
    </p:spTree>
    <p:extLst>
      <p:ext uri="{BB962C8B-B14F-4D97-AF65-F5344CB8AC3E}">
        <p14:creationId xmlns:p14="http://schemas.microsoft.com/office/powerpoint/2010/main" xmlns="" val="410474813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b="1" dirty="0"/>
          </a:p>
        </p:txBody>
      </p:sp>
      <p:sp>
        <p:nvSpPr>
          <p:cNvPr id="4" name="TextBox 3"/>
          <p:cNvSpPr txBox="1"/>
          <p:nvPr/>
        </p:nvSpPr>
        <p:spPr>
          <a:xfrm>
            <a:off x="228600" y="1066800"/>
            <a:ext cx="8763000" cy="5262979"/>
          </a:xfrm>
          <a:prstGeom prst="rect">
            <a:avLst/>
          </a:prstGeom>
          <a:noFill/>
        </p:spPr>
        <p:txBody>
          <a:bodyPr wrap="square" rtlCol="0">
            <a:spAutoFit/>
          </a:bodyPr>
          <a:lstStyle/>
          <a:p>
            <a:pPr lvl="0" fontAlgn="base">
              <a:spcBef>
                <a:spcPct val="0"/>
              </a:spcBef>
              <a:spcAft>
                <a:spcPct val="0"/>
              </a:spcAft>
            </a:pPr>
            <a:r>
              <a:rPr lang="en-IN" sz="2400" b="1" dirty="0">
                <a:solidFill>
                  <a:srgbClr val="008200"/>
                </a:solidFill>
                <a:cs typeface="Arial" pitchFamily="34" charset="0"/>
              </a:rPr>
              <a:t>Example:</a:t>
            </a:r>
            <a:endParaRPr lang="en-US" sz="2400" b="1" dirty="0">
              <a:solidFill>
                <a:srgbClr val="008200"/>
              </a:solidFill>
              <a:cs typeface="Arial" pitchFamily="34" charset="0"/>
            </a:endParaRPr>
          </a:p>
          <a:p>
            <a:pPr lvl="0" fontAlgn="base">
              <a:spcBef>
                <a:spcPct val="0"/>
              </a:spcBef>
              <a:spcAft>
                <a:spcPct val="0"/>
              </a:spcAft>
            </a:pPr>
            <a:r>
              <a:rPr lang="en-US" sz="2400" dirty="0">
                <a:solidFill>
                  <a:srgbClr val="008200"/>
                </a:solidFill>
                <a:cs typeface="Arial" pitchFamily="34" charset="0"/>
              </a:rPr>
              <a:t># Open function to open the file "</a:t>
            </a:r>
            <a:r>
              <a:rPr lang="en-US" sz="2400" dirty="0" err="1">
                <a:solidFill>
                  <a:srgbClr val="008200"/>
                </a:solidFill>
                <a:cs typeface="Arial" pitchFamily="34" charset="0"/>
              </a:rPr>
              <a:t>MyFile1.txt</a:t>
            </a:r>
            <a:r>
              <a:rPr lang="en-US" sz="2400" dirty="0">
                <a:solidFill>
                  <a:srgbClr val="008200"/>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008200"/>
                </a:solidFill>
                <a:cs typeface="Arial" pitchFamily="34" charset="0"/>
              </a:rPr>
              <a:t># (same directory) in append mode and</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a:t>
            </a:r>
            <a:r>
              <a:rPr lang="en-US" sz="2400" dirty="0">
                <a:solidFill>
                  <a:srgbClr val="000000"/>
                </a:solidFill>
                <a:cs typeface="Arial" pitchFamily="34" charset="0"/>
              </a:rPr>
              <a:t> </a:t>
            </a:r>
            <a:r>
              <a:rPr lang="en-US" sz="2400" b="1" dirty="0">
                <a:solidFill>
                  <a:srgbClr val="006699"/>
                </a:solidFill>
                <a:cs typeface="Arial" pitchFamily="34" charset="0"/>
              </a:rPr>
              <a:t>=</a:t>
            </a:r>
            <a:r>
              <a:rPr lang="en-US" sz="2400" dirty="0">
                <a:solidFill>
                  <a:srgbClr val="273239"/>
                </a:solidFill>
                <a:cs typeface="Arial" pitchFamily="34" charset="0"/>
              </a:rPr>
              <a:t> </a:t>
            </a:r>
            <a:r>
              <a:rPr lang="en-US" sz="2400" dirty="0">
                <a:solidFill>
                  <a:srgbClr val="FF1493"/>
                </a:solidFill>
                <a:cs typeface="Arial" pitchFamily="34" charset="0"/>
              </a:rPr>
              <a:t>open</a:t>
            </a:r>
            <a:r>
              <a:rPr lang="en-US" sz="2400" dirty="0">
                <a:solidFill>
                  <a:srgbClr val="000000"/>
                </a:solidFill>
                <a:cs typeface="Arial" pitchFamily="34" charset="0"/>
              </a:rPr>
              <a:t>(</a:t>
            </a:r>
            <a:r>
              <a:rPr lang="en-US" sz="2400" dirty="0">
                <a:solidFill>
                  <a:srgbClr val="0000FF"/>
                </a:solidFill>
                <a:cs typeface="Arial" pitchFamily="34" charset="0"/>
              </a:rPr>
              <a:t>"</a:t>
            </a:r>
            <a:r>
              <a:rPr lang="en-US" sz="2400" dirty="0" err="1">
                <a:solidFill>
                  <a:srgbClr val="0000FF"/>
                </a:solidFill>
                <a:cs typeface="Arial" pitchFamily="34" charset="0"/>
              </a:rPr>
              <a:t>MyFile1.txt"</a:t>
            </a:r>
            <a:r>
              <a:rPr lang="en-US" sz="2400" dirty="0" err="1">
                <a:solidFill>
                  <a:srgbClr val="000000"/>
                </a:solidFill>
                <a:cs typeface="Arial" pitchFamily="34" charset="0"/>
              </a:rPr>
              <a:t>,</a:t>
            </a:r>
            <a:r>
              <a:rPr lang="en-US" sz="2400" dirty="0" err="1">
                <a:solidFill>
                  <a:srgbClr val="0000FF"/>
                </a:solidFill>
                <a:cs typeface="Arial" pitchFamily="34" charset="0"/>
              </a:rPr>
              <a:t>"a</a:t>
            </a:r>
            <a:r>
              <a:rPr lang="en-US" sz="2400" dirty="0">
                <a:solidFill>
                  <a:srgbClr val="0000FF"/>
                </a:solidFill>
                <a:cs typeface="Arial" pitchFamily="34" charset="0"/>
              </a:rPr>
              <a:t>"</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a:solidFill>
                  <a:srgbClr val="273239"/>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008200"/>
                </a:solidFill>
                <a:cs typeface="Arial" pitchFamily="34" charset="0"/>
              </a:rPr>
              <a:t># store its reference in the variable </a:t>
            </a:r>
            <a:r>
              <a:rPr lang="en-US" sz="2400" dirty="0" err="1">
                <a:solidFill>
                  <a:srgbClr val="008200"/>
                </a:solidFill>
                <a:cs typeface="Arial" pitchFamily="34" charset="0"/>
              </a:rPr>
              <a:t>file1</a:t>
            </a:r>
            <a:r>
              <a:rPr lang="en-US" sz="2400" dirty="0">
                <a:solidFill>
                  <a:srgbClr val="008200"/>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008200"/>
                </a:solidFill>
                <a:cs typeface="Arial" pitchFamily="34" charset="0"/>
              </a:rPr>
              <a:t># and "</a:t>
            </a:r>
            <a:r>
              <a:rPr lang="en-US" sz="2400" dirty="0" err="1">
                <a:solidFill>
                  <a:srgbClr val="008200"/>
                </a:solidFill>
                <a:cs typeface="Arial" pitchFamily="34" charset="0"/>
              </a:rPr>
              <a:t>MyFile2.txt</a:t>
            </a:r>
            <a:r>
              <a:rPr lang="en-US" sz="2400" dirty="0">
                <a:solidFill>
                  <a:srgbClr val="008200"/>
                </a:solidFill>
                <a:cs typeface="Arial" pitchFamily="34" charset="0"/>
              </a:rPr>
              <a:t>" in D:\Text in </a:t>
            </a:r>
            <a:r>
              <a:rPr lang="en-US" sz="2400" dirty="0" err="1">
                <a:solidFill>
                  <a:srgbClr val="008200"/>
                </a:solidFill>
                <a:cs typeface="Arial" pitchFamily="34" charset="0"/>
              </a:rPr>
              <a:t>file2</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file2</a:t>
            </a:r>
            <a:r>
              <a:rPr lang="en-US" sz="2400" dirty="0">
                <a:solidFill>
                  <a:srgbClr val="000000"/>
                </a:solidFill>
                <a:cs typeface="Arial" pitchFamily="34" charset="0"/>
              </a:rPr>
              <a:t> </a:t>
            </a:r>
            <a:r>
              <a:rPr lang="en-US" sz="2400" b="1" dirty="0">
                <a:solidFill>
                  <a:srgbClr val="006699"/>
                </a:solidFill>
                <a:cs typeface="Arial" pitchFamily="34" charset="0"/>
              </a:rPr>
              <a:t>=</a:t>
            </a:r>
            <a:r>
              <a:rPr lang="en-US" sz="2400" dirty="0">
                <a:solidFill>
                  <a:srgbClr val="273239"/>
                </a:solidFill>
                <a:cs typeface="Arial" pitchFamily="34" charset="0"/>
              </a:rPr>
              <a:t> </a:t>
            </a:r>
            <a:r>
              <a:rPr lang="en-US" sz="2400" dirty="0">
                <a:solidFill>
                  <a:srgbClr val="FF1493"/>
                </a:solidFill>
                <a:cs typeface="Arial" pitchFamily="34" charset="0"/>
              </a:rPr>
              <a:t>open</a:t>
            </a:r>
            <a:r>
              <a:rPr lang="en-US" sz="2400" dirty="0">
                <a:solidFill>
                  <a:srgbClr val="000000"/>
                </a:solidFill>
                <a:cs typeface="Arial" pitchFamily="34" charset="0"/>
              </a:rPr>
              <a:t>(</a:t>
            </a:r>
            <a:r>
              <a:rPr lang="en-US" sz="2400" dirty="0" err="1">
                <a:solidFill>
                  <a:srgbClr val="000000"/>
                </a:solidFill>
                <a:cs typeface="Arial" pitchFamily="34" charset="0"/>
              </a:rPr>
              <a:t>r</a:t>
            </a:r>
            <a:r>
              <a:rPr lang="en-US" sz="2400" dirty="0" err="1">
                <a:solidFill>
                  <a:srgbClr val="0000FF"/>
                </a:solidFill>
                <a:cs typeface="Arial" pitchFamily="34" charset="0"/>
              </a:rPr>
              <a:t>"D</a:t>
            </a:r>
            <a:r>
              <a:rPr lang="en-US" sz="2400" dirty="0">
                <a:solidFill>
                  <a:srgbClr val="0000FF"/>
                </a:solidFill>
                <a:cs typeface="Arial" pitchFamily="34" charset="0"/>
              </a:rPr>
              <a:t>:\Text\</a:t>
            </a:r>
            <a:r>
              <a:rPr lang="en-US" sz="2400" dirty="0" err="1">
                <a:solidFill>
                  <a:srgbClr val="0000FF"/>
                </a:solidFill>
                <a:cs typeface="Arial" pitchFamily="34" charset="0"/>
              </a:rPr>
              <a:t>MyFile2.txt"</a:t>
            </a:r>
            <a:r>
              <a:rPr lang="en-US" sz="2400" dirty="0" err="1">
                <a:solidFill>
                  <a:srgbClr val="000000"/>
                </a:solidFill>
                <a:cs typeface="Arial" pitchFamily="34" charset="0"/>
              </a:rPr>
              <a:t>,</a:t>
            </a:r>
            <a:r>
              <a:rPr lang="en-US" sz="2400" dirty="0" err="1">
                <a:solidFill>
                  <a:srgbClr val="0000FF"/>
                </a:solidFill>
                <a:cs typeface="Arial" pitchFamily="34" charset="0"/>
              </a:rPr>
              <a:t>"w</a:t>
            </a:r>
            <a:r>
              <a:rPr lang="en-US" sz="2400" dirty="0">
                <a:solidFill>
                  <a:srgbClr val="0000FF"/>
                </a:solidFill>
                <a:cs typeface="Arial" pitchFamily="34" charset="0"/>
              </a:rPr>
              <a:t>+"</a:t>
            </a:r>
            <a:r>
              <a:rPr lang="en-US" sz="2400" dirty="0">
                <a:solidFill>
                  <a:srgbClr val="000000"/>
                </a:solidFill>
                <a:cs typeface="Arial" pitchFamily="34" charset="0"/>
              </a:rPr>
              <a:t>)</a:t>
            </a:r>
          </a:p>
          <a:p>
            <a:pPr lvl="0" eaLnBrk="0" fontAlgn="base" hangingPunct="0">
              <a:spcBef>
                <a:spcPct val="0"/>
              </a:spcBef>
              <a:spcAft>
                <a:spcPct val="0"/>
              </a:spcAft>
            </a:pPr>
            <a:endParaRPr lang="en-US" sz="2400" dirty="0">
              <a:solidFill>
                <a:srgbClr val="000000"/>
              </a:solidFill>
              <a:cs typeface="Arial" pitchFamily="34" charset="0"/>
            </a:endParaRPr>
          </a:p>
          <a:p>
            <a:pPr lvl="0" eaLnBrk="0" fontAlgn="base" hangingPunct="0">
              <a:spcBef>
                <a:spcPct val="0"/>
              </a:spcBef>
              <a:spcAft>
                <a:spcPct val="0"/>
              </a:spcAft>
            </a:pPr>
            <a:r>
              <a:rPr lang="en-IN" sz="2400" b="1" dirty="0">
                <a:solidFill>
                  <a:srgbClr val="000000"/>
                </a:solidFill>
                <a:cs typeface="Arial" pitchFamily="34" charset="0"/>
              </a:rPr>
              <a:t>Example :</a:t>
            </a:r>
          </a:p>
          <a:p>
            <a:pPr fontAlgn="base"/>
            <a:r>
              <a:rPr lang="en-US" sz="2400" dirty="0"/>
              <a:t># Opening and Closing a file "</a:t>
            </a:r>
            <a:r>
              <a:rPr lang="en-US" sz="2400" dirty="0" err="1"/>
              <a:t>MyFile.txt</a:t>
            </a:r>
            <a:r>
              <a:rPr lang="en-US" sz="2400" dirty="0"/>
              <a:t>"</a:t>
            </a:r>
          </a:p>
          <a:p>
            <a:pPr fontAlgn="base"/>
            <a:r>
              <a:rPr lang="en-US" sz="2400" dirty="0"/>
              <a:t># for object name </a:t>
            </a:r>
            <a:r>
              <a:rPr lang="en-US" sz="2400" dirty="0" err="1"/>
              <a:t>file1</a:t>
            </a:r>
            <a:r>
              <a:rPr lang="en-US" sz="2400" dirty="0"/>
              <a:t>.</a:t>
            </a:r>
          </a:p>
          <a:p>
            <a:pPr fontAlgn="base"/>
            <a:r>
              <a:rPr lang="en-US" sz="2400" dirty="0" err="1"/>
              <a:t>file1</a:t>
            </a:r>
            <a:r>
              <a:rPr lang="en-US" sz="2400" dirty="0"/>
              <a:t> = open("</a:t>
            </a:r>
            <a:r>
              <a:rPr lang="en-US" sz="2400" dirty="0" err="1"/>
              <a:t>MyFile.txt","a</a:t>
            </a:r>
            <a:r>
              <a:rPr lang="en-US" sz="2400" dirty="0"/>
              <a:t>")</a:t>
            </a:r>
          </a:p>
          <a:p>
            <a:pPr fontAlgn="base"/>
            <a:r>
              <a:rPr lang="en-US" sz="2400" dirty="0" err="1"/>
              <a:t>file1.close</a:t>
            </a:r>
            <a:r>
              <a:rPr lang="en-US" sz="2400" dirty="0" smtClean="0"/>
              <a:t>()</a:t>
            </a:r>
            <a:endParaRPr lang="en-US" sz="2400" dirty="0"/>
          </a:p>
        </p:txBody>
      </p:sp>
    </p:spTree>
    <p:extLst>
      <p:ext uri="{BB962C8B-B14F-4D97-AF65-F5344CB8AC3E}">
        <p14:creationId xmlns:p14="http://schemas.microsoft.com/office/powerpoint/2010/main" xmlns="" val="322582160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b="1" dirty="0"/>
          </a:p>
        </p:txBody>
      </p:sp>
      <p:sp>
        <p:nvSpPr>
          <p:cNvPr id="4" name="TextBox 3"/>
          <p:cNvSpPr txBox="1"/>
          <p:nvPr/>
        </p:nvSpPr>
        <p:spPr>
          <a:xfrm>
            <a:off x="228600" y="1066800"/>
            <a:ext cx="8763000" cy="5632311"/>
          </a:xfrm>
          <a:prstGeom prst="rect">
            <a:avLst/>
          </a:prstGeom>
          <a:noFill/>
        </p:spPr>
        <p:txBody>
          <a:bodyPr wrap="square" rtlCol="0">
            <a:spAutoFit/>
          </a:bodyPr>
          <a:lstStyle/>
          <a:p>
            <a:pPr lvl="0" fontAlgn="base">
              <a:spcBef>
                <a:spcPct val="0"/>
              </a:spcBef>
              <a:spcAft>
                <a:spcPct val="0"/>
              </a:spcAft>
            </a:pPr>
            <a:r>
              <a:rPr lang="en-US" sz="2400" dirty="0">
                <a:solidFill>
                  <a:srgbClr val="008200"/>
                </a:solidFill>
                <a:cs typeface="Arial" pitchFamily="34" charset="0"/>
              </a:rPr>
              <a:t># Program to show various ways to read and</a:t>
            </a:r>
            <a:endParaRPr lang="en-US" sz="2400" dirty="0">
              <a:cs typeface="Arial" pitchFamily="34" charset="0"/>
            </a:endParaRPr>
          </a:p>
          <a:p>
            <a:pPr lvl="0" eaLnBrk="0" fontAlgn="base" hangingPunct="0">
              <a:spcBef>
                <a:spcPct val="0"/>
              </a:spcBef>
              <a:spcAft>
                <a:spcPct val="0"/>
              </a:spcAft>
            </a:pPr>
            <a:r>
              <a:rPr lang="en-US" sz="2400" dirty="0">
                <a:solidFill>
                  <a:srgbClr val="008200"/>
                </a:solidFill>
                <a:cs typeface="Arial" pitchFamily="34" charset="0"/>
              </a:rPr>
              <a:t># write data in a file.</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a:t>
            </a:r>
            <a:r>
              <a:rPr lang="en-US" sz="2400" dirty="0">
                <a:solidFill>
                  <a:srgbClr val="000000"/>
                </a:solidFill>
                <a:cs typeface="Arial" pitchFamily="34" charset="0"/>
              </a:rPr>
              <a:t> </a:t>
            </a:r>
            <a:r>
              <a:rPr lang="en-US" sz="2400" b="1" dirty="0">
                <a:solidFill>
                  <a:srgbClr val="006699"/>
                </a:solidFill>
                <a:cs typeface="Arial" pitchFamily="34" charset="0"/>
              </a:rPr>
              <a:t>=</a:t>
            </a:r>
            <a:r>
              <a:rPr lang="en-US" sz="2400" dirty="0">
                <a:solidFill>
                  <a:srgbClr val="273239"/>
                </a:solidFill>
                <a:cs typeface="Arial" pitchFamily="34" charset="0"/>
              </a:rPr>
              <a:t> </a:t>
            </a:r>
            <a:r>
              <a:rPr lang="en-US" sz="2400" dirty="0">
                <a:solidFill>
                  <a:srgbClr val="FF1493"/>
                </a:solidFill>
                <a:cs typeface="Arial" pitchFamily="34" charset="0"/>
              </a:rPr>
              <a:t>open</a:t>
            </a:r>
            <a:r>
              <a:rPr lang="en-US" sz="2400" dirty="0">
                <a:solidFill>
                  <a:srgbClr val="000000"/>
                </a:solidFill>
                <a:cs typeface="Arial" pitchFamily="34" charset="0"/>
              </a:rPr>
              <a:t>(</a:t>
            </a:r>
            <a:r>
              <a:rPr lang="en-US" sz="2400" dirty="0">
                <a:solidFill>
                  <a:srgbClr val="0000FF"/>
                </a:solidFill>
                <a:cs typeface="Arial" pitchFamily="34" charset="0"/>
              </a:rPr>
              <a:t>"</a:t>
            </a:r>
            <a:r>
              <a:rPr lang="en-US" sz="2400" dirty="0" err="1">
                <a:solidFill>
                  <a:srgbClr val="0000FF"/>
                </a:solidFill>
                <a:cs typeface="Arial" pitchFamily="34" charset="0"/>
              </a:rPr>
              <a:t>myfile.txt"</a:t>
            </a:r>
            <a:r>
              <a:rPr lang="en-US" sz="2400" dirty="0" err="1">
                <a:solidFill>
                  <a:srgbClr val="000000"/>
                </a:solidFill>
                <a:cs typeface="Arial" pitchFamily="34" charset="0"/>
              </a:rPr>
              <a:t>,</a:t>
            </a:r>
            <a:r>
              <a:rPr lang="en-US" sz="2400" dirty="0" err="1">
                <a:solidFill>
                  <a:srgbClr val="0000FF"/>
                </a:solidFill>
                <a:cs typeface="Arial" pitchFamily="34" charset="0"/>
              </a:rPr>
              <a:t>"w</a:t>
            </a:r>
            <a:r>
              <a:rPr lang="en-US" sz="2400" dirty="0">
                <a:solidFill>
                  <a:srgbClr val="0000FF"/>
                </a:solidFill>
                <a:cs typeface="Arial" pitchFamily="34" charset="0"/>
              </a:rPr>
              <a:t>"</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a:solidFill>
                  <a:srgbClr val="000000"/>
                </a:solidFill>
                <a:cs typeface="Arial" pitchFamily="34" charset="0"/>
              </a:rPr>
              <a:t>L </a:t>
            </a:r>
            <a:r>
              <a:rPr lang="en-US" sz="2400" b="1" dirty="0">
                <a:solidFill>
                  <a:srgbClr val="006699"/>
                </a:solidFill>
                <a:cs typeface="Arial" pitchFamily="34" charset="0"/>
              </a:rPr>
              <a:t>=</a:t>
            </a:r>
            <a:r>
              <a:rPr lang="en-US" sz="2400" dirty="0">
                <a:solidFill>
                  <a:srgbClr val="273239"/>
                </a:solidFill>
                <a:cs typeface="Arial" pitchFamily="34" charset="0"/>
              </a:rPr>
              <a:t> </a:t>
            </a:r>
            <a:r>
              <a:rPr lang="en-US" sz="2400" dirty="0">
                <a:solidFill>
                  <a:srgbClr val="000000"/>
                </a:solidFill>
                <a:cs typeface="Arial" pitchFamily="34" charset="0"/>
              </a:rPr>
              <a:t>[</a:t>
            </a:r>
            <a:r>
              <a:rPr lang="en-US" sz="2400" dirty="0">
                <a:solidFill>
                  <a:srgbClr val="0000FF"/>
                </a:solidFill>
                <a:cs typeface="Arial" pitchFamily="34" charset="0"/>
              </a:rPr>
              <a:t>"This is Delhi \</a:t>
            </a:r>
            <a:r>
              <a:rPr lang="en-US" sz="2400" dirty="0" err="1">
                <a:solidFill>
                  <a:srgbClr val="0000FF"/>
                </a:solidFill>
                <a:cs typeface="Arial" pitchFamily="34" charset="0"/>
              </a:rPr>
              <a:t>n"</a:t>
            </a:r>
            <a:r>
              <a:rPr lang="en-US" sz="2400" dirty="0" err="1">
                <a:solidFill>
                  <a:srgbClr val="000000"/>
                </a:solidFill>
                <a:cs typeface="Arial" pitchFamily="34" charset="0"/>
              </a:rPr>
              <a:t>,</a:t>
            </a:r>
            <a:r>
              <a:rPr lang="en-US" sz="2400" dirty="0" err="1">
                <a:solidFill>
                  <a:srgbClr val="0000FF"/>
                </a:solidFill>
                <a:cs typeface="Arial" pitchFamily="34" charset="0"/>
              </a:rPr>
              <a:t>"This</a:t>
            </a:r>
            <a:r>
              <a:rPr lang="en-US" sz="2400" dirty="0">
                <a:solidFill>
                  <a:srgbClr val="0000FF"/>
                </a:solidFill>
                <a:cs typeface="Arial" pitchFamily="34" charset="0"/>
              </a:rPr>
              <a:t> is Paris \</a:t>
            </a:r>
            <a:r>
              <a:rPr lang="en-US" sz="2400" dirty="0" err="1">
                <a:solidFill>
                  <a:srgbClr val="0000FF"/>
                </a:solidFill>
                <a:cs typeface="Arial" pitchFamily="34" charset="0"/>
              </a:rPr>
              <a:t>n"</a:t>
            </a:r>
            <a:r>
              <a:rPr lang="en-US" sz="2400" dirty="0" err="1">
                <a:solidFill>
                  <a:srgbClr val="000000"/>
                </a:solidFill>
                <a:cs typeface="Arial" pitchFamily="34" charset="0"/>
              </a:rPr>
              <a:t>,</a:t>
            </a:r>
            <a:r>
              <a:rPr lang="en-US" sz="2400" dirty="0" err="1">
                <a:solidFill>
                  <a:srgbClr val="0000FF"/>
                </a:solidFill>
                <a:cs typeface="Arial" pitchFamily="34" charset="0"/>
              </a:rPr>
              <a:t>"This</a:t>
            </a:r>
            <a:r>
              <a:rPr lang="en-US" sz="2400" dirty="0">
                <a:solidFill>
                  <a:srgbClr val="0000FF"/>
                </a:solidFill>
                <a:cs typeface="Arial" pitchFamily="34" charset="0"/>
              </a:rPr>
              <a:t> is London \n"</a:t>
            </a:r>
            <a:r>
              <a:rPr lang="en-US" sz="2400" dirty="0">
                <a:solidFill>
                  <a:srgbClr val="000000"/>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273239"/>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008200"/>
                </a:solidFill>
                <a:cs typeface="Arial" pitchFamily="34" charset="0"/>
              </a:rPr>
              <a:t># \n is placed to indicate </a:t>
            </a:r>
            <a:r>
              <a:rPr lang="en-US" sz="2400" dirty="0" err="1">
                <a:solidFill>
                  <a:srgbClr val="008200"/>
                </a:solidFill>
                <a:cs typeface="Arial" pitchFamily="34" charset="0"/>
              </a:rPr>
              <a:t>EOL</a:t>
            </a:r>
            <a:r>
              <a:rPr lang="en-US" sz="2400" dirty="0">
                <a:solidFill>
                  <a:srgbClr val="008200"/>
                </a:solidFill>
                <a:cs typeface="Arial" pitchFamily="34" charset="0"/>
              </a:rPr>
              <a:t> (End of Line)</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file1.write</a:t>
            </a:r>
            <a:r>
              <a:rPr lang="en-US" sz="2400" dirty="0">
                <a:solidFill>
                  <a:srgbClr val="000000"/>
                </a:solidFill>
                <a:cs typeface="Arial" pitchFamily="34" charset="0"/>
              </a:rPr>
              <a:t>(</a:t>
            </a:r>
            <a:r>
              <a:rPr lang="en-US" sz="2400" dirty="0">
                <a:solidFill>
                  <a:srgbClr val="0000FF"/>
                </a:solidFill>
                <a:cs typeface="Arial" pitchFamily="34" charset="0"/>
              </a:rPr>
              <a:t>"Hello \n"</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file1.writelines</a:t>
            </a:r>
            <a:r>
              <a:rPr lang="en-US" sz="2400" dirty="0">
                <a:solidFill>
                  <a:srgbClr val="000000"/>
                </a:solidFill>
                <a:cs typeface="Arial" pitchFamily="34" charset="0"/>
              </a:rPr>
              <a:t>(L)</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file1.close</a:t>
            </a:r>
            <a:r>
              <a:rPr lang="en-US" sz="2400" dirty="0">
                <a:solidFill>
                  <a:srgbClr val="000000"/>
                </a:solidFill>
                <a:cs typeface="Arial" pitchFamily="34" charset="0"/>
              </a:rPr>
              <a:t>() </a:t>
            </a:r>
            <a:r>
              <a:rPr lang="en-US" sz="2400" dirty="0">
                <a:solidFill>
                  <a:srgbClr val="008200"/>
                </a:solidFill>
                <a:cs typeface="Arial" pitchFamily="34" charset="0"/>
              </a:rPr>
              <a:t>#to change file access modes</a:t>
            </a:r>
            <a:endParaRPr lang="en-US" sz="2400" dirty="0">
              <a:cs typeface="Arial" pitchFamily="34" charset="0"/>
            </a:endParaRPr>
          </a:p>
          <a:p>
            <a:pPr lvl="0" eaLnBrk="0" fontAlgn="base" hangingPunct="0">
              <a:spcBef>
                <a:spcPct val="0"/>
              </a:spcBef>
              <a:spcAft>
                <a:spcPct val="0"/>
              </a:spcAft>
            </a:pPr>
            <a:r>
              <a:rPr lang="en-US" sz="2400" dirty="0">
                <a:solidFill>
                  <a:srgbClr val="273239"/>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a:t>
            </a:r>
            <a:r>
              <a:rPr lang="en-US" sz="2400" dirty="0">
                <a:solidFill>
                  <a:srgbClr val="000000"/>
                </a:solidFill>
                <a:cs typeface="Arial" pitchFamily="34" charset="0"/>
              </a:rPr>
              <a:t> </a:t>
            </a:r>
            <a:r>
              <a:rPr lang="en-US" sz="2400" b="1" dirty="0">
                <a:solidFill>
                  <a:srgbClr val="006699"/>
                </a:solidFill>
                <a:cs typeface="Arial" pitchFamily="34" charset="0"/>
              </a:rPr>
              <a:t>=</a:t>
            </a:r>
            <a:r>
              <a:rPr lang="en-US" sz="2400" dirty="0">
                <a:solidFill>
                  <a:srgbClr val="273239"/>
                </a:solidFill>
                <a:cs typeface="Arial" pitchFamily="34" charset="0"/>
              </a:rPr>
              <a:t> </a:t>
            </a:r>
            <a:r>
              <a:rPr lang="en-US" sz="2400" dirty="0">
                <a:solidFill>
                  <a:srgbClr val="FF1493"/>
                </a:solidFill>
                <a:cs typeface="Arial" pitchFamily="34" charset="0"/>
              </a:rPr>
              <a:t>open</a:t>
            </a:r>
            <a:r>
              <a:rPr lang="en-US" sz="2400" dirty="0">
                <a:solidFill>
                  <a:srgbClr val="000000"/>
                </a:solidFill>
                <a:cs typeface="Arial" pitchFamily="34" charset="0"/>
              </a:rPr>
              <a:t>(</a:t>
            </a:r>
            <a:r>
              <a:rPr lang="en-US" sz="2400" dirty="0">
                <a:solidFill>
                  <a:srgbClr val="0000FF"/>
                </a:solidFill>
                <a:cs typeface="Arial" pitchFamily="34" charset="0"/>
              </a:rPr>
              <a:t>"</a:t>
            </a:r>
            <a:r>
              <a:rPr lang="en-US" sz="2400" dirty="0" err="1">
                <a:solidFill>
                  <a:srgbClr val="0000FF"/>
                </a:solidFill>
                <a:cs typeface="Arial" pitchFamily="34" charset="0"/>
              </a:rPr>
              <a:t>myfile.txt"</a:t>
            </a:r>
            <a:r>
              <a:rPr lang="en-US" sz="2400" dirty="0" err="1">
                <a:solidFill>
                  <a:srgbClr val="000000"/>
                </a:solidFill>
                <a:cs typeface="Arial" pitchFamily="34" charset="0"/>
              </a:rPr>
              <a:t>,</a:t>
            </a:r>
            <a:r>
              <a:rPr lang="en-US" sz="2400" dirty="0" err="1">
                <a:solidFill>
                  <a:srgbClr val="0000FF"/>
                </a:solidFill>
                <a:cs typeface="Arial" pitchFamily="34" charset="0"/>
              </a:rPr>
              <a:t>"r</a:t>
            </a:r>
            <a:r>
              <a:rPr lang="en-US" sz="2400" dirty="0">
                <a:solidFill>
                  <a:srgbClr val="0000FF"/>
                </a:solidFill>
                <a:cs typeface="Arial" pitchFamily="34" charset="0"/>
              </a:rPr>
              <a:t>+"</a:t>
            </a:r>
            <a:r>
              <a:rPr lang="en-US" sz="2400" dirty="0">
                <a:solidFill>
                  <a:srgbClr val="000000"/>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273239"/>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b="1" dirty="0">
                <a:solidFill>
                  <a:srgbClr val="006699"/>
                </a:solidFill>
                <a:cs typeface="Arial" pitchFamily="34" charset="0"/>
              </a:rPr>
              <a:t>print</a:t>
            </a:r>
            <a:r>
              <a:rPr lang="en-US" sz="2400" dirty="0">
                <a:solidFill>
                  <a:srgbClr val="000000"/>
                </a:solidFill>
                <a:cs typeface="Arial" pitchFamily="34" charset="0"/>
              </a:rPr>
              <a:t>(</a:t>
            </a:r>
            <a:r>
              <a:rPr lang="en-US" sz="2400" dirty="0">
                <a:solidFill>
                  <a:srgbClr val="0000FF"/>
                </a:solidFill>
                <a:cs typeface="Arial" pitchFamily="34" charset="0"/>
              </a:rPr>
              <a:t>"Output of Read function is "</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a:solidFill>
                  <a:srgbClr val="FF1493"/>
                </a:solidFill>
                <a:cs typeface="Arial" pitchFamily="34" charset="0"/>
              </a:rPr>
              <a:t>print</a:t>
            </a:r>
            <a:r>
              <a:rPr lang="en-US" sz="2400" dirty="0">
                <a:solidFill>
                  <a:srgbClr val="000000"/>
                </a:solidFill>
                <a:cs typeface="Arial" pitchFamily="34" charset="0"/>
              </a:rPr>
              <a:t>(</a:t>
            </a:r>
            <a:r>
              <a:rPr lang="en-US" sz="2400" dirty="0" err="1">
                <a:solidFill>
                  <a:srgbClr val="000000"/>
                </a:solidFill>
                <a:cs typeface="Arial" pitchFamily="34" charset="0"/>
              </a:rPr>
              <a:t>file1.read</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b="1" dirty="0">
                <a:solidFill>
                  <a:srgbClr val="006699"/>
                </a:solidFill>
                <a:cs typeface="Arial" pitchFamily="34" charset="0"/>
              </a:rPr>
              <a:t>print</a:t>
            </a:r>
            <a:r>
              <a:rPr lang="en-US" sz="2400" dirty="0" smtClean="0">
                <a:solidFill>
                  <a:srgbClr val="000000"/>
                </a:solidFill>
                <a:cs typeface="Arial" pitchFamily="34" charset="0"/>
              </a:rPr>
              <a:t>()</a:t>
            </a:r>
            <a:endParaRPr lang="en-US" sz="2400" dirty="0">
              <a:cs typeface="Arial" pitchFamily="34" charset="0"/>
            </a:endParaRPr>
          </a:p>
        </p:txBody>
      </p:sp>
    </p:spTree>
    <p:extLst>
      <p:ext uri="{BB962C8B-B14F-4D97-AF65-F5344CB8AC3E}">
        <p14:creationId xmlns:p14="http://schemas.microsoft.com/office/powerpoint/2010/main" xmlns="" val="98155038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b="1" dirty="0"/>
          </a:p>
        </p:txBody>
      </p:sp>
      <p:sp>
        <p:nvSpPr>
          <p:cNvPr id="4" name="TextBox 3"/>
          <p:cNvSpPr txBox="1"/>
          <p:nvPr/>
        </p:nvSpPr>
        <p:spPr>
          <a:xfrm>
            <a:off x="228600" y="1066800"/>
            <a:ext cx="8763000" cy="3416320"/>
          </a:xfrm>
          <a:prstGeom prst="rect">
            <a:avLst/>
          </a:prstGeom>
          <a:noFill/>
        </p:spPr>
        <p:txBody>
          <a:bodyPr wrap="square" rtlCol="0">
            <a:spAutoFit/>
          </a:bodyPr>
          <a:lstStyle/>
          <a:p>
            <a:pPr lvl="0" eaLnBrk="0" fontAlgn="base" hangingPunct="0">
              <a:spcBef>
                <a:spcPct val="0"/>
              </a:spcBef>
              <a:spcAft>
                <a:spcPct val="0"/>
              </a:spcAft>
            </a:pPr>
            <a:r>
              <a:rPr lang="en-US" sz="2400" dirty="0">
                <a:solidFill>
                  <a:srgbClr val="008200"/>
                </a:solidFill>
                <a:cs typeface="Arial" pitchFamily="34" charset="0"/>
              </a:rPr>
              <a:t># seek(n) takes the file handle to the nth</a:t>
            </a:r>
            <a:endParaRPr lang="en-US" sz="2400" dirty="0">
              <a:cs typeface="Arial" pitchFamily="34" charset="0"/>
            </a:endParaRPr>
          </a:p>
          <a:p>
            <a:pPr lvl="0" eaLnBrk="0" fontAlgn="base" hangingPunct="0">
              <a:spcBef>
                <a:spcPct val="0"/>
              </a:spcBef>
              <a:spcAft>
                <a:spcPct val="0"/>
              </a:spcAft>
            </a:pPr>
            <a:r>
              <a:rPr lang="en-US" sz="2400" dirty="0">
                <a:solidFill>
                  <a:srgbClr val="008200"/>
                </a:solidFill>
                <a:cs typeface="Arial" pitchFamily="34" charset="0"/>
              </a:rPr>
              <a:t># bite from the beginning.</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file1.seek</a:t>
            </a:r>
            <a:r>
              <a:rPr lang="en-US" sz="2400" dirty="0">
                <a:solidFill>
                  <a:srgbClr val="000000"/>
                </a:solidFill>
                <a:cs typeface="Arial" pitchFamily="34" charset="0"/>
              </a:rPr>
              <a:t>(</a:t>
            </a:r>
            <a:r>
              <a:rPr lang="en-US" sz="2400" dirty="0">
                <a:solidFill>
                  <a:srgbClr val="009900"/>
                </a:solidFill>
                <a:cs typeface="Arial" pitchFamily="34" charset="0"/>
              </a:rPr>
              <a:t>0</a:t>
            </a:r>
            <a:r>
              <a:rPr lang="en-US" sz="2400" dirty="0">
                <a:solidFill>
                  <a:srgbClr val="000000"/>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273239"/>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FF1493"/>
                </a:solidFill>
                <a:cs typeface="Arial" pitchFamily="34" charset="0"/>
              </a:rPr>
              <a:t>print</a:t>
            </a:r>
            <a:r>
              <a:rPr lang="en-US" sz="2400" dirty="0">
                <a:solidFill>
                  <a:srgbClr val="000000"/>
                </a:solidFill>
                <a:cs typeface="Arial" pitchFamily="34" charset="0"/>
              </a:rPr>
              <a:t>( </a:t>
            </a:r>
            <a:r>
              <a:rPr lang="en-US" sz="2400" dirty="0">
                <a:solidFill>
                  <a:srgbClr val="0000FF"/>
                </a:solidFill>
                <a:cs typeface="Arial" pitchFamily="34" charset="0"/>
              </a:rPr>
              <a:t>"Output of </a:t>
            </a:r>
            <a:r>
              <a:rPr lang="en-US" sz="2400" dirty="0" err="1">
                <a:solidFill>
                  <a:srgbClr val="0000FF"/>
                </a:solidFill>
                <a:cs typeface="Arial" pitchFamily="34" charset="0"/>
              </a:rPr>
              <a:t>Readline</a:t>
            </a:r>
            <a:r>
              <a:rPr lang="en-US" sz="2400" dirty="0">
                <a:solidFill>
                  <a:srgbClr val="0000FF"/>
                </a:solidFill>
                <a:cs typeface="Arial" pitchFamily="34" charset="0"/>
              </a:rPr>
              <a:t> function is "</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b="1" dirty="0">
                <a:solidFill>
                  <a:srgbClr val="006699"/>
                </a:solidFill>
                <a:cs typeface="Arial" pitchFamily="34" charset="0"/>
              </a:rPr>
              <a:t>print</a:t>
            </a:r>
            <a:r>
              <a:rPr lang="en-US" sz="2400" dirty="0">
                <a:solidFill>
                  <a:srgbClr val="000000"/>
                </a:solidFill>
                <a:cs typeface="Arial" pitchFamily="34" charset="0"/>
              </a:rPr>
              <a:t>(</a:t>
            </a:r>
            <a:r>
              <a:rPr lang="en-US" sz="2400" dirty="0" err="1">
                <a:solidFill>
                  <a:srgbClr val="000000"/>
                </a:solidFill>
                <a:cs typeface="Arial" pitchFamily="34" charset="0"/>
              </a:rPr>
              <a:t>file1.readline</a:t>
            </a:r>
            <a:r>
              <a:rPr lang="en-US" sz="2400" dirty="0">
                <a:solidFill>
                  <a:srgbClr val="000000"/>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FF1493"/>
                </a:solidFill>
                <a:cs typeface="Arial" pitchFamily="34" charset="0"/>
              </a:rPr>
              <a:t>print</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a:solidFill>
                  <a:srgbClr val="273239"/>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file1.seek</a:t>
            </a:r>
            <a:r>
              <a:rPr lang="en-US" sz="2400" dirty="0">
                <a:solidFill>
                  <a:srgbClr val="000000"/>
                </a:solidFill>
                <a:cs typeface="Arial" pitchFamily="34" charset="0"/>
              </a:rPr>
              <a:t>(</a:t>
            </a:r>
            <a:r>
              <a:rPr lang="en-US" sz="2400" dirty="0">
                <a:solidFill>
                  <a:srgbClr val="009900"/>
                </a:solidFill>
                <a:cs typeface="Arial" pitchFamily="34" charset="0"/>
              </a:rPr>
              <a:t>0</a:t>
            </a:r>
            <a:r>
              <a:rPr lang="en-US" sz="2400" dirty="0" smtClean="0">
                <a:solidFill>
                  <a:srgbClr val="000000"/>
                </a:solidFill>
                <a:cs typeface="Arial" pitchFamily="34" charset="0"/>
              </a:rPr>
              <a:t>)</a:t>
            </a:r>
            <a:endParaRPr lang="en-US" sz="2400" dirty="0">
              <a:cs typeface="Arial" pitchFamily="34" charset="0"/>
            </a:endParaRPr>
          </a:p>
        </p:txBody>
      </p:sp>
    </p:spTree>
    <p:extLst>
      <p:ext uri="{BB962C8B-B14F-4D97-AF65-F5344CB8AC3E}">
        <p14:creationId xmlns:p14="http://schemas.microsoft.com/office/powerpoint/2010/main" xmlns="" val="67494008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b="1" dirty="0"/>
          </a:p>
        </p:txBody>
      </p:sp>
      <p:sp>
        <p:nvSpPr>
          <p:cNvPr id="4" name="TextBox 3"/>
          <p:cNvSpPr txBox="1"/>
          <p:nvPr/>
        </p:nvSpPr>
        <p:spPr>
          <a:xfrm>
            <a:off x="228600" y="1066800"/>
            <a:ext cx="8763000" cy="5632311"/>
          </a:xfrm>
          <a:prstGeom prst="rect">
            <a:avLst/>
          </a:prstGeom>
          <a:noFill/>
        </p:spPr>
        <p:txBody>
          <a:bodyPr wrap="square" rtlCol="0">
            <a:spAutoFit/>
          </a:bodyPr>
          <a:lstStyle/>
          <a:p>
            <a:pPr lvl="0" eaLnBrk="0" fontAlgn="base" hangingPunct="0">
              <a:spcBef>
                <a:spcPct val="0"/>
              </a:spcBef>
              <a:spcAft>
                <a:spcPct val="0"/>
              </a:spcAft>
            </a:pPr>
            <a:r>
              <a:rPr lang="en-US" sz="2400" dirty="0">
                <a:solidFill>
                  <a:srgbClr val="008200"/>
                </a:solidFill>
                <a:cs typeface="Arial" pitchFamily="34" charset="0"/>
              </a:rPr>
              <a:t># To show difference between read and </a:t>
            </a:r>
            <a:r>
              <a:rPr lang="en-US" sz="2400" dirty="0" err="1">
                <a:solidFill>
                  <a:srgbClr val="008200"/>
                </a:solidFill>
                <a:cs typeface="Arial" pitchFamily="34" charset="0"/>
              </a:rPr>
              <a:t>readline</a:t>
            </a:r>
            <a:endParaRPr lang="en-US" sz="2400" dirty="0">
              <a:cs typeface="Arial" pitchFamily="34" charset="0"/>
            </a:endParaRPr>
          </a:p>
          <a:p>
            <a:pPr lvl="0" eaLnBrk="0" fontAlgn="base" hangingPunct="0">
              <a:spcBef>
                <a:spcPct val="0"/>
              </a:spcBef>
              <a:spcAft>
                <a:spcPct val="0"/>
              </a:spcAft>
            </a:pPr>
            <a:r>
              <a:rPr lang="en-US" sz="2400" b="1" dirty="0">
                <a:solidFill>
                  <a:srgbClr val="006699"/>
                </a:solidFill>
                <a:cs typeface="Arial" pitchFamily="34" charset="0"/>
              </a:rPr>
              <a:t>print</a:t>
            </a:r>
            <a:r>
              <a:rPr lang="en-US" sz="2400" dirty="0">
                <a:solidFill>
                  <a:srgbClr val="000000"/>
                </a:solidFill>
                <a:cs typeface="Arial" pitchFamily="34" charset="0"/>
              </a:rPr>
              <a:t>(</a:t>
            </a:r>
            <a:r>
              <a:rPr lang="en-US" sz="2400" dirty="0">
                <a:solidFill>
                  <a:srgbClr val="0000FF"/>
                </a:solidFill>
                <a:cs typeface="Arial" pitchFamily="34" charset="0"/>
              </a:rPr>
              <a:t>"Output of Read(9) function is "</a:t>
            </a:r>
            <a:r>
              <a:rPr lang="en-US" sz="2400" dirty="0">
                <a:solidFill>
                  <a:srgbClr val="000000"/>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b="1" dirty="0">
                <a:solidFill>
                  <a:srgbClr val="006699"/>
                </a:solidFill>
                <a:cs typeface="Arial" pitchFamily="34" charset="0"/>
              </a:rPr>
              <a:t>print</a:t>
            </a:r>
            <a:r>
              <a:rPr lang="en-US" sz="2400" dirty="0">
                <a:solidFill>
                  <a:srgbClr val="000000"/>
                </a:solidFill>
                <a:cs typeface="Arial" pitchFamily="34" charset="0"/>
              </a:rPr>
              <a:t>(</a:t>
            </a:r>
            <a:r>
              <a:rPr lang="en-US" sz="2400" dirty="0" err="1">
                <a:solidFill>
                  <a:srgbClr val="000000"/>
                </a:solidFill>
                <a:cs typeface="Arial" pitchFamily="34" charset="0"/>
              </a:rPr>
              <a:t>file1.read</a:t>
            </a:r>
            <a:r>
              <a:rPr lang="en-US" sz="2400" dirty="0">
                <a:solidFill>
                  <a:srgbClr val="000000"/>
                </a:solidFill>
                <a:cs typeface="Arial" pitchFamily="34" charset="0"/>
              </a:rPr>
              <a:t>(</a:t>
            </a:r>
            <a:r>
              <a:rPr lang="en-US" sz="2400" dirty="0">
                <a:solidFill>
                  <a:srgbClr val="009900"/>
                </a:solidFill>
                <a:cs typeface="Arial" pitchFamily="34" charset="0"/>
              </a:rPr>
              <a:t>9</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b="1" dirty="0">
                <a:solidFill>
                  <a:srgbClr val="006699"/>
                </a:solidFill>
                <a:cs typeface="Arial" pitchFamily="34" charset="0"/>
              </a:rPr>
              <a:t>print</a:t>
            </a:r>
            <a:r>
              <a:rPr lang="en-US" sz="2400" dirty="0">
                <a:solidFill>
                  <a:srgbClr val="000000"/>
                </a:solidFill>
                <a:cs typeface="Arial" pitchFamily="34" charset="0"/>
              </a:rPr>
              <a:t>()</a:t>
            </a:r>
            <a:r>
              <a:rPr lang="en-US" sz="2400" dirty="0">
                <a:solidFill>
                  <a:srgbClr val="273239"/>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file1.seek</a:t>
            </a:r>
            <a:r>
              <a:rPr lang="en-US" sz="2400" dirty="0">
                <a:solidFill>
                  <a:srgbClr val="000000"/>
                </a:solidFill>
                <a:cs typeface="Arial" pitchFamily="34" charset="0"/>
              </a:rPr>
              <a:t>(</a:t>
            </a:r>
            <a:r>
              <a:rPr lang="en-US" sz="2400" dirty="0">
                <a:solidFill>
                  <a:srgbClr val="009900"/>
                </a:solidFill>
                <a:cs typeface="Arial" pitchFamily="34" charset="0"/>
              </a:rPr>
              <a:t>0</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a:solidFill>
                  <a:srgbClr val="273239"/>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FF1493"/>
                </a:solidFill>
                <a:cs typeface="Arial" pitchFamily="34" charset="0"/>
              </a:rPr>
              <a:t>print</a:t>
            </a:r>
            <a:r>
              <a:rPr lang="en-US" sz="2400" dirty="0">
                <a:solidFill>
                  <a:srgbClr val="000000"/>
                </a:solidFill>
                <a:cs typeface="Arial" pitchFamily="34" charset="0"/>
              </a:rPr>
              <a:t>(</a:t>
            </a:r>
            <a:r>
              <a:rPr lang="en-US" sz="2400" dirty="0">
                <a:solidFill>
                  <a:srgbClr val="0000FF"/>
                </a:solidFill>
                <a:cs typeface="Arial" pitchFamily="34" charset="0"/>
              </a:rPr>
              <a:t>"Output of </a:t>
            </a:r>
            <a:r>
              <a:rPr lang="en-US" sz="2400" dirty="0" err="1">
                <a:solidFill>
                  <a:srgbClr val="0000FF"/>
                </a:solidFill>
                <a:cs typeface="Arial" pitchFamily="34" charset="0"/>
              </a:rPr>
              <a:t>Readline</a:t>
            </a:r>
            <a:r>
              <a:rPr lang="en-US" sz="2400" dirty="0">
                <a:solidFill>
                  <a:srgbClr val="0000FF"/>
                </a:solidFill>
                <a:cs typeface="Arial" pitchFamily="34" charset="0"/>
              </a:rPr>
              <a:t>(9) function is "</a:t>
            </a:r>
            <a:r>
              <a:rPr lang="en-US" sz="2400" dirty="0">
                <a:solidFill>
                  <a:srgbClr val="000000"/>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b="1" dirty="0">
                <a:solidFill>
                  <a:srgbClr val="006699"/>
                </a:solidFill>
                <a:cs typeface="Arial" pitchFamily="34" charset="0"/>
              </a:rPr>
              <a:t>print</a:t>
            </a:r>
            <a:r>
              <a:rPr lang="en-US" sz="2400" dirty="0">
                <a:solidFill>
                  <a:srgbClr val="000000"/>
                </a:solidFill>
                <a:cs typeface="Arial" pitchFamily="34" charset="0"/>
              </a:rPr>
              <a:t>(</a:t>
            </a:r>
            <a:r>
              <a:rPr lang="en-US" sz="2400" dirty="0" err="1">
                <a:solidFill>
                  <a:srgbClr val="000000"/>
                </a:solidFill>
                <a:cs typeface="Arial" pitchFamily="34" charset="0"/>
              </a:rPr>
              <a:t>file1.readline</a:t>
            </a:r>
            <a:r>
              <a:rPr lang="en-US" sz="2400" dirty="0">
                <a:solidFill>
                  <a:srgbClr val="000000"/>
                </a:solidFill>
                <a:cs typeface="Arial" pitchFamily="34" charset="0"/>
              </a:rPr>
              <a:t>(</a:t>
            </a:r>
            <a:r>
              <a:rPr lang="en-US" sz="2400" dirty="0">
                <a:solidFill>
                  <a:srgbClr val="009900"/>
                </a:solidFill>
                <a:cs typeface="Arial" pitchFamily="34" charset="0"/>
              </a:rPr>
              <a:t>9</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a:solidFill>
                  <a:srgbClr val="273239"/>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file1.seek</a:t>
            </a:r>
            <a:r>
              <a:rPr lang="en-US" sz="2400" dirty="0">
                <a:solidFill>
                  <a:srgbClr val="000000"/>
                </a:solidFill>
                <a:cs typeface="Arial" pitchFamily="34" charset="0"/>
              </a:rPr>
              <a:t>(</a:t>
            </a:r>
            <a:r>
              <a:rPr lang="en-US" sz="2400" dirty="0">
                <a:solidFill>
                  <a:srgbClr val="009900"/>
                </a:solidFill>
                <a:cs typeface="Arial" pitchFamily="34" charset="0"/>
              </a:rPr>
              <a:t>0</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a:solidFill>
                  <a:srgbClr val="008200"/>
                </a:solidFill>
                <a:cs typeface="Arial" pitchFamily="34" charset="0"/>
              </a:rPr>
              <a:t># </a:t>
            </a:r>
            <a:r>
              <a:rPr lang="en-US" sz="2400" dirty="0" err="1">
                <a:solidFill>
                  <a:srgbClr val="008200"/>
                </a:solidFill>
                <a:cs typeface="Arial" pitchFamily="34" charset="0"/>
              </a:rPr>
              <a:t>readlines</a:t>
            </a:r>
            <a:r>
              <a:rPr lang="en-US" sz="2400" dirty="0">
                <a:solidFill>
                  <a:srgbClr val="008200"/>
                </a:solidFill>
                <a:cs typeface="Arial" pitchFamily="34" charset="0"/>
              </a:rPr>
              <a:t> function</a:t>
            </a:r>
            <a:endParaRPr lang="en-US" sz="2400" dirty="0">
              <a:cs typeface="Arial" pitchFamily="34" charset="0"/>
            </a:endParaRPr>
          </a:p>
          <a:p>
            <a:pPr lvl="0" eaLnBrk="0" fontAlgn="base" hangingPunct="0">
              <a:spcBef>
                <a:spcPct val="0"/>
              </a:spcBef>
              <a:spcAft>
                <a:spcPct val="0"/>
              </a:spcAft>
            </a:pPr>
            <a:r>
              <a:rPr lang="en-US" sz="2400" dirty="0">
                <a:solidFill>
                  <a:srgbClr val="FF1493"/>
                </a:solidFill>
                <a:cs typeface="Arial" pitchFamily="34" charset="0"/>
              </a:rPr>
              <a:t>print</a:t>
            </a:r>
            <a:r>
              <a:rPr lang="en-US" sz="2400" dirty="0">
                <a:solidFill>
                  <a:srgbClr val="000000"/>
                </a:solidFill>
                <a:cs typeface="Arial" pitchFamily="34" charset="0"/>
              </a:rPr>
              <a:t>(</a:t>
            </a:r>
            <a:r>
              <a:rPr lang="en-US" sz="2400" dirty="0">
                <a:solidFill>
                  <a:srgbClr val="0000FF"/>
                </a:solidFill>
                <a:cs typeface="Arial" pitchFamily="34" charset="0"/>
              </a:rPr>
              <a:t>"Output of </a:t>
            </a:r>
            <a:r>
              <a:rPr lang="en-US" sz="2400" dirty="0" err="1">
                <a:solidFill>
                  <a:srgbClr val="0000FF"/>
                </a:solidFill>
                <a:cs typeface="Arial" pitchFamily="34" charset="0"/>
              </a:rPr>
              <a:t>Readlines</a:t>
            </a:r>
            <a:r>
              <a:rPr lang="en-US" sz="2400" dirty="0">
                <a:solidFill>
                  <a:srgbClr val="0000FF"/>
                </a:solidFill>
                <a:cs typeface="Arial" pitchFamily="34" charset="0"/>
              </a:rPr>
              <a:t> function is "</a:t>
            </a:r>
            <a:r>
              <a:rPr lang="en-US" sz="2400" dirty="0">
                <a:solidFill>
                  <a:srgbClr val="000000"/>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FF1493"/>
                </a:solidFill>
                <a:cs typeface="Arial" pitchFamily="34" charset="0"/>
              </a:rPr>
              <a:t>print</a:t>
            </a:r>
            <a:r>
              <a:rPr lang="en-US" sz="2400" dirty="0">
                <a:solidFill>
                  <a:srgbClr val="000000"/>
                </a:solidFill>
                <a:cs typeface="Arial" pitchFamily="34" charset="0"/>
              </a:rPr>
              <a:t>(</a:t>
            </a:r>
            <a:r>
              <a:rPr lang="en-US" sz="2400" dirty="0" err="1">
                <a:solidFill>
                  <a:srgbClr val="000000"/>
                </a:solidFill>
                <a:cs typeface="Arial" pitchFamily="34" charset="0"/>
              </a:rPr>
              <a:t>file1.readlines</a:t>
            </a:r>
            <a:r>
              <a:rPr lang="en-US" sz="2400" dirty="0">
                <a:solidFill>
                  <a:srgbClr val="000000"/>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FF1493"/>
                </a:solidFill>
                <a:cs typeface="Arial" pitchFamily="34" charset="0"/>
              </a:rPr>
              <a:t>print</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file1.close</a:t>
            </a:r>
            <a:r>
              <a:rPr lang="en-US" sz="2400" dirty="0">
                <a:solidFill>
                  <a:srgbClr val="000000"/>
                </a:solidFill>
                <a:cs typeface="Arial" pitchFamily="34" charset="0"/>
              </a:rPr>
              <a:t>()</a:t>
            </a:r>
            <a:endParaRPr lang="en-US" sz="2400" dirty="0">
              <a:cs typeface="Arial" pitchFamily="34" charset="0"/>
            </a:endParaRPr>
          </a:p>
        </p:txBody>
      </p:sp>
    </p:spTree>
    <p:extLst>
      <p:ext uri="{BB962C8B-B14F-4D97-AF65-F5344CB8AC3E}">
        <p14:creationId xmlns:p14="http://schemas.microsoft.com/office/powerpoint/2010/main" xmlns="" val="210648165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b="1" dirty="0"/>
          </a:p>
        </p:txBody>
      </p:sp>
      <p:sp>
        <p:nvSpPr>
          <p:cNvPr id="4" name="TextBox 3"/>
          <p:cNvSpPr txBox="1"/>
          <p:nvPr/>
        </p:nvSpPr>
        <p:spPr>
          <a:xfrm>
            <a:off x="228600" y="1066800"/>
            <a:ext cx="8763000" cy="4893647"/>
          </a:xfrm>
          <a:prstGeom prst="rect">
            <a:avLst/>
          </a:prstGeom>
          <a:noFill/>
        </p:spPr>
        <p:txBody>
          <a:bodyPr wrap="square" rtlCol="0">
            <a:spAutoFit/>
          </a:bodyPr>
          <a:lstStyle/>
          <a:p>
            <a:r>
              <a:rPr lang="en-US" sz="2400" b="1" dirty="0"/>
              <a:t>Appending to a file</a:t>
            </a:r>
          </a:p>
          <a:p>
            <a:endParaRPr lang="en-IN" sz="2400" b="1" dirty="0"/>
          </a:p>
          <a:p>
            <a:pPr fontAlgn="base"/>
            <a:r>
              <a:rPr lang="en-US" sz="2400" dirty="0"/>
              <a:t># Python program to illustrate</a:t>
            </a:r>
          </a:p>
          <a:p>
            <a:pPr fontAlgn="base"/>
            <a:r>
              <a:rPr lang="en-US" sz="2400" dirty="0"/>
              <a:t># Append vs write mode</a:t>
            </a:r>
          </a:p>
          <a:p>
            <a:pPr fontAlgn="base"/>
            <a:r>
              <a:rPr lang="en-US" sz="2400" dirty="0" err="1"/>
              <a:t>file1</a:t>
            </a:r>
            <a:r>
              <a:rPr lang="en-US" sz="2400" dirty="0"/>
              <a:t> = open("</a:t>
            </a:r>
            <a:r>
              <a:rPr lang="en-US" sz="2400" dirty="0" err="1"/>
              <a:t>myfile.txt","w</a:t>
            </a:r>
            <a:r>
              <a:rPr lang="en-US" sz="2400" dirty="0"/>
              <a:t>")</a:t>
            </a:r>
          </a:p>
          <a:p>
            <a:pPr fontAlgn="base"/>
            <a:r>
              <a:rPr lang="en-US" sz="2400" dirty="0"/>
              <a:t>L = ["This is Delhi \</a:t>
            </a:r>
            <a:r>
              <a:rPr lang="en-US" sz="2400" dirty="0" err="1"/>
              <a:t>n","This</a:t>
            </a:r>
            <a:r>
              <a:rPr lang="en-US" sz="2400" dirty="0"/>
              <a:t> is Paris \</a:t>
            </a:r>
            <a:r>
              <a:rPr lang="en-US" sz="2400" dirty="0" err="1"/>
              <a:t>n","This</a:t>
            </a:r>
            <a:r>
              <a:rPr lang="en-US" sz="2400" dirty="0"/>
              <a:t> is London \n"] </a:t>
            </a:r>
          </a:p>
          <a:p>
            <a:pPr fontAlgn="base"/>
            <a:r>
              <a:rPr lang="en-US" sz="2400" dirty="0" err="1"/>
              <a:t>file1.writelines</a:t>
            </a:r>
            <a:r>
              <a:rPr lang="en-US" sz="2400" dirty="0"/>
              <a:t>(L)</a:t>
            </a:r>
          </a:p>
          <a:p>
            <a:pPr fontAlgn="base"/>
            <a:r>
              <a:rPr lang="en-US" sz="2400" dirty="0" err="1"/>
              <a:t>file1.close</a:t>
            </a:r>
            <a:r>
              <a:rPr lang="en-US" sz="2400" dirty="0"/>
              <a:t>()</a:t>
            </a:r>
          </a:p>
          <a:p>
            <a:pPr fontAlgn="base"/>
            <a:r>
              <a:rPr lang="en-US" sz="2400" dirty="0"/>
              <a:t>  </a:t>
            </a:r>
          </a:p>
          <a:p>
            <a:pPr fontAlgn="base"/>
            <a:r>
              <a:rPr lang="en-US" sz="2400" dirty="0"/>
              <a:t># Append-adds at last</a:t>
            </a:r>
          </a:p>
          <a:p>
            <a:pPr fontAlgn="base"/>
            <a:r>
              <a:rPr lang="en-US" sz="2400" dirty="0" err="1"/>
              <a:t>file1</a:t>
            </a:r>
            <a:r>
              <a:rPr lang="en-US" sz="2400" dirty="0"/>
              <a:t> = open("</a:t>
            </a:r>
            <a:r>
              <a:rPr lang="en-US" sz="2400" dirty="0" err="1"/>
              <a:t>myfile.txt","a</a:t>
            </a:r>
            <a:r>
              <a:rPr lang="en-US" sz="2400" dirty="0"/>
              <a:t>")#append mode</a:t>
            </a:r>
          </a:p>
          <a:p>
            <a:pPr fontAlgn="base"/>
            <a:r>
              <a:rPr lang="en-US" sz="2400" dirty="0" err="1"/>
              <a:t>file1.write</a:t>
            </a:r>
            <a:r>
              <a:rPr lang="en-US" sz="2400" dirty="0"/>
              <a:t>("Today \n")</a:t>
            </a:r>
          </a:p>
          <a:p>
            <a:pPr fontAlgn="base"/>
            <a:r>
              <a:rPr lang="en-US" sz="2400" dirty="0" err="1"/>
              <a:t>file1.close</a:t>
            </a:r>
            <a:r>
              <a:rPr lang="en-US" sz="2400" dirty="0" smtClean="0"/>
              <a:t>()</a:t>
            </a:r>
            <a:endParaRPr lang="en-US" sz="2400" dirty="0"/>
          </a:p>
        </p:txBody>
      </p:sp>
    </p:spTree>
    <p:extLst>
      <p:ext uri="{BB962C8B-B14F-4D97-AF65-F5344CB8AC3E}">
        <p14:creationId xmlns:p14="http://schemas.microsoft.com/office/powerpoint/2010/main" xmlns="" val="132140047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b="1" dirty="0"/>
          </a:p>
        </p:txBody>
      </p:sp>
      <p:sp>
        <p:nvSpPr>
          <p:cNvPr id="4" name="TextBox 3"/>
          <p:cNvSpPr txBox="1"/>
          <p:nvPr/>
        </p:nvSpPr>
        <p:spPr>
          <a:xfrm>
            <a:off x="228600" y="1066800"/>
            <a:ext cx="8763000" cy="3785652"/>
          </a:xfrm>
          <a:prstGeom prst="rect">
            <a:avLst/>
          </a:prstGeom>
          <a:noFill/>
        </p:spPr>
        <p:txBody>
          <a:bodyPr wrap="square" rtlCol="0">
            <a:spAutoFit/>
          </a:bodyPr>
          <a:lstStyle/>
          <a:p>
            <a:pPr lvl="0" fontAlgn="base">
              <a:spcBef>
                <a:spcPct val="0"/>
              </a:spcBef>
              <a:spcAft>
                <a:spcPct val="0"/>
              </a:spcAft>
            </a:pPr>
            <a:r>
              <a:rPr lang="en-US" sz="2400" dirty="0" err="1">
                <a:solidFill>
                  <a:srgbClr val="000000"/>
                </a:solidFill>
                <a:cs typeface="Arial" pitchFamily="34" charset="0"/>
              </a:rPr>
              <a:t>file1</a:t>
            </a:r>
            <a:r>
              <a:rPr lang="en-US" sz="2400" dirty="0">
                <a:solidFill>
                  <a:srgbClr val="000000"/>
                </a:solidFill>
                <a:cs typeface="Arial" pitchFamily="34" charset="0"/>
              </a:rPr>
              <a:t> </a:t>
            </a:r>
            <a:r>
              <a:rPr lang="en-US" sz="2400" b="1" dirty="0">
                <a:solidFill>
                  <a:srgbClr val="006699"/>
                </a:solidFill>
                <a:cs typeface="Arial" pitchFamily="34" charset="0"/>
              </a:rPr>
              <a:t>=</a:t>
            </a:r>
            <a:r>
              <a:rPr lang="en-US" sz="2400" dirty="0">
                <a:solidFill>
                  <a:srgbClr val="273239"/>
                </a:solidFill>
                <a:cs typeface="Arial" pitchFamily="34" charset="0"/>
              </a:rPr>
              <a:t> </a:t>
            </a:r>
            <a:r>
              <a:rPr lang="en-US" sz="2400" dirty="0">
                <a:solidFill>
                  <a:srgbClr val="FF1493"/>
                </a:solidFill>
                <a:cs typeface="Arial" pitchFamily="34" charset="0"/>
              </a:rPr>
              <a:t>open</a:t>
            </a:r>
            <a:r>
              <a:rPr lang="en-US" sz="2400" dirty="0">
                <a:solidFill>
                  <a:srgbClr val="000000"/>
                </a:solidFill>
                <a:cs typeface="Arial" pitchFamily="34" charset="0"/>
              </a:rPr>
              <a:t>(</a:t>
            </a:r>
            <a:r>
              <a:rPr lang="en-US" sz="2400" dirty="0">
                <a:solidFill>
                  <a:srgbClr val="0000FF"/>
                </a:solidFill>
                <a:cs typeface="Arial" pitchFamily="34" charset="0"/>
              </a:rPr>
              <a:t>"</a:t>
            </a:r>
            <a:r>
              <a:rPr lang="en-US" sz="2400" dirty="0" err="1">
                <a:solidFill>
                  <a:srgbClr val="0000FF"/>
                </a:solidFill>
                <a:cs typeface="Arial" pitchFamily="34" charset="0"/>
              </a:rPr>
              <a:t>myfile.txt"</a:t>
            </a:r>
            <a:r>
              <a:rPr lang="en-US" sz="2400" dirty="0" err="1">
                <a:solidFill>
                  <a:srgbClr val="000000"/>
                </a:solidFill>
                <a:cs typeface="Arial" pitchFamily="34" charset="0"/>
              </a:rPr>
              <a:t>,</a:t>
            </a:r>
            <a:r>
              <a:rPr lang="en-US" sz="2400" dirty="0" err="1">
                <a:solidFill>
                  <a:srgbClr val="0000FF"/>
                </a:solidFill>
                <a:cs typeface="Arial" pitchFamily="34" charset="0"/>
              </a:rPr>
              <a:t>"r</a:t>
            </a:r>
            <a:r>
              <a:rPr lang="en-US" sz="2400" dirty="0">
                <a:solidFill>
                  <a:srgbClr val="0000FF"/>
                </a:solidFill>
                <a:cs typeface="Arial" pitchFamily="34" charset="0"/>
              </a:rPr>
              <a:t>"</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b="1" dirty="0">
                <a:solidFill>
                  <a:srgbClr val="006699"/>
                </a:solidFill>
                <a:cs typeface="Arial" pitchFamily="34" charset="0"/>
              </a:rPr>
              <a:t>print</a:t>
            </a:r>
            <a:r>
              <a:rPr lang="en-US" sz="2400" dirty="0">
                <a:solidFill>
                  <a:srgbClr val="000000"/>
                </a:solidFill>
                <a:cs typeface="Arial" pitchFamily="34" charset="0"/>
              </a:rPr>
              <a:t>(</a:t>
            </a:r>
            <a:r>
              <a:rPr lang="en-US" sz="2400" dirty="0">
                <a:solidFill>
                  <a:srgbClr val="0000FF"/>
                </a:solidFill>
                <a:cs typeface="Arial" pitchFamily="34" charset="0"/>
              </a:rPr>
              <a:t>"Output of </a:t>
            </a:r>
            <a:r>
              <a:rPr lang="en-US" sz="2400" dirty="0" err="1">
                <a:solidFill>
                  <a:srgbClr val="0000FF"/>
                </a:solidFill>
                <a:cs typeface="Arial" pitchFamily="34" charset="0"/>
              </a:rPr>
              <a:t>Readlines</a:t>
            </a:r>
            <a:r>
              <a:rPr lang="en-US" sz="2400" dirty="0">
                <a:solidFill>
                  <a:srgbClr val="0000FF"/>
                </a:solidFill>
                <a:cs typeface="Arial" pitchFamily="34" charset="0"/>
              </a:rPr>
              <a:t> after appending"</a:t>
            </a:r>
            <a:r>
              <a:rPr lang="en-US" sz="2400" dirty="0">
                <a:solidFill>
                  <a:srgbClr val="000000"/>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b="1" dirty="0">
                <a:solidFill>
                  <a:srgbClr val="006699"/>
                </a:solidFill>
                <a:cs typeface="Arial" pitchFamily="34" charset="0"/>
              </a:rPr>
              <a:t>print</a:t>
            </a:r>
            <a:r>
              <a:rPr lang="en-US" sz="2400" dirty="0">
                <a:solidFill>
                  <a:srgbClr val="000000"/>
                </a:solidFill>
                <a:cs typeface="Arial" pitchFamily="34" charset="0"/>
              </a:rPr>
              <a:t>(</a:t>
            </a:r>
            <a:r>
              <a:rPr lang="en-US" sz="2400" dirty="0" err="1">
                <a:solidFill>
                  <a:srgbClr val="000000"/>
                </a:solidFill>
                <a:cs typeface="Arial" pitchFamily="34" charset="0"/>
              </a:rPr>
              <a:t>file1.readlines</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b="1" dirty="0">
                <a:solidFill>
                  <a:srgbClr val="006699"/>
                </a:solidFill>
                <a:cs typeface="Arial" pitchFamily="34" charset="0"/>
              </a:rPr>
              <a:t>print</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file1.close</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a:solidFill>
                  <a:srgbClr val="273239"/>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008200"/>
                </a:solidFill>
                <a:cs typeface="Arial" pitchFamily="34" charset="0"/>
              </a:rPr>
              <a:t># Write-Overwrites</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a:t>
            </a:r>
            <a:r>
              <a:rPr lang="en-US" sz="2400" dirty="0">
                <a:solidFill>
                  <a:srgbClr val="000000"/>
                </a:solidFill>
                <a:cs typeface="Arial" pitchFamily="34" charset="0"/>
              </a:rPr>
              <a:t> </a:t>
            </a:r>
            <a:r>
              <a:rPr lang="en-US" sz="2400" b="1" dirty="0">
                <a:solidFill>
                  <a:srgbClr val="006699"/>
                </a:solidFill>
                <a:cs typeface="Arial" pitchFamily="34" charset="0"/>
              </a:rPr>
              <a:t>=</a:t>
            </a:r>
            <a:r>
              <a:rPr lang="en-US" sz="2400" dirty="0">
                <a:solidFill>
                  <a:srgbClr val="273239"/>
                </a:solidFill>
                <a:cs typeface="Arial" pitchFamily="34" charset="0"/>
              </a:rPr>
              <a:t> </a:t>
            </a:r>
            <a:r>
              <a:rPr lang="en-US" sz="2400" dirty="0">
                <a:solidFill>
                  <a:srgbClr val="FF1493"/>
                </a:solidFill>
                <a:cs typeface="Arial" pitchFamily="34" charset="0"/>
              </a:rPr>
              <a:t>open</a:t>
            </a:r>
            <a:r>
              <a:rPr lang="en-US" sz="2400" dirty="0">
                <a:solidFill>
                  <a:srgbClr val="000000"/>
                </a:solidFill>
                <a:cs typeface="Arial" pitchFamily="34" charset="0"/>
              </a:rPr>
              <a:t>(</a:t>
            </a:r>
            <a:r>
              <a:rPr lang="en-US" sz="2400" dirty="0">
                <a:solidFill>
                  <a:srgbClr val="0000FF"/>
                </a:solidFill>
                <a:cs typeface="Arial" pitchFamily="34" charset="0"/>
              </a:rPr>
              <a:t>"</a:t>
            </a:r>
            <a:r>
              <a:rPr lang="en-US" sz="2400" dirty="0" err="1">
                <a:solidFill>
                  <a:srgbClr val="0000FF"/>
                </a:solidFill>
                <a:cs typeface="Arial" pitchFamily="34" charset="0"/>
              </a:rPr>
              <a:t>myfile.txt"</a:t>
            </a:r>
            <a:r>
              <a:rPr lang="en-US" sz="2400" dirty="0" err="1">
                <a:solidFill>
                  <a:srgbClr val="000000"/>
                </a:solidFill>
                <a:cs typeface="Arial" pitchFamily="34" charset="0"/>
              </a:rPr>
              <a:t>,</a:t>
            </a:r>
            <a:r>
              <a:rPr lang="en-US" sz="2400" dirty="0" err="1">
                <a:solidFill>
                  <a:srgbClr val="0000FF"/>
                </a:solidFill>
                <a:cs typeface="Arial" pitchFamily="34" charset="0"/>
              </a:rPr>
              <a:t>"w</a:t>
            </a:r>
            <a:r>
              <a:rPr lang="en-US" sz="2400" dirty="0">
                <a:solidFill>
                  <a:srgbClr val="0000FF"/>
                </a:solidFill>
                <a:cs typeface="Arial" pitchFamily="34" charset="0"/>
              </a:rPr>
              <a:t>"</a:t>
            </a:r>
            <a:r>
              <a:rPr lang="en-US" sz="2400" dirty="0">
                <a:solidFill>
                  <a:srgbClr val="000000"/>
                </a:solidFill>
                <a:cs typeface="Arial" pitchFamily="34" charset="0"/>
              </a:rPr>
              <a:t>)</a:t>
            </a:r>
            <a:r>
              <a:rPr lang="en-US" sz="2400" dirty="0">
                <a:solidFill>
                  <a:srgbClr val="008200"/>
                </a:solidFill>
                <a:cs typeface="Arial" pitchFamily="34" charset="0"/>
              </a:rPr>
              <a:t>#write mode</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file1.write</a:t>
            </a:r>
            <a:r>
              <a:rPr lang="en-US" sz="2400" dirty="0">
                <a:solidFill>
                  <a:srgbClr val="000000"/>
                </a:solidFill>
                <a:cs typeface="Arial" pitchFamily="34" charset="0"/>
              </a:rPr>
              <a:t>(</a:t>
            </a:r>
            <a:r>
              <a:rPr lang="en-US" sz="2400" dirty="0">
                <a:solidFill>
                  <a:srgbClr val="0000FF"/>
                </a:solidFill>
                <a:cs typeface="Arial" pitchFamily="34" charset="0"/>
              </a:rPr>
              <a:t>"Tomorrow \n"</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file1.close</a:t>
            </a:r>
            <a:r>
              <a:rPr lang="en-US" sz="2400" dirty="0">
                <a:solidFill>
                  <a:srgbClr val="000000"/>
                </a:solidFill>
                <a:cs typeface="Arial" pitchFamily="34" charset="0"/>
              </a:rPr>
              <a:t>()</a:t>
            </a:r>
            <a:endParaRPr lang="en-US" sz="2400" dirty="0">
              <a:cs typeface="Arial" pitchFamily="34" charset="0"/>
            </a:endParaRPr>
          </a:p>
        </p:txBody>
      </p:sp>
    </p:spTree>
    <p:extLst>
      <p:ext uri="{BB962C8B-B14F-4D97-AF65-F5344CB8AC3E}">
        <p14:creationId xmlns:p14="http://schemas.microsoft.com/office/powerpoint/2010/main" xmlns="" val="32851908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b="1" dirty="0"/>
          </a:p>
        </p:txBody>
      </p:sp>
      <p:sp>
        <p:nvSpPr>
          <p:cNvPr id="4" name="TextBox 3"/>
          <p:cNvSpPr txBox="1"/>
          <p:nvPr/>
        </p:nvSpPr>
        <p:spPr>
          <a:xfrm>
            <a:off x="228600" y="1066800"/>
            <a:ext cx="8763000" cy="1938992"/>
          </a:xfrm>
          <a:prstGeom prst="rect">
            <a:avLst/>
          </a:prstGeom>
          <a:noFill/>
        </p:spPr>
        <p:txBody>
          <a:bodyPr wrap="square" rtlCol="0">
            <a:spAutoFit/>
          </a:bodyPr>
          <a:lstStyle/>
          <a:p>
            <a:pPr lvl="0" fontAlgn="base">
              <a:spcBef>
                <a:spcPct val="0"/>
              </a:spcBef>
              <a:spcAft>
                <a:spcPct val="0"/>
              </a:spcAft>
            </a:pPr>
            <a:r>
              <a:rPr lang="en-US" sz="2400" dirty="0" err="1">
                <a:solidFill>
                  <a:srgbClr val="000000"/>
                </a:solidFill>
                <a:cs typeface="Arial" pitchFamily="34" charset="0"/>
              </a:rPr>
              <a:t>file1</a:t>
            </a:r>
            <a:r>
              <a:rPr lang="en-US" sz="2400" dirty="0">
                <a:solidFill>
                  <a:srgbClr val="000000"/>
                </a:solidFill>
                <a:cs typeface="Arial" pitchFamily="34" charset="0"/>
              </a:rPr>
              <a:t> </a:t>
            </a:r>
            <a:r>
              <a:rPr lang="en-US" sz="2400" b="1" dirty="0">
                <a:solidFill>
                  <a:srgbClr val="006699"/>
                </a:solidFill>
                <a:cs typeface="Arial" pitchFamily="34" charset="0"/>
              </a:rPr>
              <a:t>=</a:t>
            </a:r>
            <a:r>
              <a:rPr lang="en-US" sz="2400" dirty="0">
                <a:solidFill>
                  <a:srgbClr val="273239"/>
                </a:solidFill>
                <a:cs typeface="Arial" pitchFamily="34" charset="0"/>
              </a:rPr>
              <a:t> </a:t>
            </a:r>
            <a:r>
              <a:rPr lang="en-US" sz="2400" dirty="0">
                <a:solidFill>
                  <a:srgbClr val="FF1493"/>
                </a:solidFill>
                <a:cs typeface="Arial" pitchFamily="34" charset="0"/>
              </a:rPr>
              <a:t>open</a:t>
            </a:r>
            <a:r>
              <a:rPr lang="en-US" sz="2400" dirty="0">
                <a:solidFill>
                  <a:srgbClr val="000000"/>
                </a:solidFill>
                <a:cs typeface="Arial" pitchFamily="34" charset="0"/>
              </a:rPr>
              <a:t>(</a:t>
            </a:r>
            <a:r>
              <a:rPr lang="en-US" sz="2400" dirty="0">
                <a:solidFill>
                  <a:srgbClr val="0000FF"/>
                </a:solidFill>
                <a:cs typeface="Arial" pitchFamily="34" charset="0"/>
              </a:rPr>
              <a:t>"</a:t>
            </a:r>
            <a:r>
              <a:rPr lang="en-US" sz="2400" dirty="0" err="1">
                <a:solidFill>
                  <a:srgbClr val="0000FF"/>
                </a:solidFill>
                <a:cs typeface="Arial" pitchFamily="34" charset="0"/>
              </a:rPr>
              <a:t>myfile.txt"</a:t>
            </a:r>
            <a:r>
              <a:rPr lang="en-US" sz="2400" dirty="0" err="1">
                <a:solidFill>
                  <a:srgbClr val="000000"/>
                </a:solidFill>
                <a:cs typeface="Arial" pitchFamily="34" charset="0"/>
              </a:rPr>
              <a:t>,</a:t>
            </a:r>
            <a:r>
              <a:rPr lang="en-US" sz="2400" dirty="0" err="1">
                <a:solidFill>
                  <a:srgbClr val="0000FF"/>
                </a:solidFill>
                <a:cs typeface="Arial" pitchFamily="34" charset="0"/>
              </a:rPr>
              <a:t>"r</a:t>
            </a:r>
            <a:r>
              <a:rPr lang="en-US" sz="2400" dirty="0">
                <a:solidFill>
                  <a:srgbClr val="0000FF"/>
                </a:solidFill>
                <a:cs typeface="Arial" pitchFamily="34" charset="0"/>
              </a:rPr>
              <a:t>"</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a:solidFill>
                  <a:srgbClr val="FF1493"/>
                </a:solidFill>
                <a:cs typeface="Arial" pitchFamily="34" charset="0"/>
              </a:rPr>
              <a:t>print</a:t>
            </a:r>
            <a:r>
              <a:rPr lang="en-US" sz="2400" dirty="0">
                <a:solidFill>
                  <a:srgbClr val="000000"/>
                </a:solidFill>
                <a:cs typeface="Arial" pitchFamily="34" charset="0"/>
              </a:rPr>
              <a:t>(</a:t>
            </a:r>
            <a:r>
              <a:rPr lang="en-US" sz="2400" dirty="0">
                <a:solidFill>
                  <a:srgbClr val="0000FF"/>
                </a:solidFill>
                <a:cs typeface="Arial" pitchFamily="34" charset="0"/>
              </a:rPr>
              <a:t>"Output of </a:t>
            </a:r>
            <a:r>
              <a:rPr lang="en-US" sz="2400" dirty="0" err="1">
                <a:solidFill>
                  <a:srgbClr val="0000FF"/>
                </a:solidFill>
                <a:cs typeface="Arial" pitchFamily="34" charset="0"/>
              </a:rPr>
              <a:t>Readlines</a:t>
            </a:r>
            <a:r>
              <a:rPr lang="en-US" sz="2400" dirty="0">
                <a:solidFill>
                  <a:srgbClr val="0000FF"/>
                </a:solidFill>
                <a:cs typeface="Arial" pitchFamily="34" charset="0"/>
              </a:rPr>
              <a:t> after writing"</a:t>
            </a:r>
            <a:r>
              <a:rPr lang="en-US" sz="2400" dirty="0">
                <a:solidFill>
                  <a:srgbClr val="000000"/>
                </a:solidFill>
                <a:cs typeface="Arial" pitchFamily="34" charset="0"/>
              </a:rPr>
              <a:t>) </a:t>
            </a:r>
            <a:endParaRPr lang="en-US" sz="2400" dirty="0">
              <a:cs typeface="Arial" pitchFamily="34" charset="0"/>
            </a:endParaRPr>
          </a:p>
          <a:p>
            <a:pPr lvl="0" eaLnBrk="0" fontAlgn="base" hangingPunct="0">
              <a:spcBef>
                <a:spcPct val="0"/>
              </a:spcBef>
              <a:spcAft>
                <a:spcPct val="0"/>
              </a:spcAft>
            </a:pPr>
            <a:r>
              <a:rPr lang="en-US" sz="2400" dirty="0">
                <a:solidFill>
                  <a:srgbClr val="FF1493"/>
                </a:solidFill>
                <a:cs typeface="Arial" pitchFamily="34" charset="0"/>
              </a:rPr>
              <a:t>print</a:t>
            </a:r>
            <a:r>
              <a:rPr lang="en-US" sz="2400" dirty="0">
                <a:solidFill>
                  <a:srgbClr val="000000"/>
                </a:solidFill>
                <a:cs typeface="Arial" pitchFamily="34" charset="0"/>
              </a:rPr>
              <a:t>(</a:t>
            </a:r>
            <a:r>
              <a:rPr lang="en-US" sz="2400" dirty="0" err="1">
                <a:solidFill>
                  <a:srgbClr val="000000"/>
                </a:solidFill>
                <a:cs typeface="Arial" pitchFamily="34" charset="0"/>
              </a:rPr>
              <a:t>file1.readlines</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a:solidFill>
                  <a:srgbClr val="FF1493"/>
                </a:solidFill>
                <a:cs typeface="Arial" pitchFamily="34" charset="0"/>
              </a:rPr>
              <a:t>print</a:t>
            </a:r>
            <a:r>
              <a:rPr lang="en-US" sz="2400" dirty="0">
                <a:solidFill>
                  <a:srgbClr val="000000"/>
                </a:solidFill>
                <a:cs typeface="Arial" pitchFamily="34" charset="0"/>
              </a:rPr>
              <a:t>()</a:t>
            </a:r>
            <a:endParaRPr lang="en-US" sz="2400" dirty="0">
              <a:cs typeface="Arial" pitchFamily="34" charset="0"/>
            </a:endParaRPr>
          </a:p>
          <a:p>
            <a:pPr lvl="0" eaLnBrk="0" fontAlgn="base" hangingPunct="0">
              <a:spcBef>
                <a:spcPct val="0"/>
              </a:spcBef>
              <a:spcAft>
                <a:spcPct val="0"/>
              </a:spcAft>
            </a:pPr>
            <a:r>
              <a:rPr lang="en-US" sz="2400" dirty="0" err="1">
                <a:solidFill>
                  <a:srgbClr val="000000"/>
                </a:solidFill>
                <a:cs typeface="Arial" pitchFamily="34" charset="0"/>
              </a:rPr>
              <a:t>file1.close</a:t>
            </a:r>
            <a:r>
              <a:rPr lang="en-US" sz="2400" dirty="0">
                <a:solidFill>
                  <a:srgbClr val="000000"/>
                </a:solidFill>
                <a:cs typeface="Arial" pitchFamily="34" charset="0"/>
              </a:rPr>
              <a:t>()</a:t>
            </a:r>
            <a:endParaRPr lang="en-US" sz="2400" dirty="0">
              <a:cs typeface="Arial" pitchFamily="34" charset="0"/>
            </a:endParaRPr>
          </a:p>
        </p:txBody>
      </p:sp>
    </p:spTree>
    <p:extLst>
      <p:ext uri="{BB962C8B-B14F-4D97-AF65-F5344CB8AC3E}">
        <p14:creationId xmlns:p14="http://schemas.microsoft.com/office/powerpoint/2010/main" xmlns="" val="119702895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File Object</a:t>
            </a:r>
            <a:endParaRPr lang="en-US" b="1" dirty="0"/>
          </a:p>
        </p:txBody>
      </p:sp>
      <p:sp>
        <p:nvSpPr>
          <p:cNvPr id="4" name="TextBox 3"/>
          <p:cNvSpPr txBox="1"/>
          <p:nvPr/>
        </p:nvSpPr>
        <p:spPr>
          <a:xfrm>
            <a:off x="228600" y="1066800"/>
            <a:ext cx="8763000" cy="5693866"/>
          </a:xfrm>
          <a:prstGeom prst="rect">
            <a:avLst/>
          </a:prstGeom>
          <a:noFill/>
        </p:spPr>
        <p:txBody>
          <a:bodyPr wrap="square" rtlCol="0">
            <a:spAutoFit/>
          </a:bodyPr>
          <a:lstStyle/>
          <a:p>
            <a:pPr algn="just"/>
            <a:r>
              <a:rPr lang="en-US" sz="2800" b="1" dirty="0"/>
              <a:t>What is the File Object?</a:t>
            </a:r>
          </a:p>
          <a:p>
            <a:pPr algn="just"/>
            <a:endParaRPr lang="en-IN" sz="2800" b="1" dirty="0"/>
          </a:p>
          <a:p>
            <a:pPr marL="457200" indent="-457200" algn="just">
              <a:buFont typeface="Arial" panose="020B0604020202020204" pitchFamily="34" charset="0"/>
              <a:buChar char="•"/>
            </a:pPr>
            <a:r>
              <a:rPr lang="en-US" sz="2800" dirty="0"/>
              <a:t>Python </a:t>
            </a:r>
            <a:r>
              <a:rPr lang="en-US" sz="2800" b="1" dirty="0"/>
              <a:t>file object provides methods and attributes to access and manipulate files</a:t>
            </a:r>
            <a:r>
              <a:rPr lang="en-US" sz="2800" dirty="0"/>
              <a:t>. Using file objects, we can read or write any files.</a:t>
            </a:r>
          </a:p>
          <a:p>
            <a:pPr marL="457200" indent="-457200" algn="just">
              <a:buFont typeface="Arial" panose="020B0604020202020204" pitchFamily="34" charset="0"/>
              <a:buChar char="•"/>
            </a:pPr>
            <a:r>
              <a:rPr lang="en-US" sz="2800" dirty="0"/>
              <a:t>Whenever we </a:t>
            </a:r>
            <a:r>
              <a:rPr lang="en-US" sz="2800" u="sng" dirty="0"/>
              <a:t>open a file</a:t>
            </a:r>
            <a:r>
              <a:rPr lang="en-US" sz="2800" dirty="0"/>
              <a:t> to perform any operations on it, Python returns a file object. To create a file object in Python use the built-in functions, such as open() and </a:t>
            </a:r>
            <a:r>
              <a:rPr lang="en-US" sz="2800" dirty="0" err="1"/>
              <a:t>os.popen</a:t>
            </a:r>
            <a:r>
              <a:rPr lang="en-US" sz="2800" dirty="0" smtClean="0"/>
              <a:t>().</a:t>
            </a:r>
          </a:p>
          <a:p>
            <a:pPr marL="457200" indent="-457200" algn="just">
              <a:buFont typeface="Arial" panose="020B0604020202020204" pitchFamily="34" charset="0"/>
              <a:buChar char="•"/>
            </a:pPr>
            <a:r>
              <a:rPr lang="en-US" sz="2800" dirty="0" err="1" smtClean="0"/>
              <a:t>IOError</a:t>
            </a:r>
            <a:r>
              <a:rPr lang="en-US" sz="2800" dirty="0" smtClean="0"/>
              <a:t> </a:t>
            </a:r>
            <a:r>
              <a:rPr lang="en-US" sz="2800" dirty="0"/>
              <a:t>exception is raised when a file object is misused, or file operation fails for an I/O-related reason. For example, when you try to write to a file when a file is opened in read-only mode</a:t>
            </a:r>
            <a:r>
              <a:rPr lang="en-US" sz="2800" dirty="0" smtClean="0"/>
              <a:t>.</a:t>
            </a:r>
            <a:endParaRPr lang="en-US" sz="2800" dirty="0"/>
          </a:p>
        </p:txBody>
      </p:sp>
    </p:spTree>
    <p:extLst>
      <p:ext uri="{BB962C8B-B14F-4D97-AF65-F5344CB8AC3E}">
        <p14:creationId xmlns:p14="http://schemas.microsoft.com/office/powerpoint/2010/main" xmlns="" val="1223200329"/>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Text Files</a:t>
            </a:r>
            <a:endParaRPr lang="en-US" b="1" dirty="0"/>
          </a:p>
        </p:txBody>
      </p:sp>
      <p:sp>
        <p:nvSpPr>
          <p:cNvPr id="4" name="TextBox 3"/>
          <p:cNvSpPr txBox="1"/>
          <p:nvPr/>
        </p:nvSpPr>
        <p:spPr>
          <a:xfrm>
            <a:off x="228600" y="1066800"/>
            <a:ext cx="8763000" cy="5693866"/>
          </a:xfrm>
          <a:prstGeom prst="rect">
            <a:avLst/>
          </a:prstGeom>
          <a:noFill/>
        </p:spPr>
        <p:txBody>
          <a:bodyPr wrap="square" rtlCol="0">
            <a:spAutoFit/>
          </a:bodyPr>
          <a:lstStyle/>
          <a:p>
            <a:pPr algn="just"/>
            <a:r>
              <a:rPr lang="en-US" sz="2800" dirty="0"/>
              <a:t>Text files (</a:t>
            </a:r>
            <a:r>
              <a:rPr lang="en-US" sz="2800" dirty="0" err="1"/>
              <a:t>TextIOWrapper</a:t>
            </a:r>
            <a:r>
              <a:rPr lang="en-US" sz="2800" dirty="0"/>
              <a:t>)</a:t>
            </a:r>
          </a:p>
          <a:p>
            <a:pPr algn="just"/>
            <a:endParaRPr lang="en-US" sz="2800" dirty="0"/>
          </a:p>
          <a:p>
            <a:pPr algn="just"/>
            <a:r>
              <a:rPr lang="en-US" sz="2800" dirty="0"/>
              <a:t>The text file type is most common. Usually, we use text files to store character data or storing information in plain text with no special formatting beyond basic fonts and font styles.</a:t>
            </a:r>
          </a:p>
          <a:p>
            <a:pPr algn="just"/>
            <a:r>
              <a:rPr lang="en-US" sz="2800" dirty="0"/>
              <a:t>We open a text file using the open() function. For example, open('</a:t>
            </a:r>
            <a:r>
              <a:rPr lang="en-US" sz="2800" dirty="0" err="1"/>
              <a:t>test'.txt</a:t>
            </a:r>
            <a:r>
              <a:rPr lang="en-US" sz="2800" dirty="0"/>
              <a:t>', 'r'). When we open a text file, it returns a </a:t>
            </a:r>
            <a:r>
              <a:rPr lang="en-US" sz="2800" dirty="0" err="1"/>
              <a:t>TextIOWrapper</a:t>
            </a:r>
            <a:r>
              <a:rPr lang="en-US" sz="2800" dirty="0"/>
              <a:t> file object.</a:t>
            </a:r>
          </a:p>
          <a:p>
            <a:pPr algn="just"/>
            <a:r>
              <a:rPr lang="en-US" sz="2800" dirty="0"/>
              <a:t>Example</a:t>
            </a:r>
          </a:p>
          <a:p>
            <a:pPr algn="just"/>
            <a:r>
              <a:rPr lang="en-US" sz="2800" dirty="0"/>
              <a:t>file = open('</a:t>
            </a:r>
            <a:r>
              <a:rPr lang="en-US" sz="2800" dirty="0" err="1"/>
              <a:t>test.txt</a:t>
            </a:r>
            <a:r>
              <a:rPr lang="en-US" sz="2800" dirty="0"/>
              <a:t>', 'w') </a:t>
            </a:r>
          </a:p>
          <a:p>
            <a:pPr algn="just"/>
            <a:r>
              <a:rPr lang="en-US" sz="2800" dirty="0"/>
              <a:t>print(type(file)) </a:t>
            </a:r>
          </a:p>
          <a:p>
            <a:pPr algn="just"/>
            <a:r>
              <a:rPr lang="en-US" sz="2800" dirty="0"/>
              <a:t># Output: &lt;class '_</a:t>
            </a:r>
            <a:r>
              <a:rPr lang="en-US" sz="2800" dirty="0" err="1"/>
              <a:t>io.TextIOWrapper</a:t>
            </a:r>
            <a:r>
              <a:rPr lang="en-US" sz="2800" dirty="0"/>
              <a:t>'&gt; </a:t>
            </a:r>
          </a:p>
        </p:txBody>
      </p:sp>
    </p:spTree>
    <p:extLst>
      <p:ext uri="{BB962C8B-B14F-4D97-AF65-F5344CB8AC3E}">
        <p14:creationId xmlns:p14="http://schemas.microsoft.com/office/powerpoint/2010/main" xmlns="" val="274820311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Binary Files</a:t>
            </a:r>
            <a:endParaRPr lang="en-US" b="1" dirty="0"/>
          </a:p>
        </p:txBody>
      </p:sp>
      <p:sp>
        <p:nvSpPr>
          <p:cNvPr id="4" name="TextBox 3"/>
          <p:cNvSpPr txBox="1"/>
          <p:nvPr/>
        </p:nvSpPr>
        <p:spPr>
          <a:xfrm>
            <a:off x="228600" y="1066800"/>
            <a:ext cx="8763000" cy="4832092"/>
          </a:xfrm>
          <a:prstGeom prst="rect">
            <a:avLst/>
          </a:prstGeom>
          <a:noFill/>
        </p:spPr>
        <p:txBody>
          <a:bodyPr wrap="square" rtlCol="0">
            <a:spAutoFit/>
          </a:bodyPr>
          <a:lstStyle/>
          <a:p>
            <a:pPr algn="just"/>
            <a:r>
              <a:rPr lang="en-US" sz="2800" b="1" dirty="0"/>
              <a:t>Binary Files (</a:t>
            </a:r>
            <a:r>
              <a:rPr lang="en-US" sz="2800" b="1" dirty="0" err="1"/>
              <a:t>BufferedReader</a:t>
            </a:r>
            <a:r>
              <a:rPr lang="en-US" sz="2800" b="1" dirty="0"/>
              <a:t> and </a:t>
            </a:r>
            <a:r>
              <a:rPr lang="en-US" sz="2800" b="1" dirty="0" err="1"/>
              <a:t>BufferedWriter</a:t>
            </a:r>
            <a:r>
              <a:rPr lang="en-US" sz="2800" b="1" dirty="0"/>
              <a:t>)</a:t>
            </a:r>
          </a:p>
          <a:p>
            <a:pPr marL="457200" indent="-457200" algn="just">
              <a:buFont typeface="Arial" panose="020B0604020202020204" pitchFamily="34" charset="0"/>
              <a:buChar char="•"/>
            </a:pPr>
            <a:r>
              <a:rPr lang="en-US" sz="2800" dirty="0"/>
              <a:t>Data is stored on a disk in the form of binary. For example, we use binary files to store data like images or videos. Binary files are a computer-readable form of storing data.</a:t>
            </a:r>
          </a:p>
          <a:p>
            <a:pPr marL="457200" indent="-457200" algn="just">
              <a:buFont typeface="Arial" panose="020B0604020202020204" pitchFamily="34" charset="0"/>
              <a:buChar char="•"/>
            </a:pPr>
            <a:r>
              <a:rPr lang="en-US" sz="2800" dirty="0" smtClean="0"/>
              <a:t>A </a:t>
            </a:r>
            <a:r>
              <a:rPr lang="en-US" sz="2800" dirty="0"/>
              <a:t>program is needed to interpret the data in a binary file and display it to the user. The binary files are also called buffered files. This file type is used for reading and writing binary data.</a:t>
            </a:r>
          </a:p>
          <a:p>
            <a:pPr marL="457200" indent="-457200" algn="just">
              <a:buFont typeface="Arial" panose="020B0604020202020204" pitchFamily="34" charset="0"/>
              <a:buChar char="•"/>
            </a:pPr>
            <a:r>
              <a:rPr lang="en-US" sz="2800" dirty="0"/>
              <a:t>Open the binary files using the open() function in binary mode. </a:t>
            </a:r>
          </a:p>
        </p:txBody>
      </p:sp>
    </p:spTree>
    <p:extLst>
      <p:ext uri="{BB962C8B-B14F-4D97-AF65-F5344CB8AC3E}">
        <p14:creationId xmlns:p14="http://schemas.microsoft.com/office/powerpoint/2010/main" xmlns="" val="45357227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Binary Files</a:t>
            </a:r>
            <a:endParaRPr lang="en-US" b="1" dirty="0"/>
          </a:p>
        </p:txBody>
      </p:sp>
      <p:sp>
        <p:nvSpPr>
          <p:cNvPr id="4" name="TextBox 3"/>
          <p:cNvSpPr txBox="1"/>
          <p:nvPr/>
        </p:nvSpPr>
        <p:spPr>
          <a:xfrm>
            <a:off x="228600" y="1066800"/>
            <a:ext cx="8763000" cy="4832092"/>
          </a:xfrm>
          <a:prstGeom prst="rect">
            <a:avLst/>
          </a:prstGeom>
          <a:noFill/>
        </p:spPr>
        <p:txBody>
          <a:bodyPr wrap="square" rtlCol="0">
            <a:spAutoFit/>
          </a:bodyPr>
          <a:lstStyle/>
          <a:p>
            <a:pPr lvl="0" algn="just" eaLnBrk="0" fontAlgn="base" hangingPunct="0">
              <a:spcBef>
                <a:spcPct val="0"/>
              </a:spcBef>
              <a:spcAft>
                <a:spcPct val="0"/>
              </a:spcAft>
            </a:pPr>
            <a:r>
              <a:rPr lang="en-US" sz="2800" dirty="0">
                <a:solidFill>
                  <a:srgbClr val="222222"/>
                </a:solidFill>
                <a:cs typeface="Arial" pitchFamily="34" charset="0"/>
              </a:rPr>
              <a:t>For example, </a:t>
            </a:r>
            <a:r>
              <a:rPr lang="en-US" sz="2800" dirty="0">
                <a:solidFill>
                  <a:srgbClr val="6C0B24"/>
                </a:solidFill>
                <a:cs typeface="Arial" pitchFamily="34" charset="0"/>
              </a:rPr>
              <a:t>open('</a:t>
            </a:r>
            <a:r>
              <a:rPr lang="en-US" sz="2800" dirty="0" err="1">
                <a:solidFill>
                  <a:srgbClr val="6C0B24"/>
                </a:solidFill>
                <a:cs typeface="Arial" pitchFamily="34" charset="0"/>
              </a:rPr>
              <a:t>abc.txt</a:t>
            </a:r>
            <a:r>
              <a:rPr lang="en-US" sz="2800" dirty="0">
                <a:solidFill>
                  <a:srgbClr val="6C0B24"/>
                </a:solidFill>
                <a:cs typeface="Arial" pitchFamily="34" charset="0"/>
              </a:rPr>
              <a:t>', '</a:t>
            </a:r>
            <a:r>
              <a:rPr lang="en-US" sz="2800" dirty="0" err="1">
                <a:solidFill>
                  <a:srgbClr val="6C0B24"/>
                </a:solidFill>
                <a:cs typeface="Arial" pitchFamily="34" charset="0"/>
              </a:rPr>
              <a:t>rb</a:t>
            </a:r>
            <a:r>
              <a:rPr lang="en-US" sz="2800" dirty="0">
                <a:solidFill>
                  <a:srgbClr val="6C0B24"/>
                </a:solidFill>
                <a:cs typeface="Arial" pitchFamily="34" charset="0"/>
              </a:rPr>
              <a:t>')</a:t>
            </a:r>
            <a:r>
              <a:rPr lang="en-US" sz="2800" dirty="0">
                <a:solidFill>
                  <a:srgbClr val="222222"/>
                </a:solidFill>
                <a:cs typeface="Arial" pitchFamily="34" charset="0"/>
              </a:rPr>
              <a:t>. It opens the file to read-only in binary mode. The file pointer exists at the beginning of the file.</a:t>
            </a:r>
            <a:endParaRPr lang="en-US" sz="2800" dirty="0">
              <a:cs typeface="Arial" pitchFamily="34" charset="0"/>
            </a:endParaRPr>
          </a:p>
          <a:p>
            <a:pPr lvl="0" algn="just" eaLnBrk="0" fontAlgn="base" hangingPunct="0">
              <a:spcBef>
                <a:spcPct val="0"/>
              </a:spcBef>
              <a:spcAft>
                <a:spcPct val="0"/>
              </a:spcAft>
            </a:pPr>
            <a:r>
              <a:rPr lang="en-US" sz="2800" dirty="0">
                <a:solidFill>
                  <a:srgbClr val="222222"/>
                </a:solidFill>
                <a:cs typeface="Arial" pitchFamily="34" charset="0"/>
              </a:rPr>
              <a:t>The </a:t>
            </a:r>
            <a:r>
              <a:rPr lang="en-US" sz="2800" dirty="0">
                <a:solidFill>
                  <a:srgbClr val="6C0B24"/>
                </a:solidFill>
                <a:cs typeface="Arial" pitchFamily="34" charset="0"/>
              </a:rPr>
              <a:t>open()</a:t>
            </a:r>
            <a:r>
              <a:rPr lang="en-US" sz="2800" dirty="0">
                <a:solidFill>
                  <a:srgbClr val="222222"/>
                </a:solidFill>
                <a:cs typeface="Arial" pitchFamily="34" charset="0"/>
              </a:rPr>
              <a:t> function will return the </a:t>
            </a:r>
            <a:r>
              <a:rPr lang="en-US" sz="2800" dirty="0" err="1">
                <a:solidFill>
                  <a:srgbClr val="6C0B24"/>
                </a:solidFill>
                <a:cs typeface="Arial" pitchFamily="34" charset="0"/>
              </a:rPr>
              <a:t>BufferedReader</a:t>
            </a:r>
            <a:r>
              <a:rPr lang="en-US" sz="2800" dirty="0">
                <a:solidFill>
                  <a:srgbClr val="222222"/>
                </a:solidFill>
                <a:cs typeface="Arial" pitchFamily="34" charset="0"/>
              </a:rPr>
              <a:t> when we open the binary file for reading and the </a:t>
            </a:r>
            <a:r>
              <a:rPr lang="en-US" sz="2800" dirty="0" err="1">
                <a:solidFill>
                  <a:srgbClr val="6C0B24"/>
                </a:solidFill>
                <a:cs typeface="Arial" pitchFamily="34" charset="0"/>
              </a:rPr>
              <a:t>BufferedWriter</a:t>
            </a:r>
            <a:r>
              <a:rPr lang="en-US" sz="2800" dirty="0">
                <a:solidFill>
                  <a:srgbClr val="222222"/>
                </a:solidFill>
                <a:cs typeface="Arial" pitchFamily="34" charset="0"/>
              </a:rPr>
              <a:t> file object when we open a binary file for writing.</a:t>
            </a:r>
            <a:endParaRPr lang="en-US" sz="2800" dirty="0">
              <a:cs typeface="Arial" pitchFamily="34" charset="0"/>
            </a:endParaRPr>
          </a:p>
          <a:p>
            <a:pPr lvl="0" fontAlgn="base">
              <a:spcBef>
                <a:spcPct val="0"/>
              </a:spcBef>
              <a:spcAft>
                <a:spcPct val="0"/>
              </a:spcAft>
            </a:pPr>
            <a:endParaRPr lang="en-US" sz="2800" b="1" dirty="0">
              <a:solidFill>
                <a:srgbClr val="0070C0"/>
              </a:solidFill>
              <a:cs typeface="Arial" pitchFamily="34" charset="0"/>
            </a:endParaRPr>
          </a:p>
          <a:p>
            <a:pPr lvl="0" fontAlgn="base">
              <a:spcBef>
                <a:spcPct val="0"/>
              </a:spcBef>
              <a:spcAft>
                <a:spcPct val="0"/>
              </a:spcAft>
            </a:pPr>
            <a:r>
              <a:rPr lang="en-US" sz="2800" b="1" dirty="0">
                <a:solidFill>
                  <a:srgbClr val="0070C0"/>
                </a:solidFill>
                <a:cs typeface="Arial" pitchFamily="34" charset="0"/>
              </a:rPr>
              <a:t>Example</a:t>
            </a:r>
          </a:p>
          <a:p>
            <a:pPr lvl="0" eaLnBrk="0" fontAlgn="base" hangingPunct="0">
              <a:spcBef>
                <a:spcPct val="0"/>
              </a:spcBef>
              <a:spcAft>
                <a:spcPct val="0"/>
              </a:spcAft>
            </a:pPr>
            <a:r>
              <a:rPr lang="en-US" sz="2800" b="1" dirty="0">
                <a:solidFill>
                  <a:srgbClr val="0070C0"/>
                </a:solidFill>
                <a:cs typeface="Arial" pitchFamily="34" charset="0"/>
              </a:rPr>
              <a:t>file = open('</a:t>
            </a:r>
            <a:r>
              <a:rPr lang="en-US" sz="2800" b="1" dirty="0" err="1">
                <a:solidFill>
                  <a:srgbClr val="0070C0"/>
                </a:solidFill>
                <a:cs typeface="Arial" pitchFamily="34" charset="0"/>
              </a:rPr>
              <a:t>test.txt</a:t>
            </a:r>
            <a:r>
              <a:rPr lang="en-US" sz="2800" b="1" dirty="0">
                <a:solidFill>
                  <a:srgbClr val="0070C0"/>
                </a:solidFill>
                <a:cs typeface="Arial" pitchFamily="34" charset="0"/>
              </a:rPr>
              <a:t>', '</a:t>
            </a:r>
            <a:r>
              <a:rPr lang="en-US" sz="2800" b="1" dirty="0" err="1">
                <a:solidFill>
                  <a:srgbClr val="0070C0"/>
                </a:solidFill>
                <a:cs typeface="Arial" pitchFamily="34" charset="0"/>
              </a:rPr>
              <a:t>rb</a:t>
            </a:r>
            <a:r>
              <a:rPr lang="en-US" sz="2800" b="1" dirty="0">
                <a:solidFill>
                  <a:srgbClr val="0070C0"/>
                </a:solidFill>
                <a:cs typeface="Arial" pitchFamily="34" charset="0"/>
              </a:rPr>
              <a:t>') print(type(file)) </a:t>
            </a:r>
          </a:p>
          <a:p>
            <a:pPr lvl="0" eaLnBrk="0" fontAlgn="base" hangingPunct="0">
              <a:spcBef>
                <a:spcPct val="0"/>
              </a:spcBef>
              <a:spcAft>
                <a:spcPct val="0"/>
              </a:spcAft>
            </a:pPr>
            <a:r>
              <a:rPr lang="en-US" sz="2800" b="1" dirty="0">
                <a:solidFill>
                  <a:srgbClr val="0070C0"/>
                </a:solidFill>
                <a:cs typeface="Arial" pitchFamily="34" charset="0"/>
              </a:rPr>
              <a:t># Output: &lt;class '_</a:t>
            </a:r>
            <a:r>
              <a:rPr lang="en-US" sz="2800" b="1" dirty="0" err="1">
                <a:solidFill>
                  <a:srgbClr val="0070C0"/>
                </a:solidFill>
                <a:cs typeface="Arial" pitchFamily="34" charset="0"/>
              </a:rPr>
              <a:t>io.BufferedReader</a:t>
            </a:r>
            <a:r>
              <a:rPr lang="en-US" sz="2800" b="1" dirty="0">
                <a:solidFill>
                  <a:srgbClr val="0070C0"/>
                </a:solidFill>
                <a:cs typeface="Arial" pitchFamily="34" charset="0"/>
              </a:rPr>
              <a:t>'&gt; </a:t>
            </a:r>
          </a:p>
        </p:txBody>
      </p:sp>
    </p:spTree>
    <p:extLst>
      <p:ext uri="{BB962C8B-B14F-4D97-AF65-F5344CB8AC3E}">
        <p14:creationId xmlns:p14="http://schemas.microsoft.com/office/powerpoint/2010/main" xmlns="" val="148979868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Writing to file</a:t>
            </a:r>
            <a:endParaRPr lang="en-US" b="1" dirty="0"/>
          </a:p>
        </p:txBody>
      </p:sp>
      <p:sp>
        <p:nvSpPr>
          <p:cNvPr id="4" name="TextBox 3"/>
          <p:cNvSpPr txBox="1"/>
          <p:nvPr/>
        </p:nvSpPr>
        <p:spPr>
          <a:xfrm>
            <a:off x="228600" y="1066800"/>
            <a:ext cx="8763000" cy="4401205"/>
          </a:xfrm>
          <a:prstGeom prst="rect">
            <a:avLst/>
          </a:prstGeom>
          <a:noFill/>
        </p:spPr>
        <p:txBody>
          <a:bodyPr wrap="square" rtlCol="0">
            <a:spAutoFit/>
          </a:bodyPr>
          <a:lstStyle/>
          <a:p>
            <a:pPr lvl="0" fontAlgn="base">
              <a:spcBef>
                <a:spcPct val="0"/>
              </a:spcBef>
              <a:spcAft>
                <a:spcPct val="0"/>
              </a:spcAft>
            </a:pPr>
            <a:r>
              <a:rPr lang="en-US" sz="2800" b="1" dirty="0">
                <a:solidFill>
                  <a:srgbClr val="273239"/>
                </a:solidFill>
                <a:cs typeface="Arial" pitchFamily="34" charset="0"/>
              </a:rPr>
              <a:t>Writing to a file</a:t>
            </a:r>
            <a:endParaRPr lang="en-US" sz="2800" dirty="0">
              <a:cs typeface="Arial" pitchFamily="34" charset="0"/>
            </a:endParaRPr>
          </a:p>
          <a:p>
            <a:pPr lvl="0" eaLnBrk="0" fontAlgn="base" hangingPunct="0">
              <a:spcBef>
                <a:spcPct val="0"/>
              </a:spcBef>
              <a:spcAft>
                <a:spcPct val="0"/>
              </a:spcAft>
            </a:pPr>
            <a:r>
              <a:rPr lang="en-US" sz="2800" dirty="0">
                <a:solidFill>
                  <a:srgbClr val="273239"/>
                </a:solidFill>
                <a:cs typeface="Arial" pitchFamily="34" charset="0"/>
              </a:rPr>
              <a:t>There are two ways to write in a file.</a:t>
            </a:r>
            <a:endParaRPr lang="en-US" sz="2800" dirty="0">
              <a:cs typeface="Arial" pitchFamily="34" charset="0"/>
            </a:endParaRPr>
          </a:p>
          <a:p>
            <a:pPr lvl="0" eaLnBrk="0" fontAlgn="base" hangingPunct="0">
              <a:spcBef>
                <a:spcPct val="0"/>
              </a:spcBef>
              <a:spcAft>
                <a:spcPct val="0"/>
              </a:spcAft>
              <a:buFontTx/>
              <a:buAutoNum type="arabicPeriod"/>
            </a:pPr>
            <a:r>
              <a:rPr lang="en-US" sz="2800" b="1" dirty="0">
                <a:solidFill>
                  <a:srgbClr val="273239"/>
                </a:solidFill>
                <a:cs typeface="Arial" pitchFamily="34" charset="0"/>
              </a:rPr>
              <a:t> write() :</a:t>
            </a:r>
            <a:r>
              <a:rPr lang="en-US" sz="2800" dirty="0">
                <a:solidFill>
                  <a:srgbClr val="273239"/>
                </a:solidFill>
                <a:cs typeface="Arial" pitchFamily="34" charset="0"/>
              </a:rPr>
              <a:t> Inserts the string </a:t>
            </a:r>
            <a:r>
              <a:rPr lang="en-US" sz="2800" dirty="0" err="1">
                <a:solidFill>
                  <a:srgbClr val="273239"/>
                </a:solidFill>
                <a:cs typeface="Arial" pitchFamily="34" charset="0"/>
              </a:rPr>
              <a:t>str1</a:t>
            </a:r>
            <a:r>
              <a:rPr lang="en-US" sz="2800" dirty="0">
                <a:solidFill>
                  <a:srgbClr val="273239"/>
                </a:solidFill>
                <a:cs typeface="Arial" pitchFamily="34" charset="0"/>
              </a:rPr>
              <a:t> in a single line in the text file.</a:t>
            </a:r>
          </a:p>
          <a:p>
            <a:pPr lvl="0" eaLnBrk="0" fontAlgn="base" hangingPunct="0">
              <a:spcBef>
                <a:spcPct val="0"/>
              </a:spcBef>
              <a:spcAft>
                <a:spcPct val="0"/>
              </a:spcAft>
            </a:pPr>
            <a:r>
              <a:rPr lang="en-US" sz="2800" dirty="0" err="1">
                <a:solidFill>
                  <a:srgbClr val="273239"/>
                </a:solidFill>
                <a:cs typeface="Arial" pitchFamily="34" charset="0"/>
              </a:rPr>
              <a:t>File_object.write</a:t>
            </a:r>
            <a:r>
              <a:rPr lang="en-US" sz="2800" dirty="0">
                <a:solidFill>
                  <a:srgbClr val="273239"/>
                </a:solidFill>
                <a:cs typeface="Arial" pitchFamily="34" charset="0"/>
              </a:rPr>
              <a:t>(</a:t>
            </a:r>
            <a:r>
              <a:rPr lang="en-US" sz="2800" dirty="0" err="1">
                <a:solidFill>
                  <a:srgbClr val="273239"/>
                </a:solidFill>
                <a:cs typeface="Arial" pitchFamily="34" charset="0"/>
              </a:rPr>
              <a:t>str1</a:t>
            </a:r>
            <a:r>
              <a:rPr lang="en-US" sz="2800" dirty="0">
                <a:solidFill>
                  <a:srgbClr val="273239"/>
                </a:solidFill>
                <a:cs typeface="Arial" pitchFamily="34" charset="0"/>
              </a:rPr>
              <a:t>)</a:t>
            </a:r>
          </a:p>
          <a:p>
            <a:pPr lvl="0" eaLnBrk="0" fontAlgn="base" hangingPunct="0">
              <a:spcBef>
                <a:spcPct val="0"/>
              </a:spcBef>
              <a:spcAft>
                <a:spcPct val="0"/>
              </a:spcAft>
            </a:pPr>
            <a:endParaRPr lang="en-US" sz="2800" dirty="0">
              <a:cs typeface="Arial" pitchFamily="34" charset="0"/>
            </a:endParaRPr>
          </a:p>
          <a:p>
            <a:pPr lvl="0" eaLnBrk="0" fontAlgn="base" hangingPunct="0">
              <a:spcBef>
                <a:spcPct val="0"/>
              </a:spcBef>
              <a:spcAft>
                <a:spcPct val="0"/>
              </a:spcAft>
            </a:pPr>
            <a:r>
              <a:rPr lang="en-US" sz="2800" b="1" dirty="0">
                <a:solidFill>
                  <a:srgbClr val="273239"/>
                </a:solidFill>
                <a:cs typeface="Arial" pitchFamily="34" charset="0"/>
              </a:rPr>
              <a:t>2. </a:t>
            </a:r>
            <a:r>
              <a:rPr lang="en-US" sz="2800" b="1" dirty="0" err="1">
                <a:solidFill>
                  <a:srgbClr val="273239"/>
                </a:solidFill>
                <a:cs typeface="Arial" pitchFamily="34" charset="0"/>
              </a:rPr>
              <a:t>writelines</a:t>
            </a:r>
            <a:r>
              <a:rPr lang="en-US" sz="2800" b="1" dirty="0">
                <a:solidFill>
                  <a:srgbClr val="273239"/>
                </a:solidFill>
                <a:cs typeface="Arial" pitchFamily="34" charset="0"/>
              </a:rPr>
              <a:t>() :</a:t>
            </a:r>
            <a:r>
              <a:rPr lang="en-US" sz="2800" dirty="0">
                <a:solidFill>
                  <a:srgbClr val="273239"/>
                </a:solidFill>
                <a:cs typeface="Arial" pitchFamily="34" charset="0"/>
              </a:rPr>
              <a:t> For a list of string elements, each string is inserted in the text </a:t>
            </a:r>
            <a:r>
              <a:rPr lang="en-US" sz="2800" dirty="0" err="1">
                <a:solidFill>
                  <a:srgbClr val="273239"/>
                </a:solidFill>
                <a:cs typeface="Arial" pitchFamily="34" charset="0"/>
              </a:rPr>
              <a:t>file.Used</a:t>
            </a:r>
            <a:r>
              <a:rPr lang="en-US" sz="2800" dirty="0">
                <a:solidFill>
                  <a:srgbClr val="273239"/>
                </a:solidFill>
                <a:cs typeface="Arial" pitchFamily="34" charset="0"/>
              </a:rPr>
              <a:t> to insert multiple strings at a single time.</a:t>
            </a:r>
          </a:p>
          <a:p>
            <a:pPr lvl="0" eaLnBrk="0" fontAlgn="base" hangingPunct="0">
              <a:spcBef>
                <a:spcPct val="0"/>
              </a:spcBef>
              <a:spcAft>
                <a:spcPct val="0"/>
              </a:spcAft>
            </a:pPr>
            <a:r>
              <a:rPr lang="en-US" sz="2800" dirty="0" err="1">
                <a:solidFill>
                  <a:srgbClr val="273239"/>
                </a:solidFill>
                <a:cs typeface="Arial" pitchFamily="34" charset="0"/>
              </a:rPr>
              <a:t>File_object.writelines</a:t>
            </a:r>
            <a:r>
              <a:rPr lang="en-US" sz="2800" dirty="0">
                <a:solidFill>
                  <a:srgbClr val="273239"/>
                </a:solidFill>
                <a:cs typeface="Arial" pitchFamily="34" charset="0"/>
              </a:rPr>
              <a:t>(L) for L = [</a:t>
            </a:r>
            <a:r>
              <a:rPr lang="en-US" sz="2800" dirty="0" err="1">
                <a:solidFill>
                  <a:srgbClr val="273239"/>
                </a:solidFill>
                <a:cs typeface="Arial" pitchFamily="34" charset="0"/>
              </a:rPr>
              <a:t>str1</a:t>
            </a:r>
            <a:r>
              <a:rPr lang="en-US" sz="2800" dirty="0">
                <a:solidFill>
                  <a:srgbClr val="273239"/>
                </a:solidFill>
                <a:cs typeface="Arial" pitchFamily="34" charset="0"/>
              </a:rPr>
              <a:t>, </a:t>
            </a:r>
            <a:r>
              <a:rPr lang="en-US" sz="2800" dirty="0" err="1">
                <a:solidFill>
                  <a:srgbClr val="273239"/>
                </a:solidFill>
                <a:cs typeface="Arial" pitchFamily="34" charset="0"/>
              </a:rPr>
              <a:t>str2</a:t>
            </a:r>
            <a:r>
              <a:rPr lang="en-US" sz="2800" dirty="0">
                <a:solidFill>
                  <a:srgbClr val="273239"/>
                </a:solidFill>
                <a:cs typeface="Arial" pitchFamily="34" charset="0"/>
              </a:rPr>
              <a:t>, </a:t>
            </a:r>
            <a:r>
              <a:rPr lang="en-US" sz="2800" dirty="0" err="1">
                <a:solidFill>
                  <a:srgbClr val="273239"/>
                </a:solidFill>
                <a:cs typeface="Arial" pitchFamily="34" charset="0"/>
              </a:rPr>
              <a:t>str3</a:t>
            </a:r>
            <a:r>
              <a:rPr lang="en-US" sz="2800" dirty="0">
                <a:solidFill>
                  <a:srgbClr val="273239"/>
                </a:solidFill>
                <a:cs typeface="Arial" pitchFamily="34" charset="0"/>
              </a:rPr>
              <a:t>] </a:t>
            </a:r>
            <a:endParaRPr lang="en-US" sz="2800" dirty="0">
              <a:cs typeface="Arial" pitchFamily="34" charset="0"/>
            </a:endParaRPr>
          </a:p>
        </p:txBody>
      </p:sp>
    </p:spTree>
    <p:extLst>
      <p:ext uri="{BB962C8B-B14F-4D97-AF65-F5344CB8AC3E}">
        <p14:creationId xmlns:p14="http://schemas.microsoft.com/office/powerpoint/2010/main" xmlns="" val="1535927245"/>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Reading from file</a:t>
            </a:r>
            <a:endParaRPr lang="en-US" b="1" dirty="0"/>
          </a:p>
        </p:txBody>
      </p:sp>
      <p:sp>
        <p:nvSpPr>
          <p:cNvPr id="4" name="TextBox 3"/>
          <p:cNvSpPr txBox="1"/>
          <p:nvPr/>
        </p:nvSpPr>
        <p:spPr>
          <a:xfrm>
            <a:off x="228600" y="1066800"/>
            <a:ext cx="8763000" cy="4832092"/>
          </a:xfrm>
          <a:prstGeom prst="rect">
            <a:avLst/>
          </a:prstGeom>
          <a:noFill/>
        </p:spPr>
        <p:txBody>
          <a:bodyPr wrap="square" rtlCol="0">
            <a:spAutoFit/>
          </a:bodyPr>
          <a:lstStyle/>
          <a:p>
            <a:pPr lvl="0" algn="just" fontAlgn="base">
              <a:spcBef>
                <a:spcPct val="0"/>
              </a:spcBef>
              <a:spcAft>
                <a:spcPct val="0"/>
              </a:spcAft>
            </a:pPr>
            <a:r>
              <a:rPr lang="en-US" sz="2800" b="1" dirty="0">
                <a:solidFill>
                  <a:srgbClr val="273239"/>
                </a:solidFill>
                <a:cs typeface="Arial" pitchFamily="34" charset="0"/>
              </a:rPr>
              <a:t>Reading from a file</a:t>
            </a:r>
            <a:endParaRPr lang="en-US" sz="2800" dirty="0">
              <a:cs typeface="Arial" pitchFamily="34" charset="0"/>
            </a:endParaRPr>
          </a:p>
          <a:p>
            <a:pPr lvl="0" algn="just" eaLnBrk="0" fontAlgn="base" hangingPunct="0">
              <a:spcBef>
                <a:spcPct val="0"/>
              </a:spcBef>
              <a:spcAft>
                <a:spcPct val="0"/>
              </a:spcAft>
            </a:pPr>
            <a:r>
              <a:rPr lang="en-US" sz="2800" dirty="0">
                <a:solidFill>
                  <a:srgbClr val="273239"/>
                </a:solidFill>
                <a:cs typeface="Arial" pitchFamily="34" charset="0"/>
              </a:rPr>
              <a:t>There are three ways to read data from a text file.</a:t>
            </a:r>
            <a:endParaRPr lang="en-US" sz="2800" dirty="0">
              <a:cs typeface="Arial" pitchFamily="34" charset="0"/>
            </a:endParaRPr>
          </a:p>
          <a:p>
            <a:pPr lvl="0" algn="just" eaLnBrk="0" fontAlgn="base" hangingPunct="0">
              <a:spcBef>
                <a:spcPct val="0"/>
              </a:spcBef>
              <a:spcAft>
                <a:spcPct val="0"/>
              </a:spcAft>
              <a:buFontTx/>
              <a:buAutoNum type="arabicPeriod"/>
            </a:pPr>
            <a:r>
              <a:rPr lang="en-US" sz="2800" b="1" dirty="0">
                <a:solidFill>
                  <a:srgbClr val="273239"/>
                </a:solidFill>
                <a:cs typeface="Arial" pitchFamily="34" charset="0"/>
              </a:rPr>
              <a:t> read() :</a:t>
            </a:r>
            <a:r>
              <a:rPr lang="en-US" sz="2800" dirty="0">
                <a:solidFill>
                  <a:srgbClr val="273239"/>
                </a:solidFill>
                <a:cs typeface="Arial" pitchFamily="34" charset="0"/>
              </a:rPr>
              <a:t> Returns the read bytes in form of a string. Reads n bytes, if no n specified, reads the entire file.</a:t>
            </a:r>
          </a:p>
          <a:p>
            <a:pPr lvl="0" algn="just" eaLnBrk="0" fontAlgn="base" hangingPunct="0">
              <a:spcBef>
                <a:spcPct val="0"/>
              </a:spcBef>
              <a:spcAft>
                <a:spcPct val="0"/>
              </a:spcAft>
            </a:pPr>
            <a:r>
              <a:rPr lang="en-US" sz="2800" dirty="0" err="1">
                <a:solidFill>
                  <a:srgbClr val="273239"/>
                </a:solidFill>
                <a:cs typeface="Arial" pitchFamily="34" charset="0"/>
              </a:rPr>
              <a:t>File_object.read</a:t>
            </a:r>
            <a:r>
              <a:rPr lang="en-US" sz="2800" dirty="0">
                <a:solidFill>
                  <a:srgbClr val="273239"/>
                </a:solidFill>
                <a:cs typeface="Arial" pitchFamily="34" charset="0"/>
              </a:rPr>
              <a:t>([n])</a:t>
            </a:r>
          </a:p>
          <a:p>
            <a:pPr lvl="0" algn="just" eaLnBrk="0" fontAlgn="base" hangingPunct="0">
              <a:spcBef>
                <a:spcPct val="0"/>
              </a:spcBef>
              <a:spcAft>
                <a:spcPct val="0"/>
              </a:spcAft>
            </a:pPr>
            <a:endParaRPr lang="en-US" sz="2800" dirty="0">
              <a:cs typeface="Arial" pitchFamily="34" charset="0"/>
            </a:endParaRPr>
          </a:p>
          <a:p>
            <a:pPr lvl="0" algn="just" eaLnBrk="0" fontAlgn="base" hangingPunct="0">
              <a:spcBef>
                <a:spcPct val="0"/>
              </a:spcBef>
              <a:spcAft>
                <a:spcPct val="0"/>
              </a:spcAft>
            </a:pPr>
            <a:r>
              <a:rPr lang="en-US" sz="2800" b="1" dirty="0">
                <a:solidFill>
                  <a:srgbClr val="273239"/>
                </a:solidFill>
                <a:cs typeface="Arial" pitchFamily="34" charset="0"/>
              </a:rPr>
              <a:t>2. </a:t>
            </a:r>
            <a:r>
              <a:rPr lang="en-US" sz="2800" b="1" dirty="0" err="1">
                <a:solidFill>
                  <a:srgbClr val="273239"/>
                </a:solidFill>
                <a:cs typeface="Arial" pitchFamily="34" charset="0"/>
              </a:rPr>
              <a:t>readline</a:t>
            </a:r>
            <a:r>
              <a:rPr lang="en-US" sz="2800" b="1" dirty="0">
                <a:solidFill>
                  <a:srgbClr val="273239"/>
                </a:solidFill>
                <a:cs typeface="Arial" pitchFamily="34" charset="0"/>
              </a:rPr>
              <a:t>() :</a:t>
            </a:r>
            <a:r>
              <a:rPr lang="en-US" sz="2800" dirty="0">
                <a:solidFill>
                  <a:srgbClr val="273239"/>
                </a:solidFill>
                <a:cs typeface="Arial" pitchFamily="34" charset="0"/>
              </a:rPr>
              <a:t> Reads a line of the file and returns in form of a </a:t>
            </a:r>
            <a:r>
              <a:rPr lang="en-US" sz="2800" err="1">
                <a:solidFill>
                  <a:srgbClr val="273239"/>
                </a:solidFill>
                <a:cs typeface="Arial" pitchFamily="34" charset="0"/>
              </a:rPr>
              <a:t>string</a:t>
            </a:r>
            <a:r>
              <a:rPr lang="en-US" sz="2800" smtClean="0">
                <a:solidFill>
                  <a:srgbClr val="273239"/>
                </a:solidFill>
                <a:cs typeface="Arial" pitchFamily="34" charset="0"/>
              </a:rPr>
              <a:t>. For </a:t>
            </a:r>
            <a:r>
              <a:rPr lang="en-US" sz="2800" dirty="0">
                <a:solidFill>
                  <a:srgbClr val="273239"/>
                </a:solidFill>
                <a:cs typeface="Arial" pitchFamily="34" charset="0"/>
              </a:rPr>
              <a:t>specified n, reads at most n bytes. However, does not reads more than one line, even if n exceeds the length of the line.</a:t>
            </a:r>
          </a:p>
          <a:p>
            <a:pPr lvl="0" algn="just" eaLnBrk="0" fontAlgn="base" hangingPunct="0">
              <a:spcBef>
                <a:spcPct val="0"/>
              </a:spcBef>
              <a:spcAft>
                <a:spcPct val="0"/>
              </a:spcAft>
            </a:pPr>
            <a:r>
              <a:rPr lang="en-US" sz="2800" dirty="0" err="1">
                <a:solidFill>
                  <a:srgbClr val="273239"/>
                </a:solidFill>
                <a:cs typeface="Arial" pitchFamily="34" charset="0"/>
              </a:rPr>
              <a:t>File_object.readline</a:t>
            </a:r>
            <a:r>
              <a:rPr lang="en-US" sz="2800" dirty="0">
                <a:solidFill>
                  <a:srgbClr val="273239"/>
                </a:solidFill>
                <a:cs typeface="Arial" pitchFamily="34" charset="0"/>
              </a:rPr>
              <a:t>([n])</a:t>
            </a:r>
            <a:r>
              <a:rPr lang="en-US" sz="2800" dirty="0">
                <a:cs typeface="Arial" pitchFamily="34" charset="0"/>
              </a:rPr>
              <a:t> </a:t>
            </a:r>
          </a:p>
        </p:txBody>
      </p:sp>
    </p:spTree>
    <p:extLst>
      <p:ext uri="{BB962C8B-B14F-4D97-AF65-F5344CB8AC3E}">
        <p14:creationId xmlns:p14="http://schemas.microsoft.com/office/powerpoint/2010/main" xmlns="" val="405495344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Reading from file</a:t>
            </a:r>
            <a:endParaRPr lang="en-US" b="1" dirty="0"/>
          </a:p>
        </p:txBody>
      </p:sp>
      <p:sp>
        <p:nvSpPr>
          <p:cNvPr id="4" name="TextBox 3"/>
          <p:cNvSpPr txBox="1"/>
          <p:nvPr/>
        </p:nvSpPr>
        <p:spPr>
          <a:xfrm>
            <a:off x="228600" y="1066800"/>
            <a:ext cx="8763000" cy="2677656"/>
          </a:xfrm>
          <a:prstGeom prst="rect">
            <a:avLst/>
          </a:prstGeom>
          <a:noFill/>
        </p:spPr>
        <p:txBody>
          <a:bodyPr wrap="square" rtlCol="0">
            <a:spAutoFit/>
          </a:bodyPr>
          <a:lstStyle/>
          <a:p>
            <a:pPr lvl="0" eaLnBrk="0" fontAlgn="base" hangingPunct="0">
              <a:spcBef>
                <a:spcPct val="0"/>
              </a:spcBef>
              <a:spcAft>
                <a:spcPct val="0"/>
              </a:spcAft>
            </a:pPr>
            <a:r>
              <a:rPr lang="en-US" sz="2800" b="1" dirty="0" smtClean="0">
                <a:solidFill>
                  <a:srgbClr val="273239"/>
                </a:solidFill>
                <a:cs typeface="Arial" pitchFamily="34" charset="0"/>
              </a:rPr>
              <a:t>3</a:t>
            </a:r>
            <a:r>
              <a:rPr lang="en-US" sz="2800" b="1" dirty="0">
                <a:solidFill>
                  <a:srgbClr val="273239"/>
                </a:solidFill>
                <a:cs typeface="Arial" pitchFamily="34" charset="0"/>
              </a:rPr>
              <a:t>. </a:t>
            </a:r>
            <a:r>
              <a:rPr lang="en-US" sz="2800" b="1" dirty="0" err="1">
                <a:solidFill>
                  <a:srgbClr val="273239"/>
                </a:solidFill>
                <a:cs typeface="Arial" pitchFamily="34" charset="0"/>
              </a:rPr>
              <a:t>readlines</a:t>
            </a:r>
            <a:r>
              <a:rPr lang="en-US" sz="2800" b="1" dirty="0">
                <a:solidFill>
                  <a:srgbClr val="273239"/>
                </a:solidFill>
                <a:cs typeface="Arial" pitchFamily="34" charset="0"/>
              </a:rPr>
              <a:t>() :</a:t>
            </a:r>
            <a:r>
              <a:rPr lang="en-US" sz="2800" dirty="0">
                <a:solidFill>
                  <a:srgbClr val="273239"/>
                </a:solidFill>
                <a:cs typeface="Arial" pitchFamily="34" charset="0"/>
              </a:rPr>
              <a:t> Reads all the lines and return them as each line a string element in a list.</a:t>
            </a:r>
          </a:p>
          <a:p>
            <a:pPr lvl="0" eaLnBrk="0" fontAlgn="base" hangingPunct="0">
              <a:spcBef>
                <a:spcPct val="0"/>
              </a:spcBef>
              <a:spcAft>
                <a:spcPct val="0"/>
              </a:spcAft>
            </a:pPr>
            <a:endParaRPr lang="en-US" sz="2800" dirty="0">
              <a:solidFill>
                <a:srgbClr val="273239"/>
              </a:solidFill>
              <a:cs typeface="Arial" pitchFamily="34" charset="0"/>
            </a:endParaRPr>
          </a:p>
          <a:p>
            <a:pPr lvl="0" eaLnBrk="0" fontAlgn="base" hangingPunct="0">
              <a:spcBef>
                <a:spcPct val="0"/>
              </a:spcBef>
              <a:spcAft>
                <a:spcPct val="0"/>
              </a:spcAft>
            </a:pPr>
            <a:r>
              <a:rPr lang="en-US" sz="2800" dirty="0" err="1">
                <a:solidFill>
                  <a:srgbClr val="273239"/>
                </a:solidFill>
                <a:cs typeface="Arial" pitchFamily="34" charset="0"/>
              </a:rPr>
              <a:t>File_object.readlines</a:t>
            </a:r>
            <a:r>
              <a:rPr lang="en-US" sz="2800" dirty="0">
                <a:solidFill>
                  <a:srgbClr val="273239"/>
                </a:solidFill>
                <a:cs typeface="Arial" pitchFamily="34" charset="0"/>
              </a:rPr>
              <a:t>()</a:t>
            </a:r>
          </a:p>
          <a:p>
            <a:pPr lvl="0" eaLnBrk="0" fontAlgn="base" hangingPunct="0">
              <a:spcBef>
                <a:spcPct val="0"/>
              </a:spcBef>
              <a:spcAft>
                <a:spcPct val="0"/>
              </a:spcAft>
            </a:pPr>
            <a:endParaRPr lang="en-US" sz="2800" dirty="0">
              <a:cs typeface="Arial" pitchFamily="34" charset="0"/>
            </a:endParaRPr>
          </a:p>
          <a:p>
            <a:pPr lvl="0" eaLnBrk="0" fontAlgn="base" hangingPunct="0">
              <a:spcBef>
                <a:spcPct val="0"/>
              </a:spcBef>
              <a:spcAft>
                <a:spcPct val="0"/>
              </a:spcAft>
            </a:pPr>
            <a:r>
              <a:rPr lang="en-US" sz="2800" b="1" dirty="0">
                <a:solidFill>
                  <a:srgbClr val="273239"/>
                </a:solidFill>
                <a:cs typeface="Arial" pitchFamily="34" charset="0"/>
              </a:rPr>
              <a:t>Note: </a:t>
            </a:r>
            <a:r>
              <a:rPr lang="en-US" sz="2800" dirty="0">
                <a:solidFill>
                  <a:srgbClr val="273239"/>
                </a:solidFill>
                <a:cs typeface="Arial" pitchFamily="34" charset="0"/>
              </a:rPr>
              <a:t>‘\n’ is treated as a special character of two bytes </a:t>
            </a:r>
            <a:endParaRPr lang="en-US" sz="2800" dirty="0">
              <a:cs typeface="Arial" pitchFamily="34" charset="0"/>
            </a:endParaRPr>
          </a:p>
        </p:txBody>
      </p:sp>
    </p:spTree>
    <p:extLst>
      <p:ext uri="{BB962C8B-B14F-4D97-AF65-F5344CB8AC3E}">
        <p14:creationId xmlns:p14="http://schemas.microsoft.com/office/powerpoint/2010/main" xmlns="" val="19546777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b="1" dirty="0"/>
          </a:p>
        </p:txBody>
      </p:sp>
      <p:sp>
        <p:nvSpPr>
          <p:cNvPr id="4" name="TextBox 3"/>
          <p:cNvSpPr txBox="1"/>
          <p:nvPr/>
        </p:nvSpPr>
        <p:spPr>
          <a:xfrm>
            <a:off x="228600" y="1066800"/>
            <a:ext cx="8763000" cy="4832092"/>
          </a:xfrm>
          <a:prstGeom prst="rect">
            <a:avLst/>
          </a:prstGeom>
          <a:noFill/>
        </p:spPr>
        <p:txBody>
          <a:bodyPr wrap="square" rtlCol="0">
            <a:spAutoFit/>
          </a:bodyPr>
          <a:lstStyle/>
          <a:p>
            <a:pPr lvl="0" fontAlgn="base">
              <a:spcBef>
                <a:spcPct val="0"/>
              </a:spcBef>
              <a:spcAft>
                <a:spcPct val="0"/>
              </a:spcAft>
            </a:pPr>
            <a:r>
              <a:rPr lang="en-US" sz="2800" b="1" dirty="0">
                <a:solidFill>
                  <a:srgbClr val="008200"/>
                </a:solidFill>
                <a:cs typeface="Arial" pitchFamily="34" charset="0"/>
              </a:rPr>
              <a:t># Program to show various ways to read and</a:t>
            </a:r>
            <a:endParaRPr lang="en-US" sz="2800" b="1" dirty="0">
              <a:cs typeface="Arial" pitchFamily="34" charset="0"/>
            </a:endParaRPr>
          </a:p>
          <a:p>
            <a:pPr lvl="0" eaLnBrk="0" fontAlgn="base" hangingPunct="0">
              <a:spcBef>
                <a:spcPct val="0"/>
              </a:spcBef>
              <a:spcAft>
                <a:spcPct val="0"/>
              </a:spcAft>
            </a:pPr>
            <a:r>
              <a:rPr lang="en-US" sz="2800" b="1" dirty="0">
                <a:solidFill>
                  <a:srgbClr val="008200"/>
                </a:solidFill>
                <a:cs typeface="Arial" pitchFamily="34" charset="0"/>
              </a:rPr>
              <a:t># write data in a file.</a:t>
            </a:r>
            <a:endParaRPr lang="en-US" sz="2800" b="1" dirty="0">
              <a:cs typeface="Arial" pitchFamily="34" charset="0"/>
            </a:endParaRPr>
          </a:p>
          <a:p>
            <a:pPr lvl="0" eaLnBrk="0" fontAlgn="base" hangingPunct="0">
              <a:spcBef>
                <a:spcPct val="0"/>
              </a:spcBef>
              <a:spcAft>
                <a:spcPct val="0"/>
              </a:spcAft>
            </a:pPr>
            <a:r>
              <a:rPr lang="en-US" sz="2800" b="1" dirty="0" err="1">
                <a:solidFill>
                  <a:srgbClr val="000000"/>
                </a:solidFill>
                <a:cs typeface="Arial" pitchFamily="34" charset="0"/>
              </a:rPr>
              <a:t>file1</a:t>
            </a:r>
            <a:r>
              <a:rPr lang="en-US" sz="2800" b="1" dirty="0">
                <a:solidFill>
                  <a:srgbClr val="000000"/>
                </a:solidFill>
                <a:cs typeface="Arial" pitchFamily="34" charset="0"/>
              </a:rPr>
              <a:t> </a:t>
            </a:r>
            <a:r>
              <a:rPr lang="en-US" sz="2800" b="1" dirty="0">
                <a:solidFill>
                  <a:srgbClr val="006699"/>
                </a:solidFill>
                <a:cs typeface="Arial" pitchFamily="34" charset="0"/>
              </a:rPr>
              <a:t>=</a:t>
            </a:r>
            <a:r>
              <a:rPr lang="en-US" sz="2800" b="1" dirty="0">
                <a:solidFill>
                  <a:srgbClr val="273239"/>
                </a:solidFill>
                <a:cs typeface="Arial" pitchFamily="34" charset="0"/>
              </a:rPr>
              <a:t> </a:t>
            </a:r>
            <a:r>
              <a:rPr lang="en-US" sz="2800" b="1" dirty="0">
                <a:solidFill>
                  <a:srgbClr val="FF1493"/>
                </a:solidFill>
                <a:cs typeface="Arial" pitchFamily="34" charset="0"/>
              </a:rPr>
              <a:t>open</a:t>
            </a:r>
            <a:r>
              <a:rPr lang="en-US" sz="2800" b="1" dirty="0">
                <a:solidFill>
                  <a:srgbClr val="000000"/>
                </a:solidFill>
                <a:cs typeface="Arial" pitchFamily="34" charset="0"/>
              </a:rPr>
              <a:t>(</a:t>
            </a:r>
            <a:r>
              <a:rPr lang="en-US" sz="2800" b="1" dirty="0">
                <a:solidFill>
                  <a:srgbClr val="0000FF"/>
                </a:solidFill>
                <a:cs typeface="Arial" pitchFamily="34" charset="0"/>
              </a:rPr>
              <a:t>"</a:t>
            </a:r>
            <a:r>
              <a:rPr lang="en-US" sz="2800" b="1" dirty="0" err="1">
                <a:solidFill>
                  <a:srgbClr val="0000FF"/>
                </a:solidFill>
                <a:cs typeface="Arial" pitchFamily="34" charset="0"/>
              </a:rPr>
              <a:t>myfile.txt"</a:t>
            </a:r>
            <a:r>
              <a:rPr lang="en-US" sz="2800" b="1" dirty="0" err="1">
                <a:solidFill>
                  <a:srgbClr val="000000"/>
                </a:solidFill>
                <a:cs typeface="Arial" pitchFamily="34" charset="0"/>
              </a:rPr>
              <a:t>,</a:t>
            </a:r>
            <a:r>
              <a:rPr lang="en-US" sz="2800" b="1" dirty="0" err="1">
                <a:solidFill>
                  <a:srgbClr val="0000FF"/>
                </a:solidFill>
                <a:cs typeface="Arial" pitchFamily="34" charset="0"/>
              </a:rPr>
              <a:t>"w</a:t>
            </a:r>
            <a:r>
              <a:rPr lang="en-US" sz="2800" b="1" dirty="0">
                <a:solidFill>
                  <a:srgbClr val="0000FF"/>
                </a:solidFill>
                <a:cs typeface="Arial" pitchFamily="34" charset="0"/>
              </a:rPr>
              <a:t>"</a:t>
            </a:r>
            <a:r>
              <a:rPr lang="en-US" sz="2800" b="1" dirty="0">
                <a:solidFill>
                  <a:srgbClr val="000000"/>
                </a:solidFill>
                <a:cs typeface="Arial" pitchFamily="34" charset="0"/>
              </a:rPr>
              <a:t>)</a:t>
            </a:r>
            <a:endParaRPr lang="en-US" sz="2800" b="1" dirty="0">
              <a:cs typeface="Arial" pitchFamily="34" charset="0"/>
            </a:endParaRPr>
          </a:p>
          <a:p>
            <a:pPr lvl="0" eaLnBrk="0" fontAlgn="base" hangingPunct="0">
              <a:spcBef>
                <a:spcPct val="0"/>
              </a:spcBef>
              <a:spcAft>
                <a:spcPct val="0"/>
              </a:spcAft>
            </a:pPr>
            <a:r>
              <a:rPr lang="en-US" sz="2800" b="1" dirty="0">
                <a:solidFill>
                  <a:srgbClr val="000000"/>
                </a:solidFill>
                <a:cs typeface="Arial" pitchFamily="34" charset="0"/>
              </a:rPr>
              <a:t>L </a:t>
            </a:r>
            <a:r>
              <a:rPr lang="en-US" sz="2800" b="1" dirty="0">
                <a:solidFill>
                  <a:srgbClr val="006699"/>
                </a:solidFill>
                <a:cs typeface="Arial" pitchFamily="34" charset="0"/>
              </a:rPr>
              <a:t>=</a:t>
            </a:r>
            <a:r>
              <a:rPr lang="en-US" sz="2800" b="1" dirty="0">
                <a:solidFill>
                  <a:srgbClr val="273239"/>
                </a:solidFill>
                <a:cs typeface="Arial" pitchFamily="34" charset="0"/>
              </a:rPr>
              <a:t> </a:t>
            </a:r>
            <a:r>
              <a:rPr lang="en-US" sz="2800" b="1" dirty="0">
                <a:solidFill>
                  <a:srgbClr val="000000"/>
                </a:solidFill>
                <a:cs typeface="Arial" pitchFamily="34" charset="0"/>
              </a:rPr>
              <a:t>[</a:t>
            </a:r>
            <a:r>
              <a:rPr lang="en-US" sz="2800" b="1" dirty="0">
                <a:solidFill>
                  <a:srgbClr val="0000FF"/>
                </a:solidFill>
                <a:cs typeface="Arial" pitchFamily="34" charset="0"/>
              </a:rPr>
              <a:t>"This is Delhi \</a:t>
            </a:r>
            <a:r>
              <a:rPr lang="en-US" sz="2800" b="1" dirty="0" err="1">
                <a:solidFill>
                  <a:srgbClr val="0000FF"/>
                </a:solidFill>
                <a:cs typeface="Arial" pitchFamily="34" charset="0"/>
              </a:rPr>
              <a:t>n"</a:t>
            </a:r>
            <a:r>
              <a:rPr lang="en-US" sz="2800" b="1" dirty="0" err="1">
                <a:solidFill>
                  <a:srgbClr val="000000"/>
                </a:solidFill>
                <a:cs typeface="Arial" pitchFamily="34" charset="0"/>
              </a:rPr>
              <a:t>,</a:t>
            </a:r>
            <a:r>
              <a:rPr lang="en-US" sz="2800" b="1" dirty="0" err="1">
                <a:solidFill>
                  <a:srgbClr val="0000FF"/>
                </a:solidFill>
                <a:cs typeface="Arial" pitchFamily="34" charset="0"/>
              </a:rPr>
              <a:t>"This</a:t>
            </a:r>
            <a:r>
              <a:rPr lang="en-US" sz="2800" b="1" dirty="0">
                <a:solidFill>
                  <a:srgbClr val="0000FF"/>
                </a:solidFill>
                <a:cs typeface="Arial" pitchFamily="34" charset="0"/>
              </a:rPr>
              <a:t> is Paris \</a:t>
            </a:r>
            <a:r>
              <a:rPr lang="en-US" sz="2800" b="1" dirty="0" err="1">
                <a:solidFill>
                  <a:srgbClr val="0000FF"/>
                </a:solidFill>
                <a:cs typeface="Arial" pitchFamily="34" charset="0"/>
              </a:rPr>
              <a:t>n"</a:t>
            </a:r>
            <a:r>
              <a:rPr lang="en-US" sz="2800" b="1" dirty="0" err="1">
                <a:solidFill>
                  <a:srgbClr val="000000"/>
                </a:solidFill>
                <a:cs typeface="Arial" pitchFamily="34" charset="0"/>
              </a:rPr>
              <a:t>,</a:t>
            </a:r>
            <a:r>
              <a:rPr lang="en-US" sz="2800" b="1" dirty="0" err="1">
                <a:solidFill>
                  <a:srgbClr val="0000FF"/>
                </a:solidFill>
                <a:cs typeface="Arial" pitchFamily="34" charset="0"/>
              </a:rPr>
              <a:t>"This</a:t>
            </a:r>
            <a:r>
              <a:rPr lang="en-US" sz="2800" b="1" dirty="0">
                <a:solidFill>
                  <a:srgbClr val="0000FF"/>
                </a:solidFill>
                <a:cs typeface="Arial" pitchFamily="34" charset="0"/>
              </a:rPr>
              <a:t> is London \n"</a:t>
            </a:r>
            <a:r>
              <a:rPr lang="en-US" sz="2800" b="1" dirty="0">
                <a:solidFill>
                  <a:srgbClr val="000000"/>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273239"/>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008200"/>
                </a:solidFill>
                <a:cs typeface="Arial" pitchFamily="34" charset="0"/>
              </a:rPr>
              <a:t># \n is placed to indicate </a:t>
            </a:r>
            <a:r>
              <a:rPr lang="en-US" sz="2800" b="1" dirty="0" err="1">
                <a:solidFill>
                  <a:srgbClr val="008200"/>
                </a:solidFill>
                <a:cs typeface="Arial" pitchFamily="34" charset="0"/>
              </a:rPr>
              <a:t>EOL</a:t>
            </a:r>
            <a:r>
              <a:rPr lang="en-US" sz="2800" b="1" dirty="0">
                <a:solidFill>
                  <a:srgbClr val="008200"/>
                </a:solidFill>
                <a:cs typeface="Arial" pitchFamily="34" charset="0"/>
              </a:rPr>
              <a:t> (End of Line)</a:t>
            </a:r>
            <a:endParaRPr lang="en-US" sz="2800" b="1" dirty="0">
              <a:cs typeface="Arial" pitchFamily="34" charset="0"/>
            </a:endParaRPr>
          </a:p>
          <a:p>
            <a:pPr lvl="0" eaLnBrk="0" fontAlgn="base" hangingPunct="0">
              <a:spcBef>
                <a:spcPct val="0"/>
              </a:spcBef>
              <a:spcAft>
                <a:spcPct val="0"/>
              </a:spcAft>
            </a:pPr>
            <a:r>
              <a:rPr lang="en-US" sz="2800" b="1" dirty="0" err="1">
                <a:solidFill>
                  <a:srgbClr val="000000"/>
                </a:solidFill>
                <a:cs typeface="Arial" pitchFamily="34" charset="0"/>
              </a:rPr>
              <a:t>file1.write</a:t>
            </a:r>
            <a:r>
              <a:rPr lang="en-US" sz="2800" b="1" dirty="0">
                <a:solidFill>
                  <a:srgbClr val="000000"/>
                </a:solidFill>
                <a:cs typeface="Arial" pitchFamily="34" charset="0"/>
              </a:rPr>
              <a:t>(</a:t>
            </a:r>
            <a:r>
              <a:rPr lang="en-US" sz="2800" b="1" dirty="0">
                <a:solidFill>
                  <a:srgbClr val="0000FF"/>
                </a:solidFill>
                <a:cs typeface="Arial" pitchFamily="34" charset="0"/>
              </a:rPr>
              <a:t>"Hello \n"</a:t>
            </a:r>
            <a:r>
              <a:rPr lang="en-US" sz="2800" b="1" dirty="0">
                <a:solidFill>
                  <a:srgbClr val="000000"/>
                </a:solidFill>
                <a:cs typeface="Arial" pitchFamily="34" charset="0"/>
              </a:rPr>
              <a:t>)</a:t>
            </a:r>
            <a:endParaRPr lang="en-US" sz="2800" b="1" dirty="0">
              <a:cs typeface="Arial" pitchFamily="34" charset="0"/>
            </a:endParaRPr>
          </a:p>
          <a:p>
            <a:pPr lvl="0" eaLnBrk="0" fontAlgn="base" hangingPunct="0">
              <a:spcBef>
                <a:spcPct val="0"/>
              </a:spcBef>
              <a:spcAft>
                <a:spcPct val="0"/>
              </a:spcAft>
            </a:pPr>
            <a:r>
              <a:rPr lang="en-US" sz="2800" b="1" dirty="0" err="1">
                <a:solidFill>
                  <a:srgbClr val="000000"/>
                </a:solidFill>
                <a:cs typeface="Arial" pitchFamily="34" charset="0"/>
              </a:rPr>
              <a:t>file1.writelines</a:t>
            </a:r>
            <a:r>
              <a:rPr lang="en-US" sz="2800" b="1" dirty="0">
                <a:solidFill>
                  <a:srgbClr val="000000"/>
                </a:solidFill>
                <a:cs typeface="Arial" pitchFamily="34" charset="0"/>
              </a:rPr>
              <a:t>(L)</a:t>
            </a:r>
            <a:endParaRPr lang="en-US" sz="2800" b="1" dirty="0">
              <a:cs typeface="Arial" pitchFamily="34" charset="0"/>
            </a:endParaRPr>
          </a:p>
          <a:p>
            <a:pPr lvl="0" eaLnBrk="0" fontAlgn="base" hangingPunct="0">
              <a:spcBef>
                <a:spcPct val="0"/>
              </a:spcBef>
              <a:spcAft>
                <a:spcPct val="0"/>
              </a:spcAft>
            </a:pPr>
            <a:r>
              <a:rPr lang="en-US" sz="2800" b="1" dirty="0" err="1">
                <a:solidFill>
                  <a:srgbClr val="000000"/>
                </a:solidFill>
                <a:cs typeface="Arial" pitchFamily="34" charset="0"/>
              </a:rPr>
              <a:t>file1.close</a:t>
            </a:r>
            <a:r>
              <a:rPr lang="en-US" sz="2800" b="1" dirty="0">
                <a:solidFill>
                  <a:srgbClr val="000000"/>
                </a:solidFill>
                <a:cs typeface="Arial" pitchFamily="34" charset="0"/>
              </a:rPr>
              <a:t>() </a:t>
            </a:r>
          </a:p>
          <a:p>
            <a:pPr lvl="0" eaLnBrk="0" fontAlgn="base" hangingPunct="0">
              <a:spcBef>
                <a:spcPct val="0"/>
              </a:spcBef>
              <a:spcAft>
                <a:spcPct val="0"/>
              </a:spcAft>
            </a:pPr>
            <a:r>
              <a:rPr lang="en-US" sz="2800" b="1" dirty="0">
                <a:solidFill>
                  <a:srgbClr val="008200"/>
                </a:solidFill>
                <a:cs typeface="Arial" pitchFamily="34" charset="0"/>
              </a:rPr>
              <a:t>#to change file access modes</a:t>
            </a:r>
            <a:endParaRPr lang="en-US" sz="2800" b="1" dirty="0">
              <a:cs typeface="Arial" pitchFamily="34" charset="0"/>
            </a:endParaRPr>
          </a:p>
        </p:txBody>
      </p:sp>
    </p:spTree>
    <p:extLst>
      <p:ext uri="{BB962C8B-B14F-4D97-AF65-F5344CB8AC3E}">
        <p14:creationId xmlns:p14="http://schemas.microsoft.com/office/powerpoint/2010/main" xmlns="" val="403709441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b="1" dirty="0"/>
          </a:p>
        </p:txBody>
      </p:sp>
      <p:sp>
        <p:nvSpPr>
          <p:cNvPr id="4" name="TextBox 3"/>
          <p:cNvSpPr txBox="1"/>
          <p:nvPr/>
        </p:nvSpPr>
        <p:spPr>
          <a:xfrm>
            <a:off x="228600" y="1066800"/>
            <a:ext cx="8763000" cy="6124754"/>
          </a:xfrm>
          <a:prstGeom prst="rect">
            <a:avLst/>
          </a:prstGeom>
          <a:noFill/>
        </p:spPr>
        <p:txBody>
          <a:bodyPr wrap="square" rtlCol="0">
            <a:spAutoFit/>
          </a:bodyPr>
          <a:lstStyle/>
          <a:p>
            <a:pPr lvl="0" fontAlgn="base">
              <a:spcBef>
                <a:spcPct val="0"/>
              </a:spcBef>
              <a:spcAft>
                <a:spcPct val="0"/>
              </a:spcAft>
            </a:pPr>
            <a:r>
              <a:rPr lang="en-US" sz="2800" b="1" dirty="0" err="1">
                <a:solidFill>
                  <a:srgbClr val="000000"/>
                </a:solidFill>
                <a:cs typeface="Arial" pitchFamily="34" charset="0"/>
              </a:rPr>
              <a:t>file1</a:t>
            </a:r>
            <a:r>
              <a:rPr lang="en-US" sz="2800" b="1" dirty="0">
                <a:solidFill>
                  <a:srgbClr val="000000"/>
                </a:solidFill>
                <a:cs typeface="Arial" pitchFamily="34" charset="0"/>
              </a:rPr>
              <a:t> </a:t>
            </a:r>
            <a:r>
              <a:rPr lang="en-US" sz="2800" b="1" dirty="0">
                <a:solidFill>
                  <a:srgbClr val="006699"/>
                </a:solidFill>
                <a:cs typeface="Arial" pitchFamily="34" charset="0"/>
              </a:rPr>
              <a:t>=</a:t>
            </a:r>
            <a:r>
              <a:rPr lang="en-US" sz="2800" b="1" dirty="0">
                <a:solidFill>
                  <a:srgbClr val="273239"/>
                </a:solidFill>
                <a:cs typeface="Arial" pitchFamily="34" charset="0"/>
              </a:rPr>
              <a:t> </a:t>
            </a:r>
            <a:r>
              <a:rPr lang="en-US" sz="2800" b="1" dirty="0">
                <a:solidFill>
                  <a:srgbClr val="FF1493"/>
                </a:solidFill>
                <a:cs typeface="Arial" pitchFamily="34" charset="0"/>
              </a:rPr>
              <a:t>open</a:t>
            </a:r>
            <a:r>
              <a:rPr lang="en-US" sz="2800" b="1" dirty="0">
                <a:solidFill>
                  <a:srgbClr val="000000"/>
                </a:solidFill>
                <a:cs typeface="Arial" pitchFamily="34" charset="0"/>
              </a:rPr>
              <a:t>(</a:t>
            </a:r>
            <a:r>
              <a:rPr lang="en-US" sz="2800" b="1" dirty="0">
                <a:solidFill>
                  <a:srgbClr val="0000FF"/>
                </a:solidFill>
                <a:cs typeface="Arial" pitchFamily="34" charset="0"/>
              </a:rPr>
              <a:t>"</a:t>
            </a:r>
            <a:r>
              <a:rPr lang="en-US" sz="2800" b="1" dirty="0" err="1">
                <a:solidFill>
                  <a:srgbClr val="0000FF"/>
                </a:solidFill>
                <a:cs typeface="Arial" pitchFamily="34" charset="0"/>
              </a:rPr>
              <a:t>myfile.txt"</a:t>
            </a:r>
            <a:r>
              <a:rPr lang="en-US" sz="2800" b="1" dirty="0" err="1">
                <a:solidFill>
                  <a:srgbClr val="000000"/>
                </a:solidFill>
                <a:cs typeface="Arial" pitchFamily="34" charset="0"/>
              </a:rPr>
              <a:t>,</a:t>
            </a:r>
            <a:r>
              <a:rPr lang="en-US" sz="2800" b="1" dirty="0" err="1">
                <a:solidFill>
                  <a:srgbClr val="0000FF"/>
                </a:solidFill>
                <a:cs typeface="Arial" pitchFamily="34" charset="0"/>
              </a:rPr>
              <a:t>"r</a:t>
            </a:r>
            <a:r>
              <a:rPr lang="en-US" sz="2800" b="1" dirty="0">
                <a:solidFill>
                  <a:srgbClr val="0000FF"/>
                </a:solidFill>
                <a:cs typeface="Arial" pitchFamily="34" charset="0"/>
              </a:rPr>
              <a:t>+"</a:t>
            </a:r>
            <a:r>
              <a:rPr lang="en-US" sz="2800" b="1" dirty="0">
                <a:solidFill>
                  <a:srgbClr val="000000"/>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273239"/>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006699"/>
                </a:solidFill>
                <a:cs typeface="Arial" pitchFamily="34" charset="0"/>
              </a:rPr>
              <a:t>print</a:t>
            </a:r>
            <a:r>
              <a:rPr lang="en-US" sz="2800" b="1" dirty="0">
                <a:solidFill>
                  <a:srgbClr val="000000"/>
                </a:solidFill>
                <a:cs typeface="Arial" pitchFamily="34" charset="0"/>
              </a:rPr>
              <a:t>(</a:t>
            </a:r>
            <a:r>
              <a:rPr lang="en-US" sz="2800" b="1" dirty="0">
                <a:solidFill>
                  <a:srgbClr val="0000FF"/>
                </a:solidFill>
                <a:cs typeface="Arial" pitchFamily="34" charset="0"/>
              </a:rPr>
              <a:t>"Output of Read function is "</a:t>
            </a:r>
            <a:r>
              <a:rPr lang="en-US" sz="2800" b="1" dirty="0">
                <a:solidFill>
                  <a:srgbClr val="000000"/>
                </a:solidFill>
                <a:cs typeface="Arial" pitchFamily="34" charset="0"/>
              </a:rPr>
              <a:t>)</a:t>
            </a:r>
            <a:endParaRPr lang="en-US" sz="2800" b="1" dirty="0">
              <a:cs typeface="Arial" pitchFamily="34" charset="0"/>
            </a:endParaRPr>
          </a:p>
          <a:p>
            <a:pPr lvl="0" eaLnBrk="0" fontAlgn="base" hangingPunct="0">
              <a:spcBef>
                <a:spcPct val="0"/>
              </a:spcBef>
              <a:spcAft>
                <a:spcPct val="0"/>
              </a:spcAft>
            </a:pPr>
            <a:r>
              <a:rPr lang="en-US" sz="2800" b="1" dirty="0">
                <a:solidFill>
                  <a:srgbClr val="FF1493"/>
                </a:solidFill>
                <a:cs typeface="Arial" pitchFamily="34" charset="0"/>
              </a:rPr>
              <a:t>print</a:t>
            </a:r>
            <a:r>
              <a:rPr lang="en-US" sz="2800" b="1" dirty="0">
                <a:solidFill>
                  <a:srgbClr val="000000"/>
                </a:solidFill>
                <a:cs typeface="Arial" pitchFamily="34" charset="0"/>
              </a:rPr>
              <a:t>(</a:t>
            </a:r>
            <a:r>
              <a:rPr lang="en-US" sz="2800" b="1" dirty="0" err="1">
                <a:solidFill>
                  <a:srgbClr val="000000"/>
                </a:solidFill>
                <a:cs typeface="Arial" pitchFamily="34" charset="0"/>
              </a:rPr>
              <a:t>file1.read</a:t>
            </a:r>
            <a:r>
              <a:rPr lang="en-US" sz="2800" b="1" dirty="0">
                <a:solidFill>
                  <a:srgbClr val="000000"/>
                </a:solidFill>
                <a:cs typeface="Arial" pitchFamily="34" charset="0"/>
              </a:rPr>
              <a:t>())</a:t>
            </a:r>
            <a:endParaRPr lang="en-US" sz="2800" b="1" dirty="0">
              <a:cs typeface="Arial" pitchFamily="34" charset="0"/>
            </a:endParaRPr>
          </a:p>
          <a:p>
            <a:pPr lvl="0" eaLnBrk="0" fontAlgn="base" hangingPunct="0">
              <a:spcBef>
                <a:spcPct val="0"/>
              </a:spcBef>
              <a:spcAft>
                <a:spcPct val="0"/>
              </a:spcAft>
            </a:pPr>
            <a:r>
              <a:rPr lang="en-US" sz="2800" b="1" dirty="0">
                <a:solidFill>
                  <a:srgbClr val="006699"/>
                </a:solidFill>
                <a:cs typeface="Arial" pitchFamily="34" charset="0"/>
              </a:rPr>
              <a:t>print</a:t>
            </a:r>
            <a:r>
              <a:rPr lang="en-US" sz="2800" b="1" dirty="0">
                <a:solidFill>
                  <a:srgbClr val="000000"/>
                </a:solidFill>
                <a:cs typeface="Arial" pitchFamily="34" charset="0"/>
              </a:rPr>
              <a:t>()</a:t>
            </a:r>
            <a:endParaRPr lang="en-US" sz="2800" b="1" dirty="0">
              <a:cs typeface="Arial" pitchFamily="34" charset="0"/>
            </a:endParaRPr>
          </a:p>
          <a:p>
            <a:pPr lvl="0" eaLnBrk="0" fontAlgn="base" hangingPunct="0">
              <a:spcBef>
                <a:spcPct val="0"/>
              </a:spcBef>
              <a:spcAft>
                <a:spcPct val="0"/>
              </a:spcAft>
            </a:pPr>
            <a:r>
              <a:rPr lang="en-US" sz="2800" b="1" dirty="0">
                <a:solidFill>
                  <a:srgbClr val="273239"/>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008200"/>
                </a:solidFill>
                <a:cs typeface="Arial" pitchFamily="34" charset="0"/>
              </a:rPr>
              <a:t># seek(n) takes the file handle to the nth</a:t>
            </a:r>
            <a:endParaRPr lang="en-US" sz="2800" b="1" dirty="0">
              <a:cs typeface="Arial" pitchFamily="34" charset="0"/>
            </a:endParaRPr>
          </a:p>
          <a:p>
            <a:pPr lvl="0" eaLnBrk="0" fontAlgn="base" hangingPunct="0">
              <a:spcBef>
                <a:spcPct val="0"/>
              </a:spcBef>
              <a:spcAft>
                <a:spcPct val="0"/>
              </a:spcAft>
            </a:pPr>
            <a:r>
              <a:rPr lang="en-US" sz="2800" b="1" dirty="0">
                <a:solidFill>
                  <a:srgbClr val="008200"/>
                </a:solidFill>
                <a:cs typeface="Arial" pitchFamily="34" charset="0"/>
              </a:rPr>
              <a:t># bite from the beginning.</a:t>
            </a:r>
            <a:endParaRPr lang="en-US" sz="2800" b="1" dirty="0">
              <a:cs typeface="Arial" pitchFamily="34" charset="0"/>
            </a:endParaRPr>
          </a:p>
          <a:p>
            <a:pPr lvl="0" eaLnBrk="0" fontAlgn="base" hangingPunct="0">
              <a:spcBef>
                <a:spcPct val="0"/>
              </a:spcBef>
              <a:spcAft>
                <a:spcPct val="0"/>
              </a:spcAft>
            </a:pPr>
            <a:r>
              <a:rPr lang="en-US" sz="2800" b="1" dirty="0" err="1">
                <a:solidFill>
                  <a:srgbClr val="000000"/>
                </a:solidFill>
                <a:cs typeface="Arial" pitchFamily="34" charset="0"/>
              </a:rPr>
              <a:t>file1.seek</a:t>
            </a:r>
            <a:r>
              <a:rPr lang="en-US" sz="2800" b="1" dirty="0">
                <a:solidFill>
                  <a:srgbClr val="000000"/>
                </a:solidFill>
                <a:cs typeface="Arial" pitchFamily="34" charset="0"/>
              </a:rPr>
              <a:t>(</a:t>
            </a:r>
            <a:r>
              <a:rPr lang="en-US" sz="2800" b="1" dirty="0">
                <a:solidFill>
                  <a:srgbClr val="009900"/>
                </a:solidFill>
                <a:cs typeface="Arial" pitchFamily="34" charset="0"/>
              </a:rPr>
              <a:t>0</a:t>
            </a:r>
            <a:r>
              <a:rPr lang="en-US" sz="2800" b="1" dirty="0">
                <a:solidFill>
                  <a:srgbClr val="000000"/>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273239"/>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FF1493"/>
                </a:solidFill>
                <a:cs typeface="Arial" pitchFamily="34" charset="0"/>
              </a:rPr>
              <a:t>print</a:t>
            </a:r>
            <a:r>
              <a:rPr lang="en-US" sz="2800" b="1" dirty="0">
                <a:solidFill>
                  <a:srgbClr val="000000"/>
                </a:solidFill>
                <a:cs typeface="Arial" pitchFamily="34" charset="0"/>
              </a:rPr>
              <a:t>( </a:t>
            </a:r>
            <a:r>
              <a:rPr lang="en-US" sz="2800" b="1" dirty="0">
                <a:solidFill>
                  <a:srgbClr val="0000FF"/>
                </a:solidFill>
                <a:cs typeface="Arial" pitchFamily="34" charset="0"/>
              </a:rPr>
              <a:t>"Output of </a:t>
            </a:r>
            <a:r>
              <a:rPr lang="en-US" sz="2800" b="1" dirty="0" err="1">
                <a:solidFill>
                  <a:srgbClr val="0000FF"/>
                </a:solidFill>
                <a:cs typeface="Arial" pitchFamily="34" charset="0"/>
              </a:rPr>
              <a:t>Readline</a:t>
            </a:r>
            <a:r>
              <a:rPr lang="en-US" sz="2800" b="1" dirty="0">
                <a:solidFill>
                  <a:srgbClr val="0000FF"/>
                </a:solidFill>
                <a:cs typeface="Arial" pitchFamily="34" charset="0"/>
              </a:rPr>
              <a:t> function is "</a:t>
            </a:r>
            <a:r>
              <a:rPr lang="en-US" sz="2800" b="1" dirty="0">
                <a:solidFill>
                  <a:srgbClr val="000000"/>
                </a:solidFill>
                <a:cs typeface="Arial" pitchFamily="34" charset="0"/>
              </a:rPr>
              <a:t>)</a:t>
            </a:r>
            <a:endParaRPr lang="en-US" sz="2800" b="1" dirty="0">
              <a:cs typeface="Arial" pitchFamily="34" charset="0"/>
            </a:endParaRPr>
          </a:p>
          <a:p>
            <a:pPr lvl="0" eaLnBrk="0" fontAlgn="base" hangingPunct="0">
              <a:spcBef>
                <a:spcPct val="0"/>
              </a:spcBef>
              <a:spcAft>
                <a:spcPct val="0"/>
              </a:spcAft>
            </a:pPr>
            <a:r>
              <a:rPr lang="en-US" sz="2800" b="1" dirty="0">
                <a:solidFill>
                  <a:srgbClr val="006699"/>
                </a:solidFill>
                <a:cs typeface="Arial" pitchFamily="34" charset="0"/>
              </a:rPr>
              <a:t>print</a:t>
            </a:r>
            <a:r>
              <a:rPr lang="en-US" sz="2800" b="1" dirty="0">
                <a:solidFill>
                  <a:srgbClr val="000000"/>
                </a:solidFill>
                <a:cs typeface="Arial" pitchFamily="34" charset="0"/>
              </a:rPr>
              <a:t>(</a:t>
            </a:r>
            <a:r>
              <a:rPr lang="en-US" sz="2800" b="1" dirty="0" err="1">
                <a:solidFill>
                  <a:srgbClr val="000000"/>
                </a:solidFill>
                <a:cs typeface="Arial" pitchFamily="34" charset="0"/>
              </a:rPr>
              <a:t>file1.readline</a:t>
            </a:r>
            <a:r>
              <a:rPr lang="en-US" sz="2800" b="1" dirty="0">
                <a:solidFill>
                  <a:srgbClr val="000000"/>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FF1493"/>
                </a:solidFill>
                <a:cs typeface="Arial" pitchFamily="34" charset="0"/>
              </a:rPr>
              <a:t>print</a:t>
            </a:r>
            <a:r>
              <a:rPr lang="en-US" sz="2800" b="1" dirty="0">
                <a:solidFill>
                  <a:srgbClr val="000000"/>
                </a:solidFill>
                <a:cs typeface="Arial" pitchFamily="34" charset="0"/>
              </a:rPr>
              <a:t>()</a:t>
            </a:r>
            <a:endParaRPr lang="en-US" sz="2800" b="1" dirty="0">
              <a:cs typeface="Arial" pitchFamily="34" charset="0"/>
            </a:endParaRPr>
          </a:p>
          <a:p>
            <a:pPr lvl="0" eaLnBrk="0" fontAlgn="base" hangingPunct="0">
              <a:spcBef>
                <a:spcPct val="0"/>
              </a:spcBef>
              <a:spcAft>
                <a:spcPct val="0"/>
              </a:spcAft>
            </a:pPr>
            <a:r>
              <a:rPr lang="en-US" sz="2800" b="1" dirty="0" err="1" smtClean="0">
                <a:solidFill>
                  <a:srgbClr val="000000"/>
                </a:solidFill>
                <a:cs typeface="Arial" pitchFamily="34" charset="0"/>
              </a:rPr>
              <a:t>file1.seek</a:t>
            </a:r>
            <a:r>
              <a:rPr lang="en-US" sz="2800" b="1" dirty="0" smtClean="0">
                <a:solidFill>
                  <a:srgbClr val="000000"/>
                </a:solidFill>
                <a:cs typeface="Arial" pitchFamily="34" charset="0"/>
              </a:rPr>
              <a:t>(</a:t>
            </a:r>
            <a:r>
              <a:rPr lang="en-US" sz="2800" b="1" dirty="0" smtClean="0">
                <a:solidFill>
                  <a:srgbClr val="009900"/>
                </a:solidFill>
                <a:cs typeface="Arial" pitchFamily="34" charset="0"/>
              </a:rPr>
              <a:t>0</a:t>
            </a:r>
            <a:r>
              <a:rPr lang="en-US" sz="2800" b="1" dirty="0">
                <a:solidFill>
                  <a:srgbClr val="000000"/>
                </a:solidFill>
                <a:cs typeface="Arial" pitchFamily="34" charset="0"/>
              </a:rPr>
              <a:t>)</a:t>
            </a:r>
            <a:endParaRPr lang="en-US" sz="2800" b="1" dirty="0">
              <a:cs typeface="Arial" pitchFamily="34" charset="0"/>
            </a:endParaRPr>
          </a:p>
        </p:txBody>
      </p:sp>
    </p:spTree>
    <p:extLst>
      <p:ext uri="{BB962C8B-B14F-4D97-AF65-F5344CB8AC3E}">
        <p14:creationId xmlns:p14="http://schemas.microsoft.com/office/powerpoint/2010/main" xmlns="" val="30255324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b="1" dirty="0"/>
          </a:p>
        </p:txBody>
      </p:sp>
      <p:sp>
        <p:nvSpPr>
          <p:cNvPr id="4" name="TextBox 3"/>
          <p:cNvSpPr txBox="1"/>
          <p:nvPr/>
        </p:nvSpPr>
        <p:spPr>
          <a:xfrm>
            <a:off x="228600" y="1066800"/>
            <a:ext cx="8763000" cy="3970318"/>
          </a:xfrm>
          <a:prstGeom prst="rect">
            <a:avLst/>
          </a:prstGeom>
          <a:noFill/>
        </p:spPr>
        <p:txBody>
          <a:bodyPr wrap="square" rtlCol="0">
            <a:spAutoFit/>
          </a:bodyPr>
          <a:lstStyle/>
          <a:p>
            <a:pPr lvl="0" fontAlgn="base">
              <a:spcBef>
                <a:spcPct val="0"/>
              </a:spcBef>
              <a:spcAft>
                <a:spcPct val="0"/>
              </a:spcAft>
            </a:pPr>
            <a:r>
              <a:rPr lang="en-US" sz="2800" b="1" dirty="0">
                <a:solidFill>
                  <a:srgbClr val="008200"/>
                </a:solidFill>
                <a:cs typeface="Arial" pitchFamily="34" charset="0"/>
              </a:rPr>
              <a:t># To show difference between read and </a:t>
            </a:r>
            <a:r>
              <a:rPr lang="en-US" sz="2800" b="1" dirty="0" err="1">
                <a:solidFill>
                  <a:srgbClr val="008200"/>
                </a:solidFill>
                <a:cs typeface="Arial" pitchFamily="34" charset="0"/>
              </a:rPr>
              <a:t>readline</a:t>
            </a:r>
            <a:endParaRPr lang="en-US" sz="2800" b="1" dirty="0">
              <a:cs typeface="Arial" pitchFamily="34" charset="0"/>
            </a:endParaRPr>
          </a:p>
          <a:p>
            <a:pPr lvl="0" eaLnBrk="0" fontAlgn="base" hangingPunct="0">
              <a:spcBef>
                <a:spcPct val="0"/>
              </a:spcBef>
              <a:spcAft>
                <a:spcPct val="0"/>
              </a:spcAft>
            </a:pPr>
            <a:r>
              <a:rPr lang="en-US" sz="2800" b="1" dirty="0">
                <a:solidFill>
                  <a:srgbClr val="006699"/>
                </a:solidFill>
                <a:cs typeface="Arial" pitchFamily="34" charset="0"/>
              </a:rPr>
              <a:t>print</a:t>
            </a:r>
            <a:r>
              <a:rPr lang="en-US" sz="2800" b="1" dirty="0">
                <a:solidFill>
                  <a:srgbClr val="000000"/>
                </a:solidFill>
                <a:cs typeface="Arial" pitchFamily="34" charset="0"/>
              </a:rPr>
              <a:t>(</a:t>
            </a:r>
            <a:r>
              <a:rPr lang="en-US" sz="2800" b="1" dirty="0">
                <a:solidFill>
                  <a:srgbClr val="0000FF"/>
                </a:solidFill>
                <a:cs typeface="Arial" pitchFamily="34" charset="0"/>
              </a:rPr>
              <a:t>"Output of Read(9) function is "</a:t>
            </a:r>
            <a:r>
              <a:rPr lang="en-US" sz="2800" b="1" dirty="0">
                <a:solidFill>
                  <a:srgbClr val="000000"/>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006699"/>
                </a:solidFill>
                <a:cs typeface="Arial" pitchFamily="34" charset="0"/>
              </a:rPr>
              <a:t>print</a:t>
            </a:r>
            <a:r>
              <a:rPr lang="en-US" sz="2800" b="1" dirty="0">
                <a:solidFill>
                  <a:srgbClr val="000000"/>
                </a:solidFill>
                <a:cs typeface="Arial" pitchFamily="34" charset="0"/>
              </a:rPr>
              <a:t>(</a:t>
            </a:r>
            <a:r>
              <a:rPr lang="en-US" sz="2800" b="1" dirty="0" err="1">
                <a:solidFill>
                  <a:srgbClr val="000000"/>
                </a:solidFill>
                <a:cs typeface="Arial" pitchFamily="34" charset="0"/>
              </a:rPr>
              <a:t>file1.read</a:t>
            </a:r>
            <a:r>
              <a:rPr lang="en-US" sz="2800" b="1" dirty="0">
                <a:solidFill>
                  <a:srgbClr val="000000"/>
                </a:solidFill>
                <a:cs typeface="Arial" pitchFamily="34" charset="0"/>
              </a:rPr>
              <a:t>(</a:t>
            </a:r>
            <a:r>
              <a:rPr lang="en-US" sz="2800" b="1" dirty="0">
                <a:solidFill>
                  <a:srgbClr val="009900"/>
                </a:solidFill>
                <a:cs typeface="Arial" pitchFamily="34" charset="0"/>
              </a:rPr>
              <a:t>9</a:t>
            </a:r>
            <a:r>
              <a:rPr lang="en-US" sz="2800" b="1" dirty="0">
                <a:solidFill>
                  <a:srgbClr val="000000"/>
                </a:solidFill>
                <a:cs typeface="Arial" pitchFamily="34" charset="0"/>
              </a:rPr>
              <a:t>))</a:t>
            </a:r>
            <a:endParaRPr lang="en-US" sz="2800" b="1" dirty="0">
              <a:cs typeface="Arial" pitchFamily="34" charset="0"/>
            </a:endParaRPr>
          </a:p>
          <a:p>
            <a:pPr lvl="0" eaLnBrk="0" fontAlgn="base" hangingPunct="0">
              <a:spcBef>
                <a:spcPct val="0"/>
              </a:spcBef>
              <a:spcAft>
                <a:spcPct val="0"/>
              </a:spcAft>
            </a:pPr>
            <a:r>
              <a:rPr lang="en-US" sz="2800" b="1" dirty="0">
                <a:solidFill>
                  <a:srgbClr val="006699"/>
                </a:solidFill>
                <a:cs typeface="Arial" pitchFamily="34" charset="0"/>
              </a:rPr>
              <a:t>print</a:t>
            </a:r>
            <a:r>
              <a:rPr lang="en-US" sz="2800" b="1" dirty="0">
                <a:solidFill>
                  <a:srgbClr val="000000"/>
                </a:solidFill>
                <a:cs typeface="Arial" pitchFamily="34" charset="0"/>
              </a:rPr>
              <a:t>()</a:t>
            </a:r>
            <a:endParaRPr lang="en-US" sz="2800" b="1" dirty="0">
              <a:cs typeface="Arial" pitchFamily="34" charset="0"/>
            </a:endParaRPr>
          </a:p>
          <a:p>
            <a:pPr lvl="0" eaLnBrk="0" fontAlgn="base" hangingPunct="0">
              <a:spcBef>
                <a:spcPct val="0"/>
              </a:spcBef>
              <a:spcAft>
                <a:spcPct val="0"/>
              </a:spcAft>
            </a:pPr>
            <a:r>
              <a:rPr lang="en-US" sz="2800" b="1" dirty="0">
                <a:solidFill>
                  <a:srgbClr val="273239"/>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err="1">
                <a:solidFill>
                  <a:srgbClr val="000000"/>
                </a:solidFill>
                <a:cs typeface="Arial" pitchFamily="34" charset="0"/>
              </a:rPr>
              <a:t>file1.seek</a:t>
            </a:r>
            <a:r>
              <a:rPr lang="en-US" sz="2800" b="1" dirty="0">
                <a:solidFill>
                  <a:srgbClr val="000000"/>
                </a:solidFill>
                <a:cs typeface="Arial" pitchFamily="34" charset="0"/>
              </a:rPr>
              <a:t>(</a:t>
            </a:r>
            <a:r>
              <a:rPr lang="en-US" sz="2800" b="1" dirty="0">
                <a:solidFill>
                  <a:srgbClr val="009900"/>
                </a:solidFill>
                <a:cs typeface="Arial" pitchFamily="34" charset="0"/>
              </a:rPr>
              <a:t>0</a:t>
            </a:r>
            <a:r>
              <a:rPr lang="en-US" sz="2800" b="1" dirty="0">
                <a:solidFill>
                  <a:srgbClr val="000000"/>
                </a:solidFill>
                <a:cs typeface="Arial" pitchFamily="34" charset="0"/>
              </a:rPr>
              <a:t>)</a:t>
            </a:r>
            <a:endParaRPr lang="en-US" sz="2800" b="1" dirty="0">
              <a:cs typeface="Arial" pitchFamily="34" charset="0"/>
            </a:endParaRPr>
          </a:p>
          <a:p>
            <a:pPr lvl="0" eaLnBrk="0" fontAlgn="base" hangingPunct="0">
              <a:spcBef>
                <a:spcPct val="0"/>
              </a:spcBef>
              <a:spcAft>
                <a:spcPct val="0"/>
              </a:spcAft>
            </a:pPr>
            <a:r>
              <a:rPr lang="en-US" sz="2800" b="1" dirty="0">
                <a:solidFill>
                  <a:srgbClr val="273239"/>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FF1493"/>
                </a:solidFill>
                <a:cs typeface="Arial" pitchFamily="34" charset="0"/>
              </a:rPr>
              <a:t>print</a:t>
            </a:r>
            <a:r>
              <a:rPr lang="en-US" sz="2800" b="1" dirty="0">
                <a:solidFill>
                  <a:srgbClr val="000000"/>
                </a:solidFill>
                <a:cs typeface="Arial" pitchFamily="34" charset="0"/>
              </a:rPr>
              <a:t>(</a:t>
            </a:r>
            <a:r>
              <a:rPr lang="en-US" sz="2800" b="1" dirty="0">
                <a:solidFill>
                  <a:srgbClr val="0000FF"/>
                </a:solidFill>
                <a:cs typeface="Arial" pitchFamily="34" charset="0"/>
              </a:rPr>
              <a:t>"Output of </a:t>
            </a:r>
            <a:r>
              <a:rPr lang="en-US" sz="2800" b="1" dirty="0" err="1">
                <a:solidFill>
                  <a:srgbClr val="0000FF"/>
                </a:solidFill>
                <a:cs typeface="Arial" pitchFamily="34" charset="0"/>
              </a:rPr>
              <a:t>Readline</a:t>
            </a:r>
            <a:r>
              <a:rPr lang="en-US" sz="2800" b="1" dirty="0">
                <a:solidFill>
                  <a:srgbClr val="0000FF"/>
                </a:solidFill>
                <a:cs typeface="Arial" pitchFamily="34" charset="0"/>
              </a:rPr>
              <a:t>(9) function is "</a:t>
            </a:r>
            <a:r>
              <a:rPr lang="en-US" sz="2800" b="1" dirty="0">
                <a:solidFill>
                  <a:srgbClr val="000000"/>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006699"/>
                </a:solidFill>
                <a:cs typeface="Arial" pitchFamily="34" charset="0"/>
              </a:rPr>
              <a:t>print</a:t>
            </a:r>
            <a:r>
              <a:rPr lang="en-US" sz="2800" b="1" dirty="0">
                <a:solidFill>
                  <a:srgbClr val="000000"/>
                </a:solidFill>
                <a:cs typeface="Arial" pitchFamily="34" charset="0"/>
              </a:rPr>
              <a:t>(</a:t>
            </a:r>
            <a:r>
              <a:rPr lang="en-US" sz="2800" b="1" dirty="0" err="1">
                <a:solidFill>
                  <a:srgbClr val="000000"/>
                </a:solidFill>
                <a:cs typeface="Arial" pitchFamily="34" charset="0"/>
              </a:rPr>
              <a:t>file1.readline</a:t>
            </a:r>
            <a:r>
              <a:rPr lang="en-US" sz="2800" b="1" dirty="0">
                <a:solidFill>
                  <a:srgbClr val="000000"/>
                </a:solidFill>
                <a:cs typeface="Arial" pitchFamily="34" charset="0"/>
              </a:rPr>
              <a:t>(</a:t>
            </a:r>
            <a:r>
              <a:rPr lang="en-US" sz="2800" b="1" dirty="0">
                <a:solidFill>
                  <a:srgbClr val="009900"/>
                </a:solidFill>
                <a:cs typeface="Arial" pitchFamily="34" charset="0"/>
              </a:rPr>
              <a:t>9</a:t>
            </a:r>
            <a:r>
              <a:rPr lang="en-US" sz="2800" b="1" dirty="0">
                <a:solidFill>
                  <a:srgbClr val="000000"/>
                </a:solidFill>
                <a:cs typeface="Arial" pitchFamily="34" charset="0"/>
              </a:rPr>
              <a:t>))</a:t>
            </a:r>
            <a:endParaRPr lang="en-US" sz="2800" b="1" dirty="0">
              <a:cs typeface="Arial" pitchFamily="34" charset="0"/>
            </a:endParaRPr>
          </a:p>
        </p:txBody>
      </p:sp>
    </p:spTree>
    <p:extLst>
      <p:ext uri="{BB962C8B-B14F-4D97-AF65-F5344CB8AC3E}">
        <p14:creationId xmlns:p14="http://schemas.microsoft.com/office/powerpoint/2010/main" xmlns="" val="342037266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b="1" dirty="0"/>
          </a:p>
        </p:txBody>
      </p:sp>
      <p:sp>
        <p:nvSpPr>
          <p:cNvPr id="4" name="TextBox 3"/>
          <p:cNvSpPr txBox="1"/>
          <p:nvPr/>
        </p:nvSpPr>
        <p:spPr>
          <a:xfrm>
            <a:off x="214282" y="878980"/>
            <a:ext cx="8763000" cy="2677656"/>
          </a:xfrm>
          <a:prstGeom prst="rect">
            <a:avLst/>
          </a:prstGeom>
          <a:noFill/>
        </p:spPr>
        <p:txBody>
          <a:bodyPr wrap="square" rtlCol="0">
            <a:spAutoFit/>
          </a:bodyPr>
          <a:lstStyle/>
          <a:p>
            <a:pPr lvl="0" fontAlgn="base">
              <a:spcBef>
                <a:spcPct val="0"/>
              </a:spcBef>
              <a:spcAft>
                <a:spcPct val="0"/>
              </a:spcAft>
            </a:pPr>
            <a:r>
              <a:rPr lang="en-US" sz="2800" b="1" dirty="0" err="1">
                <a:solidFill>
                  <a:srgbClr val="000000"/>
                </a:solidFill>
                <a:cs typeface="Arial" pitchFamily="34" charset="0"/>
              </a:rPr>
              <a:t>file1.seek</a:t>
            </a:r>
            <a:r>
              <a:rPr lang="en-US" sz="2800" b="1" dirty="0">
                <a:solidFill>
                  <a:srgbClr val="000000"/>
                </a:solidFill>
                <a:cs typeface="Arial" pitchFamily="34" charset="0"/>
              </a:rPr>
              <a:t>(</a:t>
            </a:r>
            <a:r>
              <a:rPr lang="en-US" sz="2800" b="1" dirty="0">
                <a:solidFill>
                  <a:srgbClr val="009900"/>
                </a:solidFill>
                <a:cs typeface="Arial" pitchFamily="34" charset="0"/>
              </a:rPr>
              <a:t>0</a:t>
            </a:r>
            <a:r>
              <a:rPr lang="en-US" sz="2800" b="1" dirty="0">
                <a:solidFill>
                  <a:srgbClr val="000000"/>
                </a:solidFill>
                <a:cs typeface="Arial" pitchFamily="34" charset="0"/>
              </a:rPr>
              <a:t>)</a:t>
            </a:r>
            <a:endParaRPr lang="en-US" sz="2800" b="1" dirty="0">
              <a:cs typeface="Arial" pitchFamily="34" charset="0"/>
            </a:endParaRPr>
          </a:p>
          <a:p>
            <a:pPr lvl="0" eaLnBrk="0" fontAlgn="base" hangingPunct="0">
              <a:spcBef>
                <a:spcPct val="0"/>
              </a:spcBef>
              <a:spcAft>
                <a:spcPct val="0"/>
              </a:spcAft>
            </a:pPr>
            <a:r>
              <a:rPr lang="en-US" sz="2800" b="1" dirty="0">
                <a:solidFill>
                  <a:srgbClr val="008200"/>
                </a:solidFill>
                <a:cs typeface="Arial" pitchFamily="34" charset="0"/>
              </a:rPr>
              <a:t># </a:t>
            </a:r>
            <a:r>
              <a:rPr lang="en-US" sz="2800" b="1" dirty="0" err="1">
                <a:solidFill>
                  <a:srgbClr val="008200"/>
                </a:solidFill>
                <a:cs typeface="Arial" pitchFamily="34" charset="0"/>
              </a:rPr>
              <a:t>readlines</a:t>
            </a:r>
            <a:r>
              <a:rPr lang="en-US" sz="2800" b="1" dirty="0">
                <a:solidFill>
                  <a:srgbClr val="008200"/>
                </a:solidFill>
                <a:cs typeface="Arial" pitchFamily="34" charset="0"/>
              </a:rPr>
              <a:t> function</a:t>
            </a:r>
            <a:endParaRPr lang="en-US" sz="2800" b="1" dirty="0">
              <a:cs typeface="Arial" pitchFamily="34" charset="0"/>
            </a:endParaRPr>
          </a:p>
          <a:p>
            <a:pPr lvl="0" eaLnBrk="0" fontAlgn="base" hangingPunct="0">
              <a:spcBef>
                <a:spcPct val="0"/>
              </a:spcBef>
              <a:spcAft>
                <a:spcPct val="0"/>
              </a:spcAft>
            </a:pPr>
            <a:r>
              <a:rPr lang="en-US" sz="2800" b="1" dirty="0">
                <a:solidFill>
                  <a:srgbClr val="FF1493"/>
                </a:solidFill>
                <a:cs typeface="Arial" pitchFamily="34" charset="0"/>
              </a:rPr>
              <a:t>print</a:t>
            </a:r>
            <a:r>
              <a:rPr lang="en-US" sz="2800" b="1" dirty="0">
                <a:solidFill>
                  <a:srgbClr val="000000"/>
                </a:solidFill>
                <a:cs typeface="Arial" pitchFamily="34" charset="0"/>
              </a:rPr>
              <a:t>(</a:t>
            </a:r>
            <a:r>
              <a:rPr lang="en-US" sz="2800" b="1" dirty="0">
                <a:solidFill>
                  <a:srgbClr val="0000FF"/>
                </a:solidFill>
                <a:cs typeface="Arial" pitchFamily="34" charset="0"/>
              </a:rPr>
              <a:t>"Output of </a:t>
            </a:r>
            <a:r>
              <a:rPr lang="en-US" sz="2800" b="1" dirty="0" err="1">
                <a:solidFill>
                  <a:srgbClr val="0000FF"/>
                </a:solidFill>
                <a:cs typeface="Arial" pitchFamily="34" charset="0"/>
              </a:rPr>
              <a:t>Readlines</a:t>
            </a:r>
            <a:r>
              <a:rPr lang="en-US" sz="2800" b="1" dirty="0">
                <a:solidFill>
                  <a:srgbClr val="0000FF"/>
                </a:solidFill>
                <a:cs typeface="Arial" pitchFamily="34" charset="0"/>
              </a:rPr>
              <a:t> function is "</a:t>
            </a:r>
            <a:r>
              <a:rPr lang="en-US" sz="2800" b="1" dirty="0">
                <a:solidFill>
                  <a:srgbClr val="000000"/>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FF1493"/>
                </a:solidFill>
                <a:cs typeface="Arial" pitchFamily="34" charset="0"/>
              </a:rPr>
              <a:t>print</a:t>
            </a:r>
            <a:r>
              <a:rPr lang="en-US" sz="2800" b="1" dirty="0">
                <a:solidFill>
                  <a:srgbClr val="000000"/>
                </a:solidFill>
                <a:cs typeface="Arial" pitchFamily="34" charset="0"/>
              </a:rPr>
              <a:t>(</a:t>
            </a:r>
            <a:r>
              <a:rPr lang="en-US" sz="2800" b="1" dirty="0" err="1">
                <a:solidFill>
                  <a:srgbClr val="000000"/>
                </a:solidFill>
                <a:cs typeface="Arial" pitchFamily="34" charset="0"/>
              </a:rPr>
              <a:t>file1.readlines</a:t>
            </a:r>
            <a:r>
              <a:rPr lang="en-US" sz="2800" b="1" dirty="0">
                <a:solidFill>
                  <a:srgbClr val="000000"/>
                </a:solidFill>
                <a:cs typeface="Arial" pitchFamily="34" charset="0"/>
              </a:rPr>
              <a:t>()) </a:t>
            </a:r>
            <a:endParaRPr lang="en-US" sz="2800" b="1" dirty="0">
              <a:cs typeface="Arial" pitchFamily="34" charset="0"/>
            </a:endParaRPr>
          </a:p>
          <a:p>
            <a:pPr lvl="0" eaLnBrk="0" fontAlgn="base" hangingPunct="0">
              <a:spcBef>
                <a:spcPct val="0"/>
              </a:spcBef>
              <a:spcAft>
                <a:spcPct val="0"/>
              </a:spcAft>
            </a:pPr>
            <a:r>
              <a:rPr lang="en-US" sz="2800" b="1" dirty="0">
                <a:solidFill>
                  <a:srgbClr val="FF1493"/>
                </a:solidFill>
                <a:cs typeface="Arial" pitchFamily="34" charset="0"/>
              </a:rPr>
              <a:t>print</a:t>
            </a:r>
            <a:r>
              <a:rPr lang="en-US" sz="2800" b="1" dirty="0">
                <a:solidFill>
                  <a:srgbClr val="000000"/>
                </a:solidFill>
                <a:cs typeface="Arial" pitchFamily="34" charset="0"/>
              </a:rPr>
              <a:t>()</a:t>
            </a:r>
            <a:endParaRPr lang="en-US" sz="2800" b="1" dirty="0">
              <a:cs typeface="Arial" pitchFamily="34" charset="0"/>
            </a:endParaRPr>
          </a:p>
          <a:p>
            <a:pPr lvl="0" eaLnBrk="0" fontAlgn="base" hangingPunct="0">
              <a:spcBef>
                <a:spcPct val="0"/>
              </a:spcBef>
              <a:spcAft>
                <a:spcPct val="0"/>
              </a:spcAft>
            </a:pPr>
            <a:r>
              <a:rPr lang="en-US" sz="2800" b="1" dirty="0" err="1">
                <a:solidFill>
                  <a:srgbClr val="000000"/>
                </a:solidFill>
                <a:cs typeface="Arial" pitchFamily="34" charset="0"/>
              </a:rPr>
              <a:t>file1.close</a:t>
            </a:r>
            <a:r>
              <a:rPr lang="en-US" sz="2800" b="1" dirty="0" smtClean="0">
                <a:solidFill>
                  <a:srgbClr val="000000"/>
                </a:solidFill>
                <a:cs typeface="Arial" pitchFamily="34" charset="0"/>
              </a:rPr>
              <a:t>()</a:t>
            </a:r>
            <a:endParaRPr lang="en-US" sz="2800" b="1" dirty="0">
              <a:solidFill>
                <a:srgbClr val="000000"/>
              </a:solidFill>
              <a:cs typeface="Arial" pitchFamily="34" charset="0"/>
            </a:endParaRPr>
          </a:p>
        </p:txBody>
      </p:sp>
      <p:sp>
        <p:nvSpPr>
          <p:cNvPr id="5" name="Rectangle 4"/>
          <p:cNvSpPr/>
          <p:nvPr/>
        </p:nvSpPr>
        <p:spPr>
          <a:xfrm>
            <a:off x="251293" y="3733800"/>
            <a:ext cx="3714776" cy="2246769"/>
          </a:xfrm>
          <a:prstGeom prst="rect">
            <a:avLst/>
          </a:prstGeom>
        </p:spPr>
        <p:txBody>
          <a:bodyPr wrap="square">
            <a:spAutoFit/>
          </a:bodyPr>
          <a:lstStyle/>
          <a:p>
            <a:pPr lvl="0" eaLnBrk="0" fontAlgn="base" hangingPunct="0">
              <a:spcBef>
                <a:spcPct val="0"/>
              </a:spcBef>
              <a:spcAft>
                <a:spcPct val="0"/>
              </a:spcAft>
            </a:pPr>
            <a:r>
              <a:rPr lang="en-US" sz="2000" b="1" dirty="0" smtClean="0"/>
              <a:t>Output of Read function is </a:t>
            </a:r>
          </a:p>
          <a:p>
            <a:pPr lvl="0" eaLnBrk="0" fontAlgn="base" hangingPunct="0">
              <a:spcBef>
                <a:spcPct val="0"/>
              </a:spcBef>
              <a:spcAft>
                <a:spcPct val="0"/>
              </a:spcAft>
            </a:pPr>
            <a:r>
              <a:rPr lang="en-US" sz="2000" b="1" dirty="0" smtClean="0"/>
              <a:t>Hello </a:t>
            </a:r>
          </a:p>
          <a:p>
            <a:pPr lvl="0" eaLnBrk="0" fontAlgn="base" hangingPunct="0">
              <a:spcBef>
                <a:spcPct val="0"/>
              </a:spcBef>
              <a:spcAft>
                <a:spcPct val="0"/>
              </a:spcAft>
            </a:pPr>
            <a:r>
              <a:rPr lang="en-US" sz="2000" b="1" dirty="0" smtClean="0"/>
              <a:t>This is Delhi</a:t>
            </a:r>
          </a:p>
          <a:p>
            <a:pPr lvl="0" eaLnBrk="0" fontAlgn="base" hangingPunct="0">
              <a:spcBef>
                <a:spcPct val="0"/>
              </a:spcBef>
              <a:spcAft>
                <a:spcPct val="0"/>
              </a:spcAft>
            </a:pPr>
            <a:r>
              <a:rPr lang="en-US" sz="2000" b="1" dirty="0" smtClean="0"/>
              <a:t> This is Paris </a:t>
            </a:r>
          </a:p>
          <a:p>
            <a:pPr lvl="0" eaLnBrk="0" fontAlgn="base" hangingPunct="0">
              <a:spcBef>
                <a:spcPct val="0"/>
              </a:spcBef>
              <a:spcAft>
                <a:spcPct val="0"/>
              </a:spcAft>
            </a:pPr>
            <a:r>
              <a:rPr lang="en-US" sz="2000" b="1" dirty="0" smtClean="0"/>
              <a:t>This is London </a:t>
            </a:r>
          </a:p>
          <a:p>
            <a:pPr lvl="0" eaLnBrk="0" fontAlgn="base" hangingPunct="0">
              <a:spcBef>
                <a:spcPct val="0"/>
              </a:spcBef>
              <a:spcAft>
                <a:spcPct val="0"/>
              </a:spcAft>
            </a:pPr>
            <a:r>
              <a:rPr lang="en-US" sz="2000" b="1" dirty="0" smtClean="0"/>
              <a:t>Output of </a:t>
            </a:r>
            <a:r>
              <a:rPr lang="en-US" sz="2000" b="1" dirty="0" err="1" smtClean="0"/>
              <a:t>Readline</a:t>
            </a:r>
            <a:r>
              <a:rPr lang="en-US" sz="2000" b="1" dirty="0" smtClean="0"/>
              <a:t> function is</a:t>
            </a:r>
          </a:p>
          <a:p>
            <a:pPr lvl="0" eaLnBrk="0" fontAlgn="base" hangingPunct="0">
              <a:spcBef>
                <a:spcPct val="0"/>
              </a:spcBef>
              <a:spcAft>
                <a:spcPct val="0"/>
              </a:spcAft>
            </a:pPr>
            <a:r>
              <a:rPr lang="en-US" sz="2000" b="1" dirty="0" smtClean="0"/>
              <a:t> Hello </a:t>
            </a:r>
          </a:p>
        </p:txBody>
      </p:sp>
      <p:sp>
        <p:nvSpPr>
          <p:cNvPr id="6" name="Rectangle 5"/>
          <p:cNvSpPr/>
          <p:nvPr/>
        </p:nvSpPr>
        <p:spPr>
          <a:xfrm>
            <a:off x="3966069" y="3733800"/>
            <a:ext cx="4572000" cy="2246769"/>
          </a:xfrm>
          <a:prstGeom prst="rect">
            <a:avLst/>
          </a:prstGeom>
        </p:spPr>
        <p:txBody>
          <a:bodyPr>
            <a:spAutoFit/>
          </a:bodyPr>
          <a:lstStyle/>
          <a:p>
            <a:pPr lvl="0" eaLnBrk="0" fontAlgn="base" hangingPunct="0">
              <a:spcBef>
                <a:spcPct val="0"/>
              </a:spcBef>
              <a:spcAft>
                <a:spcPct val="0"/>
              </a:spcAft>
            </a:pPr>
            <a:r>
              <a:rPr lang="en-US" sz="2000" b="1" dirty="0" smtClean="0"/>
              <a:t>Output of Read(9) function is </a:t>
            </a:r>
          </a:p>
          <a:p>
            <a:pPr lvl="0" eaLnBrk="0" fontAlgn="base" hangingPunct="0">
              <a:spcBef>
                <a:spcPct val="0"/>
              </a:spcBef>
              <a:spcAft>
                <a:spcPct val="0"/>
              </a:spcAft>
            </a:pPr>
            <a:r>
              <a:rPr lang="en-US" sz="2000" b="1" dirty="0" smtClean="0"/>
              <a:t>Hello </a:t>
            </a:r>
          </a:p>
          <a:p>
            <a:pPr lvl="0" eaLnBrk="0" fontAlgn="base" hangingPunct="0">
              <a:spcBef>
                <a:spcPct val="0"/>
              </a:spcBef>
              <a:spcAft>
                <a:spcPct val="0"/>
              </a:spcAft>
            </a:pPr>
            <a:r>
              <a:rPr lang="en-US" sz="2000" b="1" dirty="0" err="1" smtClean="0"/>
              <a:t>Th</a:t>
            </a:r>
            <a:r>
              <a:rPr lang="en-US" sz="2000" b="1" dirty="0" smtClean="0"/>
              <a:t> Output of </a:t>
            </a:r>
            <a:r>
              <a:rPr lang="en-US" sz="2000" b="1" dirty="0" err="1" smtClean="0"/>
              <a:t>Readline</a:t>
            </a:r>
            <a:r>
              <a:rPr lang="en-US" sz="2000" b="1" dirty="0" smtClean="0"/>
              <a:t>(9) function is</a:t>
            </a:r>
          </a:p>
          <a:p>
            <a:pPr lvl="0" eaLnBrk="0" fontAlgn="base" hangingPunct="0">
              <a:spcBef>
                <a:spcPct val="0"/>
              </a:spcBef>
              <a:spcAft>
                <a:spcPct val="0"/>
              </a:spcAft>
            </a:pPr>
            <a:r>
              <a:rPr lang="en-US" sz="2000" b="1" dirty="0" smtClean="0"/>
              <a:t> Hello </a:t>
            </a:r>
          </a:p>
          <a:p>
            <a:pPr lvl="0" eaLnBrk="0" fontAlgn="base" hangingPunct="0">
              <a:spcBef>
                <a:spcPct val="0"/>
              </a:spcBef>
              <a:spcAft>
                <a:spcPct val="0"/>
              </a:spcAft>
            </a:pPr>
            <a:r>
              <a:rPr lang="en-US" sz="2000" b="1" dirty="0" smtClean="0"/>
              <a:t>Output of </a:t>
            </a:r>
            <a:r>
              <a:rPr lang="en-US" sz="2000" b="1" dirty="0" err="1" smtClean="0"/>
              <a:t>Readlines</a:t>
            </a:r>
            <a:r>
              <a:rPr lang="en-US" sz="2000" b="1" dirty="0" smtClean="0"/>
              <a:t> function is </a:t>
            </a:r>
          </a:p>
          <a:p>
            <a:pPr lvl="0" eaLnBrk="0" fontAlgn="base" hangingPunct="0">
              <a:spcBef>
                <a:spcPct val="0"/>
              </a:spcBef>
              <a:spcAft>
                <a:spcPct val="0"/>
              </a:spcAft>
            </a:pPr>
            <a:r>
              <a:rPr lang="en-US" sz="2000" b="1" dirty="0" smtClean="0"/>
              <a:t>['Hello \n', 'This is Delhi \n', 'This is Paris \n', 'This is London \n']</a:t>
            </a:r>
            <a:endParaRPr lang="en-US" sz="2000" b="1" dirty="0" smtClean="0">
              <a:cs typeface="Arial" pitchFamily="34" charset="0"/>
            </a:endParaRPr>
          </a:p>
        </p:txBody>
      </p:sp>
    </p:spTree>
    <p:extLst>
      <p:ext uri="{BB962C8B-B14F-4D97-AF65-F5344CB8AC3E}">
        <p14:creationId xmlns:p14="http://schemas.microsoft.com/office/powerpoint/2010/main" xmlns="" val="640273986"/>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Working with Binary Files</a:t>
            </a:r>
            <a:endParaRPr lang="en-US" b="1" dirty="0"/>
          </a:p>
        </p:txBody>
      </p:sp>
      <p:sp>
        <p:nvSpPr>
          <p:cNvPr id="4" name="TextBox 3"/>
          <p:cNvSpPr txBox="1"/>
          <p:nvPr/>
        </p:nvSpPr>
        <p:spPr>
          <a:xfrm>
            <a:off x="214282" y="878980"/>
            <a:ext cx="8763000" cy="5693866"/>
          </a:xfrm>
          <a:prstGeom prst="rect">
            <a:avLst/>
          </a:prstGeom>
          <a:noFill/>
        </p:spPr>
        <p:txBody>
          <a:bodyPr wrap="square" rtlCol="0">
            <a:spAutoFit/>
          </a:bodyPr>
          <a:lstStyle/>
          <a:p>
            <a:pPr marL="457200" indent="-457200" algn="just" fontAlgn="base">
              <a:buFont typeface="Arial" panose="020B0604020202020204" pitchFamily="34" charset="0"/>
              <a:buChar char="•"/>
            </a:pPr>
            <a:r>
              <a:rPr lang="en-US" sz="2800" b="1" dirty="0"/>
              <a:t>Working with Binary Files in </a:t>
            </a:r>
            <a:r>
              <a:rPr lang="en-US" sz="2800" b="1" dirty="0" smtClean="0"/>
              <a:t>Python</a:t>
            </a:r>
            <a:endParaRPr lang="en-IN" sz="2800" b="1" dirty="0"/>
          </a:p>
          <a:p>
            <a:pPr marL="457200" indent="-457200" algn="just" fontAlgn="base">
              <a:buFont typeface="Arial" panose="020B0604020202020204" pitchFamily="34" charset="0"/>
              <a:buChar char="•"/>
            </a:pPr>
            <a:r>
              <a:rPr lang="en-US" sz="2800" dirty="0"/>
              <a:t>Python has tools for working with binary files. Binary files use strings of type bytes. This means when reading binary data from a file, an object of type bytes is returned.</a:t>
            </a:r>
          </a:p>
          <a:p>
            <a:pPr marL="457200" indent="-457200" algn="just" fontAlgn="base">
              <a:buFont typeface="Arial" panose="020B0604020202020204" pitchFamily="34" charset="0"/>
              <a:buChar char="•"/>
            </a:pPr>
            <a:r>
              <a:rPr lang="en-US" sz="2800" dirty="0"/>
              <a:t>The binary file is opened using the open() function, whose mode parameter contains the character </a:t>
            </a:r>
            <a:r>
              <a:rPr lang="en-US" sz="2800" b="1" dirty="0"/>
              <a:t>‘b’</a:t>
            </a:r>
            <a:r>
              <a:rPr lang="en-US" sz="2800" dirty="0"/>
              <a:t>. More details about opening/closing binary files are described </a:t>
            </a:r>
            <a:r>
              <a:rPr lang="en-US" sz="2800" b="1" u="sng" dirty="0"/>
              <a:t>here</a:t>
            </a:r>
            <a:r>
              <a:rPr lang="en-US" sz="2800" dirty="0"/>
              <a:t>.</a:t>
            </a:r>
          </a:p>
          <a:p>
            <a:pPr marL="457200" indent="-457200" algn="just" fontAlgn="base">
              <a:buFont typeface="Arial" panose="020B0604020202020204" pitchFamily="34" charset="0"/>
              <a:buChar char="•"/>
            </a:pPr>
            <a:r>
              <a:rPr lang="en-US" sz="2800" dirty="0"/>
              <a:t>Unlike text files, binary files do not convert characters to the end of the string ‘\n’.</a:t>
            </a:r>
          </a:p>
          <a:p>
            <a:pPr marL="457200" indent="-457200" algn="just" fontAlgn="base">
              <a:buFont typeface="Arial" panose="020B0604020202020204" pitchFamily="34" charset="0"/>
              <a:buChar char="•"/>
            </a:pPr>
            <a:r>
              <a:rPr lang="en-US" sz="2800" dirty="0"/>
              <a:t>An example demonstrating the features of the presentation of </a:t>
            </a:r>
            <a:r>
              <a:rPr lang="en-US" sz="2800" dirty="0" smtClean="0"/>
              <a:t>information in </a:t>
            </a:r>
            <a:r>
              <a:rPr lang="en-US" sz="2800" dirty="0"/>
              <a:t>binary files</a:t>
            </a:r>
            <a:r>
              <a:rPr lang="en-US" sz="2800" dirty="0" smtClean="0"/>
              <a:t>.</a:t>
            </a:r>
            <a:endParaRPr lang="en-US" sz="2800" b="1" dirty="0"/>
          </a:p>
        </p:txBody>
      </p:sp>
    </p:spTree>
    <p:extLst>
      <p:ext uri="{BB962C8B-B14F-4D97-AF65-F5344CB8AC3E}">
        <p14:creationId xmlns:p14="http://schemas.microsoft.com/office/powerpoint/2010/main" xmlns="" val="2596289615"/>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Working with Binary Files</a:t>
            </a:r>
            <a:endParaRPr lang="en-US" b="1" dirty="0"/>
          </a:p>
        </p:txBody>
      </p:sp>
      <p:sp>
        <p:nvSpPr>
          <p:cNvPr id="4" name="TextBox 3"/>
          <p:cNvSpPr txBox="1"/>
          <p:nvPr/>
        </p:nvSpPr>
        <p:spPr>
          <a:xfrm>
            <a:off x="214282" y="878980"/>
            <a:ext cx="8763000" cy="5262979"/>
          </a:xfrm>
          <a:prstGeom prst="rect">
            <a:avLst/>
          </a:prstGeom>
          <a:noFill/>
        </p:spPr>
        <p:txBody>
          <a:bodyPr wrap="square" rtlCol="0">
            <a:spAutoFit/>
          </a:bodyPr>
          <a:lstStyle/>
          <a:p>
            <a:pPr lvl="0" fontAlgn="base">
              <a:spcBef>
                <a:spcPct val="0"/>
              </a:spcBef>
              <a:spcAft>
                <a:spcPct val="0"/>
              </a:spcAft>
            </a:pPr>
            <a:r>
              <a:rPr lang="en-US" sz="2400" dirty="0">
                <a:solidFill>
                  <a:srgbClr val="FF0000"/>
                </a:solidFill>
                <a:cs typeface="Arial" pitchFamily="34" charset="0"/>
              </a:rPr>
              <a:t># Open binary file for reading</a:t>
            </a:r>
            <a:r>
              <a:rPr lang="en-US" sz="2400" dirty="0">
                <a:solidFill>
                  <a:srgbClr val="2B2B2B"/>
                </a:solidFill>
                <a:cs typeface="Arial" pitchFamily="34" charset="0"/>
              </a:rPr>
              <a:t> </a:t>
            </a:r>
          </a:p>
          <a:p>
            <a:pPr lvl="0" fontAlgn="base">
              <a:spcBef>
                <a:spcPct val="0"/>
              </a:spcBef>
              <a:spcAft>
                <a:spcPct val="0"/>
              </a:spcAft>
            </a:pPr>
            <a:r>
              <a:rPr lang="en-US" sz="2400" dirty="0">
                <a:solidFill>
                  <a:srgbClr val="2B2B2B"/>
                </a:solidFill>
                <a:cs typeface="Arial" pitchFamily="34" charset="0"/>
              </a:rPr>
              <a:t>f = </a:t>
            </a:r>
            <a:r>
              <a:rPr lang="en-US" sz="2400" dirty="0">
                <a:solidFill>
                  <a:srgbClr val="800080"/>
                </a:solidFill>
                <a:cs typeface="Arial" pitchFamily="34" charset="0"/>
              </a:rPr>
              <a:t>open</a:t>
            </a:r>
            <a:r>
              <a:rPr lang="en-US" sz="2400" dirty="0">
                <a:solidFill>
                  <a:srgbClr val="2B2B2B"/>
                </a:solidFill>
                <a:cs typeface="Arial" pitchFamily="34" charset="0"/>
              </a:rPr>
              <a:t>(</a:t>
            </a:r>
            <a:r>
              <a:rPr lang="en-US" sz="2400" dirty="0">
                <a:solidFill>
                  <a:srgbClr val="008000"/>
                </a:solidFill>
                <a:cs typeface="Arial" pitchFamily="34" charset="0"/>
              </a:rPr>
              <a:t>'</a:t>
            </a:r>
            <a:r>
              <a:rPr lang="en-US" sz="2400" dirty="0" err="1">
                <a:solidFill>
                  <a:srgbClr val="008000"/>
                </a:solidFill>
                <a:cs typeface="Arial" pitchFamily="34" charset="0"/>
              </a:rPr>
              <a:t>myfile1.bin</a:t>
            </a:r>
            <a:r>
              <a:rPr lang="en-US" sz="2400" dirty="0">
                <a:solidFill>
                  <a:srgbClr val="008000"/>
                </a:solidFill>
                <a:cs typeface="Arial" pitchFamily="34" charset="0"/>
              </a:rPr>
              <a:t>'</a:t>
            </a:r>
            <a:r>
              <a:rPr lang="en-US" sz="2400" dirty="0">
                <a:solidFill>
                  <a:srgbClr val="2B2B2B"/>
                </a:solidFill>
                <a:cs typeface="Arial" pitchFamily="34" charset="0"/>
              </a:rPr>
              <a:t>, </a:t>
            </a:r>
            <a:r>
              <a:rPr lang="en-US" sz="2400" dirty="0">
                <a:solidFill>
                  <a:srgbClr val="008000"/>
                </a:solidFill>
                <a:cs typeface="Arial" pitchFamily="34" charset="0"/>
              </a:rPr>
              <a:t>'</a:t>
            </a:r>
            <a:r>
              <a:rPr lang="en-US" sz="2400" dirty="0" err="1">
                <a:solidFill>
                  <a:srgbClr val="008000"/>
                </a:solidFill>
                <a:cs typeface="Arial" pitchFamily="34" charset="0"/>
              </a:rPr>
              <a:t>rb</a:t>
            </a:r>
            <a:r>
              <a:rPr lang="en-US" sz="2400" dirty="0">
                <a:solidFill>
                  <a:srgbClr val="008000"/>
                </a:solidFill>
                <a:cs typeface="Arial" pitchFamily="34" charset="0"/>
              </a:rPr>
              <a:t>'</a:t>
            </a:r>
            <a:r>
              <a:rPr lang="en-US" sz="2400" dirty="0">
                <a:solidFill>
                  <a:srgbClr val="2B2B2B"/>
                </a:solidFill>
                <a:cs typeface="Arial" pitchFamily="34" charset="0"/>
              </a:rPr>
              <a:t>) </a:t>
            </a:r>
          </a:p>
          <a:p>
            <a:pPr lvl="0" fontAlgn="base">
              <a:spcBef>
                <a:spcPct val="0"/>
              </a:spcBef>
              <a:spcAft>
                <a:spcPct val="0"/>
              </a:spcAft>
            </a:pPr>
            <a:r>
              <a:rPr lang="en-US" sz="2400" dirty="0">
                <a:solidFill>
                  <a:srgbClr val="FF0000"/>
                </a:solidFill>
                <a:cs typeface="Arial" pitchFamily="34" charset="0"/>
              </a:rPr>
              <a:t># Get a string from binary file</a:t>
            </a:r>
            <a:r>
              <a:rPr lang="en-US" sz="2400" dirty="0">
                <a:solidFill>
                  <a:srgbClr val="2B2B2B"/>
                </a:solidFill>
                <a:cs typeface="Arial" pitchFamily="34" charset="0"/>
              </a:rPr>
              <a:t> </a:t>
            </a:r>
          </a:p>
          <a:p>
            <a:pPr lvl="0" fontAlgn="base">
              <a:spcBef>
                <a:spcPct val="0"/>
              </a:spcBef>
              <a:spcAft>
                <a:spcPct val="0"/>
              </a:spcAft>
            </a:pPr>
            <a:r>
              <a:rPr lang="en-US" sz="2400" dirty="0">
                <a:solidFill>
                  <a:srgbClr val="2B2B2B"/>
                </a:solidFill>
                <a:cs typeface="Arial" pitchFamily="34" charset="0"/>
              </a:rPr>
              <a:t>d = </a:t>
            </a:r>
            <a:r>
              <a:rPr lang="en-US" sz="2400" dirty="0" err="1">
                <a:solidFill>
                  <a:srgbClr val="2B2B2B"/>
                </a:solidFill>
                <a:cs typeface="Arial" pitchFamily="34" charset="0"/>
              </a:rPr>
              <a:t>f.read</a:t>
            </a:r>
            <a:r>
              <a:rPr lang="en-US" sz="2400" dirty="0">
                <a:solidFill>
                  <a:srgbClr val="2B2B2B"/>
                </a:solidFill>
                <a:cs typeface="Arial" pitchFamily="34" charset="0"/>
              </a:rPr>
              <a:t>() </a:t>
            </a:r>
          </a:p>
          <a:p>
            <a:pPr lvl="0" fontAlgn="base">
              <a:spcBef>
                <a:spcPct val="0"/>
              </a:spcBef>
              <a:spcAft>
                <a:spcPct val="0"/>
              </a:spcAft>
            </a:pPr>
            <a:r>
              <a:rPr lang="en-US" sz="2400" dirty="0">
                <a:solidFill>
                  <a:srgbClr val="FF0000"/>
                </a:solidFill>
                <a:cs typeface="Arial" pitchFamily="34" charset="0"/>
              </a:rPr>
              <a:t># Display this string.</a:t>
            </a:r>
          </a:p>
          <a:p>
            <a:pPr lvl="0" fontAlgn="base">
              <a:spcBef>
                <a:spcPct val="0"/>
              </a:spcBef>
              <a:spcAft>
                <a:spcPct val="0"/>
              </a:spcAft>
            </a:pPr>
            <a:r>
              <a:rPr lang="en-US" sz="2400" dirty="0">
                <a:solidFill>
                  <a:srgbClr val="2B2B2B"/>
                </a:solidFill>
                <a:cs typeface="Arial" pitchFamily="34" charset="0"/>
              </a:rPr>
              <a:t> </a:t>
            </a:r>
            <a:r>
              <a:rPr lang="en-US" sz="2400" dirty="0">
                <a:solidFill>
                  <a:srgbClr val="FF0000"/>
                </a:solidFill>
                <a:cs typeface="Arial" pitchFamily="34" charset="0"/>
              </a:rPr>
              <a:t># The output will be as a string of characters</a:t>
            </a:r>
          </a:p>
          <a:p>
            <a:pPr lvl="0" fontAlgn="base">
              <a:spcBef>
                <a:spcPct val="0"/>
              </a:spcBef>
              <a:spcAft>
                <a:spcPct val="0"/>
              </a:spcAft>
            </a:pPr>
            <a:r>
              <a:rPr lang="en-US" sz="2400" dirty="0">
                <a:solidFill>
                  <a:srgbClr val="2B2B2B"/>
                </a:solidFill>
                <a:cs typeface="Arial" pitchFamily="34" charset="0"/>
              </a:rPr>
              <a:t> </a:t>
            </a:r>
            <a:r>
              <a:rPr lang="en-US" sz="2400" dirty="0">
                <a:solidFill>
                  <a:srgbClr val="800080"/>
                </a:solidFill>
                <a:cs typeface="Arial" pitchFamily="34" charset="0"/>
              </a:rPr>
              <a:t>print</a:t>
            </a:r>
            <a:r>
              <a:rPr lang="en-US" sz="2400" dirty="0">
                <a:solidFill>
                  <a:srgbClr val="2B2B2B"/>
                </a:solidFill>
                <a:cs typeface="Arial" pitchFamily="34" charset="0"/>
              </a:rPr>
              <a:t>(</a:t>
            </a:r>
            <a:r>
              <a:rPr lang="en-US" sz="2400" dirty="0">
                <a:solidFill>
                  <a:srgbClr val="008000"/>
                </a:solidFill>
                <a:cs typeface="Arial" pitchFamily="34" charset="0"/>
              </a:rPr>
              <a:t>"d = "</a:t>
            </a:r>
            <a:r>
              <a:rPr lang="en-US" sz="2400" dirty="0">
                <a:solidFill>
                  <a:srgbClr val="2B2B2B"/>
                </a:solidFill>
                <a:cs typeface="Arial" pitchFamily="34" charset="0"/>
              </a:rPr>
              <a:t>, d) </a:t>
            </a:r>
          </a:p>
          <a:p>
            <a:pPr lvl="0" fontAlgn="base">
              <a:spcBef>
                <a:spcPct val="0"/>
              </a:spcBef>
              <a:spcAft>
                <a:spcPct val="0"/>
              </a:spcAft>
            </a:pPr>
            <a:r>
              <a:rPr lang="en-US" sz="2400" dirty="0">
                <a:solidFill>
                  <a:srgbClr val="FF0000"/>
                </a:solidFill>
                <a:cs typeface="Arial" pitchFamily="34" charset="0"/>
              </a:rPr>
              <a:t># d = b'\</a:t>
            </a:r>
            <a:r>
              <a:rPr lang="en-US" sz="2400" dirty="0" err="1">
                <a:solidFill>
                  <a:srgbClr val="FF0000"/>
                </a:solidFill>
                <a:cs typeface="Arial" pitchFamily="34" charset="0"/>
              </a:rPr>
              <a:t>x80</a:t>
            </a:r>
            <a:r>
              <a:rPr lang="en-US" sz="2400" dirty="0">
                <a:solidFill>
                  <a:srgbClr val="FF0000"/>
                </a:solidFill>
                <a:cs typeface="Arial" pitchFamily="34" charset="0"/>
              </a:rPr>
              <a:t>\</a:t>
            </a:r>
            <a:r>
              <a:rPr lang="en-US" sz="2400" dirty="0" err="1">
                <a:solidFill>
                  <a:srgbClr val="FF0000"/>
                </a:solidFill>
                <a:cs typeface="Arial" pitchFamily="34" charset="0"/>
              </a:rPr>
              <a:t>x03</a:t>
            </a:r>
            <a:r>
              <a:rPr lang="en-US" sz="2400" dirty="0">
                <a:solidFill>
                  <a:srgbClr val="FF0000"/>
                </a:solidFill>
                <a:cs typeface="Arial" pitchFamily="34" charset="0"/>
              </a:rPr>
              <a:t>]q\</a:t>
            </a:r>
            <a:r>
              <a:rPr lang="en-US" sz="2400" dirty="0" err="1">
                <a:solidFill>
                  <a:srgbClr val="FF0000"/>
                </a:solidFill>
                <a:cs typeface="Arial" pitchFamily="34" charset="0"/>
              </a:rPr>
              <a:t>x00</a:t>
            </a:r>
            <a:r>
              <a:rPr lang="en-US" sz="2400" dirty="0">
                <a:solidFill>
                  <a:srgbClr val="FF0000"/>
                </a:solidFill>
                <a:cs typeface="Arial" pitchFamily="34" charset="0"/>
              </a:rPr>
              <a:t>(K\</a:t>
            </a:r>
            <a:r>
              <a:rPr lang="en-US" sz="2400" dirty="0" err="1">
                <a:solidFill>
                  <a:srgbClr val="FF0000"/>
                </a:solidFill>
                <a:cs typeface="Arial" pitchFamily="34" charset="0"/>
              </a:rPr>
              <a:t>x01</a:t>
            </a:r>
            <a:r>
              <a:rPr lang="en-US" sz="2400" dirty="0">
                <a:solidFill>
                  <a:srgbClr val="FF0000"/>
                </a:solidFill>
                <a:cs typeface="Arial" pitchFamily="34" charset="0"/>
              </a:rPr>
              <a:t>\</a:t>
            </a:r>
            <a:r>
              <a:rPr lang="en-US" sz="2400" dirty="0" err="1">
                <a:solidFill>
                  <a:srgbClr val="FF0000"/>
                </a:solidFill>
                <a:cs typeface="Arial" pitchFamily="34" charset="0"/>
              </a:rPr>
              <a:t>x88G</a:t>
            </a:r>
            <a:r>
              <a:rPr lang="en-US" sz="2400" dirty="0">
                <a:solidFill>
                  <a:srgbClr val="FF0000"/>
                </a:solidFill>
                <a:cs typeface="Arial" pitchFamily="34" charset="0"/>
              </a:rPr>
              <a:t>@\</a:t>
            </a:r>
            <a:r>
              <a:rPr lang="en-US" sz="2400" dirty="0" err="1">
                <a:solidFill>
                  <a:srgbClr val="FF0000"/>
                </a:solidFill>
                <a:cs typeface="Arial" pitchFamily="34" charset="0"/>
              </a:rPr>
              <a:t>x07</a:t>
            </a:r>
            <a:r>
              <a:rPr lang="en-US" sz="2400" dirty="0">
                <a:solidFill>
                  <a:srgbClr val="FF0000"/>
                </a:solidFill>
                <a:cs typeface="Arial" pitchFamily="34" charset="0"/>
              </a:rPr>
              <a:t>\n=p\</a:t>
            </a:r>
            <a:r>
              <a:rPr lang="en-US" sz="2400" dirty="0" err="1">
                <a:solidFill>
                  <a:srgbClr val="FF0000"/>
                </a:solidFill>
                <a:cs typeface="Arial" pitchFamily="34" charset="0"/>
              </a:rPr>
              <a:t>xa3</a:t>
            </a:r>
            <a:r>
              <a:rPr lang="en-US" sz="2400" dirty="0">
                <a:solidFill>
                  <a:srgbClr val="FF0000"/>
                </a:solidFill>
                <a:cs typeface="Arial" pitchFamily="34" charset="0"/>
              </a:rPr>
              <a:t>\</a:t>
            </a:r>
            <a:r>
              <a:rPr lang="en-US" sz="2400" dirty="0" err="1">
                <a:solidFill>
                  <a:srgbClr val="FF0000"/>
                </a:solidFill>
                <a:cs typeface="Arial" pitchFamily="34" charset="0"/>
              </a:rPr>
              <a:t>xd7</a:t>
            </a:r>
            <a:r>
              <a:rPr lang="en-US" sz="2400" dirty="0">
                <a:solidFill>
                  <a:srgbClr val="FF0000"/>
                </a:solidFill>
                <a:cs typeface="Arial" pitchFamily="34" charset="0"/>
              </a:rPr>
              <a:t>\ne.‘</a:t>
            </a:r>
          </a:p>
          <a:p>
            <a:pPr lvl="0" fontAlgn="base">
              <a:spcBef>
                <a:spcPct val="0"/>
              </a:spcBef>
              <a:spcAft>
                <a:spcPct val="0"/>
              </a:spcAft>
            </a:pPr>
            <a:r>
              <a:rPr lang="en-US" sz="2400" dirty="0">
                <a:solidFill>
                  <a:srgbClr val="2B2B2B"/>
                </a:solidFill>
                <a:cs typeface="Arial" pitchFamily="34" charset="0"/>
              </a:rPr>
              <a:t> </a:t>
            </a:r>
            <a:r>
              <a:rPr lang="en-US" sz="2400" dirty="0">
                <a:solidFill>
                  <a:srgbClr val="FF0000"/>
                </a:solidFill>
                <a:cs typeface="Arial" pitchFamily="34" charset="0"/>
              </a:rPr>
              <a:t># If print as a separate character,</a:t>
            </a:r>
            <a:r>
              <a:rPr lang="en-US" sz="2400" dirty="0">
                <a:solidFill>
                  <a:srgbClr val="2B2B2B"/>
                </a:solidFill>
                <a:cs typeface="Arial" pitchFamily="34" charset="0"/>
              </a:rPr>
              <a:t> </a:t>
            </a:r>
            <a:r>
              <a:rPr lang="en-US" sz="2400" dirty="0">
                <a:solidFill>
                  <a:srgbClr val="FF0000"/>
                </a:solidFill>
                <a:cs typeface="Arial" pitchFamily="34" charset="0"/>
              </a:rPr>
              <a:t># then the character code will be displayed - as an integer</a:t>
            </a:r>
            <a:r>
              <a:rPr lang="en-US" sz="2400" dirty="0">
                <a:solidFill>
                  <a:srgbClr val="2B2B2B"/>
                </a:solidFill>
                <a:cs typeface="Arial" pitchFamily="34" charset="0"/>
              </a:rPr>
              <a:t> </a:t>
            </a:r>
          </a:p>
          <a:p>
            <a:pPr lvl="0" fontAlgn="base">
              <a:spcBef>
                <a:spcPct val="0"/>
              </a:spcBef>
              <a:spcAft>
                <a:spcPct val="0"/>
              </a:spcAft>
            </a:pPr>
            <a:r>
              <a:rPr lang="en-US" sz="2400" dirty="0">
                <a:solidFill>
                  <a:srgbClr val="800080"/>
                </a:solidFill>
                <a:cs typeface="Arial" pitchFamily="34" charset="0"/>
              </a:rPr>
              <a:t>print</a:t>
            </a:r>
            <a:r>
              <a:rPr lang="en-US" sz="2400" dirty="0">
                <a:solidFill>
                  <a:srgbClr val="2B2B2B"/>
                </a:solidFill>
                <a:cs typeface="Arial" pitchFamily="34" charset="0"/>
              </a:rPr>
              <a:t>(</a:t>
            </a:r>
            <a:r>
              <a:rPr lang="en-US" sz="2400" dirty="0">
                <a:solidFill>
                  <a:srgbClr val="008000"/>
                </a:solidFill>
                <a:cs typeface="Arial" pitchFamily="34" charset="0"/>
              </a:rPr>
              <a:t>"d[5] = "</a:t>
            </a:r>
            <a:r>
              <a:rPr lang="en-US" sz="2400" dirty="0">
                <a:solidFill>
                  <a:srgbClr val="2B2B2B"/>
                </a:solidFill>
                <a:cs typeface="Arial" pitchFamily="34" charset="0"/>
              </a:rPr>
              <a:t>, d[5])  </a:t>
            </a:r>
            <a:r>
              <a:rPr lang="en-US" sz="2400" dirty="0">
                <a:solidFill>
                  <a:srgbClr val="FF0000"/>
                </a:solidFill>
                <a:cs typeface="Arial" pitchFamily="34" charset="0"/>
              </a:rPr>
              <a:t># d[5] = 40</a:t>
            </a:r>
            <a:r>
              <a:rPr lang="en-US" sz="2400" dirty="0">
                <a:solidFill>
                  <a:srgbClr val="2B2B2B"/>
                </a:solidFill>
                <a:cs typeface="Arial" pitchFamily="34" charset="0"/>
              </a:rPr>
              <a:t> </a:t>
            </a:r>
          </a:p>
          <a:p>
            <a:pPr lvl="0" fontAlgn="base">
              <a:spcBef>
                <a:spcPct val="0"/>
              </a:spcBef>
              <a:spcAft>
                <a:spcPct val="0"/>
              </a:spcAft>
            </a:pPr>
            <a:r>
              <a:rPr lang="en-US" sz="2400" dirty="0">
                <a:solidFill>
                  <a:srgbClr val="800080"/>
                </a:solidFill>
                <a:cs typeface="Arial" pitchFamily="34" charset="0"/>
              </a:rPr>
              <a:t>print</a:t>
            </a:r>
            <a:r>
              <a:rPr lang="en-US" sz="2400" dirty="0">
                <a:solidFill>
                  <a:srgbClr val="2B2B2B"/>
                </a:solidFill>
                <a:cs typeface="Arial" pitchFamily="34" charset="0"/>
              </a:rPr>
              <a:t>(</a:t>
            </a:r>
            <a:r>
              <a:rPr lang="en-US" sz="2400" dirty="0">
                <a:solidFill>
                  <a:srgbClr val="008000"/>
                </a:solidFill>
                <a:cs typeface="Arial" pitchFamily="34" charset="0"/>
              </a:rPr>
              <a:t>"d[0] = "</a:t>
            </a:r>
            <a:r>
              <a:rPr lang="en-US" sz="2400" dirty="0">
                <a:solidFill>
                  <a:srgbClr val="2B2B2B"/>
                </a:solidFill>
                <a:cs typeface="Arial" pitchFamily="34" charset="0"/>
              </a:rPr>
              <a:t>, d[0]) </a:t>
            </a:r>
            <a:r>
              <a:rPr lang="en-US" sz="2400" dirty="0">
                <a:solidFill>
                  <a:srgbClr val="FF0000"/>
                </a:solidFill>
                <a:cs typeface="Arial" pitchFamily="34" charset="0"/>
              </a:rPr>
              <a:t># d[0] = 128</a:t>
            </a:r>
          </a:p>
          <a:p>
            <a:pPr lvl="0" fontAlgn="base">
              <a:spcBef>
                <a:spcPct val="0"/>
              </a:spcBef>
              <a:spcAft>
                <a:spcPct val="0"/>
              </a:spcAft>
            </a:pPr>
            <a:r>
              <a:rPr lang="en-US" sz="2400" dirty="0">
                <a:solidFill>
                  <a:srgbClr val="2B2B2B"/>
                </a:solidFill>
                <a:cs typeface="Arial" pitchFamily="34" charset="0"/>
              </a:rPr>
              <a:t> </a:t>
            </a:r>
            <a:r>
              <a:rPr lang="en-US" sz="2400" dirty="0">
                <a:solidFill>
                  <a:srgbClr val="FF0000"/>
                </a:solidFill>
                <a:cs typeface="Arial" pitchFamily="34" charset="0"/>
              </a:rPr>
              <a:t># Use bin function for single character</a:t>
            </a:r>
            <a:r>
              <a:rPr lang="en-US" sz="2400" dirty="0">
                <a:solidFill>
                  <a:srgbClr val="2B2B2B"/>
                </a:solidFill>
                <a:cs typeface="Arial" pitchFamily="34" charset="0"/>
              </a:rPr>
              <a:t> </a:t>
            </a:r>
          </a:p>
          <a:p>
            <a:pPr lvl="0" fontAlgn="base">
              <a:spcBef>
                <a:spcPct val="0"/>
              </a:spcBef>
              <a:spcAft>
                <a:spcPct val="0"/>
              </a:spcAft>
            </a:pPr>
            <a:r>
              <a:rPr lang="en-US" sz="2400" dirty="0">
                <a:solidFill>
                  <a:srgbClr val="800080"/>
                </a:solidFill>
                <a:cs typeface="Arial" pitchFamily="34" charset="0"/>
              </a:rPr>
              <a:t>print</a:t>
            </a:r>
            <a:r>
              <a:rPr lang="en-US" sz="2400" dirty="0">
                <a:solidFill>
                  <a:srgbClr val="2B2B2B"/>
                </a:solidFill>
                <a:cs typeface="Arial" pitchFamily="34" charset="0"/>
              </a:rPr>
              <a:t>(</a:t>
            </a:r>
            <a:r>
              <a:rPr lang="en-US" sz="2400" dirty="0">
                <a:solidFill>
                  <a:srgbClr val="800080"/>
                </a:solidFill>
                <a:cs typeface="Arial" pitchFamily="34" charset="0"/>
              </a:rPr>
              <a:t>bin</a:t>
            </a:r>
            <a:r>
              <a:rPr lang="en-US" sz="2400" dirty="0">
                <a:solidFill>
                  <a:srgbClr val="2B2B2B"/>
                </a:solidFill>
                <a:cs typeface="Arial" pitchFamily="34" charset="0"/>
              </a:rPr>
              <a:t>(d[2])) </a:t>
            </a:r>
            <a:r>
              <a:rPr lang="en-US" sz="2400" dirty="0">
                <a:solidFill>
                  <a:srgbClr val="FF0000"/>
                </a:solidFill>
                <a:cs typeface="Arial" pitchFamily="34" charset="0"/>
              </a:rPr>
              <a:t># </a:t>
            </a:r>
            <a:r>
              <a:rPr lang="en-US" sz="2400" dirty="0" err="1">
                <a:solidFill>
                  <a:srgbClr val="FF0000"/>
                </a:solidFill>
                <a:cs typeface="Arial" pitchFamily="34" charset="0"/>
              </a:rPr>
              <a:t>0b1011101</a:t>
            </a:r>
            <a:r>
              <a:rPr lang="en-US" sz="2400" dirty="0">
                <a:solidFill>
                  <a:srgbClr val="2B2B2B"/>
                </a:solidFill>
                <a:cs typeface="Arial" pitchFamily="34" charset="0"/>
              </a:rPr>
              <a:t> </a:t>
            </a:r>
            <a:r>
              <a:rPr lang="en-US" sz="2400" dirty="0" err="1">
                <a:solidFill>
                  <a:srgbClr val="2B2B2B"/>
                </a:solidFill>
                <a:cs typeface="Arial" pitchFamily="34" charset="0"/>
              </a:rPr>
              <a:t>f.close</a:t>
            </a:r>
            <a:r>
              <a:rPr lang="en-US" sz="2400" dirty="0">
                <a:solidFill>
                  <a:srgbClr val="2B2B2B"/>
                </a:solidFill>
                <a:cs typeface="Arial" pitchFamily="34" charset="0"/>
              </a:rPr>
              <a:t>()</a:t>
            </a:r>
            <a:r>
              <a:rPr lang="en-US" sz="2400" dirty="0">
                <a:cs typeface="Arial" pitchFamily="34" charset="0"/>
              </a:rPr>
              <a:t> </a:t>
            </a:r>
          </a:p>
        </p:txBody>
      </p:sp>
    </p:spTree>
    <p:extLst>
      <p:ext uri="{BB962C8B-B14F-4D97-AF65-F5344CB8AC3E}">
        <p14:creationId xmlns:p14="http://schemas.microsoft.com/office/powerpoint/2010/main" xmlns="" val="2519915903"/>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Working with Binary Files</a:t>
            </a:r>
            <a:endParaRPr lang="en-US" b="1" dirty="0"/>
          </a:p>
        </p:txBody>
      </p:sp>
      <p:sp>
        <p:nvSpPr>
          <p:cNvPr id="4" name="TextBox 3"/>
          <p:cNvSpPr txBox="1"/>
          <p:nvPr/>
        </p:nvSpPr>
        <p:spPr>
          <a:xfrm>
            <a:off x="214282" y="878980"/>
            <a:ext cx="8763000" cy="3785652"/>
          </a:xfrm>
          <a:prstGeom prst="rect">
            <a:avLst/>
          </a:prstGeom>
          <a:noFill/>
        </p:spPr>
        <p:txBody>
          <a:bodyPr wrap="square" rtlCol="0">
            <a:spAutoFit/>
          </a:bodyPr>
          <a:lstStyle/>
          <a:p>
            <a:pPr lvl="0" algn="just" fontAlgn="base">
              <a:spcBef>
                <a:spcPct val="0"/>
              </a:spcBef>
              <a:spcAft>
                <a:spcPct val="0"/>
              </a:spcAft>
            </a:pPr>
            <a:r>
              <a:rPr lang="en-IN" sz="2400" b="1" dirty="0">
                <a:solidFill>
                  <a:srgbClr val="2B2B2B"/>
                </a:solidFill>
                <a:cs typeface="Courier New" pitchFamily="49" charset="0"/>
              </a:rPr>
              <a:t>Output:</a:t>
            </a:r>
            <a:endParaRPr lang="en-US" sz="2400" b="1" dirty="0">
              <a:solidFill>
                <a:srgbClr val="2B2B2B"/>
              </a:solidFill>
              <a:cs typeface="Courier New" pitchFamily="49" charset="0"/>
            </a:endParaRPr>
          </a:p>
          <a:p>
            <a:pPr lvl="0" algn="just" fontAlgn="base">
              <a:spcBef>
                <a:spcPct val="0"/>
              </a:spcBef>
              <a:spcAft>
                <a:spcPct val="0"/>
              </a:spcAft>
            </a:pPr>
            <a:r>
              <a:rPr lang="en-US" sz="2400" dirty="0">
                <a:solidFill>
                  <a:srgbClr val="2B2B2B"/>
                </a:solidFill>
                <a:cs typeface="Courier New" pitchFamily="49" charset="0"/>
              </a:rPr>
              <a:t>d = b'\</a:t>
            </a:r>
            <a:r>
              <a:rPr lang="en-US" sz="2400" dirty="0" err="1">
                <a:solidFill>
                  <a:srgbClr val="2B2B2B"/>
                </a:solidFill>
                <a:cs typeface="Courier New" pitchFamily="49" charset="0"/>
              </a:rPr>
              <a:t>x80</a:t>
            </a:r>
            <a:r>
              <a:rPr lang="en-US" sz="2400" dirty="0">
                <a:solidFill>
                  <a:srgbClr val="2B2B2B"/>
                </a:solidFill>
                <a:cs typeface="Courier New" pitchFamily="49" charset="0"/>
              </a:rPr>
              <a:t>\</a:t>
            </a:r>
            <a:r>
              <a:rPr lang="en-US" sz="2400" dirty="0" err="1">
                <a:solidFill>
                  <a:srgbClr val="2B2B2B"/>
                </a:solidFill>
                <a:cs typeface="Courier New" pitchFamily="49" charset="0"/>
              </a:rPr>
              <a:t>x03</a:t>
            </a:r>
            <a:r>
              <a:rPr lang="en-US" sz="2400" dirty="0">
                <a:solidFill>
                  <a:srgbClr val="2B2B2B"/>
                </a:solidFill>
                <a:cs typeface="Courier New" pitchFamily="49" charset="0"/>
              </a:rPr>
              <a:t>]q\</a:t>
            </a:r>
            <a:r>
              <a:rPr lang="en-US" sz="2400" dirty="0" err="1">
                <a:solidFill>
                  <a:srgbClr val="2B2B2B"/>
                </a:solidFill>
                <a:cs typeface="Courier New" pitchFamily="49" charset="0"/>
              </a:rPr>
              <a:t>x00</a:t>
            </a:r>
            <a:r>
              <a:rPr lang="en-US" sz="2400" dirty="0">
                <a:solidFill>
                  <a:srgbClr val="2B2B2B"/>
                </a:solidFill>
                <a:cs typeface="Courier New" pitchFamily="49" charset="0"/>
              </a:rPr>
              <a:t>(K\</a:t>
            </a:r>
            <a:r>
              <a:rPr lang="en-US" sz="2400" dirty="0" err="1">
                <a:solidFill>
                  <a:srgbClr val="2B2B2B"/>
                </a:solidFill>
                <a:cs typeface="Courier New" pitchFamily="49" charset="0"/>
              </a:rPr>
              <a:t>x01</a:t>
            </a:r>
            <a:r>
              <a:rPr lang="en-US" sz="2400" dirty="0">
                <a:solidFill>
                  <a:srgbClr val="2B2B2B"/>
                </a:solidFill>
                <a:cs typeface="Courier New" pitchFamily="49" charset="0"/>
              </a:rPr>
              <a:t>\</a:t>
            </a:r>
            <a:r>
              <a:rPr lang="en-US" sz="2400" dirty="0" err="1">
                <a:solidFill>
                  <a:srgbClr val="2B2B2B"/>
                </a:solidFill>
                <a:cs typeface="Courier New" pitchFamily="49" charset="0"/>
              </a:rPr>
              <a:t>x88G</a:t>
            </a:r>
            <a:r>
              <a:rPr lang="en-US" sz="2400" dirty="0">
                <a:solidFill>
                  <a:srgbClr val="2B2B2B"/>
                </a:solidFill>
                <a:cs typeface="Courier New" pitchFamily="49" charset="0"/>
              </a:rPr>
              <a:t>@\</a:t>
            </a:r>
            <a:r>
              <a:rPr lang="en-US" sz="2400" dirty="0" err="1">
                <a:solidFill>
                  <a:srgbClr val="2B2B2B"/>
                </a:solidFill>
                <a:cs typeface="Courier New" pitchFamily="49" charset="0"/>
              </a:rPr>
              <a:t>x07</a:t>
            </a:r>
            <a:r>
              <a:rPr lang="en-US" sz="2400" dirty="0">
                <a:solidFill>
                  <a:srgbClr val="2B2B2B"/>
                </a:solidFill>
                <a:cs typeface="Courier New" pitchFamily="49" charset="0"/>
              </a:rPr>
              <a:t>\n=p\</a:t>
            </a:r>
            <a:r>
              <a:rPr lang="en-US" sz="2400" dirty="0" err="1">
                <a:solidFill>
                  <a:srgbClr val="2B2B2B"/>
                </a:solidFill>
                <a:cs typeface="Courier New" pitchFamily="49" charset="0"/>
              </a:rPr>
              <a:t>xa3</a:t>
            </a:r>
            <a:r>
              <a:rPr lang="en-US" sz="2400" dirty="0">
                <a:solidFill>
                  <a:srgbClr val="2B2B2B"/>
                </a:solidFill>
                <a:cs typeface="Courier New" pitchFamily="49" charset="0"/>
              </a:rPr>
              <a:t>\</a:t>
            </a:r>
            <a:r>
              <a:rPr lang="en-US" sz="2400" dirty="0" err="1">
                <a:solidFill>
                  <a:srgbClr val="2B2B2B"/>
                </a:solidFill>
                <a:cs typeface="Courier New" pitchFamily="49" charset="0"/>
              </a:rPr>
              <a:t>xd7</a:t>
            </a:r>
            <a:r>
              <a:rPr lang="en-US" sz="2400" dirty="0">
                <a:solidFill>
                  <a:srgbClr val="2B2B2B"/>
                </a:solidFill>
                <a:cs typeface="Courier New" pitchFamily="49" charset="0"/>
              </a:rPr>
              <a:t>\ne.' d[5] = 40 </a:t>
            </a:r>
          </a:p>
          <a:p>
            <a:pPr lvl="0" algn="just" fontAlgn="base">
              <a:spcBef>
                <a:spcPct val="0"/>
              </a:spcBef>
              <a:spcAft>
                <a:spcPct val="0"/>
              </a:spcAft>
            </a:pPr>
            <a:r>
              <a:rPr lang="en-US" sz="2400" dirty="0">
                <a:solidFill>
                  <a:srgbClr val="2B2B2B"/>
                </a:solidFill>
                <a:cs typeface="Courier New" pitchFamily="49" charset="0"/>
              </a:rPr>
              <a:t>d[0] = 128</a:t>
            </a:r>
          </a:p>
          <a:p>
            <a:pPr lvl="0" algn="just" fontAlgn="base">
              <a:spcBef>
                <a:spcPct val="0"/>
              </a:spcBef>
              <a:spcAft>
                <a:spcPct val="0"/>
              </a:spcAft>
            </a:pPr>
            <a:r>
              <a:rPr lang="en-US" sz="2400" dirty="0">
                <a:solidFill>
                  <a:srgbClr val="2B2B2B"/>
                </a:solidFill>
                <a:cs typeface="Courier New" pitchFamily="49" charset="0"/>
              </a:rPr>
              <a:t> </a:t>
            </a:r>
            <a:r>
              <a:rPr lang="en-US" sz="2400" dirty="0" err="1">
                <a:solidFill>
                  <a:srgbClr val="2B2B2B"/>
                </a:solidFill>
                <a:cs typeface="Courier New" pitchFamily="49" charset="0"/>
              </a:rPr>
              <a:t>0b1011101</a:t>
            </a:r>
            <a:r>
              <a:rPr lang="en-US" sz="2400" dirty="0">
                <a:cs typeface="Arial" pitchFamily="34" charset="0"/>
              </a:rPr>
              <a:t> </a:t>
            </a:r>
          </a:p>
          <a:p>
            <a:pPr lvl="0" algn="just" fontAlgn="base">
              <a:spcBef>
                <a:spcPct val="0"/>
              </a:spcBef>
              <a:spcAft>
                <a:spcPct val="0"/>
              </a:spcAft>
            </a:pPr>
            <a:endParaRPr lang="en-IN" sz="2400" dirty="0">
              <a:cs typeface="Arial" pitchFamily="34" charset="0"/>
            </a:endParaRPr>
          </a:p>
          <a:p>
            <a:pPr algn="just" fontAlgn="base"/>
            <a:r>
              <a:rPr lang="en-US" sz="2400" dirty="0"/>
              <a:t>Based on the example above, the following conclusions can be drawn:</a:t>
            </a:r>
          </a:p>
          <a:p>
            <a:pPr algn="just" fontAlgn="base">
              <a:buFont typeface="Wingdings" pitchFamily="2" charset="2"/>
              <a:buChar char="ü"/>
            </a:pPr>
            <a:r>
              <a:rPr lang="en-US" sz="2400" dirty="0"/>
              <a:t>a string of binary data is output as a string;</a:t>
            </a:r>
          </a:p>
          <a:p>
            <a:pPr algn="just" fontAlgn="base">
              <a:buFont typeface="Wingdings" pitchFamily="2" charset="2"/>
              <a:buChar char="ü"/>
            </a:pPr>
            <a:r>
              <a:rPr lang="en-US" sz="2400" dirty="0"/>
              <a:t>a single character (element) of binary data is represented as 8-bit integers</a:t>
            </a:r>
            <a:r>
              <a:rPr lang="en-US" sz="2400" dirty="0" smtClean="0"/>
              <a:t>.</a:t>
            </a:r>
            <a:endParaRPr lang="en-US" sz="2400" dirty="0"/>
          </a:p>
        </p:txBody>
      </p:sp>
    </p:spTree>
    <p:extLst>
      <p:ext uri="{BB962C8B-B14F-4D97-AF65-F5344CB8AC3E}">
        <p14:creationId xmlns:p14="http://schemas.microsoft.com/office/powerpoint/2010/main" xmlns="" val="125229794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Zipping and Unzipping files in Python</a:t>
            </a:r>
            <a:endParaRPr lang="en-US" b="1" dirty="0"/>
          </a:p>
        </p:txBody>
      </p:sp>
      <p:sp>
        <p:nvSpPr>
          <p:cNvPr id="4" name="TextBox 3"/>
          <p:cNvSpPr txBox="1"/>
          <p:nvPr/>
        </p:nvSpPr>
        <p:spPr>
          <a:xfrm>
            <a:off x="214282" y="1143000"/>
            <a:ext cx="8763000" cy="3970318"/>
          </a:xfrm>
          <a:prstGeom prst="rect">
            <a:avLst/>
          </a:prstGeom>
          <a:noFill/>
        </p:spPr>
        <p:txBody>
          <a:bodyPr wrap="square" rtlCol="0">
            <a:spAutoFit/>
          </a:bodyPr>
          <a:lstStyle/>
          <a:p>
            <a:pPr lvl="0" algn="just" fontAlgn="base">
              <a:spcBef>
                <a:spcPct val="0"/>
              </a:spcBef>
              <a:spcAft>
                <a:spcPct val="0"/>
              </a:spcAft>
            </a:pPr>
            <a:r>
              <a:rPr lang="en-IN" sz="2800" dirty="0">
                <a:solidFill>
                  <a:srgbClr val="2B2B2B"/>
                </a:solidFill>
                <a:cs typeface="Courier New" pitchFamily="49" charset="0"/>
              </a:rPr>
              <a:t>To zip a file, you can use the </a:t>
            </a:r>
            <a:r>
              <a:rPr lang="en-IN" sz="2800" dirty="0" err="1">
                <a:solidFill>
                  <a:srgbClr val="2B2B2B"/>
                </a:solidFill>
                <a:cs typeface="Courier New" pitchFamily="49" charset="0"/>
              </a:rPr>
              <a:t>zipfile</a:t>
            </a:r>
            <a:r>
              <a:rPr lang="en-IN" sz="2800" dirty="0">
                <a:solidFill>
                  <a:srgbClr val="2B2B2B"/>
                </a:solidFill>
                <a:cs typeface="Courier New" pitchFamily="49" charset="0"/>
              </a:rPr>
              <a:t> module. Here is an example:</a:t>
            </a:r>
          </a:p>
          <a:p>
            <a:pPr lvl="0" algn="just" fontAlgn="base">
              <a:spcBef>
                <a:spcPct val="0"/>
              </a:spcBef>
              <a:spcAft>
                <a:spcPct val="0"/>
              </a:spcAft>
            </a:pPr>
            <a:endParaRPr lang="en-IN" sz="2800" dirty="0" smtClean="0">
              <a:solidFill>
                <a:srgbClr val="2B2B2B"/>
              </a:solidFill>
              <a:cs typeface="Courier New" pitchFamily="49" charset="0"/>
            </a:endParaRPr>
          </a:p>
          <a:p>
            <a:pPr lvl="0" algn="just" fontAlgn="base">
              <a:spcBef>
                <a:spcPct val="0"/>
              </a:spcBef>
              <a:spcAft>
                <a:spcPct val="0"/>
              </a:spcAft>
            </a:pPr>
            <a:r>
              <a:rPr lang="en-IN" sz="2800" dirty="0" smtClean="0">
                <a:solidFill>
                  <a:srgbClr val="2B2B2B"/>
                </a:solidFill>
                <a:cs typeface="Courier New" pitchFamily="49" charset="0"/>
              </a:rPr>
              <a:t>import </a:t>
            </a:r>
            <a:r>
              <a:rPr lang="en-IN" sz="2800" dirty="0" err="1">
                <a:solidFill>
                  <a:srgbClr val="2B2B2B"/>
                </a:solidFill>
                <a:cs typeface="Courier New" pitchFamily="49" charset="0"/>
              </a:rPr>
              <a:t>zipfile</a:t>
            </a:r>
            <a:endParaRPr lang="en-IN" sz="2800" dirty="0">
              <a:solidFill>
                <a:srgbClr val="2B2B2B"/>
              </a:solidFill>
              <a:cs typeface="Courier New" pitchFamily="49" charset="0"/>
            </a:endParaRPr>
          </a:p>
          <a:p>
            <a:pPr lvl="0" algn="just" fontAlgn="base">
              <a:spcBef>
                <a:spcPct val="0"/>
              </a:spcBef>
              <a:spcAft>
                <a:spcPct val="0"/>
              </a:spcAft>
            </a:pPr>
            <a:r>
              <a:rPr lang="en-IN" sz="2800" dirty="0" smtClean="0">
                <a:solidFill>
                  <a:srgbClr val="2B2B2B"/>
                </a:solidFill>
                <a:cs typeface="Courier New" pitchFamily="49" charset="0"/>
              </a:rPr>
              <a:t># </a:t>
            </a:r>
            <a:r>
              <a:rPr lang="en-IN" sz="2800" dirty="0">
                <a:solidFill>
                  <a:srgbClr val="2B2B2B"/>
                </a:solidFill>
                <a:cs typeface="Courier New" pitchFamily="49" charset="0"/>
              </a:rPr>
              <a:t>Create a </a:t>
            </a:r>
            <a:r>
              <a:rPr lang="en-IN" sz="2800" dirty="0" err="1">
                <a:solidFill>
                  <a:srgbClr val="2B2B2B"/>
                </a:solidFill>
                <a:cs typeface="Courier New" pitchFamily="49" charset="0"/>
              </a:rPr>
              <a:t>ZipFile</a:t>
            </a:r>
            <a:r>
              <a:rPr lang="en-IN" sz="2800" dirty="0">
                <a:solidFill>
                  <a:srgbClr val="2B2B2B"/>
                </a:solidFill>
                <a:cs typeface="Courier New" pitchFamily="49" charset="0"/>
              </a:rPr>
              <a:t> object</a:t>
            </a:r>
          </a:p>
          <a:p>
            <a:pPr lvl="0" algn="just" fontAlgn="base">
              <a:spcBef>
                <a:spcPct val="0"/>
              </a:spcBef>
              <a:spcAft>
                <a:spcPct val="0"/>
              </a:spcAft>
            </a:pPr>
            <a:r>
              <a:rPr lang="en-IN" sz="2800" dirty="0">
                <a:solidFill>
                  <a:srgbClr val="2B2B2B"/>
                </a:solidFill>
                <a:cs typeface="Courier New" pitchFamily="49" charset="0"/>
              </a:rPr>
              <a:t>with </a:t>
            </a:r>
            <a:r>
              <a:rPr lang="en-IN" sz="2800" dirty="0" err="1">
                <a:solidFill>
                  <a:srgbClr val="2B2B2B"/>
                </a:solidFill>
                <a:cs typeface="Courier New" pitchFamily="49" charset="0"/>
              </a:rPr>
              <a:t>zipfile.ZipFile</a:t>
            </a:r>
            <a:r>
              <a:rPr lang="en-IN" sz="2800" dirty="0">
                <a:solidFill>
                  <a:srgbClr val="2B2B2B"/>
                </a:solidFill>
                <a:cs typeface="Courier New" pitchFamily="49" charset="0"/>
              </a:rPr>
              <a:t>('</a:t>
            </a:r>
            <a:r>
              <a:rPr lang="en-IN" sz="2800" dirty="0" err="1">
                <a:solidFill>
                  <a:srgbClr val="2B2B2B"/>
                </a:solidFill>
                <a:cs typeface="Courier New" pitchFamily="49" charset="0"/>
              </a:rPr>
              <a:t>my_zip_file.zip</a:t>
            </a:r>
            <a:r>
              <a:rPr lang="en-IN" sz="2800" dirty="0">
                <a:solidFill>
                  <a:srgbClr val="2B2B2B"/>
                </a:solidFill>
                <a:cs typeface="Courier New" pitchFamily="49" charset="0"/>
              </a:rPr>
              <a:t>', 'w') as </a:t>
            </a:r>
            <a:r>
              <a:rPr lang="en-IN" sz="2800" dirty="0" err="1">
                <a:solidFill>
                  <a:srgbClr val="2B2B2B"/>
                </a:solidFill>
                <a:cs typeface="Courier New" pitchFamily="49" charset="0"/>
              </a:rPr>
              <a:t>zip_file</a:t>
            </a:r>
            <a:r>
              <a:rPr lang="en-IN" sz="2800" dirty="0">
                <a:solidFill>
                  <a:srgbClr val="2B2B2B"/>
                </a:solidFill>
                <a:cs typeface="Courier New" pitchFamily="49" charset="0"/>
              </a:rPr>
              <a:t>:</a:t>
            </a:r>
          </a:p>
          <a:p>
            <a:pPr lvl="0" algn="just" fontAlgn="base">
              <a:spcBef>
                <a:spcPct val="0"/>
              </a:spcBef>
              <a:spcAft>
                <a:spcPct val="0"/>
              </a:spcAft>
            </a:pPr>
            <a:r>
              <a:rPr lang="en-IN" sz="2800" dirty="0">
                <a:solidFill>
                  <a:srgbClr val="2B2B2B"/>
                </a:solidFill>
                <a:cs typeface="Courier New" pitchFamily="49" charset="0"/>
              </a:rPr>
              <a:t>    # Add a file to the zip file</a:t>
            </a:r>
          </a:p>
          <a:p>
            <a:pPr lvl="0" algn="just" fontAlgn="base">
              <a:spcBef>
                <a:spcPct val="0"/>
              </a:spcBef>
              <a:spcAft>
                <a:spcPct val="0"/>
              </a:spcAft>
            </a:pPr>
            <a:r>
              <a:rPr lang="en-IN" sz="2800" dirty="0">
                <a:solidFill>
                  <a:srgbClr val="2B2B2B"/>
                </a:solidFill>
                <a:cs typeface="Courier New" pitchFamily="49" charset="0"/>
              </a:rPr>
              <a:t>    </a:t>
            </a:r>
            <a:r>
              <a:rPr lang="en-IN" sz="2800" dirty="0" err="1">
                <a:solidFill>
                  <a:srgbClr val="2B2B2B"/>
                </a:solidFill>
                <a:cs typeface="Courier New" pitchFamily="49" charset="0"/>
              </a:rPr>
              <a:t>zip_file.write</a:t>
            </a:r>
            <a:r>
              <a:rPr lang="en-IN" sz="2800" dirty="0">
                <a:solidFill>
                  <a:srgbClr val="2B2B2B"/>
                </a:solidFill>
                <a:cs typeface="Courier New" pitchFamily="49" charset="0"/>
              </a:rPr>
              <a:t>('</a:t>
            </a:r>
            <a:r>
              <a:rPr lang="en-IN" sz="2800" dirty="0" err="1">
                <a:solidFill>
                  <a:srgbClr val="2B2B2B"/>
                </a:solidFill>
                <a:cs typeface="Courier New" pitchFamily="49" charset="0"/>
              </a:rPr>
              <a:t>my_file.txt</a:t>
            </a:r>
            <a:r>
              <a:rPr lang="en-IN" sz="2800" dirty="0">
                <a:solidFill>
                  <a:srgbClr val="2B2B2B"/>
                </a:solidFill>
                <a:cs typeface="Courier New" pitchFamily="49" charset="0"/>
              </a:rPr>
              <a:t>')</a:t>
            </a:r>
          </a:p>
          <a:p>
            <a:pPr lvl="0" algn="just" fontAlgn="base">
              <a:spcBef>
                <a:spcPct val="0"/>
              </a:spcBef>
              <a:spcAft>
                <a:spcPct val="0"/>
              </a:spcAft>
            </a:pPr>
            <a:endParaRPr lang="en-IN" sz="2800" dirty="0">
              <a:solidFill>
                <a:srgbClr val="2B2B2B"/>
              </a:solidFill>
              <a:cs typeface="Courier New" pitchFamily="49" charset="0"/>
            </a:endParaRPr>
          </a:p>
        </p:txBody>
      </p:sp>
    </p:spTree>
    <p:extLst>
      <p:ext uri="{BB962C8B-B14F-4D97-AF65-F5344CB8AC3E}">
        <p14:creationId xmlns:p14="http://schemas.microsoft.com/office/powerpoint/2010/main" xmlns="" val="3143078989"/>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Zipping and Unzipping files in Python</a:t>
            </a:r>
            <a:endParaRPr lang="en-US" b="1" dirty="0"/>
          </a:p>
        </p:txBody>
      </p:sp>
      <p:sp>
        <p:nvSpPr>
          <p:cNvPr id="4" name="TextBox 3"/>
          <p:cNvSpPr txBox="1"/>
          <p:nvPr/>
        </p:nvSpPr>
        <p:spPr>
          <a:xfrm>
            <a:off x="214282" y="1143000"/>
            <a:ext cx="8763000" cy="3970318"/>
          </a:xfrm>
          <a:prstGeom prst="rect">
            <a:avLst/>
          </a:prstGeom>
          <a:noFill/>
        </p:spPr>
        <p:txBody>
          <a:bodyPr wrap="square" rtlCol="0">
            <a:spAutoFit/>
          </a:bodyPr>
          <a:lstStyle/>
          <a:p>
            <a:pPr lvl="0" algn="just" fontAlgn="base">
              <a:spcBef>
                <a:spcPct val="0"/>
              </a:spcBef>
              <a:spcAft>
                <a:spcPct val="0"/>
              </a:spcAft>
            </a:pPr>
            <a:r>
              <a:rPr lang="en-IN" sz="2800" dirty="0">
                <a:solidFill>
                  <a:srgbClr val="2B2B2B"/>
                </a:solidFill>
                <a:cs typeface="Courier New" pitchFamily="49" charset="0"/>
              </a:rPr>
              <a:t>To unzip a file, you can also use the </a:t>
            </a:r>
            <a:r>
              <a:rPr lang="en-IN" sz="2800" dirty="0" err="1">
                <a:solidFill>
                  <a:srgbClr val="2B2B2B"/>
                </a:solidFill>
                <a:cs typeface="Courier New" pitchFamily="49" charset="0"/>
              </a:rPr>
              <a:t>zipfile</a:t>
            </a:r>
            <a:r>
              <a:rPr lang="en-IN" sz="2800" dirty="0">
                <a:solidFill>
                  <a:srgbClr val="2B2B2B"/>
                </a:solidFill>
                <a:cs typeface="Courier New" pitchFamily="49" charset="0"/>
              </a:rPr>
              <a:t> module. Here is an example:</a:t>
            </a:r>
          </a:p>
          <a:p>
            <a:pPr lvl="0" algn="just" fontAlgn="base">
              <a:spcBef>
                <a:spcPct val="0"/>
              </a:spcBef>
              <a:spcAft>
                <a:spcPct val="0"/>
              </a:spcAft>
            </a:pPr>
            <a:r>
              <a:rPr lang="en-IN" sz="2800" dirty="0">
                <a:solidFill>
                  <a:srgbClr val="2B2B2B"/>
                </a:solidFill>
                <a:cs typeface="Courier New" pitchFamily="49" charset="0"/>
              </a:rPr>
              <a:t>import </a:t>
            </a:r>
            <a:r>
              <a:rPr lang="en-IN" sz="2800" dirty="0" err="1">
                <a:solidFill>
                  <a:srgbClr val="2B2B2B"/>
                </a:solidFill>
                <a:cs typeface="Courier New" pitchFamily="49" charset="0"/>
              </a:rPr>
              <a:t>zipfile</a:t>
            </a:r>
            <a:endParaRPr lang="en-IN" sz="2800" dirty="0">
              <a:solidFill>
                <a:srgbClr val="2B2B2B"/>
              </a:solidFill>
              <a:cs typeface="Courier New" pitchFamily="49" charset="0"/>
            </a:endParaRPr>
          </a:p>
          <a:p>
            <a:pPr lvl="0" algn="just" fontAlgn="base">
              <a:spcBef>
                <a:spcPct val="0"/>
              </a:spcBef>
              <a:spcAft>
                <a:spcPct val="0"/>
              </a:spcAft>
            </a:pPr>
            <a:endParaRPr lang="en-IN" sz="2800" dirty="0">
              <a:solidFill>
                <a:srgbClr val="2B2B2B"/>
              </a:solidFill>
              <a:cs typeface="Courier New" pitchFamily="49" charset="0"/>
            </a:endParaRPr>
          </a:p>
          <a:p>
            <a:pPr lvl="0" algn="just" fontAlgn="base">
              <a:spcBef>
                <a:spcPct val="0"/>
              </a:spcBef>
              <a:spcAft>
                <a:spcPct val="0"/>
              </a:spcAft>
            </a:pPr>
            <a:r>
              <a:rPr lang="en-IN" sz="2800" dirty="0">
                <a:solidFill>
                  <a:srgbClr val="2B2B2B"/>
                </a:solidFill>
                <a:cs typeface="Courier New" pitchFamily="49" charset="0"/>
              </a:rPr>
              <a:t># Create a </a:t>
            </a:r>
            <a:r>
              <a:rPr lang="en-IN" sz="2800" dirty="0" err="1">
                <a:solidFill>
                  <a:srgbClr val="2B2B2B"/>
                </a:solidFill>
                <a:cs typeface="Courier New" pitchFamily="49" charset="0"/>
              </a:rPr>
              <a:t>ZipFile</a:t>
            </a:r>
            <a:r>
              <a:rPr lang="en-IN" sz="2800" dirty="0">
                <a:solidFill>
                  <a:srgbClr val="2B2B2B"/>
                </a:solidFill>
                <a:cs typeface="Courier New" pitchFamily="49" charset="0"/>
              </a:rPr>
              <a:t> object</a:t>
            </a:r>
          </a:p>
          <a:p>
            <a:pPr lvl="0" algn="just" fontAlgn="base">
              <a:spcBef>
                <a:spcPct val="0"/>
              </a:spcBef>
              <a:spcAft>
                <a:spcPct val="0"/>
              </a:spcAft>
            </a:pPr>
            <a:r>
              <a:rPr lang="en-IN" sz="2800" dirty="0">
                <a:solidFill>
                  <a:srgbClr val="2B2B2B"/>
                </a:solidFill>
                <a:cs typeface="Courier New" pitchFamily="49" charset="0"/>
              </a:rPr>
              <a:t>with </a:t>
            </a:r>
            <a:r>
              <a:rPr lang="en-IN" sz="2800" dirty="0" err="1">
                <a:solidFill>
                  <a:srgbClr val="2B2B2B"/>
                </a:solidFill>
                <a:cs typeface="Courier New" pitchFamily="49" charset="0"/>
              </a:rPr>
              <a:t>zipfile.ZipFile</a:t>
            </a:r>
            <a:r>
              <a:rPr lang="en-IN" sz="2800" dirty="0">
                <a:solidFill>
                  <a:srgbClr val="2B2B2B"/>
                </a:solidFill>
                <a:cs typeface="Courier New" pitchFamily="49" charset="0"/>
              </a:rPr>
              <a:t>('</a:t>
            </a:r>
            <a:r>
              <a:rPr lang="en-IN" sz="2800" dirty="0" err="1">
                <a:solidFill>
                  <a:srgbClr val="2B2B2B"/>
                </a:solidFill>
                <a:cs typeface="Courier New" pitchFamily="49" charset="0"/>
              </a:rPr>
              <a:t>my_zip_file.zip</a:t>
            </a:r>
            <a:r>
              <a:rPr lang="en-IN" sz="2800" dirty="0">
                <a:solidFill>
                  <a:srgbClr val="2B2B2B"/>
                </a:solidFill>
                <a:cs typeface="Courier New" pitchFamily="49" charset="0"/>
              </a:rPr>
              <a:t>', 'r') as </a:t>
            </a:r>
            <a:r>
              <a:rPr lang="en-IN" sz="2800" dirty="0" err="1">
                <a:solidFill>
                  <a:srgbClr val="2B2B2B"/>
                </a:solidFill>
                <a:cs typeface="Courier New" pitchFamily="49" charset="0"/>
              </a:rPr>
              <a:t>zip_file</a:t>
            </a:r>
            <a:r>
              <a:rPr lang="en-IN" sz="2800" dirty="0">
                <a:solidFill>
                  <a:srgbClr val="2B2B2B"/>
                </a:solidFill>
                <a:cs typeface="Courier New" pitchFamily="49" charset="0"/>
              </a:rPr>
              <a:t>:</a:t>
            </a:r>
          </a:p>
          <a:p>
            <a:pPr lvl="0" algn="just" fontAlgn="base">
              <a:spcBef>
                <a:spcPct val="0"/>
              </a:spcBef>
              <a:spcAft>
                <a:spcPct val="0"/>
              </a:spcAft>
            </a:pPr>
            <a:r>
              <a:rPr lang="en-IN" sz="2800" dirty="0">
                <a:solidFill>
                  <a:srgbClr val="2B2B2B"/>
                </a:solidFill>
                <a:cs typeface="Courier New" pitchFamily="49" charset="0"/>
              </a:rPr>
              <a:t>    # Extract all the files from the zip file</a:t>
            </a:r>
          </a:p>
          <a:p>
            <a:pPr lvl="0" algn="just" fontAlgn="base">
              <a:spcBef>
                <a:spcPct val="0"/>
              </a:spcBef>
              <a:spcAft>
                <a:spcPct val="0"/>
              </a:spcAft>
            </a:pPr>
            <a:r>
              <a:rPr lang="en-IN" sz="2800" dirty="0">
                <a:solidFill>
                  <a:srgbClr val="2B2B2B"/>
                </a:solidFill>
                <a:cs typeface="Courier New" pitchFamily="49" charset="0"/>
              </a:rPr>
              <a:t>    </a:t>
            </a:r>
            <a:r>
              <a:rPr lang="en-IN" sz="2800" dirty="0" err="1">
                <a:solidFill>
                  <a:srgbClr val="2B2B2B"/>
                </a:solidFill>
                <a:cs typeface="Courier New" pitchFamily="49" charset="0"/>
              </a:rPr>
              <a:t>zip_file.extractall</a:t>
            </a:r>
            <a:r>
              <a:rPr lang="en-IN" sz="2800" dirty="0">
                <a:solidFill>
                  <a:srgbClr val="2B2B2B"/>
                </a:solidFill>
                <a:cs typeface="Courier New" pitchFamily="49" charset="0"/>
              </a:rPr>
              <a:t>()</a:t>
            </a:r>
          </a:p>
          <a:p>
            <a:pPr lvl="0" algn="just" fontAlgn="base">
              <a:spcBef>
                <a:spcPct val="0"/>
              </a:spcBef>
              <a:spcAft>
                <a:spcPct val="0"/>
              </a:spcAft>
            </a:pPr>
            <a:endParaRPr lang="en-IN" sz="2800" dirty="0">
              <a:solidFill>
                <a:srgbClr val="2B2B2B"/>
              </a:solidFill>
              <a:cs typeface="Courier New" pitchFamily="49" charset="0"/>
            </a:endParaRPr>
          </a:p>
        </p:txBody>
      </p:sp>
    </p:spTree>
    <p:extLst>
      <p:ext uri="{BB962C8B-B14F-4D97-AF65-F5344CB8AC3E}">
        <p14:creationId xmlns:p14="http://schemas.microsoft.com/office/powerpoint/2010/main" xmlns="" val="280332394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Zipping and Unzipping files in Python</a:t>
            </a:r>
            <a:endParaRPr lang="en-US" b="1" dirty="0"/>
          </a:p>
        </p:txBody>
      </p:sp>
      <p:sp>
        <p:nvSpPr>
          <p:cNvPr id="4" name="TextBox 3"/>
          <p:cNvSpPr txBox="1"/>
          <p:nvPr/>
        </p:nvSpPr>
        <p:spPr>
          <a:xfrm>
            <a:off x="214282" y="1143000"/>
            <a:ext cx="8763000" cy="3108543"/>
          </a:xfrm>
          <a:prstGeom prst="rect">
            <a:avLst/>
          </a:prstGeom>
          <a:noFill/>
        </p:spPr>
        <p:txBody>
          <a:bodyPr wrap="square" rtlCol="0">
            <a:spAutoFit/>
          </a:bodyPr>
          <a:lstStyle/>
          <a:p>
            <a:pPr lvl="0" algn="just" fontAlgn="base">
              <a:spcBef>
                <a:spcPct val="0"/>
              </a:spcBef>
              <a:spcAft>
                <a:spcPct val="0"/>
              </a:spcAft>
            </a:pPr>
            <a:r>
              <a:rPr lang="en-US" sz="2800" dirty="0">
                <a:solidFill>
                  <a:srgbClr val="2B2B2B"/>
                </a:solidFill>
                <a:cs typeface="Courier New" pitchFamily="49" charset="0"/>
              </a:rPr>
              <a:t>You can also use the </a:t>
            </a:r>
            <a:r>
              <a:rPr lang="en-US" sz="2800" dirty="0" err="1">
                <a:solidFill>
                  <a:srgbClr val="2B2B2B"/>
                </a:solidFill>
                <a:cs typeface="Courier New" pitchFamily="49" charset="0"/>
              </a:rPr>
              <a:t>shutil</a:t>
            </a:r>
            <a:r>
              <a:rPr lang="en-US" sz="2800" dirty="0">
                <a:solidFill>
                  <a:srgbClr val="2B2B2B"/>
                </a:solidFill>
                <a:cs typeface="Courier New" pitchFamily="49" charset="0"/>
              </a:rPr>
              <a:t> module to zip and unzip files. Here is an example of how to zip a file using the </a:t>
            </a:r>
            <a:r>
              <a:rPr lang="en-US" sz="2800" dirty="0" err="1">
                <a:solidFill>
                  <a:srgbClr val="2B2B2B"/>
                </a:solidFill>
                <a:cs typeface="Courier New" pitchFamily="49" charset="0"/>
              </a:rPr>
              <a:t>shutil</a:t>
            </a:r>
            <a:r>
              <a:rPr lang="en-US" sz="2800" dirty="0">
                <a:solidFill>
                  <a:srgbClr val="2B2B2B"/>
                </a:solidFill>
                <a:cs typeface="Courier New" pitchFamily="49" charset="0"/>
              </a:rPr>
              <a:t> module:</a:t>
            </a:r>
          </a:p>
          <a:p>
            <a:pPr lvl="0" algn="just" fontAlgn="base">
              <a:spcBef>
                <a:spcPct val="0"/>
              </a:spcBef>
              <a:spcAft>
                <a:spcPct val="0"/>
              </a:spcAft>
            </a:pPr>
            <a:r>
              <a:rPr lang="en-US" sz="2800" dirty="0">
                <a:solidFill>
                  <a:srgbClr val="2B2B2B"/>
                </a:solidFill>
                <a:cs typeface="Courier New" pitchFamily="49" charset="0"/>
              </a:rPr>
              <a:t>import </a:t>
            </a:r>
            <a:r>
              <a:rPr lang="en-US" sz="2800" dirty="0" err="1">
                <a:solidFill>
                  <a:srgbClr val="2B2B2B"/>
                </a:solidFill>
                <a:cs typeface="Courier New" pitchFamily="49" charset="0"/>
              </a:rPr>
              <a:t>shutil</a:t>
            </a:r>
            <a:endParaRPr lang="en-US" sz="2800" dirty="0">
              <a:solidFill>
                <a:srgbClr val="2B2B2B"/>
              </a:solidFill>
              <a:cs typeface="Courier New" pitchFamily="49" charset="0"/>
            </a:endParaRPr>
          </a:p>
          <a:p>
            <a:pPr lvl="0" algn="just" fontAlgn="base">
              <a:spcBef>
                <a:spcPct val="0"/>
              </a:spcBef>
              <a:spcAft>
                <a:spcPct val="0"/>
              </a:spcAft>
            </a:pPr>
            <a:endParaRPr lang="en-US" sz="2800" dirty="0">
              <a:solidFill>
                <a:srgbClr val="2B2B2B"/>
              </a:solidFill>
              <a:cs typeface="Courier New" pitchFamily="49" charset="0"/>
            </a:endParaRPr>
          </a:p>
          <a:p>
            <a:pPr lvl="0" algn="just" fontAlgn="base">
              <a:spcBef>
                <a:spcPct val="0"/>
              </a:spcBef>
              <a:spcAft>
                <a:spcPct val="0"/>
              </a:spcAft>
            </a:pPr>
            <a:r>
              <a:rPr lang="en-US" sz="2800" dirty="0">
                <a:solidFill>
                  <a:srgbClr val="2B2B2B"/>
                </a:solidFill>
                <a:cs typeface="Courier New" pitchFamily="49" charset="0"/>
              </a:rPr>
              <a:t># Zip a file</a:t>
            </a:r>
          </a:p>
          <a:p>
            <a:pPr lvl="0" algn="just" fontAlgn="base">
              <a:spcBef>
                <a:spcPct val="0"/>
              </a:spcBef>
              <a:spcAft>
                <a:spcPct val="0"/>
              </a:spcAft>
            </a:pPr>
            <a:r>
              <a:rPr lang="en-US" sz="2800" dirty="0" err="1">
                <a:solidFill>
                  <a:srgbClr val="2B2B2B"/>
                </a:solidFill>
                <a:cs typeface="Courier New" pitchFamily="49" charset="0"/>
              </a:rPr>
              <a:t>shutil.make_archive</a:t>
            </a:r>
            <a:r>
              <a:rPr lang="en-US" sz="2800" dirty="0">
                <a:solidFill>
                  <a:srgbClr val="2B2B2B"/>
                </a:solidFill>
                <a:cs typeface="Courier New" pitchFamily="49" charset="0"/>
              </a:rPr>
              <a:t>('</a:t>
            </a:r>
            <a:r>
              <a:rPr lang="en-US" sz="2800" dirty="0" err="1">
                <a:solidFill>
                  <a:srgbClr val="2B2B2B"/>
                </a:solidFill>
                <a:cs typeface="Courier New" pitchFamily="49" charset="0"/>
              </a:rPr>
              <a:t>my_zip_file</a:t>
            </a:r>
            <a:r>
              <a:rPr lang="en-US" sz="2800" dirty="0">
                <a:solidFill>
                  <a:srgbClr val="2B2B2B"/>
                </a:solidFill>
                <a:cs typeface="Courier New" pitchFamily="49" charset="0"/>
              </a:rPr>
              <a:t>', 'zip', '</a:t>
            </a:r>
            <a:r>
              <a:rPr lang="en-US" sz="2800" dirty="0" err="1">
                <a:solidFill>
                  <a:srgbClr val="2B2B2B"/>
                </a:solidFill>
                <a:cs typeface="Courier New" pitchFamily="49" charset="0"/>
              </a:rPr>
              <a:t>my_file.txt</a:t>
            </a:r>
            <a:r>
              <a:rPr lang="en-US" sz="2800" dirty="0">
                <a:solidFill>
                  <a:srgbClr val="2B2B2B"/>
                </a:solidFill>
                <a:cs typeface="Courier New" pitchFamily="49" charset="0"/>
              </a:rPr>
              <a:t>')</a:t>
            </a:r>
            <a:endParaRPr lang="en-US" sz="2800" dirty="0"/>
          </a:p>
        </p:txBody>
      </p:sp>
    </p:spTree>
    <p:extLst>
      <p:ext uri="{BB962C8B-B14F-4D97-AF65-F5344CB8AC3E}">
        <p14:creationId xmlns:p14="http://schemas.microsoft.com/office/powerpoint/2010/main" xmlns="" val="379901444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Zipping and Unzipping files in Python</a:t>
            </a:r>
            <a:endParaRPr lang="en-US" b="1" dirty="0"/>
          </a:p>
        </p:txBody>
      </p:sp>
      <p:sp>
        <p:nvSpPr>
          <p:cNvPr id="4" name="TextBox 3"/>
          <p:cNvSpPr txBox="1"/>
          <p:nvPr/>
        </p:nvSpPr>
        <p:spPr>
          <a:xfrm>
            <a:off x="214282" y="1143000"/>
            <a:ext cx="8763000" cy="2677656"/>
          </a:xfrm>
          <a:prstGeom prst="rect">
            <a:avLst/>
          </a:prstGeom>
          <a:noFill/>
        </p:spPr>
        <p:txBody>
          <a:bodyPr wrap="square" rtlCol="0">
            <a:spAutoFit/>
          </a:bodyPr>
          <a:lstStyle/>
          <a:p>
            <a:pPr lvl="0" algn="just" fontAlgn="base">
              <a:spcBef>
                <a:spcPct val="0"/>
              </a:spcBef>
              <a:spcAft>
                <a:spcPct val="0"/>
              </a:spcAft>
            </a:pPr>
            <a:r>
              <a:rPr lang="en-US" sz="2800" dirty="0">
                <a:solidFill>
                  <a:srgbClr val="2B2B2B"/>
                </a:solidFill>
                <a:cs typeface="Courier New" pitchFamily="49" charset="0"/>
              </a:rPr>
              <a:t>Here is an example of how to unzip a file using the </a:t>
            </a:r>
            <a:r>
              <a:rPr lang="en-US" sz="2800" dirty="0" err="1">
                <a:solidFill>
                  <a:srgbClr val="2B2B2B"/>
                </a:solidFill>
                <a:cs typeface="Courier New" pitchFamily="49" charset="0"/>
              </a:rPr>
              <a:t>shutil</a:t>
            </a:r>
            <a:r>
              <a:rPr lang="en-US" sz="2800" dirty="0">
                <a:solidFill>
                  <a:srgbClr val="2B2B2B"/>
                </a:solidFill>
                <a:cs typeface="Courier New" pitchFamily="49" charset="0"/>
              </a:rPr>
              <a:t> module:</a:t>
            </a:r>
          </a:p>
          <a:p>
            <a:pPr lvl="0" algn="just" fontAlgn="base">
              <a:spcBef>
                <a:spcPct val="0"/>
              </a:spcBef>
              <a:spcAft>
                <a:spcPct val="0"/>
              </a:spcAft>
            </a:pPr>
            <a:r>
              <a:rPr lang="en-US" sz="2800" dirty="0">
                <a:solidFill>
                  <a:srgbClr val="2B2B2B"/>
                </a:solidFill>
                <a:cs typeface="Courier New" pitchFamily="49" charset="0"/>
              </a:rPr>
              <a:t>import </a:t>
            </a:r>
            <a:r>
              <a:rPr lang="en-US" sz="2800" dirty="0" err="1">
                <a:solidFill>
                  <a:srgbClr val="2B2B2B"/>
                </a:solidFill>
                <a:cs typeface="Courier New" pitchFamily="49" charset="0"/>
              </a:rPr>
              <a:t>shutil</a:t>
            </a:r>
            <a:endParaRPr lang="en-US" sz="2800" dirty="0">
              <a:solidFill>
                <a:srgbClr val="2B2B2B"/>
              </a:solidFill>
              <a:cs typeface="Courier New" pitchFamily="49" charset="0"/>
            </a:endParaRPr>
          </a:p>
          <a:p>
            <a:pPr lvl="0" algn="just" fontAlgn="base">
              <a:spcBef>
                <a:spcPct val="0"/>
              </a:spcBef>
              <a:spcAft>
                <a:spcPct val="0"/>
              </a:spcAft>
            </a:pPr>
            <a:endParaRPr lang="en-US" sz="2800" dirty="0">
              <a:solidFill>
                <a:srgbClr val="2B2B2B"/>
              </a:solidFill>
              <a:cs typeface="Courier New" pitchFamily="49" charset="0"/>
            </a:endParaRPr>
          </a:p>
          <a:p>
            <a:pPr lvl="0" algn="just" fontAlgn="base">
              <a:spcBef>
                <a:spcPct val="0"/>
              </a:spcBef>
              <a:spcAft>
                <a:spcPct val="0"/>
              </a:spcAft>
            </a:pPr>
            <a:r>
              <a:rPr lang="en-US" sz="2800" dirty="0">
                <a:solidFill>
                  <a:srgbClr val="2B2B2B"/>
                </a:solidFill>
                <a:cs typeface="Courier New" pitchFamily="49" charset="0"/>
              </a:rPr>
              <a:t># Unzip a file</a:t>
            </a:r>
          </a:p>
          <a:p>
            <a:pPr lvl="0" algn="just" fontAlgn="base">
              <a:spcBef>
                <a:spcPct val="0"/>
              </a:spcBef>
              <a:spcAft>
                <a:spcPct val="0"/>
              </a:spcAft>
            </a:pPr>
            <a:r>
              <a:rPr lang="en-US" sz="2800" dirty="0" err="1">
                <a:solidFill>
                  <a:srgbClr val="2B2B2B"/>
                </a:solidFill>
                <a:cs typeface="Courier New" pitchFamily="49" charset="0"/>
              </a:rPr>
              <a:t>shutil.unpack_archive</a:t>
            </a:r>
            <a:r>
              <a:rPr lang="en-US" sz="2800" dirty="0">
                <a:solidFill>
                  <a:srgbClr val="2B2B2B"/>
                </a:solidFill>
                <a:cs typeface="Courier New" pitchFamily="49" charset="0"/>
              </a:rPr>
              <a:t>('</a:t>
            </a:r>
            <a:r>
              <a:rPr lang="en-US" sz="2800" dirty="0" err="1">
                <a:solidFill>
                  <a:srgbClr val="2B2B2B"/>
                </a:solidFill>
                <a:cs typeface="Courier New" pitchFamily="49" charset="0"/>
              </a:rPr>
              <a:t>my_zip_file.zip</a:t>
            </a:r>
            <a:r>
              <a:rPr lang="en-US" sz="2800" dirty="0">
                <a:solidFill>
                  <a:srgbClr val="2B2B2B"/>
                </a:solidFill>
                <a:cs typeface="Courier New" pitchFamily="49" charset="0"/>
              </a:rPr>
              <a:t>', '</a:t>
            </a:r>
            <a:r>
              <a:rPr lang="en-US" sz="2800" dirty="0" err="1">
                <a:solidFill>
                  <a:srgbClr val="2B2B2B"/>
                </a:solidFill>
                <a:cs typeface="Courier New" pitchFamily="49" charset="0"/>
              </a:rPr>
              <a:t>my_directory</a:t>
            </a:r>
            <a:r>
              <a:rPr lang="en-US" sz="2800" dirty="0">
                <a:solidFill>
                  <a:srgbClr val="2B2B2B"/>
                </a:solidFill>
                <a:cs typeface="Courier New" pitchFamily="49" charset="0"/>
              </a:rPr>
              <a:t>')</a:t>
            </a:r>
            <a:endParaRPr lang="en-US" sz="2800" dirty="0"/>
          </a:p>
        </p:txBody>
      </p:sp>
    </p:spTree>
    <p:extLst>
      <p:ext uri="{BB962C8B-B14F-4D97-AF65-F5344CB8AC3E}">
        <p14:creationId xmlns:p14="http://schemas.microsoft.com/office/powerpoint/2010/main" xmlns="" val="171356193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895600"/>
            <a:ext cx="9144000" cy="1470025"/>
          </a:xfrm>
        </p:spPr>
        <p:txBody>
          <a:bodyPr>
            <a:normAutofit/>
          </a:bodyPr>
          <a:lstStyle/>
          <a:p>
            <a:r>
              <a:rPr lang="en-US" sz="7200" b="1" dirty="0" smtClean="0"/>
              <a:t>Thank You</a:t>
            </a:r>
            <a:endParaRPr lang="en-US" sz="7200" dirty="0"/>
          </a:p>
        </p:txBody>
      </p:sp>
      <p:pic>
        <p:nvPicPr>
          <p:cNvPr id="5" name="Picture 4"/>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514600" y="457200"/>
            <a:ext cx="3686175" cy="103822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4645</TotalTime>
  <Words>4822</Words>
  <Application>Microsoft Office PowerPoint</Application>
  <PresentationFormat>On-screen Show (4:3)</PresentationFormat>
  <Paragraphs>993</Paragraphs>
  <Slides>111</Slides>
  <Notes>0</Notes>
  <HiddenSlides>0</HiddenSlides>
  <MMClips>0</MMClips>
  <ScaleCrop>false</ScaleCrop>
  <HeadingPairs>
    <vt:vector size="4" baseType="variant">
      <vt:variant>
        <vt:lpstr>Theme</vt:lpstr>
      </vt:variant>
      <vt:variant>
        <vt:i4>1</vt:i4>
      </vt:variant>
      <vt:variant>
        <vt:lpstr>Slide Titles</vt:lpstr>
      </vt:variant>
      <vt:variant>
        <vt:i4>111</vt:i4>
      </vt:variant>
    </vt:vector>
  </HeadingPairs>
  <TitlesOfParts>
    <vt:vector size="112" baseType="lpstr">
      <vt:lpstr>Office Theme</vt:lpstr>
      <vt:lpstr>Marwadi University Faculty of Computer Applications MCA Sem- II</vt:lpstr>
      <vt:lpstr>Exceptions</vt:lpstr>
      <vt:lpstr>Exceptions</vt:lpstr>
      <vt:lpstr>Exceptions</vt:lpstr>
      <vt:lpstr>Exceptions</vt:lpstr>
      <vt:lpstr>Exceptions</vt:lpstr>
      <vt:lpstr>Exceptions</vt:lpstr>
      <vt:lpstr>Exceptions</vt:lpstr>
      <vt:lpstr>Exceptions</vt:lpstr>
      <vt:lpstr>Exceptions</vt:lpstr>
      <vt:lpstr>Exceptions</vt:lpstr>
      <vt:lpstr>Try and Except in Exception Handling</vt:lpstr>
      <vt:lpstr>Try and Except in Exception Handling</vt:lpstr>
      <vt:lpstr>Try and Except in Exception Handling</vt:lpstr>
      <vt:lpstr>Try and Except in Exception Handling</vt:lpstr>
      <vt:lpstr>Try and Except in Exception Handling</vt:lpstr>
      <vt:lpstr>Try and Except in Exception Handling</vt:lpstr>
      <vt:lpstr>Try and Except in Exception Handling</vt:lpstr>
      <vt:lpstr>Try and Except in Exception Handling</vt:lpstr>
      <vt:lpstr>Try and Except in Exception Handling</vt:lpstr>
      <vt:lpstr>Try and Except in Exception Handling</vt:lpstr>
      <vt:lpstr>Assertion Error</vt:lpstr>
      <vt:lpstr>Assertion Error</vt:lpstr>
      <vt:lpstr>Assertion Error</vt:lpstr>
      <vt:lpstr>Assertion Error</vt:lpstr>
      <vt:lpstr>Logging in Python</vt:lpstr>
      <vt:lpstr>Logging in Python</vt:lpstr>
      <vt:lpstr>Logging in Python</vt:lpstr>
      <vt:lpstr>Module</vt:lpstr>
      <vt:lpstr>Module</vt:lpstr>
      <vt:lpstr>Module</vt:lpstr>
      <vt:lpstr>Module</vt:lpstr>
      <vt:lpstr>Module</vt:lpstr>
      <vt:lpstr>Module</vt:lpstr>
      <vt:lpstr>Re-naming a Module</vt:lpstr>
      <vt:lpstr>Module in detail</vt:lpstr>
      <vt:lpstr>Importing built-in module</vt:lpstr>
      <vt:lpstr>The dir() function</vt:lpstr>
      <vt:lpstr>Difference between Modules and Libraries</vt:lpstr>
      <vt:lpstr>Difference between Modules and Libraries</vt:lpstr>
      <vt:lpstr>Difference between Modules and Libraries</vt:lpstr>
      <vt:lpstr>The PYTHONPATH Variable</vt:lpstr>
      <vt:lpstr>The PYTHONPATH Variable</vt:lpstr>
      <vt:lpstr>Dates in Python</vt:lpstr>
      <vt:lpstr>Dates in Python</vt:lpstr>
      <vt:lpstr>The strftime() Method</vt:lpstr>
      <vt:lpstr>Math in Python</vt:lpstr>
      <vt:lpstr>File Handling in Python</vt:lpstr>
      <vt:lpstr>File Handling in Python</vt:lpstr>
      <vt:lpstr>File Handling in Python</vt:lpstr>
      <vt:lpstr>File Handling in Python</vt:lpstr>
      <vt:lpstr>Reading files in python</vt:lpstr>
      <vt:lpstr>Closing file in python</vt:lpstr>
      <vt:lpstr>Use of with…open</vt:lpstr>
      <vt:lpstr>Writing file in python</vt:lpstr>
      <vt:lpstr>Writing file in python</vt:lpstr>
      <vt:lpstr>Writing file in python</vt:lpstr>
      <vt:lpstr>Writing file in python</vt:lpstr>
      <vt:lpstr>Writing file in python</vt:lpstr>
      <vt:lpstr>Writing file in python</vt:lpstr>
      <vt:lpstr>Writing file in python</vt:lpstr>
      <vt:lpstr>Writing file in python</vt:lpstr>
      <vt:lpstr>Writing file in python</vt:lpstr>
      <vt:lpstr>Writing file in python</vt:lpstr>
      <vt:lpstr>Writing file in python</vt:lpstr>
      <vt:lpstr>Writing file in python</vt:lpstr>
      <vt:lpstr>Writing file in python</vt:lpstr>
      <vt:lpstr>Writing file in python</vt:lpstr>
      <vt:lpstr>Writing file in python</vt:lpstr>
      <vt:lpstr>Writing file in python</vt:lpstr>
      <vt:lpstr>Writing file in python</vt:lpstr>
      <vt:lpstr>OS Path Module</vt:lpstr>
      <vt:lpstr>OS Path Module</vt:lpstr>
      <vt:lpstr>OS Path Module</vt:lpstr>
      <vt:lpstr>OS Path Module</vt:lpstr>
      <vt:lpstr>OS Path Module</vt:lpstr>
      <vt:lpstr>Getting file information in python</vt:lpstr>
      <vt:lpstr>Getting file information in python</vt:lpstr>
      <vt:lpstr>Getting file information in python</vt:lpstr>
      <vt:lpstr>Getting file information in python</vt:lpstr>
      <vt:lpstr>Getting file information in python</vt:lpstr>
      <vt:lpstr>Getting file information in python</vt:lpstr>
      <vt:lpstr>Getting file information in python</vt:lpstr>
      <vt:lpstr>Getting file information in python</vt:lpstr>
      <vt:lpstr>Deleting file in python</vt:lpstr>
      <vt:lpstr>Examples</vt:lpstr>
      <vt:lpstr>Examples</vt:lpstr>
      <vt:lpstr>Examples</vt:lpstr>
      <vt:lpstr>Examples</vt:lpstr>
      <vt:lpstr>Examples</vt:lpstr>
      <vt:lpstr>Examples</vt:lpstr>
      <vt:lpstr>Examples</vt:lpstr>
      <vt:lpstr>File Object</vt:lpstr>
      <vt:lpstr>Text Files</vt:lpstr>
      <vt:lpstr>Binary Files</vt:lpstr>
      <vt:lpstr>Binary Files</vt:lpstr>
      <vt:lpstr>Writing to file</vt:lpstr>
      <vt:lpstr>Reading from file</vt:lpstr>
      <vt:lpstr>Reading from file</vt:lpstr>
      <vt:lpstr>Examples</vt:lpstr>
      <vt:lpstr>Examples</vt:lpstr>
      <vt:lpstr>Examples</vt:lpstr>
      <vt:lpstr>Examples</vt:lpstr>
      <vt:lpstr>Working with Binary Files</vt:lpstr>
      <vt:lpstr>Working with Binary Files</vt:lpstr>
      <vt:lpstr>Working with Binary Files</vt:lpstr>
      <vt:lpstr>Zipping and Unzipping files in Python</vt:lpstr>
      <vt:lpstr>Zipping and Unzipping files in Python</vt:lpstr>
      <vt:lpstr>Zipping and Unzipping files in Python</vt:lpstr>
      <vt:lpstr>Zipping and Unzipping files in Python</vt:lpstr>
      <vt:lpstr>Thank You</vt:lpstr>
    </vt:vector>
  </TitlesOfParts>
  <Company>MEFGI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Marwadi Education Foundation’s Group of Institutions Faculty of Computer Applications MCA Sem- IV</dc:title>
  <dc:creator>MEFGI</dc:creator>
  <cp:lastModifiedBy>admin</cp:lastModifiedBy>
  <cp:revision>743</cp:revision>
  <dcterms:created xsi:type="dcterms:W3CDTF">2010-12-23T08:45:33Z</dcterms:created>
  <dcterms:modified xsi:type="dcterms:W3CDTF">2025-02-04T03:09:18Z</dcterms:modified>
</cp:coreProperties>
</file>