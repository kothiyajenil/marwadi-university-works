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54" r:id="rId49"/>
    <p:sldId id="355" r:id="rId50"/>
    <p:sldId id="356" r:id="rId51"/>
    <p:sldId id="357" r:id="rId52"/>
    <p:sldId id="358" r:id="rId53"/>
    <p:sldId id="359" r:id="rId54"/>
    <p:sldId id="360" r:id="rId55"/>
    <p:sldId id="361" r:id="rId56"/>
    <p:sldId id="362" r:id="rId57"/>
    <p:sldId id="363" r:id="rId58"/>
    <p:sldId id="364" r:id="rId59"/>
    <p:sldId id="365" r:id="rId60"/>
    <p:sldId id="366" r:id="rId61"/>
    <p:sldId id="367" r:id="rId62"/>
    <p:sldId id="368" r:id="rId63"/>
    <p:sldId id="369" r:id="rId64"/>
    <p:sldId id="370" r:id="rId65"/>
    <p:sldId id="371" r:id="rId66"/>
    <p:sldId id="372"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 id="385" r:id="rId80"/>
    <p:sldId id="386" r:id="rId81"/>
    <p:sldId id="387" r:id="rId82"/>
    <p:sldId id="388" r:id="rId83"/>
    <p:sldId id="415" r:id="rId84"/>
    <p:sldId id="390" r:id="rId85"/>
    <p:sldId id="391" r:id="rId86"/>
    <p:sldId id="392" r:id="rId87"/>
    <p:sldId id="393" r:id="rId88"/>
    <p:sldId id="394" r:id="rId89"/>
    <p:sldId id="395" r:id="rId90"/>
    <p:sldId id="396" r:id="rId91"/>
    <p:sldId id="397" r:id="rId92"/>
    <p:sldId id="398" r:id="rId93"/>
    <p:sldId id="399" r:id="rId94"/>
    <p:sldId id="400" r:id="rId95"/>
    <p:sldId id="401" r:id="rId96"/>
    <p:sldId id="402" r:id="rId97"/>
    <p:sldId id="403" r:id="rId98"/>
    <p:sldId id="404" r:id="rId99"/>
    <p:sldId id="405" r:id="rId100"/>
    <p:sldId id="406" r:id="rId101"/>
    <p:sldId id="407" r:id="rId102"/>
    <p:sldId id="408" r:id="rId103"/>
    <p:sldId id="409" r:id="rId104"/>
    <p:sldId id="410" r:id="rId105"/>
    <p:sldId id="411" r:id="rId106"/>
    <p:sldId id="412" r:id="rId107"/>
    <p:sldId id="413" r:id="rId108"/>
    <p:sldId id="414" r:id="rId109"/>
    <p:sldId id="308"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3" d="100"/>
          <a:sy n="73" d="100"/>
        </p:scale>
        <p:origin x="129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5/20/2024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5/20/2024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5/20/2024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5/20/2024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3352800"/>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295400"/>
            <a:ext cx="9144000" cy="1470025"/>
          </a:xfrm>
        </p:spPr>
        <p:txBody>
          <a:bodyPr>
            <a:normAutofit fontScale="90000"/>
          </a:bodyPr>
          <a:lstStyle/>
          <a:p>
            <a:r>
              <a:rPr lang="en-US" sz="3100" b="1" dirty="0" err="1"/>
              <a:t>Marwadi</a:t>
            </a:r>
            <a:r>
              <a:rPr lang="en-US" sz="3100" b="1" dirty="0"/>
              <a:t> </a:t>
            </a:r>
            <a:r>
              <a:rPr lang="en-US" sz="3100" b="1" dirty="0" smtClean="0"/>
              <a:t>University</a:t>
            </a:r>
            <a:br>
              <a:rPr lang="en-US" sz="3100" b="1" dirty="0" smtClean="0"/>
            </a:br>
            <a:r>
              <a:rPr lang="en-US" sz="3600" dirty="0" smtClean="0"/>
              <a:t>Faculty </a:t>
            </a:r>
            <a:r>
              <a:rPr lang="en-US" sz="3600" dirty="0"/>
              <a:t>of Computer Applications</a:t>
            </a:r>
            <a:r>
              <a:rPr lang="en-US" dirty="0"/>
              <a:t/>
            </a:r>
            <a:br>
              <a:rPr lang="en-US" dirty="0"/>
            </a:br>
            <a:r>
              <a:rPr lang="en-US" b="1" dirty="0"/>
              <a:t>MCA </a:t>
            </a:r>
            <a:r>
              <a:rPr lang="en-US" b="1" dirty="0" err="1"/>
              <a:t>Sem</a:t>
            </a:r>
            <a:r>
              <a:rPr lang="en-US" b="1" dirty="0"/>
              <a:t>- </a:t>
            </a:r>
            <a:r>
              <a:rPr lang="en-US" b="1" dirty="0" smtClean="0"/>
              <a:t>II</a:t>
            </a:r>
            <a:endParaRPr lang="en-US" dirty="0"/>
          </a:p>
        </p:txBody>
      </p:sp>
      <p:sp>
        <p:nvSpPr>
          <p:cNvPr id="5" name="TextBox 4"/>
          <p:cNvSpPr txBox="1"/>
          <p:nvPr/>
        </p:nvSpPr>
        <p:spPr>
          <a:xfrm>
            <a:off x="0" y="3581400"/>
            <a:ext cx="9144000" cy="1077218"/>
          </a:xfrm>
          <a:prstGeom prst="rect">
            <a:avLst/>
          </a:prstGeom>
          <a:noFill/>
        </p:spPr>
        <p:txBody>
          <a:bodyPr wrap="square" rtlCol="0">
            <a:spAutoFit/>
          </a:bodyPr>
          <a:lstStyle/>
          <a:p>
            <a:pPr algn="ctr"/>
            <a:r>
              <a:rPr lang="en-US" sz="3200" b="1" dirty="0" smtClean="0"/>
              <a:t>Basics of Python</a:t>
            </a:r>
          </a:p>
          <a:p>
            <a:pPr algn="ctr"/>
            <a:r>
              <a:rPr lang="en-US" sz="3200" dirty="0" smtClean="0"/>
              <a:t>(</a:t>
            </a:r>
            <a:r>
              <a:rPr lang="en-US" sz="3200" dirty="0" err="1" smtClean="0"/>
              <a:t>05MC0202</a:t>
            </a:r>
            <a:r>
              <a:rPr lang="en-US" sz="3200" dirty="0" smtClean="0"/>
              <a:t>)</a:t>
            </a:r>
            <a:endParaRPr lang="en-US" sz="3200" dirty="0"/>
          </a:p>
        </p:txBody>
      </p:sp>
      <p:sp>
        <p:nvSpPr>
          <p:cNvPr id="6" name="TextBox 5"/>
          <p:cNvSpPr txBox="1"/>
          <p:nvPr/>
        </p:nvSpPr>
        <p:spPr>
          <a:xfrm>
            <a:off x="0" y="5181600"/>
            <a:ext cx="9144000" cy="1569660"/>
          </a:xfrm>
          <a:prstGeom prst="rect">
            <a:avLst/>
          </a:prstGeom>
          <a:noFill/>
        </p:spPr>
        <p:txBody>
          <a:bodyPr wrap="square" rtlCol="0">
            <a:spAutoFit/>
          </a:bodyPr>
          <a:lstStyle/>
          <a:p>
            <a:pPr algn="ctr"/>
            <a:r>
              <a:rPr lang="en-US" sz="3200" b="1" dirty="0" smtClean="0"/>
              <a:t>Unit – 3</a:t>
            </a:r>
          </a:p>
          <a:p>
            <a:pPr algn="ctr"/>
            <a:r>
              <a:rPr lang="en-US" sz="3200" b="1" dirty="0" smtClean="0"/>
              <a:t>Object Oriented </a:t>
            </a:r>
          </a:p>
          <a:p>
            <a:pPr algn="ctr"/>
            <a:r>
              <a:rPr lang="en-US" sz="3200" b="1" dirty="0" smtClean="0"/>
              <a:t>Programming</a:t>
            </a:r>
            <a:endParaRPr lang="en-US" sz="3200" dirty="0"/>
          </a:p>
        </p:txBody>
      </p:sp>
      <p:pic>
        <p:nvPicPr>
          <p:cNvPr id="11" name="Picture 3" descr="C:\Users\Kalpesh\Desktop\download.jpg"/>
          <p:cNvPicPr>
            <a:picLocks noChangeAspect="1" noChangeArrowheads="1"/>
          </p:cNvPicPr>
          <p:nvPr/>
        </p:nvPicPr>
        <p:blipFill>
          <a:blip r:embed="rId2"/>
          <a:srcRect/>
          <a:stretch>
            <a:fillRect/>
          </a:stretch>
        </p:blipFill>
        <p:spPr bwMode="auto">
          <a:xfrm>
            <a:off x="311150" y="4866007"/>
            <a:ext cx="2051050" cy="1382393"/>
          </a:xfrm>
          <a:prstGeom prst="rect">
            <a:avLst/>
          </a:prstGeom>
          <a:noFill/>
        </p:spPr>
      </p:pic>
      <p:pic>
        <p:nvPicPr>
          <p:cNvPr id="12" name="Picture 3" descr="C:\Users\Kalpesh\Desktop\download.jpg"/>
          <p:cNvPicPr>
            <a:picLocks noChangeAspect="1" noChangeArrowheads="1"/>
          </p:cNvPicPr>
          <p:nvPr/>
        </p:nvPicPr>
        <p:blipFill>
          <a:blip r:embed="rId2"/>
          <a:srcRect/>
          <a:stretch>
            <a:fillRect/>
          </a:stretch>
        </p:blipFill>
        <p:spPr bwMode="auto">
          <a:xfrm>
            <a:off x="6934200" y="4876800"/>
            <a:ext cx="2051050" cy="1382393"/>
          </a:xfrm>
          <a:prstGeom prst="rect">
            <a:avLst/>
          </a:prstGeom>
          <a:noFill/>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104668"/>
            <a:ext cx="3686175" cy="10382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OOP in Python</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Python is an object-oriented programming language. Its  means we can solve a problem in Python by creating objects in our </a:t>
            </a:r>
            <a:r>
              <a:rPr lang="en-US" sz="3200" dirty="0" smtClean="0"/>
              <a:t>programs</a:t>
            </a:r>
          </a:p>
          <a:p>
            <a:pPr marL="457200" indent="-457200" algn="just">
              <a:buFont typeface="Arial" panose="020B0604020202020204" pitchFamily="34" charset="0"/>
              <a:buChar char="•"/>
            </a:pPr>
            <a:r>
              <a:rPr lang="en-US" sz="3200" dirty="0"/>
              <a:t>OOPs terms such as class, objects, methods etc. along with the Object oriented programming features such as inheritance, polymorphism, abstraction, </a:t>
            </a:r>
            <a:r>
              <a:rPr lang="en-US" sz="3200" dirty="0" smtClean="0"/>
              <a:t>encapsulation.</a:t>
            </a:r>
            <a:endParaRPr lang="en-US"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OOP in Python</a:t>
            </a:r>
            <a:endParaRPr lang="en-US" dirty="0"/>
          </a:p>
        </p:txBody>
      </p:sp>
      <p:pic>
        <p:nvPicPr>
          <p:cNvPr id="5" name="Picture 2" descr="https://media.geeksforgeeks.org/wp-content/uploads/20220608174843/OOPS1-282x300.png"/>
          <p:cNvPicPr>
            <a:picLocks noChangeAspect="1" noChangeArrowheads="1"/>
          </p:cNvPicPr>
          <p:nvPr/>
        </p:nvPicPr>
        <p:blipFill>
          <a:blip r:embed="rId2"/>
          <a:srcRect/>
          <a:stretch>
            <a:fillRect/>
          </a:stretch>
        </p:blipFill>
        <p:spPr bwMode="auto">
          <a:xfrm>
            <a:off x="1643042" y="1139758"/>
            <a:ext cx="5748358" cy="5432514"/>
          </a:xfrm>
          <a:prstGeom prst="rect">
            <a:avLst/>
          </a:prstGeom>
          <a:noFill/>
        </p:spPr>
      </p:pic>
    </p:spTree>
    <p:extLst>
      <p:ext uri="{BB962C8B-B14F-4D97-AF65-F5344CB8AC3E}">
        <p14:creationId xmlns:p14="http://schemas.microsoft.com/office/powerpoint/2010/main" val="366027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&amp; Object</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 class is a blueprint for the objects. For example, Ram, </a:t>
            </a:r>
            <a:r>
              <a:rPr lang="en-US" sz="3200" dirty="0" err="1"/>
              <a:t>Shyam</a:t>
            </a:r>
            <a:r>
              <a:rPr lang="en-US" sz="3200" dirty="0"/>
              <a:t>, Steve, Rick are all objects so we can define a template (blueprint) class Human for these objects. The class can define the common attributes and </a:t>
            </a:r>
            <a:r>
              <a:rPr lang="en-US" sz="3200" dirty="0" err="1"/>
              <a:t>behaviours</a:t>
            </a:r>
            <a:r>
              <a:rPr lang="en-US" sz="3200" dirty="0"/>
              <a:t> of all the objects</a:t>
            </a:r>
            <a:r>
              <a:rPr lang="en-US" sz="3200" dirty="0" smtClean="0"/>
              <a:t>.</a:t>
            </a:r>
          </a:p>
          <a:p>
            <a:pPr marL="457200" indent="-457200" algn="just">
              <a:buFont typeface="Arial" panose="020B0604020202020204" pitchFamily="34" charset="0"/>
              <a:buChar char="•"/>
            </a:pPr>
            <a:r>
              <a:rPr lang="en-US" sz="3200" dirty="0"/>
              <a:t>An object is an entity that has attributes and </a:t>
            </a:r>
            <a:r>
              <a:rPr lang="en-US" sz="3200" dirty="0" err="1"/>
              <a:t>behaviour</a:t>
            </a:r>
            <a:r>
              <a:rPr lang="en-US" sz="3200" dirty="0"/>
              <a:t>. For example, Ram is an object who has attributes such as height, weight, color etc. and has certain </a:t>
            </a:r>
            <a:r>
              <a:rPr lang="en-US" sz="3200" dirty="0" err="1"/>
              <a:t>behaviours</a:t>
            </a:r>
            <a:r>
              <a:rPr lang="en-US" sz="3200" dirty="0"/>
              <a:t> such as walking, talking, eating etc.</a:t>
            </a:r>
          </a:p>
        </p:txBody>
      </p:sp>
    </p:spTree>
    <p:extLst>
      <p:ext uri="{BB962C8B-B14F-4D97-AF65-F5344CB8AC3E}">
        <p14:creationId xmlns:p14="http://schemas.microsoft.com/office/powerpoint/2010/main" val="33704904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&amp; Object</a:t>
            </a:r>
            <a:endParaRPr lang="en-US" dirty="0"/>
          </a:p>
        </p:txBody>
      </p:sp>
      <p:sp>
        <p:nvSpPr>
          <p:cNvPr id="4" name="TextBox 3"/>
          <p:cNvSpPr txBox="1"/>
          <p:nvPr/>
        </p:nvSpPr>
        <p:spPr>
          <a:xfrm>
            <a:off x="228600" y="1066800"/>
            <a:ext cx="8763000" cy="1569660"/>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t>A class is defined using the keyword class.</a:t>
            </a:r>
          </a:p>
          <a:p>
            <a:pPr algn="just"/>
            <a:r>
              <a:rPr lang="en-US" sz="3200" dirty="0"/>
              <a:t>class </a:t>
            </a:r>
            <a:r>
              <a:rPr lang="en-US" sz="3200" dirty="0" err="1"/>
              <a:t>ClassName</a:t>
            </a:r>
            <a:r>
              <a:rPr lang="en-US" sz="3200" dirty="0"/>
              <a:t>:    </a:t>
            </a:r>
          </a:p>
          <a:p>
            <a:pPr algn="just"/>
            <a:r>
              <a:rPr lang="en-US" sz="3200" dirty="0" smtClean="0"/>
              <a:t>	#</a:t>
            </a:r>
            <a:r>
              <a:rPr lang="en-US" sz="3200" dirty="0" err="1"/>
              <a:t>statement_suite</a:t>
            </a:r>
            <a:r>
              <a:rPr lang="en-US" sz="3200" dirty="0"/>
              <a:t> </a:t>
            </a:r>
          </a:p>
        </p:txBody>
      </p:sp>
    </p:spTree>
    <p:extLst>
      <p:ext uri="{BB962C8B-B14F-4D97-AF65-F5344CB8AC3E}">
        <p14:creationId xmlns:p14="http://schemas.microsoft.com/office/powerpoint/2010/main" val="3946593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&amp; Object</a:t>
            </a:r>
            <a:endParaRPr lang="en-US" dirty="0"/>
          </a:p>
        </p:txBody>
      </p:sp>
      <p:sp>
        <p:nvSpPr>
          <p:cNvPr id="4" name="TextBox 3"/>
          <p:cNvSpPr txBox="1"/>
          <p:nvPr/>
        </p:nvSpPr>
        <p:spPr>
          <a:xfrm>
            <a:off x="228600" y="1066800"/>
            <a:ext cx="8763000" cy="3046988"/>
          </a:xfrm>
          <a:prstGeom prst="rect">
            <a:avLst/>
          </a:prstGeom>
          <a:noFill/>
        </p:spPr>
        <p:txBody>
          <a:bodyPr wrap="square" rtlCol="0">
            <a:spAutoFit/>
          </a:bodyPr>
          <a:lstStyle/>
          <a:p>
            <a:pPr algn="just"/>
            <a:r>
              <a:rPr lang="en-US" sz="3200" b="1" dirty="0"/>
              <a:t>Creating Objects of class</a:t>
            </a:r>
          </a:p>
          <a:p>
            <a:pPr marL="457200" indent="-457200" algn="just">
              <a:buFont typeface="Arial" panose="020B0604020202020204" pitchFamily="34" charset="0"/>
              <a:buChar char="•"/>
            </a:pPr>
            <a:r>
              <a:rPr lang="en-US" sz="3200" dirty="0"/>
              <a:t>In this example, we have a class </a:t>
            </a:r>
            <a:r>
              <a:rPr lang="en-US" sz="3200" dirty="0" err="1"/>
              <a:t>MyNewClass</a:t>
            </a:r>
            <a:r>
              <a:rPr lang="en-US" sz="3200" dirty="0"/>
              <a:t> that has an attribute </a:t>
            </a:r>
            <a:r>
              <a:rPr lang="en-US" sz="3200" dirty="0" err="1"/>
              <a:t>num</a:t>
            </a:r>
            <a:r>
              <a:rPr lang="en-US" sz="3200" dirty="0"/>
              <a:t> and a function hello(). We are creating an object </a:t>
            </a:r>
            <a:r>
              <a:rPr lang="en-US" sz="3200" dirty="0" err="1"/>
              <a:t>obj</a:t>
            </a:r>
            <a:r>
              <a:rPr lang="en-US" sz="3200" dirty="0"/>
              <a:t> of the class and accessing the attribute value of object and calling the method hello() using the object</a:t>
            </a:r>
          </a:p>
        </p:txBody>
      </p:sp>
    </p:spTree>
    <p:extLst>
      <p:ext uri="{BB962C8B-B14F-4D97-AF65-F5344CB8AC3E}">
        <p14:creationId xmlns:p14="http://schemas.microsoft.com/office/powerpoint/2010/main" val="36650934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&amp; Object</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r>
              <a:rPr lang="en-US" sz="1600" dirty="0"/>
              <a:t>Example :</a:t>
            </a:r>
            <a:endParaRPr lang="en-IN" sz="1600" dirty="0"/>
          </a:p>
          <a:p>
            <a:r>
              <a:rPr lang="en-US" sz="1600" dirty="0"/>
              <a:t> </a:t>
            </a:r>
            <a:endParaRPr lang="en-IN" sz="1600" dirty="0"/>
          </a:p>
          <a:p>
            <a:r>
              <a:rPr lang="en-US" sz="1600" dirty="0"/>
              <a:t>class </a:t>
            </a:r>
            <a:r>
              <a:rPr lang="en-US" sz="1600" dirty="0" err="1"/>
              <a:t>MyNewClass</a:t>
            </a:r>
            <a:r>
              <a:rPr lang="en-US" sz="1600" dirty="0"/>
              <a:t>:</a:t>
            </a:r>
            <a:endParaRPr lang="en-IN" sz="1600" dirty="0"/>
          </a:p>
          <a:p>
            <a:r>
              <a:rPr lang="en-US" sz="1600" dirty="0"/>
              <a:t>    """This class demonstrates the creation of objects"""</a:t>
            </a:r>
            <a:endParaRPr lang="en-IN" sz="1600" dirty="0"/>
          </a:p>
          <a:p>
            <a:r>
              <a:rPr lang="en-US" sz="1600" dirty="0"/>
              <a:t> </a:t>
            </a:r>
            <a:r>
              <a:rPr lang="en-US" sz="1600" dirty="0" smtClean="0"/>
              <a:t>    </a:t>
            </a:r>
            <a:r>
              <a:rPr lang="en-US" sz="1600" dirty="0"/>
              <a:t># instance attribute</a:t>
            </a:r>
            <a:endParaRPr lang="en-IN" sz="1600" dirty="0"/>
          </a:p>
          <a:p>
            <a:r>
              <a:rPr lang="en-US" sz="1600" dirty="0"/>
              <a:t>    </a:t>
            </a:r>
            <a:r>
              <a:rPr lang="en-US" sz="1600" dirty="0" err="1"/>
              <a:t>num</a:t>
            </a:r>
            <a:r>
              <a:rPr lang="en-US" sz="1600" dirty="0"/>
              <a:t> = 100</a:t>
            </a:r>
            <a:endParaRPr lang="en-IN" sz="1600" dirty="0"/>
          </a:p>
          <a:p>
            <a:r>
              <a:rPr lang="en-US" sz="1600" dirty="0" smtClean="0"/>
              <a:t>    </a:t>
            </a:r>
            <a:r>
              <a:rPr lang="en-US" sz="1600" dirty="0"/>
              <a:t># instance method</a:t>
            </a:r>
            <a:endParaRPr lang="en-IN" sz="1600" dirty="0"/>
          </a:p>
          <a:p>
            <a:r>
              <a:rPr lang="en-US" sz="1600" dirty="0"/>
              <a:t>    </a:t>
            </a:r>
            <a:r>
              <a:rPr lang="en-US" sz="1600" dirty="0" err="1"/>
              <a:t>def</a:t>
            </a:r>
            <a:r>
              <a:rPr lang="en-US" sz="1600" dirty="0"/>
              <a:t> hello(self):</a:t>
            </a:r>
            <a:endParaRPr lang="en-IN" sz="1600" dirty="0"/>
          </a:p>
          <a:p>
            <a:r>
              <a:rPr lang="en-US" sz="1600" dirty="0"/>
              <a:t>        print("Hello World!")</a:t>
            </a:r>
            <a:endParaRPr lang="en-IN" sz="1600" dirty="0"/>
          </a:p>
          <a:p>
            <a:r>
              <a:rPr lang="en-US" sz="1600" dirty="0" smtClean="0"/>
              <a:t># </a:t>
            </a:r>
            <a:r>
              <a:rPr lang="en-US" sz="1600" dirty="0"/>
              <a:t>creating object of </a:t>
            </a:r>
            <a:r>
              <a:rPr lang="en-US" sz="1600" dirty="0" err="1"/>
              <a:t>MyNewClass</a:t>
            </a:r>
            <a:endParaRPr lang="en-IN" sz="1600" dirty="0"/>
          </a:p>
          <a:p>
            <a:r>
              <a:rPr lang="en-US" sz="1600" dirty="0" err="1"/>
              <a:t>obj</a:t>
            </a:r>
            <a:r>
              <a:rPr lang="en-US" sz="1600" dirty="0"/>
              <a:t> = </a:t>
            </a:r>
            <a:r>
              <a:rPr lang="en-US" sz="1600" dirty="0" err="1"/>
              <a:t>MyNewClass</a:t>
            </a:r>
            <a:r>
              <a:rPr lang="en-US" sz="1600" dirty="0"/>
              <a:t>()</a:t>
            </a:r>
            <a:endParaRPr lang="en-IN" sz="1600" dirty="0"/>
          </a:p>
          <a:p>
            <a:r>
              <a:rPr lang="en-US" sz="1600" dirty="0"/>
              <a:t> </a:t>
            </a:r>
            <a:endParaRPr lang="en-IN" sz="1600" dirty="0"/>
          </a:p>
          <a:p>
            <a:r>
              <a:rPr lang="en-US" sz="1600" dirty="0"/>
              <a:t># prints attribute value</a:t>
            </a:r>
            <a:endParaRPr lang="en-IN" sz="1600" dirty="0"/>
          </a:p>
          <a:p>
            <a:r>
              <a:rPr lang="en-US" sz="1600" dirty="0"/>
              <a:t>print(</a:t>
            </a:r>
            <a:r>
              <a:rPr lang="en-US" sz="1600" dirty="0" err="1"/>
              <a:t>obj.num</a:t>
            </a:r>
            <a:r>
              <a:rPr lang="en-US" sz="1600" dirty="0"/>
              <a:t>)</a:t>
            </a:r>
            <a:endParaRPr lang="en-IN" sz="1600" dirty="0"/>
          </a:p>
          <a:p>
            <a:r>
              <a:rPr lang="en-US" sz="1600" dirty="0" smtClean="0"/>
              <a:t># </a:t>
            </a:r>
            <a:r>
              <a:rPr lang="en-US" sz="1600" dirty="0"/>
              <a:t>calling method hello()</a:t>
            </a:r>
            <a:endParaRPr lang="en-IN" sz="1600" dirty="0"/>
          </a:p>
          <a:p>
            <a:r>
              <a:rPr lang="en-US" sz="1600" dirty="0" err="1"/>
              <a:t>obj.hello</a:t>
            </a:r>
            <a:r>
              <a:rPr lang="en-US" sz="1600" dirty="0"/>
              <a:t>()</a:t>
            </a:r>
            <a:endParaRPr lang="en-IN" sz="1600" dirty="0"/>
          </a:p>
          <a:p>
            <a:r>
              <a:rPr lang="en-US" sz="1600" dirty="0" smtClean="0"/>
              <a:t># </a:t>
            </a:r>
            <a:r>
              <a:rPr lang="en-US" sz="1600" dirty="0"/>
              <a:t>prints </a:t>
            </a:r>
            <a:r>
              <a:rPr lang="en-US" sz="1600" dirty="0" err="1"/>
              <a:t>docstring</a:t>
            </a:r>
            <a:endParaRPr lang="en-IN" sz="1600" dirty="0"/>
          </a:p>
          <a:p>
            <a:r>
              <a:rPr lang="en-US" sz="1600" dirty="0"/>
              <a:t>print(</a:t>
            </a:r>
            <a:r>
              <a:rPr lang="en-US" sz="1600" dirty="0" err="1"/>
              <a:t>MyNewClass</a:t>
            </a:r>
            <a:r>
              <a:rPr lang="en-US" sz="1600" dirty="0"/>
              <a:t>.__doc__)</a:t>
            </a:r>
            <a:endParaRPr lang="en-IN" sz="1600" dirty="0"/>
          </a:p>
          <a:p>
            <a:r>
              <a:rPr lang="en-US" sz="1600" dirty="0"/>
              <a:t>Output:</a:t>
            </a:r>
            <a:endParaRPr lang="en-IN" sz="1600" dirty="0"/>
          </a:p>
          <a:p>
            <a:r>
              <a:rPr lang="en-US" sz="1600" dirty="0"/>
              <a:t>100</a:t>
            </a:r>
            <a:endParaRPr lang="en-IN" sz="1600" dirty="0"/>
          </a:p>
          <a:p>
            <a:r>
              <a:rPr lang="en-US" sz="1600" dirty="0"/>
              <a:t>Hello World!</a:t>
            </a:r>
            <a:endParaRPr lang="en-IN" sz="1600" dirty="0"/>
          </a:p>
          <a:p>
            <a:r>
              <a:rPr lang="en-US" sz="1600" dirty="0"/>
              <a:t>This class demonstrates the creation of objects</a:t>
            </a:r>
            <a:endParaRPr lang="en-IN" sz="1600" dirty="0"/>
          </a:p>
        </p:txBody>
      </p:sp>
    </p:spTree>
    <p:extLst>
      <p:ext uri="{BB962C8B-B14F-4D97-AF65-F5344CB8AC3E}">
        <p14:creationId xmlns:p14="http://schemas.microsoft.com/office/powerpoint/2010/main" val="39414556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&amp; Object</a:t>
            </a:r>
            <a:endParaRPr lang="en-US" dirty="0"/>
          </a:p>
        </p:txBody>
      </p:sp>
      <p:sp>
        <p:nvSpPr>
          <p:cNvPr id="4" name="TextBox 3"/>
          <p:cNvSpPr txBox="1"/>
          <p:nvPr/>
        </p:nvSpPr>
        <p:spPr>
          <a:xfrm>
            <a:off x="228600" y="1066800"/>
            <a:ext cx="8763000" cy="3693319"/>
          </a:xfrm>
          <a:prstGeom prst="rect">
            <a:avLst/>
          </a:prstGeom>
          <a:noFill/>
        </p:spPr>
        <p:txBody>
          <a:bodyPr wrap="square" rtlCol="0">
            <a:spAutoFit/>
          </a:bodyPr>
          <a:lstStyle/>
          <a:p>
            <a:r>
              <a:rPr lang="en-US" dirty="0"/>
              <a:t>Another example for ref only :</a:t>
            </a:r>
            <a:endParaRPr lang="en-IN" dirty="0"/>
          </a:p>
          <a:p>
            <a:r>
              <a:rPr lang="en-US" dirty="0"/>
              <a:t>class Student:  </a:t>
            </a:r>
            <a:endParaRPr lang="en-IN" dirty="0"/>
          </a:p>
          <a:p>
            <a:r>
              <a:rPr lang="en-US" dirty="0"/>
              <a:t>    </a:t>
            </a:r>
            <a:r>
              <a:rPr lang="en-US" dirty="0" err="1"/>
              <a:t>roll_num</a:t>
            </a:r>
            <a:r>
              <a:rPr lang="en-US" dirty="0"/>
              <a:t> = 101  </a:t>
            </a:r>
            <a:endParaRPr lang="en-IN" dirty="0"/>
          </a:p>
          <a:p>
            <a:r>
              <a:rPr lang="en-US" dirty="0"/>
              <a:t>    name = "Joseph"  </a:t>
            </a:r>
            <a:endParaRPr lang="en-IN" dirty="0"/>
          </a:p>
          <a:p>
            <a:r>
              <a:rPr lang="en-US" dirty="0"/>
              <a:t>  </a:t>
            </a:r>
            <a:endParaRPr lang="en-IN" dirty="0"/>
          </a:p>
          <a:p>
            <a:r>
              <a:rPr lang="en-US" dirty="0"/>
              <a:t>    </a:t>
            </a:r>
            <a:r>
              <a:rPr lang="en-US" dirty="0" err="1"/>
              <a:t>def</a:t>
            </a:r>
            <a:r>
              <a:rPr lang="en-US" dirty="0"/>
              <a:t> display(self):  </a:t>
            </a:r>
            <a:endParaRPr lang="en-IN" dirty="0"/>
          </a:p>
          <a:p>
            <a:r>
              <a:rPr lang="en-US" dirty="0"/>
              <a:t>        print(</a:t>
            </a:r>
            <a:r>
              <a:rPr lang="en-US" dirty="0" err="1"/>
              <a:t>self.roll_num,self.name</a:t>
            </a:r>
            <a:r>
              <a:rPr lang="en-US" dirty="0"/>
              <a:t>)  </a:t>
            </a:r>
            <a:endParaRPr lang="en-IN" dirty="0"/>
          </a:p>
          <a:p>
            <a:r>
              <a:rPr lang="en-US" dirty="0"/>
              <a:t>  </a:t>
            </a:r>
            <a:endParaRPr lang="en-IN" dirty="0"/>
          </a:p>
          <a:p>
            <a:r>
              <a:rPr lang="en-US" dirty="0" err="1"/>
              <a:t>obj</a:t>
            </a:r>
            <a:r>
              <a:rPr lang="en-US" dirty="0"/>
              <a:t> = Student()  </a:t>
            </a:r>
            <a:endParaRPr lang="en-IN" dirty="0"/>
          </a:p>
          <a:p>
            <a:r>
              <a:rPr lang="en-US" dirty="0"/>
              <a:t> </a:t>
            </a:r>
            <a:endParaRPr lang="en-IN" dirty="0"/>
          </a:p>
          <a:p>
            <a:r>
              <a:rPr lang="en-US" dirty="0"/>
              <a:t>print(</a:t>
            </a:r>
            <a:r>
              <a:rPr lang="en-US" dirty="0" err="1"/>
              <a:t>obj.roll_num</a:t>
            </a:r>
            <a:r>
              <a:rPr lang="en-US" dirty="0"/>
              <a:t>)</a:t>
            </a:r>
            <a:endParaRPr lang="en-IN" dirty="0"/>
          </a:p>
          <a:p>
            <a:r>
              <a:rPr lang="en-US" dirty="0"/>
              <a:t>print(</a:t>
            </a:r>
            <a:r>
              <a:rPr lang="en-US" dirty="0" err="1"/>
              <a:t>obj.name</a:t>
            </a:r>
            <a:r>
              <a:rPr lang="en-US" dirty="0"/>
              <a:t>)</a:t>
            </a:r>
            <a:endParaRPr lang="en-IN" dirty="0"/>
          </a:p>
          <a:p>
            <a:r>
              <a:rPr lang="en-US" dirty="0" err="1"/>
              <a:t>obj.display</a:t>
            </a:r>
            <a:r>
              <a:rPr lang="en-US" dirty="0"/>
              <a:t>()</a:t>
            </a:r>
            <a:endParaRPr lang="en-IN" dirty="0"/>
          </a:p>
        </p:txBody>
      </p:sp>
    </p:spTree>
    <p:extLst>
      <p:ext uri="{BB962C8B-B14F-4D97-AF65-F5344CB8AC3E}">
        <p14:creationId xmlns:p14="http://schemas.microsoft.com/office/powerpoint/2010/main" val="34229414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Recursive Function in Python</a:t>
            </a:r>
            <a:endParaRPr lang="en-US" dirty="0"/>
          </a:p>
        </p:txBody>
      </p:sp>
      <p:sp>
        <p:nvSpPr>
          <p:cNvPr id="4" name="TextBox 3"/>
          <p:cNvSpPr txBox="1"/>
          <p:nvPr/>
        </p:nvSpPr>
        <p:spPr>
          <a:xfrm>
            <a:off x="228600" y="1066800"/>
            <a:ext cx="876300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A function is said to be a recursive if it calls itself. For example, lets say we have a function </a:t>
            </a:r>
            <a:r>
              <a:rPr lang="en-US" sz="2400" dirty="0" err="1"/>
              <a:t>abc</a:t>
            </a:r>
            <a:r>
              <a:rPr lang="en-US" sz="2400" dirty="0"/>
              <a:t>() and in the body of </a:t>
            </a:r>
            <a:r>
              <a:rPr lang="en-US" sz="2400" dirty="0" err="1"/>
              <a:t>abc</a:t>
            </a:r>
            <a:r>
              <a:rPr lang="en-US" sz="2400" dirty="0"/>
              <a:t>() there is a call to the </a:t>
            </a:r>
            <a:r>
              <a:rPr lang="en-US" sz="2400" dirty="0" err="1"/>
              <a:t>abc</a:t>
            </a:r>
            <a:r>
              <a:rPr lang="en-US" sz="2400" dirty="0"/>
              <a:t>().</a:t>
            </a:r>
            <a:endParaRPr lang="en-IN" sz="2400" dirty="0"/>
          </a:p>
        </p:txBody>
      </p:sp>
    </p:spTree>
    <p:extLst>
      <p:ext uri="{BB962C8B-B14F-4D97-AF65-F5344CB8AC3E}">
        <p14:creationId xmlns:p14="http://schemas.microsoft.com/office/powerpoint/2010/main" val="756142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Recursive Function in Python</a:t>
            </a:r>
            <a:endParaRPr lang="en-US" dirty="0"/>
          </a:p>
        </p:txBody>
      </p:sp>
      <p:sp>
        <p:nvSpPr>
          <p:cNvPr id="4" name="TextBox 3"/>
          <p:cNvSpPr txBox="1"/>
          <p:nvPr/>
        </p:nvSpPr>
        <p:spPr>
          <a:xfrm>
            <a:off x="228600" y="1066800"/>
            <a:ext cx="8763000" cy="5909310"/>
          </a:xfrm>
          <a:prstGeom prst="rect">
            <a:avLst/>
          </a:prstGeom>
          <a:noFill/>
        </p:spPr>
        <p:txBody>
          <a:bodyPr wrap="square" rtlCol="0">
            <a:spAutoFit/>
          </a:bodyPr>
          <a:lstStyle/>
          <a:p>
            <a:r>
              <a:rPr lang="en-US" b="1" dirty="0"/>
              <a:t>Example :</a:t>
            </a:r>
            <a:endParaRPr lang="en-IN" b="1" dirty="0"/>
          </a:p>
          <a:p>
            <a:r>
              <a:rPr lang="en-US" dirty="0"/>
              <a:t># Example of recursion in Python to</a:t>
            </a:r>
            <a:endParaRPr lang="en-IN" dirty="0"/>
          </a:p>
          <a:p>
            <a:r>
              <a:rPr lang="en-US" dirty="0"/>
              <a:t># find the factorial of a given </a:t>
            </a:r>
            <a:r>
              <a:rPr lang="en-US" dirty="0" smtClean="0"/>
              <a:t>number</a:t>
            </a:r>
            <a:endParaRPr lang="en-IN" dirty="0"/>
          </a:p>
          <a:p>
            <a:r>
              <a:rPr lang="en-US" dirty="0"/>
              <a:t># Factorial of a number using recursion</a:t>
            </a:r>
            <a:endParaRPr lang="en-IN" dirty="0"/>
          </a:p>
          <a:p>
            <a:r>
              <a:rPr lang="en-US" dirty="0"/>
              <a:t> </a:t>
            </a:r>
            <a:endParaRPr lang="en-IN" dirty="0"/>
          </a:p>
          <a:p>
            <a:r>
              <a:rPr lang="en-US" dirty="0" err="1"/>
              <a:t>def</a:t>
            </a:r>
            <a:r>
              <a:rPr lang="en-US" dirty="0"/>
              <a:t> </a:t>
            </a:r>
            <a:r>
              <a:rPr lang="en-US" dirty="0" err="1"/>
              <a:t>recur_factorial</a:t>
            </a:r>
            <a:r>
              <a:rPr lang="en-US" dirty="0"/>
              <a:t>(n):</a:t>
            </a:r>
            <a:endParaRPr lang="en-IN" dirty="0"/>
          </a:p>
          <a:p>
            <a:r>
              <a:rPr lang="en-US" dirty="0"/>
              <a:t>   if n == 1:</a:t>
            </a:r>
            <a:endParaRPr lang="en-IN" dirty="0"/>
          </a:p>
          <a:p>
            <a:r>
              <a:rPr lang="en-US" dirty="0"/>
              <a:t>       return n</a:t>
            </a:r>
            <a:endParaRPr lang="en-IN" dirty="0"/>
          </a:p>
          <a:p>
            <a:r>
              <a:rPr lang="en-US" dirty="0"/>
              <a:t>   else:</a:t>
            </a:r>
            <a:endParaRPr lang="en-IN" dirty="0"/>
          </a:p>
          <a:p>
            <a:r>
              <a:rPr lang="en-US" dirty="0"/>
              <a:t>       return n*</a:t>
            </a:r>
            <a:r>
              <a:rPr lang="en-US" dirty="0" err="1"/>
              <a:t>recur_factorial</a:t>
            </a:r>
            <a:r>
              <a:rPr lang="en-US" dirty="0"/>
              <a:t>(n-1)</a:t>
            </a:r>
            <a:endParaRPr lang="en-IN" dirty="0"/>
          </a:p>
          <a:p>
            <a:r>
              <a:rPr lang="en-US" dirty="0"/>
              <a:t> </a:t>
            </a:r>
            <a:r>
              <a:rPr lang="en-US" dirty="0" err="1" smtClean="0"/>
              <a:t>num</a:t>
            </a:r>
            <a:r>
              <a:rPr lang="en-US" dirty="0" smtClean="0"/>
              <a:t> </a:t>
            </a:r>
            <a:r>
              <a:rPr lang="en-US" dirty="0"/>
              <a:t>= </a:t>
            </a:r>
            <a:r>
              <a:rPr lang="en-US" dirty="0" smtClean="0"/>
              <a:t>5</a:t>
            </a:r>
            <a:endParaRPr lang="en-IN" dirty="0"/>
          </a:p>
          <a:p>
            <a:r>
              <a:rPr lang="en-US" dirty="0"/>
              <a:t> </a:t>
            </a:r>
            <a:endParaRPr lang="en-IN" dirty="0"/>
          </a:p>
          <a:p>
            <a:r>
              <a:rPr lang="en-US" dirty="0"/>
              <a:t># check if the number is negative</a:t>
            </a:r>
            <a:endParaRPr lang="en-IN" dirty="0"/>
          </a:p>
          <a:p>
            <a:r>
              <a:rPr lang="en-US" dirty="0"/>
              <a:t>if </a:t>
            </a:r>
            <a:r>
              <a:rPr lang="en-US" dirty="0" err="1"/>
              <a:t>num</a:t>
            </a:r>
            <a:r>
              <a:rPr lang="en-US" dirty="0"/>
              <a:t> &lt; 0:</a:t>
            </a:r>
            <a:endParaRPr lang="en-IN" dirty="0"/>
          </a:p>
          <a:p>
            <a:r>
              <a:rPr lang="en-US" dirty="0"/>
              <a:t>   print("Sorry, factorial does not exist for negative numbers")</a:t>
            </a:r>
            <a:endParaRPr lang="en-IN" dirty="0"/>
          </a:p>
          <a:p>
            <a:r>
              <a:rPr lang="en-US" dirty="0" err="1"/>
              <a:t>elif</a:t>
            </a:r>
            <a:r>
              <a:rPr lang="en-US" dirty="0"/>
              <a:t> </a:t>
            </a:r>
            <a:r>
              <a:rPr lang="en-US" dirty="0" err="1"/>
              <a:t>num</a:t>
            </a:r>
            <a:r>
              <a:rPr lang="en-US" dirty="0"/>
              <a:t> == 0:</a:t>
            </a:r>
            <a:endParaRPr lang="en-IN" dirty="0"/>
          </a:p>
          <a:p>
            <a:r>
              <a:rPr lang="en-US" dirty="0"/>
              <a:t>   print("The factorial of 0 is 1")</a:t>
            </a:r>
            <a:endParaRPr lang="en-IN" dirty="0"/>
          </a:p>
          <a:p>
            <a:r>
              <a:rPr lang="en-US" dirty="0"/>
              <a:t>else:</a:t>
            </a:r>
            <a:endParaRPr lang="en-IN" dirty="0"/>
          </a:p>
          <a:p>
            <a:r>
              <a:rPr lang="en-US" dirty="0"/>
              <a:t>   print("The factorial of", </a:t>
            </a:r>
            <a:r>
              <a:rPr lang="en-US" dirty="0" err="1"/>
              <a:t>num</a:t>
            </a:r>
            <a:r>
              <a:rPr lang="en-US" dirty="0"/>
              <a:t>, "is", </a:t>
            </a:r>
            <a:r>
              <a:rPr lang="en-US" dirty="0" err="1"/>
              <a:t>recur_factorial</a:t>
            </a:r>
            <a:r>
              <a:rPr lang="en-US" dirty="0"/>
              <a:t>(</a:t>
            </a:r>
            <a:r>
              <a:rPr lang="en-US" dirty="0" err="1"/>
              <a:t>num</a:t>
            </a:r>
            <a:r>
              <a:rPr lang="en-US" dirty="0" smtClean="0"/>
              <a:t>))</a:t>
            </a:r>
            <a:r>
              <a:rPr lang="en-US" dirty="0"/>
              <a:t> </a:t>
            </a:r>
            <a:endParaRPr lang="en-IN" dirty="0"/>
          </a:p>
          <a:p>
            <a:r>
              <a:rPr lang="en-US" dirty="0"/>
              <a:t>Output:</a:t>
            </a:r>
            <a:endParaRPr lang="en-IN" dirty="0"/>
          </a:p>
          <a:p>
            <a:r>
              <a:rPr lang="en-US" dirty="0" smtClean="0"/>
              <a:t>Factorial </a:t>
            </a:r>
            <a:r>
              <a:rPr lang="en-US" dirty="0"/>
              <a:t>of 5 is:  120</a:t>
            </a:r>
            <a:endParaRPr lang="en-IN" dirty="0"/>
          </a:p>
        </p:txBody>
      </p:sp>
    </p:spTree>
    <p:extLst>
      <p:ext uri="{BB962C8B-B14F-4D97-AF65-F5344CB8AC3E}">
        <p14:creationId xmlns:p14="http://schemas.microsoft.com/office/powerpoint/2010/main" val="12009546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Advantages of Recursion</a:t>
            </a:r>
            <a:endParaRPr lang="en-US" dirty="0"/>
          </a:p>
        </p:txBody>
      </p:sp>
      <p:sp>
        <p:nvSpPr>
          <p:cNvPr id="4" name="TextBox 3"/>
          <p:cNvSpPr txBox="1"/>
          <p:nvPr/>
        </p:nvSpPr>
        <p:spPr>
          <a:xfrm>
            <a:off x="228600" y="1066800"/>
            <a:ext cx="8763000" cy="2246769"/>
          </a:xfrm>
          <a:prstGeom prst="rect">
            <a:avLst/>
          </a:prstGeom>
          <a:noFill/>
        </p:spPr>
        <p:txBody>
          <a:bodyPr wrap="square" rtlCol="0">
            <a:spAutoFit/>
          </a:bodyPr>
          <a:lstStyle/>
          <a:p>
            <a:r>
              <a:rPr lang="en-US" sz="2800" dirty="0"/>
              <a:t>Recursion makes our program:</a:t>
            </a:r>
            <a:endParaRPr lang="en-IN" sz="2800" dirty="0"/>
          </a:p>
          <a:p>
            <a:r>
              <a:rPr lang="en-US" sz="2800" dirty="0"/>
              <a:t>1. Easier to write.</a:t>
            </a:r>
            <a:endParaRPr lang="en-IN" sz="2800" dirty="0"/>
          </a:p>
          <a:p>
            <a:r>
              <a:rPr lang="en-US" sz="2800" dirty="0"/>
              <a:t>2. Readable – Code is easier to read and understand.</a:t>
            </a:r>
            <a:endParaRPr lang="en-IN" sz="2800" dirty="0"/>
          </a:p>
          <a:p>
            <a:r>
              <a:rPr lang="en-US" sz="2800" dirty="0"/>
              <a:t>3. Reduce the lines of code – It takes less lines of code to solve a problem using recursion.</a:t>
            </a:r>
            <a:endParaRPr lang="en-IN" sz="2800" dirty="0"/>
          </a:p>
        </p:txBody>
      </p:sp>
    </p:spTree>
    <p:extLst>
      <p:ext uri="{BB962C8B-B14F-4D97-AF65-F5344CB8AC3E}">
        <p14:creationId xmlns:p14="http://schemas.microsoft.com/office/powerpoint/2010/main" val="29454919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Constructors</a:t>
            </a:r>
            <a:endParaRPr lang="en-US" dirty="0"/>
          </a:p>
        </p:txBody>
      </p:sp>
      <p:sp>
        <p:nvSpPr>
          <p:cNvPr id="4" name="TextBox 3"/>
          <p:cNvSpPr txBox="1"/>
          <p:nvPr/>
        </p:nvSpPr>
        <p:spPr>
          <a:xfrm>
            <a:off x="228600" y="1066800"/>
            <a:ext cx="8763000" cy="6124754"/>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A constructor is a special kind of method which is used for initializing the instance variables during object creation. </a:t>
            </a:r>
          </a:p>
          <a:p>
            <a:pPr marL="457200" indent="-457200" algn="just">
              <a:buFont typeface="Arial" panose="020B0604020202020204" pitchFamily="34" charset="0"/>
              <a:buChar char="•"/>
            </a:pPr>
            <a:r>
              <a:rPr lang="en-US" sz="2800" dirty="0"/>
              <a:t>Constructor is used for initializing the instance members when we create the object of a class</a:t>
            </a:r>
            <a:r>
              <a:rPr lang="en-US" sz="2800" dirty="0" smtClean="0"/>
              <a:t>.</a:t>
            </a:r>
          </a:p>
          <a:p>
            <a:pPr algn="just"/>
            <a:r>
              <a:rPr lang="en-US" sz="2800" b="1" dirty="0" smtClean="0"/>
              <a:t>The </a:t>
            </a:r>
            <a:r>
              <a:rPr lang="en-US" sz="2800" b="1" dirty="0"/>
              <a:t>__</a:t>
            </a:r>
            <a:r>
              <a:rPr lang="en-US" sz="2800" b="1" dirty="0" err="1"/>
              <a:t>init</a:t>
            </a:r>
            <a:r>
              <a:rPr lang="en-US" sz="2800" b="1" dirty="0"/>
              <a:t>__() Function</a:t>
            </a:r>
          </a:p>
          <a:p>
            <a:pPr marL="457200" indent="-457200" algn="just">
              <a:buFont typeface="Arial" panose="020B0604020202020204" pitchFamily="34" charset="0"/>
              <a:buChar char="•"/>
            </a:pPr>
            <a:r>
              <a:rPr lang="en-US" sz="2800" dirty="0" smtClean="0"/>
              <a:t>All </a:t>
            </a:r>
            <a:r>
              <a:rPr lang="en-US" sz="2800" dirty="0"/>
              <a:t>classes have a function called __</a:t>
            </a:r>
            <a:r>
              <a:rPr lang="en-US" sz="2800" dirty="0" err="1"/>
              <a:t>init</a:t>
            </a:r>
            <a:r>
              <a:rPr lang="en-US" sz="2800" dirty="0"/>
              <a:t>__(), which is always executed when the class is being initiated.</a:t>
            </a:r>
          </a:p>
          <a:p>
            <a:pPr marL="457200" indent="-457200" algn="just">
              <a:buFont typeface="Arial" panose="020B0604020202020204" pitchFamily="34" charset="0"/>
              <a:buChar char="•"/>
            </a:pPr>
            <a:r>
              <a:rPr lang="en-US" sz="2800" dirty="0"/>
              <a:t>Use the __</a:t>
            </a:r>
            <a:r>
              <a:rPr lang="en-US" sz="2800" dirty="0" err="1"/>
              <a:t>init</a:t>
            </a:r>
            <a:r>
              <a:rPr lang="en-US" sz="2800" dirty="0"/>
              <a:t>__() function to assign values to object properties, or other operations that are necessary to do when the object is being create.</a:t>
            </a:r>
          </a:p>
          <a:p>
            <a:pPr marL="457200" indent="-457200" algn="just">
              <a:buFont typeface="Arial" panose="020B0604020202020204" pitchFamily="34" charset="0"/>
              <a:buChar char="•"/>
            </a:pPr>
            <a:r>
              <a:rPr lang="en-US" sz="2800" dirty="0"/>
              <a:t>The __</a:t>
            </a:r>
            <a:r>
              <a:rPr lang="en-US" sz="2800" dirty="0" err="1"/>
              <a:t>init</a:t>
            </a:r>
            <a:r>
              <a:rPr lang="en-US" sz="2800" dirty="0"/>
              <a:t>__() function is called automatically every time the class is being used to create a new object.</a:t>
            </a:r>
          </a:p>
          <a:p>
            <a:pPr marL="457200" indent="-457200" algn="just">
              <a:buFont typeface="Arial" panose="020B0604020202020204" pitchFamily="34" charset="0"/>
              <a:buChar char="•"/>
            </a:pPr>
            <a:endParaRPr lang="en-US" sz="2800" dirty="0"/>
          </a:p>
        </p:txBody>
      </p:sp>
    </p:spTree>
    <p:extLst>
      <p:ext uri="{BB962C8B-B14F-4D97-AF65-F5344CB8AC3E}">
        <p14:creationId xmlns:p14="http://schemas.microsoft.com/office/powerpoint/2010/main" val="26024063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Constructors</a:t>
            </a:r>
            <a:endParaRPr lang="en-US" dirty="0"/>
          </a:p>
        </p:txBody>
      </p:sp>
      <p:sp>
        <p:nvSpPr>
          <p:cNvPr id="4" name="TextBox 3"/>
          <p:cNvSpPr txBox="1"/>
          <p:nvPr/>
        </p:nvSpPr>
        <p:spPr>
          <a:xfrm>
            <a:off x="228600" y="1066800"/>
            <a:ext cx="8763000" cy="5355312"/>
          </a:xfrm>
          <a:prstGeom prst="rect">
            <a:avLst/>
          </a:prstGeom>
          <a:noFill/>
        </p:spPr>
        <p:txBody>
          <a:bodyPr wrap="square" rtlCol="0">
            <a:spAutoFit/>
          </a:bodyPr>
          <a:lstStyle/>
          <a:p>
            <a:r>
              <a:rPr lang="en-US" b="1" dirty="0"/>
              <a:t>For example:</a:t>
            </a:r>
            <a:endParaRPr lang="en-IN" dirty="0"/>
          </a:p>
          <a:p>
            <a:r>
              <a:rPr lang="en-US" b="1" dirty="0"/>
              <a:t>class Employee:  </a:t>
            </a:r>
            <a:endParaRPr lang="en-IN" dirty="0"/>
          </a:p>
          <a:p>
            <a:r>
              <a:rPr lang="en-US" b="1" dirty="0"/>
              <a:t>    </a:t>
            </a:r>
            <a:r>
              <a:rPr lang="en-US" b="1" dirty="0" err="1"/>
              <a:t>def</a:t>
            </a:r>
            <a:r>
              <a:rPr lang="en-US" b="1" dirty="0"/>
              <a:t> __</a:t>
            </a:r>
            <a:r>
              <a:rPr lang="en-US" b="1" dirty="0" err="1"/>
              <a:t>init</a:t>
            </a:r>
            <a:r>
              <a:rPr lang="en-US" b="1" dirty="0"/>
              <a:t>__(self, name, id):  </a:t>
            </a:r>
            <a:endParaRPr lang="en-IN" dirty="0"/>
          </a:p>
          <a:p>
            <a:r>
              <a:rPr lang="en-US" b="1" dirty="0"/>
              <a:t>        </a:t>
            </a:r>
            <a:r>
              <a:rPr lang="en-US" b="1" dirty="0" err="1"/>
              <a:t>self.id</a:t>
            </a:r>
            <a:r>
              <a:rPr lang="en-US" b="1" dirty="0"/>
              <a:t> =id  </a:t>
            </a:r>
            <a:endParaRPr lang="en-IN" dirty="0"/>
          </a:p>
          <a:p>
            <a:r>
              <a:rPr lang="en-US" b="1" dirty="0"/>
              <a:t>        </a:t>
            </a:r>
            <a:r>
              <a:rPr lang="en-US" b="1" dirty="0" err="1"/>
              <a:t>self.name</a:t>
            </a:r>
            <a:r>
              <a:rPr lang="en-US" b="1" dirty="0"/>
              <a:t> = name  </a:t>
            </a:r>
            <a:endParaRPr lang="en-IN" dirty="0"/>
          </a:p>
          <a:p>
            <a:r>
              <a:rPr lang="en-US" b="1" dirty="0"/>
              <a:t>  </a:t>
            </a:r>
            <a:endParaRPr lang="en-IN" dirty="0"/>
          </a:p>
          <a:p>
            <a:r>
              <a:rPr lang="en-US" b="1" dirty="0"/>
              <a:t>    </a:t>
            </a:r>
            <a:r>
              <a:rPr lang="en-US" b="1" dirty="0" err="1"/>
              <a:t>def</a:t>
            </a:r>
            <a:r>
              <a:rPr lang="en-US" b="1" dirty="0"/>
              <a:t> display(self):  </a:t>
            </a:r>
            <a:endParaRPr lang="en-IN" dirty="0"/>
          </a:p>
          <a:p>
            <a:r>
              <a:rPr lang="en-US" b="1" dirty="0"/>
              <a:t>        print(</a:t>
            </a:r>
            <a:r>
              <a:rPr lang="en-US" b="1" dirty="0" err="1"/>
              <a:t>self.id</a:t>
            </a:r>
            <a:r>
              <a:rPr lang="en-US" b="1" dirty="0"/>
              <a:t>, </a:t>
            </a:r>
            <a:r>
              <a:rPr lang="en-US" b="1" dirty="0" err="1"/>
              <a:t>self.name</a:t>
            </a:r>
            <a:r>
              <a:rPr lang="en-US" b="1" dirty="0"/>
              <a:t>)  </a:t>
            </a:r>
            <a:endParaRPr lang="en-IN" dirty="0"/>
          </a:p>
          <a:p>
            <a:r>
              <a:rPr lang="en-US" b="1" dirty="0"/>
              <a:t>  </a:t>
            </a:r>
            <a:endParaRPr lang="en-IN" dirty="0"/>
          </a:p>
          <a:p>
            <a:r>
              <a:rPr lang="en-US" b="1" dirty="0"/>
              <a:t>  </a:t>
            </a:r>
            <a:endParaRPr lang="en-IN" dirty="0"/>
          </a:p>
          <a:p>
            <a:r>
              <a:rPr lang="en-US" b="1" dirty="0" err="1"/>
              <a:t>emp1</a:t>
            </a:r>
            <a:r>
              <a:rPr lang="en-US" b="1" dirty="0"/>
              <a:t> = Employee("John", 101)  </a:t>
            </a:r>
            <a:endParaRPr lang="en-IN" dirty="0"/>
          </a:p>
          <a:p>
            <a:r>
              <a:rPr lang="en-US" b="1" dirty="0" err="1"/>
              <a:t>emp2</a:t>
            </a:r>
            <a:r>
              <a:rPr lang="en-US" b="1" dirty="0"/>
              <a:t> = Employee("David", 102)  </a:t>
            </a:r>
            <a:endParaRPr lang="en-IN" dirty="0"/>
          </a:p>
          <a:p>
            <a:r>
              <a:rPr lang="en-US" b="1" dirty="0"/>
              <a:t>  </a:t>
            </a:r>
            <a:endParaRPr lang="en-IN" dirty="0"/>
          </a:p>
          <a:p>
            <a:r>
              <a:rPr lang="en-US" b="1" dirty="0"/>
              <a:t># accessing display() method to print employee 1 information  </a:t>
            </a:r>
            <a:endParaRPr lang="en-IN" dirty="0"/>
          </a:p>
          <a:p>
            <a:r>
              <a:rPr lang="en-US" b="1" dirty="0"/>
              <a:t>  </a:t>
            </a:r>
            <a:endParaRPr lang="en-IN" dirty="0"/>
          </a:p>
          <a:p>
            <a:r>
              <a:rPr lang="en-US" b="1" dirty="0" err="1"/>
              <a:t>emp1.display</a:t>
            </a:r>
            <a:r>
              <a:rPr lang="en-US" b="1" dirty="0"/>
              <a:t>()  </a:t>
            </a:r>
            <a:endParaRPr lang="en-IN" dirty="0"/>
          </a:p>
          <a:p>
            <a:r>
              <a:rPr lang="en-US" b="1" dirty="0"/>
              <a:t>  </a:t>
            </a:r>
            <a:endParaRPr lang="en-IN" dirty="0"/>
          </a:p>
          <a:p>
            <a:r>
              <a:rPr lang="en-US" b="1" dirty="0"/>
              <a:t># accessing display() method to print employee 2 information  </a:t>
            </a:r>
            <a:endParaRPr lang="en-IN" dirty="0"/>
          </a:p>
          <a:p>
            <a:r>
              <a:rPr lang="en-US" b="1" dirty="0" err="1"/>
              <a:t>emp2.display</a:t>
            </a:r>
            <a:r>
              <a:rPr lang="en-US" b="1" dirty="0" smtClean="0"/>
              <a:t>()</a:t>
            </a:r>
            <a:endParaRPr lang="en-IN" dirty="0"/>
          </a:p>
        </p:txBody>
      </p:sp>
      <p:sp>
        <p:nvSpPr>
          <p:cNvPr id="3" name="TextBox 2"/>
          <p:cNvSpPr txBox="1"/>
          <p:nvPr/>
        </p:nvSpPr>
        <p:spPr>
          <a:xfrm>
            <a:off x="5791200" y="1752600"/>
            <a:ext cx="3200400" cy="1754326"/>
          </a:xfrm>
          <a:prstGeom prst="rect">
            <a:avLst/>
          </a:prstGeom>
          <a:noFill/>
        </p:spPr>
        <p:txBody>
          <a:bodyPr wrap="square" rtlCol="0">
            <a:spAutoFit/>
          </a:bodyPr>
          <a:lstStyle/>
          <a:p>
            <a:r>
              <a:rPr lang="en-US" b="1" dirty="0"/>
              <a:t>Output:</a:t>
            </a:r>
            <a:endParaRPr lang="en-IN" dirty="0"/>
          </a:p>
          <a:p>
            <a:r>
              <a:rPr lang="en-US" b="1" dirty="0"/>
              <a:t>ID: 101 </a:t>
            </a:r>
            <a:endParaRPr lang="en-IN" dirty="0"/>
          </a:p>
          <a:p>
            <a:r>
              <a:rPr lang="en-US" b="1" dirty="0"/>
              <a:t>Name: John</a:t>
            </a:r>
            <a:endParaRPr lang="en-IN" dirty="0"/>
          </a:p>
          <a:p>
            <a:r>
              <a:rPr lang="en-US" b="1" dirty="0"/>
              <a:t>ID: 102 </a:t>
            </a:r>
            <a:endParaRPr lang="en-IN" dirty="0"/>
          </a:p>
          <a:p>
            <a:r>
              <a:rPr lang="en-US" b="1" dirty="0"/>
              <a:t>Name: David</a:t>
            </a:r>
            <a:endParaRPr lang="en-IN" dirty="0"/>
          </a:p>
          <a:p>
            <a:endParaRPr lang="en-IN" dirty="0"/>
          </a:p>
        </p:txBody>
      </p:sp>
    </p:spTree>
    <p:extLst>
      <p:ext uri="{BB962C8B-B14F-4D97-AF65-F5344CB8AC3E}">
        <p14:creationId xmlns:p14="http://schemas.microsoft.com/office/powerpoint/2010/main" val="5597323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Types of Constructors</a:t>
            </a:r>
            <a:endParaRPr lang="en-US" dirty="0"/>
          </a:p>
        </p:txBody>
      </p:sp>
      <p:sp>
        <p:nvSpPr>
          <p:cNvPr id="4" name="TextBox 3"/>
          <p:cNvSpPr txBox="1"/>
          <p:nvPr/>
        </p:nvSpPr>
        <p:spPr>
          <a:xfrm>
            <a:off x="228600" y="1066800"/>
            <a:ext cx="8763000" cy="2308324"/>
          </a:xfrm>
          <a:prstGeom prst="rect">
            <a:avLst/>
          </a:prstGeom>
          <a:noFill/>
        </p:spPr>
        <p:txBody>
          <a:bodyPr wrap="square" rtlCol="0">
            <a:spAutoFit/>
          </a:bodyPr>
          <a:lstStyle/>
          <a:p>
            <a:pPr algn="just"/>
            <a:r>
              <a:rPr lang="en-US" sz="2400" dirty="0"/>
              <a:t>We have mainly two types of constructors in Python.</a:t>
            </a:r>
            <a:endParaRPr lang="en-IN" sz="2400" dirty="0"/>
          </a:p>
          <a:p>
            <a:pPr marL="457200" indent="-457200" algn="just">
              <a:buAutoNum type="arabicPeriod"/>
            </a:pPr>
            <a:r>
              <a:rPr lang="en-US" sz="2400" u="sng" dirty="0" smtClean="0"/>
              <a:t>Default </a:t>
            </a:r>
            <a:r>
              <a:rPr lang="en-US" sz="2400" u="sng" dirty="0"/>
              <a:t>constructor</a:t>
            </a:r>
            <a:r>
              <a:rPr lang="en-US" sz="2400" dirty="0"/>
              <a:t> – this is the one, which we have seen in the above example. This constructor doesn’t accept any </a:t>
            </a:r>
            <a:r>
              <a:rPr lang="en-US" sz="2400" dirty="0" smtClean="0"/>
              <a:t>arguments.</a:t>
            </a:r>
          </a:p>
          <a:p>
            <a:pPr marL="457200" indent="-457200" algn="just">
              <a:buAutoNum type="arabicPeriod"/>
            </a:pPr>
            <a:endParaRPr lang="en-US" sz="2400" dirty="0"/>
          </a:p>
          <a:p>
            <a:pPr marL="457200" indent="-457200" algn="just">
              <a:buAutoNum type="arabicPeriod"/>
            </a:pPr>
            <a:r>
              <a:rPr lang="en-US" sz="2400" u="sng" dirty="0" smtClean="0"/>
              <a:t>Parameterized </a:t>
            </a:r>
            <a:r>
              <a:rPr lang="en-US" sz="2400" u="sng" dirty="0"/>
              <a:t>constructor</a:t>
            </a:r>
            <a:r>
              <a:rPr lang="en-US" sz="2400" dirty="0"/>
              <a:t> – constructor with parameters is known as parameterized </a:t>
            </a:r>
            <a:r>
              <a:rPr lang="en-US" sz="2400" dirty="0" smtClean="0"/>
              <a:t>constructor</a:t>
            </a:r>
            <a:endParaRPr lang="en-IN" sz="2400" dirty="0"/>
          </a:p>
        </p:txBody>
      </p:sp>
    </p:spTree>
    <p:extLst>
      <p:ext uri="{BB962C8B-B14F-4D97-AF65-F5344CB8AC3E}">
        <p14:creationId xmlns:p14="http://schemas.microsoft.com/office/powerpoint/2010/main" val="20274837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Default Constructor</a:t>
            </a:r>
            <a:endParaRPr lang="en-US" dirty="0"/>
          </a:p>
        </p:txBody>
      </p:sp>
      <p:sp>
        <p:nvSpPr>
          <p:cNvPr id="4" name="TextBox 3"/>
          <p:cNvSpPr txBox="1"/>
          <p:nvPr/>
        </p:nvSpPr>
        <p:spPr>
          <a:xfrm>
            <a:off x="228600" y="1066800"/>
            <a:ext cx="8763000" cy="1569660"/>
          </a:xfrm>
          <a:prstGeom prst="rect">
            <a:avLst/>
          </a:prstGeom>
          <a:noFill/>
        </p:spPr>
        <p:txBody>
          <a:bodyPr wrap="square" rtlCol="0">
            <a:spAutoFit/>
          </a:bodyPr>
          <a:lstStyle/>
          <a:p>
            <a:pPr algn="just"/>
            <a:r>
              <a:rPr lang="en-US" sz="2400" dirty="0"/>
              <a:t>When we do not include the constructor in the class or forget to declare it, then that becomes the default constructor. It does not perform any task but initializes the objects. Consider the following example.</a:t>
            </a:r>
            <a:endParaRPr lang="en-IN" sz="2400" dirty="0"/>
          </a:p>
        </p:txBody>
      </p:sp>
    </p:spTree>
    <p:extLst>
      <p:ext uri="{BB962C8B-B14F-4D97-AF65-F5344CB8AC3E}">
        <p14:creationId xmlns:p14="http://schemas.microsoft.com/office/powerpoint/2010/main" val="2994708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Default Constructor</a:t>
            </a:r>
            <a:endParaRPr lang="en-US" dirty="0"/>
          </a:p>
        </p:txBody>
      </p:sp>
      <p:sp>
        <p:nvSpPr>
          <p:cNvPr id="4" name="TextBox 3"/>
          <p:cNvSpPr txBox="1"/>
          <p:nvPr/>
        </p:nvSpPr>
        <p:spPr>
          <a:xfrm>
            <a:off x="228600" y="1066800"/>
            <a:ext cx="8763000" cy="4154984"/>
          </a:xfrm>
          <a:prstGeom prst="rect">
            <a:avLst/>
          </a:prstGeom>
          <a:noFill/>
        </p:spPr>
        <p:txBody>
          <a:bodyPr wrap="square" rtlCol="0">
            <a:spAutoFit/>
          </a:bodyPr>
          <a:lstStyle/>
          <a:p>
            <a:pPr algn="just"/>
            <a:r>
              <a:rPr lang="en-US" sz="2400" dirty="0"/>
              <a:t>Example</a:t>
            </a:r>
          </a:p>
          <a:p>
            <a:pPr algn="just"/>
            <a:r>
              <a:rPr lang="en-US" sz="2400" dirty="0"/>
              <a:t>class Student:  </a:t>
            </a:r>
          </a:p>
          <a:p>
            <a:pPr algn="just"/>
            <a:r>
              <a:rPr lang="en-US" sz="2400" dirty="0"/>
              <a:t>    </a:t>
            </a:r>
            <a:r>
              <a:rPr lang="en-US" sz="2400" dirty="0" err="1"/>
              <a:t>roll_num</a:t>
            </a:r>
            <a:r>
              <a:rPr lang="en-US" sz="2400" dirty="0"/>
              <a:t> = 101  </a:t>
            </a:r>
          </a:p>
          <a:p>
            <a:pPr algn="just"/>
            <a:r>
              <a:rPr lang="en-US" sz="2400" dirty="0"/>
              <a:t>    name = "Joseph"  </a:t>
            </a:r>
          </a:p>
          <a:p>
            <a:pPr algn="just"/>
            <a:r>
              <a:rPr lang="en-US" sz="2400" dirty="0"/>
              <a:t>    </a:t>
            </a:r>
            <a:r>
              <a:rPr lang="en-US" sz="2400" dirty="0" err="1"/>
              <a:t>def</a:t>
            </a:r>
            <a:r>
              <a:rPr lang="en-US" sz="2400" dirty="0"/>
              <a:t> display(self):  </a:t>
            </a:r>
          </a:p>
          <a:p>
            <a:pPr algn="just"/>
            <a:r>
              <a:rPr lang="en-US" sz="2400" dirty="0"/>
              <a:t>        print(</a:t>
            </a:r>
            <a:r>
              <a:rPr lang="en-US" sz="2400" dirty="0" err="1"/>
              <a:t>self.roll_num,self.name</a:t>
            </a:r>
            <a:r>
              <a:rPr lang="en-US" sz="2400" dirty="0"/>
              <a:t>)  </a:t>
            </a:r>
          </a:p>
          <a:p>
            <a:pPr algn="just"/>
            <a:r>
              <a:rPr lang="en-US" sz="2400" dirty="0"/>
              <a:t>  </a:t>
            </a:r>
          </a:p>
          <a:p>
            <a:pPr algn="just"/>
            <a:r>
              <a:rPr lang="en-US" sz="2400" dirty="0" err="1"/>
              <a:t>obj</a:t>
            </a:r>
            <a:r>
              <a:rPr lang="en-US" sz="2400" dirty="0"/>
              <a:t> = Student()  </a:t>
            </a:r>
          </a:p>
          <a:p>
            <a:pPr algn="just"/>
            <a:r>
              <a:rPr lang="en-US" sz="2400" dirty="0" err="1"/>
              <a:t>obj.display</a:t>
            </a:r>
            <a:r>
              <a:rPr lang="en-US" sz="2400" dirty="0"/>
              <a:t>()  </a:t>
            </a:r>
          </a:p>
          <a:p>
            <a:pPr algn="just"/>
            <a:r>
              <a:rPr lang="en-US" sz="2400" dirty="0"/>
              <a:t>Output:</a:t>
            </a:r>
          </a:p>
          <a:p>
            <a:pPr algn="just"/>
            <a:r>
              <a:rPr lang="en-US" sz="2400" dirty="0"/>
              <a:t>101 Joseph</a:t>
            </a:r>
          </a:p>
        </p:txBody>
      </p:sp>
    </p:spTree>
    <p:extLst>
      <p:ext uri="{BB962C8B-B14F-4D97-AF65-F5344CB8AC3E}">
        <p14:creationId xmlns:p14="http://schemas.microsoft.com/office/powerpoint/2010/main" val="4160964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Non Parameterized Constructor</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2400" dirty="0"/>
              <a:t>The non-parameterized constructor uses when we do not want to manipulate the value or the constructor that has only self as an argument. Consider the following example.</a:t>
            </a:r>
          </a:p>
          <a:p>
            <a:pPr algn="just"/>
            <a:r>
              <a:rPr lang="en-US" sz="2400" dirty="0"/>
              <a:t>Example</a:t>
            </a:r>
          </a:p>
          <a:p>
            <a:pPr algn="just"/>
            <a:r>
              <a:rPr lang="en-US" sz="2400" dirty="0"/>
              <a:t>class Student:  </a:t>
            </a:r>
          </a:p>
          <a:p>
            <a:pPr algn="just"/>
            <a:r>
              <a:rPr lang="en-US" sz="2400" dirty="0"/>
              <a:t>    # Constructor - non parameterized  </a:t>
            </a:r>
          </a:p>
          <a:p>
            <a:pPr algn="just"/>
            <a:r>
              <a:rPr lang="en-US" sz="2400" dirty="0"/>
              <a:t>    </a:t>
            </a:r>
            <a:r>
              <a:rPr lang="en-US" sz="2400" dirty="0" err="1"/>
              <a:t>def</a:t>
            </a:r>
            <a:r>
              <a:rPr lang="en-US" sz="2400" dirty="0"/>
              <a:t> __</a:t>
            </a:r>
            <a:r>
              <a:rPr lang="en-US" sz="2400" dirty="0" err="1"/>
              <a:t>init</a:t>
            </a:r>
            <a:r>
              <a:rPr lang="en-US" sz="2400" dirty="0"/>
              <a:t>__(self):  </a:t>
            </a:r>
          </a:p>
          <a:p>
            <a:pPr algn="just"/>
            <a:r>
              <a:rPr lang="en-US" sz="2400" dirty="0"/>
              <a:t>        print("This is non parametrized constructor")  </a:t>
            </a:r>
          </a:p>
          <a:p>
            <a:pPr algn="just"/>
            <a:r>
              <a:rPr lang="en-US" sz="2400" dirty="0"/>
              <a:t>    </a:t>
            </a:r>
            <a:r>
              <a:rPr lang="en-US" sz="2400" dirty="0" err="1"/>
              <a:t>def</a:t>
            </a:r>
            <a:r>
              <a:rPr lang="en-US" sz="2400" dirty="0"/>
              <a:t> show(</a:t>
            </a:r>
            <a:r>
              <a:rPr lang="en-US" sz="2400" dirty="0" err="1"/>
              <a:t>self,name</a:t>
            </a:r>
            <a:r>
              <a:rPr lang="en-US" sz="2400" dirty="0"/>
              <a:t>):  </a:t>
            </a:r>
          </a:p>
          <a:p>
            <a:pPr algn="just"/>
            <a:r>
              <a:rPr lang="en-US" sz="2400" dirty="0"/>
              <a:t>        print("</a:t>
            </a:r>
            <a:r>
              <a:rPr lang="en-US" sz="2400" dirty="0" err="1"/>
              <a:t>Hello",name</a:t>
            </a:r>
            <a:r>
              <a:rPr lang="en-US" sz="2400" dirty="0"/>
              <a:t>)  </a:t>
            </a:r>
          </a:p>
          <a:p>
            <a:pPr algn="just"/>
            <a:r>
              <a:rPr lang="en-US" sz="2400" dirty="0" err="1"/>
              <a:t>obj</a:t>
            </a:r>
            <a:r>
              <a:rPr lang="en-US" sz="2400" dirty="0"/>
              <a:t> = Student()  </a:t>
            </a:r>
          </a:p>
          <a:p>
            <a:pPr algn="just"/>
            <a:r>
              <a:rPr lang="en-US" sz="2400" dirty="0" err="1"/>
              <a:t>obj.show</a:t>
            </a:r>
            <a:r>
              <a:rPr lang="en-US" sz="2400" dirty="0"/>
              <a:t>("John") </a:t>
            </a:r>
          </a:p>
        </p:txBody>
      </p:sp>
    </p:spTree>
    <p:extLst>
      <p:ext uri="{BB962C8B-B14F-4D97-AF65-F5344CB8AC3E}">
        <p14:creationId xmlns:p14="http://schemas.microsoft.com/office/powerpoint/2010/main" val="4144025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Parameterized Constructor</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pPr algn="just"/>
            <a:r>
              <a:rPr lang="en-US" sz="2400" dirty="0"/>
              <a:t>The parameterized constructor has multiple parameters along with the self. Consider the following example.</a:t>
            </a:r>
          </a:p>
          <a:p>
            <a:pPr algn="just"/>
            <a:r>
              <a:rPr lang="en-US" sz="2400" dirty="0"/>
              <a:t>Example</a:t>
            </a:r>
          </a:p>
          <a:p>
            <a:pPr algn="just"/>
            <a:r>
              <a:rPr lang="en-US" sz="2400" dirty="0"/>
              <a:t>class Student:  </a:t>
            </a:r>
          </a:p>
          <a:p>
            <a:pPr algn="just"/>
            <a:r>
              <a:rPr lang="en-US" sz="2400" dirty="0"/>
              <a:t>    # Constructor - parameterized  </a:t>
            </a:r>
          </a:p>
          <a:p>
            <a:pPr algn="just"/>
            <a:r>
              <a:rPr lang="en-US" sz="2400" dirty="0"/>
              <a:t>    </a:t>
            </a:r>
            <a:r>
              <a:rPr lang="en-US" sz="2400" dirty="0" err="1"/>
              <a:t>def</a:t>
            </a:r>
            <a:r>
              <a:rPr lang="en-US" sz="2400" dirty="0"/>
              <a:t> __</a:t>
            </a:r>
            <a:r>
              <a:rPr lang="en-US" sz="2400" dirty="0" err="1"/>
              <a:t>init</a:t>
            </a:r>
            <a:r>
              <a:rPr lang="en-US" sz="2400" dirty="0"/>
              <a:t>__(self, name):  </a:t>
            </a:r>
          </a:p>
          <a:p>
            <a:pPr algn="just"/>
            <a:r>
              <a:rPr lang="en-US" sz="2400" dirty="0"/>
              <a:t>        print("This is parametrized constructor")  </a:t>
            </a:r>
          </a:p>
          <a:p>
            <a:pPr algn="just"/>
            <a:r>
              <a:rPr lang="en-US" sz="2400" dirty="0"/>
              <a:t>        </a:t>
            </a:r>
            <a:r>
              <a:rPr lang="en-US" sz="2400" dirty="0" err="1"/>
              <a:t>self.name</a:t>
            </a:r>
            <a:r>
              <a:rPr lang="en-US" sz="2400" dirty="0"/>
              <a:t> = name  </a:t>
            </a:r>
          </a:p>
          <a:p>
            <a:pPr algn="just"/>
            <a:r>
              <a:rPr lang="en-US" sz="2400" dirty="0"/>
              <a:t>    </a:t>
            </a:r>
            <a:r>
              <a:rPr lang="en-US" sz="2400" dirty="0" err="1"/>
              <a:t>def</a:t>
            </a:r>
            <a:r>
              <a:rPr lang="en-US" sz="2400" dirty="0"/>
              <a:t> show(self):  </a:t>
            </a:r>
          </a:p>
          <a:p>
            <a:pPr algn="just"/>
            <a:r>
              <a:rPr lang="en-US" sz="2400" dirty="0"/>
              <a:t>        print("Hello",</a:t>
            </a:r>
            <a:r>
              <a:rPr lang="en-US" sz="2400" dirty="0" err="1"/>
              <a:t>self.name</a:t>
            </a:r>
            <a:r>
              <a:rPr lang="en-US" sz="2400" dirty="0"/>
              <a:t>)  </a:t>
            </a:r>
          </a:p>
          <a:p>
            <a:pPr algn="just"/>
            <a:r>
              <a:rPr lang="en-US" sz="2400" dirty="0" err="1"/>
              <a:t>obj</a:t>
            </a:r>
            <a:r>
              <a:rPr lang="en-US" sz="2400" dirty="0"/>
              <a:t> = Student("John")  </a:t>
            </a:r>
          </a:p>
          <a:p>
            <a:pPr algn="just"/>
            <a:r>
              <a:rPr lang="en-US" sz="2400" dirty="0" err="1"/>
              <a:t>obj.show</a:t>
            </a:r>
            <a:r>
              <a:rPr lang="en-US" sz="2400" dirty="0"/>
              <a:t>()   </a:t>
            </a:r>
          </a:p>
          <a:p>
            <a:pPr algn="just"/>
            <a:r>
              <a:rPr lang="en-US" sz="2400" dirty="0"/>
              <a:t>Output:</a:t>
            </a:r>
          </a:p>
          <a:p>
            <a:pPr algn="just"/>
            <a:r>
              <a:rPr lang="en-US" sz="2400" dirty="0"/>
              <a:t>This is parametrized constructor</a:t>
            </a:r>
          </a:p>
          <a:p>
            <a:pPr algn="just"/>
            <a:r>
              <a:rPr lang="en-US" sz="2400" dirty="0"/>
              <a:t>Hello John</a:t>
            </a:r>
          </a:p>
        </p:txBody>
      </p:sp>
    </p:spTree>
    <p:extLst>
      <p:ext uri="{BB962C8B-B14F-4D97-AF65-F5344CB8AC3E}">
        <p14:creationId xmlns:p14="http://schemas.microsoft.com/office/powerpoint/2010/main" val="12785535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dirty="0"/>
          </a:p>
        </p:txBody>
      </p:sp>
      <p:sp>
        <p:nvSpPr>
          <p:cNvPr id="4" name="TextBox 3"/>
          <p:cNvSpPr txBox="1"/>
          <p:nvPr/>
        </p:nvSpPr>
        <p:spPr>
          <a:xfrm>
            <a:off x="228600" y="1066800"/>
            <a:ext cx="8763000" cy="3416320"/>
          </a:xfrm>
          <a:prstGeom prst="rect">
            <a:avLst/>
          </a:prstGeom>
          <a:noFill/>
        </p:spPr>
        <p:txBody>
          <a:bodyPr wrap="square" rtlCol="0">
            <a:spAutoFit/>
          </a:bodyPr>
          <a:lstStyle/>
          <a:p>
            <a:pPr algn="just"/>
            <a:r>
              <a:rPr lang="en-US" sz="2400" dirty="0"/>
              <a:t>class Person:</a:t>
            </a:r>
          </a:p>
          <a:p>
            <a:pPr algn="just"/>
            <a:r>
              <a:rPr lang="en-US" sz="2400" dirty="0"/>
              <a:t>  </a:t>
            </a:r>
            <a:r>
              <a:rPr lang="en-US" sz="2400" dirty="0" err="1"/>
              <a:t>def</a:t>
            </a:r>
            <a:r>
              <a:rPr lang="en-US" sz="2400" dirty="0"/>
              <a:t> __</a:t>
            </a:r>
            <a:r>
              <a:rPr lang="en-US" sz="2400" dirty="0" err="1"/>
              <a:t>init</a:t>
            </a:r>
            <a:r>
              <a:rPr lang="en-US" sz="2400" dirty="0"/>
              <a:t>__(self, name, age):</a:t>
            </a:r>
          </a:p>
          <a:p>
            <a:pPr algn="just"/>
            <a:r>
              <a:rPr lang="en-US" sz="2400" dirty="0"/>
              <a:t>    </a:t>
            </a:r>
            <a:r>
              <a:rPr lang="en-US" sz="2400" dirty="0" err="1"/>
              <a:t>self.name</a:t>
            </a:r>
            <a:r>
              <a:rPr lang="en-US" sz="2400" dirty="0"/>
              <a:t> = name</a:t>
            </a:r>
          </a:p>
          <a:p>
            <a:pPr algn="just"/>
            <a:r>
              <a:rPr lang="en-US" sz="2400" dirty="0"/>
              <a:t>	</a:t>
            </a:r>
            <a:r>
              <a:rPr lang="en-US" sz="2400" dirty="0" err="1"/>
              <a:t>self.age</a:t>
            </a:r>
            <a:r>
              <a:rPr lang="en-US" sz="2400" dirty="0"/>
              <a:t> = age</a:t>
            </a:r>
          </a:p>
          <a:p>
            <a:pPr algn="just"/>
            <a:endParaRPr lang="en-US" sz="2400" dirty="0"/>
          </a:p>
          <a:p>
            <a:pPr algn="just"/>
            <a:r>
              <a:rPr lang="en-US" sz="2400" dirty="0" err="1"/>
              <a:t>p1</a:t>
            </a:r>
            <a:r>
              <a:rPr lang="en-US" sz="2400" dirty="0"/>
              <a:t> = Person("John", 36)</a:t>
            </a:r>
          </a:p>
          <a:p>
            <a:pPr algn="just"/>
            <a:endParaRPr lang="en-US" sz="2400" dirty="0"/>
          </a:p>
          <a:p>
            <a:pPr algn="just"/>
            <a:r>
              <a:rPr lang="en-US" sz="2400" dirty="0"/>
              <a:t>print(</a:t>
            </a:r>
            <a:r>
              <a:rPr lang="en-US" sz="2400" dirty="0" err="1"/>
              <a:t>p1.name</a:t>
            </a:r>
            <a:r>
              <a:rPr lang="en-US" sz="2400" dirty="0"/>
              <a:t>)</a:t>
            </a:r>
          </a:p>
          <a:p>
            <a:pPr algn="just"/>
            <a:r>
              <a:rPr lang="en-US" sz="2400" dirty="0"/>
              <a:t>print(</a:t>
            </a:r>
            <a:r>
              <a:rPr lang="en-US" sz="2400" dirty="0" err="1"/>
              <a:t>p1.age</a:t>
            </a:r>
            <a:r>
              <a:rPr lang="en-US" sz="2400" dirty="0"/>
              <a:t>)</a:t>
            </a:r>
          </a:p>
        </p:txBody>
      </p:sp>
    </p:spTree>
    <p:extLst>
      <p:ext uri="{BB962C8B-B14F-4D97-AF65-F5344CB8AC3E}">
        <p14:creationId xmlns:p14="http://schemas.microsoft.com/office/powerpoint/2010/main" val="40208187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dirty="0"/>
          </a:p>
        </p:txBody>
      </p:sp>
      <p:sp>
        <p:nvSpPr>
          <p:cNvPr id="4" name="TextBox 3"/>
          <p:cNvSpPr txBox="1"/>
          <p:nvPr/>
        </p:nvSpPr>
        <p:spPr>
          <a:xfrm>
            <a:off x="228600" y="1066800"/>
            <a:ext cx="8763000" cy="3416320"/>
          </a:xfrm>
          <a:prstGeom prst="rect">
            <a:avLst/>
          </a:prstGeom>
          <a:noFill/>
        </p:spPr>
        <p:txBody>
          <a:bodyPr wrap="square" rtlCol="0">
            <a:spAutoFit/>
          </a:bodyPr>
          <a:lstStyle/>
          <a:p>
            <a:pPr algn="just"/>
            <a:r>
              <a:rPr lang="en-US" sz="2400" dirty="0"/>
              <a:t>#DEFAULT CONSTRUCTOR</a:t>
            </a:r>
          </a:p>
          <a:p>
            <a:pPr algn="just"/>
            <a:r>
              <a:rPr lang="en-US" sz="2400" dirty="0"/>
              <a:t>class Employee:    </a:t>
            </a:r>
          </a:p>
          <a:p>
            <a:pPr algn="just"/>
            <a:r>
              <a:rPr lang="en-US" sz="2400" dirty="0"/>
              <a:t>    id = 10   </a:t>
            </a:r>
          </a:p>
          <a:p>
            <a:pPr algn="just"/>
            <a:r>
              <a:rPr lang="en-US" sz="2400" dirty="0"/>
              <a:t>    name = "John"    </a:t>
            </a:r>
          </a:p>
          <a:p>
            <a:pPr algn="just"/>
            <a:r>
              <a:rPr lang="en-US" sz="2400" dirty="0"/>
              <a:t>    </a:t>
            </a:r>
            <a:r>
              <a:rPr lang="en-US" sz="2400" dirty="0" err="1"/>
              <a:t>def</a:t>
            </a:r>
            <a:r>
              <a:rPr lang="en-US" sz="2400" dirty="0"/>
              <a:t> display (self):    </a:t>
            </a:r>
          </a:p>
          <a:p>
            <a:pPr algn="just"/>
            <a:r>
              <a:rPr lang="en-US" sz="2400" dirty="0"/>
              <a:t>        print("ID: %d \</a:t>
            </a:r>
            <a:r>
              <a:rPr lang="en-US" sz="2400" dirty="0" err="1"/>
              <a:t>nName</a:t>
            </a:r>
            <a:r>
              <a:rPr lang="en-US" sz="2400" dirty="0"/>
              <a:t>: %s"%(</a:t>
            </a:r>
            <a:r>
              <a:rPr lang="en-US" sz="2400" dirty="0" err="1"/>
              <a:t>self.id,self.name</a:t>
            </a:r>
            <a:r>
              <a:rPr lang="en-US" sz="2400" dirty="0"/>
              <a:t>))    </a:t>
            </a:r>
          </a:p>
          <a:p>
            <a:pPr algn="just"/>
            <a:r>
              <a:rPr lang="en-US" sz="2400" dirty="0"/>
              <a:t># Creating a </a:t>
            </a:r>
            <a:r>
              <a:rPr lang="en-US" sz="2400" dirty="0" err="1"/>
              <a:t>emp</a:t>
            </a:r>
            <a:r>
              <a:rPr lang="en-US" sz="2400" dirty="0"/>
              <a:t> instance of Employee class  </a:t>
            </a:r>
          </a:p>
          <a:p>
            <a:pPr algn="just"/>
            <a:r>
              <a:rPr lang="en-US" sz="2400" dirty="0" err="1"/>
              <a:t>emp</a:t>
            </a:r>
            <a:r>
              <a:rPr lang="en-US" sz="2400" dirty="0"/>
              <a:t> = Employee()    </a:t>
            </a:r>
          </a:p>
          <a:p>
            <a:pPr algn="just"/>
            <a:r>
              <a:rPr lang="en-US" sz="2400" dirty="0" err="1"/>
              <a:t>emp.display</a:t>
            </a:r>
            <a:r>
              <a:rPr lang="en-US" sz="2400" dirty="0"/>
              <a:t>() </a:t>
            </a:r>
          </a:p>
        </p:txBody>
      </p:sp>
    </p:spTree>
    <p:extLst>
      <p:ext uri="{BB962C8B-B14F-4D97-AF65-F5344CB8AC3E}">
        <p14:creationId xmlns:p14="http://schemas.microsoft.com/office/powerpoint/2010/main" val="20555759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Examples</a:t>
            </a:r>
            <a:endParaRPr lang="en-US" dirty="0"/>
          </a:p>
        </p:txBody>
      </p:sp>
      <p:sp>
        <p:nvSpPr>
          <p:cNvPr id="4" name="TextBox 3"/>
          <p:cNvSpPr txBox="1"/>
          <p:nvPr/>
        </p:nvSpPr>
        <p:spPr>
          <a:xfrm>
            <a:off x="228600" y="1066800"/>
            <a:ext cx="8763000" cy="5262979"/>
          </a:xfrm>
          <a:prstGeom prst="rect">
            <a:avLst/>
          </a:prstGeom>
          <a:noFill/>
        </p:spPr>
        <p:txBody>
          <a:bodyPr wrap="square" rtlCol="0">
            <a:spAutoFit/>
          </a:bodyPr>
          <a:lstStyle/>
          <a:p>
            <a:pPr algn="just"/>
            <a:r>
              <a:rPr lang="en-US" sz="2400" dirty="0"/>
              <a:t>#PARAMETRIZED </a:t>
            </a:r>
            <a:r>
              <a:rPr lang="en-US" sz="2400" dirty="0" err="1"/>
              <a:t>CONSTRCTOR</a:t>
            </a:r>
            <a:endParaRPr lang="en-US" sz="2400" dirty="0"/>
          </a:p>
          <a:p>
            <a:pPr algn="just"/>
            <a:r>
              <a:rPr lang="en-US" sz="2400" dirty="0" smtClean="0"/>
              <a:t>class </a:t>
            </a:r>
            <a:r>
              <a:rPr lang="en-US" sz="2400" dirty="0"/>
              <a:t>Employee:  </a:t>
            </a:r>
          </a:p>
          <a:p>
            <a:pPr algn="just"/>
            <a:r>
              <a:rPr lang="en-US" sz="2400" dirty="0"/>
              <a:t>    </a:t>
            </a:r>
            <a:r>
              <a:rPr lang="en-US" sz="2400" dirty="0" err="1"/>
              <a:t>def</a:t>
            </a:r>
            <a:r>
              <a:rPr lang="en-US" sz="2400" dirty="0"/>
              <a:t> __</a:t>
            </a:r>
            <a:r>
              <a:rPr lang="en-US" sz="2400" dirty="0" err="1"/>
              <a:t>init</a:t>
            </a:r>
            <a:r>
              <a:rPr lang="en-US" sz="2400" dirty="0"/>
              <a:t>__(self, name, id):  </a:t>
            </a:r>
          </a:p>
          <a:p>
            <a:pPr algn="just"/>
            <a:r>
              <a:rPr lang="en-US" sz="2400" dirty="0"/>
              <a:t>        </a:t>
            </a:r>
            <a:r>
              <a:rPr lang="en-US" sz="2400" dirty="0" err="1"/>
              <a:t>self.id</a:t>
            </a:r>
            <a:r>
              <a:rPr lang="en-US" sz="2400" dirty="0"/>
              <a:t> = id  </a:t>
            </a:r>
          </a:p>
          <a:p>
            <a:pPr algn="just"/>
            <a:r>
              <a:rPr lang="en-US" sz="2400" dirty="0"/>
              <a:t>        </a:t>
            </a:r>
            <a:r>
              <a:rPr lang="en-US" sz="2400" dirty="0" err="1"/>
              <a:t>self.name</a:t>
            </a:r>
            <a:r>
              <a:rPr lang="en-US" sz="2400" dirty="0"/>
              <a:t> = name  </a:t>
            </a:r>
          </a:p>
          <a:p>
            <a:pPr algn="just"/>
            <a:r>
              <a:rPr lang="en-US" sz="2400" dirty="0"/>
              <a:t>  </a:t>
            </a:r>
          </a:p>
          <a:p>
            <a:pPr algn="just"/>
            <a:r>
              <a:rPr lang="en-US" sz="2400" dirty="0"/>
              <a:t>    </a:t>
            </a:r>
            <a:r>
              <a:rPr lang="en-US" sz="2400" dirty="0" err="1"/>
              <a:t>def</a:t>
            </a:r>
            <a:r>
              <a:rPr lang="en-US" sz="2400" dirty="0"/>
              <a:t> display(self):  </a:t>
            </a:r>
          </a:p>
          <a:p>
            <a:pPr algn="just"/>
            <a:r>
              <a:rPr lang="en-US" sz="2400" dirty="0"/>
              <a:t>        print("ID: %d \</a:t>
            </a:r>
            <a:r>
              <a:rPr lang="en-US" sz="2400" dirty="0" err="1"/>
              <a:t>nName</a:t>
            </a:r>
            <a:r>
              <a:rPr lang="en-US" sz="2400" dirty="0"/>
              <a:t>: %s" % (</a:t>
            </a:r>
            <a:r>
              <a:rPr lang="en-US" sz="2400" dirty="0" err="1"/>
              <a:t>self.id</a:t>
            </a:r>
            <a:r>
              <a:rPr lang="en-US" sz="2400" dirty="0"/>
              <a:t>, </a:t>
            </a:r>
            <a:r>
              <a:rPr lang="en-US" sz="2400" dirty="0" err="1"/>
              <a:t>self.name</a:t>
            </a:r>
            <a:r>
              <a:rPr lang="en-US" sz="2400" dirty="0"/>
              <a:t>))  </a:t>
            </a:r>
          </a:p>
          <a:p>
            <a:pPr algn="just"/>
            <a:r>
              <a:rPr lang="en-US" sz="2400" dirty="0" err="1" smtClean="0"/>
              <a:t>emp1</a:t>
            </a:r>
            <a:r>
              <a:rPr lang="en-US" sz="2400" dirty="0" smtClean="0"/>
              <a:t> </a:t>
            </a:r>
            <a:r>
              <a:rPr lang="en-US" sz="2400" dirty="0"/>
              <a:t>= Employee("John", 101)  </a:t>
            </a:r>
          </a:p>
          <a:p>
            <a:pPr algn="just"/>
            <a:r>
              <a:rPr lang="en-US" sz="2400" dirty="0" err="1"/>
              <a:t>emp2</a:t>
            </a:r>
            <a:r>
              <a:rPr lang="en-US" sz="2400" dirty="0"/>
              <a:t> = Employee("David", 102)  </a:t>
            </a:r>
          </a:p>
          <a:p>
            <a:pPr algn="just"/>
            <a:r>
              <a:rPr lang="en-US" sz="2400" dirty="0" smtClean="0"/>
              <a:t># </a:t>
            </a:r>
            <a:r>
              <a:rPr lang="en-US" sz="2400" dirty="0"/>
              <a:t>accessing display() method to print employee 1 information  </a:t>
            </a:r>
          </a:p>
          <a:p>
            <a:pPr algn="just"/>
            <a:r>
              <a:rPr lang="en-US" sz="2400" dirty="0" err="1" smtClean="0"/>
              <a:t>emp1.display</a:t>
            </a:r>
            <a:r>
              <a:rPr lang="en-US" sz="2400" dirty="0"/>
              <a:t>()  </a:t>
            </a:r>
          </a:p>
          <a:p>
            <a:pPr algn="just"/>
            <a:r>
              <a:rPr lang="en-US" sz="2400" dirty="0" smtClean="0"/>
              <a:t># </a:t>
            </a:r>
            <a:r>
              <a:rPr lang="en-US" sz="2400" dirty="0"/>
              <a:t>accessing display() method to print employee 2 information  </a:t>
            </a:r>
          </a:p>
          <a:p>
            <a:pPr algn="just"/>
            <a:r>
              <a:rPr lang="en-US" sz="2400" dirty="0" err="1"/>
              <a:t>emp2.display</a:t>
            </a:r>
            <a:r>
              <a:rPr lang="en-US" sz="2400" dirty="0"/>
              <a:t>() </a:t>
            </a:r>
          </a:p>
        </p:txBody>
      </p:sp>
    </p:spTree>
    <p:extLst>
      <p:ext uri="{BB962C8B-B14F-4D97-AF65-F5344CB8AC3E}">
        <p14:creationId xmlns:p14="http://schemas.microsoft.com/office/powerpoint/2010/main" val="25741888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Self in Python</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Self represents the instance of the class. By using the “self”  we can access the attributes and methods of the class in Python. </a:t>
            </a:r>
          </a:p>
          <a:p>
            <a:pPr marL="342900" indent="-342900" algn="just">
              <a:buFont typeface="Arial" panose="020B0604020202020204" pitchFamily="34" charset="0"/>
              <a:buChar char="•"/>
            </a:pPr>
            <a:r>
              <a:rPr lang="en-US" sz="2800" dirty="0"/>
              <a:t>It binds the attributes with the given arguments. </a:t>
            </a:r>
          </a:p>
          <a:p>
            <a:pPr marL="342900" indent="-342900" algn="just">
              <a:buFont typeface="Arial" panose="020B0604020202020204" pitchFamily="34" charset="0"/>
              <a:buChar char="•"/>
            </a:pPr>
            <a:r>
              <a:rPr lang="en-US" sz="2800" dirty="0"/>
              <a:t>The reason you need to use self. is because Python does not use the @ syntax to refer to instance </a:t>
            </a:r>
            <a:r>
              <a:rPr lang="en-US" sz="2800" dirty="0" smtClean="0"/>
              <a:t>attributes</a:t>
            </a:r>
          </a:p>
          <a:p>
            <a:pPr marL="342900" indent="-342900" algn="just">
              <a:buFont typeface="Arial" panose="020B0604020202020204" pitchFamily="34" charset="0"/>
              <a:buChar char="•"/>
            </a:pPr>
            <a:r>
              <a:rPr lang="en-US" sz="2800" dirty="0"/>
              <a:t>When working with classes in Python, the term “self” refers to the instance of the class that is currently being used</a:t>
            </a:r>
            <a:r>
              <a:rPr lang="en-US" sz="2800" dirty="0" smtClean="0"/>
              <a:t>.</a:t>
            </a:r>
            <a:endParaRPr lang="en-US" sz="2800" dirty="0"/>
          </a:p>
        </p:txBody>
      </p:sp>
    </p:spTree>
    <p:extLst>
      <p:ext uri="{BB962C8B-B14F-4D97-AF65-F5344CB8AC3E}">
        <p14:creationId xmlns:p14="http://schemas.microsoft.com/office/powerpoint/2010/main" val="32681667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Self in Python</a:t>
            </a:r>
            <a:endParaRPr lang="en-US" dirty="0"/>
          </a:p>
        </p:txBody>
      </p:sp>
      <p:sp>
        <p:nvSpPr>
          <p:cNvPr id="4" name="TextBox 3"/>
          <p:cNvSpPr txBox="1"/>
          <p:nvPr/>
        </p:nvSpPr>
        <p:spPr>
          <a:xfrm>
            <a:off x="228600" y="1066800"/>
            <a:ext cx="8763000" cy="3108543"/>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It is customary to use “self” as the first parameter in instance methods of a class. </a:t>
            </a:r>
          </a:p>
          <a:p>
            <a:pPr marL="342900" indent="-342900" algn="just">
              <a:buFont typeface="Arial" panose="020B0604020202020204" pitchFamily="34" charset="0"/>
              <a:buChar char="•"/>
            </a:pPr>
            <a:r>
              <a:rPr lang="en-US" sz="2800" dirty="0"/>
              <a:t>Whenever you call a method of an object created from a class, the object is automatically passed as the first argument using the “self” parameter. </a:t>
            </a:r>
          </a:p>
          <a:p>
            <a:pPr marL="342900" indent="-342900" algn="just">
              <a:buFont typeface="Arial" panose="020B0604020202020204" pitchFamily="34" charset="0"/>
              <a:buChar char="•"/>
            </a:pPr>
            <a:r>
              <a:rPr lang="en-US" sz="2800" dirty="0"/>
              <a:t>This enables you to modify the object’s properties and execute tasks unique to that particular instance</a:t>
            </a:r>
            <a:r>
              <a:rPr lang="en-US" sz="2800" dirty="0" smtClean="0"/>
              <a:t>.</a:t>
            </a:r>
            <a:endParaRPr lang="en-US" sz="2800" dirty="0"/>
          </a:p>
        </p:txBody>
      </p:sp>
    </p:spTree>
    <p:extLst>
      <p:ext uri="{BB962C8B-B14F-4D97-AF65-F5344CB8AC3E}">
        <p14:creationId xmlns:p14="http://schemas.microsoft.com/office/powerpoint/2010/main" val="42566612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Self in Python</a:t>
            </a:r>
            <a:endParaRPr lang="en-US" dirty="0"/>
          </a:p>
        </p:txBody>
      </p:sp>
      <p:sp>
        <p:nvSpPr>
          <p:cNvPr id="4" name="TextBox 3"/>
          <p:cNvSpPr txBox="1"/>
          <p:nvPr/>
        </p:nvSpPr>
        <p:spPr>
          <a:xfrm>
            <a:off x="228600" y="1066800"/>
            <a:ext cx="8763000" cy="5693866"/>
          </a:xfrm>
          <a:prstGeom prst="rect">
            <a:avLst/>
          </a:prstGeom>
          <a:noFill/>
        </p:spPr>
        <p:txBody>
          <a:bodyPr wrap="square" rtlCol="0">
            <a:spAutoFit/>
          </a:bodyPr>
          <a:lstStyle/>
          <a:p>
            <a:pPr algn="just"/>
            <a:r>
              <a:rPr lang="en-US" sz="2800" dirty="0"/>
              <a:t>class </a:t>
            </a:r>
            <a:r>
              <a:rPr lang="en-US" sz="2800" dirty="0" err="1"/>
              <a:t>mynumber</a:t>
            </a:r>
            <a:r>
              <a:rPr lang="en-US" sz="2800" dirty="0"/>
              <a:t>:</a:t>
            </a:r>
          </a:p>
          <a:p>
            <a:pPr algn="just"/>
            <a:r>
              <a:rPr lang="en-US" sz="2800" dirty="0"/>
              <a:t>    </a:t>
            </a:r>
            <a:r>
              <a:rPr lang="en-US" sz="2800" dirty="0" err="1"/>
              <a:t>def</a:t>
            </a:r>
            <a:r>
              <a:rPr lang="en-US" sz="2800" dirty="0"/>
              <a:t> __</a:t>
            </a:r>
            <a:r>
              <a:rPr lang="en-US" sz="2800" dirty="0" err="1"/>
              <a:t>init</a:t>
            </a:r>
            <a:r>
              <a:rPr lang="en-US" sz="2800" dirty="0"/>
              <a:t>__(self, value):</a:t>
            </a:r>
          </a:p>
          <a:p>
            <a:pPr algn="just"/>
            <a:r>
              <a:rPr lang="en-US" sz="2800" dirty="0"/>
              <a:t>        </a:t>
            </a:r>
            <a:r>
              <a:rPr lang="en-US" sz="2800" dirty="0" err="1"/>
              <a:t>self.value</a:t>
            </a:r>
            <a:r>
              <a:rPr lang="en-US" sz="2800" dirty="0"/>
              <a:t> = value</a:t>
            </a:r>
          </a:p>
          <a:p>
            <a:pPr algn="just"/>
            <a:r>
              <a:rPr lang="en-US" sz="2800" dirty="0"/>
              <a:t>     </a:t>
            </a:r>
          </a:p>
          <a:p>
            <a:pPr algn="just"/>
            <a:r>
              <a:rPr lang="en-US" sz="2800" dirty="0"/>
              <a:t>    </a:t>
            </a:r>
            <a:r>
              <a:rPr lang="en-US" sz="2800" dirty="0" err="1"/>
              <a:t>def</a:t>
            </a:r>
            <a:r>
              <a:rPr lang="en-US" sz="2800" dirty="0"/>
              <a:t> </a:t>
            </a:r>
            <a:r>
              <a:rPr lang="en-US" sz="2800" dirty="0" err="1"/>
              <a:t>print_value</a:t>
            </a:r>
            <a:r>
              <a:rPr lang="en-US" sz="2800" dirty="0"/>
              <a:t>(self):</a:t>
            </a:r>
          </a:p>
          <a:p>
            <a:pPr algn="just"/>
            <a:r>
              <a:rPr lang="en-US" sz="2800" dirty="0"/>
              <a:t>        print(</a:t>
            </a:r>
            <a:r>
              <a:rPr lang="en-US" sz="2800" dirty="0" err="1"/>
              <a:t>self.value</a:t>
            </a:r>
            <a:r>
              <a:rPr lang="en-US" sz="2800" dirty="0"/>
              <a:t>)</a:t>
            </a:r>
          </a:p>
          <a:p>
            <a:pPr algn="just"/>
            <a:r>
              <a:rPr lang="en-US" sz="2800" dirty="0"/>
              <a:t> </a:t>
            </a:r>
          </a:p>
          <a:p>
            <a:pPr algn="just"/>
            <a:r>
              <a:rPr lang="en-US" sz="2800" dirty="0" err="1"/>
              <a:t>obj1</a:t>
            </a:r>
            <a:r>
              <a:rPr lang="en-US" sz="2800" dirty="0"/>
              <a:t> = </a:t>
            </a:r>
            <a:r>
              <a:rPr lang="en-US" sz="2800" dirty="0" err="1"/>
              <a:t>mynumber</a:t>
            </a:r>
            <a:r>
              <a:rPr lang="en-US" sz="2800" dirty="0"/>
              <a:t>(17)</a:t>
            </a:r>
          </a:p>
          <a:p>
            <a:pPr algn="just"/>
            <a:r>
              <a:rPr lang="en-US" sz="2800" dirty="0" err="1"/>
              <a:t>obj1.print_value</a:t>
            </a:r>
            <a:r>
              <a:rPr lang="en-US" sz="2800" dirty="0" smtClean="0"/>
              <a:t>()</a:t>
            </a:r>
          </a:p>
          <a:p>
            <a:pPr algn="just"/>
            <a:endParaRPr lang="en-US" sz="2800" dirty="0"/>
          </a:p>
          <a:p>
            <a:pPr algn="just"/>
            <a:endParaRPr lang="en-US" sz="2800" dirty="0" smtClean="0"/>
          </a:p>
          <a:p>
            <a:pPr algn="just"/>
            <a:r>
              <a:rPr lang="en-US" sz="2800" dirty="0" smtClean="0"/>
              <a:t>Output:</a:t>
            </a:r>
          </a:p>
          <a:p>
            <a:pPr algn="just"/>
            <a:r>
              <a:rPr lang="en-US" sz="2800" dirty="0" smtClean="0"/>
              <a:t>17</a:t>
            </a:r>
            <a:endParaRPr lang="en-US" sz="2800" dirty="0"/>
          </a:p>
        </p:txBody>
      </p:sp>
    </p:spTree>
    <p:extLst>
      <p:ext uri="{BB962C8B-B14F-4D97-AF65-F5344CB8AC3E}">
        <p14:creationId xmlns:p14="http://schemas.microsoft.com/office/powerpoint/2010/main" val="4572601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Instance variable in python</a:t>
            </a:r>
            <a:endParaRPr lang="en-US" dirty="0"/>
          </a:p>
        </p:txBody>
      </p:sp>
      <p:sp>
        <p:nvSpPr>
          <p:cNvPr id="4" name="TextBox 3"/>
          <p:cNvSpPr txBox="1"/>
          <p:nvPr/>
        </p:nvSpPr>
        <p:spPr>
          <a:xfrm>
            <a:off x="228600" y="1066800"/>
            <a:ext cx="8763000"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If the value of a variable varies from object to object, then such variables are called instance variables. For every object, a separate copy of the instance variable will be created.</a:t>
            </a:r>
          </a:p>
          <a:p>
            <a:pPr marL="457200" indent="-457200" algn="just">
              <a:buFont typeface="Arial" panose="020B0604020202020204" pitchFamily="34" charset="0"/>
              <a:buChar char="•"/>
            </a:pPr>
            <a:r>
              <a:rPr lang="en-US" sz="2800" dirty="0"/>
              <a:t>Instance variables are not shared by objects. Every object has its own copy of the instance attribute. This means that for each object of a class, the instance variable value is </a:t>
            </a:r>
            <a:r>
              <a:rPr lang="en-US" sz="2800" dirty="0" smtClean="0"/>
              <a:t>different.</a:t>
            </a:r>
          </a:p>
          <a:p>
            <a:pPr marL="457200" indent="-457200" algn="just">
              <a:buFont typeface="Arial" panose="020B0604020202020204" pitchFamily="34" charset="0"/>
              <a:buChar char="•"/>
            </a:pPr>
            <a:r>
              <a:rPr lang="en-US" sz="2800" dirty="0" smtClean="0">
                <a:solidFill>
                  <a:srgbClr val="222222"/>
                </a:solidFill>
                <a:cs typeface="Arial" pitchFamily="34" charset="0"/>
              </a:rPr>
              <a:t>When </a:t>
            </a:r>
            <a:r>
              <a:rPr lang="en-US" sz="2800" dirty="0">
                <a:solidFill>
                  <a:srgbClr val="222222"/>
                </a:solidFill>
                <a:cs typeface="Arial" pitchFamily="34" charset="0"/>
              </a:rPr>
              <a:t>we create classes in Python, instance methods are used regularly. we need to create an object to execute the block of code or action defined in the instance </a:t>
            </a:r>
            <a:r>
              <a:rPr lang="en-US" sz="2800" dirty="0" smtClean="0">
                <a:solidFill>
                  <a:srgbClr val="222222"/>
                </a:solidFill>
                <a:cs typeface="Arial" pitchFamily="34" charset="0"/>
              </a:rPr>
              <a:t>method</a:t>
            </a:r>
            <a:r>
              <a:rPr lang="en-US" sz="2800" dirty="0">
                <a:solidFill>
                  <a:srgbClr val="222222"/>
                </a:solidFill>
                <a:cs typeface="Arial" pitchFamily="34" charset="0"/>
              </a:rPr>
              <a:t>.</a:t>
            </a:r>
            <a:endParaRPr lang="en-US" sz="2800" dirty="0">
              <a:cs typeface="Arial" pitchFamily="34" charset="0"/>
            </a:endParaRPr>
          </a:p>
        </p:txBody>
      </p:sp>
    </p:spTree>
    <p:extLst>
      <p:ext uri="{BB962C8B-B14F-4D97-AF65-F5344CB8AC3E}">
        <p14:creationId xmlns:p14="http://schemas.microsoft.com/office/powerpoint/2010/main" val="8485416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Instance variable in python</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Instance variables are used within the instance method. We use the instance method to perform a set of actions on the data/value provided by the instance variable.</a:t>
            </a:r>
          </a:p>
          <a:p>
            <a:pPr marL="457200" indent="-457200" algn="just">
              <a:buFont typeface="Arial" panose="020B0604020202020204" pitchFamily="34" charset="0"/>
              <a:buChar char="•"/>
            </a:pPr>
            <a:r>
              <a:rPr lang="en-US" sz="2800" dirty="0"/>
              <a:t>We can access the instance variable using the object and dot (.) operator.</a:t>
            </a:r>
          </a:p>
          <a:p>
            <a:pPr marL="457200" indent="-457200" algn="just">
              <a:buFont typeface="Arial" panose="020B0604020202020204" pitchFamily="34" charset="0"/>
              <a:buChar char="•"/>
            </a:pPr>
            <a:r>
              <a:rPr lang="en-US" sz="2800" dirty="0"/>
              <a:t>In Python, to work with an instance variable and method, we use the self keyword. We use the self keyword as the first parameter to a method. The self refers to the current object</a:t>
            </a:r>
            <a:r>
              <a:rPr lang="en-US" sz="2800" dirty="0" smtClean="0"/>
              <a:t>.</a:t>
            </a:r>
            <a:endParaRPr lang="en-US" sz="2800" dirty="0"/>
          </a:p>
        </p:txBody>
      </p:sp>
    </p:spTree>
    <p:extLst>
      <p:ext uri="{BB962C8B-B14F-4D97-AF65-F5344CB8AC3E}">
        <p14:creationId xmlns:p14="http://schemas.microsoft.com/office/powerpoint/2010/main" val="27348826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Instance variable in python</a:t>
            </a:r>
            <a:endParaRPr lang="en-US" dirty="0"/>
          </a:p>
        </p:txBody>
      </p:sp>
      <p:pic>
        <p:nvPicPr>
          <p:cNvPr id="5" name="Picture 2" descr="Declare Instance variable in Python"/>
          <p:cNvPicPr>
            <a:picLocks noChangeAspect="1" noChangeArrowheads="1"/>
          </p:cNvPicPr>
          <p:nvPr/>
        </p:nvPicPr>
        <p:blipFill>
          <a:blip r:embed="rId2"/>
          <a:srcRect/>
          <a:stretch>
            <a:fillRect/>
          </a:stretch>
        </p:blipFill>
        <p:spPr bwMode="auto">
          <a:xfrm>
            <a:off x="1143000" y="1066800"/>
            <a:ext cx="7086600" cy="5570184"/>
          </a:xfrm>
          <a:prstGeom prst="rect">
            <a:avLst/>
          </a:prstGeom>
          <a:noFill/>
        </p:spPr>
      </p:pic>
    </p:spTree>
    <p:extLst>
      <p:ext uri="{BB962C8B-B14F-4D97-AF65-F5344CB8AC3E}">
        <p14:creationId xmlns:p14="http://schemas.microsoft.com/office/powerpoint/2010/main" val="3497404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Instance method in python</a:t>
            </a:r>
            <a:endParaRPr lang="en-US" dirty="0"/>
          </a:p>
        </p:txBody>
      </p:sp>
      <p:sp>
        <p:nvSpPr>
          <p:cNvPr id="4" name="TextBox 3"/>
          <p:cNvSpPr txBox="1"/>
          <p:nvPr/>
        </p:nvSpPr>
        <p:spPr>
          <a:xfrm>
            <a:off x="228600" y="1066800"/>
            <a:ext cx="8763000" cy="3108543"/>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Instance </a:t>
            </a:r>
            <a:r>
              <a:rPr lang="en-US" sz="2800" dirty="0"/>
              <a:t>methods: Used to access or modify the object state. If we use instance variables inside a method, such methods are called instance methods. It must have a self parameter to refer to the current object</a:t>
            </a:r>
            <a:r>
              <a:rPr lang="en-US" sz="2800" dirty="0" smtClean="0"/>
              <a:t>.</a:t>
            </a:r>
            <a:endParaRPr lang="en-US" sz="2800" dirty="0"/>
          </a:p>
          <a:p>
            <a:pPr marL="457200" indent="-457200" algn="just">
              <a:buFont typeface="Arial" panose="020B0604020202020204" pitchFamily="34" charset="0"/>
              <a:buChar char="•"/>
            </a:pPr>
            <a:r>
              <a:rPr lang="en-US" sz="2800" dirty="0"/>
              <a:t>Any method we create in a class will automatically be created as an instance method unless we explicitly tell Python that it is a class or static method</a:t>
            </a:r>
            <a:r>
              <a:rPr lang="en-US" sz="2800" dirty="0" smtClean="0"/>
              <a:t>.</a:t>
            </a:r>
            <a:endParaRPr lang="en-US" sz="2800" dirty="0"/>
          </a:p>
        </p:txBody>
      </p:sp>
    </p:spTree>
    <p:extLst>
      <p:ext uri="{BB962C8B-B14F-4D97-AF65-F5344CB8AC3E}">
        <p14:creationId xmlns:p14="http://schemas.microsoft.com/office/powerpoint/2010/main" val="33831885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Instance method in python</a:t>
            </a:r>
            <a:endParaRPr lang="en-US" dirty="0"/>
          </a:p>
        </p:txBody>
      </p:sp>
      <p:pic>
        <p:nvPicPr>
          <p:cNvPr id="5" name="Picture 2" descr="Instance method in Python"/>
          <p:cNvPicPr>
            <a:picLocks noChangeAspect="1" noChangeArrowheads="1"/>
          </p:cNvPicPr>
          <p:nvPr/>
        </p:nvPicPr>
        <p:blipFill>
          <a:blip r:embed="rId2"/>
          <a:srcRect/>
          <a:stretch>
            <a:fillRect/>
          </a:stretch>
        </p:blipFill>
        <p:spPr bwMode="auto">
          <a:xfrm>
            <a:off x="1143000" y="1066800"/>
            <a:ext cx="7391400" cy="5316621"/>
          </a:xfrm>
          <a:prstGeom prst="rect">
            <a:avLst/>
          </a:prstGeom>
          <a:noFill/>
        </p:spPr>
      </p:pic>
    </p:spTree>
    <p:extLst>
      <p:ext uri="{BB962C8B-B14F-4D97-AF65-F5344CB8AC3E}">
        <p14:creationId xmlns:p14="http://schemas.microsoft.com/office/powerpoint/2010/main" val="27139442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Important Note :</a:t>
            </a:r>
            <a:endParaRPr lang="en-US" dirty="0"/>
          </a:p>
        </p:txBody>
      </p:sp>
      <p:sp>
        <p:nvSpPr>
          <p:cNvPr id="4" name="TextBox 3"/>
          <p:cNvSpPr txBox="1"/>
          <p:nvPr/>
        </p:nvSpPr>
        <p:spPr>
          <a:xfrm>
            <a:off x="228600" y="1066800"/>
            <a:ext cx="8763000" cy="440120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Inside any instance method, we can use self to access any data or method that reside in our class. We are unable to access it without a self parameter</a:t>
            </a:r>
            <a:r>
              <a:rPr lang="en-US" sz="2800" dirty="0" smtClean="0"/>
              <a:t>.</a:t>
            </a:r>
            <a:endParaRPr lang="en-US" sz="2800" dirty="0"/>
          </a:p>
          <a:p>
            <a:pPr marL="457200" indent="-457200" algn="just">
              <a:buFont typeface="Arial" panose="020B0604020202020204" pitchFamily="34" charset="0"/>
              <a:buChar char="•"/>
            </a:pPr>
            <a:r>
              <a:rPr lang="en-US" sz="2800" dirty="0"/>
              <a:t>An instance method can freely access attributes and even modify the value of attributes of an object by using the self parameter</a:t>
            </a:r>
            <a:r>
              <a:rPr lang="en-US" sz="2800" dirty="0" smtClean="0"/>
              <a:t>.</a:t>
            </a:r>
            <a:endParaRPr lang="en-US" sz="2800" dirty="0"/>
          </a:p>
          <a:p>
            <a:pPr marL="457200" indent="-457200" algn="just">
              <a:buFont typeface="Arial" panose="020B0604020202020204" pitchFamily="34" charset="0"/>
              <a:buChar char="•"/>
            </a:pPr>
            <a:r>
              <a:rPr lang="en-US" sz="2800" dirty="0"/>
              <a:t>By Using </a:t>
            </a:r>
            <a:r>
              <a:rPr lang="en-US" sz="2800" dirty="0" err="1"/>
              <a:t>self.__class</a:t>
            </a:r>
            <a:r>
              <a:rPr lang="en-US" sz="2800" dirty="0"/>
              <a:t>__ attribute we can access the class attributes and change the class state. Therefore instance method gives us control of changing the object as well as the class state.</a:t>
            </a:r>
          </a:p>
        </p:txBody>
      </p:sp>
    </p:spTree>
    <p:extLst>
      <p:ext uri="{BB962C8B-B14F-4D97-AF65-F5344CB8AC3E}">
        <p14:creationId xmlns:p14="http://schemas.microsoft.com/office/powerpoint/2010/main" val="313698895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Variable in python</a:t>
            </a:r>
            <a:endParaRPr lang="en-US" dirty="0"/>
          </a:p>
        </p:txBody>
      </p:sp>
      <p:sp>
        <p:nvSpPr>
          <p:cNvPr id="4" name="TextBox 3"/>
          <p:cNvSpPr txBox="1"/>
          <p:nvPr/>
        </p:nvSpPr>
        <p:spPr>
          <a:xfrm>
            <a:off x="228600" y="1066800"/>
            <a:ext cx="8763000"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If </a:t>
            </a:r>
            <a:r>
              <a:rPr lang="en-US" sz="2800" dirty="0"/>
              <a:t>the value of a variable is not varied from object to object, such types of variables are called class variables or static variables.</a:t>
            </a:r>
          </a:p>
          <a:p>
            <a:pPr marL="457200" indent="-457200" algn="just">
              <a:buFont typeface="Arial" panose="020B0604020202020204" pitchFamily="34" charset="0"/>
              <a:buChar char="•"/>
            </a:pPr>
            <a:r>
              <a:rPr lang="en-US" sz="2800" dirty="0" smtClean="0"/>
              <a:t>Class </a:t>
            </a:r>
            <a:r>
              <a:rPr lang="en-US" sz="2800" dirty="0"/>
              <a:t>variables are shared by all instances of a class. Unlike instance variable, the value of a class variable is not varied from object to object.</a:t>
            </a:r>
          </a:p>
          <a:p>
            <a:pPr marL="457200" indent="-457200" algn="just">
              <a:buFont typeface="Arial" panose="020B0604020202020204" pitchFamily="34" charset="0"/>
              <a:buChar char="•"/>
            </a:pPr>
            <a:r>
              <a:rPr lang="en-US" sz="2800" dirty="0" smtClean="0"/>
              <a:t>A </a:t>
            </a:r>
            <a:r>
              <a:rPr lang="en-US" sz="2800" dirty="0"/>
              <a:t>class variable is declared inside of class, but outside of any instance method or __</a:t>
            </a:r>
            <a:r>
              <a:rPr lang="en-US" sz="2800" dirty="0" err="1"/>
              <a:t>init</a:t>
            </a:r>
            <a:r>
              <a:rPr lang="en-US" sz="2800" dirty="0"/>
              <a:t>__() method</a:t>
            </a:r>
            <a:r>
              <a:rPr lang="en-US" sz="2800" dirty="0" smtClean="0"/>
              <a:t>.</a:t>
            </a:r>
            <a:endParaRPr lang="en-US" sz="2800" dirty="0"/>
          </a:p>
        </p:txBody>
      </p:sp>
    </p:spTree>
    <p:extLst>
      <p:ext uri="{BB962C8B-B14F-4D97-AF65-F5344CB8AC3E}">
        <p14:creationId xmlns:p14="http://schemas.microsoft.com/office/powerpoint/2010/main" val="5156154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Variable in python</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sz="2400" dirty="0"/>
              <a:t>class Student:</a:t>
            </a:r>
          </a:p>
          <a:p>
            <a:r>
              <a:rPr lang="en-US" sz="2400" dirty="0"/>
              <a:t>    # Class variable</a:t>
            </a:r>
          </a:p>
          <a:p>
            <a:r>
              <a:rPr lang="en-US" sz="2400" dirty="0"/>
              <a:t>    </a:t>
            </a:r>
            <a:r>
              <a:rPr lang="en-US" sz="2400" dirty="0" err="1"/>
              <a:t>school_name</a:t>
            </a:r>
            <a:r>
              <a:rPr lang="en-US" sz="2400" dirty="0"/>
              <a:t> = 'ABC School '</a:t>
            </a:r>
          </a:p>
          <a:p>
            <a:r>
              <a:rPr lang="en-US" sz="2400" dirty="0" smtClean="0"/>
              <a:t>    </a:t>
            </a:r>
            <a:r>
              <a:rPr lang="en-US" sz="2400" dirty="0" err="1"/>
              <a:t>def</a:t>
            </a:r>
            <a:r>
              <a:rPr lang="en-US" sz="2400" dirty="0"/>
              <a:t> __</a:t>
            </a:r>
            <a:r>
              <a:rPr lang="en-US" sz="2400" dirty="0" err="1"/>
              <a:t>init</a:t>
            </a:r>
            <a:r>
              <a:rPr lang="en-US" sz="2400" dirty="0"/>
              <a:t>__(self, name, </a:t>
            </a:r>
            <a:r>
              <a:rPr lang="en-US" sz="2400" dirty="0" err="1"/>
              <a:t>roll_no</a:t>
            </a:r>
            <a:r>
              <a:rPr lang="en-US" sz="2400" dirty="0"/>
              <a:t>):</a:t>
            </a:r>
          </a:p>
          <a:p>
            <a:r>
              <a:rPr lang="en-US" sz="2400" dirty="0"/>
              <a:t>        </a:t>
            </a:r>
            <a:r>
              <a:rPr lang="en-US" sz="2400" dirty="0" err="1"/>
              <a:t>self.name</a:t>
            </a:r>
            <a:r>
              <a:rPr lang="en-US" sz="2400" dirty="0"/>
              <a:t> = name</a:t>
            </a:r>
          </a:p>
          <a:p>
            <a:r>
              <a:rPr lang="en-US" sz="2400" dirty="0"/>
              <a:t>        </a:t>
            </a:r>
            <a:r>
              <a:rPr lang="en-US" sz="2400" dirty="0" err="1"/>
              <a:t>self.roll_no</a:t>
            </a:r>
            <a:r>
              <a:rPr lang="en-US" sz="2400" dirty="0"/>
              <a:t> = </a:t>
            </a:r>
            <a:r>
              <a:rPr lang="en-US" sz="2400" dirty="0" err="1"/>
              <a:t>roll_no</a:t>
            </a:r>
            <a:endParaRPr lang="en-US" sz="2400" dirty="0"/>
          </a:p>
          <a:p>
            <a:endParaRPr lang="en-US" sz="2400" dirty="0" smtClean="0"/>
          </a:p>
          <a:p>
            <a:r>
              <a:rPr lang="en-US" sz="2400" dirty="0" smtClean="0"/>
              <a:t># </a:t>
            </a:r>
            <a:r>
              <a:rPr lang="en-US" sz="2400" dirty="0"/>
              <a:t>create first object</a:t>
            </a:r>
          </a:p>
          <a:p>
            <a:r>
              <a:rPr lang="en-US" sz="2400" dirty="0" err="1"/>
              <a:t>s1</a:t>
            </a:r>
            <a:r>
              <a:rPr lang="en-US" sz="2400" dirty="0"/>
              <a:t> = Student('Emma', 10)</a:t>
            </a:r>
          </a:p>
          <a:p>
            <a:r>
              <a:rPr lang="en-US" sz="2400" dirty="0"/>
              <a:t>print(</a:t>
            </a:r>
            <a:r>
              <a:rPr lang="en-US" sz="2400" dirty="0" err="1"/>
              <a:t>s1.name</a:t>
            </a:r>
            <a:r>
              <a:rPr lang="en-US" sz="2400" dirty="0"/>
              <a:t>, </a:t>
            </a:r>
            <a:r>
              <a:rPr lang="en-US" sz="2400" dirty="0" err="1"/>
              <a:t>s1.roll_no</a:t>
            </a:r>
            <a:r>
              <a:rPr lang="en-US" sz="2400" dirty="0"/>
              <a:t>, </a:t>
            </a:r>
            <a:r>
              <a:rPr lang="en-US" sz="2400" dirty="0" err="1"/>
              <a:t>Student.school_name</a:t>
            </a:r>
            <a:r>
              <a:rPr lang="en-US" sz="2400" dirty="0"/>
              <a:t>)</a:t>
            </a:r>
          </a:p>
          <a:p>
            <a:r>
              <a:rPr lang="en-US" sz="2400" dirty="0"/>
              <a:t># access class variable</a:t>
            </a:r>
          </a:p>
          <a:p>
            <a:r>
              <a:rPr lang="en-US" sz="2400" dirty="0" smtClean="0"/>
              <a:t># </a:t>
            </a:r>
            <a:r>
              <a:rPr lang="en-US" sz="2400" dirty="0"/>
              <a:t>create second object</a:t>
            </a:r>
          </a:p>
          <a:p>
            <a:r>
              <a:rPr lang="en-US" sz="2400" dirty="0" err="1"/>
              <a:t>s2</a:t>
            </a:r>
            <a:r>
              <a:rPr lang="en-US" sz="2400" dirty="0"/>
              <a:t> = Student('Jessa', 20)</a:t>
            </a:r>
          </a:p>
          <a:p>
            <a:r>
              <a:rPr lang="en-US" sz="2400" dirty="0"/>
              <a:t># access class variable</a:t>
            </a:r>
          </a:p>
          <a:p>
            <a:r>
              <a:rPr lang="en-US" sz="2400" dirty="0"/>
              <a:t>print(</a:t>
            </a:r>
            <a:r>
              <a:rPr lang="en-US" sz="2400" dirty="0" err="1"/>
              <a:t>s2.name</a:t>
            </a:r>
            <a:r>
              <a:rPr lang="en-US" sz="2400" dirty="0"/>
              <a:t>, </a:t>
            </a:r>
            <a:r>
              <a:rPr lang="en-US" sz="2400" dirty="0" err="1"/>
              <a:t>s2.roll_no</a:t>
            </a:r>
            <a:r>
              <a:rPr lang="en-US" sz="2400" dirty="0"/>
              <a:t>, </a:t>
            </a:r>
            <a:r>
              <a:rPr lang="en-US" sz="2400" dirty="0" err="1"/>
              <a:t>Student.school_name</a:t>
            </a:r>
            <a:r>
              <a:rPr lang="en-US" sz="2400" dirty="0"/>
              <a:t>)</a:t>
            </a:r>
          </a:p>
        </p:txBody>
      </p:sp>
    </p:spTree>
    <p:extLst>
      <p:ext uri="{BB962C8B-B14F-4D97-AF65-F5344CB8AC3E}">
        <p14:creationId xmlns:p14="http://schemas.microsoft.com/office/powerpoint/2010/main" val="32819261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Variable in python</a:t>
            </a:r>
            <a:endParaRPr lang="en-US" dirty="0"/>
          </a:p>
        </p:txBody>
      </p:sp>
      <p:sp>
        <p:nvSpPr>
          <p:cNvPr id="4" name="TextBox 3"/>
          <p:cNvSpPr txBox="1"/>
          <p:nvPr/>
        </p:nvSpPr>
        <p:spPr>
          <a:xfrm>
            <a:off x="228600" y="1066800"/>
            <a:ext cx="8763000" cy="5262979"/>
          </a:xfrm>
          <a:prstGeom prst="rect">
            <a:avLst/>
          </a:prstGeom>
          <a:noFill/>
        </p:spPr>
        <p:txBody>
          <a:bodyPr wrap="square" rtlCol="0">
            <a:spAutoFit/>
          </a:bodyPr>
          <a:lstStyle/>
          <a:p>
            <a:r>
              <a:rPr lang="en-US" sz="2400" dirty="0"/>
              <a:t>Example : Access Class Variable in the constructor</a:t>
            </a:r>
          </a:p>
          <a:p>
            <a:endParaRPr lang="en-US" sz="2400" dirty="0"/>
          </a:p>
          <a:p>
            <a:r>
              <a:rPr lang="en-US" sz="2400" dirty="0"/>
              <a:t>class Student:</a:t>
            </a:r>
          </a:p>
          <a:p>
            <a:r>
              <a:rPr lang="en-US" sz="2400" dirty="0"/>
              <a:t>    # Class variable</a:t>
            </a:r>
          </a:p>
          <a:p>
            <a:r>
              <a:rPr lang="en-US" sz="2400" dirty="0"/>
              <a:t>    </a:t>
            </a:r>
            <a:r>
              <a:rPr lang="en-US" sz="2400" dirty="0" err="1"/>
              <a:t>school_name</a:t>
            </a:r>
            <a:r>
              <a:rPr lang="en-US" sz="2400" dirty="0"/>
              <a:t> = 'ABC School ‘</a:t>
            </a:r>
          </a:p>
          <a:p>
            <a:r>
              <a:rPr lang="en-US" sz="2400" dirty="0"/>
              <a:t>    # constructor</a:t>
            </a:r>
          </a:p>
          <a:p>
            <a:r>
              <a:rPr lang="en-US" sz="2400" dirty="0"/>
              <a:t>    </a:t>
            </a:r>
            <a:r>
              <a:rPr lang="en-US" sz="2400" dirty="0" err="1"/>
              <a:t>def</a:t>
            </a:r>
            <a:r>
              <a:rPr lang="en-US" sz="2400" dirty="0"/>
              <a:t> __</a:t>
            </a:r>
            <a:r>
              <a:rPr lang="en-US" sz="2400" dirty="0" err="1"/>
              <a:t>init</a:t>
            </a:r>
            <a:r>
              <a:rPr lang="en-US" sz="2400" dirty="0"/>
              <a:t>__(self, name):</a:t>
            </a:r>
          </a:p>
          <a:p>
            <a:r>
              <a:rPr lang="en-US" sz="2400" dirty="0"/>
              <a:t>        </a:t>
            </a:r>
            <a:r>
              <a:rPr lang="en-US" sz="2400" dirty="0" err="1"/>
              <a:t>self.name</a:t>
            </a:r>
            <a:r>
              <a:rPr lang="en-US" sz="2400" dirty="0"/>
              <a:t> = name</a:t>
            </a:r>
          </a:p>
          <a:p>
            <a:r>
              <a:rPr lang="en-US" sz="2400" dirty="0"/>
              <a:t>        # access class variable inside constructor using self</a:t>
            </a:r>
          </a:p>
          <a:p>
            <a:r>
              <a:rPr lang="en-US" sz="2400" dirty="0"/>
              <a:t>        print(</a:t>
            </a:r>
            <a:r>
              <a:rPr lang="en-US" sz="2400" dirty="0" err="1"/>
              <a:t>self.school_name</a:t>
            </a:r>
            <a:r>
              <a:rPr lang="en-US" sz="2400" dirty="0"/>
              <a:t>)</a:t>
            </a:r>
          </a:p>
          <a:p>
            <a:r>
              <a:rPr lang="en-US" sz="2400" dirty="0"/>
              <a:t>        # access using class name</a:t>
            </a:r>
          </a:p>
          <a:p>
            <a:r>
              <a:rPr lang="en-US" sz="2400" dirty="0"/>
              <a:t>        print(</a:t>
            </a:r>
            <a:r>
              <a:rPr lang="en-US" sz="2400" dirty="0" err="1"/>
              <a:t>Student.school_name</a:t>
            </a:r>
            <a:r>
              <a:rPr lang="en-US" sz="2400" dirty="0"/>
              <a:t>)</a:t>
            </a:r>
          </a:p>
          <a:p>
            <a:r>
              <a:rPr lang="en-US" sz="2400" dirty="0"/>
              <a:t># create Object</a:t>
            </a:r>
          </a:p>
          <a:p>
            <a:r>
              <a:rPr lang="en-US" sz="2400" dirty="0" err="1"/>
              <a:t>s1</a:t>
            </a:r>
            <a:r>
              <a:rPr lang="en-US" sz="2400" dirty="0"/>
              <a:t> = Student('Emma')</a:t>
            </a:r>
          </a:p>
        </p:txBody>
      </p:sp>
    </p:spTree>
    <p:extLst>
      <p:ext uri="{BB962C8B-B14F-4D97-AF65-F5344CB8AC3E}">
        <p14:creationId xmlns:p14="http://schemas.microsoft.com/office/powerpoint/2010/main" val="2974859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Variable in python</a:t>
            </a:r>
            <a:endParaRPr lang="en-US" dirty="0"/>
          </a:p>
        </p:txBody>
      </p:sp>
      <p:sp>
        <p:nvSpPr>
          <p:cNvPr id="4" name="TextBox 3"/>
          <p:cNvSpPr txBox="1"/>
          <p:nvPr/>
        </p:nvSpPr>
        <p:spPr>
          <a:xfrm>
            <a:off x="228600" y="1066800"/>
            <a:ext cx="8763000" cy="5632311"/>
          </a:xfrm>
          <a:prstGeom prst="rect">
            <a:avLst/>
          </a:prstGeom>
          <a:noFill/>
        </p:spPr>
        <p:txBody>
          <a:bodyPr wrap="square" rtlCol="0">
            <a:spAutoFit/>
          </a:bodyPr>
          <a:lstStyle/>
          <a:p>
            <a:r>
              <a:rPr lang="en-US" sz="2400" dirty="0"/>
              <a:t>Example : Access Class Variable in Instance method and outside class</a:t>
            </a:r>
          </a:p>
          <a:p>
            <a:r>
              <a:rPr lang="en-US" sz="2400" dirty="0" smtClean="0"/>
              <a:t>class </a:t>
            </a:r>
            <a:r>
              <a:rPr lang="en-US" sz="2400" dirty="0"/>
              <a:t>Student:</a:t>
            </a:r>
          </a:p>
          <a:p>
            <a:r>
              <a:rPr lang="en-US" sz="2400" dirty="0"/>
              <a:t>    # Class variable</a:t>
            </a:r>
          </a:p>
          <a:p>
            <a:r>
              <a:rPr lang="en-US" sz="2400" dirty="0"/>
              <a:t>    </a:t>
            </a:r>
            <a:r>
              <a:rPr lang="en-US" sz="2400" dirty="0" err="1"/>
              <a:t>school_name</a:t>
            </a:r>
            <a:r>
              <a:rPr lang="en-US" sz="2400" dirty="0"/>
              <a:t> = 'ABC School ‘</a:t>
            </a:r>
          </a:p>
          <a:p>
            <a:r>
              <a:rPr lang="en-US" sz="2400" dirty="0"/>
              <a:t>    # constructor</a:t>
            </a:r>
          </a:p>
          <a:p>
            <a:r>
              <a:rPr lang="en-US" sz="2400" dirty="0"/>
              <a:t>    </a:t>
            </a:r>
            <a:r>
              <a:rPr lang="en-US" sz="2400" dirty="0" err="1"/>
              <a:t>def</a:t>
            </a:r>
            <a:r>
              <a:rPr lang="en-US" sz="2400" dirty="0"/>
              <a:t> __</a:t>
            </a:r>
            <a:r>
              <a:rPr lang="en-US" sz="2400" dirty="0" err="1"/>
              <a:t>init</a:t>
            </a:r>
            <a:r>
              <a:rPr lang="en-US" sz="2400" dirty="0"/>
              <a:t>__(self, name, </a:t>
            </a:r>
            <a:r>
              <a:rPr lang="en-US" sz="2400" dirty="0" err="1"/>
              <a:t>roll_no</a:t>
            </a:r>
            <a:r>
              <a:rPr lang="en-US" sz="2400" dirty="0"/>
              <a:t>):</a:t>
            </a:r>
          </a:p>
          <a:p>
            <a:r>
              <a:rPr lang="en-US" sz="2400" dirty="0"/>
              <a:t>        </a:t>
            </a:r>
            <a:r>
              <a:rPr lang="en-US" sz="2400" dirty="0" err="1"/>
              <a:t>self.name</a:t>
            </a:r>
            <a:r>
              <a:rPr lang="en-US" sz="2400" dirty="0"/>
              <a:t> = name</a:t>
            </a:r>
          </a:p>
          <a:p>
            <a:r>
              <a:rPr lang="en-US" sz="2400" dirty="0"/>
              <a:t>        </a:t>
            </a:r>
            <a:r>
              <a:rPr lang="en-US" sz="2400" dirty="0" err="1"/>
              <a:t>self.roll_no</a:t>
            </a:r>
            <a:r>
              <a:rPr lang="en-US" sz="2400" dirty="0"/>
              <a:t> = </a:t>
            </a:r>
            <a:r>
              <a:rPr lang="en-US" sz="2400" dirty="0" err="1"/>
              <a:t>roll_no</a:t>
            </a:r>
            <a:endParaRPr lang="en-US" sz="2400" dirty="0"/>
          </a:p>
          <a:p>
            <a:r>
              <a:rPr lang="en-US" sz="2400" dirty="0"/>
              <a:t>    # Instance </a:t>
            </a:r>
            <a:r>
              <a:rPr lang="en-US" sz="2400" dirty="0" smtClean="0"/>
              <a:t>method</a:t>
            </a:r>
          </a:p>
          <a:p>
            <a:r>
              <a:rPr lang="en-US" sz="2400" dirty="0"/>
              <a:t> </a:t>
            </a:r>
            <a:r>
              <a:rPr lang="en-US" sz="2400" dirty="0" smtClean="0"/>
              <a:t>   </a:t>
            </a:r>
            <a:r>
              <a:rPr lang="en-US" sz="2400" dirty="0" err="1" smtClean="0"/>
              <a:t>def</a:t>
            </a:r>
            <a:r>
              <a:rPr lang="en-US" sz="2400" dirty="0" smtClean="0"/>
              <a:t> </a:t>
            </a:r>
            <a:r>
              <a:rPr lang="en-US" sz="2400" dirty="0"/>
              <a:t>show(self):</a:t>
            </a:r>
          </a:p>
          <a:p>
            <a:r>
              <a:rPr lang="en-US" sz="2400" dirty="0"/>
              <a:t>        print('Inside instance method')</a:t>
            </a:r>
          </a:p>
          <a:p>
            <a:r>
              <a:rPr lang="en-US" sz="2400" dirty="0"/>
              <a:t>        # access using self</a:t>
            </a:r>
          </a:p>
          <a:p>
            <a:r>
              <a:rPr lang="en-US" sz="2400" dirty="0"/>
              <a:t>        print(</a:t>
            </a:r>
            <a:r>
              <a:rPr lang="en-US" sz="2400" dirty="0" err="1"/>
              <a:t>self.name</a:t>
            </a:r>
            <a:r>
              <a:rPr lang="en-US" sz="2400" dirty="0"/>
              <a:t>, </a:t>
            </a:r>
            <a:r>
              <a:rPr lang="en-US" sz="2400" dirty="0" err="1"/>
              <a:t>self.roll_no</a:t>
            </a:r>
            <a:r>
              <a:rPr lang="en-US" sz="2400" dirty="0"/>
              <a:t>, </a:t>
            </a:r>
            <a:r>
              <a:rPr lang="en-US" sz="2400" dirty="0" err="1"/>
              <a:t>self.school_name</a:t>
            </a:r>
            <a:r>
              <a:rPr lang="en-US" sz="2400" dirty="0"/>
              <a:t>)</a:t>
            </a:r>
          </a:p>
          <a:p>
            <a:r>
              <a:rPr lang="en-US" sz="2400" dirty="0"/>
              <a:t>        # access using class name</a:t>
            </a:r>
          </a:p>
          <a:p>
            <a:r>
              <a:rPr lang="en-US" sz="2400" dirty="0"/>
              <a:t>        print(</a:t>
            </a:r>
            <a:r>
              <a:rPr lang="en-US" sz="2400" dirty="0" err="1"/>
              <a:t>Student.school_name</a:t>
            </a:r>
            <a:r>
              <a:rPr lang="en-US" sz="2400" dirty="0" smtClean="0"/>
              <a:t>)</a:t>
            </a:r>
            <a:endParaRPr lang="en-US" sz="2400" dirty="0"/>
          </a:p>
        </p:txBody>
      </p:sp>
    </p:spTree>
    <p:extLst>
      <p:ext uri="{BB962C8B-B14F-4D97-AF65-F5344CB8AC3E}">
        <p14:creationId xmlns:p14="http://schemas.microsoft.com/office/powerpoint/2010/main" val="33537449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Variable in python</a:t>
            </a:r>
            <a:endParaRPr lang="en-US" dirty="0"/>
          </a:p>
        </p:txBody>
      </p:sp>
      <p:sp>
        <p:nvSpPr>
          <p:cNvPr id="4" name="TextBox 3"/>
          <p:cNvSpPr txBox="1"/>
          <p:nvPr/>
        </p:nvSpPr>
        <p:spPr>
          <a:xfrm>
            <a:off x="228600" y="1066800"/>
            <a:ext cx="8763000" cy="6001643"/>
          </a:xfrm>
          <a:prstGeom prst="rect">
            <a:avLst/>
          </a:prstGeom>
          <a:noFill/>
        </p:spPr>
        <p:txBody>
          <a:bodyPr wrap="square" rtlCol="0">
            <a:spAutoFit/>
          </a:bodyPr>
          <a:lstStyle/>
          <a:p>
            <a:r>
              <a:rPr lang="en-US" sz="2400" dirty="0"/>
              <a:t># create Object</a:t>
            </a:r>
          </a:p>
          <a:p>
            <a:r>
              <a:rPr lang="en-US" sz="2400" dirty="0" err="1"/>
              <a:t>s1</a:t>
            </a:r>
            <a:r>
              <a:rPr lang="en-US" sz="2400" dirty="0"/>
              <a:t> = Student('Emma', 10)</a:t>
            </a:r>
          </a:p>
          <a:p>
            <a:r>
              <a:rPr lang="en-US" sz="2400" dirty="0" err="1"/>
              <a:t>s1.show</a:t>
            </a:r>
            <a:r>
              <a:rPr lang="en-US" sz="2400" dirty="0"/>
              <a:t>()</a:t>
            </a:r>
          </a:p>
          <a:p>
            <a:r>
              <a:rPr lang="en-US" sz="2400" dirty="0"/>
              <a:t>print('Outside class')</a:t>
            </a:r>
          </a:p>
          <a:p>
            <a:r>
              <a:rPr lang="en-US" sz="2400" dirty="0"/>
              <a:t># access class variable outside class</a:t>
            </a:r>
          </a:p>
          <a:p>
            <a:r>
              <a:rPr lang="en-US" sz="2400" dirty="0"/>
              <a:t># access using object reference</a:t>
            </a:r>
          </a:p>
          <a:p>
            <a:r>
              <a:rPr lang="en-US" sz="2400" dirty="0"/>
              <a:t>print(</a:t>
            </a:r>
            <a:r>
              <a:rPr lang="en-US" sz="2400" dirty="0" err="1"/>
              <a:t>s1.school_name</a:t>
            </a:r>
            <a:r>
              <a:rPr lang="en-US" sz="2400" dirty="0"/>
              <a:t>)</a:t>
            </a:r>
          </a:p>
          <a:p>
            <a:r>
              <a:rPr lang="en-US" sz="2400" dirty="0"/>
              <a:t># access using class name</a:t>
            </a:r>
          </a:p>
          <a:p>
            <a:r>
              <a:rPr lang="en-US" sz="2400" dirty="0"/>
              <a:t>print(</a:t>
            </a:r>
            <a:r>
              <a:rPr lang="en-US" sz="2400" dirty="0" err="1"/>
              <a:t>Student.school_name</a:t>
            </a:r>
            <a:r>
              <a:rPr lang="en-US" sz="2400" dirty="0" smtClean="0"/>
              <a:t>)</a:t>
            </a:r>
          </a:p>
          <a:p>
            <a:r>
              <a:rPr lang="en-US" sz="2400" dirty="0" smtClean="0"/>
              <a:t>O/p.</a:t>
            </a:r>
          </a:p>
          <a:p>
            <a:pPr lvl="0" fontAlgn="base">
              <a:spcBef>
                <a:spcPct val="0"/>
              </a:spcBef>
              <a:spcAft>
                <a:spcPct val="0"/>
              </a:spcAft>
            </a:pPr>
            <a:r>
              <a:rPr lang="en-US" sz="2400" dirty="0" smtClean="0">
                <a:latin typeface="Calibri" pitchFamily="34" charset="0"/>
                <a:cs typeface="Calibri" pitchFamily="34" charset="0"/>
              </a:rPr>
              <a:t>Inside </a:t>
            </a:r>
            <a:r>
              <a:rPr lang="en-US" sz="2400" dirty="0">
                <a:latin typeface="Calibri" pitchFamily="34" charset="0"/>
                <a:cs typeface="Calibri" pitchFamily="34" charset="0"/>
              </a:rPr>
              <a:t>instance method</a:t>
            </a:r>
          </a:p>
          <a:p>
            <a:pPr lvl="0" fontAlgn="base">
              <a:spcBef>
                <a:spcPct val="0"/>
              </a:spcBef>
              <a:spcAft>
                <a:spcPct val="0"/>
              </a:spcAft>
            </a:pPr>
            <a:r>
              <a:rPr lang="en-US" sz="2400" dirty="0" smtClean="0">
                <a:latin typeface="Calibri" pitchFamily="34" charset="0"/>
                <a:cs typeface="Calibri" pitchFamily="34" charset="0"/>
              </a:rPr>
              <a:t>Emma </a:t>
            </a:r>
            <a:r>
              <a:rPr lang="en-US" sz="2400" dirty="0">
                <a:latin typeface="Calibri" pitchFamily="34" charset="0"/>
                <a:cs typeface="Calibri" pitchFamily="34" charset="0"/>
              </a:rPr>
              <a:t>10  ABC School </a:t>
            </a:r>
          </a:p>
          <a:p>
            <a:pPr lvl="0" fontAlgn="base">
              <a:spcBef>
                <a:spcPct val="0"/>
              </a:spcBef>
              <a:spcAft>
                <a:spcPct val="0"/>
              </a:spcAft>
            </a:pPr>
            <a:r>
              <a:rPr lang="en-US" sz="2400" dirty="0">
                <a:latin typeface="Calibri" pitchFamily="34" charset="0"/>
                <a:cs typeface="Calibri" pitchFamily="34" charset="0"/>
              </a:rPr>
              <a:t>ABC School </a:t>
            </a:r>
          </a:p>
          <a:p>
            <a:pPr lvl="0" fontAlgn="base">
              <a:spcBef>
                <a:spcPct val="0"/>
              </a:spcBef>
              <a:spcAft>
                <a:spcPct val="0"/>
              </a:spcAft>
            </a:pPr>
            <a:r>
              <a:rPr lang="en-US" sz="2400" dirty="0">
                <a:latin typeface="Calibri" pitchFamily="34" charset="0"/>
                <a:cs typeface="Calibri" pitchFamily="34" charset="0"/>
              </a:rPr>
              <a:t>Outside class </a:t>
            </a:r>
          </a:p>
          <a:p>
            <a:pPr lvl="0" fontAlgn="base">
              <a:spcBef>
                <a:spcPct val="0"/>
              </a:spcBef>
              <a:spcAft>
                <a:spcPct val="0"/>
              </a:spcAft>
            </a:pPr>
            <a:r>
              <a:rPr lang="en-US" sz="2400" dirty="0">
                <a:latin typeface="Calibri" pitchFamily="34" charset="0"/>
                <a:cs typeface="Calibri" pitchFamily="34" charset="0"/>
              </a:rPr>
              <a:t>ABC School</a:t>
            </a:r>
          </a:p>
          <a:p>
            <a:pPr lvl="0" fontAlgn="base">
              <a:spcBef>
                <a:spcPct val="0"/>
              </a:spcBef>
              <a:spcAft>
                <a:spcPct val="0"/>
              </a:spcAft>
            </a:pPr>
            <a:r>
              <a:rPr lang="en-US" sz="2400" dirty="0" smtClean="0">
                <a:latin typeface="Calibri" pitchFamily="34" charset="0"/>
                <a:cs typeface="Calibri" pitchFamily="34" charset="0"/>
              </a:rPr>
              <a:t>ABC </a:t>
            </a:r>
            <a:r>
              <a:rPr lang="en-US" sz="2400" dirty="0">
                <a:latin typeface="Calibri" pitchFamily="34" charset="0"/>
                <a:cs typeface="Calibri" pitchFamily="34" charset="0"/>
              </a:rPr>
              <a:t>School </a:t>
            </a:r>
            <a:endParaRPr lang="en-US" sz="4800" dirty="0">
              <a:latin typeface="Calibri" pitchFamily="34" charset="0"/>
              <a:cs typeface="Calibri" pitchFamily="34" charset="0"/>
            </a:endParaRPr>
          </a:p>
        </p:txBody>
      </p:sp>
    </p:spTree>
    <p:extLst>
      <p:ext uri="{BB962C8B-B14F-4D97-AF65-F5344CB8AC3E}">
        <p14:creationId xmlns:p14="http://schemas.microsoft.com/office/powerpoint/2010/main" val="21339897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Method in python</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Used </a:t>
            </a:r>
            <a:r>
              <a:rPr lang="en-US" sz="2800" dirty="0"/>
              <a:t>to access or modify the class state. In method implementation, if we use only class variables, then such type of methods we should declare as a class method. The class method has a </a:t>
            </a:r>
            <a:r>
              <a:rPr lang="en-US" sz="2800" dirty="0" err="1"/>
              <a:t>cls</a:t>
            </a:r>
            <a:r>
              <a:rPr lang="en-US" sz="2800" dirty="0"/>
              <a:t> parameter which refers to the class.</a:t>
            </a:r>
          </a:p>
          <a:p>
            <a:pPr marL="457200" indent="-457200" algn="just">
              <a:buFont typeface="Arial" panose="020B0604020202020204" pitchFamily="34" charset="0"/>
              <a:buChar char="•"/>
            </a:pPr>
            <a:r>
              <a:rPr lang="en-US" sz="2800" dirty="0"/>
              <a:t>A class method is bound to the class and not the object of the class. It can access only class variables.</a:t>
            </a:r>
          </a:p>
          <a:p>
            <a:pPr marL="457200" indent="-457200" algn="just">
              <a:buFont typeface="Arial" panose="020B0604020202020204" pitchFamily="34" charset="0"/>
              <a:buChar char="•"/>
            </a:pPr>
            <a:r>
              <a:rPr lang="en-US" sz="2800" dirty="0"/>
              <a:t>Class method works with the class since its parameter is always the class </a:t>
            </a:r>
            <a:r>
              <a:rPr lang="en-US" sz="2800" dirty="0" smtClean="0"/>
              <a:t>itself</a:t>
            </a:r>
            <a:r>
              <a:rPr lang="en-US" sz="2800" dirty="0"/>
              <a:t>.</a:t>
            </a:r>
          </a:p>
        </p:txBody>
      </p:sp>
    </p:spTree>
    <p:extLst>
      <p:ext uri="{BB962C8B-B14F-4D97-AF65-F5344CB8AC3E}">
        <p14:creationId xmlns:p14="http://schemas.microsoft.com/office/powerpoint/2010/main" val="5666970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Method in python</a:t>
            </a:r>
            <a:endParaRPr lang="en-US" dirty="0"/>
          </a:p>
        </p:txBody>
      </p:sp>
      <p:pic>
        <p:nvPicPr>
          <p:cNvPr id="5" name="Picture 2" descr="define class method"/>
          <p:cNvPicPr>
            <a:picLocks noChangeAspect="1" noChangeArrowheads="1"/>
          </p:cNvPicPr>
          <p:nvPr/>
        </p:nvPicPr>
        <p:blipFill>
          <a:blip r:embed="rId2"/>
          <a:srcRect/>
          <a:stretch>
            <a:fillRect/>
          </a:stretch>
        </p:blipFill>
        <p:spPr bwMode="auto">
          <a:xfrm>
            <a:off x="533400" y="990600"/>
            <a:ext cx="7846247" cy="5763173"/>
          </a:xfrm>
          <a:prstGeom prst="rect">
            <a:avLst/>
          </a:prstGeom>
          <a:noFill/>
        </p:spPr>
      </p:pic>
    </p:spTree>
    <p:extLst>
      <p:ext uri="{BB962C8B-B14F-4D97-AF65-F5344CB8AC3E}">
        <p14:creationId xmlns:p14="http://schemas.microsoft.com/office/powerpoint/2010/main" val="16661531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Method in python</a:t>
            </a:r>
            <a:endParaRPr lang="en-US" dirty="0"/>
          </a:p>
        </p:txBody>
      </p:sp>
      <p:sp>
        <p:nvSpPr>
          <p:cNvPr id="4" name="TextBox 3"/>
          <p:cNvSpPr txBox="1"/>
          <p:nvPr/>
        </p:nvSpPr>
        <p:spPr>
          <a:xfrm>
            <a:off x="228600" y="1066800"/>
            <a:ext cx="8763000" cy="440120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The class method can be called both by the class and its object.</a:t>
            </a:r>
          </a:p>
          <a:p>
            <a:pPr marL="457200" indent="-457200" algn="just">
              <a:buFont typeface="Arial" panose="020B0604020202020204" pitchFamily="34" charset="0"/>
              <a:buChar char="•"/>
            </a:pPr>
            <a:endParaRPr lang="en-US" sz="2800" dirty="0"/>
          </a:p>
          <a:p>
            <a:pPr algn="just"/>
            <a:r>
              <a:rPr lang="en-US" sz="2800" dirty="0" err="1"/>
              <a:t>Class.classmethod</a:t>
            </a:r>
            <a:r>
              <a:rPr lang="en-US" sz="2800" dirty="0"/>
              <a:t>() </a:t>
            </a:r>
          </a:p>
          <a:p>
            <a:pPr algn="just"/>
            <a:r>
              <a:rPr lang="en-US" sz="2800" dirty="0"/>
              <a:t>Or even </a:t>
            </a:r>
          </a:p>
          <a:p>
            <a:pPr algn="just"/>
            <a:r>
              <a:rPr lang="en-US" sz="2800" dirty="0"/>
              <a:t>Class().</a:t>
            </a:r>
            <a:r>
              <a:rPr lang="en-US" sz="2800" dirty="0" err="1"/>
              <a:t>classmethod</a:t>
            </a:r>
            <a:r>
              <a:rPr lang="en-US" sz="2800" dirty="0"/>
              <a:t>() </a:t>
            </a:r>
          </a:p>
          <a:p>
            <a:pPr marL="457200" indent="-457200" algn="just">
              <a:buFont typeface="Arial" panose="020B0604020202020204" pitchFamily="34" charset="0"/>
              <a:buChar char="•"/>
            </a:pPr>
            <a:r>
              <a:rPr lang="en-US" sz="2800" dirty="0"/>
              <a:t>But no matter what, the class method is always attached to a class with the first argument as the class itself </a:t>
            </a:r>
            <a:r>
              <a:rPr lang="en-US" sz="2800" dirty="0" err="1"/>
              <a:t>cls</a:t>
            </a:r>
            <a:r>
              <a:rPr lang="en-US" sz="2800" dirty="0"/>
              <a:t>.</a:t>
            </a:r>
          </a:p>
          <a:p>
            <a:pPr algn="just"/>
            <a:r>
              <a:rPr lang="en-US" sz="2800" dirty="0" err="1"/>
              <a:t>def</a:t>
            </a:r>
            <a:r>
              <a:rPr lang="en-US" sz="2800" dirty="0"/>
              <a:t> </a:t>
            </a:r>
            <a:r>
              <a:rPr lang="en-US" sz="2800" dirty="0" err="1"/>
              <a:t>classMethod</a:t>
            </a:r>
            <a:r>
              <a:rPr lang="en-US" sz="2800" dirty="0"/>
              <a:t>(</a:t>
            </a:r>
            <a:r>
              <a:rPr lang="en-US" sz="2800" dirty="0" err="1"/>
              <a:t>cls</a:t>
            </a:r>
            <a:r>
              <a:rPr lang="en-US" sz="2800" dirty="0"/>
              <a:t>, </a:t>
            </a:r>
            <a:r>
              <a:rPr lang="en-US" sz="2800" dirty="0" err="1"/>
              <a:t>args</a:t>
            </a:r>
            <a:r>
              <a:rPr lang="en-US" sz="2800" dirty="0"/>
              <a:t>...)</a:t>
            </a:r>
          </a:p>
        </p:txBody>
      </p:sp>
    </p:spTree>
    <p:extLst>
      <p:ext uri="{BB962C8B-B14F-4D97-AF65-F5344CB8AC3E}">
        <p14:creationId xmlns:p14="http://schemas.microsoft.com/office/powerpoint/2010/main" val="34310456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Class Method in python</a:t>
            </a:r>
            <a:endParaRPr lang="en-US" dirty="0"/>
          </a:p>
        </p:txBody>
      </p:sp>
      <p:sp>
        <p:nvSpPr>
          <p:cNvPr id="4" name="TextBox 3"/>
          <p:cNvSpPr txBox="1"/>
          <p:nvPr/>
        </p:nvSpPr>
        <p:spPr>
          <a:xfrm>
            <a:off x="228600" y="1066800"/>
            <a:ext cx="8763000" cy="5693866"/>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Example : Create class method using </a:t>
            </a:r>
            <a:r>
              <a:rPr lang="en-US" sz="2800" dirty="0" err="1"/>
              <a:t>classmethod</a:t>
            </a:r>
            <a:r>
              <a:rPr lang="en-US" sz="2800" dirty="0"/>
              <a:t>()</a:t>
            </a:r>
          </a:p>
          <a:p>
            <a:pPr marL="457200" indent="-457200" algn="just">
              <a:buFont typeface="Arial" panose="020B0604020202020204" pitchFamily="34" charset="0"/>
              <a:buChar char="•"/>
            </a:pPr>
            <a:endParaRPr lang="en-US" sz="2800" dirty="0"/>
          </a:p>
          <a:p>
            <a:pPr algn="just"/>
            <a:r>
              <a:rPr lang="en-US" sz="2800" dirty="0"/>
              <a:t>class Person: </a:t>
            </a:r>
          </a:p>
          <a:p>
            <a:pPr algn="just"/>
            <a:r>
              <a:rPr lang="en-US" sz="2800" dirty="0"/>
              <a:t>	age = 25 </a:t>
            </a:r>
          </a:p>
          <a:p>
            <a:pPr algn="just"/>
            <a:r>
              <a:rPr lang="en-US" sz="2800" dirty="0"/>
              <a:t>	</a:t>
            </a:r>
            <a:r>
              <a:rPr lang="en-US" sz="2800" dirty="0" err="1"/>
              <a:t>def</a:t>
            </a:r>
            <a:r>
              <a:rPr lang="en-US" sz="2800" dirty="0"/>
              <a:t> </a:t>
            </a:r>
            <a:r>
              <a:rPr lang="en-US" sz="2800" dirty="0" err="1"/>
              <a:t>printAge</a:t>
            </a:r>
            <a:r>
              <a:rPr lang="en-US" sz="2800" dirty="0"/>
              <a:t>(</a:t>
            </a:r>
            <a:r>
              <a:rPr lang="en-US" sz="2800" dirty="0" err="1"/>
              <a:t>cls</a:t>
            </a:r>
            <a:r>
              <a:rPr lang="en-US" sz="2800" dirty="0"/>
              <a:t>): </a:t>
            </a:r>
          </a:p>
          <a:p>
            <a:pPr algn="just"/>
            <a:r>
              <a:rPr lang="en-US" sz="2800" dirty="0"/>
              <a:t>		print('The age is:', </a:t>
            </a:r>
            <a:r>
              <a:rPr lang="en-US" sz="2800" dirty="0" err="1"/>
              <a:t>cls.age</a:t>
            </a:r>
            <a:r>
              <a:rPr lang="en-US" sz="2800" dirty="0"/>
              <a:t>) </a:t>
            </a:r>
          </a:p>
          <a:p>
            <a:pPr algn="just"/>
            <a:r>
              <a:rPr lang="en-US" sz="2800" dirty="0"/>
              <a:t># create </a:t>
            </a:r>
            <a:r>
              <a:rPr lang="en-US" sz="2800" dirty="0" err="1"/>
              <a:t>printAge</a:t>
            </a:r>
            <a:r>
              <a:rPr lang="en-US" sz="2800" dirty="0"/>
              <a:t> class method</a:t>
            </a:r>
          </a:p>
          <a:p>
            <a:pPr algn="just"/>
            <a:r>
              <a:rPr lang="en-US" sz="2800" dirty="0" err="1"/>
              <a:t>Person.printAge</a:t>
            </a:r>
            <a:r>
              <a:rPr lang="en-US" sz="2800" dirty="0"/>
              <a:t> = </a:t>
            </a:r>
            <a:r>
              <a:rPr lang="en-US" sz="2800" dirty="0" err="1"/>
              <a:t>classmethod</a:t>
            </a:r>
            <a:r>
              <a:rPr lang="en-US" sz="2800" dirty="0"/>
              <a:t>(</a:t>
            </a:r>
            <a:r>
              <a:rPr lang="en-US" sz="2800" dirty="0" err="1"/>
              <a:t>Person.printAge</a:t>
            </a:r>
            <a:r>
              <a:rPr lang="en-US" sz="2800" dirty="0"/>
              <a:t>)</a:t>
            </a:r>
          </a:p>
          <a:p>
            <a:pPr algn="just"/>
            <a:r>
              <a:rPr lang="en-US" sz="2800" dirty="0" err="1"/>
              <a:t>Person.printAge</a:t>
            </a:r>
            <a:r>
              <a:rPr lang="en-US" sz="2800" dirty="0" smtClean="0"/>
              <a:t>()</a:t>
            </a:r>
          </a:p>
          <a:p>
            <a:pPr algn="just"/>
            <a:endParaRPr lang="en-US" sz="2800" dirty="0"/>
          </a:p>
          <a:p>
            <a:pPr algn="just"/>
            <a:endParaRPr lang="en-US" sz="2800" dirty="0" smtClean="0"/>
          </a:p>
          <a:p>
            <a:pPr algn="just"/>
            <a:r>
              <a:rPr lang="en-US" sz="2800" dirty="0" smtClean="0"/>
              <a:t>O/p.</a:t>
            </a:r>
          </a:p>
          <a:p>
            <a:pPr algn="just"/>
            <a:r>
              <a:rPr lang="en-US" sz="2800" dirty="0" smtClean="0"/>
              <a:t>The Age is : 25</a:t>
            </a:r>
            <a:endParaRPr lang="en-US" sz="2800" dirty="0"/>
          </a:p>
        </p:txBody>
      </p:sp>
    </p:spTree>
    <p:extLst>
      <p:ext uri="{BB962C8B-B14F-4D97-AF65-F5344CB8AC3E}">
        <p14:creationId xmlns:p14="http://schemas.microsoft.com/office/powerpoint/2010/main" val="20575056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Important Points</a:t>
            </a:r>
            <a:endParaRPr lang="en-US" dirty="0"/>
          </a:p>
        </p:txBody>
      </p:sp>
      <p:sp>
        <p:nvSpPr>
          <p:cNvPr id="4" name="TextBox 3"/>
          <p:cNvSpPr txBox="1"/>
          <p:nvPr/>
        </p:nvSpPr>
        <p:spPr>
          <a:xfrm>
            <a:off x="228600" y="1066800"/>
            <a:ext cx="8763000" cy="5693866"/>
          </a:xfrm>
          <a:prstGeom prst="rect">
            <a:avLst/>
          </a:prstGeom>
          <a:noFill/>
        </p:spPr>
        <p:txBody>
          <a:bodyPr wrap="square" rtlCol="0">
            <a:spAutoFit/>
          </a:bodyPr>
          <a:lstStyle/>
          <a:p>
            <a:pPr marL="457200" lvl="0" indent="-457200" algn="just" fontAlgn="base">
              <a:spcBef>
                <a:spcPct val="0"/>
              </a:spcBef>
              <a:spcAft>
                <a:spcPct val="0"/>
              </a:spcAft>
              <a:buFont typeface="Arial" panose="020B0604020202020204" pitchFamily="34" charset="0"/>
              <a:buChar char="•"/>
            </a:pPr>
            <a:r>
              <a:rPr lang="en-US" sz="2800" dirty="0">
                <a:cs typeface="Arial" pitchFamily="34" charset="0"/>
              </a:rPr>
              <a:t>Here, we have a class Person, with a member variable age assigned to 25.</a:t>
            </a:r>
          </a:p>
          <a:p>
            <a:pPr marL="457200" lvl="0" indent="-457200" algn="just" eaLnBrk="0" fontAlgn="base" hangingPunct="0">
              <a:spcBef>
                <a:spcPct val="0"/>
              </a:spcBef>
              <a:spcAft>
                <a:spcPct val="0"/>
              </a:spcAft>
              <a:buFont typeface="Arial" panose="020B0604020202020204" pitchFamily="34" charset="0"/>
              <a:buChar char="•"/>
            </a:pPr>
            <a:r>
              <a:rPr lang="en-US" sz="2800" dirty="0">
                <a:cs typeface="Arial" pitchFamily="34" charset="0"/>
              </a:rPr>
              <a:t>We also have a function </a:t>
            </a:r>
            <a:r>
              <a:rPr lang="en-US" sz="2800" dirty="0" err="1">
                <a:cs typeface="Arial" pitchFamily="34" charset="0"/>
              </a:rPr>
              <a:t>printAge</a:t>
            </a:r>
            <a:r>
              <a:rPr lang="en-US" sz="2800" dirty="0">
                <a:cs typeface="Arial" pitchFamily="34" charset="0"/>
              </a:rPr>
              <a:t> that takes a single parameter </a:t>
            </a:r>
            <a:r>
              <a:rPr lang="en-US" sz="2800" dirty="0" err="1">
                <a:cs typeface="Arial" pitchFamily="34" charset="0"/>
              </a:rPr>
              <a:t>cls</a:t>
            </a:r>
            <a:r>
              <a:rPr lang="en-US" sz="2800" dirty="0">
                <a:cs typeface="Arial" pitchFamily="34" charset="0"/>
              </a:rPr>
              <a:t> and not self we usually take.</a:t>
            </a:r>
          </a:p>
          <a:p>
            <a:pPr marL="457200" lvl="0" indent="-457200" algn="just" eaLnBrk="0" fontAlgn="base" hangingPunct="0">
              <a:spcBef>
                <a:spcPct val="0"/>
              </a:spcBef>
              <a:spcAft>
                <a:spcPct val="0"/>
              </a:spcAft>
              <a:buFont typeface="Arial" panose="020B0604020202020204" pitchFamily="34" charset="0"/>
              <a:buChar char="•"/>
            </a:pPr>
            <a:r>
              <a:rPr lang="en-US" sz="2800" dirty="0" err="1">
                <a:cs typeface="Arial" pitchFamily="34" charset="0"/>
              </a:rPr>
              <a:t>cls</a:t>
            </a:r>
            <a:r>
              <a:rPr lang="en-US" sz="2800" dirty="0">
                <a:cs typeface="Arial" pitchFamily="34" charset="0"/>
              </a:rPr>
              <a:t> accepts the class Person as a parameter rather than Person's object/instance.</a:t>
            </a:r>
          </a:p>
          <a:p>
            <a:pPr marL="457200" lvl="0" indent="-457200" algn="just" eaLnBrk="0" fontAlgn="base" hangingPunct="0">
              <a:spcBef>
                <a:spcPct val="0"/>
              </a:spcBef>
              <a:spcAft>
                <a:spcPct val="0"/>
              </a:spcAft>
              <a:buFont typeface="Arial" panose="020B0604020202020204" pitchFamily="34" charset="0"/>
              <a:buChar char="•"/>
            </a:pPr>
            <a:r>
              <a:rPr lang="en-US" sz="2800" dirty="0">
                <a:cs typeface="Arial" pitchFamily="34" charset="0"/>
              </a:rPr>
              <a:t>Now, we pass the method </a:t>
            </a:r>
            <a:r>
              <a:rPr lang="en-US" sz="2800" dirty="0" err="1">
                <a:cs typeface="Arial" pitchFamily="34" charset="0"/>
              </a:rPr>
              <a:t>Person.printAge</a:t>
            </a:r>
            <a:r>
              <a:rPr lang="en-US" sz="2800" dirty="0">
                <a:cs typeface="Arial" pitchFamily="34" charset="0"/>
              </a:rPr>
              <a:t> as an argument to the function </a:t>
            </a:r>
            <a:r>
              <a:rPr lang="en-US" sz="2800" dirty="0" err="1">
                <a:cs typeface="Arial" pitchFamily="34" charset="0"/>
              </a:rPr>
              <a:t>classmethod</a:t>
            </a:r>
            <a:r>
              <a:rPr lang="en-US" sz="2800" dirty="0">
                <a:cs typeface="Arial" pitchFamily="34" charset="0"/>
              </a:rPr>
              <a:t>. This converts the method to a class method so that it accepts the first parameter as a class (i.e. Person).</a:t>
            </a:r>
          </a:p>
          <a:p>
            <a:pPr marL="457200" lvl="0" indent="-457200" algn="just" eaLnBrk="0" fontAlgn="base" hangingPunct="0">
              <a:spcBef>
                <a:spcPct val="0"/>
              </a:spcBef>
              <a:spcAft>
                <a:spcPct val="0"/>
              </a:spcAft>
              <a:buFont typeface="Arial" panose="020B0604020202020204" pitchFamily="34" charset="0"/>
              <a:buChar char="•"/>
            </a:pPr>
            <a:r>
              <a:rPr lang="en-US" sz="2800" dirty="0">
                <a:cs typeface="Arial" pitchFamily="34" charset="0"/>
              </a:rPr>
              <a:t>In the final line, we call </a:t>
            </a:r>
            <a:r>
              <a:rPr lang="en-US" sz="2800" dirty="0" err="1">
                <a:cs typeface="Arial" pitchFamily="34" charset="0"/>
              </a:rPr>
              <a:t>printAge</a:t>
            </a:r>
            <a:r>
              <a:rPr lang="en-US" sz="2800" dirty="0">
                <a:cs typeface="Arial" pitchFamily="34" charset="0"/>
              </a:rPr>
              <a:t> without creating a Person object like we do for static methods. This prints the class variable age.</a:t>
            </a:r>
          </a:p>
        </p:txBody>
      </p:sp>
    </p:spTree>
    <p:extLst>
      <p:ext uri="{BB962C8B-B14F-4D97-AF65-F5344CB8AC3E}">
        <p14:creationId xmlns:p14="http://schemas.microsoft.com/office/powerpoint/2010/main" val="5435636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Important Points</a:t>
            </a:r>
            <a:endParaRPr lang="en-US" dirty="0"/>
          </a:p>
        </p:txBody>
      </p:sp>
      <p:sp>
        <p:nvSpPr>
          <p:cNvPr id="4" name="TextBox 3"/>
          <p:cNvSpPr txBox="1"/>
          <p:nvPr/>
        </p:nvSpPr>
        <p:spPr>
          <a:xfrm>
            <a:off x="228600" y="1066800"/>
            <a:ext cx="8763000" cy="5693866"/>
          </a:xfrm>
          <a:prstGeom prst="rect">
            <a:avLst/>
          </a:prstGeom>
          <a:noFill/>
        </p:spPr>
        <p:txBody>
          <a:bodyPr wrap="square" rtlCol="0">
            <a:spAutoFit/>
          </a:bodyPr>
          <a:lstStyle/>
          <a:p>
            <a:pPr lvl="0" fontAlgn="base">
              <a:spcBef>
                <a:spcPct val="0"/>
              </a:spcBef>
              <a:spcAft>
                <a:spcPct val="0"/>
              </a:spcAft>
            </a:pPr>
            <a:r>
              <a:rPr lang="en-IN" sz="2800" dirty="0">
                <a:cs typeface="Arial" pitchFamily="34" charset="0"/>
              </a:rPr>
              <a:t>Example : ( simple class method)</a:t>
            </a:r>
            <a:endParaRPr lang="en-US" sz="2800" dirty="0">
              <a:cs typeface="Arial" pitchFamily="34" charset="0"/>
            </a:endParaRPr>
          </a:p>
          <a:p>
            <a:pPr lvl="0" fontAlgn="base">
              <a:spcBef>
                <a:spcPct val="0"/>
              </a:spcBef>
              <a:spcAft>
                <a:spcPct val="0"/>
              </a:spcAft>
            </a:pPr>
            <a:r>
              <a:rPr lang="en-US" sz="2800" dirty="0">
                <a:cs typeface="Arial" pitchFamily="34" charset="0"/>
              </a:rPr>
              <a:t>class </a:t>
            </a:r>
            <a:r>
              <a:rPr lang="en-US" sz="2800" dirty="0" err="1" smtClean="0">
                <a:cs typeface="Arial" pitchFamily="34" charset="0"/>
              </a:rPr>
              <a:t>mca</a:t>
            </a:r>
            <a:r>
              <a:rPr lang="en-US" sz="2800" dirty="0" smtClean="0">
                <a:cs typeface="Arial" pitchFamily="34" charset="0"/>
              </a:rPr>
              <a:t>:</a:t>
            </a:r>
            <a:endParaRPr lang="en-US" sz="2800" dirty="0">
              <a:cs typeface="Arial" pitchFamily="34" charset="0"/>
            </a:endParaRPr>
          </a:p>
          <a:p>
            <a:pPr lvl="0" eaLnBrk="0" fontAlgn="base" hangingPunct="0">
              <a:spcBef>
                <a:spcPct val="0"/>
              </a:spcBef>
              <a:spcAft>
                <a:spcPct val="0"/>
              </a:spcAft>
            </a:pPr>
            <a:r>
              <a:rPr lang="en-US" sz="2800" dirty="0">
                <a:cs typeface="Arial" pitchFamily="34" charset="0"/>
              </a:rPr>
              <a:t>    course = </a:t>
            </a:r>
            <a:r>
              <a:rPr lang="en-US" sz="2800" dirty="0" smtClean="0">
                <a:cs typeface="Arial" pitchFamily="34" charset="0"/>
              </a:rPr>
              <a:t>‘Python'</a:t>
            </a:r>
            <a:endParaRPr lang="en-US" sz="2800" dirty="0">
              <a:cs typeface="Arial" pitchFamily="34" charset="0"/>
            </a:endParaRPr>
          </a:p>
          <a:p>
            <a:pPr lvl="0" eaLnBrk="0" fontAlgn="base" hangingPunct="0">
              <a:spcBef>
                <a:spcPct val="0"/>
              </a:spcBef>
              <a:spcAft>
                <a:spcPct val="0"/>
              </a:spcAft>
            </a:pPr>
            <a:r>
              <a:rPr lang="en-US" sz="2800" dirty="0">
                <a:cs typeface="Arial" pitchFamily="34" charset="0"/>
              </a:rPr>
              <a:t> </a:t>
            </a:r>
          </a:p>
          <a:p>
            <a:pPr lvl="0" eaLnBrk="0" fontAlgn="base" hangingPunct="0">
              <a:spcBef>
                <a:spcPct val="0"/>
              </a:spcBef>
              <a:spcAft>
                <a:spcPct val="0"/>
              </a:spcAft>
            </a:pPr>
            <a:r>
              <a:rPr lang="en-US" sz="2800" dirty="0">
                <a:cs typeface="Arial" pitchFamily="34" charset="0"/>
              </a:rPr>
              <a:t>    </a:t>
            </a:r>
            <a:r>
              <a:rPr lang="en-US" sz="2800" dirty="0" err="1">
                <a:cs typeface="Arial" pitchFamily="34" charset="0"/>
              </a:rPr>
              <a:t>def</a:t>
            </a:r>
            <a:r>
              <a:rPr lang="en-US" sz="2800" dirty="0">
                <a:cs typeface="Arial" pitchFamily="34" charset="0"/>
              </a:rPr>
              <a:t> purchase(</a:t>
            </a:r>
            <a:r>
              <a:rPr lang="en-US" sz="2800" dirty="0" err="1">
                <a:cs typeface="Arial" pitchFamily="34" charset="0"/>
              </a:rPr>
              <a:t>obj</a:t>
            </a:r>
            <a:r>
              <a:rPr lang="en-US" sz="2800" dirty="0">
                <a:cs typeface="Arial" pitchFamily="34" charset="0"/>
              </a:rPr>
              <a:t>):</a:t>
            </a:r>
          </a:p>
          <a:p>
            <a:pPr lvl="0" eaLnBrk="0" fontAlgn="base" hangingPunct="0">
              <a:spcBef>
                <a:spcPct val="0"/>
              </a:spcBef>
              <a:spcAft>
                <a:spcPct val="0"/>
              </a:spcAft>
            </a:pPr>
            <a:r>
              <a:rPr lang="en-US" sz="2800" dirty="0">
                <a:cs typeface="Arial" pitchFamily="34" charset="0"/>
              </a:rPr>
              <a:t>        print("Purchase course : ", </a:t>
            </a:r>
            <a:r>
              <a:rPr lang="en-US" sz="2800" dirty="0" err="1">
                <a:cs typeface="Arial" pitchFamily="34" charset="0"/>
              </a:rPr>
              <a:t>obj.course</a:t>
            </a:r>
            <a:r>
              <a:rPr lang="en-US" sz="2800" dirty="0">
                <a:cs typeface="Arial" pitchFamily="34" charset="0"/>
              </a:rPr>
              <a:t>)</a:t>
            </a:r>
          </a:p>
          <a:p>
            <a:pPr lvl="0" eaLnBrk="0" fontAlgn="base" hangingPunct="0">
              <a:spcBef>
                <a:spcPct val="0"/>
              </a:spcBef>
              <a:spcAft>
                <a:spcPct val="0"/>
              </a:spcAft>
            </a:pPr>
            <a:endParaRPr lang="en-US" sz="2800" dirty="0">
              <a:cs typeface="Arial" pitchFamily="34" charset="0"/>
            </a:endParaRPr>
          </a:p>
          <a:p>
            <a:pPr lvl="0" eaLnBrk="0" fontAlgn="base" hangingPunct="0">
              <a:spcBef>
                <a:spcPct val="0"/>
              </a:spcBef>
              <a:spcAft>
                <a:spcPct val="0"/>
              </a:spcAft>
            </a:pPr>
            <a:r>
              <a:rPr lang="en-US" sz="2800" dirty="0" err="1" smtClean="0">
                <a:cs typeface="Arial" pitchFamily="34" charset="0"/>
              </a:rPr>
              <a:t>mca.purchase</a:t>
            </a:r>
            <a:r>
              <a:rPr lang="en-US" sz="2800" dirty="0" smtClean="0">
                <a:cs typeface="Arial" pitchFamily="34" charset="0"/>
              </a:rPr>
              <a:t> </a:t>
            </a:r>
            <a:r>
              <a:rPr lang="en-US" sz="2800" dirty="0">
                <a:cs typeface="Arial" pitchFamily="34" charset="0"/>
              </a:rPr>
              <a:t>= </a:t>
            </a:r>
            <a:r>
              <a:rPr lang="en-US" sz="2800" dirty="0" err="1" smtClean="0">
                <a:cs typeface="Arial" pitchFamily="34" charset="0"/>
              </a:rPr>
              <a:t>classmethod</a:t>
            </a:r>
            <a:r>
              <a:rPr lang="en-US" sz="2800" dirty="0" smtClean="0">
                <a:cs typeface="Arial" pitchFamily="34" charset="0"/>
              </a:rPr>
              <a:t>(</a:t>
            </a:r>
            <a:r>
              <a:rPr lang="en-US" sz="2800" dirty="0" err="1" smtClean="0">
                <a:cs typeface="Arial" pitchFamily="34" charset="0"/>
              </a:rPr>
              <a:t>mca.purchase</a:t>
            </a:r>
            <a:r>
              <a:rPr lang="en-US" sz="2800" dirty="0">
                <a:cs typeface="Arial" pitchFamily="34" charset="0"/>
              </a:rPr>
              <a:t>)</a:t>
            </a:r>
          </a:p>
          <a:p>
            <a:pPr lvl="0" eaLnBrk="0" fontAlgn="base" hangingPunct="0">
              <a:spcBef>
                <a:spcPct val="0"/>
              </a:spcBef>
              <a:spcAft>
                <a:spcPct val="0"/>
              </a:spcAft>
            </a:pPr>
            <a:r>
              <a:rPr lang="en-US" sz="2800" dirty="0" err="1" smtClean="0">
                <a:cs typeface="Arial" pitchFamily="34" charset="0"/>
              </a:rPr>
              <a:t>mca.purchase</a:t>
            </a:r>
            <a:r>
              <a:rPr lang="en-US" sz="2800" dirty="0" smtClean="0">
                <a:cs typeface="Arial" pitchFamily="34" charset="0"/>
              </a:rPr>
              <a:t>()</a:t>
            </a:r>
          </a:p>
          <a:p>
            <a:pPr lvl="0" eaLnBrk="0" fontAlgn="base" hangingPunct="0">
              <a:spcBef>
                <a:spcPct val="0"/>
              </a:spcBef>
              <a:spcAft>
                <a:spcPct val="0"/>
              </a:spcAft>
            </a:pPr>
            <a:endParaRPr lang="en-US" sz="2800" dirty="0">
              <a:cs typeface="Arial" pitchFamily="34" charset="0"/>
            </a:endParaRPr>
          </a:p>
          <a:p>
            <a:pPr lvl="0" eaLnBrk="0" fontAlgn="base" hangingPunct="0">
              <a:spcBef>
                <a:spcPct val="0"/>
              </a:spcBef>
              <a:spcAft>
                <a:spcPct val="0"/>
              </a:spcAft>
            </a:pPr>
            <a:r>
              <a:rPr lang="en-US" sz="2800" b="1" dirty="0" smtClean="0">
                <a:cs typeface="Arial" pitchFamily="34" charset="0"/>
              </a:rPr>
              <a:t>O/p.</a:t>
            </a:r>
          </a:p>
          <a:p>
            <a:pPr lvl="0" fontAlgn="base">
              <a:spcBef>
                <a:spcPct val="0"/>
              </a:spcBef>
              <a:spcAft>
                <a:spcPct val="0"/>
              </a:spcAft>
            </a:pPr>
            <a:r>
              <a:rPr lang="en-US" sz="2800" dirty="0">
                <a:cs typeface="Arial" pitchFamily="34" charset="0"/>
              </a:rPr>
              <a:t>Output:</a:t>
            </a:r>
          </a:p>
          <a:p>
            <a:pPr lvl="0" eaLnBrk="0" fontAlgn="base" hangingPunct="0">
              <a:spcBef>
                <a:spcPct val="0"/>
              </a:spcBef>
              <a:spcAft>
                <a:spcPct val="0"/>
              </a:spcAft>
            </a:pPr>
            <a:r>
              <a:rPr lang="en-US" sz="2800" dirty="0">
                <a:cs typeface="Arial" pitchFamily="34" charset="0"/>
              </a:rPr>
              <a:t>Purchase course : </a:t>
            </a:r>
            <a:r>
              <a:rPr lang="en-US" sz="2800" dirty="0" err="1">
                <a:cs typeface="Arial" pitchFamily="34" charset="0"/>
              </a:rPr>
              <a:t>DSA</a:t>
            </a:r>
            <a:r>
              <a:rPr lang="en-US" sz="2800" dirty="0">
                <a:cs typeface="Arial" pitchFamily="34" charset="0"/>
              </a:rPr>
              <a:t> </a:t>
            </a:r>
          </a:p>
        </p:txBody>
      </p:sp>
    </p:spTree>
    <p:extLst>
      <p:ext uri="{BB962C8B-B14F-4D97-AF65-F5344CB8AC3E}">
        <p14:creationId xmlns:p14="http://schemas.microsoft.com/office/powerpoint/2010/main" val="225248000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Important Points</a:t>
            </a:r>
            <a:endParaRPr lang="en-US" dirty="0"/>
          </a:p>
        </p:txBody>
      </p:sp>
      <p:sp>
        <p:nvSpPr>
          <p:cNvPr id="4" name="TextBox 3"/>
          <p:cNvSpPr txBox="1"/>
          <p:nvPr/>
        </p:nvSpPr>
        <p:spPr>
          <a:xfrm>
            <a:off x="228600" y="1066800"/>
            <a:ext cx="8763000" cy="6124754"/>
          </a:xfrm>
          <a:prstGeom prst="rect">
            <a:avLst/>
          </a:prstGeom>
          <a:noFill/>
        </p:spPr>
        <p:txBody>
          <a:bodyPr wrap="square" rtlCol="0">
            <a:spAutoFit/>
          </a:bodyPr>
          <a:lstStyle/>
          <a:p>
            <a:pPr fontAlgn="base"/>
            <a:r>
              <a:rPr lang="en-US" sz="2800" dirty="0"/>
              <a:t>Create class method using </a:t>
            </a:r>
            <a:r>
              <a:rPr lang="en-US" sz="2800" dirty="0" err="1"/>
              <a:t>classmethod</a:t>
            </a:r>
            <a:r>
              <a:rPr lang="en-US" sz="2800" dirty="0"/>
              <a:t>() :</a:t>
            </a:r>
          </a:p>
          <a:p>
            <a:pPr fontAlgn="base"/>
            <a:r>
              <a:rPr lang="en-US" sz="2800" dirty="0"/>
              <a:t>class Student:</a:t>
            </a:r>
          </a:p>
          <a:p>
            <a:pPr fontAlgn="base"/>
            <a:r>
              <a:rPr lang="en-US" sz="2800" dirty="0"/>
              <a:t>     # create a variable</a:t>
            </a:r>
          </a:p>
          <a:p>
            <a:pPr fontAlgn="base"/>
            <a:r>
              <a:rPr lang="en-US" sz="2800" dirty="0"/>
              <a:t>    name = “</a:t>
            </a:r>
            <a:r>
              <a:rPr lang="en-US" sz="2800" dirty="0" err="1"/>
              <a:t>Pythonfor</a:t>
            </a:r>
            <a:r>
              <a:rPr lang="en-US" sz="2800" dirty="0"/>
              <a:t> python"</a:t>
            </a:r>
          </a:p>
          <a:p>
            <a:pPr fontAlgn="base"/>
            <a:r>
              <a:rPr lang="en-US" sz="2800" dirty="0"/>
              <a:t>     # create a function</a:t>
            </a:r>
          </a:p>
          <a:p>
            <a:pPr fontAlgn="base"/>
            <a:r>
              <a:rPr lang="en-US" sz="2800" dirty="0"/>
              <a:t>    </a:t>
            </a:r>
            <a:r>
              <a:rPr lang="en-US" sz="2800" dirty="0" err="1"/>
              <a:t>def</a:t>
            </a:r>
            <a:r>
              <a:rPr lang="en-US" sz="2800" dirty="0"/>
              <a:t> </a:t>
            </a:r>
            <a:r>
              <a:rPr lang="en-US" sz="2800" dirty="0" err="1"/>
              <a:t>print_name</a:t>
            </a:r>
            <a:r>
              <a:rPr lang="en-US" sz="2800" dirty="0"/>
              <a:t>(</a:t>
            </a:r>
            <a:r>
              <a:rPr lang="en-US" sz="2800" dirty="0" err="1"/>
              <a:t>obj</a:t>
            </a:r>
            <a:r>
              <a:rPr lang="en-US" sz="2800" dirty="0"/>
              <a:t>):</a:t>
            </a:r>
          </a:p>
          <a:p>
            <a:pPr fontAlgn="base"/>
            <a:r>
              <a:rPr lang="en-US" sz="2800" dirty="0"/>
              <a:t>        print("The name is : ", </a:t>
            </a:r>
            <a:r>
              <a:rPr lang="en-US" sz="2800" dirty="0" err="1"/>
              <a:t>obj.name</a:t>
            </a:r>
            <a:r>
              <a:rPr lang="en-US" sz="2800" dirty="0"/>
              <a:t>)</a:t>
            </a:r>
          </a:p>
          <a:p>
            <a:pPr fontAlgn="base"/>
            <a:r>
              <a:rPr lang="en-US" sz="2800" dirty="0"/>
              <a:t> # create </a:t>
            </a:r>
            <a:r>
              <a:rPr lang="en-US" sz="2800" dirty="0" err="1"/>
              <a:t>print_name</a:t>
            </a:r>
            <a:r>
              <a:rPr lang="en-US" sz="2800" dirty="0"/>
              <a:t> </a:t>
            </a:r>
            <a:r>
              <a:rPr lang="en-US" sz="2800" dirty="0" err="1"/>
              <a:t>classmethod</a:t>
            </a:r>
            <a:endParaRPr lang="en-US" sz="2800" dirty="0"/>
          </a:p>
          <a:p>
            <a:pPr fontAlgn="base"/>
            <a:r>
              <a:rPr lang="en-US" sz="2800" dirty="0"/>
              <a:t># before creating this line </a:t>
            </a:r>
            <a:r>
              <a:rPr lang="en-US" sz="2800" dirty="0" err="1"/>
              <a:t>print_name</a:t>
            </a:r>
            <a:r>
              <a:rPr lang="en-US" sz="2800" dirty="0"/>
              <a:t>()</a:t>
            </a:r>
          </a:p>
          <a:p>
            <a:pPr fontAlgn="base"/>
            <a:r>
              <a:rPr lang="en-US" sz="2800" dirty="0"/>
              <a:t># It can be called only with object not with class</a:t>
            </a:r>
          </a:p>
          <a:p>
            <a:pPr fontAlgn="base"/>
            <a:r>
              <a:rPr lang="en-US" sz="2800" dirty="0" err="1"/>
              <a:t>Student.print_name</a:t>
            </a:r>
            <a:r>
              <a:rPr lang="en-US" sz="2800" dirty="0"/>
              <a:t> = </a:t>
            </a:r>
            <a:r>
              <a:rPr lang="en-US" sz="2800" dirty="0" err="1"/>
              <a:t>classmethod</a:t>
            </a:r>
            <a:r>
              <a:rPr lang="en-US" sz="2800" dirty="0"/>
              <a:t>(</a:t>
            </a:r>
            <a:r>
              <a:rPr lang="en-US" sz="2800" dirty="0" err="1"/>
              <a:t>Student.print_name</a:t>
            </a:r>
            <a:r>
              <a:rPr lang="en-US" sz="2800" dirty="0"/>
              <a:t>)</a:t>
            </a:r>
          </a:p>
          <a:p>
            <a:pPr fontAlgn="base"/>
            <a:r>
              <a:rPr lang="en-US" sz="2800" dirty="0"/>
              <a:t> # now this method can be called as </a:t>
            </a:r>
            <a:r>
              <a:rPr lang="en-US" sz="2800" dirty="0" err="1"/>
              <a:t>classmethod</a:t>
            </a:r>
            <a:endParaRPr lang="en-US" sz="2800" dirty="0"/>
          </a:p>
          <a:p>
            <a:pPr fontAlgn="base"/>
            <a:r>
              <a:rPr lang="en-US" sz="2800" dirty="0"/>
              <a:t># </a:t>
            </a:r>
            <a:r>
              <a:rPr lang="en-US" sz="2800" dirty="0" err="1"/>
              <a:t>print_name</a:t>
            </a:r>
            <a:r>
              <a:rPr lang="en-US" sz="2800" dirty="0"/>
              <a:t>() method is called a class method</a:t>
            </a:r>
          </a:p>
          <a:p>
            <a:pPr fontAlgn="base"/>
            <a:r>
              <a:rPr lang="en-US" sz="2800" dirty="0" err="1"/>
              <a:t>Student.print_name</a:t>
            </a:r>
            <a:r>
              <a:rPr lang="en-US" sz="2800" dirty="0" smtClean="0"/>
              <a:t>()</a:t>
            </a:r>
            <a:endParaRPr lang="en-US" sz="2800" dirty="0"/>
          </a:p>
        </p:txBody>
      </p:sp>
    </p:spTree>
    <p:extLst>
      <p:ext uri="{BB962C8B-B14F-4D97-AF65-F5344CB8AC3E}">
        <p14:creationId xmlns:p14="http://schemas.microsoft.com/office/powerpoint/2010/main" val="2852722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Static methods in python</a:t>
            </a:r>
            <a:endParaRPr lang="en-US" dirty="0"/>
          </a:p>
        </p:txBody>
      </p:sp>
      <p:sp>
        <p:nvSpPr>
          <p:cNvPr id="4" name="TextBox 3"/>
          <p:cNvSpPr txBox="1"/>
          <p:nvPr/>
        </p:nvSpPr>
        <p:spPr>
          <a:xfrm>
            <a:off x="228600" y="1066800"/>
            <a:ext cx="8763000" cy="5693866"/>
          </a:xfrm>
          <a:prstGeom prst="rect">
            <a:avLst/>
          </a:prstGeom>
          <a:noFill/>
        </p:spPr>
        <p:txBody>
          <a:bodyPr wrap="square" rtlCol="0">
            <a:spAutoFit/>
          </a:bodyPr>
          <a:lstStyle/>
          <a:p>
            <a:pPr marL="457200" indent="-457200" algn="just" fontAlgn="base">
              <a:buFont typeface="Arial" panose="020B0604020202020204" pitchFamily="34" charset="0"/>
              <a:buChar char="•"/>
            </a:pPr>
            <a:r>
              <a:rPr lang="en-US" sz="2800" dirty="0" smtClean="0"/>
              <a:t>A </a:t>
            </a:r>
            <a:r>
              <a:rPr lang="en-US" sz="2800" dirty="0"/>
              <a:t>static method is a general utility method that performs a task in isolation. Static methods in Python are similar to those found in Java or C++.</a:t>
            </a:r>
          </a:p>
          <a:p>
            <a:pPr marL="457200" indent="-457200" algn="just" fontAlgn="base">
              <a:buFont typeface="Arial" panose="020B0604020202020204" pitchFamily="34" charset="0"/>
              <a:buChar char="•"/>
            </a:pPr>
            <a:r>
              <a:rPr lang="en-US" sz="2800" dirty="0"/>
              <a:t>A static method is bound to the class and not the object of the class. Therefore, we can call it using the class name.</a:t>
            </a:r>
          </a:p>
          <a:p>
            <a:pPr marL="457200" indent="-457200" algn="just" fontAlgn="base">
              <a:buFont typeface="Arial" panose="020B0604020202020204" pitchFamily="34" charset="0"/>
              <a:buChar char="•"/>
            </a:pPr>
            <a:r>
              <a:rPr lang="en-US" sz="2800" dirty="0"/>
              <a:t>A static method doesn’t have access to the class and instance variables because it does not receive an implicit first argument like self and </a:t>
            </a:r>
            <a:r>
              <a:rPr lang="en-US" sz="2800" dirty="0" err="1"/>
              <a:t>cls</a:t>
            </a:r>
            <a:r>
              <a:rPr lang="en-US" sz="2800" dirty="0"/>
              <a:t>. Therefore it cannot modify the state of the object or class.</a:t>
            </a:r>
          </a:p>
          <a:p>
            <a:pPr marL="457200" indent="-457200" algn="just" fontAlgn="base">
              <a:buFont typeface="Arial" panose="020B0604020202020204" pitchFamily="34" charset="0"/>
              <a:buChar char="•"/>
            </a:pPr>
            <a:r>
              <a:rPr lang="en-US" sz="2800" dirty="0"/>
              <a:t>The class method can be called using </a:t>
            </a:r>
            <a:r>
              <a:rPr lang="en-US" sz="2800" dirty="0" err="1"/>
              <a:t>ClassName.method_name</a:t>
            </a:r>
            <a:r>
              <a:rPr lang="en-US" sz="2800" dirty="0"/>
              <a:t>() as well as by using an object of the class</a:t>
            </a:r>
            <a:r>
              <a:rPr lang="en-US" sz="2800" dirty="0" smtClean="0"/>
              <a:t>.</a:t>
            </a:r>
            <a:endParaRPr lang="en-US" sz="2800" dirty="0"/>
          </a:p>
        </p:txBody>
      </p:sp>
    </p:spTree>
    <p:extLst>
      <p:ext uri="{BB962C8B-B14F-4D97-AF65-F5344CB8AC3E}">
        <p14:creationId xmlns:p14="http://schemas.microsoft.com/office/powerpoint/2010/main" val="36769926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Static methods in python</a:t>
            </a:r>
            <a:endParaRPr lang="en-US" dirty="0"/>
          </a:p>
        </p:txBody>
      </p:sp>
      <p:sp>
        <p:nvSpPr>
          <p:cNvPr id="4" name="TextBox 3"/>
          <p:cNvSpPr txBox="1"/>
          <p:nvPr/>
        </p:nvSpPr>
        <p:spPr>
          <a:xfrm>
            <a:off x="228600" y="1066800"/>
            <a:ext cx="8763000" cy="3970318"/>
          </a:xfrm>
          <a:prstGeom prst="rect">
            <a:avLst/>
          </a:prstGeom>
          <a:noFill/>
        </p:spPr>
        <p:txBody>
          <a:bodyPr wrap="square" rtlCol="0">
            <a:spAutoFit/>
          </a:bodyPr>
          <a:lstStyle/>
          <a:p>
            <a:pPr algn="just" fontAlgn="base"/>
            <a:r>
              <a:rPr lang="en-US" sz="2800" dirty="0"/>
              <a:t>Example :</a:t>
            </a:r>
          </a:p>
          <a:p>
            <a:pPr algn="just" fontAlgn="base"/>
            <a:r>
              <a:rPr lang="en-US" sz="2800" dirty="0"/>
              <a:t>class Employee: </a:t>
            </a:r>
          </a:p>
          <a:p>
            <a:pPr algn="just" fontAlgn="base"/>
            <a:r>
              <a:rPr lang="en-US" sz="2800" dirty="0"/>
              <a:t>	@</a:t>
            </a:r>
            <a:r>
              <a:rPr lang="en-US" sz="2800" dirty="0" err="1"/>
              <a:t>staticmethod</a:t>
            </a:r>
            <a:r>
              <a:rPr lang="en-US" sz="2800" dirty="0"/>
              <a:t> </a:t>
            </a:r>
          </a:p>
          <a:p>
            <a:pPr algn="just" fontAlgn="base"/>
            <a:r>
              <a:rPr lang="en-US" sz="2800" dirty="0"/>
              <a:t>	</a:t>
            </a:r>
            <a:r>
              <a:rPr lang="en-US" sz="2800" dirty="0" err="1"/>
              <a:t>def</a:t>
            </a:r>
            <a:r>
              <a:rPr lang="en-US" sz="2800" dirty="0"/>
              <a:t> sample(x): </a:t>
            </a:r>
          </a:p>
          <a:p>
            <a:pPr algn="just" fontAlgn="base"/>
            <a:r>
              <a:rPr lang="en-US" sz="2800" dirty="0"/>
              <a:t>		print('Inside static method', x) </a:t>
            </a:r>
          </a:p>
          <a:p>
            <a:pPr algn="just" fontAlgn="base"/>
            <a:r>
              <a:rPr lang="en-US" sz="2800" dirty="0"/>
              <a:t># call static method</a:t>
            </a:r>
          </a:p>
          <a:p>
            <a:pPr algn="just" fontAlgn="base"/>
            <a:r>
              <a:rPr lang="en-US" sz="2800" dirty="0"/>
              <a:t> </a:t>
            </a:r>
            <a:r>
              <a:rPr lang="en-US" sz="2800" dirty="0" err="1"/>
              <a:t>Employee.sample</a:t>
            </a:r>
            <a:r>
              <a:rPr lang="en-US" sz="2800" dirty="0"/>
              <a:t>(10) </a:t>
            </a:r>
          </a:p>
          <a:p>
            <a:pPr algn="just" fontAlgn="base"/>
            <a:r>
              <a:rPr lang="en-US" sz="2800" dirty="0"/>
              <a:t># can be called using object</a:t>
            </a:r>
          </a:p>
          <a:p>
            <a:pPr algn="just" fontAlgn="base"/>
            <a:r>
              <a:rPr lang="en-US" sz="2800" dirty="0"/>
              <a:t> </a:t>
            </a:r>
            <a:r>
              <a:rPr lang="en-US" sz="2800" dirty="0" err="1"/>
              <a:t>emp</a:t>
            </a:r>
            <a:r>
              <a:rPr lang="en-US" sz="2800" dirty="0"/>
              <a:t> = Employee() </a:t>
            </a:r>
            <a:r>
              <a:rPr lang="en-US" sz="2800" dirty="0" err="1"/>
              <a:t>emp.sample</a:t>
            </a:r>
            <a:r>
              <a:rPr lang="en-US" sz="2800" dirty="0"/>
              <a:t>(10)</a:t>
            </a:r>
          </a:p>
        </p:txBody>
      </p:sp>
    </p:spTree>
    <p:extLst>
      <p:ext uri="{BB962C8B-B14F-4D97-AF65-F5344CB8AC3E}">
        <p14:creationId xmlns:p14="http://schemas.microsoft.com/office/powerpoint/2010/main" val="21122560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Static methods in python</a:t>
            </a:r>
            <a:endParaRPr lang="en-US" dirty="0"/>
          </a:p>
        </p:txBody>
      </p:sp>
      <p:sp>
        <p:nvSpPr>
          <p:cNvPr id="4" name="TextBox 3"/>
          <p:cNvSpPr txBox="1"/>
          <p:nvPr/>
        </p:nvSpPr>
        <p:spPr>
          <a:xfrm>
            <a:off x="228600" y="1066800"/>
            <a:ext cx="8763000" cy="5509200"/>
          </a:xfrm>
          <a:prstGeom prst="rect">
            <a:avLst/>
          </a:prstGeom>
          <a:noFill/>
        </p:spPr>
        <p:txBody>
          <a:bodyPr wrap="square" rtlCol="0">
            <a:spAutoFit/>
          </a:bodyPr>
          <a:lstStyle/>
          <a:p>
            <a:pPr lvl="0" fontAlgn="base">
              <a:spcBef>
                <a:spcPct val="0"/>
              </a:spcBef>
              <a:spcAft>
                <a:spcPct val="0"/>
              </a:spcAft>
            </a:pPr>
            <a:r>
              <a:rPr lang="en-IN" sz="2800" dirty="0">
                <a:cs typeface="Courier New" pitchFamily="49" charset="0"/>
              </a:rPr>
              <a:t>Example :</a:t>
            </a:r>
            <a:endParaRPr lang="en-US" sz="2800" dirty="0">
              <a:cs typeface="Courier New" pitchFamily="49" charset="0"/>
            </a:endParaRPr>
          </a:p>
          <a:p>
            <a:pPr lvl="0" fontAlgn="base">
              <a:spcBef>
                <a:spcPct val="0"/>
              </a:spcBef>
              <a:spcAft>
                <a:spcPct val="0"/>
              </a:spcAft>
            </a:pPr>
            <a:r>
              <a:rPr lang="en-US" sz="2800" dirty="0">
                <a:cs typeface="Courier New" pitchFamily="49" charset="0"/>
              </a:rPr>
              <a:t>class Calculator: </a:t>
            </a:r>
          </a:p>
          <a:p>
            <a:pPr lvl="0" fontAlgn="base">
              <a:spcBef>
                <a:spcPct val="0"/>
              </a:spcBef>
              <a:spcAft>
                <a:spcPct val="0"/>
              </a:spcAft>
            </a:pPr>
            <a:r>
              <a:rPr lang="en-US" sz="2800" dirty="0">
                <a:cs typeface="Courier New" pitchFamily="49" charset="0"/>
              </a:rPr>
              <a:t>	</a:t>
            </a:r>
            <a:r>
              <a:rPr lang="en-US" sz="2800" dirty="0" err="1">
                <a:cs typeface="Courier New" pitchFamily="49" charset="0"/>
              </a:rPr>
              <a:t>def</a:t>
            </a:r>
            <a:r>
              <a:rPr lang="en-US" sz="2800" dirty="0">
                <a:cs typeface="Courier New" pitchFamily="49" charset="0"/>
              </a:rPr>
              <a:t> </a:t>
            </a:r>
            <a:r>
              <a:rPr lang="en-US" sz="2800" dirty="0" err="1">
                <a:cs typeface="Courier New" pitchFamily="49" charset="0"/>
              </a:rPr>
              <a:t>addNumbers</a:t>
            </a:r>
            <a:r>
              <a:rPr lang="en-US" sz="2800" dirty="0">
                <a:cs typeface="Courier New" pitchFamily="49" charset="0"/>
              </a:rPr>
              <a:t>(x, y): </a:t>
            </a:r>
          </a:p>
          <a:p>
            <a:pPr lvl="0" fontAlgn="base">
              <a:spcBef>
                <a:spcPct val="0"/>
              </a:spcBef>
              <a:spcAft>
                <a:spcPct val="0"/>
              </a:spcAft>
            </a:pPr>
            <a:r>
              <a:rPr lang="en-US" sz="2800" dirty="0">
                <a:cs typeface="Courier New" pitchFamily="49" charset="0"/>
              </a:rPr>
              <a:t>		return x + y </a:t>
            </a:r>
          </a:p>
          <a:p>
            <a:pPr lvl="0" fontAlgn="base">
              <a:spcBef>
                <a:spcPct val="0"/>
              </a:spcBef>
              <a:spcAft>
                <a:spcPct val="0"/>
              </a:spcAft>
            </a:pPr>
            <a:r>
              <a:rPr lang="en-US" sz="2800" dirty="0">
                <a:cs typeface="Courier New" pitchFamily="49" charset="0"/>
              </a:rPr>
              <a:t># create </a:t>
            </a:r>
            <a:r>
              <a:rPr lang="en-US" sz="2800" dirty="0" err="1">
                <a:cs typeface="Courier New" pitchFamily="49" charset="0"/>
              </a:rPr>
              <a:t>addNumbers</a:t>
            </a:r>
            <a:r>
              <a:rPr lang="en-US" sz="2800" dirty="0">
                <a:cs typeface="Courier New" pitchFamily="49" charset="0"/>
              </a:rPr>
              <a:t> static method </a:t>
            </a:r>
          </a:p>
          <a:p>
            <a:pPr lvl="0" fontAlgn="base">
              <a:spcBef>
                <a:spcPct val="0"/>
              </a:spcBef>
              <a:spcAft>
                <a:spcPct val="0"/>
              </a:spcAft>
            </a:pPr>
            <a:r>
              <a:rPr lang="en-US" sz="2800" dirty="0" err="1">
                <a:cs typeface="Courier New" pitchFamily="49" charset="0"/>
              </a:rPr>
              <a:t>Calculator.addNumbers</a:t>
            </a:r>
            <a:r>
              <a:rPr lang="en-US" sz="2800" dirty="0">
                <a:cs typeface="Courier New" pitchFamily="49" charset="0"/>
              </a:rPr>
              <a:t> = </a:t>
            </a:r>
            <a:r>
              <a:rPr lang="en-US" sz="2800" dirty="0" err="1">
                <a:cs typeface="Courier New" pitchFamily="49" charset="0"/>
              </a:rPr>
              <a:t>staticmethod</a:t>
            </a:r>
            <a:r>
              <a:rPr lang="en-US" sz="2800" dirty="0">
                <a:cs typeface="Courier New" pitchFamily="49" charset="0"/>
              </a:rPr>
              <a:t>(</a:t>
            </a:r>
            <a:r>
              <a:rPr lang="en-US" sz="2800" dirty="0" err="1">
                <a:cs typeface="Courier New" pitchFamily="49" charset="0"/>
              </a:rPr>
              <a:t>Calculator.addNumbers</a:t>
            </a:r>
            <a:r>
              <a:rPr lang="en-US" sz="2800" dirty="0">
                <a:cs typeface="Courier New" pitchFamily="49" charset="0"/>
              </a:rPr>
              <a:t>) </a:t>
            </a:r>
          </a:p>
          <a:p>
            <a:pPr lvl="0" fontAlgn="base">
              <a:spcBef>
                <a:spcPct val="0"/>
              </a:spcBef>
              <a:spcAft>
                <a:spcPct val="0"/>
              </a:spcAft>
            </a:pPr>
            <a:r>
              <a:rPr lang="en-US" sz="2800" dirty="0">
                <a:cs typeface="Courier New" pitchFamily="49" charset="0"/>
              </a:rPr>
              <a:t>print('Product:', </a:t>
            </a:r>
            <a:r>
              <a:rPr lang="en-US" sz="2800" dirty="0" err="1">
                <a:cs typeface="Courier New" pitchFamily="49" charset="0"/>
              </a:rPr>
              <a:t>Calculator.addNumbers</a:t>
            </a:r>
            <a:r>
              <a:rPr lang="en-US" sz="2800" dirty="0">
                <a:cs typeface="Courier New" pitchFamily="49" charset="0"/>
              </a:rPr>
              <a:t>(15, 110))</a:t>
            </a:r>
            <a:r>
              <a:rPr lang="en-US" sz="2800" dirty="0">
                <a:cs typeface="Arial" pitchFamily="34" charset="0"/>
              </a:rPr>
              <a:t> </a:t>
            </a:r>
          </a:p>
          <a:p>
            <a:pPr lvl="0" fontAlgn="base">
              <a:spcBef>
                <a:spcPct val="0"/>
              </a:spcBef>
              <a:spcAft>
                <a:spcPct val="0"/>
              </a:spcAft>
            </a:pPr>
            <a:r>
              <a:rPr lang="en-US" sz="3200" dirty="0" smtClean="0"/>
              <a:t>Note </a:t>
            </a:r>
            <a:r>
              <a:rPr lang="en-US" sz="3200" dirty="0"/>
              <a:t>that we called the </a:t>
            </a:r>
            <a:r>
              <a:rPr lang="en-US" sz="3200" dirty="0" err="1"/>
              <a:t>addNumbers</a:t>
            </a:r>
            <a:r>
              <a:rPr lang="en-US" sz="3200" dirty="0"/>
              <a:t> we created without an object. When we run this program, here is the output we will get:</a:t>
            </a:r>
          </a:p>
          <a:p>
            <a:pPr lvl="0" fontAlgn="base">
              <a:spcBef>
                <a:spcPct val="0"/>
              </a:spcBef>
              <a:spcAft>
                <a:spcPct val="0"/>
              </a:spcAft>
            </a:pPr>
            <a:r>
              <a:rPr lang="en-IN" sz="3200" dirty="0" smtClean="0"/>
              <a:t>Product</a:t>
            </a:r>
            <a:r>
              <a:rPr lang="en-IN" sz="3200" dirty="0"/>
              <a:t>: </a:t>
            </a:r>
            <a:r>
              <a:rPr lang="en-IN" sz="3200" dirty="0" smtClean="0"/>
              <a:t>125</a:t>
            </a:r>
            <a:endParaRPr lang="en-US" sz="3200" dirty="0"/>
          </a:p>
        </p:txBody>
      </p:sp>
    </p:spTree>
    <p:extLst>
      <p:ext uri="{BB962C8B-B14F-4D97-AF65-F5344CB8AC3E}">
        <p14:creationId xmlns:p14="http://schemas.microsoft.com/office/powerpoint/2010/main" val="230024052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fontScale="90000"/>
          </a:bodyPr>
          <a:lstStyle/>
          <a:p>
            <a:r>
              <a:rPr lang="en-US" b="1" dirty="0" smtClean="0"/>
              <a:t>Private variables and methods in python</a:t>
            </a:r>
            <a:endParaRPr lang="en-US" dirty="0"/>
          </a:p>
        </p:txBody>
      </p:sp>
      <p:sp>
        <p:nvSpPr>
          <p:cNvPr id="4" name="TextBox 3"/>
          <p:cNvSpPr txBox="1"/>
          <p:nvPr/>
        </p:nvSpPr>
        <p:spPr>
          <a:xfrm>
            <a:off x="228600" y="1066800"/>
            <a:ext cx="8763000" cy="4832092"/>
          </a:xfrm>
          <a:prstGeom prst="rect">
            <a:avLst/>
          </a:prstGeom>
          <a:noFill/>
        </p:spPr>
        <p:txBody>
          <a:bodyPr wrap="square" rtlCol="0">
            <a:spAutoFit/>
          </a:bodyPr>
          <a:lstStyle/>
          <a:p>
            <a:pPr marL="457200" indent="-457200" algn="just" fontAlgn="base">
              <a:buFont typeface="Arial" panose="020B0604020202020204" pitchFamily="34" charset="0"/>
              <a:buChar char="•"/>
            </a:pPr>
            <a:r>
              <a:rPr lang="en-US" sz="2800" dirty="0"/>
              <a:t>Private members in programming languages (such as C++ and Java) are the members that are only available to their own class. Neither the subclasses nor the classes in the same package have access to them.</a:t>
            </a:r>
          </a:p>
          <a:p>
            <a:pPr marL="457200" indent="-457200" algn="just" fontAlgn="base">
              <a:buFont typeface="Arial" panose="020B0604020202020204" pitchFamily="34" charset="0"/>
              <a:buChar char="•"/>
            </a:pPr>
            <a:r>
              <a:rPr lang="en-US" sz="2800" dirty="0"/>
              <a:t>In Python, there is </a:t>
            </a:r>
            <a:r>
              <a:rPr lang="en-US" sz="2800" b="1" dirty="0"/>
              <a:t>no such strict enforcement of privacy. </a:t>
            </a:r>
            <a:r>
              <a:rPr lang="en-US" sz="2800" dirty="0"/>
              <a:t>It does not have access specifiers like other languages to make variables or methods private to the class.</a:t>
            </a:r>
          </a:p>
          <a:p>
            <a:pPr marL="457200" indent="-457200" algn="just" fontAlgn="base">
              <a:buFont typeface="Arial" panose="020B0604020202020204" pitchFamily="34" charset="0"/>
              <a:buChar char="•"/>
            </a:pPr>
            <a:r>
              <a:rPr lang="en-US" sz="2800" dirty="0"/>
              <a:t>However, we can use the </a:t>
            </a:r>
            <a:r>
              <a:rPr lang="en-US" sz="2800" b="1" dirty="0"/>
              <a:t>name mangling</a:t>
            </a:r>
            <a:r>
              <a:rPr lang="en-US" sz="2800" dirty="0"/>
              <a:t> feature of Python to make a variable or method appear as restricted.</a:t>
            </a:r>
          </a:p>
        </p:txBody>
      </p:sp>
    </p:spTree>
    <p:extLst>
      <p:ext uri="{BB962C8B-B14F-4D97-AF65-F5344CB8AC3E}">
        <p14:creationId xmlns:p14="http://schemas.microsoft.com/office/powerpoint/2010/main" val="3473310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b="1" dirty="0" smtClean="0"/>
              <a:t>Private variables and methods in python</a:t>
            </a:r>
            <a:endParaRPr lang="en-US" dirty="0"/>
          </a:p>
        </p:txBody>
      </p:sp>
      <p:sp>
        <p:nvSpPr>
          <p:cNvPr id="4" name="TextBox 3"/>
          <p:cNvSpPr txBox="1"/>
          <p:nvPr/>
        </p:nvSpPr>
        <p:spPr>
          <a:xfrm>
            <a:off x="228600" y="838200"/>
            <a:ext cx="8763000" cy="6001643"/>
          </a:xfrm>
          <a:prstGeom prst="rect">
            <a:avLst/>
          </a:prstGeom>
          <a:noFill/>
        </p:spPr>
        <p:txBody>
          <a:bodyPr wrap="square" rtlCol="0">
            <a:spAutoFit/>
          </a:bodyPr>
          <a:lstStyle/>
          <a:p>
            <a:pPr lvl="0" fontAlgn="base">
              <a:spcBef>
                <a:spcPct val="0"/>
              </a:spcBef>
              <a:spcAft>
                <a:spcPct val="0"/>
              </a:spcAft>
            </a:pPr>
            <a:r>
              <a:rPr lang="en-US" sz="2400" dirty="0">
                <a:solidFill>
                  <a:srgbClr val="333333"/>
                </a:solidFill>
                <a:cs typeface="Arial" pitchFamily="34" charset="0"/>
              </a:rPr>
              <a:t>We have to prefix the __ (double underscore) in the name of the variable to represent it as a private variable.</a:t>
            </a:r>
            <a:r>
              <a:rPr lang="en-US" sz="2400" dirty="0">
                <a:cs typeface="Arial" pitchFamily="34" charset="0"/>
              </a:rPr>
              <a:t> </a:t>
            </a:r>
          </a:p>
          <a:p>
            <a:pPr lvl="0" fontAlgn="base">
              <a:spcBef>
                <a:spcPct val="0"/>
              </a:spcBef>
              <a:spcAft>
                <a:spcPct val="0"/>
              </a:spcAft>
            </a:pPr>
            <a:r>
              <a:rPr lang="en-US" sz="2400" b="1" dirty="0"/>
              <a:t>class </a:t>
            </a:r>
            <a:r>
              <a:rPr lang="en-US" sz="2400" b="1" dirty="0" err="1"/>
              <a:t>BankAccount</a:t>
            </a:r>
            <a:r>
              <a:rPr lang="en-US" sz="2400" b="1" dirty="0"/>
              <a:t>: </a:t>
            </a:r>
          </a:p>
          <a:p>
            <a:pPr lvl="0" fontAlgn="base">
              <a:spcBef>
                <a:spcPct val="0"/>
              </a:spcBef>
              <a:spcAft>
                <a:spcPct val="0"/>
              </a:spcAft>
            </a:pPr>
            <a:r>
              <a:rPr lang="en-US" sz="2400" b="1" dirty="0"/>
              <a:t>	</a:t>
            </a:r>
            <a:r>
              <a:rPr lang="en-US" sz="2400" b="1" dirty="0" err="1"/>
              <a:t>def</a:t>
            </a:r>
            <a:r>
              <a:rPr lang="en-US" sz="2400" b="1" dirty="0"/>
              <a:t> __</a:t>
            </a:r>
            <a:r>
              <a:rPr lang="en-US" sz="2400" b="1" dirty="0" err="1"/>
              <a:t>init</a:t>
            </a:r>
            <a:r>
              <a:rPr lang="en-US" sz="2400" b="1" dirty="0"/>
              <a:t>__(self, balance): </a:t>
            </a:r>
          </a:p>
          <a:p>
            <a:pPr lvl="0" fontAlgn="base">
              <a:spcBef>
                <a:spcPct val="0"/>
              </a:spcBef>
              <a:spcAft>
                <a:spcPct val="0"/>
              </a:spcAft>
            </a:pPr>
            <a:r>
              <a:rPr lang="en-US" sz="2400" b="1" dirty="0"/>
              <a:t>		</a:t>
            </a:r>
            <a:r>
              <a:rPr lang="en-US" sz="2400" b="1" dirty="0" err="1"/>
              <a:t>self.__balance</a:t>
            </a:r>
            <a:r>
              <a:rPr lang="en-US" sz="2400" b="1" dirty="0"/>
              <a:t> = balance </a:t>
            </a:r>
          </a:p>
          <a:p>
            <a:pPr lvl="0" fontAlgn="base">
              <a:spcBef>
                <a:spcPct val="0"/>
              </a:spcBef>
              <a:spcAft>
                <a:spcPct val="0"/>
              </a:spcAft>
            </a:pPr>
            <a:r>
              <a:rPr lang="en-US" sz="2400" b="1" dirty="0"/>
              <a:t>	#private variable </a:t>
            </a:r>
          </a:p>
          <a:p>
            <a:pPr lvl="0" fontAlgn="base">
              <a:spcBef>
                <a:spcPct val="0"/>
              </a:spcBef>
              <a:spcAft>
                <a:spcPct val="0"/>
              </a:spcAft>
            </a:pPr>
            <a:r>
              <a:rPr lang="en-US" sz="2400" b="1" dirty="0"/>
              <a:t>	</a:t>
            </a:r>
            <a:r>
              <a:rPr lang="en-US" sz="2400" b="1" dirty="0" err="1"/>
              <a:t>def</a:t>
            </a:r>
            <a:r>
              <a:rPr lang="en-US" sz="2400" b="1" dirty="0"/>
              <a:t> </a:t>
            </a:r>
            <a:r>
              <a:rPr lang="en-US" sz="2400" b="1" dirty="0" err="1"/>
              <a:t>displayBalance</a:t>
            </a:r>
            <a:r>
              <a:rPr lang="en-US" sz="2400" b="1" dirty="0"/>
              <a:t>(self): </a:t>
            </a:r>
          </a:p>
          <a:p>
            <a:pPr lvl="0" fontAlgn="base">
              <a:spcBef>
                <a:spcPct val="0"/>
              </a:spcBef>
              <a:spcAft>
                <a:spcPct val="0"/>
              </a:spcAft>
            </a:pPr>
            <a:r>
              <a:rPr lang="en-US" sz="2400" b="1" dirty="0"/>
              <a:t>		print("Balance: ", </a:t>
            </a:r>
            <a:r>
              <a:rPr lang="en-US" sz="2400" b="1" dirty="0" err="1"/>
              <a:t>self.__balance</a:t>
            </a:r>
            <a:r>
              <a:rPr lang="en-US" sz="2400" b="1" dirty="0"/>
              <a:t>) </a:t>
            </a:r>
          </a:p>
          <a:p>
            <a:pPr lvl="0" fontAlgn="base">
              <a:spcBef>
                <a:spcPct val="0"/>
              </a:spcBef>
              <a:spcAft>
                <a:spcPct val="0"/>
              </a:spcAft>
            </a:pPr>
            <a:r>
              <a:rPr lang="en-US" sz="2400" b="1" dirty="0" err="1"/>
              <a:t>myaccount</a:t>
            </a:r>
            <a:r>
              <a:rPr lang="en-US" sz="2400" b="1" dirty="0"/>
              <a:t> = </a:t>
            </a:r>
            <a:r>
              <a:rPr lang="en-US" sz="2400" b="1" dirty="0" err="1"/>
              <a:t>BankAccount</a:t>
            </a:r>
            <a:r>
              <a:rPr lang="en-US" sz="2400" b="1" dirty="0"/>
              <a:t>('85,33,999') </a:t>
            </a:r>
            <a:r>
              <a:rPr lang="en-US" sz="2400" b="1" dirty="0" err="1"/>
              <a:t>myaccount.displayBalance</a:t>
            </a:r>
            <a:r>
              <a:rPr lang="en-US" sz="2400" b="1" dirty="0"/>
              <a:t>() </a:t>
            </a:r>
          </a:p>
          <a:p>
            <a:pPr lvl="0" fontAlgn="base">
              <a:spcBef>
                <a:spcPct val="0"/>
              </a:spcBef>
              <a:spcAft>
                <a:spcPct val="0"/>
              </a:spcAft>
            </a:pPr>
            <a:r>
              <a:rPr lang="en-US" sz="2400" b="1" dirty="0"/>
              <a:t>print(</a:t>
            </a:r>
            <a:r>
              <a:rPr lang="en-US" sz="2400" b="1" dirty="0" err="1"/>
              <a:t>myaccount</a:t>
            </a:r>
            <a:r>
              <a:rPr lang="en-US" sz="2400" b="1" dirty="0"/>
              <a:t>.__balance) </a:t>
            </a:r>
          </a:p>
          <a:p>
            <a:pPr lvl="0" fontAlgn="base">
              <a:spcBef>
                <a:spcPct val="0"/>
              </a:spcBef>
              <a:spcAft>
                <a:spcPct val="0"/>
              </a:spcAft>
            </a:pPr>
            <a:r>
              <a:rPr lang="en-US" sz="2400" b="1" dirty="0"/>
              <a:t>#outputs 'Balance: 85,33,999'</a:t>
            </a:r>
          </a:p>
          <a:p>
            <a:pPr lvl="0" fontAlgn="base">
              <a:spcBef>
                <a:spcPct val="0"/>
              </a:spcBef>
              <a:spcAft>
                <a:spcPct val="0"/>
              </a:spcAft>
            </a:pPr>
            <a:r>
              <a:rPr lang="en-US" sz="2400" b="1" dirty="0"/>
              <a:t>#</a:t>
            </a:r>
            <a:r>
              <a:rPr lang="en-US" sz="2400" b="1" dirty="0" err="1"/>
              <a:t>AttributeError</a:t>
            </a:r>
            <a:r>
              <a:rPr lang="en-US" sz="2400" b="1" dirty="0"/>
              <a:t>: object has no attribute '__balance‘</a:t>
            </a:r>
          </a:p>
          <a:p>
            <a:pPr lvl="0" algn="just" fontAlgn="base">
              <a:spcBef>
                <a:spcPct val="0"/>
              </a:spcBef>
              <a:spcAft>
                <a:spcPct val="0"/>
              </a:spcAft>
            </a:pPr>
            <a:r>
              <a:rPr lang="en-US" sz="2400" dirty="0"/>
              <a:t>Accessing the variable __balance through object throws an error because Python has scrambled its name to _</a:t>
            </a:r>
            <a:r>
              <a:rPr lang="en-US" sz="2400" dirty="0" err="1"/>
              <a:t>BankAccount</a:t>
            </a:r>
            <a:r>
              <a:rPr lang="en-US" sz="2400" dirty="0"/>
              <a:t>__balance (class name with leading underscore followed by the name of the variable).</a:t>
            </a:r>
            <a:endParaRPr lang="en-US" sz="2400" dirty="0">
              <a:cs typeface="Arial" pitchFamily="34" charset="0"/>
            </a:endParaRPr>
          </a:p>
        </p:txBody>
      </p:sp>
    </p:spTree>
    <p:extLst>
      <p:ext uri="{BB962C8B-B14F-4D97-AF65-F5344CB8AC3E}">
        <p14:creationId xmlns:p14="http://schemas.microsoft.com/office/powerpoint/2010/main" val="250820064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b="1" dirty="0" smtClean="0"/>
              <a:t>Private variables and methods in python</a:t>
            </a:r>
            <a:endParaRPr lang="en-US" dirty="0"/>
          </a:p>
        </p:txBody>
      </p:sp>
      <p:sp>
        <p:nvSpPr>
          <p:cNvPr id="4" name="TextBox 3"/>
          <p:cNvSpPr txBox="1"/>
          <p:nvPr/>
        </p:nvSpPr>
        <p:spPr>
          <a:xfrm>
            <a:off x="228600" y="838200"/>
            <a:ext cx="8763000" cy="4524315"/>
          </a:xfrm>
          <a:prstGeom prst="rect">
            <a:avLst/>
          </a:prstGeom>
          <a:noFill/>
        </p:spPr>
        <p:txBody>
          <a:bodyPr wrap="square" rtlCol="0">
            <a:spAutoFit/>
          </a:bodyPr>
          <a:lstStyle/>
          <a:p>
            <a:pPr marL="342900" lvl="0" indent="-342900" algn="just" fontAlgn="base">
              <a:spcBef>
                <a:spcPct val="0"/>
              </a:spcBef>
              <a:spcAft>
                <a:spcPct val="0"/>
              </a:spcAft>
              <a:buFont typeface="Arial" panose="020B0604020202020204" pitchFamily="34" charset="0"/>
              <a:buChar char="•"/>
            </a:pPr>
            <a:r>
              <a:rPr lang="en-US" sz="2400" dirty="0">
                <a:solidFill>
                  <a:srgbClr val="333333"/>
                </a:solidFill>
                <a:cs typeface="Arial" pitchFamily="34" charset="0"/>
              </a:rPr>
              <a:t>Python does it so to ensure that subclasses don’t accidentally override the private attributes of the parent class.</a:t>
            </a:r>
          </a:p>
          <a:p>
            <a:pPr marL="342900" lvl="0" indent="-342900" algn="just" fontAlgn="base">
              <a:spcBef>
                <a:spcPct val="0"/>
              </a:spcBef>
              <a:spcAft>
                <a:spcPct val="0"/>
              </a:spcAft>
              <a:buFont typeface="Arial" panose="020B0604020202020204" pitchFamily="34" charset="0"/>
              <a:buChar char="•"/>
            </a:pPr>
            <a:r>
              <a:rPr lang="en-US" sz="2400" dirty="0">
                <a:solidFill>
                  <a:srgbClr val="333333"/>
                </a:solidFill>
                <a:cs typeface="Arial" pitchFamily="34" charset="0"/>
              </a:rPr>
              <a:t>If we replace the name with _</a:t>
            </a:r>
            <a:r>
              <a:rPr lang="en-US" sz="2400" dirty="0" err="1">
                <a:solidFill>
                  <a:srgbClr val="333333"/>
                </a:solidFill>
                <a:cs typeface="Arial" pitchFamily="34" charset="0"/>
              </a:rPr>
              <a:t>BankAccount</a:t>
            </a:r>
            <a:r>
              <a:rPr lang="en-US" sz="2400" dirty="0">
                <a:solidFill>
                  <a:srgbClr val="333333"/>
                </a:solidFill>
                <a:cs typeface="Arial" pitchFamily="34" charset="0"/>
              </a:rPr>
              <a:t>__balance in the print statement, then it works fine.</a:t>
            </a:r>
          </a:p>
          <a:p>
            <a:pPr marL="342900" lvl="0" indent="-342900" algn="just" fontAlgn="base">
              <a:spcBef>
                <a:spcPct val="0"/>
              </a:spcBef>
              <a:spcAft>
                <a:spcPct val="0"/>
              </a:spcAft>
              <a:buFont typeface="Arial" panose="020B0604020202020204" pitchFamily="34" charset="0"/>
              <a:buChar char="•"/>
            </a:pPr>
            <a:endParaRPr lang="en-US" sz="2400" dirty="0">
              <a:solidFill>
                <a:srgbClr val="333333"/>
              </a:solidFill>
              <a:cs typeface="Arial" pitchFamily="34" charset="0"/>
            </a:endParaRPr>
          </a:p>
          <a:p>
            <a:pPr lvl="0" algn="just" fontAlgn="base">
              <a:spcBef>
                <a:spcPct val="0"/>
              </a:spcBef>
              <a:spcAft>
                <a:spcPct val="0"/>
              </a:spcAft>
            </a:pPr>
            <a:r>
              <a:rPr lang="en-US" sz="2400" dirty="0">
                <a:solidFill>
                  <a:srgbClr val="333333"/>
                </a:solidFill>
                <a:cs typeface="Arial" pitchFamily="34" charset="0"/>
              </a:rPr>
              <a:t>print(</a:t>
            </a:r>
            <a:r>
              <a:rPr lang="en-US" sz="2400" dirty="0" err="1">
                <a:solidFill>
                  <a:srgbClr val="333333"/>
                </a:solidFill>
                <a:cs typeface="Arial" pitchFamily="34" charset="0"/>
              </a:rPr>
              <a:t>myaccount</a:t>
            </a:r>
            <a:r>
              <a:rPr lang="en-US" sz="2400" dirty="0">
                <a:solidFill>
                  <a:srgbClr val="333333"/>
                </a:solidFill>
                <a:cs typeface="Arial" pitchFamily="34" charset="0"/>
              </a:rPr>
              <a:t>._</a:t>
            </a:r>
            <a:r>
              <a:rPr lang="en-US" sz="2400" dirty="0" err="1">
                <a:solidFill>
                  <a:srgbClr val="333333"/>
                </a:solidFill>
                <a:cs typeface="Arial" pitchFamily="34" charset="0"/>
              </a:rPr>
              <a:t>BankAccount</a:t>
            </a:r>
            <a:r>
              <a:rPr lang="en-US" sz="2400" dirty="0">
                <a:solidFill>
                  <a:srgbClr val="333333"/>
                </a:solidFill>
                <a:cs typeface="Arial" pitchFamily="34" charset="0"/>
              </a:rPr>
              <a:t>__balance) </a:t>
            </a:r>
          </a:p>
          <a:p>
            <a:pPr lvl="0" algn="just" fontAlgn="base">
              <a:spcBef>
                <a:spcPct val="0"/>
              </a:spcBef>
              <a:spcAft>
                <a:spcPct val="0"/>
              </a:spcAft>
            </a:pPr>
            <a:r>
              <a:rPr lang="en-US" sz="2400" dirty="0">
                <a:solidFill>
                  <a:srgbClr val="333333"/>
                </a:solidFill>
                <a:cs typeface="Arial" pitchFamily="34" charset="0"/>
              </a:rPr>
              <a:t>#outputs '85,33,999‘</a:t>
            </a:r>
          </a:p>
          <a:p>
            <a:pPr marL="342900" lvl="0" indent="-342900" algn="just" fontAlgn="base">
              <a:spcBef>
                <a:spcPct val="0"/>
              </a:spcBef>
              <a:spcAft>
                <a:spcPct val="0"/>
              </a:spcAft>
              <a:buFont typeface="Arial" panose="020B0604020202020204" pitchFamily="34" charset="0"/>
              <a:buChar char="•"/>
            </a:pPr>
            <a:endParaRPr lang="en-US" sz="2400" dirty="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a:solidFill>
                  <a:srgbClr val="333333"/>
                </a:solidFill>
                <a:cs typeface="Arial" pitchFamily="34" charset="0"/>
              </a:rPr>
              <a:t>The same concept is applicable to methods also. Prefixing the __ in the name of the member methods (__</a:t>
            </a:r>
            <a:r>
              <a:rPr lang="en-US" sz="2400" dirty="0" err="1">
                <a:solidFill>
                  <a:srgbClr val="333333"/>
                </a:solidFill>
                <a:cs typeface="Arial" pitchFamily="34" charset="0"/>
              </a:rPr>
              <a:t>displayBalance</a:t>
            </a:r>
            <a:r>
              <a:rPr lang="en-US" sz="2400" dirty="0">
                <a:solidFill>
                  <a:srgbClr val="333333"/>
                </a:solidFill>
                <a:cs typeface="Arial" pitchFamily="34" charset="0"/>
              </a:rPr>
              <a:t>), </a:t>
            </a:r>
            <a:r>
              <a:rPr lang="en-US" sz="2400" dirty="0" smtClean="0">
                <a:solidFill>
                  <a:srgbClr val="333333"/>
                </a:solidFill>
                <a:cs typeface="Arial" pitchFamily="34" charset="0"/>
              </a:rPr>
              <a:t> mangles </a:t>
            </a:r>
            <a:r>
              <a:rPr lang="en-US" sz="2400" dirty="0">
                <a:solidFill>
                  <a:srgbClr val="333333"/>
                </a:solidFill>
                <a:cs typeface="Arial" pitchFamily="34" charset="0"/>
              </a:rPr>
              <a:t>its name (_</a:t>
            </a:r>
            <a:r>
              <a:rPr lang="en-US" sz="2400" dirty="0" err="1">
                <a:solidFill>
                  <a:srgbClr val="333333"/>
                </a:solidFill>
                <a:cs typeface="Arial" pitchFamily="34" charset="0"/>
              </a:rPr>
              <a:t>BankAccount</a:t>
            </a:r>
            <a:r>
              <a:rPr lang="en-US" sz="2400" dirty="0">
                <a:solidFill>
                  <a:srgbClr val="333333"/>
                </a:solidFill>
                <a:cs typeface="Arial" pitchFamily="34" charset="0"/>
              </a:rPr>
              <a:t>__</a:t>
            </a:r>
            <a:r>
              <a:rPr lang="en-US" sz="2400" dirty="0" err="1">
                <a:solidFill>
                  <a:srgbClr val="333333"/>
                </a:solidFill>
                <a:cs typeface="Arial" pitchFamily="34" charset="0"/>
              </a:rPr>
              <a:t>displayBalance</a:t>
            </a:r>
            <a:r>
              <a:rPr lang="en-US" sz="2400" dirty="0">
                <a:solidFill>
                  <a:srgbClr val="333333"/>
                </a:solidFill>
                <a:cs typeface="Arial" pitchFamily="34" charset="0"/>
              </a:rPr>
              <a:t>).</a:t>
            </a:r>
            <a:br>
              <a:rPr lang="en-US" sz="2400" dirty="0">
                <a:solidFill>
                  <a:srgbClr val="333333"/>
                </a:solidFill>
                <a:cs typeface="Arial" pitchFamily="34" charset="0"/>
              </a:rPr>
            </a:br>
            <a:endParaRPr lang="en-US" sz="2400" dirty="0">
              <a:solidFill>
                <a:srgbClr val="333333"/>
              </a:solidFill>
              <a:cs typeface="Arial" pitchFamily="34" charset="0"/>
            </a:endParaRPr>
          </a:p>
        </p:txBody>
      </p:sp>
    </p:spTree>
    <p:extLst>
      <p:ext uri="{BB962C8B-B14F-4D97-AF65-F5344CB8AC3E}">
        <p14:creationId xmlns:p14="http://schemas.microsoft.com/office/powerpoint/2010/main" val="15902276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b="1" dirty="0" smtClean="0"/>
              <a:t>Private variables and methods in python</a:t>
            </a:r>
            <a:endParaRPr lang="en-US" dirty="0"/>
          </a:p>
        </p:txBody>
      </p:sp>
      <p:sp>
        <p:nvSpPr>
          <p:cNvPr id="4" name="TextBox 3"/>
          <p:cNvSpPr txBox="1"/>
          <p:nvPr/>
        </p:nvSpPr>
        <p:spPr>
          <a:xfrm>
            <a:off x="228600" y="838200"/>
            <a:ext cx="8763000" cy="4154984"/>
          </a:xfrm>
          <a:prstGeom prst="rect">
            <a:avLst/>
          </a:prstGeom>
          <a:noFill/>
        </p:spPr>
        <p:txBody>
          <a:bodyPr wrap="square" rtlCol="0">
            <a:spAutoFit/>
          </a:bodyPr>
          <a:lstStyle/>
          <a:p>
            <a:r>
              <a:rPr lang="en-US" sz="2400" dirty="0"/>
              <a:t>class </a:t>
            </a:r>
            <a:r>
              <a:rPr lang="en-US" sz="2400" dirty="0" err="1"/>
              <a:t>BankAccount</a:t>
            </a:r>
            <a:r>
              <a:rPr lang="en-US" sz="2400" dirty="0"/>
              <a:t>: </a:t>
            </a:r>
          </a:p>
          <a:p>
            <a:r>
              <a:rPr lang="en-US" sz="2400" dirty="0"/>
              <a:t>	</a:t>
            </a:r>
            <a:r>
              <a:rPr lang="en-US" sz="2400" dirty="0" err="1"/>
              <a:t>def</a:t>
            </a:r>
            <a:r>
              <a:rPr lang="en-US" sz="2400" dirty="0"/>
              <a:t> __</a:t>
            </a:r>
            <a:r>
              <a:rPr lang="en-US" sz="2400" dirty="0" err="1"/>
              <a:t>init</a:t>
            </a:r>
            <a:r>
              <a:rPr lang="en-US" sz="2400" dirty="0"/>
              <a:t>__(self, balance): </a:t>
            </a:r>
          </a:p>
          <a:p>
            <a:r>
              <a:rPr lang="en-US" sz="2400" dirty="0"/>
              <a:t>		</a:t>
            </a:r>
            <a:r>
              <a:rPr lang="en-US" sz="2400" dirty="0" err="1"/>
              <a:t>self.__balance</a:t>
            </a:r>
            <a:r>
              <a:rPr lang="en-US" sz="2400" dirty="0"/>
              <a:t> = balance  #private variable </a:t>
            </a:r>
          </a:p>
          <a:p>
            <a:r>
              <a:rPr lang="en-US" sz="2400" dirty="0"/>
              <a:t>#private method </a:t>
            </a:r>
          </a:p>
          <a:p>
            <a:r>
              <a:rPr lang="en-US" sz="2400" dirty="0"/>
              <a:t>	</a:t>
            </a:r>
            <a:r>
              <a:rPr lang="en-US" sz="2400" dirty="0" err="1"/>
              <a:t>def</a:t>
            </a:r>
            <a:r>
              <a:rPr lang="en-US" sz="2400" dirty="0"/>
              <a:t> __</a:t>
            </a:r>
            <a:r>
              <a:rPr lang="en-US" sz="2400" dirty="0" err="1"/>
              <a:t>displayBalance</a:t>
            </a:r>
            <a:r>
              <a:rPr lang="en-US" sz="2400" dirty="0"/>
              <a:t>(self): </a:t>
            </a:r>
          </a:p>
          <a:p>
            <a:r>
              <a:rPr lang="en-US" sz="2400" dirty="0"/>
              <a:t>		print("Balance: ", </a:t>
            </a:r>
            <a:r>
              <a:rPr lang="en-US" sz="2400" dirty="0" err="1"/>
              <a:t>self.__balance</a:t>
            </a:r>
            <a:r>
              <a:rPr lang="en-US" sz="2400" dirty="0"/>
              <a:t>) </a:t>
            </a:r>
          </a:p>
          <a:p>
            <a:endParaRPr lang="en-US" sz="2400" dirty="0"/>
          </a:p>
          <a:p>
            <a:r>
              <a:rPr lang="en-US" sz="2400" dirty="0" err="1"/>
              <a:t>myaccount</a:t>
            </a:r>
            <a:r>
              <a:rPr lang="en-US" sz="2400" dirty="0"/>
              <a:t> = </a:t>
            </a:r>
            <a:r>
              <a:rPr lang="en-US" sz="2400" dirty="0" err="1"/>
              <a:t>BankAccount</a:t>
            </a:r>
            <a:r>
              <a:rPr lang="en-US" sz="2400" dirty="0"/>
              <a:t>('85,33,999') </a:t>
            </a:r>
            <a:r>
              <a:rPr lang="en-US" sz="2400" dirty="0" err="1"/>
              <a:t>myaccount</a:t>
            </a:r>
            <a:r>
              <a:rPr lang="en-US" sz="2400" dirty="0"/>
              <a:t>.__</a:t>
            </a:r>
            <a:r>
              <a:rPr lang="en-US" sz="2400" dirty="0" err="1"/>
              <a:t>displayBalance</a:t>
            </a:r>
            <a:r>
              <a:rPr lang="en-US" sz="2400" dirty="0"/>
              <a:t>() </a:t>
            </a:r>
          </a:p>
          <a:p>
            <a:endParaRPr lang="en-US" sz="2400" dirty="0"/>
          </a:p>
          <a:p>
            <a:r>
              <a:rPr lang="en-US" sz="2400" dirty="0"/>
              <a:t>#</a:t>
            </a:r>
            <a:r>
              <a:rPr lang="en-US" sz="2400" dirty="0" err="1"/>
              <a:t>AttributeError</a:t>
            </a:r>
            <a:r>
              <a:rPr lang="en-US" sz="2400" dirty="0"/>
              <a:t>: object has no attribute '__</a:t>
            </a:r>
            <a:r>
              <a:rPr lang="en-US" sz="2400" dirty="0" err="1"/>
              <a:t>displayBalance</a:t>
            </a:r>
            <a:r>
              <a:rPr lang="en-US" sz="2400" dirty="0"/>
              <a:t>'</a:t>
            </a:r>
          </a:p>
        </p:txBody>
      </p:sp>
    </p:spTree>
    <p:extLst>
      <p:ext uri="{BB962C8B-B14F-4D97-AF65-F5344CB8AC3E}">
        <p14:creationId xmlns:p14="http://schemas.microsoft.com/office/powerpoint/2010/main" val="17933176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Important Points</a:t>
            </a:r>
            <a:endParaRPr lang="en-US" dirty="0"/>
          </a:p>
        </p:txBody>
      </p:sp>
      <p:sp>
        <p:nvSpPr>
          <p:cNvPr id="4" name="TextBox 3"/>
          <p:cNvSpPr txBox="1"/>
          <p:nvPr/>
        </p:nvSpPr>
        <p:spPr>
          <a:xfrm>
            <a:off x="228600" y="838200"/>
            <a:ext cx="8763000" cy="2677656"/>
          </a:xfrm>
          <a:prstGeom prst="rect">
            <a:avLst/>
          </a:prstGeom>
          <a:noFill/>
        </p:spPr>
        <p:txBody>
          <a:bodyPr wrap="square" rtlCol="0">
            <a:spAutoFit/>
          </a:bodyPr>
          <a:lstStyle/>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At the </a:t>
            </a:r>
            <a:r>
              <a:rPr lang="en-US" sz="2400" dirty="0">
                <a:solidFill>
                  <a:srgbClr val="333333"/>
                </a:solidFill>
                <a:cs typeface="Arial" pitchFamily="34" charset="0"/>
              </a:rPr>
              <a:t>end, we can conclude that Python has no strict mechanism to make variables and methods private</a:t>
            </a:r>
            <a:r>
              <a:rPr lang="en-US" sz="2400" dirty="0" smtClean="0">
                <a:solidFill>
                  <a:srgbClr val="333333"/>
                </a:solidFill>
                <a:cs typeface="Arial" pitchFamily="34" charset="0"/>
              </a:rPr>
              <a:t>.</a:t>
            </a:r>
          </a:p>
          <a:p>
            <a:pPr marL="342900" lvl="0" indent="-342900" algn="just" fontAlgn="base">
              <a:spcBef>
                <a:spcPct val="0"/>
              </a:spcBef>
              <a:spcAft>
                <a:spcPct val="0"/>
              </a:spcAft>
              <a:buFont typeface="Arial" panose="020B0604020202020204" pitchFamily="34" charset="0"/>
              <a:buChar char="•"/>
            </a:pPr>
            <a:endParaRPr lang="en-US" sz="2400" dirty="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endParaRPr lang="en-US" sz="2400" dirty="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a:solidFill>
                  <a:srgbClr val="333333"/>
                </a:solidFill>
                <a:cs typeface="Arial" pitchFamily="34" charset="0"/>
              </a:rPr>
              <a:t> Although, we can prefix __ (double underscore) in the name as to enforce the name mangling, the attributes can still be accessed by the other classes.</a:t>
            </a:r>
            <a:r>
              <a:rPr lang="en-US" sz="2400" dirty="0">
                <a:cs typeface="Arial" pitchFamily="34" charset="0"/>
              </a:rPr>
              <a:t> </a:t>
            </a:r>
          </a:p>
        </p:txBody>
      </p:sp>
    </p:spTree>
    <p:extLst>
      <p:ext uri="{BB962C8B-B14F-4D97-AF65-F5344CB8AC3E}">
        <p14:creationId xmlns:p14="http://schemas.microsoft.com/office/powerpoint/2010/main" val="334585502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Inner Class in python</a:t>
            </a:r>
            <a:endParaRPr lang="en-US"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342900" lvl="0" indent="-342900" algn="just" fontAlgn="base">
              <a:spcBef>
                <a:spcPct val="0"/>
              </a:spcBef>
              <a:spcAft>
                <a:spcPct val="0"/>
              </a:spcAft>
              <a:buFont typeface="Arial" panose="020B0604020202020204" pitchFamily="34" charset="0"/>
              <a:buChar char="•"/>
            </a:pPr>
            <a:r>
              <a:rPr lang="en-US" sz="2400" dirty="0">
                <a:solidFill>
                  <a:srgbClr val="333333"/>
                </a:solidFill>
                <a:cs typeface="Arial" pitchFamily="34" charset="0"/>
              </a:rPr>
              <a:t>A class defined inside another class is known as an inner class in Python. </a:t>
            </a:r>
            <a:endParaRPr lang="en-US" sz="2400" dirty="0" smtClean="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Sometimes </a:t>
            </a:r>
            <a:r>
              <a:rPr lang="en-US" sz="2400" dirty="0">
                <a:solidFill>
                  <a:srgbClr val="333333"/>
                </a:solidFill>
                <a:cs typeface="Arial" pitchFamily="34" charset="0"/>
              </a:rPr>
              <a:t>inner class is also called nested class. </a:t>
            </a:r>
            <a:endParaRPr lang="en-US" sz="2400" dirty="0" smtClean="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If </a:t>
            </a:r>
            <a:r>
              <a:rPr lang="en-US" sz="2400" dirty="0">
                <a:solidFill>
                  <a:srgbClr val="333333"/>
                </a:solidFill>
                <a:cs typeface="Arial" pitchFamily="34" charset="0"/>
              </a:rPr>
              <a:t>the inner class is instantiated, the object of inner class can also be used by the parent class. </a:t>
            </a:r>
            <a:endParaRPr lang="en-US" sz="2400" dirty="0" smtClean="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Object </a:t>
            </a:r>
            <a:r>
              <a:rPr lang="en-US" sz="2400" dirty="0">
                <a:solidFill>
                  <a:srgbClr val="333333"/>
                </a:solidFill>
                <a:cs typeface="Arial" pitchFamily="34" charset="0"/>
              </a:rPr>
              <a:t>of inner class becomes one of the attributes of the outer class. </a:t>
            </a:r>
            <a:endParaRPr lang="en-US" sz="2400" dirty="0" smtClean="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Inner </a:t>
            </a:r>
            <a:r>
              <a:rPr lang="en-US" sz="2400" dirty="0">
                <a:solidFill>
                  <a:srgbClr val="333333"/>
                </a:solidFill>
                <a:cs typeface="Arial" pitchFamily="34" charset="0"/>
              </a:rPr>
              <a:t>class automatically inherits the attributes of the outer class without formally establishing inheritance</a:t>
            </a:r>
            <a:r>
              <a:rPr lang="en-US" sz="2400" dirty="0" smtClean="0">
                <a:solidFill>
                  <a:srgbClr val="333333"/>
                </a:solidFill>
                <a:cs typeface="Arial" pitchFamily="34" charset="0"/>
              </a:rPr>
              <a:t>.</a:t>
            </a:r>
          </a:p>
          <a:p>
            <a:pPr marL="342900" lvl="0" indent="-342900" algn="just" fontAlgn="base">
              <a:spcBef>
                <a:spcPct val="0"/>
              </a:spcBef>
              <a:spcAft>
                <a:spcPct val="0"/>
              </a:spcAft>
              <a:buFont typeface="Arial" panose="020B0604020202020204" pitchFamily="34" charset="0"/>
              <a:buChar char="•"/>
            </a:pPr>
            <a:r>
              <a:rPr lang="en-US" sz="2400" dirty="0">
                <a:solidFill>
                  <a:srgbClr val="333333"/>
                </a:solidFill>
                <a:cs typeface="Arial" pitchFamily="34" charset="0"/>
              </a:rPr>
              <a:t>An inner class lets you group classes. </a:t>
            </a:r>
            <a:endParaRPr lang="en-US" sz="2400" dirty="0" smtClean="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One </a:t>
            </a:r>
            <a:r>
              <a:rPr lang="en-US" sz="2400" dirty="0">
                <a:solidFill>
                  <a:srgbClr val="333333"/>
                </a:solidFill>
                <a:cs typeface="Arial" pitchFamily="34" charset="0"/>
              </a:rPr>
              <a:t>of the advantages of nesting classes is that it becomes easy to understand which classes are related. </a:t>
            </a:r>
            <a:endParaRPr lang="en-US" sz="2400" dirty="0" smtClean="0">
              <a:solidFill>
                <a:srgbClr val="333333"/>
              </a:solidFill>
              <a:cs typeface="Arial" pitchFamily="34" charset="0"/>
            </a:endParaRPr>
          </a:p>
          <a:p>
            <a:pPr marL="342900" lvl="0" indent="-342900" algn="just" fontAlgn="base">
              <a:spcBef>
                <a:spcPct val="0"/>
              </a:spcBef>
              <a:spcAft>
                <a:spcPct val="0"/>
              </a:spcAft>
              <a:buFont typeface="Arial" panose="020B0604020202020204" pitchFamily="34" charset="0"/>
              <a:buChar char="•"/>
            </a:pPr>
            <a:r>
              <a:rPr lang="en-US" sz="2400" dirty="0" smtClean="0">
                <a:solidFill>
                  <a:srgbClr val="333333"/>
                </a:solidFill>
                <a:cs typeface="Arial" pitchFamily="34" charset="0"/>
              </a:rPr>
              <a:t>The </a:t>
            </a:r>
            <a:r>
              <a:rPr lang="en-US" sz="2400" dirty="0">
                <a:solidFill>
                  <a:srgbClr val="333333"/>
                </a:solidFill>
                <a:cs typeface="Arial" pitchFamily="34" charset="0"/>
              </a:rPr>
              <a:t>inner class has a local scope. It acts as one of the attributes of the outer class</a:t>
            </a:r>
            <a:r>
              <a:rPr lang="en-US" sz="2400" dirty="0" smtClean="0">
                <a:solidFill>
                  <a:srgbClr val="333333"/>
                </a:solidFill>
                <a:cs typeface="Arial" pitchFamily="34" charset="0"/>
              </a:rPr>
              <a:t>.</a:t>
            </a:r>
            <a:endParaRPr lang="en-US" sz="2400" dirty="0">
              <a:solidFill>
                <a:srgbClr val="333333"/>
              </a:solidFill>
              <a:cs typeface="Arial" pitchFamily="34" charset="0"/>
            </a:endParaRPr>
          </a:p>
        </p:txBody>
      </p:sp>
    </p:spTree>
    <p:extLst>
      <p:ext uri="{BB962C8B-B14F-4D97-AF65-F5344CB8AC3E}">
        <p14:creationId xmlns:p14="http://schemas.microsoft.com/office/powerpoint/2010/main" val="41463151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Inner Class in python</a:t>
            </a:r>
            <a:endParaRPr lang="en-US" dirty="0"/>
          </a:p>
        </p:txBody>
      </p:sp>
      <p:sp>
        <p:nvSpPr>
          <p:cNvPr id="4" name="TextBox 3"/>
          <p:cNvSpPr txBox="1"/>
          <p:nvPr/>
        </p:nvSpPr>
        <p:spPr>
          <a:xfrm>
            <a:off x="228600" y="838200"/>
            <a:ext cx="8763000" cy="3293209"/>
          </a:xfrm>
          <a:prstGeom prst="rect">
            <a:avLst/>
          </a:prstGeom>
          <a:noFill/>
        </p:spPr>
        <p:txBody>
          <a:bodyPr wrap="square" rtlCol="0">
            <a:spAutoFit/>
          </a:bodyPr>
          <a:lstStyle/>
          <a:p>
            <a:pPr lvl="0" algn="just" fontAlgn="base">
              <a:spcBef>
                <a:spcPct val="0"/>
              </a:spcBef>
              <a:spcAft>
                <a:spcPct val="0"/>
              </a:spcAft>
            </a:pPr>
            <a:r>
              <a:rPr lang="en-US" sz="3200" dirty="0" smtClean="0">
                <a:solidFill>
                  <a:srgbClr val="333333"/>
                </a:solidFill>
                <a:cs typeface="Arial" pitchFamily="34" charset="0"/>
              </a:rPr>
              <a:t>Syntax :</a:t>
            </a:r>
          </a:p>
          <a:p>
            <a:pPr lvl="0" algn="just" fontAlgn="base">
              <a:spcBef>
                <a:spcPct val="0"/>
              </a:spcBef>
              <a:spcAft>
                <a:spcPct val="0"/>
              </a:spcAft>
            </a:pPr>
            <a:endParaRPr lang="en-US" sz="3200" dirty="0" smtClean="0">
              <a:solidFill>
                <a:srgbClr val="333333"/>
              </a:solidFill>
              <a:cs typeface="Arial" pitchFamily="34" charset="0"/>
            </a:endParaRPr>
          </a:p>
          <a:p>
            <a:pPr lvl="0" algn="just" fontAlgn="base">
              <a:spcBef>
                <a:spcPct val="0"/>
              </a:spcBef>
              <a:spcAft>
                <a:spcPct val="0"/>
              </a:spcAft>
            </a:pPr>
            <a:r>
              <a:rPr lang="en-US" sz="2400" dirty="0" smtClean="0">
                <a:solidFill>
                  <a:srgbClr val="333333"/>
                </a:solidFill>
                <a:cs typeface="Arial" pitchFamily="34" charset="0"/>
              </a:rPr>
              <a:t>class </a:t>
            </a:r>
            <a:r>
              <a:rPr lang="en-US" sz="2400" dirty="0">
                <a:solidFill>
                  <a:srgbClr val="333333"/>
                </a:solidFill>
                <a:cs typeface="Arial" pitchFamily="34" charset="0"/>
              </a:rPr>
              <a:t>outer:</a:t>
            </a:r>
          </a:p>
          <a:p>
            <a:pPr lvl="0" algn="just" fontAlgn="base">
              <a:spcBef>
                <a:spcPct val="0"/>
              </a:spcBef>
              <a:spcAft>
                <a:spcPct val="0"/>
              </a:spcAft>
            </a:pPr>
            <a:r>
              <a:rPr lang="en-US" sz="2400" dirty="0">
                <a:solidFill>
                  <a:srgbClr val="333333"/>
                </a:solidFill>
                <a:cs typeface="Arial" pitchFamily="34" charset="0"/>
              </a:rPr>
              <a:t>   </a:t>
            </a:r>
            <a:r>
              <a:rPr lang="en-US" sz="2400" dirty="0" err="1">
                <a:solidFill>
                  <a:srgbClr val="333333"/>
                </a:solidFill>
                <a:cs typeface="Arial" pitchFamily="34" charset="0"/>
              </a:rPr>
              <a:t>def</a:t>
            </a:r>
            <a:r>
              <a:rPr lang="en-US" sz="2400" dirty="0">
                <a:solidFill>
                  <a:srgbClr val="333333"/>
                </a:solidFill>
                <a:cs typeface="Arial" pitchFamily="34" charset="0"/>
              </a:rPr>
              <a:t> __</a:t>
            </a:r>
            <a:r>
              <a:rPr lang="en-US" sz="2400" dirty="0" err="1">
                <a:solidFill>
                  <a:srgbClr val="333333"/>
                </a:solidFill>
                <a:cs typeface="Arial" pitchFamily="34" charset="0"/>
              </a:rPr>
              <a:t>init</a:t>
            </a:r>
            <a:r>
              <a:rPr lang="en-US" sz="2400" dirty="0">
                <a:solidFill>
                  <a:srgbClr val="333333"/>
                </a:solidFill>
                <a:cs typeface="Arial" pitchFamily="34" charset="0"/>
              </a:rPr>
              <a:t>__(self):</a:t>
            </a:r>
          </a:p>
          <a:p>
            <a:pPr lvl="0" algn="just" fontAlgn="base">
              <a:spcBef>
                <a:spcPct val="0"/>
              </a:spcBef>
              <a:spcAft>
                <a:spcPct val="0"/>
              </a:spcAft>
            </a:pPr>
            <a:r>
              <a:rPr lang="en-US" sz="2400" dirty="0">
                <a:solidFill>
                  <a:srgbClr val="333333"/>
                </a:solidFill>
                <a:cs typeface="Arial" pitchFamily="34" charset="0"/>
              </a:rPr>
              <a:t>      pass</a:t>
            </a:r>
          </a:p>
          <a:p>
            <a:pPr lvl="0" algn="just" fontAlgn="base">
              <a:spcBef>
                <a:spcPct val="0"/>
              </a:spcBef>
              <a:spcAft>
                <a:spcPct val="0"/>
              </a:spcAft>
            </a:pPr>
            <a:r>
              <a:rPr lang="en-US" sz="2400" dirty="0">
                <a:solidFill>
                  <a:srgbClr val="333333"/>
                </a:solidFill>
                <a:cs typeface="Arial" pitchFamily="34" charset="0"/>
              </a:rPr>
              <a:t>   class inner:</a:t>
            </a:r>
          </a:p>
          <a:p>
            <a:pPr lvl="0" algn="just" fontAlgn="base">
              <a:spcBef>
                <a:spcPct val="0"/>
              </a:spcBef>
              <a:spcAft>
                <a:spcPct val="0"/>
              </a:spcAft>
            </a:pPr>
            <a:r>
              <a:rPr lang="en-US" sz="2400" dirty="0">
                <a:solidFill>
                  <a:srgbClr val="333333"/>
                </a:solidFill>
                <a:cs typeface="Arial" pitchFamily="34" charset="0"/>
              </a:rPr>
              <a:t>      </a:t>
            </a:r>
            <a:r>
              <a:rPr lang="en-US" sz="2400" dirty="0" err="1">
                <a:solidFill>
                  <a:srgbClr val="333333"/>
                </a:solidFill>
                <a:cs typeface="Arial" pitchFamily="34" charset="0"/>
              </a:rPr>
              <a:t>def</a:t>
            </a:r>
            <a:r>
              <a:rPr lang="en-US" sz="2400" dirty="0">
                <a:solidFill>
                  <a:srgbClr val="333333"/>
                </a:solidFill>
                <a:cs typeface="Arial" pitchFamily="34" charset="0"/>
              </a:rPr>
              <a:t> __</a:t>
            </a:r>
            <a:r>
              <a:rPr lang="en-US" sz="2400" dirty="0" err="1">
                <a:solidFill>
                  <a:srgbClr val="333333"/>
                </a:solidFill>
                <a:cs typeface="Arial" pitchFamily="34" charset="0"/>
              </a:rPr>
              <a:t>init</a:t>
            </a:r>
            <a:r>
              <a:rPr lang="en-US" sz="2400" dirty="0">
                <a:solidFill>
                  <a:srgbClr val="333333"/>
                </a:solidFill>
                <a:cs typeface="Arial" pitchFamily="34" charset="0"/>
              </a:rPr>
              <a:t>__(self):</a:t>
            </a:r>
          </a:p>
          <a:p>
            <a:pPr lvl="0" algn="just" fontAlgn="base">
              <a:spcBef>
                <a:spcPct val="0"/>
              </a:spcBef>
              <a:spcAft>
                <a:spcPct val="0"/>
              </a:spcAft>
            </a:pPr>
            <a:r>
              <a:rPr lang="en-US" sz="2400" dirty="0">
                <a:solidFill>
                  <a:srgbClr val="333333"/>
                </a:solidFill>
                <a:cs typeface="Arial" pitchFamily="34" charset="0"/>
              </a:rPr>
              <a:t>         pass</a:t>
            </a:r>
          </a:p>
        </p:txBody>
      </p:sp>
    </p:spTree>
    <p:extLst>
      <p:ext uri="{BB962C8B-B14F-4D97-AF65-F5344CB8AC3E}">
        <p14:creationId xmlns:p14="http://schemas.microsoft.com/office/powerpoint/2010/main" val="361278855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Inner Class in python</a:t>
            </a:r>
            <a:endParaRPr lang="en-US" dirty="0"/>
          </a:p>
        </p:txBody>
      </p:sp>
      <p:sp>
        <p:nvSpPr>
          <p:cNvPr id="4" name="TextBox 3"/>
          <p:cNvSpPr txBox="1"/>
          <p:nvPr/>
        </p:nvSpPr>
        <p:spPr>
          <a:xfrm>
            <a:off x="228600" y="838200"/>
            <a:ext cx="8763000" cy="5940088"/>
          </a:xfrm>
          <a:prstGeom prst="rect">
            <a:avLst/>
          </a:prstGeom>
          <a:noFill/>
        </p:spPr>
        <p:txBody>
          <a:bodyPr wrap="square" rtlCol="0">
            <a:spAutoFit/>
          </a:bodyPr>
          <a:lstStyle/>
          <a:p>
            <a:pPr lvl="0" algn="just" fontAlgn="base">
              <a:spcBef>
                <a:spcPct val="0"/>
              </a:spcBef>
              <a:spcAft>
                <a:spcPct val="0"/>
              </a:spcAft>
            </a:pPr>
            <a:r>
              <a:rPr lang="en-US" sz="2000" b="1" dirty="0" smtClean="0">
                <a:solidFill>
                  <a:srgbClr val="333333"/>
                </a:solidFill>
                <a:cs typeface="Arial" pitchFamily="34" charset="0"/>
              </a:rPr>
              <a:t>Example</a:t>
            </a:r>
          </a:p>
          <a:p>
            <a:pPr lvl="0" algn="just" fontAlgn="base">
              <a:spcBef>
                <a:spcPct val="0"/>
              </a:spcBef>
              <a:spcAft>
                <a:spcPct val="0"/>
              </a:spcAft>
            </a:pPr>
            <a:r>
              <a:rPr lang="en-US" sz="2000" dirty="0" smtClean="0">
                <a:solidFill>
                  <a:srgbClr val="333333"/>
                </a:solidFill>
                <a:cs typeface="Arial" pitchFamily="34" charset="0"/>
              </a:rPr>
              <a:t>class </a:t>
            </a:r>
            <a:r>
              <a:rPr lang="en-US" sz="2000" dirty="0">
                <a:solidFill>
                  <a:srgbClr val="333333"/>
                </a:solidFill>
                <a:cs typeface="Arial" pitchFamily="34" charset="0"/>
              </a:rPr>
              <a:t>student:</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def</a:t>
            </a:r>
            <a:r>
              <a:rPr lang="en-US" sz="2000" dirty="0">
                <a:solidFill>
                  <a:srgbClr val="333333"/>
                </a:solidFill>
                <a:cs typeface="Arial" pitchFamily="34" charset="0"/>
              </a:rPr>
              <a:t> __</a:t>
            </a:r>
            <a:r>
              <a:rPr lang="en-US" sz="2000" dirty="0" err="1">
                <a:solidFill>
                  <a:srgbClr val="333333"/>
                </a:solidFill>
                <a:cs typeface="Arial" pitchFamily="34" charset="0"/>
              </a:rPr>
              <a:t>init</a:t>
            </a:r>
            <a:r>
              <a:rPr lang="en-US" sz="2000" dirty="0">
                <a:solidFill>
                  <a:srgbClr val="333333"/>
                </a:solidFill>
                <a:cs typeface="Arial" pitchFamily="34" charset="0"/>
              </a:rPr>
              <a:t>__(self):</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self.name</a:t>
            </a:r>
            <a:r>
              <a:rPr lang="en-US" sz="2000" dirty="0">
                <a:solidFill>
                  <a:srgbClr val="333333"/>
                </a:solidFill>
                <a:cs typeface="Arial" pitchFamily="34" charset="0"/>
              </a:rPr>
              <a:t> = "Ashish"</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self.subs</a:t>
            </a:r>
            <a:r>
              <a:rPr lang="en-US" sz="2000" dirty="0">
                <a:solidFill>
                  <a:srgbClr val="333333"/>
                </a:solidFill>
                <a:cs typeface="Arial" pitchFamily="34" charset="0"/>
              </a:rPr>
              <a:t> = </a:t>
            </a:r>
            <a:r>
              <a:rPr lang="en-US" sz="2000" dirty="0" err="1">
                <a:solidFill>
                  <a:srgbClr val="333333"/>
                </a:solidFill>
                <a:cs typeface="Arial" pitchFamily="34" charset="0"/>
              </a:rPr>
              <a:t>self.subjects</a:t>
            </a:r>
            <a:r>
              <a:rPr lang="en-US" sz="2000" dirty="0">
                <a:solidFill>
                  <a:srgbClr val="333333"/>
                </a:solidFill>
                <a:cs typeface="Arial" pitchFamily="34" charset="0"/>
              </a:rPr>
              <a:t>()</a:t>
            </a:r>
          </a:p>
          <a:p>
            <a:pPr lvl="0" algn="just" fontAlgn="base">
              <a:spcBef>
                <a:spcPct val="0"/>
              </a:spcBef>
              <a:spcAft>
                <a:spcPct val="0"/>
              </a:spcAft>
            </a:pPr>
            <a:r>
              <a:rPr lang="en-US" sz="2000" dirty="0">
                <a:solidFill>
                  <a:srgbClr val="333333"/>
                </a:solidFill>
                <a:cs typeface="Arial" pitchFamily="34" charset="0"/>
              </a:rPr>
              <a:t>      return</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def</a:t>
            </a:r>
            <a:r>
              <a:rPr lang="en-US" sz="2000" dirty="0">
                <a:solidFill>
                  <a:srgbClr val="333333"/>
                </a:solidFill>
                <a:cs typeface="Arial" pitchFamily="34" charset="0"/>
              </a:rPr>
              <a:t> show(self):</a:t>
            </a:r>
          </a:p>
          <a:p>
            <a:pPr lvl="0" algn="just" fontAlgn="base">
              <a:spcBef>
                <a:spcPct val="0"/>
              </a:spcBef>
              <a:spcAft>
                <a:spcPct val="0"/>
              </a:spcAft>
            </a:pPr>
            <a:r>
              <a:rPr lang="en-US" sz="2000" dirty="0">
                <a:solidFill>
                  <a:srgbClr val="333333"/>
                </a:solidFill>
                <a:cs typeface="Arial" pitchFamily="34" charset="0"/>
              </a:rPr>
              <a:t>      print ("Name:", </a:t>
            </a:r>
            <a:r>
              <a:rPr lang="en-US" sz="2000" dirty="0" err="1">
                <a:solidFill>
                  <a:srgbClr val="333333"/>
                </a:solidFill>
                <a:cs typeface="Arial" pitchFamily="34" charset="0"/>
              </a:rPr>
              <a:t>self.name</a:t>
            </a:r>
            <a:r>
              <a:rPr lang="en-US" sz="2000" dirty="0">
                <a:solidFill>
                  <a:srgbClr val="333333"/>
                </a:solidFill>
                <a:cs typeface="Arial" pitchFamily="34" charset="0"/>
              </a:rPr>
              <a:t>)</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self.subs.display</a:t>
            </a:r>
            <a:r>
              <a:rPr lang="en-US" sz="2000" dirty="0">
                <a:solidFill>
                  <a:srgbClr val="333333"/>
                </a:solidFill>
                <a:cs typeface="Arial" pitchFamily="34" charset="0"/>
              </a:rPr>
              <a:t>()</a:t>
            </a:r>
          </a:p>
          <a:p>
            <a:pPr lvl="0" algn="just" fontAlgn="base">
              <a:spcBef>
                <a:spcPct val="0"/>
              </a:spcBef>
              <a:spcAft>
                <a:spcPct val="0"/>
              </a:spcAft>
            </a:pPr>
            <a:r>
              <a:rPr lang="en-US" sz="2000" dirty="0">
                <a:solidFill>
                  <a:srgbClr val="333333"/>
                </a:solidFill>
                <a:cs typeface="Arial" pitchFamily="34" charset="0"/>
              </a:rPr>
              <a:t>   class subjects:</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def</a:t>
            </a:r>
            <a:r>
              <a:rPr lang="en-US" sz="2000" dirty="0">
                <a:solidFill>
                  <a:srgbClr val="333333"/>
                </a:solidFill>
                <a:cs typeface="Arial" pitchFamily="34" charset="0"/>
              </a:rPr>
              <a:t> __</a:t>
            </a:r>
            <a:r>
              <a:rPr lang="en-US" sz="2000" dirty="0" err="1">
                <a:solidFill>
                  <a:srgbClr val="333333"/>
                </a:solidFill>
                <a:cs typeface="Arial" pitchFamily="34" charset="0"/>
              </a:rPr>
              <a:t>init</a:t>
            </a:r>
            <a:r>
              <a:rPr lang="en-US" sz="2000" dirty="0">
                <a:solidFill>
                  <a:srgbClr val="333333"/>
                </a:solidFill>
                <a:cs typeface="Arial" pitchFamily="34" charset="0"/>
              </a:rPr>
              <a:t>__(self):</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self.sub1</a:t>
            </a:r>
            <a:r>
              <a:rPr lang="en-US" sz="2000" dirty="0">
                <a:solidFill>
                  <a:srgbClr val="333333"/>
                </a:solidFill>
                <a:cs typeface="Arial" pitchFamily="34" charset="0"/>
              </a:rPr>
              <a:t> = "</a:t>
            </a:r>
            <a:r>
              <a:rPr lang="en-US" sz="2000" dirty="0" err="1">
                <a:solidFill>
                  <a:srgbClr val="333333"/>
                </a:solidFill>
                <a:cs typeface="Arial" pitchFamily="34" charset="0"/>
              </a:rPr>
              <a:t>Phy</a:t>
            </a:r>
            <a:r>
              <a:rPr lang="en-US" sz="2000" dirty="0">
                <a:solidFill>
                  <a:srgbClr val="333333"/>
                </a:solidFill>
                <a:cs typeface="Arial" pitchFamily="34" charset="0"/>
              </a:rPr>
              <a:t>"</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self.sub2</a:t>
            </a:r>
            <a:r>
              <a:rPr lang="en-US" sz="2000" dirty="0">
                <a:solidFill>
                  <a:srgbClr val="333333"/>
                </a:solidFill>
                <a:cs typeface="Arial" pitchFamily="34" charset="0"/>
              </a:rPr>
              <a:t> = "</a:t>
            </a:r>
            <a:r>
              <a:rPr lang="en-US" sz="2000" dirty="0" err="1">
                <a:solidFill>
                  <a:srgbClr val="333333"/>
                </a:solidFill>
                <a:cs typeface="Arial" pitchFamily="34" charset="0"/>
              </a:rPr>
              <a:t>Che</a:t>
            </a:r>
            <a:r>
              <a:rPr lang="en-US" sz="2000" dirty="0">
                <a:solidFill>
                  <a:srgbClr val="333333"/>
                </a:solidFill>
                <a:cs typeface="Arial" pitchFamily="34" charset="0"/>
              </a:rPr>
              <a:t>"</a:t>
            </a:r>
          </a:p>
          <a:p>
            <a:pPr lvl="0" algn="just" fontAlgn="base">
              <a:spcBef>
                <a:spcPct val="0"/>
              </a:spcBef>
              <a:spcAft>
                <a:spcPct val="0"/>
              </a:spcAft>
            </a:pPr>
            <a:r>
              <a:rPr lang="en-US" sz="2000" dirty="0">
                <a:solidFill>
                  <a:srgbClr val="333333"/>
                </a:solidFill>
                <a:cs typeface="Arial" pitchFamily="34" charset="0"/>
              </a:rPr>
              <a:t>         return</a:t>
            </a:r>
          </a:p>
          <a:p>
            <a:pPr lvl="0" algn="just" fontAlgn="base">
              <a:spcBef>
                <a:spcPct val="0"/>
              </a:spcBef>
              <a:spcAft>
                <a:spcPct val="0"/>
              </a:spcAft>
            </a:pPr>
            <a:r>
              <a:rPr lang="en-US" sz="2000" dirty="0">
                <a:solidFill>
                  <a:srgbClr val="333333"/>
                </a:solidFill>
                <a:cs typeface="Arial" pitchFamily="34" charset="0"/>
              </a:rPr>
              <a:t>      </a:t>
            </a:r>
            <a:r>
              <a:rPr lang="en-US" sz="2000" dirty="0" err="1">
                <a:solidFill>
                  <a:srgbClr val="333333"/>
                </a:solidFill>
                <a:cs typeface="Arial" pitchFamily="34" charset="0"/>
              </a:rPr>
              <a:t>def</a:t>
            </a:r>
            <a:r>
              <a:rPr lang="en-US" sz="2000" dirty="0">
                <a:solidFill>
                  <a:srgbClr val="333333"/>
                </a:solidFill>
                <a:cs typeface="Arial" pitchFamily="34" charset="0"/>
              </a:rPr>
              <a:t> display(self):</a:t>
            </a:r>
          </a:p>
          <a:p>
            <a:pPr lvl="0" algn="just" fontAlgn="base">
              <a:spcBef>
                <a:spcPct val="0"/>
              </a:spcBef>
              <a:spcAft>
                <a:spcPct val="0"/>
              </a:spcAft>
            </a:pPr>
            <a:r>
              <a:rPr lang="en-US" sz="2000" dirty="0">
                <a:solidFill>
                  <a:srgbClr val="333333"/>
                </a:solidFill>
                <a:cs typeface="Arial" pitchFamily="34" charset="0"/>
              </a:rPr>
              <a:t>         print ("Subjects:",</a:t>
            </a:r>
            <a:r>
              <a:rPr lang="en-US" sz="2000" dirty="0" err="1">
                <a:solidFill>
                  <a:srgbClr val="333333"/>
                </a:solidFill>
                <a:cs typeface="Arial" pitchFamily="34" charset="0"/>
              </a:rPr>
              <a:t>self.sub1</a:t>
            </a:r>
            <a:r>
              <a:rPr lang="en-US" sz="2000" dirty="0">
                <a:solidFill>
                  <a:srgbClr val="333333"/>
                </a:solidFill>
                <a:cs typeface="Arial" pitchFamily="34" charset="0"/>
              </a:rPr>
              <a:t>, </a:t>
            </a:r>
            <a:r>
              <a:rPr lang="en-US" sz="2000" dirty="0" err="1">
                <a:solidFill>
                  <a:srgbClr val="333333"/>
                </a:solidFill>
                <a:cs typeface="Arial" pitchFamily="34" charset="0"/>
              </a:rPr>
              <a:t>self.sub2</a:t>
            </a:r>
            <a:r>
              <a:rPr lang="en-US" sz="2000" dirty="0">
                <a:solidFill>
                  <a:srgbClr val="333333"/>
                </a:solidFill>
                <a:cs typeface="Arial" pitchFamily="34" charset="0"/>
              </a:rPr>
              <a:t>)</a:t>
            </a:r>
          </a:p>
          <a:p>
            <a:pPr lvl="0" algn="just" fontAlgn="base">
              <a:spcBef>
                <a:spcPct val="0"/>
              </a:spcBef>
              <a:spcAft>
                <a:spcPct val="0"/>
              </a:spcAft>
            </a:pPr>
            <a:r>
              <a:rPr lang="en-US" sz="2000" dirty="0">
                <a:solidFill>
                  <a:srgbClr val="333333"/>
                </a:solidFill>
                <a:cs typeface="Arial" pitchFamily="34" charset="0"/>
              </a:rPr>
              <a:t>         </a:t>
            </a:r>
          </a:p>
          <a:p>
            <a:pPr lvl="0" algn="just" fontAlgn="base">
              <a:spcBef>
                <a:spcPct val="0"/>
              </a:spcBef>
              <a:spcAft>
                <a:spcPct val="0"/>
              </a:spcAft>
            </a:pPr>
            <a:r>
              <a:rPr lang="en-US" sz="2000" dirty="0" err="1">
                <a:solidFill>
                  <a:srgbClr val="333333"/>
                </a:solidFill>
                <a:cs typeface="Arial" pitchFamily="34" charset="0"/>
              </a:rPr>
              <a:t>s1</a:t>
            </a:r>
            <a:r>
              <a:rPr lang="en-US" sz="2000" dirty="0">
                <a:solidFill>
                  <a:srgbClr val="333333"/>
                </a:solidFill>
                <a:cs typeface="Arial" pitchFamily="34" charset="0"/>
              </a:rPr>
              <a:t> = student()</a:t>
            </a:r>
          </a:p>
          <a:p>
            <a:pPr lvl="0" algn="just" fontAlgn="base">
              <a:spcBef>
                <a:spcPct val="0"/>
              </a:spcBef>
              <a:spcAft>
                <a:spcPct val="0"/>
              </a:spcAft>
            </a:pPr>
            <a:r>
              <a:rPr lang="en-US" sz="2000" dirty="0" err="1">
                <a:solidFill>
                  <a:srgbClr val="333333"/>
                </a:solidFill>
                <a:cs typeface="Arial" pitchFamily="34" charset="0"/>
              </a:rPr>
              <a:t>s1.show</a:t>
            </a:r>
            <a:r>
              <a:rPr lang="en-US" sz="2000" dirty="0">
                <a:solidFill>
                  <a:srgbClr val="333333"/>
                </a:solidFill>
                <a:cs typeface="Arial" pitchFamily="34" charset="0"/>
              </a:rPr>
              <a:t>()</a:t>
            </a:r>
            <a:endParaRPr lang="en-US" sz="1600" dirty="0">
              <a:solidFill>
                <a:srgbClr val="333333"/>
              </a:solidFill>
              <a:cs typeface="Arial" pitchFamily="34" charset="0"/>
            </a:endParaRPr>
          </a:p>
        </p:txBody>
      </p:sp>
      <p:sp>
        <p:nvSpPr>
          <p:cNvPr id="3" name="TextBox 2"/>
          <p:cNvSpPr txBox="1"/>
          <p:nvPr/>
        </p:nvSpPr>
        <p:spPr>
          <a:xfrm>
            <a:off x="6324600" y="2667000"/>
            <a:ext cx="2133600" cy="1200329"/>
          </a:xfrm>
          <a:prstGeom prst="rect">
            <a:avLst/>
          </a:prstGeom>
          <a:noFill/>
        </p:spPr>
        <p:txBody>
          <a:bodyPr wrap="square" rtlCol="0">
            <a:spAutoFit/>
          </a:bodyPr>
          <a:lstStyle/>
          <a:p>
            <a:r>
              <a:rPr lang="en-US" b="1" dirty="0" smtClean="0"/>
              <a:t>Output :</a:t>
            </a:r>
          </a:p>
          <a:p>
            <a:endParaRPr lang="en-US" dirty="0" smtClean="0"/>
          </a:p>
          <a:p>
            <a:r>
              <a:rPr lang="en-US" dirty="0" smtClean="0"/>
              <a:t>Name</a:t>
            </a:r>
            <a:r>
              <a:rPr lang="en-US" dirty="0"/>
              <a:t>: Ashish</a:t>
            </a:r>
          </a:p>
          <a:p>
            <a:r>
              <a:rPr lang="en-US" dirty="0"/>
              <a:t>Subjects: </a:t>
            </a:r>
            <a:r>
              <a:rPr lang="en-US" dirty="0" err="1"/>
              <a:t>Phy</a:t>
            </a:r>
            <a:r>
              <a:rPr lang="en-US" dirty="0"/>
              <a:t> </a:t>
            </a:r>
            <a:r>
              <a:rPr lang="en-US" dirty="0" err="1"/>
              <a:t>Che</a:t>
            </a:r>
            <a:endParaRPr lang="en-IN" dirty="0"/>
          </a:p>
        </p:txBody>
      </p:sp>
    </p:spTree>
    <p:extLst>
      <p:ext uri="{BB962C8B-B14F-4D97-AF65-F5344CB8AC3E}">
        <p14:creationId xmlns:p14="http://schemas.microsoft.com/office/powerpoint/2010/main" val="290519234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Inheritance</a:t>
            </a:r>
            <a:endParaRPr lang="en-US"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Inheritance is an important aspect of the object-oriented paradigm. </a:t>
            </a:r>
            <a:endParaRPr lang="en-US" sz="2400" dirty="0" smtClean="0"/>
          </a:p>
          <a:p>
            <a:pPr marL="342900" indent="-342900" algn="just">
              <a:buFont typeface="Arial" panose="020B0604020202020204" pitchFamily="34" charset="0"/>
              <a:buChar char="•"/>
            </a:pPr>
            <a:r>
              <a:rPr lang="en-US" sz="2400" dirty="0" smtClean="0"/>
              <a:t>Inheritance </a:t>
            </a:r>
            <a:r>
              <a:rPr lang="en-US" sz="2400" dirty="0"/>
              <a:t>provides code reusability to the program because we can use an existing class to create a new class instead of creating it from scratch.</a:t>
            </a:r>
            <a:endParaRPr lang="en-IN" sz="2400" dirty="0"/>
          </a:p>
          <a:p>
            <a:pPr marL="342900" indent="-342900" algn="just">
              <a:buFont typeface="Arial" panose="020B0604020202020204" pitchFamily="34" charset="0"/>
              <a:buChar char="•"/>
            </a:pPr>
            <a:r>
              <a:rPr lang="en-US" sz="2400" dirty="0"/>
              <a:t>In inheritance, the child class acquires the properties and can access all the data members and functions defined in the parent class. </a:t>
            </a:r>
            <a:endParaRPr lang="en-US" sz="2400" dirty="0" smtClean="0"/>
          </a:p>
          <a:p>
            <a:pPr marL="342900" indent="-342900" algn="just">
              <a:buFont typeface="Arial" panose="020B0604020202020204" pitchFamily="34" charset="0"/>
              <a:buChar char="•"/>
            </a:pPr>
            <a:r>
              <a:rPr lang="en-US" sz="2400" dirty="0" smtClean="0"/>
              <a:t>A </a:t>
            </a:r>
            <a:r>
              <a:rPr lang="en-US" sz="2400" dirty="0"/>
              <a:t>child class can also provide its specific implementation to the functions of the parent class. </a:t>
            </a:r>
            <a:endParaRPr lang="en-IN" sz="2400" dirty="0"/>
          </a:p>
          <a:p>
            <a:pPr marL="342900" indent="-342900" algn="just">
              <a:buFont typeface="Arial" panose="020B0604020202020204" pitchFamily="34" charset="0"/>
              <a:buChar char="•"/>
            </a:pPr>
            <a:r>
              <a:rPr lang="en-US" sz="2400" dirty="0"/>
              <a:t>In python, a derived class can inherit base class by just mentioning the base in the bracket after the derived class name. </a:t>
            </a:r>
            <a:endParaRPr lang="en-US" sz="2400" dirty="0" smtClean="0"/>
          </a:p>
          <a:p>
            <a:pPr marL="342900" indent="-342900" algn="just">
              <a:buFont typeface="Arial" panose="020B0604020202020204" pitchFamily="34" charset="0"/>
              <a:buChar char="•"/>
            </a:pPr>
            <a:r>
              <a:rPr lang="en-US" sz="2400" dirty="0" smtClean="0"/>
              <a:t>Consider </a:t>
            </a:r>
            <a:r>
              <a:rPr lang="en-US" sz="2400" dirty="0"/>
              <a:t>the following syntax to inherit a base class into the derived class.</a:t>
            </a:r>
            <a:endParaRPr lang="en-IN" sz="2400" dirty="0"/>
          </a:p>
        </p:txBody>
      </p:sp>
    </p:spTree>
    <p:extLst>
      <p:ext uri="{BB962C8B-B14F-4D97-AF65-F5344CB8AC3E}">
        <p14:creationId xmlns:p14="http://schemas.microsoft.com/office/powerpoint/2010/main" val="8512575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Inheritance</a:t>
            </a:r>
            <a:endParaRPr lang="en-US" dirty="0"/>
          </a:p>
        </p:txBody>
      </p:sp>
      <p:pic>
        <p:nvPicPr>
          <p:cNvPr id="5" name="image15.png" descr="Python Inheritance"/>
          <p:cNvPicPr/>
          <p:nvPr/>
        </p:nvPicPr>
        <p:blipFill>
          <a:blip r:embed="rId2"/>
          <a:srcRect/>
          <a:stretch>
            <a:fillRect/>
          </a:stretch>
        </p:blipFill>
        <p:spPr>
          <a:xfrm>
            <a:off x="2971800" y="1752600"/>
            <a:ext cx="3048000" cy="3683000"/>
          </a:xfrm>
          <a:prstGeom prst="rect">
            <a:avLst/>
          </a:prstGeom>
          <a:ln/>
        </p:spPr>
      </p:pic>
    </p:spTree>
    <p:extLst>
      <p:ext uri="{BB962C8B-B14F-4D97-AF65-F5344CB8AC3E}">
        <p14:creationId xmlns:p14="http://schemas.microsoft.com/office/powerpoint/2010/main" val="6939351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Inheritance</a:t>
            </a:r>
            <a:endParaRPr lang="en-US" dirty="0"/>
          </a:p>
        </p:txBody>
      </p:sp>
      <p:sp>
        <p:nvSpPr>
          <p:cNvPr id="4" name="TextBox 3"/>
          <p:cNvSpPr txBox="1"/>
          <p:nvPr/>
        </p:nvSpPr>
        <p:spPr>
          <a:xfrm>
            <a:off x="228600" y="838200"/>
            <a:ext cx="8763000" cy="4893647"/>
          </a:xfrm>
          <a:prstGeom prst="rect">
            <a:avLst/>
          </a:prstGeom>
          <a:noFill/>
        </p:spPr>
        <p:txBody>
          <a:bodyPr wrap="square" rtlCol="0">
            <a:spAutoFit/>
          </a:bodyPr>
          <a:lstStyle/>
          <a:p>
            <a:pPr algn="just"/>
            <a:r>
              <a:rPr lang="en-US" sz="2400" b="1" dirty="0" smtClean="0"/>
              <a:t>Syntax :</a:t>
            </a:r>
            <a:endParaRPr lang="en-US" sz="2400" b="1" dirty="0"/>
          </a:p>
          <a:p>
            <a:pPr algn="just"/>
            <a:r>
              <a:rPr lang="en-US" sz="2400" dirty="0"/>
              <a:t>class derived-class(base class):  </a:t>
            </a:r>
          </a:p>
          <a:p>
            <a:pPr algn="just"/>
            <a:r>
              <a:rPr lang="en-US" sz="2400" dirty="0"/>
              <a:t>    &lt;class-suite&gt; </a:t>
            </a:r>
            <a:endParaRPr lang="en-US" sz="2400" dirty="0" smtClean="0"/>
          </a:p>
          <a:p>
            <a:pPr algn="just"/>
            <a:endParaRPr lang="en-US" sz="2400" dirty="0"/>
          </a:p>
          <a:p>
            <a:pPr algn="just"/>
            <a:endParaRPr lang="en-US" sz="2400" dirty="0" smtClean="0"/>
          </a:p>
          <a:p>
            <a:pPr marL="342900" indent="-342900" algn="just">
              <a:buFont typeface="Arial" panose="020B0604020202020204" pitchFamily="34" charset="0"/>
              <a:buChar char="•"/>
            </a:pPr>
            <a:r>
              <a:rPr lang="en-US" sz="2400" dirty="0"/>
              <a:t>A class can inherit multiple classes by mentioning all of them inside the bracket. Consider the following syntax</a:t>
            </a:r>
            <a:r>
              <a:rPr lang="en-US" sz="2400" dirty="0" smtClean="0"/>
              <a:t>.</a:t>
            </a:r>
          </a:p>
          <a:p>
            <a:pPr marL="342900" indent="-342900" algn="just">
              <a:buFont typeface="Arial" panose="020B0604020202020204" pitchFamily="34" charset="0"/>
              <a:buChar char="•"/>
            </a:pPr>
            <a:endParaRPr lang="en-US" sz="2400" dirty="0"/>
          </a:p>
          <a:p>
            <a:pPr algn="just"/>
            <a:r>
              <a:rPr lang="en-US" sz="2400" b="1" dirty="0" smtClean="0"/>
              <a:t>Syntax :</a:t>
            </a:r>
            <a:endParaRPr lang="en-US" sz="2400" b="1" dirty="0"/>
          </a:p>
          <a:p>
            <a:pPr algn="just"/>
            <a:r>
              <a:rPr lang="en-US" sz="2400" dirty="0"/>
              <a:t>class derive-class(&lt;base class 1&gt;, &lt;base class 2&gt;, ..... &lt;base class n&gt;):  </a:t>
            </a:r>
          </a:p>
          <a:p>
            <a:pPr algn="just"/>
            <a:r>
              <a:rPr lang="en-US" sz="2400" dirty="0"/>
              <a:t>    &lt;class - suite&gt; </a:t>
            </a:r>
            <a:endParaRPr lang="en-US" sz="2400" dirty="0" smtClean="0"/>
          </a:p>
          <a:p>
            <a:pPr algn="just"/>
            <a:endParaRPr lang="en-US" sz="2400" dirty="0"/>
          </a:p>
          <a:p>
            <a:pPr algn="just"/>
            <a:endParaRPr lang="en-IN" sz="2400" dirty="0"/>
          </a:p>
        </p:txBody>
      </p:sp>
    </p:spTree>
    <p:extLst>
      <p:ext uri="{BB962C8B-B14F-4D97-AF65-F5344CB8AC3E}">
        <p14:creationId xmlns:p14="http://schemas.microsoft.com/office/powerpoint/2010/main" val="20738699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Inheritance</a:t>
            </a:r>
            <a:endParaRPr lang="en-US" dirty="0"/>
          </a:p>
        </p:txBody>
      </p:sp>
      <p:sp>
        <p:nvSpPr>
          <p:cNvPr id="4" name="TextBox 3"/>
          <p:cNvSpPr txBox="1"/>
          <p:nvPr/>
        </p:nvSpPr>
        <p:spPr>
          <a:xfrm>
            <a:off x="228600" y="838200"/>
            <a:ext cx="8763000" cy="5632311"/>
          </a:xfrm>
          <a:prstGeom prst="rect">
            <a:avLst/>
          </a:prstGeom>
          <a:noFill/>
        </p:spPr>
        <p:txBody>
          <a:bodyPr wrap="square" rtlCol="0">
            <a:spAutoFit/>
          </a:bodyPr>
          <a:lstStyle/>
          <a:p>
            <a:pPr algn="just"/>
            <a:r>
              <a:rPr lang="en-US" sz="2400" b="1" dirty="0" smtClean="0"/>
              <a:t>Example :</a:t>
            </a:r>
          </a:p>
          <a:p>
            <a:pPr algn="just"/>
            <a:r>
              <a:rPr lang="en-US" sz="2400" dirty="0" smtClean="0"/>
              <a:t>class </a:t>
            </a:r>
            <a:r>
              <a:rPr lang="en-US" sz="2400" dirty="0"/>
              <a:t>Animal:  </a:t>
            </a:r>
          </a:p>
          <a:p>
            <a:pPr algn="just"/>
            <a:r>
              <a:rPr lang="en-US" sz="2400" dirty="0"/>
              <a:t>    </a:t>
            </a:r>
            <a:r>
              <a:rPr lang="en-US" sz="2400" dirty="0" err="1"/>
              <a:t>def</a:t>
            </a:r>
            <a:r>
              <a:rPr lang="en-US" sz="2400" dirty="0"/>
              <a:t> speak(self):  </a:t>
            </a:r>
          </a:p>
          <a:p>
            <a:pPr algn="just"/>
            <a:r>
              <a:rPr lang="en-US" sz="2400" dirty="0"/>
              <a:t>        print("Animal Speaking")  </a:t>
            </a:r>
          </a:p>
          <a:p>
            <a:pPr algn="just"/>
            <a:r>
              <a:rPr lang="en-US" sz="2400" dirty="0"/>
              <a:t>#child class Dog inherits the base class Animal  </a:t>
            </a:r>
          </a:p>
          <a:p>
            <a:pPr algn="just"/>
            <a:r>
              <a:rPr lang="en-US" sz="2400" dirty="0"/>
              <a:t>class Dog(Animal):  </a:t>
            </a:r>
          </a:p>
          <a:p>
            <a:pPr algn="just"/>
            <a:r>
              <a:rPr lang="en-US" sz="2400" dirty="0"/>
              <a:t>    </a:t>
            </a:r>
            <a:r>
              <a:rPr lang="en-US" sz="2400" dirty="0" err="1"/>
              <a:t>def</a:t>
            </a:r>
            <a:r>
              <a:rPr lang="en-US" sz="2400" dirty="0"/>
              <a:t> bark(self):  </a:t>
            </a:r>
          </a:p>
          <a:p>
            <a:pPr algn="just"/>
            <a:r>
              <a:rPr lang="en-US" sz="2400" dirty="0"/>
              <a:t>        print("dog barking")  </a:t>
            </a:r>
          </a:p>
          <a:p>
            <a:pPr algn="just"/>
            <a:endParaRPr lang="en-US" sz="2400" dirty="0"/>
          </a:p>
          <a:p>
            <a:pPr algn="just"/>
            <a:r>
              <a:rPr lang="en-US" sz="2400" dirty="0"/>
              <a:t>d = Dog()  </a:t>
            </a:r>
          </a:p>
          <a:p>
            <a:pPr algn="just"/>
            <a:r>
              <a:rPr lang="en-US" sz="2400" dirty="0" err="1"/>
              <a:t>d.bark</a:t>
            </a:r>
            <a:r>
              <a:rPr lang="en-US" sz="2400" dirty="0"/>
              <a:t>()  </a:t>
            </a:r>
          </a:p>
          <a:p>
            <a:pPr algn="just"/>
            <a:r>
              <a:rPr lang="en-US" sz="2400" dirty="0" err="1"/>
              <a:t>d.speak</a:t>
            </a:r>
            <a:r>
              <a:rPr lang="en-US" sz="2400" dirty="0"/>
              <a:t>()  </a:t>
            </a:r>
          </a:p>
          <a:p>
            <a:pPr algn="just"/>
            <a:r>
              <a:rPr lang="en-US" sz="2400" dirty="0"/>
              <a:t>Output:</a:t>
            </a:r>
          </a:p>
          <a:p>
            <a:pPr algn="just"/>
            <a:r>
              <a:rPr lang="en-US" sz="2400" dirty="0"/>
              <a:t>dog barking</a:t>
            </a:r>
          </a:p>
          <a:p>
            <a:pPr algn="just"/>
            <a:r>
              <a:rPr lang="en-US" sz="2400" dirty="0"/>
              <a:t>Animal Speaking</a:t>
            </a:r>
          </a:p>
        </p:txBody>
      </p:sp>
    </p:spTree>
    <p:extLst>
      <p:ext uri="{BB962C8B-B14F-4D97-AF65-F5344CB8AC3E}">
        <p14:creationId xmlns:p14="http://schemas.microsoft.com/office/powerpoint/2010/main" val="114722867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Multilevel Inheritance</a:t>
            </a:r>
            <a:endParaRPr lang="en-US" dirty="0"/>
          </a:p>
        </p:txBody>
      </p:sp>
      <p:sp>
        <p:nvSpPr>
          <p:cNvPr id="4" name="TextBox 3"/>
          <p:cNvSpPr txBox="1"/>
          <p:nvPr/>
        </p:nvSpPr>
        <p:spPr>
          <a:xfrm>
            <a:off x="228600" y="838200"/>
            <a:ext cx="8763000"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Multi-Level inheritance is possible in python like other </a:t>
            </a:r>
            <a:r>
              <a:rPr lang="en-US" sz="2400" dirty="0" smtClean="0"/>
              <a:t/>
            </a:r>
            <a:br>
              <a:rPr lang="en-US" sz="2400" dirty="0" smtClean="0"/>
            </a:br>
            <a:r>
              <a:rPr lang="en-US" sz="2400" dirty="0" smtClean="0"/>
              <a:t>object-oriented </a:t>
            </a:r>
            <a:r>
              <a:rPr lang="en-US" sz="2400" dirty="0"/>
              <a:t>languages. </a:t>
            </a:r>
            <a:endParaRPr lang="en-US" sz="2400" dirty="0" smtClean="0"/>
          </a:p>
          <a:p>
            <a:pPr marL="342900" indent="-342900" algn="just">
              <a:buFont typeface="Arial" panose="020B0604020202020204" pitchFamily="34" charset="0"/>
              <a:buChar char="•"/>
            </a:pPr>
            <a:r>
              <a:rPr lang="en-US" sz="2400" dirty="0" smtClean="0"/>
              <a:t>Multi-level </a:t>
            </a:r>
            <a:r>
              <a:rPr lang="en-US" sz="2400" dirty="0"/>
              <a:t>inheritance is archived when a derived class inherits another derived class. </a:t>
            </a:r>
            <a:endParaRPr lang="en-US" sz="2400" dirty="0" smtClean="0"/>
          </a:p>
          <a:p>
            <a:pPr marL="342900" indent="-342900" algn="just">
              <a:buFont typeface="Arial" panose="020B0604020202020204" pitchFamily="34" charset="0"/>
              <a:buChar char="•"/>
            </a:pPr>
            <a:r>
              <a:rPr lang="en-US" sz="2400" dirty="0" smtClean="0"/>
              <a:t>There </a:t>
            </a:r>
            <a:r>
              <a:rPr lang="en-US" sz="2400" dirty="0"/>
              <a:t>is no limit on the number of levels up to which, the </a:t>
            </a:r>
            <a:r>
              <a:rPr lang="en-US" sz="2400" dirty="0" smtClean="0"/>
              <a:t/>
            </a:r>
            <a:br>
              <a:rPr lang="en-US" sz="2400" dirty="0" smtClean="0"/>
            </a:br>
            <a:r>
              <a:rPr lang="en-US" sz="2400" dirty="0" smtClean="0"/>
              <a:t>multi-level </a:t>
            </a:r>
            <a:r>
              <a:rPr lang="en-US" sz="2400" dirty="0"/>
              <a:t>inheritance is archived in python</a:t>
            </a:r>
            <a:r>
              <a:rPr lang="en-US" sz="2400" dirty="0" smtClean="0"/>
              <a:t>.</a:t>
            </a:r>
            <a:endParaRPr lang="en-US" sz="2400" dirty="0"/>
          </a:p>
        </p:txBody>
      </p:sp>
      <p:pic>
        <p:nvPicPr>
          <p:cNvPr id="5" name="image21.png" descr="Python Inheritance"/>
          <p:cNvPicPr/>
          <p:nvPr/>
        </p:nvPicPr>
        <p:blipFill>
          <a:blip r:embed="rId2"/>
          <a:srcRect/>
          <a:stretch>
            <a:fillRect/>
          </a:stretch>
        </p:blipFill>
        <p:spPr>
          <a:xfrm>
            <a:off x="3810000" y="3352800"/>
            <a:ext cx="1828800" cy="3352800"/>
          </a:xfrm>
          <a:prstGeom prst="rect">
            <a:avLst/>
          </a:prstGeom>
          <a:ln/>
        </p:spPr>
      </p:pic>
    </p:spTree>
    <p:extLst>
      <p:ext uri="{BB962C8B-B14F-4D97-AF65-F5344CB8AC3E}">
        <p14:creationId xmlns:p14="http://schemas.microsoft.com/office/powerpoint/2010/main" val="288093863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a:t>Multilevel Inheritance</a:t>
            </a:r>
            <a:endParaRPr lang="en-US" dirty="0"/>
          </a:p>
        </p:txBody>
      </p:sp>
      <p:sp>
        <p:nvSpPr>
          <p:cNvPr id="4" name="TextBox 3"/>
          <p:cNvSpPr txBox="1"/>
          <p:nvPr/>
        </p:nvSpPr>
        <p:spPr>
          <a:xfrm>
            <a:off x="228600" y="838200"/>
            <a:ext cx="8763000" cy="2677656"/>
          </a:xfrm>
          <a:prstGeom prst="rect">
            <a:avLst/>
          </a:prstGeom>
          <a:noFill/>
        </p:spPr>
        <p:txBody>
          <a:bodyPr wrap="square" rtlCol="0">
            <a:spAutoFit/>
          </a:bodyPr>
          <a:lstStyle/>
          <a:p>
            <a:pPr algn="just"/>
            <a:r>
              <a:rPr lang="en-US" sz="2400" b="1" dirty="0" smtClean="0"/>
              <a:t>Syntax :</a:t>
            </a:r>
          </a:p>
          <a:p>
            <a:pPr algn="just"/>
            <a:r>
              <a:rPr lang="en-US" sz="2400" dirty="0" smtClean="0"/>
              <a:t>class </a:t>
            </a:r>
            <a:r>
              <a:rPr lang="en-US" sz="2400" dirty="0" err="1"/>
              <a:t>class1</a:t>
            </a:r>
            <a:r>
              <a:rPr lang="en-US" sz="2400" dirty="0"/>
              <a:t>:  </a:t>
            </a:r>
          </a:p>
          <a:p>
            <a:pPr algn="just"/>
            <a:r>
              <a:rPr lang="en-US" sz="2400" dirty="0"/>
              <a:t>    &lt;class-suite&gt;   </a:t>
            </a:r>
          </a:p>
          <a:p>
            <a:pPr algn="just"/>
            <a:r>
              <a:rPr lang="en-US" sz="2400" dirty="0"/>
              <a:t>class </a:t>
            </a:r>
            <a:r>
              <a:rPr lang="en-US" sz="2400" dirty="0" err="1"/>
              <a:t>class2</a:t>
            </a:r>
            <a:r>
              <a:rPr lang="en-US" sz="2400" dirty="0"/>
              <a:t>(</a:t>
            </a:r>
            <a:r>
              <a:rPr lang="en-US" sz="2400" dirty="0" err="1"/>
              <a:t>class1</a:t>
            </a:r>
            <a:r>
              <a:rPr lang="en-US" sz="2400" dirty="0"/>
              <a:t>):  </a:t>
            </a:r>
          </a:p>
          <a:p>
            <a:pPr algn="just"/>
            <a:r>
              <a:rPr lang="en-US" sz="2400" dirty="0"/>
              <a:t>    &lt;class suite&gt;  </a:t>
            </a:r>
          </a:p>
          <a:p>
            <a:pPr algn="just"/>
            <a:r>
              <a:rPr lang="en-US" sz="2400" dirty="0"/>
              <a:t>class </a:t>
            </a:r>
            <a:r>
              <a:rPr lang="en-US" sz="2400" dirty="0" err="1"/>
              <a:t>class3</a:t>
            </a:r>
            <a:r>
              <a:rPr lang="en-US" sz="2400" dirty="0"/>
              <a:t>(</a:t>
            </a:r>
            <a:r>
              <a:rPr lang="en-US" sz="2400" dirty="0" err="1"/>
              <a:t>class2</a:t>
            </a:r>
            <a:r>
              <a:rPr lang="en-US" sz="2400" dirty="0"/>
              <a:t>):  </a:t>
            </a:r>
          </a:p>
          <a:p>
            <a:pPr algn="just"/>
            <a:r>
              <a:rPr lang="en-US" sz="2400" dirty="0"/>
              <a:t>    &lt;class suite&gt; </a:t>
            </a:r>
            <a:endParaRPr lang="en-IN" sz="2400" dirty="0"/>
          </a:p>
        </p:txBody>
      </p:sp>
    </p:spTree>
    <p:extLst>
      <p:ext uri="{BB962C8B-B14F-4D97-AF65-F5344CB8AC3E}">
        <p14:creationId xmlns:p14="http://schemas.microsoft.com/office/powerpoint/2010/main" val="124780604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a:t>Multilevel Inheritance</a:t>
            </a:r>
            <a:endParaRPr lang="en-US" dirty="0"/>
          </a:p>
        </p:txBody>
      </p:sp>
      <p:sp>
        <p:nvSpPr>
          <p:cNvPr id="4" name="TextBox 3"/>
          <p:cNvSpPr txBox="1"/>
          <p:nvPr/>
        </p:nvSpPr>
        <p:spPr>
          <a:xfrm>
            <a:off x="228600" y="838200"/>
            <a:ext cx="8763000" cy="6001643"/>
          </a:xfrm>
          <a:prstGeom prst="rect">
            <a:avLst/>
          </a:prstGeom>
          <a:noFill/>
        </p:spPr>
        <p:txBody>
          <a:bodyPr wrap="square" rtlCol="0">
            <a:spAutoFit/>
          </a:bodyPr>
          <a:lstStyle/>
          <a:p>
            <a:pPr algn="just"/>
            <a:r>
              <a:rPr lang="en-US" sz="2400" b="1" dirty="0" smtClean="0"/>
              <a:t>Example :</a:t>
            </a:r>
            <a:endParaRPr lang="en-US" sz="2400" b="1" dirty="0"/>
          </a:p>
          <a:p>
            <a:pPr algn="just"/>
            <a:r>
              <a:rPr lang="en-US" sz="2400" dirty="0"/>
              <a:t>class Animal:  </a:t>
            </a:r>
          </a:p>
          <a:p>
            <a:pPr algn="just"/>
            <a:r>
              <a:rPr lang="en-US" sz="2400" dirty="0"/>
              <a:t>    </a:t>
            </a:r>
            <a:r>
              <a:rPr lang="en-US" sz="2400" dirty="0" err="1"/>
              <a:t>def</a:t>
            </a:r>
            <a:r>
              <a:rPr lang="en-US" sz="2400" dirty="0"/>
              <a:t> speak(self):  </a:t>
            </a:r>
          </a:p>
          <a:p>
            <a:pPr algn="just"/>
            <a:r>
              <a:rPr lang="en-US" sz="2400" dirty="0"/>
              <a:t>        print("Animal Speaking")  </a:t>
            </a:r>
          </a:p>
          <a:p>
            <a:pPr algn="just"/>
            <a:r>
              <a:rPr lang="en-US" sz="2400" dirty="0"/>
              <a:t>#The child class Dog inherits the base class Animal  </a:t>
            </a:r>
          </a:p>
          <a:p>
            <a:pPr algn="just"/>
            <a:r>
              <a:rPr lang="en-US" sz="2400" dirty="0"/>
              <a:t>class Dog(Animal):  </a:t>
            </a:r>
          </a:p>
          <a:p>
            <a:pPr algn="just"/>
            <a:r>
              <a:rPr lang="en-US" sz="2400" dirty="0"/>
              <a:t>    </a:t>
            </a:r>
            <a:r>
              <a:rPr lang="en-US" sz="2400" dirty="0" err="1"/>
              <a:t>def</a:t>
            </a:r>
            <a:r>
              <a:rPr lang="en-US" sz="2400" dirty="0"/>
              <a:t> bark(self):  </a:t>
            </a:r>
          </a:p>
          <a:p>
            <a:pPr algn="just"/>
            <a:r>
              <a:rPr lang="en-US" sz="2400" dirty="0"/>
              <a:t>        print("dog barking")  </a:t>
            </a:r>
          </a:p>
          <a:p>
            <a:pPr algn="just"/>
            <a:r>
              <a:rPr lang="en-US" sz="2400" dirty="0"/>
              <a:t>#The child class </a:t>
            </a:r>
            <a:r>
              <a:rPr lang="en-US" sz="2400" dirty="0" err="1"/>
              <a:t>Dogchild</a:t>
            </a:r>
            <a:r>
              <a:rPr lang="en-US" sz="2400" dirty="0"/>
              <a:t> inherits another child class Dog  </a:t>
            </a:r>
          </a:p>
          <a:p>
            <a:pPr algn="just"/>
            <a:r>
              <a:rPr lang="en-US" sz="2400" dirty="0"/>
              <a:t>class </a:t>
            </a:r>
            <a:r>
              <a:rPr lang="en-US" sz="2400" dirty="0" err="1"/>
              <a:t>DogChild</a:t>
            </a:r>
            <a:r>
              <a:rPr lang="en-US" sz="2400" dirty="0"/>
              <a:t>(Dog):  </a:t>
            </a:r>
          </a:p>
          <a:p>
            <a:pPr algn="just"/>
            <a:r>
              <a:rPr lang="en-US" sz="2400" dirty="0"/>
              <a:t>    </a:t>
            </a:r>
            <a:r>
              <a:rPr lang="en-US" sz="2400" dirty="0" err="1"/>
              <a:t>def</a:t>
            </a:r>
            <a:r>
              <a:rPr lang="en-US" sz="2400" dirty="0"/>
              <a:t> eat(self):  </a:t>
            </a:r>
          </a:p>
          <a:p>
            <a:pPr algn="just"/>
            <a:r>
              <a:rPr lang="en-US" sz="2400" dirty="0"/>
              <a:t>        print("Eating bread...")  </a:t>
            </a:r>
          </a:p>
          <a:p>
            <a:pPr algn="just"/>
            <a:r>
              <a:rPr lang="en-US" sz="2400" dirty="0"/>
              <a:t>d = </a:t>
            </a:r>
            <a:r>
              <a:rPr lang="en-US" sz="2400" dirty="0" err="1"/>
              <a:t>DogChild</a:t>
            </a:r>
            <a:r>
              <a:rPr lang="en-US" sz="2400" dirty="0"/>
              <a:t>()  </a:t>
            </a:r>
          </a:p>
          <a:p>
            <a:pPr algn="just"/>
            <a:r>
              <a:rPr lang="en-US" sz="2400" dirty="0" err="1"/>
              <a:t>d.bark</a:t>
            </a:r>
            <a:r>
              <a:rPr lang="en-US" sz="2400" dirty="0"/>
              <a:t>()  </a:t>
            </a:r>
          </a:p>
          <a:p>
            <a:pPr algn="just"/>
            <a:r>
              <a:rPr lang="en-US" sz="2400" dirty="0" err="1"/>
              <a:t>d.speak</a:t>
            </a:r>
            <a:r>
              <a:rPr lang="en-US" sz="2400" dirty="0"/>
              <a:t>()  </a:t>
            </a:r>
          </a:p>
          <a:p>
            <a:pPr algn="just"/>
            <a:r>
              <a:rPr lang="en-US" sz="2400" dirty="0" err="1"/>
              <a:t>d.eat</a:t>
            </a:r>
            <a:r>
              <a:rPr lang="en-US" sz="2400" dirty="0"/>
              <a:t>() </a:t>
            </a:r>
          </a:p>
        </p:txBody>
      </p:sp>
      <p:sp>
        <p:nvSpPr>
          <p:cNvPr id="3" name="TextBox 2"/>
          <p:cNvSpPr txBox="1"/>
          <p:nvPr/>
        </p:nvSpPr>
        <p:spPr>
          <a:xfrm>
            <a:off x="6096000" y="4572000"/>
            <a:ext cx="2514600" cy="1200329"/>
          </a:xfrm>
          <a:prstGeom prst="rect">
            <a:avLst/>
          </a:prstGeom>
          <a:noFill/>
        </p:spPr>
        <p:txBody>
          <a:bodyPr wrap="square" rtlCol="0">
            <a:spAutoFit/>
          </a:bodyPr>
          <a:lstStyle/>
          <a:p>
            <a:r>
              <a:rPr lang="en-US" b="1" dirty="0" smtClean="0"/>
              <a:t>Output :</a:t>
            </a:r>
          </a:p>
          <a:p>
            <a:r>
              <a:rPr lang="en-US" dirty="0" smtClean="0"/>
              <a:t>dog </a:t>
            </a:r>
            <a:r>
              <a:rPr lang="en-US" dirty="0"/>
              <a:t>barking</a:t>
            </a:r>
          </a:p>
          <a:p>
            <a:r>
              <a:rPr lang="en-US" dirty="0"/>
              <a:t>Animal Speaking</a:t>
            </a:r>
          </a:p>
          <a:p>
            <a:r>
              <a:rPr lang="en-US" dirty="0"/>
              <a:t>Eating </a:t>
            </a:r>
            <a:r>
              <a:rPr lang="en-US" dirty="0" smtClean="0"/>
              <a:t>bread</a:t>
            </a:r>
            <a:endParaRPr lang="en-US" dirty="0"/>
          </a:p>
        </p:txBody>
      </p:sp>
    </p:spTree>
    <p:extLst>
      <p:ext uri="{BB962C8B-B14F-4D97-AF65-F5344CB8AC3E}">
        <p14:creationId xmlns:p14="http://schemas.microsoft.com/office/powerpoint/2010/main" val="423783777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a:t>Multilevel Inheritance</a:t>
            </a:r>
            <a:endParaRPr lang="en-US" dirty="0"/>
          </a:p>
        </p:txBody>
      </p:sp>
      <p:sp>
        <p:nvSpPr>
          <p:cNvPr id="4" name="TextBox 3"/>
          <p:cNvSpPr txBox="1"/>
          <p:nvPr/>
        </p:nvSpPr>
        <p:spPr>
          <a:xfrm>
            <a:off x="228600" y="838200"/>
            <a:ext cx="8763000" cy="5632311"/>
          </a:xfrm>
          <a:prstGeom prst="rect">
            <a:avLst/>
          </a:prstGeom>
          <a:noFill/>
        </p:spPr>
        <p:txBody>
          <a:bodyPr wrap="square" rtlCol="0">
            <a:spAutoFit/>
          </a:bodyPr>
          <a:lstStyle/>
          <a:p>
            <a:pPr algn="just"/>
            <a:r>
              <a:rPr lang="en-US" sz="2000" b="1" dirty="0" smtClean="0"/>
              <a:t>Another Example:</a:t>
            </a:r>
          </a:p>
          <a:p>
            <a:pPr algn="just"/>
            <a:r>
              <a:rPr lang="en-US" sz="2000" dirty="0" smtClean="0"/>
              <a:t>class </a:t>
            </a:r>
            <a:r>
              <a:rPr lang="en-US" sz="2000" dirty="0"/>
              <a:t>A:  # parent </a:t>
            </a:r>
          </a:p>
          <a:p>
            <a:pPr algn="just"/>
            <a:r>
              <a:rPr lang="en-US" sz="2000" dirty="0" smtClean="0"/>
              <a:t>    </a:t>
            </a:r>
            <a:r>
              <a:rPr lang="en-US" sz="2000" dirty="0" err="1"/>
              <a:t>def</a:t>
            </a:r>
            <a:r>
              <a:rPr lang="en-US" sz="2000" dirty="0"/>
              <a:t> </a:t>
            </a:r>
            <a:r>
              <a:rPr lang="en-US" sz="2000" dirty="0" err="1"/>
              <a:t>funA</a:t>
            </a:r>
            <a:r>
              <a:rPr lang="en-US" sz="2000" dirty="0"/>
              <a:t>(self):</a:t>
            </a:r>
          </a:p>
          <a:p>
            <a:pPr algn="just"/>
            <a:r>
              <a:rPr lang="en-US" sz="2000" dirty="0"/>
              <a:t>        print("this is from class A")</a:t>
            </a:r>
          </a:p>
          <a:p>
            <a:pPr algn="just"/>
            <a:endParaRPr lang="en-US" sz="2000" dirty="0"/>
          </a:p>
          <a:p>
            <a:pPr algn="just"/>
            <a:r>
              <a:rPr lang="en-US" sz="2000" dirty="0" smtClean="0"/>
              <a:t>class </a:t>
            </a:r>
            <a:r>
              <a:rPr lang="en-US" sz="2000" dirty="0"/>
              <a:t>B(A):   # child</a:t>
            </a:r>
          </a:p>
          <a:p>
            <a:pPr algn="just"/>
            <a:r>
              <a:rPr lang="en-US" sz="2000" dirty="0" smtClean="0"/>
              <a:t>    </a:t>
            </a:r>
            <a:r>
              <a:rPr lang="en-US" sz="2000" dirty="0" err="1"/>
              <a:t>def</a:t>
            </a:r>
            <a:r>
              <a:rPr lang="en-US" sz="2000" dirty="0"/>
              <a:t> </a:t>
            </a:r>
            <a:r>
              <a:rPr lang="en-US" sz="2000" dirty="0" err="1"/>
              <a:t>funB</a:t>
            </a:r>
            <a:r>
              <a:rPr lang="en-US" sz="2000" dirty="0"/>
              <a:t>(self):</a:t>
            </a:r>
          </a:p>
          <a:p>
            <a:pPr algn="just"/>
            <a:r>
              <a:rPr lang="en-US" sz="2000" dirty="0"/>
              <a:t>        print("this is from class B")</a:t>
            </a:r>
          </a:p>
          <a:p>
            <a:pPr algn="just"/>
            <a:r>
              <a:rPr lang="en-US" sz="2000" dirty="0"/>
              <a:t>    </a:t>
            </a:r>
          </a:p>
          <a:p>
            <a:pPr algn="just"/>
            <a:r>
              <a:rPr lang="en-US" sz="2000" dirty="0"/>
              <a:t>class C(B):</a:t>
            </a:r>
          </a:p>
          <a:p>
            <a:pPr algn="just"/>
            <a:r>
              <a:rPr lang="en-US" sz="2000" dirty="0" smtClean="0"/>
              <a:t>    </a:t>
            </a:r>
            <a:r>
              <a:rPr lang="en-US" sz="2000" dirty="0" err="1"/>
              <a:t>def</a:t>
            </a:r>
            <a:r>
              <a:rPr lang="en-US" sz="2000" dirty="0"/>
              <a:t> </a:t>
            </a:r>
            <a:r>
              <a:rPr lang="en-US" sz="2000" dirty="0" err="1"/>
              <a:t>funC</a:t>
            </a:r>
            <a:r>
              <a:rPr lang="en-US" sz="2000" dirty="0"/>
              <a:t>(self):</a:t>
            </a:r>
          </a:p>
          <a:p>
            <a:pPr algn="just"/>
            <a:r>
              <a:rPr lang="en-US" sz="2000" dirty="0"/>
              <a:t>        print("this is from class C")</a:t>
            </a:r>
          </a:p>
          <a:p>
            <a:pPr algn="just"/>
            <a:endParaRPr lang="en-US" sz="2000" dirty="0"/>
          </a:p>
          <a:p>
            <a:pPr algn="just"/>
            <a:endParaRPr lang="en-US" sz="2000" dirty="0"/>
          </a:p>
          <a:p>
            <a:pPr algn="just"/>
            <a:r>
              <a:rPr lang="en-US" sz="2000" dirty="0" err="1"/>
              <a:t>objc</a:t>
            </a:r>
            <a:r>
              <a:rPr lang="en-US" sz="2000" dirty="0"/>
              <a:t>=C()</a:t>
            </a:r>
          </a:p>
          <a:p>
            <a:pPr algn="just"/>
            <a:r>
              <a:rPr lang="en-US" sz="2000" dirty="0" err="1" smtClean="0"/>
              <a:t>objc.funA</a:t>
            </a:r>
            <a:r>
              <a:rPr lang="en-US" sz="2000" dirty="0"/>
              <a:t>()</a:t>
            </a:r>
          </a:p>
          <a:p>
            <a:pPr algn="just"/>
            <a:r>
              <a:rPr lang="en-US" sz="2000" dirty="0" err="1"/>
              <a:t>objc.funB</a:t>
            </a:r>
            <a:r>
              <a:rPr lang="en-US" sz="2000" dirty="0"/>
              <a:t>()</a:t>
            </a:r>
          </a:p>
          <a:p>
            <a:pPr algn="just"/>
            <a:r>
              <a:rPr lang="en-US" sz="2000" dirty="0" err="1"/>
              <a:t>objc.funC</a:t>
            </a:r>
            <a:r>
              <a:rPr lang="en-US" sz="2000" dirty="0"/>
              <a:t>()</a:t>
            </a:r>
          </a:p>
        </p:txBody>
      </p:sp>
      <p:sp>
        <p:nvSpPr>
          <p:cNvPr id="3" name="TextBox 2"/>
          <p:cNvSpPr txBox="1"/>
          <p:nvPr/>
        </p:nvSpPr>
        <p:spPr>
          <a:xfrm>
            <a:off x="6096000" y="4572000"/>
            <a:ext cx="2514600" cy="1200329"/>
          </a:xfrm>
          <a:prstGeom prst="rect">
            <a:avLst/>
          </a:prstGeom>
          <a:noFill/>
        </p:spPr>
        <p:txBody>
          <a:bodyPr wrap="square" rtlCol="0">
            <a:spAutoFit/>
          </a:bodyPr>
          <a:lstStyle/>
          <a:p>
            <a:r>
              <a:rPr lang="en-US" b="1" dirty="0" smtClean="0"/>
              <a:t>Output :</a:t>
            </a:r>
          </a:p>
          <a:p>
            <a:r>
              <a:rPr lang="en-US" dirty="0" smtClean="0"/>
              <a:t>this is from class A</a:t>
            </a:r>
          </a:p>
          <a:p>
            <a:r>
              <a:rPr lang="en-US" dirty="0"/>
              <a:t>t</a:t>
            </a:r>
            <a:r>
              <a:rPr lang="en-US" dirty="0" smtClean="0"/>
              <a:t>his is from class B</a:t>
            </a:r>
          </a:p>
          <a:p>
            <a:r>
              <a:rPr lang="en-US" dirty="0" smtClean="0"/>
              <a:t>this is from class C</a:t>
            </a:r>
            <a:endParaRPr lang="en-US" dirty="0"/>
          </a:p>
        </p:txBody>
      </p:sp>
    </p:spTree>
    <p:extLst>
      <p:ext uri="{BB962C8B-B14F-4D97-AF65-F5344CB8AC3E}">
        <p14:creationId xmlns:p14="http://schemas.microsoft.com/office/powerpoint/2010/main" val="261169482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Multiple </a:t>
            </a:r>
            <a:r>
              <a:rPr lang="en-US" b="1" dirty="0"/>
              <a:t>Inheritance</a:t>
            </a:r>
            <a:endParaRPr lang="en-US" dirty="0"/>
          </a:p>
        </p:txBody>
      </p:sp>
      <p:sp>
        <p:nvSpPr>
          <p:cNvPr id="4" name="TextBox 3"/>
          <p:cNvSpPr txBox="1"/>
          <p:nvPr/>
        </p:nvSpPr>
        <p:spPr>
          <a:xfrm>
            <a:off x="228600" y="838200"/>
            <a:ext cx="8763000" cy="954107"/>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Python provides us the flexibility to inherit multiple base classes in the child class.</a:t>
            </a:r>
          </a:p>
        </p:txBody>
      </p:sp>
      <p:pic>
        <p:nvPicPr>
          <p:cNvPr id="5" name="image4.png" descr="Python Inheritance"/>
          <p:cNvPicPr/>
          <p:nvPr/>
        </p:nvPicPr>
        <p:blipFill>
          <a:blip r:embed="rId2"/>
          <a:srcRect/>
          <a:stretch>
            <a:fillRect/>
          </a:stretch>
        </p:blipFill>
        <p:spPr>
          <a:xfrm>
            <a:off x="1143000" y="2209800"/>
            <a:ext cx="7038474" cy="2286000"/>
          </a:xfrm>
          <a:prstGeom prst="rect">
            <a:avLst/>
          </a:prstGeom>
          <a:ln/>
        </p:spPr>
      </p:pic>
    </p:spTree>
    <p:extLst>
      <p:ext uri="{BB962C8B-B14F-4D97-AF65-F5344CB8AC3E}">
        <p14:creationId xmlns:p14="http://schemas.microsoft.com/office/powerpoint/2010/main" val="122942430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a:t>Multilevel Inheritance</a:t>
            </a:r>
            <a:endParaRPr lang="en-US" dirty="0"/>
          </a:p>
        </p:txBody>
      </p:sp>
      <p:sp>
        <p:nvSpPr>
          <p:cNvPr id="4" name="TextBox 3"/>
          <p:cNvSpPr txBox="1"/>
          <p:nvPr/>
        </p:nvSpPr>
        <p:spPr>
          <a:xfrm>
            <a:off x="228600" y="838200"/>
            <a:ext cx="8763000" cy="5262979"/>
          </a:xfrm>
          <a:prstGeom prst="rect">
            <a:avLst/>
          </a:prstGeom>
          <a:noFill/>
        </p:spPr>
        <p:txBody>
          <a:bodyPr wrap="square" rtlCol="0">
            <a:spAutoFit/>
          </a:bodyPr>
          <a:lstStyle/>
          <a:p>
            <a:pPr algn="just"/>
            <a:r>
              <a:rPr lang="en-US" sz="2400" b="1" dirty="0" smtClean="0"/>
              <a:t>Syntax :</a:t>
            </a:r>
            <a:endParaRPr lang="en-US" sz="2400" b="1" dirty="0"/>
          </a:p>
          <a:p>
            <a:pPr algn="just"/>
            <a:r>
              <a:rPr lang="en-US" sz="2400" dirty="0"/>
              <a:t>class </a:t>
            </a:r>
            <a:r>
              <a:rPr lang="en-US" sz="2400" dirty="0" err="1"/>
              <a:t>Base1</a:t>
            </a:r>
            <a:r>
              <a:rPr lang="en-US" sz="2400" dirty="0"/>
              <a:t>:  </a:t>
            </a:r>
          </a:p>
          <a:p>
            <a:pPr algn="just"/>
            <a:r>
              <a:rPr lang="en-US" sz="2400" dirty="0"/>
              <a:t>    &lt;class-suite&gt;  </a:t>
            </a:r>
          </a:p>
          <a:p>
            <a:pPr algn="just"/>
            <a:r>
              <a:rPr lang="en-US" sz="2400" dirty="0"/>
              <a:t>  </a:t>
            </a:r>
          </a:p>
          <a:p>
            <a:pPr algn="just"/>
            <a:r>
              <a:rPr lang="en-US" sz="2400" dirty="0"/>
              <a:t>class </a:t>
            </a:r>
            <a:r>
              <a:rPr lang="en-US" sz="2400" dirty="0" err="1"/>
              <a:t>Base2</a:t>
            </a:r>
            <a:r>
              <a:rPr lang="en-US" sz="2400" dirty="0"/>
              <a:t>:  </a:t>
            </a:r>
          </a:p>
          <a:p>
            <a:pPr algn="just"/>
            <a:r>
              <a:rPr lang="en-US" sz="2400" dirty="0"/>
              <a:t>    &lt;class-suite&gt;  </a:t>
            </a:r>
          </a:p>
          <a:p>
            <a:pPr algn="just"/>
            <a:r>
              <a:rPr lang="en-US" sz="2400" dirty="0"/>
              <a:t>.  </a:t>
            </a:r>
          </a:p>
          <a:p>
            <a:pPr algn="just"/>
            <a:r>
              <a:rPr lang="en-US" sz="2400" dirty="0"/>
              <a:t>.  </a:t>
            </a:r>
          </a:p>
          <a:p>
            <a:pPr algn="just"/>
            <a:r>
              <a:rPr lang="en-US" sz="2400" dirty="0"/>
              <a:t>.  </a:t>
            </a:r>
          </a:p>
          <a:p>
            <a:pPr algn="just"/>
            <a:r>
              <a:rPr lang="en-US" sz="2400" dirty="0"/>
              <a:t>class </a:t>
            </a:r>
            <a:r>
              <a:rPr lang="en-US" sz="2400" dirty="0" err="1"/>
              <a:t>BaseN</a:t>
            </a:r>
            <a:r>
              <a:rPr lang="en-US" sz="2400" dirty="0"/>
              <a:t>:  </a:t>
            </a:r>
          </a:p>
          <a:p>
            <a:pPr algn="just"/>
            <a:r>
              <a:rPr lang="en-US" sz="2400" dirty="0"/>
              <a:t>    &lt;class-suite&gt;  </a:t>
            </a:r>
          </a:p>
          <a:p>
            <a:pPr algn="just"/>
            <a:r>
              <a:rPr lang="en-US" sz="2400" dirty="0"/>
              <a:t>  </a:t>
            </a:r>
          </a:p>
          <a:p>
            <a:pPr algn="just"/>
            <a:r>
              <a:rPr lang="en-US" sz="2400" dirty="0"/>
              <a:t>class Derived(</a:t>
            </a:r>
            <a:r>
              <a:rPr lang="en-US" sz="2400" dirty="0" err="1"/>
              <a:t>Base1</a:t>
            </a:r>
            <a:r>
              <a:rPr lang="en-US" sz="2400" dirty="0"/>
              <a:t>, </a:t>
            </a:r>
            <a:r>
              <a:rPr lang="en-US" sz="2400" dirty="0" err="1"/>
              <a:t>Base2</a:t>
            </a:r>
            <a:r>
              <a:rPr lang="en-US" sz="2400" dirty="0"/>
              <a:t>, ...... </a:t>
            </a:r>
            <a:r>
              <a:rPr lang="en-US" sz="2400" dirty="0" err="1"/>
              <a:t>BaseN</a:t>
            </a:r>
            <a:r>
              <a:rPr lang="en-US" sz="2400" dirty="0"/>
              <a:t>):  </a:t>
            </a:r>
          </a:p>
          <a:p>
            <a:pPr algn="just"/>
            <a:r>
              <a:rPr lang="en-US" sz="2400" dirty="0"/>
              <a:t>    &lt;class-suite&gt; </a:t>
            </a:r>
            <a:endParaRPr lang="en-IN" sz="2400" dirty="0"/>
          </a:p>
        </p:txBody>
      </p:sp>
    </p:spTree>
    <p:extLst>
      <p:ext uri="{BB962C8B-B14F-4D97-AF65-F5344CB8AC3E}">
        <p14:creationId xmlns:p14="http://schemas.microsoft.com/office/powerpoint/2010/main" val="27399250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a:t>Multilevel Inheritance</a:t>
            </a:r>
            <a:endParaRPr lang="en-US" dirty="0"/>
          </a:p>
        </p:txBody>
      </p:sp>
      <p:sp>
        <p:nvSpPr>
          <p:cNvPr id="4" name="TextBox 3"/>
          <p:cNvSpPr txBox="1"/>
          <p:nvPr/>
        </p:nvSpPr>
        <p:spPr>
          <a:xfrm>
            <a:off x="228600" y="838200"/>
            <a:ext cx="8763000" cy="5940088"/>
          </a:xfrm>
          <a:prstGeom prst="rect">
            <a:avLst/>
          </a:prstGeom>
          <a:noFill/>
        </p:spPr>
        <p:txBody>
          <a:bodyPr wrap="square" rtlCol="0">
            <a:spAutoFit/>
          </a:bodyPr>
          <a:lstStyle/>
          <a:p>
            <a:pPr algn="just"/>
            <a:r>
              <a:rPr lang="en-US" sz="2000" b="1" dirty="0" smtClean="0"/>
              <a:t>Example :</a:t>
            </a:r>
            <a:endParaRPr lang="en-US" sz="2000" b="1" dirty="0"/>
          </a:p>
          <a:p>
            <a:pPr algn="just"/>
            <a:r>
              <a:rPr lang="en-US" sz="2000" dirty="0"/>
              <a:t>class </a:t>
            </a:r>
            <a:r>
              <a:rPr lang="en-US" sz="2000" dirty="0" err="1"/>
              <a:t>Calculation1</a:t>
            </a:r>
            <a:r>
              <a:rPr lang="en-US" sz="2000" dirty="0"/>
              <a:t>:  </a:t>
            </a:r>
          </a:p>
          <a:p>
            <a:pPr algn="just"/>
            <a:r>
              <a:rPr lang="en-US" sz="2000" dirty="0"/>
              <a:t>    </a:t>
            </a:r>
            <a:r>
              <a:rPr lang="en-US" sz="2000" dirty="0" err="1"/>
              <a:t>def</a:t>
            </a:r>
            <a:r>
              <a:rPr lang="en-US" sz="2000" dirty="0"/>
              <a:t> Summation(</a:t>
            </a:r>
            <a:r>
              <a:rPr lang="en-US" sz="2000" dirty="0" err="1"/>
              <a:t>self,a,b</a:t>
            </a:r>
            <a:r>
              <a:rPr lang="en-US" sz="2000" dirty="0"/>
              <a:t>):  </a:t>
            </a:r>
          </a:p>
          <a:p>
            <a:pPr algn="just"/>
            <a:r>
              <a:rPr lang="en-US" sz="2000" dirty="0"/>
              <a:t>        return </a:t>
            </a:r>
            <a:r>
              <a:rPr lang="en-US" sz="2000" dirty="0" err="1"/>
              <a:t>a+b</a:t>
            </a:r>
            <a:r>
              <a:rPr lang="en-US" sz="2000" dirty="0"/>
              <a:t>;  </a:t>
            </a:r>
          </a:p>
          <a:p>
            <a:pPr algn="just"/>
            <a:r>
              <a:rPr lang="en-US" sz="2000" dirty="0"/>
              <a:t>class </a:t>
            </a:r>
            <a:r>
              <a:rPr lang="en-US" sz="2000" dirty="0" err="1"/>
              <a:t>Calculation2</a:t>
            </a:r>
            <a:r>
              <a:rPr lang="en-US" sz="2000" dirty="0"/>
              <a:t>:  </a:t>
            </a:r>
          </a:p>
          <a:p>
            <a:pPr algn="just"/>
            <a:r>
              <a:rPr lang="en-US" sz="2000" dirty="0"/>
              <a:t>    </a:t>
            </a:r>
            <a:r>
              <a:rPr lang="en-US" sz="2000" dirty="0" err="1"/>
              <a:t>def</a:t>
            </a:r>
            <a:r>
              <a:rPr lang="en-US" sz="2000" dirty="0"/>
              <a:t> Multiplication(</a:t>
            </a:r>
            <a:r>
              <a:rPr lang="en-US" sz="2000" dirty="0" err="1"/>
              <a:t>self,a,b</a:t>
            </a:r>
            <a:r>
              <a:rPr lang="en-US" sz="2000" dirty="0"/>
              <a:t>):  </a:t>
            </a:r>
          </a:p>
          <a:p>
            <a:pPr algn="just"/>
            <a:r>
              <a:rPr lang="en-US" sz="2000" dirty="0"/>
              <a:t>        return a*b;  </a:t>
            </a:r>
          </a:p>
          <a:p>
            <a:pPr algn="just"/>
            <a:r>
              <a:rPr lang="en-US" sz="2000" dirty="0"/>
              <a:t>class Derived(</a:t>
            </a:r>
            <a:r>
              <a:rPr lang="en-US" sz="2000" dirty="0" err="1"/>
              <a:t>Calculation1,Calculation2</a:t>
            </a:r>
            <a:r>
              <a:rPr lang="en-US" sz="2000" dirty="0"/>
              <a:t>):  </a:t>
            </a:r>
          </a:p>
          <a:p>
            <a:pPr algn="just"/>
            <a:r>
              <a:rPr lang="en-US" sz="2000" dirty="0"/>
              <a:t>    </a:t>
            </a:r>
            <a:r>
              <a:rPr lang="en-US" sz="2000" dirty="0" err="1"/>
              <a:t>def</a:t>
            </a:r>
            <a:r>
              <a:rPr lang="en-US" sz="2000" dirty="0"/>
              <a:t> Divide(</a:t>
            </a:r>
            <a:r>
              <a:rPr lang="en-US" sz="2000" dirty="0" err="1"/>
              <a:t>self,a,b</a:t>
            </a:r>
            <a:r>
              <a:rPr lang="en-US" sz="2000" dirty="0"/>
              <a:t>):  </a:t>
            </a:r>
          </a:p>
          <a:p>
            <a:pPr algn="just"/>
            <a:r>
              <a:rPr lang="en-US" sz="2000" dirty="0"/>
              <a:t>        return a/b;  </a:t>
            </a:r>
          </a:p>
          <a:p>
            <a:pPr algn="just"/>
            <a:r>
              <a:rPr lang="en-US" sz="2000" dirty="0"/>
              <a:t>d = Derived()  </a:t>
            </a:r>
          </a:p>
          <a:p>
            <a:pPr algn="just"/>
            <a:r>
              <a:rPr lang="en-US" sz="2000" dirty="0"/>
              <a:t>print(</a:t>
            </a:r>
            <a:r>
              <a:rPr lang="en-US" sz="2000" dirty="0" err="1"/>
              <a:t>d.Summation</a:t>
            </a:r>
            <a:r>
              <a:rPr lang="en-US" sz="2000" dirty="0"/>
              <a:t>(10,20))  </a:t>
            </a:r>
          </a:p>
          <a:p>
            <a:pPr algn="just"/>
            <a:r>
              <a:rPr lang="en-US" sz="2000" dirty="0"/>
              <a:t>print(</a:t>
            </a:r>
            <a:r>
              <a:rPr lang="en-US" sz="2000" dirty="0" err="1"/>
              <a:t>d.Multiplication</a:t>
            </a:r>
            <a:r>
              <a:rPr lang="en-US" sz="2000" dirty="0"/>
              <a:t>(10,20))  </a:t>
            </a:r>
          </a:p>
          <a:p>
            <a:pPr algn="just"/>
            <a:r>
              <a:rPr lang="en-US" sz="2000" dirty="0"/>
              <a:t>print(</a:t>
            </a:r>
            <a:r>
              <a:rPr lang="en-US" sz="2000" dirty="0" err="1"/>
              <a:t>d.Divide</a:t>
            </a:r>
            <a:r>
              <a:rPr lang="en-US" sz="2000" dirty="0"/>
              <a:t>(10,20))  </a:t>
            </a:r>
          </a:p>
          <a:p>
            <a:pPr algn="just"/>
            <a:endParaRPr lang="en-US" sz="2000" dirty="0" smtClean="0"/>
          </a:p>
          <a:p>
            <a:pPr algn="just"/>
            <a:r>
              <a:rPr lang="en-US" sz="2000" b="1" dirty="0" smtClean="0"/>
              <a:t>Output </a:t>
            </a:r>
            <a:r>
              <a:rPr lang="en-US" sz="2000" b="1" dirty="0"/>
              <a:t>:</a:t>
            </a:r>
          </a:p>
          <a:p>
            <a:pPr algn="just"/>
            <a:r>
              <a:rPr lang="en-US" sz="2000" b="1" dirty="0" smtClean="0"/>
              <a:t>30</a:t>
            </a:r>
            <a:endParaRPr lang="en-US" sz="2000" b="1" dirty="0"/>
          </a:p>
          <a:p>
            <a:pPr algn="just"/>
            <a:r>
              <a:rPr lang="en-US" sz="2000" b="1" dirty="0" smtClean="0"/>
              <a:t>200</a:t>
            </a:r>
            <a:endParaRPr lang="en-US" sz="2000" b="1" dirty="0"/>
          </a:p>
          <a:p>
            <a:pPr algn="just"/>
            <a:r>
              <a:rPr lang="en-US" sz="2000" b="1" dirty="0" smtClean="0"/>
              <a:t>0.5</a:t>
            </a:r>
            <a:endParaRPr lang="en-US" sz="2000" b="1" dirty="0"/>
          </a:p>
        </p:txBody>
      </p:sp>
    </p:spTree>
    <p:extLst>
      <p:ext uri="{BB962C8B-B14F-4D97-AF65-F5344CB8AC3E}">
        <p14:creationId xmlns:p14="http://schemas.microsoft.com/office/powerpoint/2010/main" val="82230055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Resolution Order (MRO)</a:t>
            </a:r>
            <a:endParaRPr lang="en-US" dirty="0"/>
          </a:p>
        </p:txBody>
      </p:sp>
      <p:sp>
        <p:nvSpPr>
          <p:cNvPr id="4" name="TextBox 3"/>
          <p:cNvSpPr txBox="1"/>
          <p:nvPr/>
        </p:nvSpPr>
        <p:spPr>
          <a:xfrm>
            <a:off x="228600" y="838200"/>
            <a:ext cx="8763000" cy="6124754"/>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The term </a:t>
            </a:r>
            <a:r>
              <a:rPr lang="en-US" sz="2800" dirty="0" smtClean="0"/>
              <a:t>“Method Resolution Order</a:t>
            </a:r>
            <a:r>
              <a:rPr lang="en-US" sz="2800" dirty="0"/>
              <a:t>" is related to multiple inheritance in Python. </a:t>
            </a:r>
            <a:endParaRPr lang="en-US" sz="2800" dirty="0" smtClean="0"/>
          </a:p>
          <a:p>
            <a:pPr marL="342900" indent="-342900" algn="just">
              <a:buFont typeface="Arial" panose="020B0604020202020204" pitchFamily="34" charset="0"/>
              <a:buChar char="•"/>
            </a:pPr>
            <a:r>
              <a:rPr lang="en-US" sz="2800" dirty="0" smtClean="0"/>
              <a:t>In </a:t>
            </a:r>
            <a:r>
              <a:rPr lang="en-US" sz="2800" dirty="0"/>
              <a:t>Python, inheritance may be spread over more than one levels. </a:t>
            </a:r>
            <a:endParaRPr lang="en-US" sz="2800" dirty="0" smtClean="0"/>
          </a:p>
          <a:p>
            <a:pPr marL="342900" indent="-342900" algn="just">
              <a:buFont typeface="Arial" panose="020B0604020202020204" pitchFamily="34" charset="0"/>
              <a:buChar char="•"/>
            </a:pPr>
            <a:r>
              <a:rPr lang="en-US" sz="2800" dirty="0" smtClean="0"/>
              <a:t>Let </a:t>
            </a:r>
            <a:r>
              <a:rPr lang="en-US" sz="2800" dirty="0"/>
              <a:t>us say A is the parent of B, and B the parent for C. </a:t>
            </a:r>
            <a:endParaRPr lang="en-US" sz="2800" dirty="0" smtClean="0"/>
          </a:p>
          <a:p>
            <a:pPr marL="342900" indent="-342900" algn="just">
              <a:buFont typeface="Arial" panose="020B0604020202020204" pitchFamily="34" charset="0"/>
              <a:buChar char="•"/>
            </a:pPr>
            <a:r>
              <a:rPr lang="en-US" sz="2800" dirty="0" smtClean="0"/>
              <a:t>The </a:t>
            </a:r>
            <a:r>
              <a:rPr lang="en-US" sz="2800" dirty="0"/>
              <a:t>class C can override the inherited method or its object may invoke it as defined in its parent. </a:t>
            </a:r>
            <a:endParaRPr lang="en-US" sz="2800" dirty="0" smtClean="0"/>
          </a:p>
          <a:p>
            <a:pPr marL="342900" indent="-342900" algn="just">
              <a:buFont typeface="Arial" panose="020B0604020202020204" pitchFamily="34" charset="0"/>
              <a:buChar char="•"/>
            </a:pPr>
            <a:r>
              <a:rPr lang="en-US" sz="2800" dirty="0" smtClean="0"/>
              <a:t>So</a:t>
            </a:r>
            <a:r>
              <a:rPr lang="en-US" sz="2800" dirty="0"/>
              <a:t>, how does Python find the appropriate method to call.</a:t>
            </a:r>
          </a:p>
          <a:p>
            <a:pPr marL="342900" indent="-342900" algn="just">
              <a:buFont typeface="Arial" panose="020B0604020202020204" pitchFamily="34" charset="0"/>
              <a:buChar char="•"/>
            </a:pPr>
            <a:r>
              <a:rPr lang="en-US" sz="2800" dirty="0" smtClean="0"/>
              <a:t>Each </a:t>
            </a:r>
            <a:r>
              <a:rPr lang="en-US" sz="2800" dirty="0"/>
              <a:t>Python has a </a:t>
            </a:r>
            <a:r>
              <a:rPr lang="en-US" sz="2800" dirty="0" err="1"/>
              <a:t>mro</a:t>
            </a:r>
            <a:r>
              <a:rPr lang="en-US" sz="2800" dirty="0"/>
              <a:t>() method that returns the hierarchical order that Python uses to resolve the method to be called. </a:t>
            </a:r>
            <a:endParaRPr lang="en-US" sz="2800" dirty="0" smtClean="0"/>
          </a:p>
          <a:p>
            <a:pPr marL="342900" indent="-342900" algn="just">
              <a:buFont typeface="Arial" panose="020B0604020202020204" pitchFamily="34" charset="0"/>
              <a:buChar char="•"/>
            </a:pPr>
            <a:r>
              <a:rPr lang="en-US" sz="2800" dirty="0" smtClean="0"/>
              <a:t>The </a:t>
            </a:r>
            <a:r>
              <a:rPr lang="en-US" sz="2800" dirty="0"/>
              <a:t>resolution order is from bottom of inheritance order to </a:t>
            </a:r>
            <a:r>
              <a:rPr lang="en-US" sz="2800" dirty="0" smtClean="0"/>
              <a:t>top</a:t>
            </a:r>
            <a:r>
              <a:rPr lang="en-US" sz="2800" dirty="0"/>
              <a:t>.</a:t>
            </a:r>
          </a:p>
        </p:txBody>
      </p:sp>
    </p:spTree>
    <p:extLst>
      <p:ext uri="{BB962C8B-B14F-4D97-AF65-F5344CB8AC3E}">
        <p14:creationId xmlns:p14="http://schemas.microsoft.com/office/powerpoint/2010/main" val="70565608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Resolution Order (MRO)</a:t>
            </a:r>
            <a:endParaRPr lang="en-US" dirty="0"/>
          </a:p>
        </p:txBody>
      </p:sp>
      <p:sp>
        <p:nvSpPr>
          <p:cNvPr id="4" name="TextBox 3"/>
          <p:cNvSpPr txBox="1"/>
          <p:nvPr/>
        </p:nvSpPr>
        <p:spPr>
          <a:xfrm>
            <a:off x="228600" y="838200"/>
            <a:ext cx="8763000" cy="5324535"/>
          </a:xfrm>
          <a:prstGeom prst="rect">
            <a:avLst/>
          </a:prstGeom>
          <a:noFill/>
        </p:spPr>
        <p:txBody>
          <a:bodyPr wrap="square" rtlCol="0">
            <a:spAutoFit/>
          </a:bodyPr>
          <a:lstStyle/>
          <a:p>
            <a:pPr algn="just"/>
            <a:r>
              <a:rPr lang="en-US" sz="2000" dirty="0"/>
              <a:t>class A:</a:t>
            </a:r>
          </a:p>
          <a:p>
            <a:pPr algn="just"/>
            <a:r>
              <a:rPr lang="en-US" sz="2000" dirty="0"/>
              <a:t>    </a:t>
            </a:r>
            <a:r>
              <a:rPr lang="en-US" sz="2000" dirty="0" err="1"/>
              <a:t>def</a:t>
            </a:r>
            <a:r>
              <a:rPr lang="en-US" sz="2000" dirty="0"/>
              <a:t> foo(self):</a:t>
            </a:r>
          </a:p>
          <a:p>
            <a:pPr algn="just"/>
            <a:r>
              <a:rPr lang="en-US" sz="2000" dirty="0"/>
              <a:t>        print("A")</a:t>
            </a:r>
          </a:p>
          <a:p>
            <a:pPr algn="just"/>
            <a:endParaRPr lang="en-US" sz="2000" dirty="0"/>
          </a:p>
          <a:p>
            <a:pPr algn="just"/>
            <a:r>
              <a:rPr lang="en-US" sz="2000" dirty="0"/>
              <a:t>class B(A):</a:t>
            </a:r>
          </a:p>
          <a:p>
            <a:pPr algn="just"/>
            <a:r>
              <a:rPr lang="en-US" sz="2000" dirty="0"/>
              <a:t>    </a:t>
            </a:r>
            <a:r>
              <a:rPr lang="en-US" sz="2000" dirty="0" err="1"/>
              <a:t>def</a:t>
            </a:r>
            <a:r>
              <a:rPr lang="en-US" sz="2000" dirty="0"/>
              <a:t> foo(self):</a:t>
            </a:r>
          </a:p>
          <a:p>
            <a:pPr algn="just"/>
            <a:r>
              <a:rPr lang="en-US" sz="2000" dirty="0"/>
              <a:t>        print("B")</a:t>
            </a:r>
          </a:p>
          <a:p>
            <a:pPr algn="just"/>
            <a:endParaRPr lang="en-US" sz="2000" dirty="0"/>
          </a:p>
          <a:p>
            <a:pPr algn="just"/>
            <a:r>
              <a:rPr lang="en-US" sz="2000" dirty="0"/>
              <a:t>class C(B):</a:t>
            </a:r>
          </a:p>
          <a:p>
            <a:pPr algn="just"/>
            <a:r>
              <a:rPr lang="en-US" sz="2000" dirty="0"/>
              <a:t>    </a:t>
            </a:r>
            <a:r>
              <a:rPr lang="en-US" sz="2000" dirty="0" err="1"/>
              <a:t>def</a:t>
            </a:r>
            <a:r>
              <a:rPr lang="en-US" sz="2000" dirty="0"/>
              <a:t> foo(self):</a:t>
            </a:r>
          </a:p>
          <a:p>
            <a:pPr algn="just"/>
            <a:r>
              <a:rPr lang="en-US" sz="2000" dirty="0"/>
              <a:t>        print("C")</a:t>
            </a:r>
          </a:p>
          <a:p>
            <a:pPr algn="just"/>
            <a:endParaRPr lang="en-US" sz="2000" dirty="0"/>
          </a:p>
          <a:p>
            <a:pPr algn="just"/>
            <a:r>
              <a:rPr lang="en-US" sz="2000" dirty="0"/>
              <a:t>c = C()</a:t>
            </a:r>
          </a:p>
          <a:p>
            <a:pPr algn="just"/>
            <a:r>
              <a:rPr lang="en-US" sz="2000" dirty="0" err="1"/>
              <a:t>c.foo</a:t>
            </a:r>
            <a:r>
              <a:rPr lang="en-US" sz="2000" dirty="0" smtClean="0"/>
              <a:t>()</a:t>
            </a:r>
          </a:p>
          <a:p>
            <a:pPr algn="just"/>
            <a:endParaRPr lang="en-US" sz="2000" dirty="0"/>
          </a:p>
          <a:p>
            <a:pPr algn="just"/>
            <a:r>
              <a:rPr lang="en-US" sz="2000" dirty="0" smtClean="0"/>
              <a:t>O/p.</a:t>
            </a:r>
          </a:p>
          <a:p>
            <a:pPr algn="just"/>
            <a:r>
              <a:rPr lang="en-US" sz="2000" dirty="0" smtClean="0"/>
              <a:t>C</a:t>
            </a:r>
            <a:endParaRPr lang="en-US" sz="2000" dirty="0"/>
          </a:p>
        </p:txBody>
      </p:sp>
    </p:spTree>
    <p:extLst>
      <p:ext uri="{BB962C8B-B14F-4D97-AF65-F5344CB8AC3E}">
        <p14:creationId xmlns:p14="http://schemas.microsoft.com/office/powerpoint/2010/main" val="357934814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Resolution Order (MRO)</a:t>
            </a:r>
            <a:endParaRPr lang="en-US" dirty="0"/>
          </a:p>
        </p:txBody>
      </p:sp>
      <p:sp>
        <p:nvSpPr>
          <p:cNvPr id="4" name="TextBox 3"/>
          <p:cNvSpPr txBox="1"/>
          <p:nvPr/>
        </p:nvSpPr>
        <p:spPr>
          <a:xfrm>
            <a:off x="228600" y="838200"/>
            <a:ext cx="8763000" cy="4401205"/>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In this example, the MRO of the C class is [C, B, A]. This means that when Python is looking for the foo() method, it will first search the C class. If the method is not found there, it will then search the B class, and then the A class.</a:t>
            </a:r>
          </a:p>
          <a:p>
            <a:pPr marL="342900" indent="-342900" algn="just">
              <a:buFont typeface="Arial" panose="020B0604020202020204" pitchFamily="34" charset="0"/>
              <a:buChar char="•"/>
            </a:pPr>
            <a:r>
              <a:rPr lang="en-US" sz="2800" dirty="0"/>
              <a:t>The MRO is an important concept in Python inheritance. It allows Python to determine the order in which methods are searched for in a class hierarchy. This is especially important in multiple inheritance, where a method may be defined in multiple parent classes.</a:t>
            </a:r>
          </a:p>
        </p:txBody>
      </p:sp>
    </p:spTree>
    <p:extLst>
      <p:ext uri="{BB962C8B-B14F-4D97-AF65-F5344CB8AC3E}">
        <p14:creationId xmlns:p14="http://schemas.microsoft.com/office/powerpoint/2010/main" val="415031504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3970318"/>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t>Method overloading is an important feature of object-oriented programming. Java, C++, C# languages support method overloading, but in Python it is not possible to perform method overloading.</a:t>
            </a:r>
          </a:p>
          <a:p>
            <a:pPr marL="342900" indent="-342900" algn="just">
              <a:buFont typeface="Arial" panose="020B0604020202020204" pitchFamily="34" charset="0"/>
              <a:buChar char="•"/>
            </a:pPr>
            <a:r>
              <a:rPr lang="en-US" sz="2800" dirty="0" smtClean="0"/>
              <a:t>When </a:t>
            </a:r>
            <a:r>
              <a:rPr lang="en-US" sz="2800" dirty="0"/>
              <a:t>you have a class with method of one name defined more than one but with different argument types and/or return type, it is a case of method overloading. Python doesn't support this mechanism as the following code shows −</a:t>
            </a:r>
          </a:p>
        </p:txBody>
      </p:sp>
    </p:spTree>
    <p:extLst>
      <p:ext uri="{BB962C8B-B14F-4D97-AF65-F5344CB8AC3E}">
        <p14:creationId xmlns:p14="http://schemas.microsoft.com/office/powerpoint/2010/main" val="337543273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5262979"/>
          </a:xfrm>
          <a:prstGeom prst="rect">
            <a:avLst/>
          </a:prstGeom>
          <a:noFill/>
        </p:spPr>
        <p:txBody>
          <a:bodyPr wrap="square" rtlCol="0">
            <a:spAutoFit/>
          </a:bodyPr>
          <a:lstStyle/>
          <a:p>
            <a:pPr algn="just"/>
            <a:r>
              <a:rPr lang="en-US" sz="2800" dirty="0"/>
              <a:t>class example:</a:t>
            </a:r>
          </a:p>
          <a:p>
            <a:pPr algn="just"/>
            <a:r>
              <a:rPr lang="en-US" sz="2800" dirty="0"/>
              <a:t>   </a:t>
            </a:r>
            <a:r>
              <a:rPr lang="en-US" sz="2800" dirty="0" err="1"/>
              <a:t>def</a:t>
            </a:r>
            <a:r>
              <a:rPr lang="en-US" sz="2800" dirty="0"/>
              <a:t> add(self, a, b):</a:t>
            </a:r>
          </a:p>
          <a:p>
            <a:pPr algn="just"/>
            <a:r>
              <a:rPr lang="en-US" sz="2800" dirty="0"/>
              <a:t>      x = </a:t>
            </a:r>
            <a:r>
              <a:rPr lang="en-US" sz="2800" dirty="0" err="1"/>
              <a:t>a+b</a:t>
            </a:r>
            <a:endParaRPr lang="en-US" sz="2800" dirty="0"/>
          </a:p>
          <a:p>
            <a:pPr algn="just"/>
            <a:r>
              <a:rPr lang="en-US" sz="2800" dirty="0"/>
              <a:t>      return x</a:t>
            </a:r>
          </a:p>
          <a:p>
            <a:pPr algn="just"/>
            <a:r>
              <a:rPr lang="en-US" sz="2800" dirty="0"/>
              <a:t>   </a:t>
            </a:r>
            <a:r>
              <a:rPr lang="en-US" sz="2800" dirty="0" err="1"/>
              <a:t>def</a:t>
            </a:r>
            <a:r>
              <a:rPr lang="en-US" sz="2800" dirty="0"/>
              <a:t> add(self, a, b, c):</a:t>
            </a:r>
          </a:p>
          <a:p>
            <a:pPr algn="just"/>
            <a:r>
              <a:rPr lang="en-US" sz="2800" dirty="0"/>
              <a:t>      x = </a:t>
            </a:r>
            <a:r>
              <a:rPr lang="en-US" sz="2800" dirty="0" err="1"/>
              <a:t>a+b+c</a:t>
            </a:r>
            <a:endParaRPr lang="en-US" sz="2800" dirty="0"/>
          </a:p>
          <a:p>
            <a:pPr algn="just"/>
            <a:r>
              <a:rPr lang="en-US" sz="2800" dirty="0"/>
              <a:t>      return x</a:t>
            </a:r>
          </a:p>
          <a:p>
            <a:pPr algn="just"/>
            <a:endParaRPr lang="en-US" sz="2800" dirty="0"/>
          </a:p>
          <a:p>
            <a:pPr algn="just"/>
            <a:r>
              <a:rPr lang="en-US" sz="2800" dirty="0" err="1"/>
              <a:t>obj</a:t>
            </a:r>
            <a:r>
              <a:rPr lang="en-US" sz="2800" dirty="0"/>
              <a:t> = example()</a:t>
            </a:r>
          </a:p>
          <a:p>
            <a:pPr algn="just"/>
            <a:endParaRPr lang="en-US" sz="2800" dirty="0"/>
          </a:p>
          <a:p>
            <a:pPr algn="just"/>
            <a:r>
              <a:rPr lang="en-US" sz="2800" dirty="0"/>
              <a:t>print (</a:t>
            </a:r>
            <a:r>
              <a:rPr lang="en-US" sz="2800" dirty="0" err="1"/>
              <a:t>obj.add</a:t>
            </a:r>
            <a:r>
              <a:rPr lang="en-US" sz="2800" dirty="0"/>
              <a:t>(10,20,30))</a:t>
            </a:r>
          </a:p>
          <a:p>
            <a:pPr algn="just"/>
            <a:r>
              <a:rPr lang="en-US" sz="2800" dirty="0"/>
              <a:t>print (</a:t>
            </a:r>
            <a:r>
              <a:rPr lang="en-US" sz="2800" dirty="0" err="1"/>
              <a:t>obj.add</a:t>
            </a:r>
            <a:r>
              <a:rPr lang="en-US" sz="2800" dirty="0"/>
              <a:t>(10,20))</a:t>
            </a:r>
          </a:p>
        </p:txBody>
      </p:sp>
    </p:spTree>
    <p:extLst>
      <p:ext uri="{BB962C8B-B14F-4D97-AF65-F5344CB8AC3E}">
        <p14:creationId xmlns:p14="http://schemas.microsoft.com/office/powerpoint/2010/main" val="60264785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4832092"/>
          </a:xfrm>
          <a:prstGeom prst="rect">
            <a:avLst/>
          </a:prstGeom>
          <a:noFill/>
        </p:spPr>
        <p:txBody>
          <a:bodyPr wrap="square" rtlCol="0">
            <a:spAutoFit/>
          </a:bodyPr>
          <a:lstStyle/>
          <a:p>
            <a:pPr algn="just"/>
            <a:r>
              <a:rPr lang="en-US" sz="2800" dirty="0"/>
              <a:t>The first call to add() method with three arguments is successful. However, calling add() method with two arguments as defined in the class fails.</a:t>
            </a:r>
          </a:p>
          <a:p>
            <a:pPr algn="just"/>
            <a:endParaRPr lang="en-US" sz="2800" dirty="0"/>
          </a:p>
          <a:p>
            <a:pPr algn="just"/>
            <a:r>
              <a:rPr lang="en-US" sz="2800" dirty="0"/>
              <a:t>60</a:t>
            </a:r>
          </a:p>
          <a:p>
            <a:pPr algn="just"/>
            <a:r>
              <a:rPr lang="en-US" sz="2800" dirty="0" err="1"/>
              <a:t>Traceback</a:t>
            </a:r>
            <a:r>
              <a:rPr lang="en-US" sz="2800" dirty="0"/>
              <a:t> (most recent call last):</a:t>
            </a:r>
          </a:p>
          <a:p>
            <a:pPr algn="just"/>
            <a:r>
              <a:rPr lang="en-US" sz="2800" dirty="0"/>
              <a:t> File "C:\Users\user\</a:t>
            </a:r>
            <a:r>
              <a:rPr lang="en-US" sz="2800" dirty="0" err="1"/>
              <a:t>example.py</a:t>
            </a:r>
            <a:r>
              <a:rPr lang="en-US" sz="2800" dirty="0"/>
              <a:t>", line 12, in &lt;module&gt;</a:t>
            </a:r>
          </a:p>
          <a:p>
            <a:pPr algn="just"/>
            <a:r>
              <a:rPr lang="en-US" sz="2800" dirty="0"/>
              <a:t>  print (</a:t>
            </a:r>
            <a:r>
              <a:rPr lang="en-US" sz="2800" dirty="0" err="1"/>
              <a:t>obj.add</a:t>
            </a:r>
            <a:r>
              <a:rPr lang="en-US" sz="2800" dirty="0"/>
              <a:t>(10,20))</a:t>
            </a:r>
          </a:p>
          <a:p>
            <a:pPr algn="just"/>
            <a:r>
              <a:rPr lang="en-US" sz="2800" dirty="0"/>
              <a:t>         ^^^^^^^^^^^^^^</a:t>
            </a:r>
          </a:p>
          <a:p>
            <a:pPr algn="just"/>
            <a:r>
              <a:rPr lang="en-US" sz="2800" dirty="0" err="1"/>
              <a:t>TypeError</a:t>
            </a:r>
            <a:r>
              <a:rPr lang="en-US" sz="2800" dirty="0"/>
              <a:t>: </a:t>
            </a:r>
            <a:r>
              <a:rPr lang="en-US" sz="2800" dirty="0" err="1"/>
              <a:t>example.add</a:t>
            </a:r>
            <a:r>
              <a:rPr lang="en-US" sz="2800" dirty="0"/>
              <a:t>() missing 1 required positional argument: 'c'</a:t>
            </a:r>
          </a:p>
        </p:txBody>
      </p:sp>
    </p:spTree>
    <p:extLst>
      <p:ext uri="{BB962C8B-B14F-4D97-AF65-F5344CB8AC3E}">
        <p14:creationId xmlns:p14="http://schemas.microsoft.com/office/powerpoint/2010/main" val="105853990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3108543"/>
          </a:xfrm>
          <a:prstGeom prst="rect">
            <a:avLst/>
          </a:prstGeom>
          <a:noFill/>
        </p:spPr>
        <p:txBody>
          <a:bodyPr wrap="square" rtlCol="0">
            <a:spAutoFit/>
          </a:bodyPr>
          <a:lstStyle/>
          <a:p>
            <a:pPr algn="just"/>
            <a:r>
              <a:rPr lang="en-US" sz="2800" dirty="0"/>
              <a:t>The output tells you that Python considers only the latest definition of add() method, discarding the earlier definitions.</a:t>
            </a:r>
          </a:p>
          <a:p>
            <a:pPr algn="just"/>
            <a:endParaRPr lang="en-US" sz="2800" dirty="0"/>
          </a:p>
          <a:p>
            <a:pPr algn="just"/>
            <a:r>
              <a:rPr lang="en-US" sz="2800" dirty="0"/>
              <a:t>To simulate method overloading, we can use a workaround by defining default value to method arguments as None, so that it can be used with one, two or three arguments.</a:t>
            </a:r>
          </a:p>
        </p:txBody>
      </p:sp>
    </p:spTree>
    <p:extLst>
      <p:ext uri="{BB962C8B-B14F-4D97-AF65-F5344CB8AC3E}">
        <p14:creationId xmlns:p14="http://schemas.microsoft.com/office/powerpoint/2010/main" val="284994784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5693866"/>
          </a:xfrm>
          <a:prstGeom prst="rect">
            <a:avLst/>
          </a:prstGeom>
          <a:noFill/>
        </p:spPr>
        <p:txBody>
          <a:bodyPr wrap="square" rtlCol="0">
            <a:spAutoFit/>
          </a:bodyPr>
          <a:lstStyle/>
          <a:p>
            <a:pPr algn="just"/>
            <a:r>
              <a:rPr lang="en-US" sz="2800" dirty="0"/>
              <a:t>class example:</a:t>
            </a:r>
          </a:p>
          <a:p>
            <a:pPr algn="just"/>
            <a:r>
              <a:rPr lang="en-US" sz="2800" dirty="0"/>
              <a:t>   </a:t>
            </a:r>
            <a:r>
              <a:rPr lang="en-US" sz="2800" dirty="0" err="1"/>
              <a:t>def</a:t>
            </a:r>
            <a:r>
              <a:rPr lang="en-US" sz="2800" dirty="0"/>
              <a:t> add(self, a = None, b = None, c = None):</a:t>
            </a:r>
          </a:p>
          <a:p>
            <a:pPr algn="just"/>
            <a:r>
              <a:rPr lang="en-US" sz="2800" dirty="0"/>
              <a:t>      x=0</a:t>
            </a:r>
          </a:p>
          <a:p>
            <a:pPr algn="just"/>
            <a:r>
              <a:rPr lang="en-US" sz="2800" dirty="0"/>
              <a:t>      if a !=None and b != None and c != None:</a:t>
            </a:r>
          </a:p>
          <a:p>
            <a:pPr algn="just"/>
            <a:r>
              <a:rPr lang="en-US" sz="2800" dirty="0"/>
              <a:t>         x = </a:t>
            </a:r>
            <a:r>
              <a:rPr lang="en-US" sz="2800" dirty="0" err="1"/>
              <a:t>a+b+c</a:t>
            </a:r>
            <a:endParaRPr lang="en-US" sz="2800" dirty="0"/>
          </a:p>
          <a:p>
            <a:pPr algn="just"/>
            <a:r>
              <a:rPr lang="en-US" sz="2800" dirty="0"/>
              <a:t>      </a:t>
            </a:r>
            <a:r>
              <a:rPr lang="en-US" sz="2800" dirty="0" err="1"/>
              <a:t>elif</a:t>
            </a:r>
            <a:r>
              <a:rPr lang="en-US" sz="2800" dirty="0"/>
              <a:t> a !=None and b != None and c == None:</a:t>
            </a:r>
          </a:p>
          <a:p>
            <a:pPr algn="just"/>
            <a:r>
              <a:rPr lang="en-US" sz="2800" dirty="0"/>
              <a:t>         x = </a:t>
            </a:r>
            <a:r>
              <a:rPr lang="en-US" sz="2800" dirty="0" err="1"/>
              <a:t>a+b</a:t>
            </a:r>
            <a:endParaRPr lang="en-US" sz="2800" dirty="0"/>
          </a:p>
          <a:p>
            <a:pPr algn="just"/>
            <a:r>
              <a:rPr lang="en-US" sz="2800" dirty="0"/>
              <a:t>      return x</a:t>
            </a:r>
          </a:p>
          <a:p>
            <a:pPr algn="just"/>
            <a:endParaRPr lang="en-US" sz="2800" dirty="0"/>
          </a:p>
          <a:p>
            <a:pPr algn="just"/>
            <a:r>
              <a:rPr lang="en-US" sz="2800" dirty="0" err="1"/>
              <a:t>obj</a:t>
            </a:r>
            <a:r>
              <a:rPr lang="en-US" sz="2800" dirty="0"/>
              <a:t> = example()</a:t>
            </a:r>
          </a:p>
          <a:p>
            <a:pPr algn="just"/>
            <a:endParaRPr lang="en-US" sz="2800" dirty="0"/>
          </a:p>
          <a:p>
            <a:pPr algn="just"/>
            <a:r>
              <a:rPr lang="en-US" sz="2800" dirty="0"/>
              <a:t>print (</a:t>
            </a:r>
            <a:r>
              <a:rPr lang="en-US" sz="2800" dirty="0" err="1"/>
              <a:t>obj.add</a:t>
            </a:r>
            <a:r>
              <a:rPr lang="en-US" sz="2800" dirty="0"/>
              <a:t>(10,20,30))</a:t>
            </a:r>
          </a:p>
          <a:p>
            <a:pPr algn="just"/>
            <a:r>
              <a:rPr lang="en-US" sz="2800" dirty="0"/>
              <a:t>print (</a:t>
            </a:r>
            <a:r>
              <a:rPr lang="en-US" sz="2800" dirty="0" err="1"/>
              <a:t>obj.add</a:t>
            </a:r>
            <a:r>
              <a:rPr lang="en-US" sz="2800" dirty="0"/>
              <a:t>(10,20))</a:t>
            </a:r>
          </a:p>
        </p:txBody>
      </p:sp>
    </p:spTree>
    <p:extLst>
      <p:ext uri="{BB962C8B-B14F-4D97-AF65-F5344CB8AC3E}">
        <p14:creationId xmlns:p14="http://schemas.microsoft.com/office/powerpoint/2010/main" val="314271391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6124754"/>
          </a:xfrm>
          <a:prstGeom prst="rect">
            <a:avLst/>
          </a:prstGeom>
          <a:noFill/>
        </p:spPr>
        <p:txBody>
          <a:bodyPr wrap="square" rtlCol="0">
            <a:spAutoFit/>
          </a:bodyPr>
          <a:lstStyle/>
          <a:p>
            <a:pPr algn="just"/>
            <a:r>
              <a:rPr lang="en-US" sz="2800" dirty="0"/>
              <a:t>It will produce the following output −</a:t>
            </a:r>
          </a:p>
          <a:p>
            <a:pPr algn="just"/>
            <a:endParaRPr lang="en-US" sz="2800" dirty="0"/>
          </a:p>
          <a:p>
            <a:pPr algn="just"/>
            <a:r>
              <a:rPr lang="en-US" sz="2800" dirty="0"/>
              <a:t>60</a:t>
            </a:r>
          </a:p>
          <a:p>
            <a:pPr algn="just"/>
            <a:r>
              <a:rPr lang="en-US" sz="2800" dirty="0" smtClean="0"/>
              <a:t>30</a:t>
            </a:r>
          </a:p>
          <a:p>
            <a:pPr algn="just"/>
            <a:endParaRPr lang="en-US" sz="2800" dirty="0"/>
          </a:p>
          <a:p>
            <a:pPr marL="457200" indent="-457200" algn="just">
              <a:buFont typeface="Arial" panose="020B0604020202020204" pitchFamily="34" charset="0"/>
              <a:buChar char="•"/>
            </a:pPr>
            <a:r>
              <a:rPr lang="en-US" sz="2800" dirty="0"/>
              <a:t>With this workaround, we are able to incorporate method overloading in Python class</a:t>
            </a:r>
            <a:r>
              <a:rPr lang="en-US" sz="2800" dirty="0" smtClean="0"/>
              <a:t>.</a:t>
            </a:r>
            <a:endParaRPr lang="en-US" sz="2800" dirty="0"/>
          </a:p>
          <a:p>
            <a:pPr marL="457200" indent="-457200" algn="just">
              <a:buFont typeface="Arial" panose="020B0604020202020204" pitchFamily="34" charset="0"/>
              <a:buChar char="•"/>
            </a:pPr>
            <a:r>
              <a:rPr lang="en-US" sz="2800" dirty="0"/>
              <a:t>Python's standard library doesn't have any other provision for implementing method overloading. However, we can use dispatch function from a third party module named </a:t>
            </a:r>
            <a:r>
              <a:rPr lang="en-US" sz="2800" dirty="0" err="1"/>
              <a:t>MultipleDispatch</a:t>
            </a:r>
            <a:r>
              <a:rPr lang="en-US" sz="2800" dirty="0"/>
              <a:t> for this purpose</a:t>
            </a:r>
            <a:r>
              <a:rPr lang="en-US" sz="2800" dirty="0" smtClean="0"/>
              <a:t>.</a:t>
            </a:r>
            <a:endParaRPr lang="en-US" sz="2800" dirty="0"/>
          </a:p>
          <a:p>
            <a:pPr marL="457200" indent="-457200" algn="just">
              <a:buFont typeface="Arial" panose="020B0604020202020204" pitchFamily="34" charset="0"/>
              <a:buChar char="•"/>
            </a:pPr>
            <a:r>
              <a:rPr lang="en-US" sz="2800" dirty="0"/>
              <a:t>First, you need to install the </a:t>
            </a:r>
            <a:r>
              <a:rPr lang="en-US" sz="2800" dirty="0" err="1"/>
              <a:t>Multipledispatch</a:t>
            </a:r>
            <a:r>
              <a:rPr lang="en-US" sz="2800" dirty="0"/>
              <a:t> module</a:t>
            </a:r>
            <a:r>
              <a:rPr lang="en-US" sz="2800" dirty="0" smtClean="0"/>
              <a:t>.</a:t>
            </a:r>
          </a:p>
          <a:p>
            <a:pPr marL="457200" indent="-457200" algn="just">
              <a:buFont typeface="Arial" panose="020B0604020202020204" pitchFamily="34" charset="0"/>
              <a:buChar char="•"/>
            </a:pPr>
            <a:r>
              <a:rPr lang="en-US" sz="2800" b="1" dirty="0" smtClean="0"/>
              <a:t>pip </a:t>
            </a:r>
            <a:r>
              <a:rPr lang="en-US" sz="2800" b="1" dirty="0"/>
              <a:t>install </a:t>
            </a:r>
            <a:r>
              <a:rPr lang="en-US" sz="2800" b="1" dirty="0" err="1" smtClean="0"/>
              <a:t>multipledispatch</a:t>
            </a:r>
            <a:r>
              <a:rPr lang="en-US" sz="2800" b="1" dirty="0" smtClean="0"/>
              <a:t>   - This command needs to be given at command prompt</a:t>
            </a:r>
            <a:endParaRPr lang="en-US" sz="2800" b="1" dirty="0"/>
          </a:p>
        </p:txBody>
      </p:sp>
    </p:spTree>
    <p:extLst>
      <p:ext uri="{BB962C8B-B14F-4D97-AF65-F5344CB8AC3E}">
        <p14:creationId xmlns:p14="http://schemas.microsoft.com/office/powerpoint/2010/main" val="71773611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181588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This module has a @dispatch decorator. It takes the number of arguments to be passed to the method to be overloaded. Define multiple copies of add() method with @dispatch decorator as below −</a:t>
            </a:r>
            <a:endParaRPr lang="en-US" sz="2800" b="1" dirty="0"/>
          </a:p>
        </p:txBody>
      </p:sp>
    </p:spTree>
    <p:extLst>
      <p:ext uri="{BB962C8B-B14F-4D97-AF65-F5344CB8AC3E}">
        <p14:creationId xmlns:p14="http://schemas.microsoft.com/office/powerpoint/2010/main" val="153417017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Method Overloading</a:t>
            </a:r>
            <a:endParaRPr lang="en-US" dirty="0"/>
          </a:p>
        </p:txBody>
      </p:sp>
      <p:sp>
        <p:nvSpPr>
          <p:cNvPr id="4" name="TextBox 3"/>
          <p:cNvSpPr txBox="1"/>
          <p:nvPr/>
        </p:nvSpPr>
        <p:spPr>
          <a:xfrm>
            <a:off x="228600" y="838200"/>
            <a:ext cx="8763000" cy="5693866"/>
          </a:xfrm>
          <a:prstGeom prst="rect">
            <a:avLst/>
          </a:prstGeom>
          <a:noFill/>
        </p:spPr>
        <p:txBody>
          <a:bodyPr wrap="square" rtlCol="0">
            <a:spAutoFit/>
          </a:bodyPr>
          <a:lstStyle/>
          <a:p>
            <a:pPr algn="just"/>
            <a:r>
              <a:rPr lang="en-US" sz="2800" dirty="0"/>
              <a:t>from </a:t>
            </a:r>
            <a:r>
              <a:rPr lang="en-US" sz="2800" dirty="0" err="1"/>
              <a:t>multipledispatch</a:t>
            </a:r>
            <a:r>
              <a:rPr lang="en-US" sz="2800" dirty="0"/>
              <a:t> import dispatch</a:t>
            </a:r>
          </a:p>
          <a:p>
            <a:pPr algn="just"/>
            <a:r>
              <a:rPr lang="en-US" sz="2800" dirty="0"/>
              <a:t>class example:</a:t>
            </a:r>
          </a:p>
          <a:p>
            <a:pPr algn="just"/>
            <a:r>
              <a:rPr lang="en-US" sz="2800" dirty="0"/>
              <a:t>   @dispatch(</a:t>
            </a:r>
            <a:r>
              <a:rPr lang="en-US" sz="2800" dirty="0" err="1"/>
              <a:t>int</a:t>
            </a:r>
            <a:r>
              <a:rPr lang="en-US" sz="2800" dirty="0"/>
              <a:t>, </a:t>
            </a:r>
            <a:r>
              <a:rPr lang="en-US" sz="2800" dirty="0" err="1"/>
              <a:t>int</a:t>
            </a:r>
            <a:r>
              <a:rPr lang="en-US" sz="2800" dirty="0"/>
              <a:t>)</a:t>
            </a:r>
          </a:p>
          <a:p>
            <a:pPr algn="just"/>
            <a:r>
              <a:rPr lang="en-US" sz="2800" dirty="0"/>
              <a:t>   </a:t>
            </a:r>
            <a:r>
              <a:rPr lang="en-US" sz="2800" dirty="0" err="1"/>
              <a:t>def</a:t>
            </a:r>
            <a:r>
              <a:rPr lang="en-US" sz="2800" dirty="0"/>
              <a:t> add(self, a, b):</a:t>
            </a:r>
          </a:p>
          <a:p>
            <a:pPr algn="just"/>
            <a:r>
              <a:rPr lang="en-US" sz="2800" dirty="0"/>
              <a:t>      x = </a:t>
            </a:r>
            <a:r>
              <a:rPr lang="en-US" sz="2800" dirty="0" err="1"/>
              <a:t>a+b</a:t>
            </a:r>
            <a:endParaRPr lang="en-US" sz="2800" dirty="0"/>
          </a:p>
          <a:p>
            <a:pPr algn="just"/>
            <a:r>
              <a:rPr lang="en-US" sz="2800" dirty="0"/>
              <a:t>      return x</a:t>
            </a:r>
          </a:p>
          <a:p>
            <a:pPr algn="just"/>
            <a:r>
              <a:rPr lang="en-US" sz="2800" dirty="0"/>
              <a:t>   @dispatch(</a:t>
            </a:r>
            <a:r>
              <a:rPr lang="en-US" sz="2800" dirty="0" err="1"/>
              <a:t>int</a:t>
            </a:r>
            <a:r>
              <a:rPr lang="en-US" sz="2800" dirty="0"/>
              <a:t>, </a:t>
            </a:r>
            <a:r>
              <a:rPr lang="en-US" sz="2800" dirty="0" err="1"/>
              <a:t>int</a:t>
            </a:r>
            <a:r>
              <a:rPr lang="en-US" sz="2800" dirty="0"/>
              <a:t>, </a:t>
            </a:r>
            <a:r>
              <a:rPr lang="en-US" sz="2800" dirty="0" err="1"/>
              <a:t>int</a:t>
            </a:r>
            <a:r>
              <a:rPr lang="en-US" sz="2800" dirty="0"/>
              <a:t>)</a:t>
            </a:r>
          </a:p>
          <a:p>
            <a:pPr algn="just"/>
            <a:r>
              <a:rPr lang="en-US" sz="2800" dirty="0"/>
              <a:t>   </a:t>
            </a:r>
            <a:r>
              <a:rPr lang="en-US" sz="2800" dirty="0" err="1"/>
              <a:t>def</a:t>
            </a:r>
            <a:r>
              <a:rPr lang="en-US" sz="2800" dirty="0"/>
              <a:t> add(self, a, b, c):</a:t>
            </a:r>
          </a:p>
          <a:p>
            <a:pPr algn="just"/>
            <a:r>
              <a:rPr lang="en-US" sz="2800" dirty="0"/>
              <a:t>      x = </a:t>
            </a:r>
            <a:r>
              <a:rPr lang="en-US" sz="2800" dirty="0" err="1"/>
              <a:t>a+b+c</a:t>
            </a:r>
            <a:endParaRPr lang="en-US" sz="2800" dirty="0"/>
          </a:p>
          <a:p>
            <a:pPr algn="just"/>
            <a:r>
              <a:rPr lang="en-US" sz="2800" dirty="0"/>
              <a:t>      return x</a:t>
            </a:r>
          </a:p>
          <a:p>
            <a:pPr algn="just"/>
            <a:r>
              <a:rPr lang="en-US" sz="2800" dirty="0" err="1" smtClean="0"/>
              <a:t>obj</a:t>
            </a:r>
            <a:r>
              <a:rPr lang="en-US" sz="2800" dirty="0" smtClean="0"/>
              <a:t> </a:t>
            </a:r>
            <a:r>
              <a:rPr lang="en-US" sz="2800" dirty="0"/>
              <a:t>= example()</a:t>
            </a:r>
          </a:p>
          <a:p>
            <a:pPr algn="just"/>
            <a:r>
              <a:rPr lang="en-US" sz="2800" dirty="0" smtClean="0"/>
              <a:t>print </a:t>
            </a:r>
            <a:r>
              <a:rPr lang="en-US" sz="2800" dirty="0"/>
              <a:t>(</a:t>
            </a:r>
            <a:r>
              <a:rPr lang="en-US" sz="2800" dirty="0" err="1"/>
              <a:t>obj.add</a:t>
            </a:r>
            <a:r>
              <a:rPr lang="en-US" sz="2800" dirty="0"/>
              <a:t>(10,20,30))</a:t>
            </a:r>
          </a:p>
          <a:p>
            <a:pPr algn="just"/>
            <a:r>
              <a:rPr lang="en-US" sz="2800" dirty="0"/>
              <a:t>print (</a:t>
            </a:r>
            <a:r>
              <a:rPr lang="en-US" sz="2800" dirty="0" err="1"/>
              <a:t>obj.add</a:t>
            </a:r>
            <a:r>
              <a:rPr lang="en-US" sz="2800" dirty="0"/>
              <a:t>(10,20))</a:t>
            </a:r>
            <a:endParaRPr lang="en-US" sz="2800" b="1" dirty="0"/>
          </a:p>
        </p:txBody>
      </p:sp>
      <p:sp>
        <p:nvSpPr>
          <p:cNvPr id="3" name="TextBox 2"/>
          <p:cNvSpPr txBox="1"/>
          <p:nvPr/>
        </p:nvSpPr>
        <p:spPr>
          <a:xfrm>
            <a:off x="6172200" y="4267200"/>
            <a:ext cx="2438400" cy="923330"/>
          </a:xfrm>
          <a:prstGeom prst="rect">
            <a:avLst/>
          </a:prstGeom>
          <a:noFill/>
        </p:spPr>
        <p:txBody>
          <a:bodyPr wrap="square" rtlCol="0">
            <a:spAutoFit/>
          </a:bodyPr>
          <a:lstStyle/>
          <a:p>
            <a:r>
              <a:rPr lang="en-US" dirty="0" smtClean="0"/>
              <a:t>O/p.</a:t>
            </a:r>
          </a:p>
          <a:p>
            <a:r>
              <a:rPr lang="en-US" dirty="0" smtClean="0"/>
              <a:t>60</a:t>
            </a:r>
          </a:p>
          <a:p>
            <a:r>
              <a:rPr lang="en-US" smtClean="0"/>
              <a:t>30</a:t>
            </a:r>
            <a:endParaRPr lang="en-IN"/>
          </a:p>
        </p:txBody>
      </p:sp>
    </p:spTree>
    <p:extLst>
      <p:ext uri="{BB962C8B-B14F-4D97-AF65-F5344CB8AC3E}">
        <p14:creationId xmlns:p14="http://schemas.microsoft.com/office/powerpoint/2010/main" val="61414090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Operator Overloading</a:t>
            </a:r>
            <a:endParaRPr lang="en-US"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The operator overloading in Python means provide extended meaning beyond their predefined operational meaning. </a:t>
            </a:r>
            <a:endParaRPr lang="en-US" sz="2800" dirty="0" smtClean="0"/>
          </a:p>
          <a:p>
            <a:pPr marL="457200" indent="-457200" algn="just">
              <a:buFont typeface="Arial" panose="020B0604020202020204" pitchFamily="34" charset="0"/>
              <a:buChar char="•"/>
            </a:pPr>
            <a:r>
              <a:rPr lang="en-US" sz="2800" dirty="0" smtClean="0"/>
              <a:t>Such </a:t>
            </a:r>
            <a:r>
              <a:rPr lang="en-US" sz="2800" dirty="0"/>
              <a:t>as, we use the "+" operator for adding two integers as well as joining two strings or merging two lists. </a:t>
            </a:r>
            <a:endParaRPr lang="en-US" sz="2800" dirty="0" smtClean="0"/>
          </a:p>
          <a:p>
            <a:pPr marL="457200" indent="-457200" algn="just">
              <a:buFont typeface="Arial" panose="020B0604020202020204" pitchFamily="34" charset="0"/>
              <a:buChar char="•"/>
            </a:pPr>
            <a:r>
              <a:rPr lang="en-US" sz="2800" dirty="0" smtClean="0"/>
              <a:t>We </a:t>
            </a:r>
            <a:r>
              <a:rPr lang="en-US" sz="2800" dirty="0"/>
              <a:t>can achieve this as the "+" operator is overloaded by the "</a:t>
            </a:r>
            <a:r>
              <a:rPr lang="en-US" sz="2800" dirty="0" err="1"/>
              <a:t>int</a:t>
            </a:r>
            <a:r>
              <a:rPr lang="en-US" sz="2800" dirty="0"/>
              <a:t>" class and "</a:t>
            </a:r>
            <a:r>
              <a:rPr lang="en-US" sz="2800" dirty="0" err="1"/>
              <a:t>str</a:t>
            </a:r>
            <a:r>
              <a:rPr lang="en-US" sz="2800" dirty="0"/>
              <a:t>" class. </a:t>
            </a:r>
            <a:endParaRPr lang="en-US" sz="2800" dirty="0" smtClean="0"/>
          </a:p>
          <a:p>
            <a:pPr marL="457200" indent="-457200" algn="just">
              <a:buFont typeface="Arial" panose="020B0604020202020204" pitchFamily="34" charset="0"/>
              <a:buChar char="•"/>
            </a:pPr>
            <a:r>
              <a:rPr lang="en-US" sz="2800" dirty="0" smtClean="0"/>
              <a:t>The </a:t>
            </a:r>
            <a:r>
              <a:rPr lang="en-US" sz="2800" dirty="0"/>
              <a:t>user can notice that the same inbuilt operator or function is showing different </a:t>
            </a:r>
            <a:r>
              <a:rPr lang="en-US" sz="2800" dirty="0" err="1"/>
              <a:t>behaviour</a:t>
            </a:r>
            <a:r>
              <a:rPr lang="en-US" sz="2800" dirty="0"/>
              <a:t> for objects of different classes. </a:t>
            </a:r>
            <a:endParaRPr lang="en-US" sz="2800" dirty="0" smtClean="0"/>
          </a:p>
          <a:p>
            <a:pPr marL="457200" indent="-457200" algn="just">
              <a:buFont typeface="Arial" panose="020B0604020202020204" pitchFamily="34" charset="0"/>
              <a:buChar char="•"/>
            </a:pPr>
            <a:r>
              <a:rPr lang="en-US" sz="2800" dirty="0" smtClean="0"/>
              <a:t>This </a:t>
            </a:r>
            <a:r>
              <a:rPr lang="en-US" sz="2800" dirty="0"/>
              <a:t>process is known as operator overloading.</a:t>
            </a:r>
            <a:endParaRPr lang="en-US" sz="2800" b="1" dirty="0"/>
          </a:p>
        </p:txBody>
      </p:sp>
    </p:spTree>
    <p:extLst>
      <p:ext uri="{BB962C8B-B14F-4D97-AF65-F5344CB8AC3E}">
        <p14:creationId xmlns:p14="http://schemas.microsoft.com/office/powerpoint/2010/main" val="272027661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Operator Overloading</a:t>
            </a:r>
            <a:endParaRPr lang="en-US" dirty="0"/>
          </a:p>
        </p:txBody>
      </p:sp>
      <p:sp>
        <p:nvSpPr>
          <p:cNvPr id="4" name="TextBox 3"/>
          <p:cNvSpPr txBox="1"/>
          <p:nvPr/>
        </p:nvSpPr>
        <p:spPr>
          <a:xfrm>
            <a:off x="228600" y="838200"/>
            <a:ext cx="8763000" cy="5693866"/>
          </a:xfrm>
          <a:prstGeom prst="rect">
            <a:avLst/>
          </a:prstGeom>
          <a:noFill/>
        </p:spPr>
        <p:txBody>
          <a:bodyPr wrap="square" rtlCol="0">
            <a:spAutoFit/>
          </a:bodyPr>
          <a:lstStyle/>
          <a:p>
            <a:pPr algn="just"/>
            <a:r>
              <a:rPr lang="en-US" sz="2800" dirty="0"/>
              <a:t>print (14 + 32)  </a:t>
            </a:r>
          </a:p>
          <a:p>
            <a:pPr algn="just"/>
            <a:r>
              <a:rPr lang="en-US" sz="2800" dirty="0"/>
              <a:t># Now, we will concatenate the two strings  </a:t>
            </a:r>
          </a:p>
          <a:p>
            <a:pPr algn="just"/>
            <a:r>
              <a:rPr lang="en-US" sz="2800" dirty="0"/>
              <a:t>print </a:t>
            </a:r>
            <a:r>
              <a:rPr lang="en-US" sz="2800" dirty="0" smtClean="0"/>
              <a:t>(“MCA" </a:t>
            </a:r>
            <a:r>
              <a:rPr lang="en-US" sz="2800" dirty="0"/>
              <a:t>+ </a:t>
            </a:r>
            <a:r>
              <a:rPr lang="en-US" sz="2800" dirty="0" smtClean="0"/>
              <a:t>“</a:t>
            </a:r>
            <a:r>
              <a:rPr lang="en-US" sz="2800" dirty="0" err="1" smtClean="0"/>
              <a:t>2B</a:t>
            </a:r>
            <a:r>
              <a:rPr lang="en-US" sz="2800" dirty="0" smtClean="0"/>
              <a:t>")  </a:t>
            </a:r>
            <a:endParaRPr lang="en-US" sz="2800" dirty="0"/>
          </a:p>
          <a:p>
            <a:pPr algn="just"/>
            <a:r>
              <a:rPr lang="en-US" sz="2800" dirty="0" smtClean="0"/>
              <a:t># </a:t>
            </a:r>
            <a:r>
              <a:rPr lang="en-US" sz="2800" dirty="0"/>
              <a:t>We will check the product of two numbers  </a:t>
            </a:r>
          </a:p>
          <a:p>
            <a:pPr algn="just"/>
            <a:r>
              <a:rPr lang="en-US" sz="2800" dirty="0"/>
              <a:t>print (23 * 14)  </a:t>
            </a:r>
          </a:p>
          <a:p>
            <a:pPr algn="just"/>
            <a:r>
              <a:rPr lang="en-US" sz="2800" dirty="0" smtClean="0"/>
              <a:t># </a:t>
            </a:r>
            <a:r>
              <a:rPr lang="en-US" sz="2800" dirty="0"/>
              <a:t>Here, we will try to repeat the String  </a:t>
            </a:r>
          </a:p>
          <a:p>
            <a:pPr algn="just"/>
            <a:r>
              <a:rPr lang="en-US" sz="2800" dirty="0"/>
              <a:t>print ("X Y Z " * 3) </a:t>
            </a:r>
            <a:endParaRPr lang="en-US" sz="2800" dirty="0" smtClean="0"/>
          </a:p>
          <a:p>
            <a:pPr algn="just"/>
            <a:endParaRPr lang="en-US" sz="2800" b="1" dirty="0"/>
          </a:p>
          <a:p>
            <a:pPr algn="just"/>
            <a:r>
              <a:rPr lang="en-US" sz="2800" b="1" dirty="0" smtClean="0"/>
              <a:t>O/p.</a:t>
            </a:r>
          </a:p>
          <a:p>
            <a:pPr algn="just"/>
            <a:r>
              <a:rPr lang="en-US" sz="2800" dirty="0"/>
              <a:t>46</a:t>
            </a:r>
          </a:p>
          <a:p>
            <a:pPr algn="just"/>
            <a:r>
              <a:rPr lang="en-US" sz="2800" dirty="0" err="1" smtClean="0"/>
              <a:t>MCA2B</a:t>
            </a:r>
            <a:endParaRPr lang="en-US" sz="2800" dirty="0"/>
          </a:p>
          <a:p>
            <a:pPr algn="just"/>
            <a:r>
              <a:rPr lang="en-US" sz="2800" dirty="0"/>
              <a:t>322</a:t>
            </a:r>
          </a:p>
          <a:p>
            <a:pPr algn="just"/>
            <a:r>
              <a:rPr lang="en-US" sz="2800" dirty="0"/>
              <a:t>X Y Z X Y Z X Y Z</a:t>
            </a:r>
          </a:p>
        </p:txBody>
      </p:sp>
    </p:spTree>
    <p:extLst>
      <p:ext uri="{BB962C8B-B14F-4D97-AF65-F5344CB8AC3E}">
        <p14:creationId xmlns:p14="http://schemas.microsoft.com/office/powerpoint/2010/main" val="284648019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How to perform Operator Overloading</a:t>
            </a:r>
            <a:endParaRPr lang="en-US" dirty="0"/>
          </a:p>
        </p:txBody>
      </p:sp>
      <p:sp>
        <p:nvSpPr>
          <p:cNvPr id="4" name="TextBox 3"/>
          <p:cNvSpPr txBox="1"/>
          <p:nvPr/>
        </p:nvSpPr>
        <p:spPr>
          <a:xfrm>
            <a:off x="228600" y="838200"/>
            <a:ext cx="8763000" cy="483209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Suppose the user has two objects which are the physical representation of a user-defined data type class. </a:t>
            </a:r>
            <a:endParaRPr lang="en-US" sz="2800" dirty="0" smtClean="0"/>
          </a:p>
          <a:p>
            <a:pPr marL="457200" indent="-457200" algn="just">
              <a:buFont typeface="Arial" panose="020B0604020202020204" pitchFamily="34" charset="0"/>
              <a:buChar char="•"/>
            </a:pPr>
            <a:r>
              <a:rPr lang="en-US" sz="2800" dirty="0" smtClean="0"/>
              <a:t>The </a:t>
            </a:r>
            <a:r>
              <a:rPr lang="en-US" sz="2800" dirty="0"/>
              <a:t>user has to add two objects using the "+" operator, and it gives an error. </a:t>
            </a:r>
            <a:endParaRPr lang="en-US" sz="2800" dirty="0" smtClean="0"/>
          </a:p>
          <a:p>
            <a:pPr marL="457200" indent="-457200" algn="just">
              <a:buFont typeface="Arial" panose="020B0604020202020204" pitchFamily="34" charset="0"/>
              <a:buChar char="•"/>
            </a:pPr>
            <a:r>
              <a:rPr lang="en-US" sz="2800" dirty="0" smtClean="0"/>
              <a:t>This </a:t>
            </a:r>
            <a:r>
              <a:rPr lang="en-US" sz="2800" dirty="0"/>
              <a:t>is because the compiler does not know how to add two objects. </a:t>
            </a:r>
            <a:endParaRPr lang="en-US" sz="2800" dirty="0" smtClean="0"/>
          </a:p>
          <a:p>
            <a:pPr marL="457200" indent="-457200" algn="just">
              <a:buFont typeface="Arial" panose="020B0604020202020204" pitchFamily="34" charset="0"/>
              <a:buChar char="•"/>
            </a:pPr>
            <a:r>
              <a:rPr lang="en-US" sz="2800" dirty="0" smtClean="0"/>
              <a:t>So</a:t>
            </a:r>
            <a:r>
              <a:rPr lang="en-US" sz="2800" dirty="0"/>
              <a:t>, the user has to define the function for using the operator, and that process is known as "operator overloading". </a:t>
            </a:r>
            <a:endParaRPr lang="en-US" sz="2800" dirty="0" smtClean="0"/>
          </a:p>
          <a:p>
            <a:pPr marL="457200" indent="-457200" algn="just">
              <a:buFont typeface="Arial" panose="020B0604020202020204" pitchFamily="34" charset="0"/>
              <a:buChar char="•"/>
            </a:pPr>
            <a:r>
              <a:rPr lang="en-US" sz="2800" dirty="0" smtClean="0"/>
              <a:t>The </a:t>
            </a:r>
            <a:r>
              <a:rPr lang="en-US" sz="2800" dirty="0"/>
              <a:t>user can overload all the existing operators by they cannot create any new operator. </a:t>
            </a:r>
            <a:endParaRPr lang="en-US" sz="2800" dirty="0" smtClean="0"/>
          </a:p>
        </p:txBody>
      </p:sp>
    </p:spTree>
    <p:extLst>
      <p:ext uri="{BB962C8B-B14F-4D97-AF65-F5344CB8AC3E}">
        <p14:creationId xmlns:p14="http://schemas.microsoft.com/office/powerpoint/2010/main" val="96714902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b="1" dirty="0" smtClean="0"/>
              <a:t>How to perform Operator Overloading</a:t>
            </a:r>
            <a:endParaRPr lang="en-US" dirty="0"/>
          </a:p>
        </p:txBody>
      </p:sp>
      <p:sp>
        <p:nvSpPr>
          <p:cNvPr id="4" name="TextBox 3"/>
          <p:cNvSpPr txBox="1"/>
          <p:nvPr/>
        </p:nvSpPr>
        <p:spPr>
          <a:xfrm>
            <a:off x="228600" y="838200"/>
            <a:ext cx="8763000" cy="3108543"/>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Python provides some special functions, or we can say magic functions for performing operator overloading, which is automatically invoked when it is associated with that operator. </a:t>
            </a:r>
            <a:endParaRPr lang="en-US" sz="2800" dirty="0" smtClean="0"/>
          </a:p>
          <a:p>
            <a:pPr marL="457200" indent="-457200" algn="just">
              <a:buFont typeface="Arial" panose="020B0604020202020204" pitchFamily="34" charset="0"/>
              <a:buChar char="•"/>
            </a:pPr>
            <a:r>
              <a:rPr lang="en-US" sz="2800" dirty="0" smtClean="0"/>
              <a:t>Such </a:t>
            </a:r>
            <a:r>
              <a:rPr lang="en-US" sz="2800" dirty="0"/>
              <a:t>as, when the user uses the "+" operator, the magic function __add__ will automatically invoke in the command where the "+" operator will be defined.</a:t>
            </a:r>
            <a:endParaRPr lang="en-US" sz="2800" b="1" dirty="0"/>
          </a:p>
        </p:txBody>
      </p:sp>
    </p:spTree>
    <p:extLst>
      <p:ext uri="{BB962C8B-B14F-4D97-AF65-F5344CB8AC3E}">
        <p14:creationId xmlns:p14="http://schemas.microsoft.com/office/powerpoint/2010/main" val="21640635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How to perform Binary + Operator Overloading</a:t>
            </a:r>
            <a:endParaRPr lang="en-US" sz="3600"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When the user uses the operator on the user-defined data types of class, then a magic function that is associated with the operator will be invoked automatically. </a:t>
            </a:r>
            <a:endParaRPr lang="en-US" sz="2800" dirty="0" smtClean="0"/>
          </a:p>
          <a:p>
            <a:pPr marL="457200" indent="-457200" algn="just">
              <a:buFont typeface="Arial" panose="020B0604020202020204" pitchFamily="34" charset="0"/>
              <a:buChar char="•"/>
            </a:pPr>
            <a:r>
              <a:rPr lang="en-US" sz="2800" dirty="0" smtClean="0"/>
              <a:t>The </a:t>
            </a:r>
            <a:r>
              <a:rPr lang="en-US" sz="2800" dirty="0"/>
              <a:t>process of changing the </a:t>
            </a:r>
            <a:r>
              <a:rPr lang="en-US" sz="2800" dirty="0" err="1"/>
              <a:t>behaviour</a:t>
            </a:r>
            <a:r>
              <a:rPr lang="en-US" sz="2800" dirty="0"/>
              <a:t> of the operator is as simple as the </a:t>
            </a:r>
            <a:r>
              <a:rPr lang="en-US" sz="2800" dirty="0" err="1"/>
              <a:t>behaviour</a:t>
            </a:r>
            <a:r>
              <a:rPr lang="en-US" sz="2800" dirty="0"/>
              <a:t> of the function or method defined.</a:t>
            </a:r>
          </a:p>
          <a:p>
            <a:pPr marL="457200" indent="-457200" algn="just">
              <a:buFont typeface="Arial" panose="020B0604020202020204" pitchFamily="34" charset="0"/>
              <a:buChar char="•"/>
            </a:pPr>
            <a:r>
              <a:rPr lang="en-US" sz="2800" dirty="0" smtClean="0"/>
              <a:t>The </a:t>
            </a:r>
            <a:r>
              <a:rPr lang="en-US" sz="2800" dirty="0"/>
              <a:t>user define methods or functions in the class and the operator works according to that </a:t>
            </a:r>
            <a:r>
              <a:rPr lang="en-US" sz="2800" dirty="0" err="1"/>
              <a:t>behaviour</a:t>
            </a:r>
            <a:r>
              <a:rPr lang="en-US" sz="2800" dirty="0"/>
              <a:t> defined in the functions. When the user uses the "+" operator, it will change the code of a magic function, and the user has an extra meaning of the "+" operator.</a:t>
            </a:r>
            <a:endParaRPr lang="en-US" sz="2800" b="1" dirty="0"/>
          </a:p>
        </p:txBody>
      </p:sp>
    </p:spTree>
    <p:extLst>
      <p:ext uri="{BB962C8B-B14F-4D97-AF65-F5344CB8AC3E}">
        <p14:creationId xmlns:p14="http://schemas.microsoft.com/office/powerpoint/2010/main" val="305671502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How to perform Binary + Operator Overloading</a:t>
            </a:r>
            <a:endParaRPr lang="en-US" sz="3600" dirty="0"/>
          </a:p>
        </p:txBody>
      </p:sp>
      <p:sp>
        <p:nvSpPr>
          <p:cNvPr id="4" name="TextBox 3"/>
          <p:cNvSpPr txBox="1"/>
          <p:nvPr/>
        </p:nvSpPr>
        <p:spPr>
          <a:xfrm>
            <a:off x="228600" y="838200"/>
            <a:ext cx="8763000" cy="6247864"/>
          </a:xfrm>
          <a:prstGeom prst="rect">
            <a:avLst/>
          </a:prstGeom>
          <a:noFill/>
        </p:spPr>
        <p:txBody>
          <a:bodyPr wrap="square" rtlCol="0">
            <a:spAutoFit/>
          </a:bodyPr>
          <a:lstStyle/>
          <a:p>
            <a:pPr algn="just"/>
            <a:r>
              <a:rPr lang="en-US" sz="2000" dirty="0"/>
              <a:t>class example:  </a:t>
            </a:r>
          </a:p>
          <a:p>
            <a:pPr algn="just"/>
            <a:r>
              <a:rPr lang="en-US" sz="2000" dirty="0"/>
              <a:t>    </a:t>
            </a:r>
            <a:r>
              <a:rPr lang="en-US" sz="2000" dirty="0" err="1"/>
              <a:t>def</a:t>
            </a:r>
            <a:r>
              <a:rPr lang="en-US" sz="2000" dirty="0"/>
              <a:t> __</a:t>
            </a:r>
            <a:r>
              <a:rPr lang="en-US" sz="2000" dirty="0" err="1"/>
              <a:t>init</a:t>
            </a:r>
            <a:r>
              <a:rPr lang="en-US" sz="2000" dirty="0"/>
              <a:t>__(self, X):  </a:t>
            </a:r>
          </a:p>
          <a:p>
            <a:pPr algn="just"/>
            <a:r>
              <a:rPr lang="en-US" sz="2000" dirty="0"/>
              <a:t>        </a:t>
            </a:r>
            <a:r>
              <a:rPr lang="en-US" sz="2000" dirty="0" err="1"/>
              <a:t>self.X</a:t>
            </a:r>
            <a:r>
              <a:rPr lang="en-US" sz="2000" dirty="0"/>
              <a:t> = X  </a:t>
            </a:r>
          </a:p>
          <a:p>
            <a:pPr algn="just"/>
            <a:r>
              <a:rPr lang="en-US" sz="2000" dirty="0"/>
              <a:t>   </a:t>
            </a:r>
          </a:p>
          <a:p>
            <a:pPr algn="just"/>
            <a:r>
              <a:rPr lang="en-US" sz="2000" dirty="0"/>
              <a:t>    # adding two objects  </a:t>
            </a:r>
          </a:p>
          <a:p>
            <a:pPr algn="just"/>
            <a:r>
              <a:rPr lang="en-US" sz="2000" dirty="0"/>
              <a:t>    </a:t>
            </a:r>
            <a:r>
              <a:rPr lang="en-US" sz="2000" dirty="0" err="1"/>
              <a:t>def</a:t>
            </a:r>
            <a:r>
              <a:rPr lang="en-US" sz="2000" dirty="0"/>
              <a:t> __add__(self, U):  </a:t>
            </a:r>
          </a:p>
          <a:p>
            <a:pPr algn="just"/>
            <a:r>
              <a:rPr lang="en-US" sz="2000" dirty="0"/>
              <a:t>        return </a:t>
            </a:r>
            <a:r>
              <a:rPr lang="en-US" sz="2000" dirty="0" err="1"/>
              <a:t>self.X</a:t>
            </a:r>
            <a:r>
              <a:rPr lang="en-US" sz="2000" dirty="0"/>
              <a:t> + </a:t>
            </a:r>
            <a:r>
              <a:rPr lang="en-US" sz="2000" dirty="0" err="1"/>
              <a:t>U.X</a:t>
            </a:r>
            <a:r>
              <a:rPr lang="en-US" sz="2000" dirty="0"/>
              <a:t>  </a:t>
            </a:r>
          </a:p>
          <a:p>
            <a:pPr algn="just"/>
            <a:r>
              <a:rPr lang="en-US" sz="2000" dirty="0" err="1"/>
              <a:t>object_1</a:t>
            </a:r>
            <a:r>
              <a:rPr lang="en-US" sz="2000" dirty="0"/>
              <a:t> = example( </a:t>
            </a:r>
            <a:r>
              <a:rPr lang="en-US" sz="2000" dirty="0" err="1"/>
              <a:t>int</a:t>
            </a:r>
            <a:r>
              <a:rPr lang="en-US" sz="2000" dirty="0"/>
              <a:t>( input( print ("Please enter the value: "))))  </a:t>
            </a:r>
          </a:p>
          <a:p>
            <a:pPr algn="just"/>
            <a:r>
              <a:rPr lang="en-US" sz="2000" dirty="0" err="1"/>
              <a:t>object_2</a:t>
            </a:r>
            <a:r>
              <a:rPr lang="en-US" sz="2000" dirty="0"/>
              <a:t> = example( </a:t>
            </a:r>
            <a:r>
              <a:rPr lang="en-US" sz="2000" dirty="0" err="1"/>
              <a:t>int</a:t>
            </a:r>
            <a:r>
              <a:rPr lang="en-US" sz="2000" dirty="0"/>
              <a:t>( input( print ("Please enter the value: "))))  </a:t>
            </a:r>
          </a:p>
          <a:p>
            <a:pPr algn="just"/>
            <a:r>
              <a:rPr lang="en-US" sz="2000" dirty="0"/>
              <a:t>print (": ", </a:t>
            </a:r>
            <a:r>
              <a:rPr lang="en-US" sz="2000" dirty="0" err="1"/>
              <a:t>object_1</a:t>
            </a:r>
            <a:r>
              <a:rPr lang="en-US" sz="2000" dirty="0"/>
              <a:t> + </a:t>
            </a:r>
            <a:r>
              <a:rPr lang="en-US" sz="2000" dirty="0" err="1"/>
              <a:t>object_2</a:t>
            </a:r>
            <a:r>
              <a:rPr lang="en-US" sz="2000" dirty="0"/>
              <a:t>)  </a:t>
            </a:r>
          </a:p>
          <a:p>
            <a:pPr algn="just"/>
            <a:r>
              <a:rPr lang="en-US" sz="2000" dirty="0" err="1"/>
              <a:t>object_3</a:t>
            </a:r>
            <a:r>
              <a:rPr lang="en-US" sz="2000" dirty="0"/>
              <a:t> = example(</a:t>
            </a:r>
            <a:r>
              <a:rPr lang="en-US" sz="2000" dirty="0" err="1"/>
              <a:t>str</a:t>
            </a:r>
            <a:r>
              <a:rPr lang="en-US" sz="2000" dirty="0"/>
              <a:t>( input( print ("Please enter the value: "))))  </a:t>
            </a:r>
          </a:p>
          <a:p>
            <a:pPr algn="just"/>
            <a:r>
              <a:rPr lang="en-US" sz="2000" dirty="0" err="1"/>
              <a:t>object_4</a:t>
            </a:r>
            <a:r>
              <a:rPr lang="en-US" sz="2000" dirty="0"/>
              <a:t> = example(</a:t>
            </a:r>
            <a:r>
              <a:rPr lang="en-US" sz="2000" dirty="0" err="1"/>
              <a:t>str</a:t>
            </a:r>
            <a:r>
              <a:rPr lang="en-US" sz="2000" dirty="0"/>
              <a:t>( input( print ("Please enter the value: "))))  </a:t>
            </a:r>
          </a:p>
          <a:p>
            <a:pPr algn="just"/>
            <a:r>
              <a:rPr lang="en-US" sz="2000" dirty="0"/>
              <a:t>print (": ", </a:t>
            </a:r>
            <a:r>
              <a:rPr lang="en-US" sz="2000" dirty="0" err="1"/>
              <a:t>object_3</a:t>
            </a:r>
            <a:r>
              <a:rPr lang="en-US" sz="2000" dirty="0"/>
              <a:t> + </a:t>
            </a:r>
            <a:r>
              <a:rPr lang="en-US" sz="2000" dirty="0" err="1"/>
              <a:t>object_4</a:t>
            </a:r>
            <a:r>
              <a:rPr lang="en-US" sz="2000" dirty="0"/>
              <a:t>) </a:t>
            </a:r>
            <a:endParaRPr lang="en-US" sz="2000" dirty="0" smtClean="0"/>
          </a:p>
          <a:p>
            <a:pPr algn="just"/>
            <a:r>
              <a:rPr lang="en-US" sz="2000" b="1" dirty="0" smtClean="0"/>
              <a:t>O/p.</a:t>
            </a:r>
          </a:p>
          <a:p>
            <a:pPr algn="just"/>
            <a:r>
              <a:rPr lang="en-US" sz="2000" dirty="0"/>
              <a:t>Please enter the value: 23</a:t>
            </a:r>
          </a:p>
          <a:p>
            <a:pPr algn="just"/>
            <a:r>
              <a:rPr lang="en-US" sz="2000" dirty="0"/>
              <a:t>Please enter the value: 21</a:t>
            </a:r>
          </a:p>
          <a:p>
            <a:pPr algn="just"/>
            <a:r>
              <a:rPr lang="en-US" sz="2000" dirty="0"/>
              <a:t>:  44</a:t>
            </a:r>
          </a:p>
          <a:p>
            <a:pPr algn="just"/>
            <a:r>
              <a:rPr lang="en-US" sz="2000" dirty="0"/>
              <a:t>Please enter the value: </a:t>
            </a:r>
            <a:r>
              <a:rPr lang="en-US" sz="2000" dirty="0" smtClean="0"/>
              <a:t>MCA</a:t>
            </a:r>
            <a:endParaRPr lang="en-US" sz="2000" dirty="0"/>
          </a:p>
          <a:p>
            <a:pPr algn="just"/>
            <a:r>
              <a:rPr lang="en-US" sz="2000" dirty="0"/>
              <a:t>Please enter the value: </a:t>
            </a:r>
            <a:r>
              <a:rPr lang="en-US" sz="2000" dirty="0" err="1" smtClean="0"/>
              <a:t>2B</a:t>
            </a:r>
            <a:endParaRPr lang="en-US" sz="2000" dirty="0"/>
          </a:p>
          <a:p>
            <a:pPr algn="just"/>
            <a:r>
              <a:rPr lang="en-US" sz="2000" dirty="0"/>
              <a:t>:  </a:t>
            </a:r>
            <a:r>
              <a:rPr lang="en-US" sz="2000" dirty="0" err="1" smtClean="0"/>
              <a:t>MCA2B</a:t>
            </a:r>
            <a:endParaRPr lang="en-US" sz="2000" dirty="0"/>
          </a:p>
        </p:txBody>
      </p:sp>
    </p:spTree>
    <p:extLst>
      <p:ext uri="{BB962C8B-B14F-4D97-AF65-F5344CB8AC3E}">
        <p14:creationId xmlns:p14="http://schemas.microsoft.com/office/powerpoint/2010/main" val="209750234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How to perform Binary + Operator Overloading</a:t>
            </a:r>
            <a:endParaRPr lang="en-US" sz="3600" dirty="0"/>
          </a:p>
        </p:txBody>
      </p:sp>
      <p:sp>
        <p:nvSpPr>
          <p:cNvPr id="4" name="TextBox 3"/>
          <p:cNvSpPr txBox="1"/>
          <p:nvPr/>
        </p:nvSpPr>
        <p:spPr>
          <a:xfrm>
            <a:off x="228600" y="838200"/>
            <a:ext cx="8763000" cy="5016758"/>
          </a:xfrm>
          <a:prstGeom prst="rect">
            <a:avLst/>
          </a:prstGeom>
          <a:noFill/>
        </p:spPr>
        <p:txBody>
          <a:bodyPr wrap="square" rtlCol="0">
            <a:spAutoFit/>
          </a:bodyPr>
          <a:lstStyle/>
          <a:p>
            <a:pPr algn="just"/>
            <a:r>
              <a:rPr lang="en-US" sz="2000" dirty="0"/>
              <a:t>class </a:t>
            </a:r>
            <a:r>
              <a:rPr lang="en-US" sz="2000" dirty="0" err="1"/>
              <a:t>complex_1</a:t>
            </a:r>
            <a:r>
              <a:rPr lang="en-US" sz="2000" dirty="0"/>
              <a:t>:  </a:t>
            </a:r>
          </a:p>
          <a:p>
            <a:pPr algn="just"/>
            <a:r>
              <a:rPr lang="en-US" sz="2000" dirty="0"/>
              <a:t>    </a:t>
            </a:r>
            <a:r>
              <a:rPr lang="en-US" sz="2000" dirty="0" err="1"/>
              <a:t>def</a:t>
            </a:r>
            <a:r>
              <a:rPr lang="en-US" sz="2000" dirty="0"/>
              <a:t> __</a:t>
            </a:r>
            <a:r>
              <a:rPr lang="en-US" sz="2000" dirty="0" err="1"/>
              <a:t>init</a:t>
            </a:r>
            <a:r>
              <a:rPr lang="en-US" sz="2000" dirty="0"/>
              <a:t>__(self, X, Y):  </a:t>
            </a:r>
          </a:p>
          <a:p>
            <a:pPr algn="just"/>
            <a:r>
              <a:rPr lang="en-US" sz="2000" dirty="0"/>
              <a:t>        </a:t>
            </a:r>
            <a:r>
              <a:rPr lang="en-US" sz="2000" dirty="0" err="1"/>
              <a:t>self.X</a:t>
            </a:r>
            <a:r>
              <a:rPr lang="en-US" sz="2000" dirty="0"/>
              <a:t> = X  </a:t>
            </a:r>
          </a:p>
          <a:p>
            <a:pPr algn="just"/>
            <a:r>
              <a:rPr lang="en-US" sz="2000" dirty="0"/>
              <a:t>        </a:t>
            </a:r>
            <a:r>
              <a:rPr lang="en-US" sz="2000" dirty="0" err="1"/>
              <a:t>self.Y</a:t>
            </a:r>
            <a:r>
              <a:rPr lang="en-US" sz="2000" dirty="0"/>
              <a:t> = Y  </a:t>
            </a:r>
          </a:p>
          <a:p>
            <a:pPr algn="just"/>
            <a:r>
              <a:rPr lang="en-US" sz="2000" dirty="0"/>
              <a:t>   </a:t>
            </a:r>
          </a:p>
          <a:p>
            <a:pPr algn="just"/>
            <a:r>
              <a:rPr lang="en-US" sz="2000" dirty="0"/>
              <a:t>    # Now, we will add the two objects  </a:t>
            </a:r>
          </a:p>
          <a:p>
            <a:pPr algn="just"/>
            <a:r>
              <a:rPr lang="en-US" sz="2000" dirty="0"/>
              <a:t>    </a:t>
            </a:r>
            <a:r>
              <a:rPr lang="en-US" sz="2000" dirty="0" err="1"/>
              <a:t>def</a:t>
            </a:r>
            <a:r>
              <a:rPr lang="en-US" sz="2000" dirty="0"/>
              <a:t> __add__(self, U):  </a:t>
            </a:r>
          </a:p>
          <a:p>
            <a:pPr algn="just"/>
            <a:r>
              <a:rPr lang="en-US" sz="2000" dirty="0"/>
              <a:t>        return </a:t>
            </a:r>
            <a:r>
              <a:rPr lang="en-US" sz="2000" dirty="0" err="1"/>
              <a:t>self.X</a:t>
            </a:r>
            <a:r>
              <a:rPr lang="en-US" sz="2000" dirty="0"/>
              <a:t> + </a:t>
            </a:r>
            <a:r>
              <a:rPr lang="en-US" sz="2000" dirty="0" err="1"/>
              <a:t>U.X</a:t>
            </a:r>
            <a:r>
              <a:rPr lang="en-US" sz="2000" dirty="0"/>
              <a:t>, </a:t>
            </a:r>
            <a:r>
              <a:rPr lang="en-US" sz="2000" dirty="0" err="1"/>
              <a:t>self.Y</a:t>
            </a:r>
            <a:r>
              <a:rPr lang="en-US" sz="2000" dirty="0"/>
              <a:t> + </a:t>
            </a:r>
            <a:r>
              <a:rPr lang="en-US" sz="2000" dirty="0" err="1"/>
              <a:t>U.Y</a:t>
            </a:r>
            <a:r>
              <a:rPr lang="en-US" sz="2000" dirty="0"/>
              <a:t>  </a:t>
            </a:r>
          </a:p>
          <a:p>
            <a:pPr algn="just"/>
            <a:r>
              <a:rPr lang="en-US" sz="2000" dirty="0"/>
              <a:t>   </a:t>
            </a:r>
          </a:p>
          <a:p>
            <a:pPr algn="just"/>
            <a:r>
              <a:rPr lang="en-US" sz="2000" dirty="0" err="1"/>
              <a:t>Object_1</a:t>
            </a:r>
            <a:r>
              <a:rPr lang="en-US" sz="2000" dirty="0"/>
              <a:t> = </a:t>
            </a:r>
            <a:r>
              <a:rPr lang="en-US" sz="2000" dirty="0" err="1"/>
              <a:t>complex_1</a:t>
            </a:r>
            <a:r>
              <a:rPr lang="en-US" sz="2000" dirty="0"/>
              <a:t>(23, 12)  </a:t>
            </a:r>
          </a:p>
          <a:p>
            <a:pPr algn="just"/>
            <a:r>
              <a:rPr lang="en-US" sz="2000" dirty="0" err="1"/>
              <a:t>Object_2</a:t>
            </a:r>
            <a:r>
              <a:rPr lang="en-US" sz="2000" dirty="0"/>
              <a:t> = </a:t>
            </a:r>
            <a:r>
              <a:rPr lang="en-US" sz="2000" dirty="0" err="1"/>
              <a:t>complex_1</a:t>
            </a:r>
            <a:r>
              <a:rPr lang="en-US" sz="2000" dirty="0"/>
              <a:t>(21, 22)  </a:t>
            </a:r>
          </a:p>
          <a:p>
            <a:pPr algn="just"/>
            <a:r>
              <a:rPr lang="en-US" sz="2000" dirty="0" err="1"/>
              <a:t>Object_3</a:t>
            </a:r>
            <a:r>
              <a:rPr lang="en-US" sz="2000" dirty="0"/>
              <a:t> = </a:t>
            </a:r>
            <a:r>
              <a:rPr lang="en-US" sz="2000" dirty="0" err="1"/>
              <a:t>Object_1</a:t>
            </a:r>
            <a:r>
              <a:rPr lang="en-US" sz="2000" dirty="0"/>
              <a:t> + </a:t>
            </a:r>
            <a:r>
              <a:rPr lang="en-US" sz="2000" dirty="0" err="1"/>
              <a:t>Object_2</a:t>
            </a:r>
            <a:r>
              <a:rPr lang="en-US" sz="2000" dirty="0"/>
              <a:t>  </a:t>
            </a:r>
          </a:p>
          <a:p>
            <a:pPr algn="just"/>
            <a:r>
              <a:rPr lang="en-US" sz="2000" dirty="0"/>
              <a:t>print (</a:t>
            </a:r>
            <a:r>
              <a:rPr lang="en-US" sz="2000" dirty="0" err="1"/>
              <a:t>Object_3</a:t>
            </a:r>
            <a:r>
              <a:rPr lang="en-US" sz="2000" dirty="0"/>
              <a:t>) </a:t>
            </a:r>
            <a:endParaRPr lang="en-US" sz="2000" dirty="0" smtClean="0"/>
          </a:p>
          <a:p>
            <a:pPr algn="just"/>
            <a:endParaRPr lang="en-US" sz="2000" dirty="0"/>
          </a:p>
          <a:p>
            <a:pPr algn="just"/>
            <a:r>
              <a:rPr lang="en-US" sz="2000" dirty="0" smtClean="0"/>
              <a:t>O/p.</a:t>
            </a:r>
          </a:p>
          <a:p>
            <a:pPr algn="just"/>
            <a:r>
              <a:rPr lang="en-US" sz="2000" dirty="0"/>
              <a:t>(44, 34</a:t>
            </a:r>
            <a:r>
              <a:rPr lang="en-US" sz="2000" dirty="0" smtClean="0"/>
              <a:t>)</a:t>
            </a:r>
            <a:endParaRPr lang="en-US" sz="2000" dirty="0"/>
          </a:p>
        </p:txBody>
      </p:sp>
    </p:spTree>
    <p:extLst>
      <p:ext uri="{BB962C8B-B14F-4D97-AF65-F5344CB8AC3E}">
        <p14:creationId xmlns:p14="http://schemas.microsoft.com/office/powerpoint/2010/main" val="217317608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fontScale="90000"/>
          </a:bodyPr>
          <a:lstStyle/>
          <a:p>
            <a:r>
              <a:rPr lang="en-US" sz="3600" b="1" dirty="0" smtClean="0"/>
              <a:t>How to perform Comparison Operator Overloading</a:t>
            </a:r>
            <a:endParaRPr lang="en-US" sz="3600" dirty="0"/>
          </a:p>
        </p:txBody>
      </p:sp>
      <p:sp>
        <p:nvSpPr>
          <p:cNvPr id="4" name="TextBox 3"/>
          <p:cNvSpPr txBox="1"/>
          <p:nvPr/>
        </p:nvSpPr>
        <p:spPr>
          <a:xfrm>
            <a:off x="228600" y="838200"/>
            <a:ext cx="8763000" cy="5940088"/>
          </a:xfrm>
          <a:prstGeom prst="rect">
            <a:avLst/>
          </a:prstGeom>
          <a:noFill/>
        </p:spPr>
        <p:txBody>
          <a:bodyPr wrap="square" rtlCol="0">
            <a:spAutoFit/>
          </a:bodyPr>
          <a:lstStyle/>
          <a:p>
            <a:pPr algn="just"/>
            <a:r>
              <a:rPr lang="en-US" sz="2000" dirty="0"/>
              <a:t>class </a:t>
            </a:r>
            <a:r>
              <a:rPr lang="en-US" sz="2000" dirty="0" err="1"/>
              <a:t>example_1</a:t>
            </a:r>
            <a:r>
              <a:rPr lang="en-US" sz="2000" dirty="0"/>
              <a:t>:  </a:t>
            </a:r>
          </a:p>
          <a:p>
            <a:pPr algn="just"/>
            <a:r>
              <a:rPr lang="en-US" sz="2000" dirty="0"/>
              <a:t>    </a:t>
            </a:r>
            <a:r>
              <a:rPr lang="en-US" sz="2000" dirty="0" err="1"/>
              <a:t>def</a:t>
            </a:r>
            <a:r>
              <a:rPr lang="en-US" sz="2000" dirty="0"/>
              <a:t> __</a:t>
            </a:r>
            <a:r>
              <a:rPr lang="en-US" sz="2000" dirty="0" err="1"/>
              <a:t>init</a:t>
            </a:r>
            <a:r>
              <a:rPr lang="en-US" sz="2000" dirty="0"/>
              <a:t>__(self, X):  </a:t>
            </a:r>
          </a:p>
          <a:p>
            <a:pPr algn="just"/>
            <a:r>
              <a:rPr lang="en-US" sz="2000" dirty="0"/>
              <a:t>        </a:t>
            </a:r>
            <a:r>
              <a:rPr lang="en-US" sz="2000" dirty="0" err="1"/>
              <a:t>self.X</a:t>
            </a:r>
            <a:r>
              <a:rPr lang="en-US" sz="2000" dirty="0"/>
              <a:t> = X  </a:t>
            </a:r>
          </a:p>
          <a:p>
            <a:pPr algn="just"/>
            <a:r>
              <a:rPr lang="en-US" sz="2000" dirty="0"/>
              <a:t>    </a:t>
            </a:r>
            <a:r>
              <a:rPr lang="en-US" sz="2000" dirty="0" err="1"/>
              <a:t>def</a:t>
            </a:r>
            <a:r>
              <a:rPr lang="en-US" sz="2000" dirty="0"/>
              <a:t> __</a:t>
            </a:r>
            <a:r>
              <a:rPr lang="en-US" sz="2000" dirty="0" err="1"/>
              <a:t>gt</a:t>
            </a:r>
            <a:r>
              <a:rPr lang="en-US" sz="2000" dirty="0"/>
              <a:t>__(self, U):  </a:t>
            </a:r>
          </a:p>
          <a:p>
            <a:pPr algn="just"/>
            <a:r>
              <a:rPr lang="en-US" sz="2000" dirty="0"/>
              <a:t>        if(</a:t>
            </a:r>
            <a:r>
              <a:rPr lang="en-US" sz="2000" dirty="0" err="1"/>
              <a:t>self.X</a:t>
            </a:r>
            <a:r>
              <a:rPr lang="en-US" sz="2000" dirty="0"/>
              <a:t> &gt; </a:t>
            </a:r>
            <a:r>
              <a:rPr lang="en-US" sz="2000" dirty="0" err="1"/>
              <a:t>U.X</a:t>
            </a:r>
            <a:r>
              <a:rPr lang="en-US" sz="2000" dirty="0"/>
              <a:t>):  </a:t>
            </a:r>
          </a:p>
          <a:p>
            <a:pPr algn="just"/>
            <a:r>
              <a:rPr lang="en-US" sz="2000" dirty="0"/>
              <a:t>            return True  </a:t>
            </a:r>
          </a:p>
          <a:p>
            <a:pPr algn="just"/>
            <a:r>
              <a:rPr lang="en-US" sz="2000" dirty="0"/>
              <a:t>        else:  </a:t>
            </a:r>
          </a:p>
          <a:p>
            <a:pPr algn="just"/>
            <a:r>
              <a:rPr lang="en-US" sz="2000" dirty="0"/>
              <a:t>            return False  </a:t>
            </a:r>
          </a:p>
          <a:p>
            <a:pPr algn="just"/>
            <a:r>
              <a:rPr lang="en-US" sz="2000" dirty="0" err="1"/>
              <a:t>object_1</a:t>
            </a:r>
            <a:r>
              <a:rPr lang="en-US" sz="2000" dirty="0"/>
              <a:t> = </a:t>
            </a:r>
            <a:r>
              <a:rPr lang="en-US" sz="2000" dirty="0" err="1"/>
              <a:t>example_1</a:t>
            </a:r>
            <a:r>
              <a:rPr lang="en-US" sz="2000" dirty="0"/>
              <a:t>(</a:t>
            </a:r>
            <a:r>
              <a:rPr lang="en-US" sz="2000" dirty="0" err="1"/>
              <a:t>int</a:t>
            </a:r>
            <a:r>
              <a:rPr lang="en-US" sz="2000" dirty="0"/>
              <a:t>( input( print ("Please enter the value: "))))  </a:t>
            </a:r>
          </a:p>
          <a:p>
            <a:pPr algn="just"/>
            <a:r>
              <a:rPr lang="en-US" sz="2000" dirty="0" err="1"/>
              <a:t>object_2</a:t>
            </a:r>
            <a:r>
              <a:rPr lang="en-US" sz="2000" dirty="0"/>
              <a:t> = </a:t>
            </a:r>
            <a:r>
              <a:rPr lang="en-US" sz="2000" dirty="0" err="1"/>
              <a:t>example_1</a:t>
            </a:r>
            <a:r>
              <a:rPr lang="en-US" sz="2000" dirty="0"/>
              <a:t>(</a:t>
            </a:r>
            <a:r>
              <a:rPr lang="en-US" sz="2000" dirty="0" err="1"/>
              <a:t>int</a:t>
            </a:r>
            <a:r>
              <a:rPr lang="en-US" sz="2000" dirty="0"/>
              <a:t> (input( print("Please enter the value: "))))  </a:t>
            </a:r>
          </a:p>
          <a:p>
            <a:pPr algn="just"/>
            <a:r>
              <a:rPr lang="en-US" sz="2000" dirty="0"/>
              <a:t>if(</a:t>
            </a:r>
            <a:r>
              <a:rPr lang="en-US" sz="2000" dirty="0" err="1"/>
              <a:t>object_1</a:t>
            </a:r>
            <a:r>
              <a:rPr lang="en-US" sz="2000" dirty="0"/>
              <a:t> &gt; </a:t>
            </a:r>
            <a:r>
              <a:rPr lang="en-US" sz="2000" dirty="0" err="1"/>
              <a:t>object_2</a:t>
            </a:r>
            <a:r>
              <a:rPr lang="en-US" sz="2000" dirty="0"/>
              <a:t>):  </a:t>
            </a:r>
          </a:p>
          <a:p>
            <a:pPr algn="just"/>
            <a:r>
              <a:rPr lang="en-US" sz="2000" dirty="0"/>
              <a:t>    print ("The </a:t>
            </a:r>
            <a:r>
              <a:rPr lang="en-US" sz="2000" dirty="0" err="1"/>
              <a:t>object_1</a:t>
            </a:r>
            <a:r>
              <a:rPr lang="en-US" sz="2000" dirty="0"/>
              <a:t> is greater than </a:t>
            </a:r>
            <a:r>
              <a:rPr lang="en-US" sz="2000" dirty="0" err="1"/>
              <a:t>object_2</a:t>
            </a:r>
            <a:r>
              <a:rPr lang="en-US" sz="2000" dirty="0"/>
              <a:t>")  </a:t>
            </a:r>
          </a:p>
          <a:p>
            <a:pPr algn="just"/>
            <a:r>
              <a:rPr lang="en-US" sz="2000" dirty="0"/>
              <a:t>else:  </a:t>
            </a:r>
          </a:p>
          <a:p>
            <a:pPr algn="just"/>
            <a:r>
              <a:rPr lang="en-US" sz="2000" dirty="0"/>
              <a:t>    print ("The </a:t>
            </a:r>
            <a:r>
              <a:rPr lang="en-US" sz="2000" dirty="0" err="1"/>
              <a:t>object_2</a:t>
            </a:r>
            <a:r>
              <a:rPr lang="en-US" sz="2000" dirty="0"/>
              <a:t> is greater than </a:t>
            </a:r>
            <a:r>
              <a:rPr lang="en-US" sz="2000" dirty="0" err="1"/>
              <a:t>object_1</a:t>
            </a:r>
            <a:r>
              <a:rPr lang="en-US" sz="2000" dirty="0"/>
              <a:t>") </a:t>
            </a:r>
            <a:endParaRPr lang="en-US" sz="2000" dirty="0" smtClean="0"/>
          </a:p>
          <a:p>
            <a:pPr algn="just"/>
            <a:endParaRPr lang="en-US" sz="2000" dirty="0"/>
          </a:p>
          <a:p>
            <a:pPr algn="just"/>
            <a:r>
              <a:rPr lang="en-US" sz="2000" dirty="0" smtClean="0"/>
              <a:t>O/p.</a:t>
            </a:r>
          </a:p>
          <a:p>
            <a:pPr algn="just"/>
            <a:r>
              <a:rPr lang="en-US" sz="2000" dirty="0"/>
              <a:t>Please enter the value: 23</a:t>
            </a:r>
          </a:p>
          <a:p>
            <a:pPr algn="just"/>
            <a:r>
              <a:rPr lang="en-US" sz="2000" dirty="0"/>
              <a:t>Please enter the value: 12</a:t>
            </a:r>
          </a:p>
          <a:p>
            <a:pPr algn="just"/>
            <a:r>
              <a:rPr lang="en-US" sz="2000" dirty="0"/>
              <a:t>The </a:t>
            </a:r>
            <a:r>
              <a:rPr lang="en-US" sz="2000" dirty="0" err="1"/>
              <a:t>object_1</a:t>
            </a:r>
            <a:r>
              <a:rPr lang="en-US" sz="2000" dirty="0"/>
              <a:t> is greater than </a:t>
            </a:r>
            <a:r>
              <a:rPr lang="en-US" sz="2000" dirty="0" err="1"/>
              <a:t>object_2</a:t>
            </a:r>
            <a:endParaRPr lang="en-US" sz="2000" dirty="0"/>
          </a:p>
        </p:txBody>
      </p:sp>
    </p:spTree>
    <p:extLst>
      <p:ext uri="{BB962C8B-B14F-4D97-AF65-F5344CB8AC3E}">
        <p14:creationId xmlns:p14="http://schemas.microsoft.com/office/powerpoint/2010/main" val="244967669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Operators and its magic functions</a:t>
            </a:r>
            <a:endParaRPr lang="en-US" sz="3600" dirty="0"/>
          </a:p>
        </p:txBody>
      </p:sp>
      <p:graphicFrame>
        <p:nvGraphicFramePr>
          <p:cNvPr id="3" name="Table 2"/>
          <p:cNvGraphicFramePr>
            <a:graphicFrameLocks noGrp="1"/>
          </p:cNvGraphicFramePr>
          <p:nvPr>
            <p:extLst>
              <p:ext uri="{D42A27DB-BD31-4B8C-83A1-F6EECF244321}">
                <p14:modId xmlns:p14="http://schemas.microsoft.com/office/powerpoint/2010/main" val="1655326054"/>
              </p:ext>
            </p:extLst>
          </p:nvPr>
        </p:nvGraphicFramePr>
        <p:xfrm>
          <a:off x="914400" y="1066800"/>
          <a:ext cx="7010400" cy="5105402"/>
        </p:xfrm>
        <a:graphic>
          <a:graphicData uri="http://schemas.openxmlformats.org/drawingml/2006/table">
            <a:tbl>
              <a:tblPr/>
              <a:tblGrid>
                <a:gridCol w="3505200">
                  <a:extLst>
                    <a:ext uri="{9D8B030D-6E8A-4147-A177-3AD203B41FA5}">
                      <a16:colId xmlns:a16="http://schemas.microsoft.com/office/drawing/2014/main" val="2355406048"/>
                    </a:ext>
                  </a:extLst>
                </a:gridCol>
                <a:gridCol w="3505200">
                  <a:extLst>
                    <a:ext uri="{9D8B030D-6E8A-4147-A177-3AD203B41FA5}">
                      <a16:colId xmlns:a16="http://schemas.microsoft.com/office/drawing/2014/main" val="1324968425"/>
                    </a:ext>
                  </a:extLst>
                </a:gridCol>
              </a:tblGrid>
              <a:tr h="446966">
                <a:tc>
                  <a:txBody>
                    <a:bodyPr/>
                    <a:lstStyle/>
                    <a:p>
                      <a:pPr algn="l" fontAlgn="t"/>
                      <a:r>
                        <a:rPr lang="en-IN" sz="1600">
                          <a:solidFill>
                            <a:srgbClr val="000000"/>
                          </a:solidFill>
                          <a:effectLst/>
                          <a:latin typeface="times new roman" panose="02020603050405020304" pitchFamily="18" charset="0"/>
                        </a:rPr>
                        <a:t>Operator</a:t>
                      </a:r>
                    </a:p>
                  </a:txBody>
                  <a:tcPr marL="79403" marR="79403" marT="79403" marB="79403">
                    <a:lnL w="7620" cap="flat" cmpd="sng" algn="ctr">
                      <a:solidFill>
                        <a:srgbClr val="901DB6"/>
                      </a:solidFill>
                      <a:prstDash val="solid"/>
                      <a:round/>
                      <a:headEnd type="none" w="med" len="med"/>
                      <a:tailEnd type="none" w="med" len="med"/>
                    </a:lnL>
                    <a:lnR w="7620" cap="flat" cmpd="sng" algn="ctr">
                      <a:solidFill>
                        <a:srgbClr val="901DB6"/>
                      </a:solidFill>
                      <a:prstDash val="solid"/>
                      <a:round/>
                      <a:headEnd type="none" w="med" len="med"/>
                      <a:tailEnd type="none" w="med" len="med"/>
                    </a:lnR>
                    <a:lnT w="7620" cap="flat" cmpd="sng" algn="ctr">
                      <a:solidFill>
                        <a:srgbClr val="901DB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600">
                          <a:solidFill>
                            <a:srgbClr val="000000"/>
                          </a:solidFill>
                          <a:effectLst/>
                          <a:latin typeface="times new roman" panose="02020603050405020304" pitchFamily="18" charset="0"/>
                        </a:rPr>
                        <a:t>Magic Function</a:t>
                      </a:r>
                    </a:p>
                  </a:txBody>
                  <a:tcPr marL="79403" marR="79403" marT="79403" marB="79403">
                    <a:lnL w="7620" cap="flat" cmpd="sng" algn="ctr">
                      <a:solidFill>
                        <a:srgbClr val="901DB6"/>
                      </a:solidFill>
                      <a:prstDash val="solid"/>
                      <a:round/>
                      <a:headEnd type="none" w="med" len="med"/>
                      <a:tailEnd type="none" w="med" len="med"/>
                    </a:lnL>
                    <a:lnR w="7620" cap="flat" cmpd="sng" algn="ctr">
                      <a:solidFill>
                        <a:srgbClr val="901DB6"/>
                      </a:solidFill>
                      <a:prstDash val="solid"/>
                      <a:round/>
                      <a:headEnd type="none" w="med" len="med"/>
                      <a:tailEnd type="none" w="med" len="med"/>
                    </a:lnR>
                    <a:lnT w="7620" cap="flat" cmpd="sng" algn="ctr">
                      <a:solidFill>
                        <a:srgbClr val="901DB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979699033"/>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__add__(self,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7815742"/>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__sub__(self,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77948414"/>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__mul__(self,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67895703"/>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__truediv__(self,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596512630"/>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__floordiv__(self,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08600918"/>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__mod__(self,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76511556"/>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__pow__(self,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633987780"/>
                  </a:ext>
                </a:extLst>
              </a:tr>
              <a:tr h="388203">
                <a:tc>
                  <a:txBody>
                    <a:bodyPr/>
                    <a:lstStyle/>
                    <a:p>
                      <a:pPr algn="just" fontAlgn="t"/>
                      <a:r>
                        <a:rPr lang="en-IN" sz="1600">
                          <a:solidFill>
                            <a:srgbClr val="333333"/>
                          </a:solidFill>
                          <a:effectLst/>
                          <a:latin typeface="inter-regular"/>
                        </a:rPr>
                        <a:t>&gt;&gt;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__rshift__(self,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27129419"/>
                  </a:ext>
                </a:extLst>
              </a:tr>
              <a:tr h="388203">
                <a:tc>
                  <a:txBody>
                    <a:bodyPr/>
                    <a:lstStyle/>
                    <a:p>
                      <a:pPr algn="just" fontAlgn="t"/>
                      <a:r>
                        <a:rPr lang="en-IN" sz="1600">
                          <a:solidFill>
                            <a:srgbClr val="333333"/>
                          </a:solidFill>
                          <a:effectLst/>
                          <a:latin typeface="inter-regular"/>
                        </a:rPr>
                        <a:t>&lt;&lt;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__lshift__(self,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83974461"/>
                  </a:ext>
                </a:extLst>
              </a:tr>
              <a:tr h="388203">
                <a:tc>
                  <a:txBody>
                    <a:bodyPr/>
                    <a:lstStyle/>
                    <a:p>
                      <a:pPr algn="just" fontAlgn="t"/>
                      <a:r>
                        <a:rPr lang="en-IN" sz="1600">
                          <a:solidFill>
                            <a:srgbClr val="333333"/>
                          </a:solidFill>
                          <a:effectLst/>
                          <a:latin typeface="inter-regular"/>
                        </a:rPr>
                        <a:t>&amp;</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a:solidFill>
                            <a:srgbClr val="333333"/>
                          </a:solidFill>
                          <a:effectLst/>
                          <a:latin typeface="inter-regular"/>
                        </a:rPr>
                        <a:t>__and__(self,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39326859"/>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600">
                          <a:solidFill>
                            <a:srgbClr val="333333"/>
                          </a:solidFill>
                          <a:effectLst/>
                          <a:latin typeface="inter-regular"/>
                        </a:rPr>
                        <a:t>__or__(self,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88167998"/>
                  </a:ext>
                </a:extLst>
              </a:tr>
              <a:tr h="388203">
                <a:tc>
                  <a:txBody>
                    <a:bodyPr/>
                    <a:lstStyle/>
                    <a:p>
                      <a:pPr algn="just" fontAlgn="t"/>
                      <a:r>
                        <a:rPr lang="en-IN" sz="1600">
                          <a:solidFill>
                            <a:srgbClr val="333333"/>
                          </a:solidFill>
                          <a:effectLst/>
                          <a:latin typeface="inter-regular"/>
                        </a:rPr>
                        <a:t>^</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600" dirty="0">
                          <a:solidFill>
                            <a:srgbClr val="333333"/>
                          </a:solidFill>
                          <a:effectLst/>
                          <a:latin typeface="inter-regular"/>
                        </a:rPr>
                        <a:t>__</a:t>
                      </a:r>
                      <a:r>
                        <a:rPr lang="en-IN" sz="1600" dirty="0" err="1">
                          <a:solidFill>
                            <a:srgbClr val="333333"/>
                          </a:solidFill>
                          <a:effectLst/>
                          <a:latin typeface="inter-regular"/>
                        </a:rPr>
                        <a:t>xor</a:t>
                      </a:r>
                      <a:r>
                        <a:rPr lang="en-IN" sz="1600" dirty="0">
                          <a:solidFill>
                            <a:srgbClr val="333333"/>
                          </a:solidFill>
                          <a:effectLst/>
                          <a:latin typeface="inter-regular"/>
                        </a:rPr>
                        <a:t>__(self, other)</a:t>
                      </a:r>
                    </a:p>
                  </a:txBody>
                  <a:tcPr marL="52935" marR="52935" marT="52935" marB="5293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28292315"/>
                  </a:ext>
                </a:extLst>
              </a:tr>
            </a:tbl>
          </a:graphicData>
        </a:graphic>
      </p:graphicFrame>
    </p:spTree>
    <p:extLst>
      <p:ext uri="{BB962C8B-B14F-4D97-AF65-F5344CB8AC3E}">
        <p14:creationId xmlns:p14="http://schemas.microsoft.com/office/powerpoint/2010/main" val="35421895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Operators and its magic functions</a:t>
            </a:r>
            <a:endParaRPr lang="en-US" sz="3600" dirty="0"/>
          </a:p>
        </p:txBody>
      </p:sp>
      <p:graphicFrame>
        <p:nvGraphicFramePr>
          <p:cNvPr id="4" name="Table 3"/>
          <p:cNvGraphicFramePr>
            <a:graphicFrameLocks noGrp="1"/>
          </p:cNvGraphicFramePr>
          <p:nvPr>
            <p:extLst>
              <p:ext uri="{D42A27DB-BD31-4B8C-83A1-F6EECF244321}">
                <p14:modId xmlns:p14="http://schemas.microsoft.com/office/powerpoint/2010/main" val="1096256621"/>
              </p:ext>
            </p:extLst>
          </p:nvPr>
        </p:nvGraphicFramePr>
        <p:xfrm>
          <a:off x="1219200" y="1295400"/>
          <a:ext cx="6467476" cy="2834640"/>
        </p:xfrm>
        <a:graphic>
          <a:graphicData uri="http://schemas.openxmlformats.org/drawingml/2006/table">
            <a:tbl>
              <a:tblPr/>
              <a:tblGrid>
                <a:gridCol w="3233738">
                  <a:extLst>
                    <a:ext uri="{9D8B030D-6E8A-4147-A177-3AD203B41FA5}">
                      <a16:colId xmlns:a16="http://schemas.microsoft.com/office/drawing/2014/main" val="2077025684"/>
                    </a:ext>
                  </a:extLst>
                </a:gridCol>
                <a:gridCol w="3233738">
                  <a:extLst>
                    <a:ext uri="{9D8B030D-6E8A-4147-A177-3AD203B41FA5}">
                      <a16:colId xmlns:a16="http://schemas.microsoft.com/office/drawing/2014/main" val="2478421238"/>
                    </a:ext>
                  </a:extLst>
                </a:gridCol>
              </a:tblGrid>
              <a:tr h="0">
                <a:tc>
                  <a:txBody>
                    <a:bodyPr/>
                    <a:lstStyle/>
                    <a:p>
                      <a:pPr algn="l" fontAlgn="t"/>
                      <a:r>
                        <a:rPr lang="en-IN">
                          <a:solidFill>
                            <a:srgbClr val="000000"/>
                          </a:solidFill>
                          <a:effectLst/>
                          <a:latin typeface="times new roman" panose="02020603050405020304" pitchFamily="18" charset="0"/>
                        </a:rPr>
                        <a:t>Operator</a:t>
                      </a:r>
                    </a:p>
                  </a:txBody>
                  <a:tcPr marT="91440" marB="91440">
                    <a:lnL w="7620" cap="flat" cmpd="sng" algn="ctr">
                      <a:solidFill>
                        <a:srgbClr val="60E841"/>
                      </a:solidFill>
                      <a:prstDash val="solid"/>
                      <a:round/>
                      <a:headEnd type="none" w="med" len="med"/>
                      <a:tailEnd type="none" w="med" len="med"/>
                    </a:lnL>
                    <a:lnR w="7620" cap="flat" cmpd="sng" algn="ctr">
                      <a:solidFill>
                        <a:srgbClr val="60E841"/>
                      </a:solidFill>
                      <a:prstDash val="solid"/>
                      <a:round/>
                      <a:headEnd type="none" w="med" len="med"/>
                      <a:tailEnd type="none" w="med" len="med"/>
                    </a:lnR>
                    <a:lnT w="7620" cap="flat" cmpd="sng" algn="ctr">
                      <a:solidFill>
                        <a:srgbClr val="60E84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Magic Function</a:t>
                      </a:r>
                    </a:p>
                  </a:txBody>
                  <a:tcPr marT="91440" marB="91440">
                    <a:lnL w="7620" cap="flat" cmpd="sng" algn="ctr">
                      <a:solidFill>
                        <a:srgbClr val="60E841"/>
                      </a:solidFill>
                      <a:prstDash val="solid"/>
                      <a:round/>
                      <a:headEnd type="none" w="med" len="med"/>
                      <a:tailEnd type="none" w="med" len="med"/>
                    </a:lnL>
                    <a:lnR w="7620" cap="flat" cmpd="sng" algn="ctr">
                      <a:solidFill>
                        <a:srgbClr val="60E841"/>
                      </a:solidFill>
                      <a:prstDash val="solid"/>
                      <a:round/>
                      <a:headEnd type="none" w="med" len="med"/>
                      <a:tailEnd type="none" w="med" len="med"/>
                    </a:lnR>
                    <a:lnT w="7620" cap="flat" cmpd="sng" algn="ctr">
                      <a:solidFill>
                        <a:srgbClr val="60E84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150563006"/>
                  </a:ext>
                </a:extLst>
              </a:tr>
              <a:tr h="0">
                <a:tc>
                  <a:txBody>
                    <a:bodyPr/>
                    <a:lstStyle/>
                    <a:p>
                      <a:pPr algn="just" fontAlgn="t"/>
                      <a:r>
                        <a:rPr lang="en-IN">
                          <a:solidFill>
                            <a:srgbClr val="333333"/>
                          </a:solidFill>
                          <a:effectLst/>
                          <a:latin typeface="inter-regular"/>
                        </a:rPr>
                        <a:t>&lt;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__LT__(SELF,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42814907"/>
                  </a:ext>
                </a:extLst>
              </a:tr>
              <a:tr h="0">
                <a:tc>
                  <a:txBody>
                    <a:bodyPr/>
                    <a:lstStyle/>
                    <a:p>
                      <a:pPr algn="just" fontAlgn="t"/>
                      <a:r>
                        <a:rPr lang="en-IN" dirty="0">
                          <a:solidFill>
                            <a:srgbClr val="333333"/>
                          </a:solidFill>
                          <a:effectLst/>
                          <a:latin typeface="inter-regular"/>
                        </a:rPr>
                        <a:t>&gt;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__GT__(SELF,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675226717"/>
                  </a:ext>
                </a:extLst>
              </a:tr>
              <a:tr h="0">
                <a:tc>
                  <a:txBody>
                    <a:bodyPr/>
                    <a:lstStyle/>
                    <a:p>
                      <a:pPr algn="just" fontAlgn="t"/>
                      <a:r>
                        <a:rPr lang="en-IN">
                          <a:solidFill>
                            <a:srgbClr val="333333"/>
                          </a:solidFill>
                          <a:effectLst/>
                          <a:latin typeface="inter-regular"/>
                        </a:rPr>
                        <a:t>&lt;=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__LE__(SELF,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92702092"/>
                  </a:ext>
                </a:extLst>
              </a:tr>
              <a:tr h="0">
                <a:tc>
                  <a:txBody>
                    <a:bodyPr/>
                    <a:lstStyle/>
                    <a:p>
                      <a:pPr algn="just" fontAlgn="t"/>
                      <a:r>
                        <a:rPr lang="en-IN">
                          <a:solidFill>
                            <a:srgbClr val="333333"/>
                          </a:solidFill>
                          <a:effectLst/>
                          <a:latin typeface="inter-regular"/>
                        </a:rPr>
                        <a:t>&gt;=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__GE__(SELF,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330352080"/>
                  </a:ext>
                </a:extLst>
              </a:tr>
              <a:tr h="0">
                <a:tc>
                  <a:txBody>
                    <a:bodyPr/>
                    <a:lstStyle/>
                    <a:p>
                      <a:pPr algn="just" fontAlgn="t"/>
                      <a:r>
                        <a:rPr lang="en-IN">
                          <a:solidFill>
                            <a:srgbClr val="333333"/>
                          </a:solidFill>
                          <a:effectLst/>
                          <a:latin typeface="inter-regular"/>
                        </a:rPr>
                        <a: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__EQ__(SELF,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95781575"/>
                  </a:ext>
                </a:extLst>
              </a:tr>
              <a:tr h="0">
                <a:tc>
                  <a:txBody>
                    <a:bodyPr/>
                    <a:lstStyle/>
                    <a:p>
                      <a:pPr algn="just" fontAlgn="t"/>
                      <a:r>
                        <a:rPr lang="en-IN">
                          <a:solidFill>
                            <a:srgbClr val="333333"/>
                          </a:solidFill>
                          <a:effectLst/>
                          <a:latin typeface="inter-regular"/>
                        </a:rPr>
                        <a: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__NE__(SELF,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13337638"/>
                  </a:ext>
                </a:extLst>
              </a:tr>
            </a:tbl>
          </a:graphicData>
        </a:graphic>
      </p:graphicFrame>
    </p:spTree>
    <p:extLst>
      <p:ext uri="{BB962C8B-B14F-4D97-AF65-F5344CB8AC3E}">
        <p14:creationId xmlns:p14="http://schemas.microsoft.com/office/powerpoint/2010/main" val="121486977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Operators and its magic functions</a:t>
            </a:r>
            <a:endParaRPr lang="en-US" sz="3600" dirty="0"/>
          </a:p>
        </p:txBody>
      </p:sp>
      <p:graphicFrame>
        <p:nvGraphicFramePr>
          <p:cNvPr id="3" name="Table 2"/>
          <p:cNvGraphicFramePr>
            <a:graphicFrameLocks noGrp="1"/>
          </p:cNvGraphicFramePr>
          <p:nvPr>
            <p:extLst>
              <p:ext uri="{D42A27DB-BD31-4B8C-83A1-F6EECF244321}">
                <p14:modId xmlns:p14="http://schemas.microsoft.com/office/powerpoint/2010/main" val="2552675993"/>
              </p:ext>
            </p:extLst>
          </p:nvPr>
        </p:nvGraphicFramePr>
        <p:xfrm>
          <a:off x="1143000" y="1066800"/>
          <a:ext cx="6248400" cy="5105395"/>
        </p:xfrm>
        <a:graphic>
          <a:graphicData uri="http://schemas.openxmlformats.org/drawingml/2006/table">
            <a:tbl>
              <a:tblPr/>
              <a:tblGrid>
                <a:gridCol w="3124200">
                  <a:extLst>
                    <a:ext uri="{9D8B030D-6E8A-4147-A177-3AD203B41FA5}">
                      <a16:colId xmlns:a16="http://schemas.microsoft.com/office/drawing/2014/main" val="615384386"/>
                    </a:ext>
                  </a:extLst>
                </a:gridCol>
                <a:gridCol w="3124200">
                  <a:extLst>
                    <a:ext uri="{9D8B030D-6E8A-4147-A177-3AD203B41FA5}">
                      <a16:colId xmlns:a16="http://schemas.microsoft.com/office/drawing/2014/main" val="2294921272"/>
                    </a:ext>
                  </a:extLst>
                </a:gridCol>
              </a:tblGrid>
              <a:tr h="425022">
                <a:tc>
                  <a:txBody>
                    <a:bodyPr/>
                    <a:lstStyle/>
                    <a:p>
                      <a:pPr algn="l" fontAlgn="t"/>
                      <a:r>
                        <a:rPr lang="en-IN" sz="1500">
                          <a:solidFill>
                            <a:srgbClr val="000000"/>
                          </a:solidFill>
                          <a:effectLst/>
                          <a:latin typeface="times new roman" panose="02020603050405020304" pitchFamily="18" charset="0"/>
                        </a:rPr>
                        <a:t>Operator</a:t>
                      </a:r>
                    </a:p>
                  </a:txBody>
                  <a:tcPr marL="75433" marR="75433" marT="75433" marB="75433">
                    <a:lnL w="7620" cap="flat" cmpd="sng" algn="ctr">
                      <a:solidFill>
                        <a:srgbClr val="90B076"/>
                      </a:solidFill>
                      <a:prstDash val="solid"/>
                      <a:round/>
                      <a:headEnd type="none" w="med" len="med"/>
                      <a:tailEnd type="none" w="med" len="med"/>
                    </a:lnL>
                    <a:lnR w="7620" cap="flat" cmpd="sng" algn="ctr">
                      <a:solidFill>
                        <a:srgbClr val="90B076"/>
                      </a:solidFill>
                      <a:prstDash val="solid"/>
                      <a:round/>
                      <a:headEnd type="none" w="med" len="med"/>
                      <a:tailEnd type="none" w="med" len="med"/>
                    </a:lnR>
                    <a:lnT w="7620" cap="flat" cmpd="sng" algn="ctr">
                      <a:solidFill>
                        <a:srgbClr val="90B07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500">
                          <a:solidFill>
                            <a:srgbClr val="000000"/>
                          </a:solidFill>
                          <a:effectLst/>
                          <a:latin typeface="times new roman" panose="02020603050405020304" pitchFamily="18" charset="0"/>
                        </a:rPr>
                        <a:t>Magic Function</a:t>
                      </a:r>
                    </a:p>
                  </a:txBody>
                  <a:tcPr marL="75433" marR="75433" marT="75433" marB="75433">
                    <a:lnL w="7620" cap="flat" cmpd="sng" algn="ctr">
                      <a:solidFill>
                        <a:srgbClr val="90B076"/>
                      </a:solidFill>
                      <a:prstDash val="solid"/>
                      <a:round/>
                      <a:headEnd type="none" w="med" len="med"/>
                      <a:tailEnd type="none" w="med" len="med"/>
                    </a:lnL>
                    <a:lnR w="7620" cap="flat" cmpd="sng" algn="ctr">
                      <a:solidFill>
                        <a:srgbClr val="90B076"/>
                      </a:solidFill>
                      <a:prstDash val="solid"/>
                      <a:round/>
                      <a:headEnd type="none" w="med" len="med"/>
                      <a:tailEnd type="none" w="med" len="med"/>
                    </a:lnR>
                    <a:lnT w="7620" cap="flat" cmpd="sng" algn="ctr">
                      <a:solidFill>
                        <a:srgbClr val="90B07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179581389"/>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500">
                          <a:solidFill>
                            <a:srgbClr val="333333"/>
                          </a:solidFill>
                          <a:effectLst/>
                          <a:latin typeface="inter-regular"/>
                        </a:rPr>
                        <a:t>__ISUB__(SELF,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07903837"/>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500">
                          <a:solidFill>
                            <a:srgbClr val="333333"/>
                          </a:solidFill>
                          <a:effectLst/>
                          <a:latin typeface="inter-regular"/>
                        </a:rPr>
                        <a:t>__IADD__(SELF,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48767154"/>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500">
                          <a:solidFill>
                            <a:srgbClr val="333333"/>
                          </a:solidFill>
                          <a:effectLst/>
                          <a:latin typeface="inter-regular"/>
                        </a:rPr>
                        <a:t>__IMUL__(SELF,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536403429"/>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500">
                          <a:solidFill>
                            <a:srgbClr val="333333"/>
                          </a:solidFill>
                          <a:effectLst/>
                          <a:latin typeface="inter-regular"/>
                        </a:rPr>
                        <a:t>__IDIV__(SELF,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770775545"/>
                  </a:ext>
                </a:extLst>
              </a:tr>
              <a:tr h="624739">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500">
                          <a:solidFill>
                            <a:srgbClr val="333333"/>
                          </a:solidFill>
                          <a:effectLst/>
                          <a:latin typeface="inter-regular"/>
                        </a:rPr>
                        <a:t>__IFLOORDIV__(SELF,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1316129"/>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500">
                          <a:solidFill>
                            <a:srgbClr val="333333"/>
                          </a:solidFill>
                          <a:effectLst/>
                          <a:latin typeface="inter-regular"/>
                        </a:rPr>
                        <a:t>__IMOD__(SELF,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820848297"/>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500">
                          <a:solidFill>
                            <a:srgbClr val="333333"/>
                          </a:solidFill>
                          <a:effectLst/>
                          <a:latin typeface="inter-regular"/>
                        </a:rPr>
                        <a:t>__IPOW__(SELF,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22594679"/>
                  </a:ext>
                </a:extLst>
              </a:tr>
              <a:tr h="368694">
                <a:tc>
                  <a:txBody>
                    <a:bodyPr/>
                    <a:lstStyle/>
                    <a:p>
                      <a:pPr algn="just" fontAlgn="t"/>
                      <a:r>
                        <a:rPr lang="en-IN" sz="1500">
                          <a:solidFill>
                            <a:srgbClr val="333333"/>
                          </a:solidFill>
                          <a:effectLst/>
                          <a:latin typeface="inter-regular"/>
                        </a:rPr>
                        <a:t>&gt;&gt;=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500">
                          <a:solidFill>
                            <a:srgbClr val="333333"/>
                          </a:solidFill>
                          <a:effectLst/>
                          <a:latin typeface="inter-regular"/>
                        </a:rPr>
                        <a:t>__IRSHIFT__(SELF,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84256739"/>
                  </a:ext>
                </a:extLst>
              </a:tr>
              <a:tr h="368694">
                <a:tc>
                  <a:txBody>
                    <a:bodyPr/>
                    <a:lstStyle/>
                    <a:p>
                      <a:pPr algn="just" fontAlgn="t"/>
                      <a:r>
                        <a:rPr lang="en-IN" sz="1500">
                          <a:solidFill>
                            <a:srgbClr val="333333"/>
                          </a:solidFill>
                          <a:effectLst/>
                          <a:latin typeface="inter-regular"/>
                        </a:rPr>
                        <a:t>&lt;&lt;=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500">
                          <a:solidFill>
                            <a:srgbClr val="333333"/>
                          </a:solidFill>
                          <a:effectLst/>
                          <a:latin typeface="inter-regular"/>
                        </a:rPr>
                        <a:t>__ILSHIFT__(SELF,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43407103"/>
                  </a:ext>
                </a:extLst>
              </a:tr>
              <a:tr h="368694">
                <a:tc>
                  <a:txBody>
                    <a:bodyPr/>
                    <a:lstStyle/>
                    <a:p>
                      <a:pPr algn="just" fontAlgn="t"/>
                      <a:r>
                        <a:rPr lang="en-IN" sz="1500">
                          <a:solidFill>
                            <a:srgbClr val="333333"/>
                          </a:solidFill>
                          <a:effectLst/>
                          <a:latin typeface="inter-regular"/>
                        </a:rPr>
                        <a:t>&amp;=</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500">
                          <a:solidFill>
                            <a:srgbClr val="333333"/>
                          </a:solidFill>
                          <a:effectLst/>
                          <a:latin typeface="inter-regular"/>
                        </a:rPr>
                        <a:t>__IAND__(SELF,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973076210"/>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500">
                          <a:solidFill>
                            <a:srgbClr val="333333"/>
                          </a:solidFill>
                          <a:effectLst/>
                          <a:latin typeface="inter-regular"/>
                        </a:rPr>
                        <a:t>__IOR__(SELF,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42783254"/>
                  </a:ext>
                </a:extLst>
              </a:tr>
              <a:tr h="368694">
                <a:tc>
                  <a:txBody>
                    <a:bodyPr/>
                    <a:lstStyle/>
                    <a:p>
                      <a:pPr algn="just" fontAlgn="t"/>
                      <a:r>
                        <a:rPr lang="en-IN" sz="1500">
                          <a:solidFill>
                            <a:srgbClr val="333333"/>
                          </a:solidFill>
                          <a:effectLst/>
                          <a:latin typeface="inter-regular"/>
                        </a:rPr>
                        <a:t>^=</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500" dirty="0">
                          <a:solidFill>
                            <a:srgbClr val="333333"/>
                          </a:solidFill>
                          <a:effectLst/>
                          <a:latin typeface="inter-regular"/>
                        </a:rPr>
                        <a:t>__</a:t>
                      </a:r>
                      <a:r>
                        <a:rPr lang="en-IN" sz="1500" dirty="0" err="1">
                          <a:solidFill>
                            <a:srgbClr val="333333"/>
                          </a:solidFill>
                          <a:effectLst/>
                          <a:latin typeface="inter-regular"/>
                        </a:rPr>
                        <a:t>IXOR</a:t>
                      </a:r>
                      <a:r>
                        <a:rPr lang="en-IN" sz="1500" dirty="0">
                          <a:solidFill>
                            <a:srgbClr val="333333"/>
                          </a:solidFill>
                          <a:effectLst/>
                          <a:latin typeface="inter-regular"/>
                        </a:rPr>
                        <a:t>__(SELF, OTHER)</a:t>
                      </a:r>
                    </a:p>
                  </a:txBody>
                  <a:tcPr marL="50288" marR="50288" marT="50288" marB="50288">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36676869"/>
                  </a:ext>
                </a:extLst>
              </a:tr>
            </a:tbl>
          </a:graphicData>
        </a:graphic>
      </p:graphicFrame>
    </p:spTree>
    <p:extLst>
      <p:ext uri="{BB962C8B-B14F-4D97-AF65-F5344CB8AC3E}">
        <p14:creationId xmlns:p14="http://schemas.microsoft.com/office/powerpoint/2010/main" val="48105062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3600" b="1" dirty="0" smtClean="0"/>
              <a:t>Operators and its magic functions</a:t>
            </a:r>
            <a:endParaRPr lang="en-US" sz="3600" dirty="0"/>
          </a:p>
        </p:txBody>
      </p:sp>
      <p:graphicFrame>
        <p:nvGraphicFramePr>
          <p:cNvPr id="4" name="Table 3"/>
          <p:cNvGraphicFramePr>
            <a:graphicFrameLocks noGrp="1"/>
          </p:cNvGraphicFramePr>
          <p:nvPr>
            <p:extLst>
              <p:ext uri="{D42A27DB-BD31-4B8C-83A1-F6EECF244321}">
                <p14:modId xmlns:p14="http://schemas.microsoft.com/office/powerpoint/2010/main" val="2794963398"/>
              </p:ext>
            </p:extLst>
          </p:nvPr>
        </p:nvGraphicFramePr>
        <p:xfrm>
          <a:off x="1338262" y="1447800"/>
          <a:ext cx="6467476" cy="1645920"/>
        </p:xfrm>
        <a:graphic>
          <a:graphicData uri="http://schemas.openxmlformats.org/drawingml/2006/table">
            <a:tbl>
              <a:tblPr/>
              <a:tblGrid>
                <a:gridCol w="3233738">
                  <a:extLst>
                    <a:ext uri="{9D8B030D-6E8A-4147-A177-3AD203B41FA5}">
                      <a16:colId xmlns:a16="http://schemas.microsoft.com/office/drawing/2014/main" val="754297204"/>
                    </a:ext>
                  </a:extLst>
                </a:gridCol>
                <a:gridCol w="3233738">
                  <a:extLst>
                    <a:ext uri="{9D8B030D-6E8A-4147-A177-3AD203B41FA5}">
                      <a16:colId xmlns:a16="http://schemas.microsoft.com/office/drawing/2014/main" val="2055632712"/>
                    </a:ext>
                  </a:extLst>
                </a:gridCol>
              </a:tblGrid>
              <a:tr h="0">
                <a:tc>
                  <a:txBody>
                    <a:bodyPr/>
                    <a:lstStyle/>
                    <a:p>
                      <a:pPr algn="l" fontAlgn="t"/>
                      <a:r>
                        <a:rPr lang="en-IN">
                          <a:solidFill>
                            <a:srgbClr val="000000"/>
                          </a:solidFill>
                          <a:effectLst/>
                          <a:latin typeface="times new roman" panose="02020603050405020304" pitchFamily="18" charset="0"/>
                        </a:rPr>
                        <a:t>Operator</a:t>
                      </a:r>
                    </a:p>
                  </a:txBody>
                  <a:tcPr marT="91440" marB="91440">
                    <a:lnL w="7620" cap="flat" cmpd="sng" algn="ctr">
                      <a:solidFill>
                        <a:srgbClr val="901EE2"/>
                      </a:solidFill>
                      <a:prstDash val="solid"/>
                      <a:round/>
                      <a:headEnd type="none" w="med" len="med"/>
                      <a:tailEnd type="none" w="med" len="med"/>
                    </a:lnL>
                    <a:lnR w="7620" cap="flat" cmpd="sng" algn="ctr">
                      <a:solidFill>
                        <a:srgbClr val="901EE2"/>
                      </a:solidFill>
                      <a:prstDash val="solid"/>
                      <a:round/>
                      <a:headEnd type="none" w="med" len="med"/>
                      <a:tailEnd type="none" w="med" len="med"/>
                    </a:lnR>
                    <a:lnT w="7620" cap="flat" cmpd="sng" algn="ctr">
                      <a:solidFill>
                        <a:srgbClr val="901EE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Magic Function</a:t>
                      </a:r>
                    </a:p>
                  </a:txBody>
                  <a:tcPr marT="91440" marB="91440">
                    <a:lnL w="7620" cap="flat" cmpd="sng" algn="ctr">
                      <a:solidFill>
                        <a:srgbClr val="901EE2"/>
                      </a:solidFill>
                      <a:prstDash val="solid"/>
                      <a:round/>
                      <a:headEnd type="none" w="med" len="med"/>
                      <a:tailEnd type="none" w="med" len="med"/>
                    </a:lnL>
                    <a:lnR w="7620" cap="flat" cmpd="sng" algn="ctr">
                      <a:solidFill>
                        <a:srgbClr val="901EE2"/>
                      </a:solidFill>
                      <a:prstDash val="solid"/>
                      <a:round/>
                      <a:headEnd type="none" w="med" len="med"/>
                      <a:tailEnd type="none" w="med" len="med"/>
                    </a:lnR>
                    <a:lnT w="7620" cap="flat" cmpd="sng" algn="ctr">
                      <a:solidFill>
                        <a:srgbClr val="901EE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084320973"/>
                  </a:ext>
                </a:extLst>
              </a:tr>
              <a:tr h="0">
                <a:tc>
                  <a:txBody>
                    <a:bodyPr/>
                    <a:lstStyle/>
                    <a:p>
                      <a:pPr algn="just" fontAlgn="t"/>
                      <a:r>
                        <a:rPr lang="en-IN">
                          <a:solidFill>
                            <a:srgbClr val="333333"/>
                          </a:solidFill>
                          <a:effectLst/>
                          <a:latin typeface="inter-regular"/>
                        </a:rPr>
                        <a: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__NEG__(SELF,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49288881"/>
                  </a:ext>
                </a:extLst>
              </a:tr>
              <a:tr h="0">
                <a:tc>
                  <a:txBody>
                    <a:bodyPr/>
                    <a:lstStyle/>
                    <a:p>
                      <a:pPr algn="just" fontAlgn="t"/>
                      <a:r>
                        <a:rPr lang="en-IN">
                          <a:solidFill>
                            <a:srgbClr val="333333"/>
                          </a:solidFill>
                          <a:effectLst/>
                          <a:latin typeface="inter-regular"/>
                        </a:rPr>
                        <a: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__POS__(SELF,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60898823"/>
                  </a:ext>
                </a:extLst>
              </a:tr>
              <a:tr h="0">
                <a:tc>
                  <a:txBody>
                    <a:bodyPr/>
                    <a:lstStyle/>
                    <a:p>
                      <a:pPr algn="just" fontAlgn="t"/>
                      <a:r>
                        <a:rPr lang="en-IN">
                          <a:solidFill>
                            <a:srgbClr val="333333"/>
                          </a:solidFill>
                          <a:effectLst/>
                          <a:latin typeface="inter-regular"/>
                        </a:rPr>
                        <a: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__INVERT__(SELF, OTHER)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16511824"/>
                  </a:ext>
                </a:extLst>
              </a:tr>
            </a:tbl>
          </a:graphicData>
        </a:graphic>
      </p:graphicFrame>
    </p:spTree>
    <p:extLst>
      <p:ext uri="{BB962C8B-B14F-4D97-AF65-F5344CB8AC3E}">
        <p14:creationId xmlns:p14="http://schemas.microsoft.com/office/powerpoint/2010/main" val="102635537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Method Overriding</a:t>
            </a:r>
            <a:endParaRPr lang="en-US" sz="4000" dirty="0"/>
          </a:p>
        </p:txBody>
      </p:sp>
      <p:sp>
        <p:nvSpPr>
          <p:cNvPr id="4" name="TextBox 3"/>
          <p:cNvSpPr txBox="1"/>
          <p:nvPr/>
        </p:nvSpPr>
        <p:spPr>
          <a:xfrm>
            <a:off x="228600" y="838200"/>
            <a:ext cx="8763000" cy="397031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Any object-oriented programming language can allow a subclass or child class to offer a customized implementation of a method already supplied by one of its </a:t>
            </a:r>
            <a:r>
              <a:rPr lang="en-US" sz="2800" dirty="0" err="1"/>
              <a:t>superclasses</a:t>
            </a:r>
            <a:r>
              <a:rPr lang="en-US" sz="2800" dirty="0"/>
              <a:t> or parent classes. </a:t>
            </a:r>
            <a:endParaRPr lang="en-US" sz="2800" dirty="0" smtClean="0"/>
          </a:p>
          <a:p>
            <a:pPr marL="457200" indent="-457200" algn="just">
              <a:buFont typeface="Arial" panose="020B0604020202020204" pitchFamily="34" charset="0"/>
              <a:buChar char="•"/>
            </a:pPr>
            <a:r>
              <a:rPr lang="en-US" sz="2800" dirty="0" smtClean="0"/>
              <a:t>This </a:t>
            </a:r>
            <a:r>
              <a:rPr lang="en-US" sz="2800" dirty="0"/>
              <a:t>capability is known as method overriding. </a:t>
            </a:r>
            <a:endParaRPr lang="en-US" sz="2800" dirty="0" smtClean="0"/>
          </a:p>
          <a:p>
            <a:pPr marL="457200" indent="-457200" algn="just">
              <a:buFont typeface="Arial" panose="020B0604020202020204" pitchFamily="34" charset="0"/>
              <a:buChar char="•"/>
            </a:pPr>
            <a:r>
              <a:rPr lang="en-US" sz="2800" dirty="0" smtClean="0"/>
              <a:t>The </a:t>
            </a:r>
            <a:r>
              <a:rPr lang="en-US" sz="2800" dirty="0"/>
              <a:t>term "override" refers to a method in a subclass that replaces a method in a superclass when both methods share the same name, parameters, signature, and return type (or sub-type).</a:t>
            </a:r>
            <a:endParaRPr lang="en-US" sz="2800" b="1" dirty="0"/>
          </a:p>
        </p:txBody>
      </p:sp>
    </p:spTree>
    <p:extLst>
      <p:ext uri="{BB962C8B-B14F-4D97-AF65-F5344CB8AC3E}">
        <p14:creationId xmlns:p14="http://schemas.microsoft.com/office/powerpoint/2010/main" val="417067381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Method Overriding</a:t>
            </a:r>
            <a:endParaRPr lang="en-US" sz="4000" dirty="0"/>
          </a:p>
        </p:txBody>
      </p:sp>
      <p:pic>
        <p:nvPicPr>
          <p:cNvPr id="3" name="Picture 2"/>
          <p:cNvPicPr>
            <a:picLocks noChangeAspect="1"/>
          </p:cNvPicPr>
          <p:nvPr/>
        </p:nvPicPr>
        <p:blipFill>
          <a:blip r:embed="rId2"/>
          <a:stretch>
            <a:fillRect/>
          </a:stretch>
        </p:blipFill>
        <p:spPr>
          <a:xfrm>
            <a:off x="1295400" y="1219200"/>
            <a:ext cx="6039918" cy="4495800"/>
          </a:xfrm>
          <a:prstGeom prst="rect">
            <a:avLst/>
          </a:prstGeom>
        </p:spPr>
      </p:pic>
    </p:spTree>
    <p:extLst>
      <p:ext uri="{BB962C8B-B14F-4D97-AF65-F5344CB8AC3E}">
        <p14:creationId xmlns:p14="http://schemas.microsoft.com/office/powerpoint/2010/main" val="197299486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Method Overriding</a:t>
            </a:r>
            <a:endParaRPr lang="en-US" sz="4000" dirty="0"/>
          </a:p>
        </p:txBody>
      </p:sp>
      <p:sp>
        <p:nvSpPr>
          <p:cNvPr id="4" name="TextBox 3"/>
          <p:cNvSpPr txBox="1"/>
          <p:nvPr/>
        </p:nvSpPr>
        <p:spPr>
          <a:xfrm>
            <a:off x="228600" y="838200"/>
            <a:ext cx="8763000" cy="397031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The object that calls a method will determine which version of the method is executed. </a:t>
            </a:r>
            <a:endParaRPr lang="en-US" sz="2800" dirty="0" smtClean="0"/>
          </a:p>
          <a:p>
            <a:pPr marL="457200" indent="-457200" algn="just">
              <a:buFont typeface="Arial" panose="020B0604020202020204" pitchFamily="34" charset="0"/>
              <a:buChar char="•"/>
            </a:pPr>
            <a:r>
              <a:rPr lang="en-US" sz="2800" dirty="0" smtClean="0"/>
              <a:t>When </a:t>
            </a:r>
            <a:r>
              <a:rPr lang="en-US" sz="2800" dirty="0"/>
              <a:t>a method is called from an object of a parent class, the method's parent class version is executed; however, when a method is called from an object of a subclass, the child class version is executed. </a:t>
            </a:r>
            <a:endParaRPr lang="en-US" sz="2800" dirty="0" smtClean="0"/>
          </a:p>
          <a:p>
            <a:pPr marL="457200" indent="-457200" algn="just">
              <a:buFont typeface="Arial" panose="020B0604020202020204" pitchFamily="34" charset="0"/>
              <a:buChar char="•"/>
            </a:pPr>
            <a:r>
              <a:rPr lang="en-US" sz="2800" dirty="0" smtClean="0"/>
              <a:t>In </a:t>
            </a:r>
            <a:r>
              <a:rPr lang="en-US" sz="2800" dirty="0"/>
              <a:t>other words, the version of an overridden method depends on the object being referenced, not the type of the reference variable</a:t>
            </a:r>
            <a:r>
              <a:rPr lang="en-US" sz="2800" dirty="0" smtClean="0"/>
              <a:t>.</a:t>
            </a:r>
            <a:endParaRPr lang="en-US" sz="2800" dirty="0"/>
          </a:p>
        </p:txBody>
      </p:sp>
    </p:spTree>
    <p:extLst>
      <p:ext uri="{BB962C8B-B14F-4D97-AF65-F5344CB8AC3E}">
        <p14:creationId xmlns:p14="http://schemas.microsoft.com/office/powerpoint/2010/main" val="68985562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Method Overriding</a:t>
            </a:r>
            <a:endParaRPr lang="en-US" sz="4000" dirty="0"/>
          </a:p>
        </p:txBody>
      </p:sp>
      <p:sp>
        <p:nvSpPr>
          <p:cNvPr id="4" name="TextBox 3"/>
          <p:cNvSpPr txBox="1"/>
          <p:nvPr/>
        </p:nvSpPr>
        <p:spPr>
          <a:xfrm>
            <a:off x="228600" y="838200"/>
            <a:ext cx="8763000" cy="5693866"/>
          </a:xfrm>
          <a:prstGeom prst="rect">
            <a:avLst/>
          </a:prstGeom>
          <a:noFill/>
        </p:spPr>
        <p:txBody>
          <a:bodyPr wrap="square" rtlCol="0">
            <a:spAutoFit/>
          </a:bodyPr>
          <a:lstStyle/>
          <a:p>
            <a:pPr algn="just"/>
            <a:r>
              <a:rPr lang="en-US" sz="1600" dirty="0"/>
              <a:t># program to determine the method overriding  </a:t>
            </a:r>
          </a:p>
          <a:p>
            <a:pPr algn="just"/>
            <a:r>
              <a:rPr lang="en-US" sz="1600" dirty="0"/>
              <a:t># Defining a parent class  </a:t>
            </a:r>
          </a:p>
          <a:p>
            <a:pPr algn="just"/>
            <a:r>
              <a:rPr lang="en-US" sz="1600" dirty="0"/>
              <a:t>class Parent():  </a:t>
            </a:r>
          </a:p>
          <a:p>
            <a:pPr algn="just"/>
            <a:r>
              <a:rPr lang="en-US" sz="1600" dirty="0"/>
              <a:t>    # producer  </a:t>
            </a:r>
          </a:p>
          <a:p>
            <a:pPr algn="just"/>
            <a:r>
              <a:rPr lang="en-US" sz="1600" dirty="0"/>
              <a:t>    </a:t>
            </a:r>
            <a:r>
              <a:rPr lang="en-US" sz="1600" dirty="0" err="1"/>
              <a:t>def</a:t>
            </a:r>
            <a:r>
              <a:rPr lang="en-US" sz="1600" dirty="0"/>
              <a:t> __</a:t>
            </a:r>
            <a:r>
              <a:rPr lang="en-US" sz="1600" dirty="0" err="1"/>
              <a:t>init</a:t>
            </a:r>
            <a:r>
              <a:rPr lang="en-US" sz="1600" dirty="0"/>
              <a:t>__(self):  </a:t>
            </a:r>
          </a:p>
          <a:p>
            <a:pPr algn="just"/>
            <a:r>
              <a:rPr lang="en-US" sz="1600" dirty="0"/>
              <a:t>        </a:t>
            </a:r>
            <a:r>
              <a:rPr lang="en-US" sz="1600" dirty="0" err="1"/>
              <a:t>self.value</a:t>
            </a:r>
            <a:r>
              <a:rPr lang="en-US" sz="1600" dirty="0"/>
              <a:t> = "Inside Parent"  </a:t>
            </a:r>
          </a:p>
          <a:p>
            <a:pPr algn="just"/>
            <a:r>
              <a:rPr lang="en-US" sz="1600" dirty="0"/>
              <a:t>    # showing a parents method  </a:t>
            </a:r>
          </a:p>
          <a:p>
            <a:pPr algn="just"/>
            <a:r>
              <a:rPr lang="en-US" sz="1600" dirty="0"/>
              <a:t>    </a:t>
            </a:r>
            <a:r>
              <a:rPr lang="en-US" sz="1600" dirty="0" err="1"/>
              <a:t>def</a:t>
            </a:r>
            <a:r>
              <a:rPr lang="en-US" sz="1600" dirty="0"/>
              <a:t> show(self):  </a:t>
            </a:r>
          </a:p>
          <a:p>
            <a:pPr algn="just"/>
            <a:r>
              <a:rPr lang="en-US" sz="1600" dirty="0"/>
              <a:t>        print(</a:t>
            </a:r>
            <a:r>
              <a:rPr lang="en-US" sz="1600" dirty="0" err="1"/>
              <a:t>self.value</a:t>
            </a:r>
            <a:r>
              <a:rPr lang="en-US" sz="1600" dirty="0"/>
              <a:t>)         </a:t>
            </a:r>
          </a:p>
          <a:p>
            <a:pPr algn="just"/>
            <a:r>
              <a:rPr lang="en-US" sz="1600" dirty="0"/>
              <a:t># Defining a child class  </a:t>
            </a:r>
          </a:p>
          <a:p>
            <a:pPr algn="just"/>
            <a:r>
              <a:rPr lang="en-US" sz="1600" dirty="0"/>
              <a:t>class Child(Parent):      </a:t>
            </a:r>
          </a:p>
          <a:p>
            <a:pPr algn="just"/>
            <a:r>
              <a:rPr lang="en-US" sz="1600" dirty="0"/>
              <a:t>    # Constructor  </a:t>
            </a:r>
          </a:p>
          <a:p>
            <a:pPr algn="just"/>
            <a:r>
              <a:rPr lang="en-US" sz="1600" dirty="0"/>
              <a:t>    </a:t>
            </a:r>
            <a:r>
              <a:rPr lang="en-US" sz="1600" dirty="0" err="1"/>
              <a:t>def</a:t>
            </a:r>
            <a:r>
              <a:rPr lang="en-US" sz="1600" dirty="0"/>
              <a:t> __</a:t>
            </a:r>
            <a:r>
              <a:rPr lang="en-US" sz="1600" dirty="0" err="1"/>
              <a:t>init</a:t>
            </a:r>
            <a:r>
              <a:rPr lang="en-US" sz="1600" dirty="0"/>
              <a:t>__(self):  </a:t>
            </a:r>
          </a:p>
          <a:p>
            <a:pPr algn="just"/>
            <a:r>
              <a:rPr lang="en-US" sz="1600" dirty="0"/>
              <a:t>        </a:t>
            </a:r>
            <a:r>
              <a:rPr lang="en-US" sz="1600" dirty="0" err="1"/>
              <a:t>self.value</a:t>
            </a:r>
            <a:r>
              <a:rPr lang="en-US" sz="1600" dirty="0"/>
              <a:t> = "Inside Child"       </a:t>
            </a:r>
          </a:p>
          <a:p>
            <a:pPr algn="just"/>
            <a:r>
              <a:rPr lang="en-US" sz="1600" dirty="0"/>
              <a:t>    # showing the child's method  </a:t>
            </a:r>
          </a:p>
          <a:p>
            <a:pPr algn="just"/>
            <a:r>
              <a:rPr lang="en-US" sz="1600" dirty="0"/>
              <a:t>    </a:t>
            </a:r>
            <a:r>
              <a:rPr lang="en-US" sz="1600" dirty="0" err="1"/>
              <a:t>def</a:t>
            </a:r>
            <a:r>
              <a:rPr lang="en-US" sz="1600" dirty="0"/>
              <a:t> show(self):  </a:t>
            </a:r>
          </a:p>
          <a:p>
            <a:pPr algn="just"/>
            <a:r>
              <a:rPr lang="en-US" sz="1600" dirty="0"/>
              <a:t>        print(</a:t>
            </a:r>
            <a:r>
              <a:rPr lang="en-US" sz="1600" dirty="0" err="1"/>
              <a:t>self.value</a:t>
            </a:r>
            <a:r>
              <a:rPr lang="en-US" sz="1600" dirty="0"/>
              <a:t>)  </a:t>
            </a:r>
          </a:p>
          <a:p>
            <a:pPr algn="just"/>
            <a:r>
              <a:rPr lang="en-US" sz="1600" dirty="0"/>
              <a:t># Chauffeur's code  </a:t>
            </a:r>
          </a:p>
          <a:p>
            <a:pPr algn="just"/>
            <a:r>
              <a:rPr lang="en-US" sz="1600" dirty="0" err="1"/>
              <a:t>obj1</a:t>
            </a:r>
            <a:r>
              <a:rPr lang="en-US" sz="1600" dirty="0"/>
              <a:t> = Parent()  </a:t>
            </a:r>
          </a:p>
          <a:p>
            <a:pPr algn="just"/>
            <a:r>
              <a:rPr lang="en-US" sz="1600" dirty="0" err="1"/>
              <a:t>obj2</a:t>
            </a:r>
            <a:r>
              <a:rPr lang="en-US" sz="1600" dirty="0"/>
              <a:t> = Child()  </a:t>
            </a:r>
          </a:p>
          <a:p>
            <a:pPr algn="just"/>
            <a:r>
              <a:rPr lang="en-US" sz="1600" dirty="0" err="1"/>
              <a:t>obj1.show</a:t>
            </a:r>
            <a:r>
              <a:rPr lang="en-US" sz="1600" dirty="0"/>
              <a:t>()  </a:t>
            </a:r>
          </a:p>
          <a:p>
            <a:pPr algn="just"/>
            <a:r>
              <a:rPr lang="en-US" sz="1600" dirty="0" err="1"/>
              <a:t>obj2.show</a:t>
            </a:r>
            <a:r>
              <a:rPr lang="en-US" sz="1600" dirty="0"/>
              <a:t>() </a:t>
            </a:r>
          </a:p>
        </p:txBody>
      </p:sp>
    </p:spTree>
    <p:extLst>
      <p:ext uri="{BB962C8B-B14F-4D97-AF65-F5344CB8AC3E}">
        <p14:creationId xmlns:p14="http://schemas.microsoft.com/office/powerpoint/2010/main" val="25188209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Method Overriding</a:t>
            </a:r>
            <a:endParaRPr lang="en-US" sz="4000" dirty="0"/>
          </a:p>
        </p:txBody>
      </p:sp>
      <p:sp>
        <p:nvSpPr>
          <p:cNvPr id="4" name="TextBox 3"/>
          <p:cNvSpPr txBox="1"/>
          <p:nvPr/>
        </p:nvSpPr>
        <p:spPr>
          <a:xfrm>
            <a:off x="228600" y="838200"/>
            <a:ext cx="8763000" cy="4801314"/>
          </a:xfrm>
          <a:prstGeom prst="rect">
            <a:avLst/>
          </a:prstGeom>
          <a:noFill/>
        </p:spPr>
        <p:txBody>
          <a:bodyPr wrap="square" rtlCol="0">
            <a:spAutoFit/>
          </a:bodyPr>
          <a:lstStyle/>
          <a:p>
            <a:pPr algn="just"/>
            <a:r>
              <a:rPr lang="en-US" dirty="0"/>
              <a:t># program to determine   </a:t>
            </a:r>
          </a:p>
          <a:p>
            <a:pPr algn="just"/>
            <a:r>
              <a:rPr lang="en-US" dirty="0"/>
              <a:t># calling the Parent's class method  </a:t>
            </a:r>
          </a:p>
          <a:p>
            <a:pPr algn="just"/>
            <a:r>
              <a:rPr lang="en-US" dirty="0"/>
              <a:t># In the overridden method  </a:t>
            </a:r>
          </a:p>
          <a:p>
            <a:pPr algn="just"/>
            <a:r>
              <a:rPr lang="en-US" dirty="0"/>
              <a:t>class Parent ():  </a:t>
            </a:r>
          </a:p>
          <a:p>
            <a:pPr algn="just"/>
            <a:r>
              <a:rPr lang="en-US" dirty="0"/>
              <a:t>    </a:t>
            </a:r>
            <a:r>
              <a:rPr lang="en-US" dirty="0" err="1"/>
              <a:t>def</a:t>
            </a:r>
            <a:r>
              <a:rPr lang="en-US" dirty="0"/>
              <a:t> show(self):  </a:t>
            </a:r>
          </a:p>
          <a:p>
            <a:pPr algn="just"/>
            <a:r>
              <a:rPr lang="en-US" dirty="0"/>
              <a:t>        print ("Inside Parent")  </a:t>
            </a:r>
          </a:p>
          <a:p>
            <a:pPr algn="just"/>
            <a:r>
              <a:rPr lang="en-US" dirty="0"/>
              <a:t>class Child (Parent):  </a:t>
            </a:r>
          </a:p>
          <a:p>
            <a:pPr algn="just"/>
            <a:r>
              <a:rPr lang="en-US" dirty="0"/>
              <a:t>    </a:t>
            </a:r>
            <a:r>
              <a:rPr lang="en-US" dirty="0" err="1"/>
              <a:t>def</a:t>
            </a:r>
            <a:r>
              <a:rPr lang="en-US" dirty="0"/>
              <a:t> show(self):  </a:t>
            </a:r>
          </a:p>
          <a:p>
            <a:pPr algn="just"/>
            <a:r>
              <a:rPr lang="en-US" dirty="0"/>
              <a:t>        # child's class method is called  </a:t>
            </a:r>
          </a:p>
          <a:p>
            <a:pPr algn="just"/>
            <a:r>
              <a:rPr lang="en-US" dirty="0"/>
              <a:t>        </a:t>
            </a:r>
            <a:r>
              <a:rPr lang="en-US" dirty="0" err="1"/>
              <a:t>Parent.show</a:t>
            </a:r>
            <a:r>
              <a:rPr lang="en-US" dirty="0"/>
              <a:t>(self)  </a:t>
            </a:r>
          </a:p>
          <a:p>
            <a:pPr algn="just"/>
            <a:r>
              <a:rPr lang="en-US" dirty="0"/>
              <a:t>        Print ("Inside Child")  </a:t>
            </a:r>
          </a:p>
          <a:p>
            <a:pPr algn="just"/>
            <a:r>
              <a:rPr lang="en-US" dirty="0" err="1"/>
              <a:t>obj</a:t>
            </a:r>
            <a:r>
              <a:rPr lang="en-US" dirty="0"/>
              <a:t> = Child ()  </a:t>
            </a:r>
          </a:p>
          <a:p>
            <a:pPr algn="just"/>
            <a:r>
              <a:rPr lang="en-US" dirty="0"/>
              <a:t>obj. show () </a:t>
            </a:r>
            <a:endParaRPr lang="en-US" dirty="0" smtClean="0"/>
          </a:p>
          <a:p>
            <a:pPr algn="just"/>
            <a:endParaRPr lang="en-US" dirty="0"/>
          </a:p>
          <a:p>
            <a:pPr algn="just"/>
            <a:r>
              <a:rPr lang="en-US" dirty="0" smtClean="0"/>
              <a:t>O/p.</a:t>
            </a:r>
          </a:p>
          <a:p>
            <a:pPr algn="just"/>
            <a:r>
              <a:rPr lang="en-US" dirty="0"/>
              <a:t>Inside Parent</a:t>
            </a:r>
          </a:p>
          <a:p>
            <a:pPr algn="just"/>
            <a:r>
              <a:rPr lang="en-US" dirty="0"/>
              <a:t>Inside Child</a:t>
            </a:r>
          </a:p>
        </p:txBody>
      </p:sp>
    </p:spTree>
    <p:extLst>
      <p:ext uri="{BB962C8B-B14F-4D97-AF65-F5344CB8AC3E}">
        <p14:creationId xmlns:p14="http://schemas.microsoft.com/office/powerpoint/2010/main" val="14985751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Use of Super</a:t>
            </a:r>
            <a:endParaRPr lang="en-US" sz="4000" dirty="0"/>
          </a:p>
        </p:txBody>
      </p:sp>
      <p:sp>
        <p:nvSpPr>
          <p:cNvPr id="4" name="TextBox 3"/>
          <p:cNvSpPr txBox="1"/>
          <p:nvPr/>
        </p:nvSpPr>
        <p:spPr>
          <a:xfrm>
            <a:off x="228600" y="838200"/>
            <a:ext cx="8763000" cy="6124754"/>
          </a:xfrm>
          <a:prstGeom prst="rect">
            <a:avLst/>
          </a:prstGeom>
          <a:noFill/>
        </p:spPr>
        <p:txBody>
          <a:bodyPr wrap="square" rtlCol="0">
            <a:spAutoFit/>
          </a:bodyPr>
          <a:lstStyle/>
          <a:p>
            <a:r>
              <a:rPr lang="en-IN" sz="1400" dirty="0"/>
              <a:t># Program to determine the Super () function used   </a:t>
            </a:r>
          </a:p>
          <a:p>
            <a:r>
              <a:rPr lang="en-IN" sz="1400" dirty="0"/>
              <a:t># In multiple inheritances   </a:t>
            </a:r>
          </a:p>
          <a:p>
            <a:r>
              <a:rPr lang="en-IN" sz="1400" b="1" dirty="0"/>
              <a:t>class</a:t>
            </a:r>
            <a:r>
              <a:rPr lang="en-IN" sz="1400" dirty="0"/>
              <a:t> </a:t>
            </a:r>
            <a:r>
              <a:rPr lang="en-IN" sz="1400" dirty="0" err="1"/>
              <a:t>JTP1</a:t>
            </a:r>
            <a:r>
              <a:rPr lang="en-IN" sz="1400" dirty="0"/>
              <a:t>:   </a:t>
            </a:r>
          </a:p>
          <a:p>
            <a:r>
              <a:rPr lang="en-IN" sz="1400" dirty="0"/>
              <a:t>    </a:t>
            </a:r>
            <a:r>
              <a:rPr lang="en-IN" sz="1400" b="1" dirty="0" err="1"/>
              <a:t>def</a:t>
            </a:r>
            <a:r>
              <a:rPr lang="en-IN" sz="1400" dirty="0"/>
              <a:t> __</a:t>
            </a:r>
            <a:r>
              <a:rPr lang="en-IN" sz="1400" dirty="0" err="1"/>
              <a:t>init</a:t>
            </a:r>
            <a:r>
              <a:rPr lang="en-IN" sz="1400" dirty="0"/>
              <a:t>__(self):   </a:t>
            </a:r>
          </a:p>
          <a:p>
            <a:r>
              <a:rPr lang="en-IN" sz="1400" dirty="0"/>
              <a:t>        </a:t>
            </a:r>
            <a:r>
              <a:rPr lang="en-IN" sz="1400" b="1" dirty="0"/>
              <a:t>print</a:t>
            </a:r>
            <a:r>
              <a:rPr lang="en-IN" sz="1400" dirty="0"/>
              <a:t> ('HEY !!!!!! </a:t>
            </a:r>
            <a:r>
              <a:rPr lang="en-IN" sz="1400" dirty="0" err="1"/>
              <a:t>jtpI</a:t>
            </a:r>
            <a:r>
              <a:rPr lang="en-IN" sz="1400" dirty="0"/>
              <a:t> am initialized (Class </a:t>
            </a:r>
            <a:r>
              <a:rPr lang="en-IN" sz="1400" dirty="0" err="1"/>
              <a:t>JSP1</a:t>
            </a:r>
            <a:r>
              <a:rPr lang="en-IN" sz="1400" dirty="0"/>
              <a:t>)')   </a:t>
            </a:r>
          </a:p>
          <a:p>
            <a:r>
              <a:rPr lang="en-IN" sz="1400" dirty="0"/>
              <a:t>    </a:t>
            </a:r>
            <a:r>
              <a:rPr lang="en-IN" sz="1400" b="1" dirty="0" err="1"/>
              <a:t>def</a:t>
            </a:r>
            <a:r>
              <a:rPr lang="en-IN" sz="1400" dirty="0"/>
              <a:t> </a:t>
            </a:r>
            <a:r>
              <a:rPr lang="en-IN" sz="1400" dirty="0" err="1"/>
              <a:t>sub_JTP</a:t>
            </a:r>
            <a:r>
              <a:rPr lang="en-IN" sz="1400" dirty="0"/>
              <a:t> (self, b):   </a:t>
            </a:r>
          </a:p>
          <a:p>
            <a:r>
              <a:rPr lang="en-IN" sz="1400" dirty="0"/>
              <a:t>        </a:t>
            </a:r>
            <a:r>
              <a:rPr lang="en-IN" sz="1400" b="1" dirty="0"/>
              <a:t>print</a:t>
            </a:r>
            <a:r>
              <a:rPr lang="en-IN" sz="1400" dirty="0"/>
              <a:t> ('Printing from class </a:t>
            </a:r>
            <a:r>
              <a:rPr lang="en-IN" sz="1400" dirty="0" err="1"/>
              <a:t>JTP1</a:t>
            </a:r>
            <a:r>
              <a:rPr lang="en-IN" sz="1400" dirty="0"/>
              <a:t>:', b)   </a:t>
            </a:r>
          </a:p>
          <a:p>
            <a:r>
              <a:rPr lang="en-IN" sz="1400" dirty="0"/>
              <a:t># inheritance of </a:t>
            </a:r>
            <a:r>
              <a:rPr lang="en-IN" sz="1400" dirty="0" err="1"/>
              <a:t>JTP2</a:t>
            </a:r>
            <a:r>
              <a:rPr lang="en-IN" sz="1400" dirty="0"/>
              <a:t> to </a:t>
            </a:r>
            <a:r>
              <a:rPr lang="en-IN" sz="1400" dirty="0" err="1"/>
              <a:t>JTP1</a:t>
            </a:r>
            <a:r>
              <a:rPr lang="en-IN" sz="1400" dirty="0"/>
              <a:t> occurs  </a:t>
            </a:r>
          </a:p>
          <a:p>
            <a:r>
              <a:rPr lang="en-IN" sz="1400" b="1" dirty="0"/>
              <a:t>class</a:t>
            </a:r>
            <a:r>
              <a:rPr lang="en-IN" sz="1400" dirty="0"/>
              <a:t> </a:t>
            </a:r>
            <a:r>
              <a:rPr lang="en-IN" sz="1400" dirty="0" err="1"/>
              <a:t>JTP2</a:t>
            </a:r>
            <a:r>
              <a:rPr lang="en-IN" sz="1400" dirty="0"/>
              <a:t>(</a:t>
            </a:r>
            <a:r>
              <a:rPr lang="en-IN" sz="1400" dirty="0" err="1"/>
              <a:t>JTP1</a:t>
            </a:r>
            <a:r>
              <a:rPr lang="en-IN" sz="1400" dirty="0"/>
              <a:t>):   </a:t>
            </a:r>
          </a:p>
          <a:p>
            <a:r>
              <a:rPr lang="en-IN" sz="1400" dirty="0"/>
              <a:t>    </a:t>
            </a:r>
            <a:r>
              <a:rPr lang="en-IN" sz="1400" b="1" dirty="0" err="1"/>
              <a:t>def</a:t>
            </a:r>
            <a:r>
              <a:rPr lang="en-IN" sz="1400" dirty="0"/>
              <a:t> __</a:t>
            </a:r>
            <a:r>
              <a:rPr lang="en-IN" sz="1400" dirty="0" err="1"/>
              <a:t>init</a:t>
            </a:r>
            <a:r>
              <a:rPr lang="en-IN" sz="1400" dirty="0"/>
              <a:t>__(self):   </a:t>
            </a:r>
          </a:p>
          <a:p>
            <a:r>
              <a:rPr lang="en-IN" sz="1400" dirty="0"/>
              <a:t>        </a:t>
            </a:r>
            <a:r>
              <a:rPr lang="en-IN" sz="1400" b="1" dirty="0"/>
              <a:t>print</a:t>
            </a:r>
            <a:r>
              <a:rPr lang="en-IN" sz="1400" dirty="0"/>
              <a:t> ('HEY !!!!!! </a:t>
            </a:r>
            <a:r>
              <a:rPr lang="en-IN" sz="1400" dirty="0" err="1"/>
              <a:t>JTP</a:t>
            </a:r>
            <a:r>
              <a:rPr lang="en-IN" sz="1400" dirty="0"/>
              <a:t> I am initialized (Class </a:t>
            </a:r>
            <a:r>
              <a:rPr lang="en-IN" sz="1400" dirty="0" err="1"/>
              <a:t>JSP2</a:t>
            </a:r>
            <a:r>
              <a:rPr lang="en-IN" sz="1400" dirty="0"/>
              <a:t>)')   </a:t>
            </a:r>
          </a:p>
          <a:p>
            <a:r>
              <a:rPr lang="en-IN" sz="1400" dirty="0"/>
              <a:t>        super().__</a:t>
            </a:r>
            <a:r>
              <a:rPr lang="en-IN" sz="1400" dirty="0" err="1"/>
              <a:t>init</a:t>
            </a:r>
            <a:r>
              <a:rPr lang="en-IN" sz="1400" dirty="0"/>
              <a:t>__()   </a:t>
            </a:r>
          </a:p>
          <a:p>
            <a:r>
              <a:rPr lang="en-IN" sz="1400" dirty="0"/>
              <a:t>      </a:t>
            </a:r>
          </a:p>
          <a:p>
            <a:r>
              <a:rPr lang="en-IN" sz="1400" dirty="0"/>
              <a:t>    </a:t>
            </a:r>
            <a:r>
              <a:rPr lang="en-IN" sz="1400" b="1" dirty="0" err="1"/>
              <a:t>def</a:t>
            </a:r>
            <a:r>
              <a:rPr lang="en-IN" sz="1400" dirty="0"/>
              <a:t> </a:t>
            </a:r>
            <a:r>
              <a:rPr lang="en-IN" sz="1400" dirty="0" err="1"/>
              <a:t>sub_JTP</a:t>
            </a:r>
            <a:r>
              <a:rPr lang="en-IN" sz="1400" dirty="0"/>
              <a:t> (self, b):   </a:t>
            </a:r>
          </a:p>
          <a:p>
            <a:r>
              <a:rPr lang="en-IN" sz="1400" dirty="0"/>
              <a:t>        </a:t>
            </a:r>
            <a:r>
              <a:rPr lang="en-IN" sz="1400" b="1" dirty="0"/>
              <a:t>print</a:t>
            </a:r>
            <a:r>
              <a:rPr lang="en-IN" sz="1400" dirty="0"/>
              <a:t> ('Printing from class </a:t>
            </a:r>
            <a:r>
              <a:rPr lang="en-IN" sz="1400" dirty="0" err="1"/>
              <a:t>JTP2</a:t>
            </a:r>
            <a:r>
              <a:rPr lang="en-IN" sz="1400" dirty="0"/>
              <a:t>:', b)   </a:t>
            </a:r>
          </a:p>
          <a:p>
            <a:r>
              <a:rPr lang="en-IN" sz="1400" dirty="0"/>
              <a:t>        super (). </a:t>
            </a:r>
            <a:r>
              <a:rPr lang="en-IN" sz="1400" dirty="0" err="1"/>
              <a:t>sub_JTP</a:t>
            </a:r>
            <a:r>
              <a:rPr lang="en-IN" sz="1400" dirty="0"/>
              <a:t> (b + 1)   </a:t>
            </a:r>
          </a:p>
          <a:p>
            <a:r>
              <a:rPr lang="en-IN" sz="1400" dirty="0"/>
              <a:t># inheritance of both </a:t>
            </a:r>
            <a:r>
              <a:rPr lang="en-IN" sz="1400" dirty="0" err="1"/>
              <a:t>JTP2</a:t>
            </a:r>
            <a:r>
              <a:rPr lang="en-IN" sz="1400" dirty="0"/>
              <a:t> and </a:t>
            </a:r>
            <a:r>
              <a:rPr lang="en-IN" sz="1400" dirty="0" err="1"/>
              <a:t>JTP1</a:t>
            </a:r>
            <a:r>
              <a:rPr lang="en-IN" sz="1400" dirty="0"/>
              <a:t> is done by </a:t>
            </a:r>
            <a:r>
              <a:rPr lang="en-IN" sz="1400" dirty="0" err="1"/>
              <a:t>JTP3</a:t>
            </a:r>
            <a:r>
              <a:rPr lang="en-IN" sz="1400" dirty="0"/>
              <a:t>  </a:t>
            </a:r>
          </a:p>
          <a:p>
            <a:r>
              <a:rPr lang="en-IN" sz="1400" b="1" dirty="0"/>
              <a:t>class</a:t>
            </a:r>
            <a:r>
              <a:rPr lang="en-IN" sz="1400" dirty="0"/>
              <a:t> </a:t>
            </a:r>
            <a:r>
              <a:rPr lang="en-IN" sz="1400" dirty="0" err="1"/>
              <a:t>JTP3</a:t>
            </a:r>
            <a:r>
              <a:rPr lang="en-IN" sz="1400" dirty="0"/>
              <a:t>(</a:t>
            </a:r>
            <a:r>
              <a:rPr lang="en-IN" sz="1400" dirty="0" err="1"/>
              <a:t>JTP2</a:t>
            </a:r>
            <a:r>
              <a:rPr lang="en-IN" sz="1400" dirty="0"/>
              <a:t>):   </a:t>
            </a:r>
          </a:p>
          <a:p>
            <a:r>
              <a:rPr lang="en-IN" sz="1400" dirty="0"/>
              <a:t>    </a:t>
            </a:r>
            <a:r>
              <a:rPr lang="en-IN" sz="1400" b="1" dirty="0" err="1"/>
              <a:t>def</a:t>
            </a:r>
            <a:r>
              <a:rPr lang="en-IN" sz="1400" dirty="0"/>
              <a:t> __</a:t>
            </a:r>
            <a:r>
              <a:rPr lang="en-IN" sz="1400" dirty="0" err="1"/>
              <a:t>init</a:t>
            </a:r>
            <a:r>
              <a:rPr lang="en-IN" sz="1400" dirty="0"/>
              <a:t>__(self):   </a:t>
            </a:r>
          </a:p>
          <a:p>
            <a:r>
              <a:rPr lang="en-IN" sz="1400" dirty="0"/>
              <a:t>        </a:t>
            </a:r>
            <a:r>
              <a:rPr lang="en-IN" sz="1400" b="1" dirty="0"/>
              <a:t>print</a:t>
            </a:r>
            <a:r>
              <a:rPr lang="en-IN" sz="1400" dirty="0"/>
              <a:t> ('HEY !!!!!! </a:t>
            </a:r>
            <a:r>
              <a:rPr lang="en-IN" sz="1400" dirty="0" err="1"/>
              <a:t>JTP</a:t>
            </a:r>
            <a:r>
              <a:rPr lang="en-IN" sz="1400" dirty="0"/>
              <a:t> I am initialized (Class </a:t>
            </a:r>
            <a:r>
              <a:rPr lang="en-IN" sz="1400" dirty="0" err="1"/>
              <a:t>JSP3</a:t>
            </a:r>
            <a:r>
              <a:rPr lang="en-IN" sz="1400" dirty="0"/>
              <a:t>)')   </a:t>
            </a:r>
          </a:p>
          <a:p>
            <a:r>
              <a:rPr lang="en-IN" sz="1400" dirty="0"/>
              <a:t>        super().__</a:t>
            </a:r>
            <a:r>
              <a:rPr lang="en-IN" sz="1400" dirty="0" err="1"/>
              <a:t>init</a:t>
            </a:r>
            <a:r>
              <a:rPr lang="en-IN" sz="1400" dirty="0"/>
              <a:t>__()   </a:t>
            </a:r>
          </a:p>
          <a:p>
            <a:r>
              <a:rPr lang="en-IN" sz="1400" dirty="0"/>
              <a:t>    </a:t>
            </a:r>
            <a:r>
              <a:rPr lang="en-IN" sz="1400" b="1" dirty="0" err="1"/>
              <a:t>def</a:t>
            </a:r>
            <a:r>
              <a:rPr lang="en-IN" sz="1400" dirty="0"/>
              <a:t> </a:t>
            </a:r>
            <a:r>
              <a:rPr lang="en-IN" sz="1400" dirty="0" err="1"/>
              <a:t>sub_JTP</a:t>
            </a:r>
            <a:r>
              <a:rPr lang="en-IN" sz="1400" dirty="0"/>
              <a:t> (self, b):   </a:t>
            </a:r>
          </a:p>
          <a:p>
            <a:r>
              <a:rPr lang="en-IN" sz="1400" dirty="0"/>
              <a:t>        </a:t>
            </a:r>
            <a:r>
              <a:rPr lang="en-IN" sz="1400" b="1" dirty="0"/>
              <a:t>print</a:t>
            </a:r>
            <a:r>
              <a:rPr lang="en-IN" sz="1400" dirty="0"/>
              <a:t> ('Printing from class </a:t>
            </a:r>
            <a:r>
              <a:rPr lang="en-IN" sz="1400" dirty="0" err="1"/>
              <a:t>JTP3</a:t>
            </a:r>
            <a:r>
              <a:rPr lang="en-IN" sz="1400" dirty="0"/>
              <a:t>:', b)   </a:t>
            </a:r>
          </a:p>
          <a:p>
            <a:r>
              <a:rPr lang="en-IN" sz="1400" dirty="0"/>
              <a:t>        super ().</a:t>
            </a:r>
            <a:r>
              <a:rPr lang="en-IN" sz="1400" dirty="0" err="1"/>
              <a:t>sub_JTP</a:t>
            </a:r>
            <a:r>
              <a:rPr lang="en-IN" sz="1400" dirty="0"/>
              <a:t>(b + 1)   </a:t>
            </a:r>
          </a:p>
          <a:p>
            <a:r>
              <a:rPr lang="en-IN" sz="1400" dirty="0"/>
              <a:t># function main  </a:t>
            </a:r>
          </a:p>
          <a:p>
            <a:r>
              <a:rPr lang="en-IN" sz="1400" b="1" dirty="0"/>
              <a:t>if</a:t>
            </a:r>
            <a:r>
              <a:rPr lang="en-IN" sz="1400" dirty="0"/>
              <a:t> __name__ == '__main__':   </a:t>
            </a:r>
          </a:p>
          <a:p>
            <a:r>
              <a:rPr lang="en-IN" sz="1400" dirty="0" err="1"/>
              <a:t>jtp</a:t>
            </a:r>
            <a:r>
              <a:rPr lang="en-IN" sz="1400" dirty="0"/>
              <a:t> = </a:t>
            </a:r>
            <a:r>
              <a:rPr lang="en-IN" sz="1400" dirty="0" err="1"/>
              <a:t>JTP3</a:t>
            </a:r>
            <a:r>
              <a:rPr lang="en-IN" sz="1400" dirty="0"/>
              <a:t>()   </a:t>
            </a:r>
          </a:p>
          <a:p>
            <a:r>
              <a:rPr lang="en-IN" sz="1400" dirty="0" err="1"/>
              <a:t>jtp.sub_JTP</a:t>
            </a:r>
            <a:r>
              <a:rPr lang="en-IN" sz="1400" dirty="0"/>
              <a:t>(10)  </a:t>
            </a:r>
          </a:p>
        </p:txBody>
      </p:sp>
      <p:sp>
        <p:nvSpPr>
          <p:cNvPr id="3" name="TextBox 2"/>
          <p:cNvSpPr txBox="1"/>
          <p:nvPr/>
        </p:nvSpPr>
        <p:spPr>
          <a:xfrm>
            <a:off x="4800600" y="4038600"/>
            <a:ext cx="4038600" cy="2031325"/>
          </a:xfrm>
          <a:prstGeom prst="rect">
            <a:avLst/>
          </a:prstGeom>
          <a:noFill/>
        </p:spPr>
        <p:txBody>
          <a:bodyPr wrap="square" rtlCol="0">
            <a:spAutoFit/>
          </a:bodyPr>
          <a:lstStyle/>
          <a:p>
            <a:r>
              <a:rPr lang="en-US" b="1" dirty="0" smtClean="0"/>
              <a:t>O/p.</a:t>
            </a:r>
            <a:endParaRPr lang="en-IN" b="1" dirty="0" smtClean="0"/>
          </a:p>
          <a:p>
            <a:r>
              <a:rPr lang="en-IN" dirty="0" smtClean="0"/>
              <a:t>HEY  </a:t>
            </a:r>
            <a:r>
              <a:rPr lang="en-IN" dirty="0"/>
              <a:t>!!!!!! </a:t>
            </a:r>
            <a:r>
              <a:rPr lang="en-IN" dirty="0" err="1"/>
              <a:t>JTP</a:t>
            </a:r>
            <a:r>
              <a:rPr lang="en-IN" dirty="0"/>
              <a:t> I am initialized (Class </a:t>
            </a:r>
            <a:r>
              <a:rPr lang="en-IN" dirty="0" err="1"/>
              <a:t>JSP3</a:t>
            </a:r>
            <a:r>
              <a:rPr lang="en-IN" dirty="0"/>
              <a:t>)</a:t>
            </a:r>
          </a:p>
          <a:p>
            <a:r>
              <a:rPr lang="en-IN" dirty="0"/>
              <a:t>HEY  !!!!!! </a:t>
            </a:r>
            <a:r>
              <a:rPr lang="en-IN" dirty="0" err="1"/>
              <a:t>JTP</a:t>
            </a:r>
            <a:r>
              <a:rPr lang="en-IN" dirty="0"/>
              <a:t> I am initialized (Class </a:t>
            </a:r>
            <a:r>
              <a:rPr lang="en-IN" dirty="0" err="1"/>
              <a:t>JSP2</a:t>
            </a:r>
            <a:r>
              <a:rPr lang="en-IN" dirty="0"/>
              <a:t>)</a:t>
            </a:r>
          </a:p>
          <a:p>
            <a:r>
              <a:rPr lang="en-IN" dirty="0"/>
              <a:t>HEY  !!!!!! </a:t>
            </a:r>
            <a:r>
              <a:rPr lang="en-IN" dirty="0" err="1"/>
              <a:t>JTP</a:t>
            </a:r>
            <a:r>
              <a:rPr lang="en-IN" dirty="0"/>
              <a:t> I am initialized (Class </a:t>
            </a:r>
            <a:r>
              <a:rPr lang="en-IN" dirty="0" err="1"/>
              <a:t>JSP1</a:t>
            </a:r>
            <a:r>
              <a:rPr lang="en-IN" dirty="0"/>
              <a:t>)</a:t>
            </a:r>
          </a:p>
          <a:p>
            <a:r>
              <a:rPr lang="en-IN" dirty="0"/>
              <a:t>Printing from class </a:t>
            </a:r>
            <a:r>
              <a:rPr lang="en-IN" dirty="0" err="1"/>
              <a:t>JTP3</a:t>
            </a:r>
            <a:r>
              <a:rPr lang="en-IN" dirty="0"/>
              <a:t>: 10</a:t>
            </a:r>
          </a:p>
          <a:p>
            <a:r>
              <a:rPr lang="en-IN" dirty="0"/>
              <a:t>Printing from class </a:t>
            </a:r>
            <a:r>
              <a:rPr lang="en-IN" dirty="0" err="1"/>
              <a:t>JTP3</a:t>
            </a:r>
            <a:r>
              <a:rPr lang="en-IN" dirty="0"/>
              <a:t>: 11</a:t>
            </a:r>
          </a:p>
          <a:p>
            <a:r>
              <a:rPr lang="en-IN" dirty="0"/>
              <a:t>Printing from class </a:t>
            </a:r>
            <a:r>
              <a:rPr lang="en-IN" dirty="0" err="1"/>
              <a:t>JTP3</a:t>
            </a:r>
            <a:r>
              <a:rPr lang="en-IN" dirty="0"/>
              <a:t>: 12</a:t>
            </a:r>
          </a:p>
        </p:txBody>
      </p:sp>
    </p:spTree>
    <p:extLst>
      <p:ext uri="{BB962C8B-B14F-4D97-AF65-F5344CB8AC3E}">
        <p14:creationId xmlns:p14="http://schemas.microsoft.com/office/powerpoint/2010/main" val="237418333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440120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Generally, the interface is not part of Python, but we can implement it using the ABC module. </a:t>
            </a:r>
            <a:endParaRPr lang="en-US" sz="2800" dirty="0" smtClean="0"/>
          </a:p>
          <a:p>
            <a:pPr marL="457200" indent="-457200" algn="just">
              <a:buFont typeface="Arial" panose="020B0604020202020204" pitchFamily="34" charset="0"/>
              <a:buChar char="•"/>
            </a:pPr>
            <a:r>
              <a:rPr lang="en-US" sz="2800" dirty="0" smtClean="0"/>
              <a:t>We </a:t>
            </a:r>
            <a:r>
              <a:rPr lang="en-US" sz="2800" dirty="0"/>
              <a:t>will understand how to interface works and cautions of Python interface creation.</a:t>
            </a:r>
          </a:p>
          <a:p>
            <a:pPr marL="457200" indent="-457200" algn="just">
              <a:buFont typeface="Arial" panose="020B0604020202020204" pitchFamily="34" charset="0"/>
              <a:buChar char="•"/>
            </a:pPr>
            <a:r>
              <a:rPr lang="en-US" sz="2800" dirty="0" smtClean="0"/>
              <a:t>Interfaces </a:t>
            </a:r>
            <a:r>
              <a:rPr lang="en-US" sz="2800" dirty="0"/>
              <a:t>play a crucial role in software engineering as they provide a way to define a set of methods or behaviors that a class must implement. </a:t>
            </a:r>
            <a:endParaRPr lang="en-US" sz="2800" dirty="0" smtClean="0"/>
          </a:p>
          <a:p>
            <a:pPr marL="457200" indent="-457200" algn="just">
              <a:buFont typeface="Arial" panose="020B0604020202020204" pitchFamily="34" charset="0"/>
              <a:buChar char="•"/>
            </a:pPr>
            <a:r>
              <a:rPr lang="en-US" sz="2800" dirty="0" smtClean="0"/>
              <a:t>As </a:t>
            </a:r>
            <a:r>
              <a:rPr lang="en-US" sz="2800" dirty="0"/>
              <a:t>an application grows in size and complexity, it becomes more difficult to manage updates and changes to the code base</a:t>
            </a:r>
            <a:r>
              <a:rPr lang="en-US" sz="2800" dirty="0" smtClean="0"/>
              <a:t>.</a:t>
            </a:r>
            <a:endParaRPr lang="en-US" sz="2800" dirty="0"/>
          </a:p>
        </p:txBody>
      </p:sp>
    </p:spTree>
    <p:extLst>
      <p:ext uri="{BB962C8B-B14F-4D97-AF65-F5344CB8AC3E}">
        <p14:creationId xmlns:p14="http://schemas.microsoft.com/office/powerpoint/2010/main" val="20534000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One </a:t>
            </a:r>
            <a:r>
              <a:rPr lang="en-US" sz="2800" dirty="0"/>
              <a:t>common problem that arises is the presence of classes that have similar functionality but are unrelated in terms of their inheritance hierarchy. </a:t>
            </a:r>
            <a:endParaRPr lang="en-US" sz="2800" dirty="0" smtClean="0"/>
          </a:p>
          <a:p>
            <a:pPr marL="457200" indent="-457200" algn="just">
              <a:buFont typeface="Arial" panose="020B0604020202020204" pitchFamily="34" charset="0"/>
              <a:buChar char="•"/>
            </a:pPr>
            <a:r>
              <a:rPr lang="en-US" sz="2800" dirty="0" smtClean="0"/>
              <a:t>It </a:t>
            </a:r>
            <a:r>
              <a:rPr lang="en-US" sz="2800" dirty="0"/>
              <a:t>can lead to confusion and redundancy in the codebase.</a:t>
            </a:r>
          </a:p>
          <a:p>
            <a:pPr marL="457200" indent="-457200" algn="just">
              <a:buFont typeface="Arial" panose="020B0604020202020204" pitchFamily="34" charset="0"/>
              <a:buChar char="•"/>
            </a:pPr>
            <a:r>
              <a:rPr lang="en-US" sz="2800" dirty="0" smtClean="0"/>
              <a:t>Python </a:t>
            </a:r>
            <a:r>
              <a:rPr lang="en-US" sz="2800" dirty="0"/>
              <a:t>has a unique approach to interfaces compared to most other programming languages, and the design complexity of interfaces in Python can vary. </a:t>
            </a:r>
            <a:endParaRPr lang="en-US" sz="2800" dirty="0" smtClean="0"/>
          </a:p>
          <a:p>
            <a:pPr marL="457200" indent="-457200" algn="just">
              <a:buFont typeface="Arial" panose="020B0604020202020204" pitchFamily="34" charset="0"/>
              <a:buChar char="•"/>
            </a:pPr>
            <a:r>
              <a:rPr lang="en-US" sz="2800" dirty="0" smtClean="0"/>
              <a:t>After </a:t>
            </a:r>
            <a:r>
              <a:rPr lang="en-US" sz="2800" dirty="0"/>
              <a:t>completing this tutorial, you will gain a better understanding of Python's data model and the differences between interfaces in Python versus those in languages such as Java, C++, and Go.</a:t>
            </a:r>
          </a:p>
        </p:txBody>
      </p:sp>
    </p:spTree>
    <p:extLst>
      <p:ext uri="{BB962C8B-B14F-4D97-AF65-F5344CB8AC3E}">
        <p14:creationId xmlns:p14="http://schemas.microsoft.com/office/powerpoint/2010/main" val="340700864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440120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An interface is a design template for creating classes that share common methods. </a:t>
            </a:r>
            <a:endParaRPr lang="en-US" sz="2800" dirty="0" smtClean="0"/>
          </a:p>
          <a:p>
            <a:pPr marL="457200" indent="-457200" algn="just">
              <a:buFont typeface="Arial" panose="020B0604020202020204" pitchFamily="34" charset="0"/>
              <a:buChar char="•"/>
            </a:pPr>
            <a:r>
              <a:rPr lang="en-US" sz="2800" dirty="0" smtClean="0"/>
              <a:t>The </a:t>
            </a:r>
            <a:r>
              <a:rPr lang="en-US" sz="2800" dirty="0"/>
              <a:t>methods defined in an interface are abstract, meaning they are only outlined and lack implementation. </a:t>
            </a:r>
            <a:endParaRPr lang="en-US" sz="2800" dirty="0" smtClean="0"/>
          </a:p>
          <a:p>
            <a:pPr marL="457200" indent="-457200" algn="just">
              <a:buFont typeface="Arial" panose="020B0604020202020204" pitchFamily="34" charset="0"/>
              <a:buChar char="•"/>
            </a:pPr>
            <a:r>
              <a:rPr lang="en-US" sz="2800" dirty="0" smtClean="0"/>
              <a:t>It </a:t>
            </a:r>
            <a:r>
              <a:rPr lang="en-US" sz="2800" dirty="0"/>
              <a:t>is unlike classes, which provide a concrete implementation for their methods. </a:t>
            </a:r>
            <a:endParaRPr lang="en-US" sz="2800" dirty="0" smtClean="0"/>
          </a:p>
          <a:p>
            <a:pPr marL="457200" indent="-457200" algn="just">
              <a:buFont typeface="Arial" panose="020B0604020202020204" pitchFamily="34" charset="0"/>
              <a:buChar char="•"/>
            </a:pPr>
            <a:r>
              <a:rPr lang="en-US" sz="2800" dirty="0" smtClean="0"/>
              <a:t>Instead</a:t>
            </a:r>
            <a:r>
              <a:rPr lang="en-US" sz="2800" dirty="0"/>
              <a:t>, classes that implement an interface will fill in the abstract methods, giving them specific meaning and functionality</a:t>
            </a:r>
            <a:r>
              <a:rPr lang="en-US" sz="2800" dirty="0" smtClean="0"/>
              <a:t>.</a:t>
            </a:r>
            <a:endParaRPr lang="en-US" sz="2800" dirty="0"/>
          </a:p>
        </p:txBody>
      </p:sp>
    </p:spTree>
    <p:extLst>
      <p:ext uri="{BB962C8B-B14F-4D97-AF65-F5344CB8AC3E}">
        <p14:creationId xmlns:p14="http://schemas.microsoft.com/office/powerpoint/2010/main" val="2658918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By </a:t>
            </a:r>
            <a:r>
              <a:rPr lang="en-US" sz="2800" dirty="0"/>
              <a:t>defining interfaces, developers can create a standard contract that classes can adhere to, regardless of their inheritance hierarchy. It allows for better code organization and reduces the likelihood of code duplication. </a:t>
            </a:r>
            <a:endParaRPr lang="en-US" sz="2800" dirty="0" smtClean="0"/>
          </a:p>
          <a:p>
            <a:pPr marL="457200" indent="-457200" algn="just">
              <a:buFont typeface="Arial" panose="020B0604020202020204" pitchFamily="34" charset="0"/>
              <a:buChar char="•"/>
            </a:pPr>
            <a:r>
              <a:rPr lang="en-US" sz="2800" dirty="0" smtClean="0"/>
              <a:t>Additionally</a:t>
            </a:r>
            <a:r>
              <a:rPr lang="en-US" sz="2800" dirty="0"/>
              <a:t>, interfaces can provide a way to decouple components of an application, making it easier to make changes or updates to one component without affecting others.</a:t>
            </a:r>
          </a:p>
          <a:p>
            <a:pPr marL="457200" indent="-457200" algn="just">
              <a:buFont typeface="Arial" panose="020B0604020202020204" pitchFamily="34" charset="0"/>
              <a:buChar char="•"/>
            </a:pPr>
            <a:r>
              <a:rPr lang="en-US" sz="2800" dirty="0" smtClean="0"/>
              <a:t>Overall</a:t>
            </a:r>
            <a:r>
              <a:rPr lang="en-US" sz="2800" dirty="0"/>
              <a:t>, interfaces are a powerful tool for managing complexity in software engineering, and their use can lead to more maintainable and scalable codebases</a:t>
            </a:r>
            <a:r>
              <a:rPr lang="en-US" sz="2800" dirty="0" smtClean="0"/>
              <a:t>.</a:t>
            </a:r>
            <a:endParaRPr lang="en-US" sz="2800" dirty="0"/>
          </a:p>
        </p:txBody>
      </p:sp>
    </p:spTree>
    <p:extLst>
      <p:ext uri="{BB962C8B-B14F-4D97-AF65-F5344CB8AC3E}">
        <p14:creationId xmlns:p14="http://schemas.microsoft.com/office/powerpoint/2010/main" val="222791975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3108543"/>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Python </a:t>
            </a:r>
            <a:r>
              <a:rPr lang="en-US" sz="2800" dirty="0"/>
              <a:t>follows a different approach to implementing the interface than other languages like C++, Java, and Go. These languages have interface keywords, while Python doesn't have such keywords. Python further deviates from other languages in one other aspect. It doesn't require the class to implement the interface to define all its abstract methods.</a:t>
            </a:r>
          </a:p>
        </p:txBody>
      </p:sp>
    </p:spTree>
    <p:extLst>
      <p:ext uri="{BB962C8B-B14F-4D97-AF65-F5344CB8AC3E}">
        <p14:creationId xmlns:p14="http://schemas.microsoft.com/office/powerpoint/2010/main" val="410190399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483209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As we know, Python is a dynamic language that allows us to implement a conversational interface. </a:t>
            </a:r>
            <a:endParaRPr lang="en-US" sz="2800" dirty="0" smtClean="0"/>
          </a:p>
          <a:p>
            <a:pPr marL="457200" indent="-457200" algn="just">
              <a:buFont typeface="Arial" panose="020B0604020202020204" pitchFamily="34" charset="0"/>
              <a:buChar char="•"/>
            </a:pPr>
            <a:r>
              <a:rPr lang="en-US" sz="2800" dirty="0" smtClean="0"/>
              <a:t>An </a:t>
            </a:r>
            <a:r>
              <a:rPr lang="en-US" sz="2800" dirty="0"/>
              <a:t>Informal interface is a class that defines methods that can be overridden, but there is no strict enforcement.</a:t>
            </a:r>
          </a:p>
          <a:p>
            <a:pPr marL="457200" indent="-457200" algn="just">
              <a:buFont typeface="Arial" panose="020B0604020202020204" pitchFamily="34" charset="0"/>
              <a:buChar char="•"/>
            </a:pPr>
            <a:r>
              <a:rPr lang="en-US" sz="2800" dirty="0" smtClean="0"/>
              <a:t>In </a:t>
            </a:r>
            <a:r>
              <a:rPr lang="en-US" sz="2800" dirty="0"/>
              <a:t>the following example, an informal interface will be created to extract text from various unstructured file formats, including PDFs and emails. </a:t>
            </a:r>
            <a:endParaRPr lang="en-US" sz="2800" dirty="0" smtClean="0"/>
          </a:p>
          <a:p>
            <a:pPr marL="457200" indent="-457200" algn="just">
              <a:buFont typeface="Arial" panose="020B0604020202020204" pitchFamily="34" charset="0"/>
              <a:buChar char="•"/>
            </a:pPr>
            <a:r>
              <a:rPr lang="en-US" sz="2800" dirty="0" smtClean="0"/>
              <a:t>This </a:t>
            </a:r>
            <a:r>
              <a:rPr lang="en-US" sz="2800" dirty="0"/>
              <a:t>interface will define the necessary methods to implement in the </a:t>
            </a:r>
            <a:r>
              <a:rPr lang="en-US" sz="2800" b="1" dirty="0" err="1"/>
              <a:t>PdfParser</a:t>
            </a:r>
            <a:r>
              <a:rPr lang="en-US" sz="2800" b="1" dirty="0"/>
              <a:t> </a:t>
            </a:r>
            <a:r>
              <a:rPr lang="en-US" sz="2800" dirty="0"/>
              <a:t>and</a:t>
            </a:r>
            <a:r>
              <a:rPr lang="en-US" sz="2800" b="1" dirty="0"/>
              <a:t> </a:t>
            </a:r>
            <a:r>
              <a:rPr lang="en-US" sz="2800" b="1" dirty="0" err="1"/>
              <a:t>EmlParser</a:t>
            </a:r>
            <a:r>
              <a:rPr lang="en-US" sz="2800" dirty="0"/>
              <a:t> concrete classes.</a:t>
            </a:r>
          </a:p>
        </p:txBody>
      </p:sp>
    </p:spTree>
    <p:extLst>
      <p:ext uri="{BB962C8B-B14F-4D97-AF65-F5344CB8AC3E}">
        <p14:creationId xmlns:p14="http://schemas.microsoft.com/office/powerpoint/2010/main" val="128130180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2308324"/>
          </a:xfrm>
          <a:prstGeom prst="rect">
            <a:avLst/>
          </a:prstGeom>
          <a:noFill/>
        </p:spPr>
        <p:txBody>
          <a:bodyPr wrap="square" rtlCol="0">
            <a:spAutoFit/>
          </a:bodyPr>
          <a:lstStyle/>
          <a:p>
            <a:r>
              <a:rPr lang="en-US" b="1" dirty="0"/>
              <a:t>class</a:t>
            </a:r>
            <a:r>
              <a:rPr lang="en-US" dirty="0"/>
              <a:t> </a:t>
            </a:r>
            <a:r>
              <a:rPr lang="en-US" dirty="0" err="1"/>
              <a:t>TextExtractor</a:t>
            </a:r>
            <a:r>
              <a:rPr lang="en-US" dirty="0"/>
              <a:t>:  </a:t>
            </a:r>
          </a:p>
          <a:p>
            <a:r>
              <a:rPr lang="en-US" dirty="0"/>
              <a:t>    </a:t>
            </a:r>
            <a:r>
              <a:rPr lang="en-US" b="1" dirty="0" err="1"/>
              <a:t>def</a:t>
            </a:r>
            <a:r>
              <a:rPr lang="en-US" dirty="0"/>
              <a:t> </a:t>
            </a:r>
            <a:r>
              <a:rPr lang="en-US" dirty="0" err="1"/>
              <a:t>load_data_source</a:t>
            </a:r>
            <a:r>
              <a:rPr lang="en-US" dirty="0"/>
              <a:t>(self, path: </a:t>
            </a:r>
            <a:r>
              <a:rPr lang="en-US" dirty="0" err="1"/>
              <a:t>str</a:t>
            </a:r>
            <a:r>
              <a:rPr lang="en-US" dirty="0"/>
              <a:t>, </a:t>
            </a:r>
            <a:r>
              <a:rPr lang="en-US" dirty="0" err="1"/>
              <a:t>file_name</a:t>
            </a:r>
            <a:r>
              <a:rPr lang="en-US" dirty="0"/>
              <a:t>: </a:t>
            </a:r>
            <a:r>
              <a:rPr lang="en-US" dirty="0" err="1"/>
              <a:t>str</a:t>
            </a:r>
            <a:r>
              <a:rPr lang="en-US" dirty="0"/>
              <a:t>) -&gt; </a:t>
            </a:r>
            <a:r>
              <a:rPr lang="en-US" dirty="0" err="1"/>
              <a:t>str</a:t>
            </a:r>
            <a:r>
              <a:rPr lang="en-US" dirty="0"/>
              <a:t>:  </a:t>
            </a:r>
          </a:p>
          <a:p>
            <a:r>
              <a:rPr lang="en-US" dirty="0"/>
              <a:t>        """Load in the file for extracting text."""  </a:t>
            </a:r>
          </a:p>
          <a:p>
            <a:r>
              <a:rPr lang="en-US" dirty="0"/>
              <a:t>        </a:t>
            </a:r>
            <a:r>
              <a:rPr lang="en-US" b="1" dirty="0"/>
              <a:t>pass</a:t>
            </a:r>
            <a:r>
              <a:rPr lang="en-US" dirty="0"/>
              <a:t>  </a:t>
            </a:r>
          </a:p>
          <a:p>
            <a:r>
              <a:rPr lang="en-US" dirty="0"/>
              <a:t>  </a:t>
            </a:r>
          </a:p>
          <a:p>
            <a:r>
              <a:rPr lang="en-US" dirty="0"/>
              <a:t>    </a:t>
            </a:r>
            <a:r>
              <a:rPr lang="en-US" b="1" dirty="0" err="1"/>
              <a:t>def</a:t>
            </a:r>
            <a:r>
              <a:rPr lang="en-US" dirty="0"/>
              <a:t> </a:t>
            </a:r>
            <a:r>
              <a:rPr lang="en-US" dirty="0" err="1"/>
              <a:t>extract_text</a:t>
            </a:r>
            <a:r>
              <a:rPr lang="en-US" dirty="0"/>
              <a:t>(self, </a:t>
            </a:r>
            <a:r>
              <a:rPr lang="en-US" dirty="0" err="1"/>
              <a:t>full_file_name</a:t>
            </a:r>
            <a:r>
              <a:rPr lang="en-US" dirty="0"/>
              <a:t>: </a:t>
            </a:r>
            <a:r>
              <a:rPr lang="en-US" dirty="0" err="1"/>
              <a:t>str</a:t>
            </a:r>
            <a:r>
              <a:rPr lang="en-US" dirty="0"/>
              <a:t>) -&gt; </a:t>
            </a:r>
            <a:r>
              <a:rPr lang="en-US" dirty="0" err="1"/>
              <a:t>dict</a:t>
            </a:r>
            <a:r>
              <a:rPr lang="en-US" dirty="0"/>
              <a:t>:  </a:t>
            </a:r>
          </a:p>
          <a:p>
            <a:r>
              <a:rPr lang="en-US" dirty="0"/>
              <a:t>        """Extract text from the currently loaded file."""  </a:t>
            </a:r>
          </a:p>
          <a:p>
            <a:r>
              <a:rPr lang="en-US" dirty="0"/>
              <a:t>        </a:t>
            </a:r>
            <a:r>
              <a:rPr lang="en-US" b="1" dirty="0"/>
              <a:t>pass</a:t>
            </a:r>
            <a:r>
              <a:rPr lang="en-US" dirty="0"/>
              <a:t>  </a:t>
            </a:r>
          </a:p>
        </p:txBody>
      </p:sp>
    </p:spTree>
    <p:extLst>
      <p:ext uri="{BB962C8B-B14F-4D97-AF65-F5344CB8AC3E}">
        <p14:creationId xmlns:p14="http://schemas.microsoft.com/office/powerpoint/2010/main" val="131240668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The </a:t>
            </a:r>
            <a:r>
              <a:rPr lang="en-US" sz="2800" dirty="0" err="1"/>
              <a:t>TextExtractor</a:t>
            </a:r>
            <a:r>
              <a:rPr lang="en-US" sz="2800" dirty="0"/>
              <a:t> class defines the .</a:t>
            </a:r>
            <a:r>
              <a:rPr lang="en-US" sz="2800" dirty="0" err="1"/>
              <a:t>load_data_source</a:t>
            </a:r>
            <a:r>
              <a:rPr lang="en-US" sz="2800" dirty="0"/>
              <a:t>() and .</a:t>
            </a:r>
            <a:r>
              <a:rPr lang="en-US" sz="2800" dirty="0" err="1"/>
              <a:t>extract_text</a:t>
            </a:r>
            <a:r>
              <a:rPr lang="en-US" sz="2800" dirty="0"/>
              <a:t>() method, where the first method, </a:t>
            </a:r>
            <a:r>
              <a:rPr lang="en-US" sz="2800" dirty="0" err="1"/>
              <a:t>load_data_source</a:t>
            </a:r>
            <a:r>
              <a:rPr lang="en-US" sz="2800" dirty="0"/>
              <a:t>, takes in two arguments: path and </a:t>
            </a:r>
            <a:r>
              <a:rPr lang="en-US" sz="2800" dirty="0" err="1"/>
              <a:t>file_name</a:t>
            </a:r>
            <a:r>
              <a:rPr lang="en-US" sz="2800" dirty="0"/>
              <a:t>, both of which are of type str. </a:t>
            </a:r>
            <a:endParaRPr lang="en-US" sz="2800" dirty="0" smtClean="0"/>
          </a:p>
          <a:p>
            <a:pPr marL="457200" indent="-457200" algn="just">
              <a:buFont typeface="Arial" panose="020B0604020202020204" pitchFamily="34" charset="0"/>
              <a:buChar char="•"/>
            </a:pPr>
            <a:r>
              <a:rPr lang="en-US" sz="2800" dirty="0" smtClean="0"/>
              <a:t>This </a:t>
            </a:r>
            <a:r>
              <a:rPr lang="en-US" sz="2800" dirty="0"/>
              <a:t>method is responsible for loading a file located at the given path with the specified </a:t>
            </a:r>
            <a:r>
              <a:rPr lang="en-US" sz="2800" dirty="0" err="1"/>
              <a:t>file_name</a:t>
            </a:r>
            <a:r>
              <a:rPr lang="en-US" sz="2800" dirty="0"/>
              <a:t>. The method signature indicates that the method should return a </a:t>
            </a:r>
            <a:r>
              <a:rPr lang="en-US" sz="2800" dirty="0" err="1"/>
              <a:t>str</a:t>
            </a:r>
            <a:r>
              <a:rPr lang="en-US" sz="2800" dirty="0"/>
              <a:t> value</a:t>
            </a:r>
            <a:r>
              <a:rPr lang="en-US" sz="2800" dirty="0" smtClean="0"/>
              <a:t>.</a:t>
            </a:r>
            <a:endParaRPr lang="en-US" sz="2800" dirty="0"/>
          </a:p>
        </p:txBody>
      </p:sp>
    </p:spTree>
    <p:extLst>
      <p:ext uri="{BB962C8B-B14F-4D97-AF65-F5344CB8AC3E}">
        <p14:creationId xmlns:p14="http://schemas.microsoft.com/office/powerpoint/2010/main" val="165388770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483209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The second method, </a:t>
            </a:r>
            <a:r>
              <a:rPr lang="en-US" sz="2800" dirty="0" err="1"/>
              <a:t>extract_text</a:t>
            </a:r>
            <a:r>
              <a:rPr lang="en-US" sz="2800" dirty="0"/>
              <a:t>, takes in one argument: </a:t>
            </a:r>
            <a:r>
              <a:rPr lang="en-US" sz="2800" dirty="0" err="1"/>
              <a:t>full_file_name</a:t>
            </a:r>
            <a:r>
              <a:rPr lang="en-US" sz="2800" dirty="0"/>
              <a:t>, which is also of type str. </a:t>
            </a:r>
            <a:endParaRPr lang="en-US" sz="2800" dirty="0" smtClean="0"/>
          </a:p>
          <a:p>
            <a:pPr marL="457200" indent="-457200" algn="just">
              <a:buFont typeface="Arial" panose="020B0604020202020204" pitchFamily="34" charset="0"/>
              <a:buChar char="•"/>
            </a:pPr>
            <a:r>
              <a:rPr lang="en-US" sz="2800" dirty="0" smtClean="0"/>
              <a:t>This </a:t>
            </a:r>
            <a:r>
              <a:rPr lang="en-US" sz="2800" dirty="0"/>
              <a:t>method is responsible for extracting text from the file specified by </a:t>
            </a:r>
            <a:r>
              <a:rPr lang="en-US" sz="2800" dirty="0" err="1"/>
              <a:t>full_file_name</a:t>
            </a:r>
            <a:r>
              <a:rPr lang="en-US" sz="2800" dirty="0"/>
              <a:t>, which has already been loaded into the class instance. </a:t>
            </a:r>
            <a:endParaRPr lang="en-US" sz="2800" dirty="0" smtClean="0"/>
          </a:p>
          <a:p>
            <a:pPr marL="457200" indent="-457200" algn="just">
              <a:buFont typeface="Arial" panose="020B0604020202020204" pitchFamily="34" charset="0"/>
              <a:buChar char="•"/>
            </a:pPr>
            <a:r>
              <a:rPr lang="en-US" sz="2800" dirty="0" smtClean="0"/>
              <a:t>The </a:t>
            </a:r>
            <a:r>
              <a:rPr lang="en-US" sz="2800" dirty="0"/>
              <a:t>method signature indicates that the method should return a </a:t>
            </a:r>
            <a:r>
              <a:rPr lang="en-US" sz="2800" dirty="0" err="1"/>
              <a:t>dict</a:t>
            </a:r>
            <a:r>
              <a:rPr lang="en-US" sz="2800" dirty="0"/>
              <a:t> value.</a:t>
            </a:r>
          </a:p>
          <a:p>
            <a:pPr marL="457200" indent="-457200" algn="just">
              <a:buFont typeface="Arial" panose="020B0604020202020204" pitchFamily="34" charset="0"/>
              <a:buChar char="•"/>
            </a:pPr>
            <a:r>
              <a:rPr lang="en-US" sz="2800" dirty="0" smtClean="0"/>
              <a:t>As </a:t>
            </a:r>
            <a:r>
              <a:rPr lang="en-US" sz="2800" dirty="0"/>
              <a:t>you notice, we only define these methods but not implemented. These methods will be implemented when we create the concrete classes that inherit from </a:t>
            </a:r>
            <a:r>
              <a:rPr lang="en-US" sz="2800" dirty="0" err="1"/>
              <a:t>InformalParserInterface</a:t>
            </a:r>
            <a:r>
              <a:rPr lang="en-US" sz="2800" dirty="0" smtClean="0"/>
              <a:t>.</a:t>
            </a:r>
            <a:endParaRPr lang="en-US" sz="2800" dirty="0"/>
          </a:p>
        </p:txBody>
      </p:sp>
    </p:spTree>
    <p:extLst>
      <p:ext uri="{BB962C8B-B14F-4D97-AF65-F5344CB8AC3E}">
        <p14:creationId xmlns:p14="http://schemas.microsoft.com/office/powerpoint/2010/main" val="244882398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224676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smtClean="0"/>
              <a:t>Now</a:t>
            </a:r>
            <a:r>
              <a:rPr lang="en-US" sz="2800" dirty="0"/>
              <a:t>, we will define the two classes that implement the </a:t>
            </a:r>
            <a:r>
              <a:rPr lang="en-US" sz="2800" dirty="0" err="1"/>
              <a:t>InformalParserInterface</a:t>
            </a:r>
            <a:r>
              <a:rPr lang="en-US" sz="2800" dirty="0"/>
              <a:t>. </a:t>
            </a:r>
            <a:endParaRPr lang="en-US" sz="2800" dirty="0" smtClean="0"/>
          </a:p>
          <a:p>
            <a:pPr marL="457200" indent="-457200" algn="just">
              <a:buFont typeface="Arial" panose="020B0604020202020204" pitchFamily="34" charset="0"/>
              <a:buChar char="•"/>
            </a:pPr>
            <a:r>
              <a:rPr lang="en-US" sz="2800" dirty="0" smtClean="0"/>
              <a:t>To </a:t>
            </a:r>
            <a:r>
              <a:rPr lang="en-US" sz="2800" dirty="0"/>
              <a:t>use this, we must implement the concrete class. A concrete class must inherit the interface that we that provide an implementation of the interface's method.</a:t>
            </a:r>
          </a:p>
        </p:txBody>
      </p:sp>
    </p:spTree>
    <p:extLst>
      <p:ext uri="{BB962C8B-B14F-4D97-AF65-F5344CB8AC3E}">
        <p14:creationId xmlns:p14="http://schemas.microsoft.com/office/powerpoint/2010/main" val="216431585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Interface</a:t>
            </a:r>
            <a:endParaRPr lang="en-US" sz="4000" dirty="0"/>
          </a:p>
        </p:txBody>
      </p:sp>
      <p:sp>
        <p:nvSpPr>
          <p:cNvPr id="4" name="TextBox 3"/>
          <p:cNvSpPr txBox="1"/>
          <p:nvPr/>
        </p:nvSpPr>
        <p:spPr>
          <a:xfrm>
            <a:off x="228600" y="838200"/>
            <a:ext cx="8763000" cy="5355312"/>
          </a:xfrm>
          <a:prstGeom prst="rect">
            <a:avLst/>
          </a:prstGeom>
          <a:noFill/>
        </p:spPr>
        <p:txBody>
          <a:bodyPr wrap="square" rtlCol="0">
            <a:spAutoFit/>
          </a:bodyPr>
          <a:lstStyle/>
          <a:p>
            <a:r>
              <a:rPr lang="en-IN" b="1" dirty="0"/>
              <a:t>class</a:t>
            </a:r>
            <a:r>
              <a:rPr lang="en-IN" dirty="0"/>
              <a:t> </a:t>
            </a:r>
            <a:r>
              <a:rPr lang="en-IN" dirty="0" err="1"/>
              <a:t>PdfParser</a:t>
            </a:r>
            <a:r>
              <a:rPr lang="en-IN" dirty="0"/>
              <a:t>(</a:t>
            </a:r>
            <a:r>
              <a:rPr lang="en-IN" dirty="0" err="1"/>
              <a:t>TextExtractor</a:t>
            </a:r>
            <a:r>
              <a:rPr lang="en-IN" dirty="0"/>
              <a:t>):  </a:t>
            </a:r>
          </a:p>
          <a:p>
            <a:r>
              <a:rPr lang="en-IN" dirty="0"/>
              <a:t>      </a:t>
            </a:r>
          </a:p>
          <a:p>
            <a:r>
              <a:rPr lang="en-IN" dirty="0"/>
              <a:t>      """Extract text from a PDF"""  </a:t>
            </a:r>
          </a:p>
          <a:p>
            <a:r>
              <a:rPr lang="en-IN" dirty="0"/>
              <a:t>    </a:t>
            </a:r>
            <a:r>
              <a:rPr lang="en-IN" b="1" dirty="0" err="1"/>
              <a:t>def</a:t>
            </a:r>
            <a:r>
              <a:rPr lang="en-IN" dirty="0"/>
              <a:t> </a:t>
            </a:r>
            <a:r>
              <a:rPr lang="en-IN" dirty="0" err="1"/>
              <a:t>load_data_source</a:t>
            </a:r>
            <a:r>
              <a:rPr lang="en-IN" dirty="0"/>
              <a:t>(self, path: </a:t>
            </a:r>
            <a:r>
              <a:rPr lang="en-IN" dirty="0" err="1"/>
              <a:t>str</a:t>
            </a:r>
            <a:r>
              <a:rPr lang="en-IN" dirty="0"/>
              <a:t>, </a:t>
            </a:r>
            <a:r>
              <a:rPr lang="en-IN" dirty="0" err="1"/>
              <a:t>file_name</a:t>
            </a:r>
            <a:r>
              <a:rPr lang="en-IN" dirty="0"/>
              <a:t>: </a:t>
            </a:r>
            <a:r>
              <a:rPr lang="en-IN" dirty="0" err="1"/>
              <a:t>str</a:t>
            </a:r>
            <a:r>
              <a:rPr lang="en-IN" dirty="0"/>
              <a:t>) -&gt; </a:t>
            </a:r>
            <a:r>
              <a:rPr lang="en-IN" dirty="0" err="1"/>
              <a:t>str</a:t>
            </a:r>
            <a:r>
              <a:rPr lang="en-IN" dirty="0"/>
              <a:t>:  </a:t>
            </a:r>
          </a:p>
          <a:p>
            <a:r>
              <a:rPr lang="en-IN" dirty="0"/>
              <a:t>        """Overrides </a:t>
            </a:r>
            <a:r>
              <a:rPr lang="en-IN" dirty="0" err="1"/>
              <a:t>InformalParserInterface.load_data_source</a:t>
            </a:r>
            <a:r>
              <a:rPr lang="en-IN" dirty="0"/>
              <a:t>()"""  </a:t>
            </a:r>
          </a:p>
          <a:p>
            <a:r>
              <a:rPr lang="en-IN" dirty="0"/>
              <a:t>        </a:t>
            </a:r>
            <a:r>
              <a:rPr lang="en-IN" b="1" dirty="0"/>
              <a:t>pass</a:t>
            </a:r>
            <a:r>
              <a:rPr lang="en-IN" dirty="0"/>
              <a:t>  </a:t>
            </a:r>
          </a:p>
          <a:p>
            <a:r>
              <a:rPr lang="en-IN" dirty="0"/>
              <a:t>  </a:t>
            </a:r>
          </a:p>
          <a:p>
            <a:r>
              <a:rPr lang="en-IN" dirty="0"/>
              <a:t>    </a:t>
            </a:r>
            <a:r>
              <a:rPr lang="en-IN" b="1" dirty="0" err="1"/>
              <a:t>def</a:t>
            </a:r>
            <a:r>
              <a:rPr lang="en-IN" dirty="0"/>
              <a:t> </a:t>
            </a:r>
            <a:r>
              <a:rPr lang="en-IN" dirty="0" err="1"/>
              <a:t>extract_text</a:t>
            </a:r>
            <a:r>
              <a:rPr lang="en-IN" dirty="0"/>
              <a:t>(self, </a:t>
            </a:r>
            <a:r>
              <a:rPr lang="en-IN" dirty="0" err="1"/>
              <a:t>file_path</a:t>
            </a:r>
            <a:r>
              <a:rPr lang="en-IN" dirty="0"/>
              <a:t>):  </a:t>
            </a:r>
          </a:p>
          <a:p>
            <a:r>
              <a:rPr lang="en-IN" dirty="0"/>
              <a:t>        # implementation for extracting text from PDF files  </a:t>
            </a:r>
          </a:p>
          <a:p>
            <a:r>
              <a:rPr lang="en-IN" dirty="0"/>
              <a:t>        </a:t>
            </a:r>
            <a:r>
              <a:rPr lang="en-IN" b="1" dirty="0"/>
              <a:t>pass</a:t>
            </a:r>
            <a:r>
              <a:rPr lang="en-IN" dirty="0"/>
              <a:t>  </a:t>
            </a:r>
          </a:p>
          <a:p>
            <a:r>
              <a:rPr lang="en-IN" dirty="0"/>
              <a:t>  </a:t>
            </a:r>
          </a:p>
          <a:p>
            <a:r>
              <a:rPr lang="en-IN" b="1" dirty="0"/>
              <a:t>class</a:t>
            </a:r>
            <a:r>
              <a:rPr lang="en-IN" dirty="0"/>
              <a:t> </a:t>
            </a:r>
            <a:r>
              <a:rPr lang="en-IN" dirty="0" err="1"/>
              <a:t>EmlParser</a:t>
            </a:r>
            <a:r>
              <a:rPr lang="en-IN" dirty="0"/>
              <a:t>(</a:t>
            </a:r>
            <a:r>
              <a:rPr lang="en-IN" dirty="0" err="1"/>
              <a:t>TextExtractor</a:t>
            </a:r>
            <a:r>
              <a:rPr lang="en-IN" dirty="0"/>
              <a:t>):  </a:t>
            </a:r>
          </a:p>
          <a:p>
            <a:r>
              <a:rPr lang="en-IN" dirty="0"/>
              <a:t>     """Extract text from a PDF"""  </a:t>
            </a:r>
          </a:p>
          <a:p>
            <a:r>
              <a:rPr lang="en-IN" dirty="0"/>
              <a:t>    </a:t>
            </a:r>
            <a:r>
              <a:rPr lang="en-IN" b="1" dirty="0" err="1"/>
              <a:t>def</a:t>
            </a:r>
            <a:r>
              <a:rPr lang="en-IN" dirty="0"/>
              <a:t> </a:t>
            </a:r>
            <a:r>
              <a:rPr lang="en-IN" dirty="0" err="1"/>
              <a:t>load_data_source</a:t>
            </a:r>
            <a:r>
              <a:rPr lang="en-IN" dirty="0"/>
              <a:t>(self, path: </a:t>
            </a:r>
            <a:r>
              <a:rPr lang="en-IN" dirty="0" err="1"/>
              <a:t>str</a:t>
            </a:r>
            <a:r>
              <a:rPr lang="en-IN" dirty="0"/>
              <a:t>, </a:t>
            </a:r>
            <a:r>
              <a:rPr lang="en-IN" dirty="0" err="1"/>
              <a:t>file_name</a:t>
            </a:r>
            <a:r>
              <a:rPr lang="en-IN" dirty="0"/>
              <a:t>: </a:t>
            </a:r>
            <a:r>
              <a:rPr lang="en-IN" dirty="0" err="1"/>
              <a:t>str</a:t>
            </a:r>
            <a:r>
              <a:rPr lang="en-IN" dirty="0"/>
              <a:t>) -&gt; </a:t>
            </a:r>
            <a:r>
              <a:rPr lang="en-IN" dirty="0" err="1"/>
              <a:t>str</a:t>
            </a:r>
            <a:r>
              <a:rPr lang="en-IN" dirty="0"/>
              <a:t>:  </a:t>
            </a:r>
          </a:p>
          <a:p>
            <a:r>
              <a:rPr lang="en-IN" dirty="0"/>
              <a:t>        """Overrides </a:t>
            </a:r>
            <a:r>
              <a:rPr lang="en-IN" dirty="0" err="1"/>
              <a:t>InformalParserInterface.load_data_source</a:t>
            </a:r>
            <a:r>
              <a:rPr lang="en-IN" dirty="0"/>
              <a:t>()"""  </a:t>
            </a:r>
          </a:p>
          <a:p>
            <a:r>
              <a:rPr lang="en-IN" dirty="0"/>
              <a:t>        </a:t>
            </a:r>
            <a:r>
              <a:rPr lang="en-IN" b="1" dirty="0"/>
              <a:t>pass</a:t>
            </a:r>
            <a:r>
              <a:rPr lang="en-IN" dirty="0"/>
              <a:t>  </a:t>
            </a:r>
          </a:p>
          <a:p>
            <a:r>
              <a:rPr lang="en-IN" dirty="0"/>
              <a:t>    </a:t>
            </a:r>
            <a:r>
              <a:rPr lang="en-IN" b="1" dirty="0" err="1"/>
              <a:t>def</a:t>
            </a:r>
            <a:r>
              <a:rPr lang="en-IN" dirty="0"/>
              <a:t> </a:t>
            </a:r>
            <a:r>
              <a:rPr lang="en-IN" dirty="0" err="1"/>
              <a:t>extract_email_text</a:t>
            </a:r>
            <a:r>
              <a:rPr lang="en-IN" dirty="0"/>
              <a:t>(self, </a:t>
            </a:r>
            <a:r>
              <a:rPr lang="en-IN" dirty="0" err="1"/>
              <a:t>file_path</a:t>
            </a:r>
            <a:r>
              <a:rPr lang="en-IN" dirty="0"/>
              <a:t>):  </a:t>
            </a:r>
          </a:p>
          <a:p>
            <a:r>
              <a:rPr lang="en-IN" dirty="0"/>
              <a:t>        # implementation for extracting text from </a:t>
            </a:r>
            <a:r>
              <a:rPr lang="en-IN" dirty="0" err="1"/>
              <a:t>EML</a:t>
            </a:r>
            <a:r>
              <a:rPr lang="en-IN" dirty="0"/>
              <a:t> files  </a:t>
            </a:r>
          </a:p>
          <a:p>
            <a:r>
              <a:rPr lang="en-IN" dirty="0"/>
              <a:t>        </a:t>
            </a:r>
            <a:r>
              <a:rPr lang="en-IN" b="1" dirty="0"/>
              <a:t>pass</a:t>
            </a:r>
            <a:r>
              <a:rPr lang="en-IN" dirty="0"/>
              <a:t>  </a:t>
            </a:r>
          </a:p>
        </p:txBody>
      </p:sp>
    </p:spTree>
    <p:extLst>
      <p:ext uri="{BB962C8B-B14F-4D97-AF65-F5344CB8AC3E}">
        <p14:creationId xmlns:p14="http://schemas.microsoft.com/office/powerpoint/2010/main" val="8741294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Abstract Class</a:t>
            </a:r>
            <a:endParaRPr lang="en-US" sz="4000" dirty="0"/>
          </a:p>
        </p:txBody>
      </p:sp>
      <p:sp>
        <p:nvSpPr>
          <p:cNvPr id="4" name="TextBox 3"/>
          <p:cNvSpPr txBox="1"/>
          <p:nvPr/>
        </p:nvSpPr>
        <p:spPr>
          <a:xfrm>
            <a:off x="228600" y="838200"/>
            <a:ext cx="8763000" cy="5262979"/>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t>An abstract class is the class which contains one or more abstract methods. </a:t>
            </a:r>
            <a:endParaRPr lang="en-US" sz="2800" dirty="0" smtClean="0"/>
          </a:p>
          <a:p>
            <a:pPr marL="457200" indent="-457200" algn="just">
              <a:buFont typeface="Arial" panose="020B0604020202020204" pitchFamily="34" charset="0"/>
              <a:buChar char="•"/>
            </a:pPr>
            <a:r>
              <a:rPr lang="en-US" sz="2800" dirty="0" smtClean="0"/>
              <a:t>An </a:t>
            </a:r>
            <a:r>
              <a:rPr lang="en-US" sz="2800" dirty="0"/>
              <a:t>abstract method is the one which is just defined but not implemented</a:t>
            </a:r>
            <a:r>
              <a:rPr lang="en-US" sz="2800" dirty="0" smtClean="0"/>
              <a:t>.</a:t>
            </a:r>
            <a:endParaRPr lang="en-US" sz="2800" dirty="0"/>
          </a:p>
          <a:p>
            <a:pPr marL="457200" indent="-457200" algn="just">
              <a:buFont typeface="Arial" panose="020B0604020202020204" pitchFamily="34" charset="0"/>
              <a:buChar char="•"/>
            </a:pPr>
            <a:r>
              <a:rPr lang="en-US" sz="2800" dirty="0"/>
              <a:t>The above statements may seem unclear with the new terms</a:t>
            </a:r>
            <a:r>
              <a:rPr lang="en-US" sz="2800" dirty="0" smtClean="0"/>
              <a:t>.</a:t>
            </a:r>
          </a:p>
          <a:p>
            <a:pPr marL="457200" indent="-457200" algn="just">
              <a:buFont typeface="Arial" panose="020B0604020202020204" pitchFamily="34" charset="0"/>
              <a:buChar char="•"/>
            </a:pPr>
            <a:endParaRPr lang="en-US" sz="2800" dirty="0"/>
          </a:p>
          <a:p>
            <a:pPr algn="just"/>
            <a:r>
              <a:rPr lang="en-US" sz="2800" b="1" dirty="0"/>
              <a:t>Types of Methods in Python:</a:t>
            </a:r>
          </a:p>
          <a:p>
            <a:pPr marL="457200" indent="-457200" algn="just">
              <a:buFont typeface="Arial" panose="020B0604020202020204" pitchFamily="34" charset="0"/>
              <a:buChar char="•"/>
            </a:pPr>
            <a:r>
              <a:rPr lang="en-US" sz="2800" dirty="0"/>
              <a:t>Based on the implementation the methods can be divided into two types:</a:t>
            </a:r>
          </a:p>
          <a:p>
            <a:pPr marL="914400" lvl="1" indent="-457200" algn="just">
              <a:buFont typeface="Arial" panose="020B0604020202020204" pitchFamily="34" charset="0"/>
              <a:buChar char="•"/>
            </a:pPr>
            <a:r>
              <a:rPr lang="en-US" sz="2800" dirty="0" smtClean="0"/>
              <a:t>Implemented </a:t>
            </a:r>
            <a:r>
              <a:rPr lang="en-US" sz="2800" dirty="0"/>
              <a:t>methods.</a:t>
            </a:r>
          </a:p>
          <a:p>
            <a:pPr marL="914400" lvl="1" indent="-457200" algn="just">
              <a:buFont typeface="Arial" panose="020B0604020202020204" pitchFamily="34" charset="0"/>
              <a:buChar char="•"/>
            </a:pPr>
            <a:r>
              <a:rPr lang="en-US" sz="2800" dirty="0"/>
              <a:t>Un-implemented method.</a:t>
            </a:r>
          </a:p>
        </p:txBody>
      </p:sp>
    </p:spTree>
    <p:extLst>
      <p:ext uri="{BB962C8B-B14F-4D97-AF65-F5344CB8AC3E}">
        <p14:creationId xmlns:p14="http://schemas.microsoft.com/office/powerpoint/2010/main" val="2830498994"/>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Abstract Class</a:t>
            </a:r>
            <a:endParaRPr lang="en-US" sz="4000" dirty="0"/>
          </a:p>
        </p:txBody>
      </p:sp>
      <p:sp>
        <p:nvSpPr>
          <p:cNvPr id="4" name="TextBox 3"/>
          <p:cNvSpPr txBox="1"/>
          <p:nvPr/>
        </p:nvSpPr>
        <p:spPr>
          <a:xfrm>
            <a:off x="228600" y="838200"/>
            <a:ext cx="8763000" cy="3970318"/>
          </a:xfrm>
          <a:prstGeom prst="rect">
            <a:avLst/>
          </a:prstGeom>
          <a:noFill/>
        </p:spPr>
        <p:txBody>
          <a:bodyPr wrap="square" rtlCol="0">
            <a:spAutoFit/>
          </a:bodyPr>
          <a:lstStyle/>
          <a:p>
            <a:pPr algn="just"/>
            <a:r>
              <a:rPr lang="en-US" sz="2800" b="1" dirty="0" smtClean="0"/>
              <a:t>Implemented </a:t>
            </a:r>
            <a:r>
              <a:rPr lang="en-US" sz="2800" b="1" dirty="0"/>
              <a:t>methods:</a:t>
            </a:r>
          </a:p>
          <a:p>
            <a:pPr marL="914400" lvl="1" indent="-457200" algn="just">
              <a:buFont typeface="Arial" panose="020B0604020202020204" pitchFamily="34" charset="0"/>
              <a:buChar char="•"/>
            </a:pPr>
            <a:r>
              <a:rPr lang="en-US" sz="2800" dirty="0"/>
              <a:t>A method which has a both method name and method body, that method is called an implemented method. </a:t>
            </a:r>
            <a:endParaRPr lang="en-US" sz="2800" dirty="0" smtClean="0"/>
          </a:p>
          <a:p>
            <a:pPr marL="914400" lvl="1" indent="-457200" algn="just">
              <a:buFont typeface="Arial" panose="020B0604020202020204" pitchFamily="34" charset="0"/>
              <a:buChar char="•"/>
            </a:pPr>
            <a:r>
              <a:rPr lang="en-US" sz="2800" dirty="0" smtClean="0"/>
              <a:t>They </a:t>
            </a:r>
            <a:r>
              <a:rPr lang="en-US" sz="2800" dirty="0"/>
              <a:t>are also called concrete methods or non-abstract methods. </a:t>
            </a:r>
            <a:endParaRPr lang="en-US" sz="2800" dirty="0" smtClean="0"/>
          </a:p>
          <a:p>
            <a:pPr marL="914400" lvl="1" indent="-457200" algn="just">
              <a:buFont typeface="Arial" panose="020B0604020202020204" pitchFamily="34" charset="0"/>
              <a:buChar char="•"/>
            </a:pPr>
            <a:r>
              <a:rPr lang="en-US" sz="2800" dirty="0" smtClean="0"/>
              <a:t>The </a:t>
            </a:r>
            <a:r>
              <a:rPr lang="en-US" sz="2800" dirty="0"/>
              <a:t>methods which we have seen in the previous chapters are implemented </a:t>
            </a:r>
            <a:r>
              <a:rPr lang="en-US" sz="2800" dirty="0" err="1"/>
              <a:t>i.e</a:t>
            </a:r>
            <a:r>
              <a:rPr lang="en-US" sz="2800" dirty="0"/>
              <a:t> having method name and body as well</a:t>
            </a:r>
            <a:r>
              <a:rPr lang="en-US" sz="2800" dirty="0" smtClean="0"/>
              <a:t>.</a:t>
            </a:r>
            <a:endParaRPr lang="en-US" sz="2800" dirty="0"/>
          </a:p>
        </p:txBody>
      </p:sp>
    </p:spTree>
    <p:extLst>
      <p:ext uri="{BB962C8B-B14F-4D97-AF65-F5344CB8AC3E}">
        <p14:creationId xmlns:p14="http://schemas.microsoft.com/office/powerpoint/2010/main" val="217624654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Abstract Class</a:t>
            </a:r>
            <a:endParaRPr lang="en-US" sz="4000" dirty="0"/>
          </a:p>
        </p:txBody>
      </p:sp>
      <p:sp>
        <p:nvSpPr>
          <p:cNvPr id="4" name="TextBox 3"/>
          <p:cNvSpPr txBox="1"/>
          <p:nvPr/>
        </p:nvSpPr>
        <p:spPr>
          <a:xfrm>
            <a:off x="228600" y="838200"/>
            <a:ext cx="8763000" cy="3970318"/>
          </a:xfrm>
          <a:prstGeom prst="rect">
            <a:avLst/>
          </a:prstGeom>
          <a:noFill/>
        </p:spPr>
        <p:txBody>
          <a:bodyPr wrap="square" rtlCol="0">
            <a:spAutoFit/>
          </a:bodyPr>
          <a:lstStyle/>
          <a:p>
            <a:pPr algn="just"/>
            <a:r>
              <a:rPr lang="en-US" sz="2800" b="1" dirty="0"/>
              <a:t>Un-implemented methods:</a:t>
            </a:r>
          </a:p>
          <a:p>
            <a:pPr marL="914400" lvl="1" indent="-457200" algn="just">
              <a:buFont typeface="Arial" panose="020B0604020202020204" pitchFamily="34" charset="0"/>
              <a:buChar char="•"/>
            </a:pPr>
            <a:r>
              <a:rPr lang="en-US" sz="2800" dirty="0"/>
              <a:t>A method which has only method name and no method body, that method is called an unimplemented method. </a:t>
            </a:r>
            <a:endParaRPr lang="en-US" sz="2800" dirty="0" smtClean="0"/>
          </a:p>
          <a:p>
            <a:pPr marL="914400" lvl="1" indent="-457200" algn="just">
              <a:buFont typeface="Arial" panose="020B0604020202020204" pitchFamily="34" charset="0"/>
              <a:buChar char="•"/>
            </a:pPr>
            <a:r>
              <a:rPr lang="en-US" sz="2800" dirty="0" smtClean="0"/>
              <a:t>They </a:t>
            </a:r>
            <a:r>
              <a:rPr lang="en-US" sz="2800" dirty="0"/>
              <a:t>are also called as non-concrete or abstract methods</a:t>
            </a:r>
            <a:r>
              <a:rPr lang="en-US" sz="2800" dirty="0" smtClean="0"/>
              <a:t>.</a:t>
            </a:r>
            <a:endParaRPr lang="en-US" sz="2800" dirty="0"/>
          </a:p>
          <a:p>
            <a:pPr algn="just"/>
            <a:r>
              <a:rPr lang="en-US" sz="2800" b="1" dirty="0"/>
              <a:t>How to declare an abstract method in Python:</a:t>
            </a:r>
          </a:p>
          <a:p>
            <a:pPr algn="just"/>
            <a:r>
              <a:rPr lang="en-US" sz="2800" dirty="0" smtClean="0"/>
              <a:t>	Abstract </a:t>
            </a:r>
            <a:r>
              <a:rPr lang="en-US" sz="2800" dirty="0"/>
              <a:t>methods, in python, are declared by using @</a:t>
            </a:r>
            <a:r>
              <a:rPr lang="en-US" sz="2800" dirty="0" err="1"/>
              <a:t>abstractmethod</a:t>
            </a:r>
            <a:r>
              <a:rPr lang="en-US" sz="2800" dirty="0"/>
              <a:t> decorator</a:t>
            </a:r>
            <a:r>
              <a:rPr lang="en-US" sz="2800" dirty="0" smtClean="0"/>
              <a:t>.</a:t>
            </a:r>
          </a:p>
        </p:txBody>
      </p:sp>
      <p:pic>
        <p:nvPicPr>
          <p:cNvPr id="5" name="Picture 4"/>
          <p:cNvPicPr>
            <a:picLocks noChangeAspect="1"/>
          </p:cNvPicPr>
          <p:nvPr/>
        </p:nvPicPr>
        <p:blipFill>
          <a:blip r:embed="rId2"/>
          <a:stretch>
            <a:fillRect/>
          </a:stretch>
        </p:blipFill>
        <p:spPr>
          <a:xfrm>
            <a:off x="3124200" y="4989493"/>
            <a:ext cx="3314700" cy="1466850"/>
          </a:xfrm>
          <a:prstGeom prst="rect">
            <a:avLst/>
          </a:prstGeom>
        </p:spPr>
      </p:pic>
    </p:spTree>
    <p:extLst>
      <p:ext uri="{BB962C8B-B14F-4D97-AF65-F5344CB8AC3E}">
        <p14:creationId xmlns:p14="http://schemas.microsoft.com/office/powerpoint/2010/main" val="178336242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76200"/>
            <a:ext cx="9144000" cy="914400"/>
          </a:xfrm>
        </p:spPr>
        <p:txBody>
          <a:bodyPr>
            <a:normAutofit/>
          </a:bodyPr>
          <a:lstStyle/>
          <a:p>
            <a:r>
              <a:rPr lang="en-US" sz="4000" b="1" dirty="0" smtClean="0"/>
              <a:t>Abstract Class</a:t>
            </a:r>
            <a:endParaRPr lang="en-US" sz="4000" dirty="0"/>
          </a:p>
        </p:txBody>
      </p:sp>
      <p:sp>
        <p:nvSpPr>
          <p:cNvPr id="4" name="TextBox 3"/>
          <p:cNvSpPr txBox="1"/>
          <p:nvPr/>
        </p:nvSpPr>
        <p:spPr>
          <a:xfrm>
            <a:off x="228600" y="838200"/>
            <a:ext cx="8763000" cy="1815882"/>
          </a:xfrm>
          <a:prstGeom prst="rect">
            <a:avLst/>
          </a:prstGeom>
          <a:noFill/>
        </p:spPr>
        <p:txBody>
          <a:bodyPr wrap="square" rtlCol="0">
            <a:spAutoFit/>
          </a:bodyPr>
          <a:lstStyle/>
          <a:p>
            <a:pPr algn="just"/>
            <a:r>
              <a:rPr lang="en-US" sz="2800" dirty="0" smtClean="0"/>
              <a:t>In above example </a:t>
            </a:r>
          </a:p>
          <a:p>
            <a:pPr algn="just"/>
            <a:r>
              <a:rPr lang="en-US" sz="2800" dirty="0"/>
              <a:t>	</a:t>
            </a:r>
            <a:r>
              <a:rPr lang="en-US" sz="2800" dirty="0" smtClean="0"/>
              <a:t>Method </a:t>
            </a:r>
            <a:r>
              <a:rPr lang="en-US" sz="2800" dirty="0"/>
              <a:t>‘one’ is abstract method. Method ‘two’ is non-abstract method. Since one abstract method is present in class ‘Demo’, it is called Abstract class</a:t>
            </a:r>
            <a:endParaRPr lang="en-US" sz="2800" dirty="0" smtClean="0"/>
          </a:p>
        </p:txBody>
      </p:sp>
    </p:spTree>
    <p:extLst>
      <p:ext uri="{BB962C8B-B14F-4D97-AF65-F5344CB8AC3E}">
        <p14:creationId xmlns:p14="http://schemas.microsoft.com/office/powerpoint/2010/main" val="336676904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457200"/>
            <a:ext cx="3686175" cy="103822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5485</TotalTime>
  <Words>5691</Words>
  <Application>Microsoft Office PowerPoint</Application>
  <PresentationFormat>On-screen Show (4:3)</PresentationFormat>
  <Paragraphs>1050</Paragraphs>
  <Slides>109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109</vt:i4>
      </vt:variant>
    </vt:vector>
  </HeadingPairs>
  <TitlesOfParts>
    <vt:vector size="115" baseType="lpstr">
      <vt:lpstr>Arial</vt:lpstr>
      <vt:lpstr>Calibri</vt:lpstr>
      <vt:lpstr>Courier New</vt:lpstr>
      <vt:lpstr>inter-regular</vt:lpstr>
      <vt:lpstr>times new roman</vt:lpstr>
      <vt:lpstr>Office Theme</vt:lpstr>
      <vt:lpstr>Marwadi University Faculty of Computer Applications MCA Sem- II</vt:lpstr>
      <vt:lpstr>OOP in Python</vt:lpstr>
      <vt:lpstr>OOP in Python</vt:lpstr>
      <vt:lpstr>Class &amp; Object</vt:lpstr>
      <vt:lpstr>Class &amp; Object</vt:lpstr>
      <vt:lpstr>Class &amp; Object</vt:lpstr>
      <vt:lpstr>Class &amp; Object</vt:lpstr>
      <vt:lpstr>Class &amp; Object</vt:lpstr>
      <vt:lpstr>Recursive Function in Python</vt:lpstr>
      <vt:lpstr>Recursive Function in Python</vt:lpstr>
      <vt:lpstr>Advantages of Recursion</vt:lpstr>
      <vt:lpstr>Constructors</vt:lpstr>
      <vt:lpstr>Constructors</vt:lpstr>
      <vt:lpstr>Types of Constructors</vt:lpstr>
      <vt:lpstr>Default Constructor</vt:lpstr>
      <vt:lpstr>Default Constructor</vt:lpstr>
      <vt:lpstr>Non Parameterized Constructor</vt:lpstr>
      <vt:lpstr>Parameterized Constructor</vt:lpstr>
      <vt:lpstr>Examples</vt:lpstr>
      <vt:lpstr>Examples</vt:lpstr>
      <vt:lpstr>Examples</vt:lpstr>
      <vt:lpstr>Self in Python</vt:lpstr>
      <vt:lpstr>Self in Python</vt:lpstr>
      <vt:lpstr>Self in Python</vt:lpstr>
      <vt:lpstr>Instance variable in python</vt:lpstr>
      <vt:lpstr>Instance variable in python</vt:lpstr>
      <vt:lpstr>Instance variable in python</vt:lpstr>
      <vt:lpstr>Instance method in python</vt:lpstr>
      <vt:lpstr>Instance method in python</vt:lpstr>
      <vt:lpstr>Important Note :</vt:lpstr>
      <vt:lpstr>Class Variable in python</vt:lpstr>
      <vt:lpstr>Class Variable in python</vt:lpstr>
      <vt:lpstr>Class Variable in python</vt:lpstr>
      <vt:lpstr>Class Variable in python</vt:lpstr>
      <vt:lpstr>Class Variable in python</vt:lpstr>
      <vt:lpstr>Class Method in python</vt:lpstr>
      <vt:lpstr>Class Method in python</vt:lpstr>
      <vt:lpstr>Class Method in python</vt:lpstr>
      <vt:lpstr>Class Method in python</vt:lpstr>
      <vt:lpstr>Important Points</vt:lpstr>
      <vt:lpstr>Important Points</vt:lpstr>
      <vt:lpstr>Important Points</vt:lpstr>
      <vt:lpstr>Static methods in python</vt:lpstr>
      <vt:lpstr>Static methods in python</vt:lpstr>
      <vt:lpstr>Static methods in python</vt:lpstr>
      <vt:lpstr>Private variables and methods in python</vt:lpstr>
      <vt:lpstr>Private variables and methods in python</vt:lpstr>
      <vt:lpstr>Private variables and methods in python</vt:lpstr>
      <vt:lpstr>Private variables and methods in python</vt:lpstr>
      <vt:lpstr>Important Points</vt:lpstr>
      <vt:lpstr>Inner Class in python</vt:lpstr>
      <vt:lpstr>Inner Class in python</vt:lpstr>
      <vt:lpstr>Inner Class in python</vt:lpstr>
      <vt:lpstr>Inheritance</vt:lpstr>
      <vt:lpstr>Inheritance</vt:lpstr>
      <vt:lpstr>Inheritance</vt:lpstr>
      <vt:lpstr>Inheritance</vt:lpstr>
      <vt:lpstr>Multilevel Inheritance</vt:lpstr>
      <vt:lpstr>Multilevel Inheritance</vt:lpstr>
      <vt:lpstr>Multilevel Inheritance</vt:lpstr>
      <vt:lpstr>Multilevel Inheritance</vt:lpstr>
      <vt:lpstr>Multiple Inheritance</vt:lpstr>
      <vt:lpstr>Multilevel Inheritance</vt:lpstr>
      <vt:lpstr>Multilevel Inheritance</vt:lpstr>
      <vt:lpstr>Method Resolution Order (MRO)</vt:lpstr>
      <vt:lpstr>Method Resolution Order (MRO)</vt:lpstr>
      <vt:lpstr>Method Resolution Order (MRO)</vt:lpstr>
      <vt:lpstr>Method Overloading</vt:lpstr>
      <vt:lpstr>Method Overloading</vt:lpstr>
      <vt:lpstr>Method Overloading</vt:lpstr>
      <vt:lpstr>Method Overloading</vt:lpstr>
      <vt:lpstr>Method Overloading</vt:lpstr>
      <vt:lpstr>Method Overloading</vt:lpstr>
      <vt:lpstr>Method Overloading</vt:lpstr>
      <vt:lpstr>Method Overloading</vt:lpstr>
      <vt:lpstr>Operator Overloading</vt:lpstr>
      <vt:lpstr>Operator Overloading</vt:lpstr>
      <vt:lpstr>How to perform Operator Overloading</vt:lpstr>
      <vt:lpstr>How to perform Operator Overloading</vt:lpstr>
      <vt:lpstr>How to perform Binary + Operator Overloading</vt:lpstr>
      <vt:lpstr>How to perform Binary + Operator Overloading</vt:lpstr>
      <vt:lpstr>How to perform Binary + Operator Overloading</vt:lpstr>
      <vt:lpstr>How to perform Comparison Operator Overloading</vt:lpstr>
      <vt:lpstr>Operators and its magic functions</vt:lpstr>
      <vt:lpstr>Operators and its magic functions</vt:lpstr>
      <vt:lpstr>Operators and its magic functions</vt:lpstr>
      <vt:lpstr>Operators and its magic functions</vt:lpstr>
      <vt:lpstr>Method Overriding</vt:lpstr>
      <vt:lpstr>Method Overriding</vt:lpstr>
      <vt:lpstr>Method Overriding</vt:lpstr>
      <vt:lpstr>Method Overriding</vt:lpstr>
      <vt:lpstr>Method Overriding</vt:lpstr>
      <vt:lpstr>Use of Super</vt:lpstr>
      <vt:lpstr>Interface</vt:lpstr>
      <vt:lpstr>Interface</vt:lpstr>
      <vt:lpstr>Interface</vt:lpstr>
      <vt:lpstr>Interface</vt:lpstr>
      <vt:lpstr>Interface</vt:lpstr>
      <vt:lpstr>Interface</vt:lpstr>
      <vt:lpstr>Interface</vt:lpstr>
      <vt:lpstr>Interface</vt:lpstr>
      <vt:lpstr>Interface</vt:lpstr>
      <vt:lpstr>Interface</vt:lpstr>
      <vt:lpstr>Interface</vt:lpstr>
      <vt:lpstr>Abstract Class</vt:lpstr>
      <vt:lpstr>Abstract Class</vt:lpstr>
      <vt:lpstr>Abstract Class</vt:lpstr>
      <vt:lpstr>Abstract Class</vt:lpstr>
      <vt:lpstr>Thank You</vt:lpstr>
    </vt:vector>
  </TitlesOfParts>
  <Company>MEFGI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admin</cp:lastModifiedBy>
  <cp:revision>962</cp:revision>
  <dcterms:created xsi:type="dcterms:W3CDTF">2010-12-23T08:45:33Z</dcterms:created>
  <dcterms:modified xsi:type="dcterms:W3CDTF">2024-05-20T09:28:50Z</dcterms:modified>
</cp:coreProperties>
</file>