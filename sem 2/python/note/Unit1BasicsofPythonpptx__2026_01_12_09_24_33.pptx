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14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44.xml" ContentType="application/vnd.openxmlformats-officedocument.presentationml.slide+xml"/>
  <Override PartName="/ppt/slides/slide153.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11" r:id="rId4"/>
    <p:sldId id="309" r:id="rId5"/>
    <p:sldId id="313" r:id="rId6"/>
    <p:sldId id="314" r:id="rId7"/>
    <p:sldId id="315" r:id="rId8"/>
    <p:sldId id="316" r:id="rId9"/>
    <p:sldId id="317" r:id="rId10"/>
    <p:sldId id="318" r:id="rId11"/>
    <p:sldId id="319" r:id="rId12"/>
    <p:sldId id="320" r:id="rId13"/>
    <p:sldId id="321" r:id="rId14"/>
    <p:sldId id="322" r:id="rId15"/>
    <p:sldId id="327" r:id="rId16"/>
    <p:sldId id="328" r:id="rId17"/>
    <p:sldId id="329" r:id="rId18"/>
    <p:sldId id="330" r:id="rId19"/>
    <p:sldId id="331" r:id="rId20"/>
    <p:sldId id="332" r:id="rId21"/>
    <p:sldId id="333" r:id="rId22"/>
    <p:sldId id="334" r:id="rId23"/>
    <p:sldId id="335" r:id="rId24"/>
    <p:sldId id="336" r:id="rId25"/>
    <p:sldId id="337" r:id="rId26"/>
    <p:sldId id="338" r:id="rId27"/>
    <p:sldId id="339" r:id="rId28"/>
    <p:sldId id="340" r:id="rId29"/>
    <p:sldId id="341" r:id="rId30"/>
    <p:sldId id="342" r:id="rId31"/>
    <p:sldId id="351" r:id="rId32"/>
    <p:sldId id="352" r:id="rId33"/>
    <p:sldId id="353" r:id="rId34"/>
    <p:sldId id="354" r:id="rId35"/>
    <p:sldId id="365" r:id="rId36"/>
    <p:sldId id="366" r:id="rId37"/>
    <p:sldId id="343" r:id="rId38"/>
    <p:sldId id="344" r:id="rId39"/>
    <p:sldId id="345" r:id="rId40"/>
    <p:sldId id="346" r:id="rId41"/>
    <p:sldId id="347" r:id="rId42"/>
    <p:sldId id="348" r:id="rId43"/>
    <p:sldId id="349" r:id="rId44"/>
    <p:sldId id="350" r:id="rId45"/>
    <p:sldId id="355" r:id="rId46"/>
    <p:sldId id="356" r:id="rId47"/>
    <p:sldId id="367" r:id="rId48"/>
    <p:sldId id="368" r:id="rId49"/>
    <p:sldId id="369" r:id="rId50"/>
    <p:sldId id="370" r:id="rId51"/>
    <p:sldId id="371" r:id="rId52"/>
    <p:sldId id="372" r:id="rId53"/>
    <p:sldId id="373" r:id="rId54"/>
    <p:sldId id="357" r:id="rId55"/>
    <p:sldId id="358" r:id="rId56"/>
    <p:sldId id="359" r:id="rId57"/>
    <p:sldId id="360" r:id="rId58"/>
    <p:sldId id="361" r:id="rId59"/>
    <p:sldId id="362" r:id="rId60"/>
    <p:sldId id="363" r:id="rId61"/>
    <p:sldId id="364" r:id="rId62"/>
    <p:sldId id="374" r:id="rId63"/>
    <p:sldId id="375" r:id="rId64"/>
    <p:sldId id="376" r:id="rId65"/>
    <p:sldId id="377" r:id="rId66"/>
    <p:sldId id="378" r:id="rId67"/>
    <p:sldId id="379" r:id="rId68"/>
    <p:sldId id="380" r:id="rId69"/>
    <p:sldId id="381" r:id="rId70"/>
    <p:sldId id="382" r:id="rId71"/>
    <p:sldId id="383" r:id="rId72"/>
    <p:sldId id="384" r:id="rId73"/>
    <p:sldId id="385" r:id="rId74"/>
    <p:sldId id="386" r:id="rId75"/>
    <p:sldId id="387" r:id="rId76"/>
    <p:sldId id="388" r:id="rId77"/>
    <p:sldId id="389" r:id="rId78"/>
    <p:sldId id="390" r:id="rId79"/>
    <p:sldId id="391" r:id="rId80"/>
    <p:sldId id="392" r:id="rId81"/>
    <p:sldId id="393" r:id="rId82"/>
    <p:sldId id="394" r:id="rId83"/>
    <p:sldId id="395" r:id="rId84"/>
    <p:sldId id="396" r:id="rId85"/>
    <p:sldId id="397" r:id="rId86"/>
    <p:sldId id="398" r:id="rId87"/>
    <p:sldId id="399" r:id="rId88"/>
    <p:sldId id="400" r:id="rId89"/>
    <p:sldId id="401" r:id="rId90"/>
    <p:sldId id="402" r:id="rId91"/>
    <p:sldId id="403" r:id="rId92"/>
    <p:sldId id="404" r:id="rId93"/>
    <p:sldId id="405" r:id="rId94"/>
    <p:sldId id="406" r:id="rId95"/>
    <p:sldId id="407" r:id="rId96"/>
    <p:sldId id="408" r:id="rId97"/>
    <p:sldId id="409" r:id="rId98"/>
    <p:sldId id="410" r:id="rId99"/>
    <p:sldId id="411" r:id="rId100"/>
    <p:sldId id="412" r:id="rId101"/>
    <p:sldId id="413" r:id="rId102"/>
    <p:sldId id="414" r:id="rId103"/>
    <p:sldId id="415" r:id="rId104"/>
    <p:sldId id="416" r:id="rId105"/>
    <p:sldId id="417" r:id="rId106"/>
    <p:sldId id="418" r:id="rId107"/>
    <p:sldId id="419" r:id="rId108"/>
    <p:sldId id="420" r:id="rId109"/>
    <p:sldId id="421" r:id="rId110"/>
    <p:sldId id="422" r:id="rId111"/>
    <p:sldId id="423" r:id="rId112"/>
    <p:sldId id="424" r:id="rId113"/>
    <p:sldId id="425" r:id="rId114"/>
    <p:sldId id="426" r:id="rId115"/>
    <p:sldId id="427" r:id="rId116"/>
    <p:sldId id="428" r:id="rId117"/>
    <p:sldId id="429" r:id="rId118"/>
    <p:sldId id="430" r:id="rId119"/>
    <p:sldId id="431" r:id="rId120"/>
    <p:sldId id="432" r:id="rId121"/>
    <p:sldId id="433" r:id="rId122"/>
    <p:sldId id="434" r:id="rId123"/>
    <p:sldId id="435" r:id="rId124"/>
    <p:sldId id="436" r:id="rId125"/>
    <p:sldId id="437" r:id="rId126"/>
    <p:sldId id="438" r:id="rId127"/>
    <p:sldId id="439" r:id="rId128"/>
    <p:sldId id="440" r:id="rId129"/>
    <p:sldId id="441" r:id="rId130"/>
    <p:sldId id="442" r:id="rId131"/>
    <p:sldId id="443" r:id="rId132"/>
    <p:sldId id="444" r:id="rId133"/>
    <p:sldId id="445" r:id="rId134"/>
    <p:sldId id="446" r:id="rId135"/>
    <p:sldId id="447" r:id="rId136"/>
    <p:sldId id="448" r:id="rId137"/>
    <p:sldId id="449" r:id="rId138"/>
    <p:sldId id="450" r:id="rId139"/>
    <p:sldId id="451" r:id="rId140"/>
    <p:sldId id="452" r:id="rId141"/>
    <p:sldId id="453" r:id="rId142"/>
    <p:sldId id="454" r:id="rId143"/>
    <p:sldId id="455" r:id="rId144"/>
    <p:sldId id="456" r:id="rId145"/>
    <p:sldId id="457" r:id="rId146"/>
    <p:sldId id="458" r:id="rId147"/>
    <p:sldId id="459" r:id="rId148"/>
    <p:sldId id="460" r:id="rId149"/>
    <p:sldId id="461" r:id="rId150"/>
    <p:sldId id="462" r:id="rId151"/>
    <p:sldId id="463" r:id="rId152"/>
    <p:sldId id="464" r:id="rId153"/>
    <p:sldId id="465" r:id="rId154"/>
    <p:sldId id="466" r:id="rId155"/>
    <p:sldId id="467" r:id="rId156"/>
    <p:sldId id="468" r:id="rId157"/>
    <p:sldId id="469" r:id="rId158"/>
    <p:sldId id="470" r:id="rId159"/>
    <p:sldId id="308" r:id="rId1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588" autoAdjust="0"/>
    <p:restoredTop sz="94660"/>
  </p:normalViewPr>
  <p:slideViewPr>
    <p:cSldViewPr>
      <p:cViewPr varScale="1">
        <p:scale>
          <a:sx n="73" d="100"/>
          <a:sy n="73" d="100"/>
        </p:scale>
        <p:origin x="-1296"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2E0E06-AB51-44FC-A4D6-DF92655569FF}"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2E0E06-AB51-44FC-A4D6-DF92655569FF}"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2E0E06-AB51-44FC-A4D6-DF92655569FF}"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2E0E06-AB51-44FC-A4D6-DF92655569FF}"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2E0E06-AB51-44FC-A4D6-DF92655569FF}"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2E0E06-AB51-44FC-A4D6-DF92655569FF}"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BD71CF-1D88-4D5E-98E0-847C657C6BC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04800" y="3352800"/>
            <a:ext cx="84582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1295400"/>
            <a:ext cx="9144000" cy="1470025"/>
          </a:xfrm>
        </p:spPr>
        <p:txBody>
          <a:bodyPr>
            <a:normAutofit fontScale="90000"/>
          </a:bodyPr>
          <a:lstStyle/>
          <a:p>
            <a:r>
              <a:rPr lang="en-US" sz="3100" b="1" dirty="0" err="1"/>
              <a:t>Marwadi</a:t>
            </a:r>
            <a:r>
              <a:rPr lang="en-US" sz="3100" b="1" dirty="0"/>
              <a:t> </a:t>
            </a:r>
            <a:r>
              <a:rPr lang="en-US" sz="3100" b="1" dirty="0" smtClean="0"/>
              <a:t>University</a:t>
            </a:r>
            <a:br>
              <a:rPr lang="en-US" sz="3100" b="1" dirty="0" smtClean="0"/>
            </a:br>
            <a:r>
              <a:rPr lang="en-US" sz="3600" dirty="0" smtClean="0"/>
              <a:t>Faculty </a:t>
            </a:r>
            <a:r>
              <a:rPr lang="en-US" sz="3600" dirty="0"/>
              <a:t>of Computer Applications</a:t>
            </a:r>
            <a:r>
              <a:rPr lang="en-US" dirty="0"/>
              <a:t/>
            </a:r>
            <a:br>
              <a:rPr lang="en-US" dirty="0"/>
            </a:br>
            <a:r>
              <a:rPr lang="en-US" b="1" dirty="0"/>
              <a:t>MCA </a:t>
            </a:r>
            <a:r>
              <a:rPr lang="en-US" b="1" dirty="0" err="1"/>
              <a:t>Sem</a:t>
            </a:r>
            <a:r>
              <a:rPr lang="en-US" b="1" dirty="0"/>
              <a:t>- </a:t>
            </a:r>
            <a:r>
              <a:rPr lang="en-US" b="1" dirty="0" smtClean="0"/>
              <a:t>II</a:t>
            </a:r>
            <a:endParaRPr lang="en-US" dirty="0"/>
          </a:p>
        </p:txBody>
      </p:sp>
      <p:sp>
        <p:nvSpPr>
          <p:cNvPr id="5" name="TextBox 4"/>
          <p:cNvSpPr txBox="1"/>
          <p:nvPr/>
        </p:nvSpPr>
        <p:spPr>
          <a:xfrm>
            <a:off x="0" y="3581400"/>
            <a:ext cx="9144000" cy="1077218"/>
          </a:xfrm>
          <a:prstGeom prst="rect">
            <a:avLst/>
          </a:prstGeom>
          <a:noFill/>
        </p:spPr>
        <p:txBody>
          <a:bodyPr wrap="square" rtlCol="0">
            <a:spAutoFit/>
          </a:bodyPr>
          <a:lstStyle/>
          <a:p>
            <a:pPr algn="ctr"/>
            <a:r>
              <a:rPr lang="en-US" sz="3200" b="1" dirty="0" smtClean="0"/>
              <a:t>Basics of Python</a:t>
            </a:r>
          </a:p>
          <a:p>
            <a:pPr algn="ctr"/>
            <a:r>
              <a:rPr lang="en-US" sz="3200" dirty="0" smtClean="0"/>
              <a:t>(</a:t>
            </a:r>
            <a:r>
              <a:rPr lang="en-US" sz="3200" dirty="0" err="1" smtClean="0"/>
              <a:t>05MC0202</a:t>
            </a:r>
            <a:r>
              <a:rPr lang="en-US" sz="3200" dirty="0" smtClean="0"/>
              <a:t>)</a:t>
            </a:r>
            <a:endParaRPr lang="en-US" sz="3200" dirty="0"/>
          </a:p>
        </p:txBody>
      </p:sp>
      <p:sp>
        <p:nvSpPr>
          <p:cNvPr id="6" name="TextBox 5"/>
          <p:cNvSpPr txBox="1"/>
          <p:nvPr/>
        </p:nvSpPr>
        <p:spPr>
          <a:xfrm>
            <a:off x="0" y="5181600"/>
            <a:ext cx="9144000" cy="1077218"/>
          </a:xfrm>
          <a:prstGeom prst="rect">
            <a:avLst/>
          </a:prstGeom>
          <a:noFill/>
        </p:spPr>
        <p:txBody>
          <a:bodyPr wrap="square" rtlCol="0">
            <a:spAutoFit/>
          </a:bodyPr>
          <a:lstStyle/>
          <a:p>
            <a:pPr algn="ctr"/>
            <a:r>
              <a:rPr lang="en-US" sz="3200" b="1" dirty="0" smtClean="0"/>
              <a:t>Unit – 1</a:t>
            </a:r>
          </a:p>
          <a:p>
            <a:pPr algn="ctr"/>
            <a:r>
              <a:rPr lang="en-US" sz="3200" b="1" dirty="0" smtClean="0"/>
              <a:t>Basics of Python</a:t>
            </a:r>
            <a:endParaRPr lang="en-US" sz="3200" dirty="0"/>
          </a:p>
        </p:txBody>
      </p:sp>
      <p:pic>
        <p:nvPicPr>
          <p:cNvPr id="11" name="Picture 3" descr="C:\Users\Kalpesh\Desktop\download.jpg"/>
          <p:cNvPicPr>
            <a:picLocks noChangeAspect="1" noChangeArrowheads="1"/>
          </p:cNvPicPr>
          <p:nvPr/>
        </p:nvPicPr>
        <p:blipFill>
          <a:blip r:embed="rId2"/>
          <a:srcRect/>
          <a:stretch>
            <a:fillRect/>
          </a:stretch>
        </p:blipFill>
        <p:spPr bwMode="auto">
          <a:xfrm>
            <a:off x="311150" y="4866007"/>
            <a:ext cx="2051050" cy="1382393"/>
          </a:xfrm>
          <a:prstGeom prst="rect">
            <a:avLst/>
          </a:prstGeom>
          <a:noFill/>
        </p:spPr>
      </p:pic>
      <p:pic>
        <p:nvPicPr>
          <p:cNvPr id="12" name="Picture 3" descr="C:\Users\Kalpesh\Desktop\download.jpg"/>
          <p:cNvPicPr>
            <a:picLocks noChangeAspect="1" noChangeArrowheads="1"/>
          </p:cNvPicPr>
          <p:nvPr/>
        </p:nvPicPr>
        <p:blipFill>
          <a:blip r:embed="rId2"/>
          <a:srcRect/>
          <a:stretch>
            <a:fillRect/>
          </a:stretch>
        </p:blipFill>
        <p:spPr bwMode="auto">
          <a:xfrm>
            <a:off x="6934200" y="4876800"/>
            <a:ext cx="2051050" cy="1382393"/>
          </a:xfrm>
          <a:prstGeom prst="rect">
            <a:avLst/>
          </a:prstGeom>
          <a:noFill/>
        </p:spPr>
      </p:pic>
      <p:pic>
        <p:nvPicPr>
          <p:cNvPr id="8" name="Picture 7"/>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2362200" y="104668"/>
            <a:ext cx="3686175" cy="103822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Introduction to Python</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algn="just"/>
            <a:r>
              <a:rPr lang="en-IN" sz="3200" dirty="0"/>
              <a:t>	Python is a general-purpose programming language that can be used effectively to build almost any kind of program that does not need direct access to the computer’s hardware.</a:t>
            </a:r>
          </a:p>
          <a:p>
            <a:pPr algn="just"/>
            <a:r>
              <a:rPr lang="en-IN" sz="3200" dirty="0"/>
              <a:t>	Python is not optimal for programs that have high reliability constraints (because of its weak static semantic checking) or that are built and maintained by many people or over a long period of time (again because of the weak static semantic checking).</a:t>
            </a:r>
            <a:endParaRPr lang="en-US" sz="3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152400"/>
            <a:ext cx="9144000" cy="914400"/>
          </a:xfrm>
          <a:prstGeom prst="rect">
            <a:avLst/>
          </a:prstGeom>
        </p:spPr>
        <p:txBody>
          <a:bodyPr vert="horz" lIns="91440" tIns="45720" rIns="91440" bIns="45720" rtlCol="0" anchor="ctr">
            <a:normAutofit fontScale="92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1"/>
                </a:solidFill>
                <a:effectLst/>
                <a:uLnTx/>
                <a:uFillTx/>
                <a:latin typeface="+mj-lt"/>
                <a:ea typeface="+mj-ea"/>
                <a:cs typeface="+mj-cs"/>
              </a:rPr>
              <a:t>Developer</a:t>
            </a:r>
            <a:r>
              <a:rPr kumimoji="0" lang="en-US" sz="4400" b="1" i="0" u="none" strike="noStrike" kern="1200" cap="none" spc="0" normalizeH="0" noProof="0" dirty="0" smtClean="0">
                <a:ln>
                  <a:noFill/>
                </a:ln>
                <a:solidFill>
                  <a:schemeClr val="tx1"/>
                </a:solidFill>
                <a:effectLst/>
                <a:uLnTx/>
                <a:uFillTx/>
                <a:latin typeface="+mj-lt"/>
                <a:ea typeface="+mj-ea"/>
                <a:cs typeface="+mj-cs"/>
              </a:rPr>
              <a:t> of Python </a:t>
            </a:r>
            <a:r>
              <a:rPr kumimoji="0" lang="en-US" sz="4400" b="1" i="0" u="none" strike="noStrike" kern="1200" cap="none" spc="0" normalizeH="0" baseline="0" noProof="0" dirty="0" smtClean="0">
                <a:ln>
                  <a:noFill/>
                </a:ln>
                <a:solidFill>
                  <a:schemeClr val="tx1"/>
                </a:solidFill>
                <a:effectLst/>
                <a:uLnTx/>
                <a:uFillTx/>
                <a:latin typeface="+mj-lt"/>
                <a:ea typeface="+mj-ea"/>
                <a:cs typeface="+mj-cs"/>
              </a:rPr>
              <a:t>– Guido van Rossum</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pic>
        <p:nvPicPr>
          <p:cNvPr id="6" name="Picture 2" descr="C:\Users\Kalpesh\Desktop\220px-Guido_van_Rossum_OSCON_2006.jpg"/>
          <p:cNvPicPr>
            <a:picLocks noChangeAspect="1" noChangeArrowheads="1"/>
          </p:cNvPicPr>
          <p:nvPr/>
        </p:nvPicPr>
        <p:blipFill>
          <a:blip r:embed="rId2"/>
          <a:srcRect/>
          <a:stretch>
            <a:fillRect/>
          </a:stretch>
        </p:blipFill>
        <p:spPr bwMode="auto">
          <a:xfrm>
            <a:off x="2971800" y="1295400"/>
            <a:ext cx="3429000" cy="51435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History</a:t>
            </a:r>
            <a:endParaRPr lang="en-US" dirty="0"/>
          </a:p>
        </p:txBody>
      </p:sp>
      <p:sp>
        <p:nvSpPr>
          <p:cNvPr id="4" name="TextBox 3"/>
          <p:cNvSpPr txBox="1"/>
          <p:nvPr/>
        </p:nvSpPr>
        <p:spPr>
          <a:xfrm>
            <a:off x="228600" y="1066800"/>
            <a:ext cx="8763000" cy="2062103"/>
          </a:xfrm>
          <a:prstGeom prst="rect">
            <a:avLst/>
          </a:prstGeom>
          <a:noFill/>
        </p:spPr>
        <p:txBody>
          <a:bodyPr wrap="square" rtlCol="0">
            <a:spAutoFit/>
          </a:bodyPr>
          <a:lstStyle/>
          <a:p>
            <a:pPr algn="just">
              <a:buFont typeface="Arial" charset="0"/>
              <a:buChar char="•"/>
            </a:pPr>
            <a:r>
              <a:rPr lang="en-IN" sz="3200" dirty="0"/>
              <a:t>Python was started in late </a:t>
            </a:r>
            <a:r>
              <a:rPr lang="en-IN" sz="3200" dirty="0" err="1"/>
              <a:t>1980s</a:t>
            </a:r>
            <a:endParaRPr lang="en-IN" sz="3200" dirty="0"/>
          </a:p>
          <a:p>
            <a:pPr algn="just">
              <a:buFont typeface="Arial" charset="0"/>
              <a:buChar char="•"/>
            </a:pPr>
            <a:r>
              <a:rPr lang="en-IN" sz="3200" dirty="0"/>
              <a:t>Python was implemented in Dec. 1989</a:t>
            </a:r>
          </a:p>
          <a:p>
            <a:pPr algn="just">
              <a:buFont typeface="Arial" charset="0"/>
              <a:buChar char="•"/>
            </a:pPr>
            <a:r>
              <a:rPr lang="en-IN" sz="3200" dirty="0"/>
              <a:t>Netherlands</a:t>
            </a:r>
          </a:p>
          <a:p>
            <a:pPr algn="just">
              <a:buFont typeface="Arial" charset="0"/>
              <a:buChar char="•"/>
            </a:pPr>
            <a:r>
              <a:rPr lang="en-IN" sz="3200" dirty="0"/>
              <a:t>Successor of ABC language</a:t>
            </a:r>
          </a:p>
        </p:txBody>
      </p:sp>
      <p:graphicFrame>
        <p:nvGraphicFramePr>
          <p:cNvPr id="5" name="Table 4"/>
          <p:cNvGraphicFramePr>
            <a:graphicFrameLocks noGrp="1"/>
          </p:cNvGraphicFramePr>
          <p:nvPr>
            <p:extLst>
              <p:ext uri="{D42A27DB-BD31-4B8C-83A1-F6EECF244321}">
                <p14:modId xmlns="" xmlns:p14="http://schemas.microsoft.com/office/powerpoint/2010/main" val="1115499584"/>
              </p:ext>
            </p:extLst>
          </p:nvPr>
        </p:nvGraphicFramePr>
        <p:xfrm>
          <a:off x="266700" y="3581400"/>
          <a:ext cx="8686800" cy="2438400"/>
        </p:xfrm>
        <a:graphic>
          <a:graphicData uri="http://schemas.openxmlformats.org/drawingml/2006/table">
            <a:tbl>
              <a:tblPr firstRow="1" bandRow="1">
                <a:tableStyleId>{5C22544A-7EE6-4342-B048-85BDC9FD1C3A}</a:tableStyleId>
              </a:tblPr>
              <a:tblGrid>
                <a:gridCol w="1752600">
                  <a:extLst>
                    <a:ext uri="{9D8B030D-6E8A-4147-A177-3AD203B41FA5}">
                      <a16:colId xmlns="" xmlns:a16="http://schemas.microsoft.com/office/drawing/2014/main" val="20000"/>
                    </a:ext>
                  </a:extLst>
                </a:gridCol>
                <a:gridCol w="6934200">
                  <a:extLst>
                    <a:ext uri="{9D8B030D-6E8A-4147-A177-3AD203B41FA5}">
                      <a16:colId xmlns="" xmlns:a16="http://schemas.microsoft.com/office/drawing/2014/main" val="20001"/>
                    </a:ext>
                  </a:extLst>
                </a:gridCol>
              </a:tblGrid>
              <a:tr h="381000">
                <a:tc>
                  <a:txBody>
                    <a:bodyPr/>
                    <a:lstStyle/>
                    <a:p>
                      <a:pPr algn="ctr"/>
                      <a:r>
                        <a:rPr lang="en-US" dirty="0" smtClean="0"/>
                        <a:t>Year</a:t>
                      </a:r>
                      <a:endParaRPr lang="en-US" dirty="0"/>
                    </a:p>
                  </a:txBody>
                  <a:tcPr/>
                </a:tc>
                <a:tc>
                  <a:txBody>
                    <a:bodyPr/>
                    <a:lstStyle/>
                    <a:p>
                      <a:pPr algn="ctr"/>
                      <a:r>
                        <a:rPr lang="en-US" dirty="0" smtClean="0"/>
                        <a:t>Development</a:t>
                      </a:r>
                      <a:endParaRPr lang="en-US" dirty="0"/>
                    </a:p>
                  </a:txBody>
                  <a:tcPr/>
                </a:tc>
                <a:extLst>
                  <a:ext uri="{0D108BD9-81ED-4DB2-BD59-A6C34878D82A}">
                    <a16:rowId xmlns="" xmlns:a16="http://schemas.microsoft.com/office/drawing/2014/main" val="10000"/>
                  </a:ext>
                </a:extLst>
              </a:tr>
              <a:tr h="685800">
                <a:tc>
                  <a:txBody>
                    <a:bodyPr/>
                    <a:lstStyle/>
                    <a:p>
                      <a:pPr algn="just"/>
                      <a:r>
                        <a:rPr lang="en-US" dirty="0" smtClean="0"/>
                        <a:t>1990</a:t>
                      </a:r>
                      <a:endParaRPr lang="en-US" dirty="0"/>
                    </a:p>
                  </a:txBody>
                  <a:tcPr/>
                </a:tc>
                <a:tc>
                  <a:txBody>
                    <a:bodyPr/>
                    <a:lstStyle/>
                    <a:p>
                      <a:pPr algn="just"/>
                      <a:r>
                        <a:rPr lang="en-IN" dirty="0" smtClean="0"/>
                        <a:t>Initial release of Python</a:t>
                      </a:r>
                      <a:endParaRPr lang="en-US" dirty="0"/>
                    </a:p>
                  </a:txBody>
                  <a:tcPr/>
                </a:tc>
                <a:extLst>
                  <a:ext uri="{0D108BD9-81ED-4DB2-BD59-A6C34878D82A}">
                    <a16:rowId xmlns="" xmlns:a16="http://schemas.microsoft.com/office/drawing/2014/main" val="10001"/>
                  </a:ext>
                </a:extLst>
              </a:tr>
              <a:tr h="685800">
                <a:tc>
                  <a:txBody>
                    <a:bodyPr/>
                    <a:lstStyle/>
                    <a:p>
                      <a:pPr algn="just"/>
                      <a:r>
                        <a:rPr lang="en-IN" dirty="0" smtClean="0"/>
                        <a:t>2000</a:t>
                      </a:r>
                      <a:endParaRPr lang="en-US" dirty="0"/>
                    </a:p>
                  </a:txBody>
                  <a:tcPr/>
                </a:tc>
                <a:tc>
                  <a:txBody>
                    <a:bodyPr/>
                    <a:lstStyle/>
                    <a:p>
                      <a:pPr algn="just"/>
                      <a:r>
                        <a:rPr lang="en-IN" dirty="0" smtClean="0"/>
                        <a:t>Python 2.x</a:t>
                      </a:r>
                      <a:r>
                        <a:rPr lang="en-IN" baseline="0" dirty="0" smtClean="0"/>
                        <a:t> was released</a:t>
                      </a:r>
                      <a:endParaRPr lang="en-US" dirty="0"/>
                    </a:p>
                  </a:txBody>
                  <a:tcPr/>
                </a:tc>
                <a:extLst>
                  <a:ext uri="{0D108BD9-81ED-4DB2-BD59-A6C34878D82A}">
                    <a16:rowId xmlns="" xmlns:a16="http://schemas.microsoft.com/office/drawing/2014/main" val="10002"/>
                  </a:ext>
                </a:extLst>
              </a:tr>
              <a:tr h="685800">
                <a:tc>
                  <a:txBody>
                    <a:bodyPr/>
                    <a:lstStyle/>
                    <a:p>
                      <a:pPr algn="just"/>
                      <a:r>
                        <a:rPr lang="en-US" dirty="0" smtClean="0"/>
                        <a:t>2008</a:t>
                      </a:r>
                      <a:endParaRPr lang="en-US" dirty="0"/>
                    </a:p>
                  </a:txBody>
                  <a:tcPr/>
                </a:tc>
                <a:tc>
                  <a:txBody>
                    <a:bodyPr/>
                    <a:lstStyle/>
                    <a:p>
                      <a:pPr algn="just"/>
                      <a:r>
                        <a:rPr lang="en-IN" dirty="0" smtClean="0"/>
                        <a:t>Python 3.0</a:t>
                      </a:r>
                      <a:r>
                        <a:rPr lang="en-IN" baseline="0" dirty="0" smtClean="0"/>
                        <a:t> released  (No backward compatibility)</a:t>
                      </a:r>
                      <a:endParaRPr lang="en-US" dirty="0"/>
                    </a:p>
                  </a:txBody>
                  <a:tcPr/>
                </a:tc>
                <a:extLst>
                  <a:ext uri="{0D108BD9-81ED-4DB2-BD59-A6C34878D82A}">
                    <a16:rowId xmlns=""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of Python</a:t>
            </a:r>
            <a:endParaRPr lang="en-US" dirty="0"/>
          </a:p>
        </p:txBody>
      </p:sp>
      <p:sp>
        <p:nvSpPr>
          <p:cNvPr id="4" name="TextBox 3"/>
          <p:cNvSpPr txBox="1"/>
          <p:nvPr/>
        </p:nvSpPr>
        <p:spPr>
          <a:xfrm>
            <a:off x="228600" y="1066800"/>
            <a:ext cx="8763000" cy="5693866"/>
          </a:xfrm>
          <a:prstGeom prst="rect">
            <a:avLst/>
          </a:prstGeom>
          <a:noFill/>
        </p:spPr>
        <p:txBody>
          <a:bodyPr wrap="square" rtlCol="0">
            <a:spAutoFit/>
          </a:bodyPr>
          <a:lstStyle/>
          <a:p>
            <a:pPr marL="514350" indent="-514350" algn="just">
              <a:buAutoNum type="arabicParenBoth"/>
            </a:pPr>
            <a:r>
              <a:rPr lang="en-US" sz="2800" dirty="0" smtClean="0"/>
              <a:t>Easy to learn and use</a:t>
            </a:r>
          </a:p>
          <a:p>
            <a:pPr marL="514350" indent="-514350" algn="just">
              <a:buAutoNum type="arabicParenBoth"/>
            </a:pPr>
            <a:r>
              <a:rPr lang="en-US" sz="2800" dirty="0" smtClean="0"/>
              <a:t>Expressive Language</a:t>
            </a:r>
          </a:p>
          <a:p>
            <a:pPr marL="514350" indent="-514350" algn="just">
              <a:buAutoNum type="arabicParenBoth"/>
            </a:pPr>
            <a:r>
              <a:rPr lang="en-US" sz="2800" dirty="0" smtClean="0"/>
              <a:t>Interpreted Language</a:t>
            </a:r>
          </a:p>
          <a:p>
            <a:pPr marL="514350" indent="-514350" algn="just">
              <a:buAutoNum type="arabicParenBoth"/>
            </a:pPr>
            <a:r>
              <a:rPr lang="en-US" sz="2800" dirty="0" smtClean="0"/>
              <a:t>Cross Platform Language</a:t>
            </a:r>
          </a:p>
          <a:p>
            <a:pPr marL="514350" indent="-514350" algn="just">
              <a:buAutoNum type="arabicParenBoth"/>
            </a:pPr>
            <a:r>
              <a:rPr lang="en-US" sz="2800" dirty="0" smtClean="0"/>
              <a:t>Free and Open Source</a:t>
            </a:r>
          </a:p>
          <a:p>
            <a:pPr marL="514350" indent="-514350" algn="just">
              <a:buAutoNum type="arabicParenBoth"/>
            </a:pPr>
            <a:r>
              <a:rPr lang="en-US" sz="2800" dirty="0" smtClean="0"/>
              <a:t>OOP</a:t>
            </a:r>
          </a:p>
          <a:p>
            <a:pPr marL="514350" indent="-514350" algn="just">
              <a:buAutoNum type="arabicParenBoth"/>
            </a:pPr>
            <a:r>
              <a:rPr lang="en-US" sz="2800" dirty="0" smtClean="0"/>
              <a:t>Extensible</a:t>
            </a:r>
          </a:p>
          <a:p>
            <a:pPr marL="514350" indent="-514350" algn="just">
              <a:buAutoNum type="arabicParenBoth"/>
            </a:pPr>
            <a:r>
              <a:rPr lang="en-US" sz="2800" dirty="0" smtClean="0"/>
              <a:t>Large Standard Library</a:t>
            </a:r>
          </a:p>
          <a:p>
            <a:pPr marL="514350" indent="-514350" algn="just">
              <a:buAutoNum type="arabicParenBoth"/>
            </a:pPr>
            <a:r>
              <a:rPr lang="en-US" sz="2800" dirty="0" smtClean="0"/>
              <a:t>GUI Support</a:t>
            </a:r>
          </a:p>
          <a:p>
            <a:pPr marL="514350" indent="-514350" algn="just">
              <a:buAutoNum type="arabicParenBoth"/>
            </a:pPr>
            <a:r>
              <a:rPr lang="en-US" sz="2800" dirty="0" smtClean="0"/>
              <a:t> Integrated</a:t>
            </a:r>
          </a:p>
          <a:p>
            <a:pPr marL="514350" indent="-514350" algn="just">
              <a:buAutoNum type="arabicParenBoth"/>
            </a:pPr>
            <a:r>
              <a:rPr lang="en-US" sz="2800" dirty="0" smtClean="0"/>
              <a:t> Embeddable</a:t>
            </a:r>
          </a:p>
          <a:p>
            <a:pPr marL="514350" indent="-514350" algn="just">
              <a:buAutoNum type="arabicParenBoth"/>
            </a:pPr>
            <a:r>
              <a:rPr lang="en-US" sz="2800" dirty="0" smtClean="0"/>
              <a:t> Dynamic Memory Allocation</a:t>
            </a:r>
          </a:p>
          <a:p>
            <a:pPr marL="514350" indent="-514350" algn="just">
              <a:buAutoNum type="arabicParenBoth"/>
            </a:pPr>
            <a:r>
              <a:rPr lang="en-US" sz="2800" dirty="0"/>
              <a:t> </a:t>
            </a:r>
            <a:r>
              <a:rPr lang="en-US" sz="2800" dirty="0" smtClean="0"/>
              <a:t>High Level Language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Features of Python</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algn="just"/>
            <a:r>
              <a:rPr lang="en-US" sz="3200" b="1" dirty="0" smtClean="0"/>
              <a:t>(1) Easy to Learn and Use :</a:t>
            </a:r>
          </a:p>
          <a:p>
            <a:pPr algn="just"/>
            <a:r>
              <a:rPr lang="en-US" sz="3200" dirty="0" smtClean="0"/>
              <a:t>	</a:t>
            </a:r>
            <a:r>
              <a:rPr lang="en-US" sz="3200" dirty="0"/>
              <a:t>Python is easy to learn as compared to other programming languages. Its syntax is straightforward and much the same as the English language. There is no use of the semicolon or curly-bracket, the indentation defines the code block. It is the recommended programming language for beginners.</a:t>
            </a:r>
            <a:endParaRPr lang="en-US" sz="32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smtClean="0"/>
              <a:t>(2) Expressive Language :</a:t>
            </a:r>
          </a:p>
          <a:p>
            <a:pPr algn="just"/>
            <a:r>
              <a:rPr lang="en-US" sz="3200" dirty="0" smtClean="0"/>
              <a:t>	</a:t>
            </a:r>
            <a:r>
              <a:rPr lang="en-US" sz="3200" dirty="0"/>
              <a:t>Python can perform complex tasks using a few lines of code. A simple example, the hello world program you simply type print("Hello World"). It will take only one line to execute, while Java or C takes multiple lines.</a:t>
            </a:r>
            <a:endParaRPr lang="en-US" sz="32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2554545"/>
          </a:xfrm>
          <a:prstGeom prst="rect">
            <a:avLst/>
          </a:prstGeom>
          <a:noFill/>
        </p:spPr>
        <p:txBody>
          <a:bodyPr wrap="square" rtlCol="0">
            <a:spAutoFit/>
          </a:bodyPr>
          <a:lstStyle/>
          <a:p>
            <a:pPr algn="just"/>
            <a:r>
              <a:rPr lang="en-US" sz="3200" b="1" dirty="0" smtClean="0"/>
              <a:t>(3) Interpreted Language :</a:t>
            </a:r>
          </a:p>
          <a:p>
            <a:pPr algn="just"/>
            <a:r>
              <a:rPr lang="en-US" sz="3200" dirty="0" smtClean="0"/>
              <a:t>	</a:t>
            </a:r>
            <a:r>
              <a:rPr lang="en-US" sz="3200" dirty="0"/>
              <a:t>Python is an interpreted language; it means the Python program is executed one line at a time. The advantage of being interpreted language, it makes debugging easy and portable.  </a:t>
            </a:r>
            <a:endParaRPr lang="en-US" sz="32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3539430"/>
          </a:xfrm>
          <a:prstGeom prst="rect">
            <a:avLst/>
          </a:prstGeom>
          <a:noFill/>
        </p:spPr>
        <p:txBody>
          <a:bodyPr wrap="square" rtlCol="0">
            <a:spAutoFit/>
          </a:bodyPr>
          <a:lstStyle/>
          <a:p>
            <a:pPr algn="just"/>
            <a:r>
              <a:rPr lang="en-US" sz="3200" b="1" dirty="0" smtClean="0"/>
              <a:t>(4) Cross-Platform Language :</a:t>
            </a:r>
          </a:p>
          <a:p>
            <a:pPr algn="just"/>
            <a:r>
              <a:rPr lang="en-US" sz="3200" dirty="0" smtClean="0"/>
              <a:t>	</a:t>
            </a:r>
            <a:r>
              <a:rPr lang="en-US" sz="3200" dirty="0"/>
              <a:t>Python can run equally on different platforms such as Windows, Linux, UNIX, and Macintosh, etc. So, we can say that Python is a portable language. It enables programmers to develop the software for several competing platforms by writing a program only once.</a:t>
            </a:r>
            <a:endParaRPr lang="en-US" sz="32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b="1" dirty="0" smtClean="0"/>
              <a:t>(5) Free and Open Source :</a:t>
            </a:r>
          </a:p>
          <a:p>
            <a:pPr algn="just"/>
            <a:r>
              <a:rPr lang="en-US" sz="3200" dirty="0" smtClean="0"/>
              <a:t>	</a:t>
            </a:r>
            <a:r>
              <a:rPr lang="en-US" sz="3200" dirty="0"/>
              <a:t>Python is freely available for everyone. It is freely available on its official website </a:t>
            </a:r>
            <a:r>
              <a:rPr lang="en-US" sz="3200" dirty="0" err="1"/>
              <a:t>www.python.org</a:t>
            </a:r>
            <a:r>
              <a:rPr lang="en-US" sz="3200" dirty="0"/>
              <a:t>. It has a large community across the world that is dedicatedly working towards make new python modules and functions. Anyone can contribute to the Python community. The open-source means, "Anyone can download its source code without paying any penny."</a:t>
            </a:r>
            <a:endParaRPr lang="en-US" sz="32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3539430"/>
          </a:xfrm>
          <a:prstGeom prst="rect">
            <a:avLst/>
          </a:prstGeom>
          <a:noFill/>
        </p:spPr>
        <p:txBody>
          <a:bodyPr wrap="square" rtlCol="0">
            <a:spAutoFit/>
          </a:bodyPr>
          <a:lstStyle/>
          <a:p>
            <a:pPr algn="just"/>
            <a:r>
              <a:rPr lang="en-US" sz="3200" b="1" dirty="0" smtClean="0"/>
              <a:t>(6) Object Oriented Language :</a:t>
            </a:r>
          </a:p>
          <a:p>
            <a:pPr algn="just"/>
            <a:r>
              <a:rPr lang="en-US" sz="3200" dirty="0" smtClean="0"/>
              <a:t>	</a:t>
            </a:r>
            <a:r>
              <a:rPr lang="en-US" sz="3200" dirty="0"/>
              <a:t>Python supports object-oriented language and concepts of classes and objects come into existence. It supports inheritance, polymorphism, and encapsulation, etc. The object-oriented procedure helps to programmer to write reusable code and develop applications in less code.</a:t>
            </a:r>
            <a:endParaRPr lang="en-US" sz="32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smtClean="0"/>
              <a:t>(7) Extensible :</a:t>
            </a:r>
          </a:p>
          <a:p>
            <a:pPr algn="just"/>
            <a:r>
              <a:rPr lang="en-US" sz="3200" dirty="0" smtClean="0"/>
              <a:t>	</a:t>
            </a:r>
            <a:r>
              <a:rPr lang="en-US" sz="3200" dirty="0"/>
              <a:t>It implies that other languages such as C/C++ can be used to compile the code and thus it can be used further in our Python code. It converts the program into byte code, and any platform can use that byte code.</a:t>
            </a:r>
            <a:endParaRPr lang="en-US" sz="32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algn="just"/>
            <a:r>
              <a:rPr lang="en-US" sz="3200" b="1" dirty="0" smtClean="0"/>
              <a:t>(8) Large Standard Library :</a:t>
            </a:r>
          </a:p>
          <a:p>
            <a:pPr algn="just"/>
            <a:r>
              <a:rPr lang="en-US" sz="3200" dirty="0" smtClean="0"/>
              <a:t>	</a:t>
            </a:r>
            <a:r>
              <a:rPr lang="en-US" sz="3200" dirty="0"/>
              <a:t>It provides a vast range of libraries for the various fields such as machine learning, web developer, and also for the scripting. There are various machine learning libraries, such as Tensor flow, Pandas, </a:t>
            </a:r>
            <a:r>
              <a:rPr lang="en-US" sz="3200" dirty="0" err="1"/>
              <a:t>Numpy</a:t>
            </a:r>
            <a:r>
              <a:rPr lang="en-US" sz="3200" dirty="0"/>
              <a:t>, </a:t>
            </a:r>
            <a:r>
              <a:rPr lang="en-US" sz="3200" dirty="0" err="1"/>
              <a:t>Keras</a:t>
            </a:r>
            <a:r>
              <a:rPr lang="en-US" sz="3200" dirty="0"/>
              <a:t>, and </a:t>
            </a:r>
            <a:r>
              <a:rPr lang="en-US" sz="3200" dirty="0" err="1"/>
              <a:t>Pytorch</a:t>
            </a:r>
            <a:r>
              <a:rPr lang="en-US" sz="3200" dirty="0"/>
              <a:t>, etc. Django, flask, pyramids are the popular framework for Python web development.</a:t>
            </a:r>
            <a:endParaRPr lang="en-US" sz="32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2554545"/>
          </a:xfrm>
          <a:prstGeom prst="rect">
            <a:avLst/>
          </a:prstGeom>
          <a:noFill/>
        </p:spPr>
        <p:txBody>
          <a:bodyPr wrap="square" rtlCol="0">
            <a:spAutoFit/>
          </a:bodyPr>
          <a:lstStyle/>
          <a:p>
            <a:pPr algn="just"/>
            <a:r>
              <a:rPr lang="en-US" sz="3200" b="1" dirty="0" smtClean="0"/>
              <a:t>(9) GUI Programming Support :</a:t>
            </a:r>
          </a:p>
          <a:p>
            <a:pPr algn="just"/>
            <a:r>
              <a:rPr lang="en-US" sz="3200" dirty="0" smtClean="0"/>
              <a:t>	</a:t>
            </a:r>
            <a:r>
              <a:rPr lang="en-US" sz="3200" dirty="0"/>
              <a:t>Graphical User Interface is used for the developing Desktop application. </a:t>
            </a:r>
            <a:r>
              <a:rPr lang="en-US" sz="3200" dirty="0" err="1"/>
              <a:t>PyQT5</a:t>
            </a:r>
            <a:r>
              <a:rPr lang="en-US" sz="3200" dirty="0"/>
              <a:t>, </a:t>
            </a:r>
            <a:r>
              <a:rPr lang="en-US" sz="3200" dirty="0" err="1"/>
              <a:t>Tkinter</a:t>
            </a:r>
            <a:r>
              <a:rPr lang="en-US" sz="3200" dirty="0"/>
              <a:t>, </a:t>
            </a:r>
            <a:r>
              <a:rPr lang="en-US" sz="3200" dirty="0" err="1"/>
              <a:t>Kivy</a:t>
            </a:r>
            <a:r>
              <a:rPr lang="en-US" sz="3200" dirty="0"/>
              <a:t> are the libraries which are used for developing the web application.</a:t>
            </a:r>
            <a:endParaRPr lang="en-US" sz="32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2062103"/>
          </a:xfrm>
          <a:prstGeom prst="rect">
            <a:avLst/>
          </a:prstGeom>
          <a:noFill/>
        </p:spPr>
        <p:txBody>
          <a:bodyPr wrap="square" rtlCol="0">
            <a:spAutoFit/>
          </a:bodyPr>
          <a:lstStyle/>
          <a:p>
            <a:pPr algn="just"/>
            <a:r>
              <a:rPr lang="en-US" sz="3200" b="1" dirty="0" smtClean="0"/>
              <a:t>(10) Integrated :</a:t>
            </a:r>
          </a:p>
          <a:p>
            <a:pPr algn="just"/>
            <a:r>
              <a:rPr lang="en-US" sz="3200" dirty="0" smtClean="0"/>
              <a:t>	</a:t>
            </a:r>
            <a:r>
              <a:rPr lang="en-US" sz="3200" dirty="0"/>
              <a:t>It can be easily integrated with languages like C, C++, and JAVA, etc. Python runs code line by line like </a:t>
            </a:r>
            <a:r>
              <a:rPr lang="en-US" sz="3200" dirty="0" err="1"/>
              <a:t>C,C</a:t>
            </a:r>
            <a:r>
              <a:rPr lang="en-US" sz="3200" dirty="0"/>
              <a:t>++ Java. It makes easy to debug the code.</a:t>
            </a:r>
            <a:endParaRPr lang="en-US" sz="3200" dirty="0" smtClean="0"/>
          </a:p>
        </p:txBody>
      </p:sp>
    </p:spTree>
    <p:extLst>
      <p:ext uri="{BB962C8B-B14F-4D97-AF65-F5344CB8AC3E}">
        <p14:creationId xmlns="" xmlns:p14="http://schemas.microsoft.com/office/powerpoint/2010/main" val="32642133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smtClean="0"/>
              <a:t>(11) Embeddable :</a:t>
            </a:r>
          </a:p>
          <a:p>
            <a:pPr algn="just"/>
            <a:r>
              <a:rPr lang="en-US" sz="3200" dirty="0" smtClean="0"/>
              <a:t>	</a:t>
            </a:r>
            <a:r>
              <a:rPr lang="en-US" sz="3200" dirty="0"/>
              <a:t>The code of the other programming language can use in the Python source code. We can use Python source code in another programming language as well. It can embed other language into our code.</a:t>
            </a:r>
            <a:endParaRPr lang="en-US" sz="3200" dirty="0" smtClean="0"/>
          </a:p>
        </p:txBody>
      </p:sp>
    </p:spTree>
    <p:extLst>
      <p:ext uri="{BB962C8B-B14F-4D97-AF65-F5344CB8AC3E}">
        <p14:creationId xmlns="" xmlns:p14="http://schemas.microsoft.com/office/powerpoint/2010/main" val="10192698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3539430"/>
          </a:xfrm>
          <a:prstGeom prst="rect">
            <a:avLst/>
          </a:prstGeom>
          <a:noFill/>
        </p:spPr>
        <p:txBody>
          <a:bodyPr wrap="square" rtlCol="0">
            <a:spAutoFit/>
          </a:bodyPr>
          <a:lstStyle/>
          <a:p>
            <a:pPr algn="just"/>
            <a:r>
              <a:rPr lang="en-US" sz="3200" b="1" dirty="0" smtClean="0"/>
              <a:t>(12) </a:t>
            </a:r>
            <a:r>
              <a:rPr lang="en-US" sz="3200" b="1" dirty="0"/>
              <a:t>Dynamic Memory Allocation </a:t>
            </a:r>
            <a:r>
              <a:rPr lang="en-US" sz="3200" b="1" dirty="0" smtClean="0"/>
              <a:t>:</a:t>
            </a:r>
          </a:p>
          <a:p>
            <a:pPr algn="just"/>
            <a:r>
              <a:rPr lang="en-US" sz="3200" dirty="0" smtClean="0"/>
              <a:t>	</a:t>
            </a:r>
            <a:r>
              <a:rPr lang="en-US" sz="3200" dirty="0"/>
              <a:t>In Python, we don't need to specify the data-type of the variable. When we assign some value to the variable, it automatically allocates the memory to the variable at run time. Suppose we are assigned integer value 15 to x, then we don't need to write </a:t>
            </a:r>
            <a:r>
              <a:rPr lang="en-US" sz="3200" dirty="0" err="1"/>
              <a:t>int</a:t>
            </a:r>
            <a:r>
              <a:rPr lang="en-US" sz="3200" dirty="0"/>
              <a:t> x = 15. Just write x = 15.</a:t>
            </a:r>
            <a:endParaRPr lang="en-US" sz="3200" dirty="0" smtClean="0"/>
          </a:p>
        </p:txBody>
      </p:sp>
    </p:spTree>
    <p:extLst>
      <p:ext uri="{BB962C8B-B14F-4D97-AF65-F5344CB8AC3E}">
        <p14:creationId xmlns="" xmlns:p14="http://schemas.microsoft.com/office/powerpoint/2010/main" val="33917928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a:t>Features of Python</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smtClean="0"/>
              <a:t>(13) High Level Language :</a:t>
            </a:r>
          </a:p>
          <a:p>
            <a:pPr algn="just"/>
            <a:r>
              <a:rPr lang="en-US" sz="3200" dirty="0" smtClean="0"/>
              <a:t>	</a:t>
            </a:r>
            <a:r>
              <a:rPr lang="en-US" sz="3200" dirty="0"/>
              <a:t>Python is a high-level programming language because programmers don’t need to remember the system architecture, nor do they have to manage the memory. This makes it super programmer-friendly and is one of the key features of Python.</a:t>
            </a:r>
            <a:endParaRPr lang="en-US" sz="3200" dirty="0" smtClean="0"/>
          </a:p>
        </p:txBody>
      </p:sp>
    </p:spTree>
    <p:extLst>
      <p:ext uri="{BB962C8B-B14F-4D97-AF65-F5344CB8AC3E}">
        <p14:creationId xmlns="" xmlns:p14="http://schemas.microsoft.com/office/powerpoint/2010/main" val="14277937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Basic Input Output</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algn="just"/>
            <a:r>
              <a:rPr lang="en-US" sz="3200" b="1" dirty="0"/>
              <a:t>There are two modes for using the Python interpreter:</a:t>
            </a:r>
          </a:p>
          <a:p>
            <a:pPr algn="just"/>
            <a:r>
              <a:rPr lang="en-US" sz="3200" dirty="0" smtClean="0"/>
              <a:t>	• </a:t>
            </a:r>
            <a:r>
              <a:rPr lang="en-US" sz="3200" dirty="0"/>
              <a:t>Interactive Mode</a:t>
            </a:r>
          </a:p>
          <a:p>
            <a:pPr algn="just"/>
            <a:r>
              <a:rPr lang="en-US" sz="3200" dirty="0" smtClean="0"/>
              <a:t>	• </a:t>
            </a:r>
            <a:r>
              <a:rPr lang="en-US" sz="3200" dirty="0"/>
              <a:t>Script </a:t>
            </a:r>
            <a:r>
              <a:rPr lang="en-US" sz="3200" dirty="0" smtClean="0"/>
              <a:t>Mode</a:t>
            </a:r>
          </a:p>
          <a:p>
            <a:pPr algn="just"/>
            <a:endParaRPr lang="en-US" sz="3200" dirty="0" smtClean="0"/>
          </a:p>
          <a:p>
            <a:pPr algn="just"/>
            <a:r>
              <a:rPr lang="en-US" sz="3200" dirty="0" smtClean="0"/>
              <a:t>Without </a:t>
            </a:r>
            <a:r>
              <a:rPr lang="en-US" sz="3200" dirty="0"/>
              <a:t>passing python script file to the interpreter, directly execute code to Python prompt. Once </a:t>
            </a:r>
            <a:r>
              <a:rPr lang="en-US" sz="3200" dirty="0" smtClean="0"/>
              <a:t>you’re </a:t>
            </a:r>
            <a:r>
              <a:rPr lang="en-US" sz="3200" dirty="0"/>
              <a:t>inside the python interpreter, then you can start.</a:t>
            </a:r>
          </a:p>
          <a:p>
            <a:pPr algn="just"/>
            <a:r>
              <a:rPr lang="en-US" sz="3200" dirty="0"/>
              <a:t>&gt;&gt;&gt; print("hello world") hello </a:t>
            </a:r>
            <a:r>
              <a:rPr lang="en-US" sz="3200" dirty="0" smtClean="0"/>
              <a:t>world</a:t>
            </a:r>
            <a:endParaRPr lang="en-US" sz="3200" dirty="0"/>
          </a:p>
        </p:txBody>
      </p:sp>
    </p:spTree>
    <p:extLst>
      <p:ext uri="{BB962C8B-B14F-4D97-AF65-F5344CB8AC3E}">
        <p14:creationId xmlns="" xmlns:p14="http://schemas.microsoft.com/office/powerpoint/2010/main" val="35444102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Basic Input Output</a:t>
            </a:r>
            <a:endParaRPr lang="en-US" dirty="0"/>
          </a:p>
        </p:txBody>
      </p:sp>
      <p:sp>
        <p:nvSpPr>
          <p:cNvPr id="4" name="TextBox 3"/>
          <p:cNvSpPr txBox="1"/>
          <p:nvPr/>
        </p:nvSpPr>
        <p:spPr>
          <a:xfrm>
            <a:off x="228600" y="1066800"/>
            <a:ext cx="8763000" cy="5509200"/>
          </a:xfrm>
          <a:prstGeom prst="rect">
            <a:avLst/>
          </a:prstGeom>
          <a:noFill/>
        </p:spPr>
        <p:txBody>
          <a:bodyPr wrap="square" rtlCol="0">
            <a:spAutoFit/>
          </a:bodyPr>
          <a:lstStyle/>
          <a:p>
            <a:pPr algn="just"/>
            <a:r>
              <a:rPr lang="en-US" sz="3200" dirty="0"/>
              <a:t># Relevant output is displayed on subsequent lines without the &gt;&gt;&gt; symbol</a:t>
            </a:r>
          </a:p>
          <a:p>
            <a:pPr algn="just"/>
            <a:r>
              <a:rPr lang="en-US" sz="3200" dirty="0"/>
              <a:t>&gt;&gt;&gt; x=[0,1,2]</a:t>
            </a:r>
          </a:p>
          <a:p>
            <a:pPr algn="just"/>
            <a:r>
              <a:rPr lang="en-US" sz="3200" dirty="0"/>
              <a:t># Quantities stored in memory are not displayed by default.</a:t>
            </a:r>
          </a:p>
          <a:p>
            <a:pPr algn="just"/>
            <a:r>
              <a:rPr lang="en-US" sz="3200" dirty="0"/>
              <a:t>&gt;&gt;&gt; x</a:t>
            </a:r>
          </a:p>
          <a:p>
            <a:pPr algn="just"/>
            <a:r>
              <a:rPr lang="en-US" sz="3200" dirty="0"/>
              <a:t>#If a quantity is stored in memory, typing its name will display it. [0, 1, 2]</a:t>
            </a:r>
          </a:p>
          <a:p>
            <a:pPr algn="just"/>
            <a:r>
              <a:rPr lang="en-US" sz="3200" dirty="0"/>
              <a:t>&gt;&gt;&gt; 2+3</a:t>
            </a:r>
          </a:p>
          <a:p>
            <a:pPr algn="just"/>
            <a:r>
              <a:rPr lang="en-US" sz="3200" dirty="0"/>
              <a:t>5</a:t>
            </a:r>
          </a:p>
          <a:p>
            <a:pPr algn="just"/>
            <a:r>
              <a:rPr lang="en-US" sz="3200" b="1" dirty="0" smtClean="0"/>
              <a:t>Hello </a:t>
            </a:r>
            <a:r>
              <a:rPr lang="en-US" sz="3200" b="1" dirty="0"/>
              <a:t>world and Arithmetic Operations example</a:t>
            </a:r>
            <a:endParaRPr lang="en-US" sz="3200" dirty="0"/>
          </a:p>
        </p:txBody>
      </p:sp>
    </p:spTree>
    <p:extLst>
      <p:ext uri="{BB962C8B-B14F-4D97-AF65-F5344CB8AC3E}">
        <p14:creationId xmlns="" xmlns:p14="http://schemas.microsoft.com/office/powerpoint/2010/main" val="36504251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Variables</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dirty="0"/>
              <a:t>Variables are nothing but reserved memory locations to store values. This means that when you create a variable you reserve some space in memory.</a:t>
            </a:r>
          </a:p>
          <a:p>
            <a:pPr algn="just"/>
            <a:r>
              <a:rPr lang="en-US" sz="3200" dirty="0"/>
              <a:t>Based on the data type of a variable, the interpreter allocates memory and decides what can be stored in the reserved memory. Therefore, by assigning different data types to variables, you can store integers, decimals or characters in these variables</a:t>
            </a:r>
            <a:r>
              <a:rPr lang="en-US" sz="3200" dirty="0" smtClean="0"/>
              <a:t>.</a:t>
            </a:r>
            <a:endParaRPr lang="en-US" sz="3200" dirty="0"/>
          </a:p>
        </p:txBody>
      </p:sp>
    </p:spTree>
    <p:extLst>
      <p:ext uri="{BB962C8B-B14F-4D97-AF65-F5344CB8AC3E}">
        <p14:creationId xmlns="" xmlns:p14="http://schemas.microsoft.com/office/powerpoint/2010/main" val="6110761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Variables</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algn="just"/>
            <a:r>
              <a:rPr lang="en-US" sz="3200" b="1" dirty="0"/>
              <a:t>Rules for Python variables:</a:t>
            </a:r>
          </a:p>
          <a:p>
            <a:pPr algn="just"/>
            <a:r>
              <a:rPr lang="en-US" sz="3200" dirty="0"/>
              <a:t>• A variable name must start with a letter or the underscore character</a:t>
            </a:r>
          </a:p>
          <a:p>
            <a:pPr algn="just"/>
            <a:r>
              <a:rPr lang="en-US" sz="3200" dirty="0"/>
              <a:t>• A variable name cannot start with a </a:t>
            </a:r>
            <a:r>
              <a:rPr lang="en-US" sz="3200" dirty="0" smtClean="0"/>
              <a:t>number</a:t>
            </a:r>
          </a:p>
          <a:p>
            <a:pPr algn="just"/>
            <a:r>
              <a:rPr lang="en-US" sz="3200" dirty="0"/>
              <a:t>• </a:t>
            </a:r>
            <a:r>
              <a:rPr lang="en-US" sz="3200" dirty="0" smtClean="0"/>
              <a:t>A </a:t>
            </a:r>
            <a:r>
              <a:rPr lang="en-US" sz="3200" dirty="0"/>
              <a:t>variable name can only contain alpha-numeric characters and underscores (A-z, 0-9, and _ )</a:t>
            </a:r>
          </a:p>
          <a:p>
            <a:pPr algn="just"/>
            <a:r>
              <a:rPr lang="en-US" sz="3200" dirty="0"/>
              <a:t>• Variable names are case-sensitive (age, Age and AGE are three different variables</a:t>
            </a:r>
            <a:r>
              <a:rPr lang="en-US" sz="3200" dirty="0" smtClean="0"/>
              <a:t>)</a:t>
            </a:r>
          </a:p>
        </p:txBody>
      </p:sp>
    </p:spTree>
    <p:extLst>
      <p:ext uri="{BB962C8B-B14F-4D97-AF65-F5344CB8AC3E}">
        <p14:creationId xmlns="" xmlns:p14="http://schemas.microsoft.com/office/powerpoint/2010/main" val="14195724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Assigning Values to variables</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dirty="0"/>
              <a:t>a= 100 </a:t>
            </a:r>
            <a:r>
              <a:rPr lang="en-US" sz="3200" dirty="0" smtClean="0"/>
              <a:t>          # </a:t>
            </a:r>
            <a:r>
              <a:rPr lang="en-US" sz="3200" dirty="0"/>
              <a:t>An integer assignment </a:t>
            </a:r>
            <a:endParaRPr lang="en-US" sz="3200" dirty="0" smtClean="0"/>
          </a:p>
          <a:p>
            <a:pPr algn="just"/>
            <a:r>
              <a:rPr lang="en-US" sz="3200" dirty="0" smtClean="0"/>
              <a:t>b </a:t>
            </a:r>
            <a:r>
              <a:rPr lang="en-US" sz="3200" dirty="0"/>
              <a:t>= 1000.0 </a:t>
            </a:r>
            <a:r>
              <a:rPr lang="en-US" sz="3200" dirty="0" smtClean="0"/>
              <a:t>   # </a:t>
            </a:r>
            <a:r>
              <a:rPr lang="en-US" sz="3200" dirty="0"/>
              <a:t>A floating point</a:t>
            </a:r>
          </a:p>
          <a:p>
            <a:pPr algn="just"/>
            <a:r>
              <a:rPr lang="en-US" sz="3200" dirty="0"/>
              <a:t>c = "John" </a:t>
            </a:r>
            <a:r>
              <a:rPr lang="en-US" sz="3200" dirty="0" smtClean="0"/>
              <a:t>   # </a:t>
            </a:r>
            <a:r>
              <a:rPr lang="en-US" sz="3200" dirty="0"/>
              <a:t>A </a:t>
            </a:r>
            <a:r>
              <a:rPr lang="en-US" sz="3200" dirty="0" smtClean="0"/>
              <a:t>string</a:t>
            </a:r>
          </a:p>
          <a:p>
            <a:pPr algn="just"/>
            <a:endParaRPr lang="en-US" sz="3200" dirty="0"/>
          </a:p>
          <a:p>
            <a:pPr algn="just"/>
            <a:endParaRPr lang="en-US" sz="3200" dirty="0" smtClean="0"/>
          </a:p>
          <a:p>
            <a:pPr algn="just"/>
            <a:r>
              <a:rPr lang="en-US" sz="3200" dirty="0"/>
              <a:t>a = b = c = </a:t>
            </a:r>
            <a:r>
              <a:rPr lang="en-US" sz="3200" dirty="0" smtClean="0"/>
              <a:t>1	#Multiple assignment</a:t>
            </a:r>
          </a:p>
          <a:p>
            <a:pPr algn="just"/>
            <a:endParaRPr lang="en-US" sz="3200" dirty="0"/>
          </a:p>
          <a:p>
            <a:pPr algn="just"/>
            <a:r>
              <a:rPr lang="en-US" sz="3200" dirty="0" err="1"/>
              <a:t>a,b,c</a:t>
            </a:r>
            <a:r>
              <a:rPr lang="en-US" sz="3200" dirty="0"/>
              <a:t> = </a:t>
            </a:r>
            <a:r>
              <a:rPr lang="en-US" sz="3200" dirty="0" smtClean="0"/>
              <a:t>1,2,”</a:t>
            </a:r>
            <a:r>
              <a:rPr lang="en-US" sz="3200" dirty="0" err="1" smtClean="0"/>
              <a:t>mrcet</a:t>
            </a:r>
            <a:r>
              <a:rPr lang="en-US" sz="3200" dirty="0" smtClean="0"/>
              <a:t>”	#Another ex. of multiple assignment</a:t>
            </a:r>
          </a:p>
        </p:txBody>
      </p:sp>
    </p:spTree>
    <p:extLst>
      <p:ext uri="{BB962C8B-B14F-4D97-AF65-F5344CB8AC3E}">
        <p14:creationId xmlns="" xmlns:p14="http://schemas.microsoft.com/office/powerpoint/2010/main" val="2710870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Assigning Values to variables</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b="1" dirty="0" smtClean="0"/>
              <a:t>Output Variables:</a:t>
            </a:r>
          </a:p>
          <a:p>
            <a:pPr algn="just"/>
            <a:r>
              <a:rPr lang="en-US" sz="3200" dirty="0" smtClean="0"/>
              <a:t>The Python print statement is often used to output variables.</a:t>
            </a:r>
          </a:p>
          <a:p>
            <a:pPr algn="just"/>
            <a:r>
              <a:rPr lang="en-US" sz="3200" dirty="0" smtClean="0"/>
              <a:t>Variables </a:t>
            </a:r>
            <a:r>
              <a:rPr lang="en-US" sz="3200" dirty="0"/>
              <a:t>do not need to be declared with any particular type and can even change type after they have been set.</a:t>
            </a:r>
          </a:p>
          <a:p>
            <a:pPr algn="just"/>
            <a:r>
              <a:rPr lang="en-US" sz="3200" dirty="0"/>
              <a:t>x = 5 </a:t>
            </a:r>
            <a:r>
              <a:rPr lang="en-US" sz="3200" dirty="0" smtClean="0"/>
              <a:t>                        # x </a:t>
            </a:r>
            <a:r>
              <a:rPr lang="en-US" sz="3200" dirty="0"/>
              <a:t>is of type </a:t>
            </a:r>
            <a:r>
              <a:rPr lang="en-US" sz="3200" dirty="0" err="1"/>
              <a:t>int</a:t>
            </a:r>
            <a:endParaRPr lang="en-US" sz="3200" dirty="0"/>
          </a:p>
          <a:p>
            <a:pPr algn="just"/>
            <a:r>
              <a:rPr lang="en-US" sz="3200" dirty="0"/>
              <a:t>x = "</a:t>
            </a:r>
            <a:r>
              <a:rPr lang="en-US" sz="3200" dirty="0" err="1"/>
              <a:t>mrcet</a:t>
            </a:r>
            <a:r>
              <a:rPr lang="en-US" sz="3200" dirty="0"/>
              <a:t> " </a:t>
            </a:r>
            <a:r>
              <a:rPr lang="en-US" sz="3200" dirty="0" smtClean="0"/>
              <a:t>          # </a:t>
            </a:r>
            <a:r>
              <a:rPr lang="en-US" sz="3200" dirty="0"/>
              <a:t>x is now of type </a:t>
            </a:r>
            <a:r>
              <a:rPr lang="en-US" sz="3200" dirty="0" err="1"/>
              <a:t>str</a:t>
            </a:r>
            <a:r>
              <a:rPr lang="en-US" sz="3200" dirty="0"/>
              <a:t> print(x)</a:t>
            </a:r>
          </a:p>
          <a:p>
            <a:pPr algn="just"/>
            <a:r>
              <a:rPr lang="en-US" sz="3200" dirty="0"/>
              <a:t>Output: </a:t>
            </a:r>
            <a:r>
              <a:rPr lang="en-US" sz="3200" dirty="0" err="1" smtClean="0"/>
              <a:t>mrcet</a:t>
            </a:r>
            <a:endParaRPr lang="en-US" sz="3200" dirty="0"/>
          </a:p>
        </p:txBody>
      </p:sp>
    </p:spTree>
    <p:extLst>
      <p:ext uri="{BB962C8B-B14F-4D97-AF65-F5344CB8AC3E}">
        <p14:creationId xmlns="" xmlns:p14="http://schemas.microsoft.com/office/powerpoint/2010/main" val="30765354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Assigning Values to variables</a:t>
            </a:r>
            <a:endParaRPr lang="en-US" dirty="0"/>
          </a:p>
        </p:txBody>
      </p:sp>
      <p:sp>
        <p:nvSpPr>
          <p:cNvPr id="4" name="TextBox 3"/>
          <p:cNvSpPr txBox="1"/>
          <p:nvPr/>
        </p:nvSpPr>
        <p:spPr>
          <a:xfrm>
            <a:off x="228600" y="1066800"/>
            <a:ext cx="8763000" cy="6001643"/>
          </a:xfrm>
          <a:prstGeom prst="rect">
            <a:avLst/>
          </a:prstGeom>
          <a:noFill/>
        </p:spPr>
        <p:txBody>
          <a:bodyPr wrap="square" rtlCol="0">
            <a:spAutoFit/>
          </a:bodyPr>
          <a:lstStyle/>
          <a:p>
            <a:pPr algn="just"/>
            <a:r>
              <a:rPr lang="en-US" sz="3200" dirty="0"/>
              <a:t>To combine both text and a variable, Python uses the “+” character:</a:t>
            </a:r>
          </a:p>
          <a:p>
            <a:pPr algn="just"/>
            <a:r>
              <a:rPr lang="en-US" sz="3200" dirty="0"/>
              <a:t>Example</a:t>
            </a:r>
          </a:p>
          <a:p>
            <a:pPr algn="just"/>
            <a:r>
              <a:rPr lang="en-US" sz="3200" dirty="0"/>
              <a:t>x = "awesome" print("Python is " + x)</a:t>
            </a:r>
          </a:p>
          <a:p>
            <a:pPr algn="just"/>
            <a:r>
              <a:rPr lang="en-US" sz="3200" dirty="0"/>
              <a:t>Output</a:t>
            </a:r>
          </a:p>
          <a:p>
            <a:pPr algn="just"/>
            <a:r>
              <a:rPr lang="en-US" sz="3200" dirty="0"/>
              <a:t>Python is awesome</a:t>
            </a:r>
          </a:p>
          <a:p>
            <a:pPr algn="just"/>
            <a:r>
              <a:rPr lang="en-US" sz="3200" dirty="0"/>
              <a:t>You can also use the + character to add a variable to another variable:</a:t>
            </a:r>
          </a:p>
          <a:p>
            <a:pPr algn="just"/>
            <a:r>
              <a:rPr lang="en-US" sz="3200" dirty="0"/>
              <a:t>Example</a:t>
            </a:r>
          </a:p>
          <a:p>
            <a:pPr algn="just"/>
            <a:r>
              <a:rPr lang="en-US" sz="3200" dirty="0"/>
              <a:t>x = "Python is " y = "awesome" z = x + y print(z)</a:t>
            </a:r>
          </a:p>
          <a:p>
            <a:pPr algn="just"/>
            <a:r>
              <a:rPr lang="en-US" sz="3200" dirty="0"/>
              <a:t>Output:</a:t>
            </a:r>
          </a:p>
          <a:p>
            <a:pPr algn="just"/>
            <a:r>
              <a:rPr lang="en-US" sz="3200" dirty="0"/>
              <a:t>Python is awesome</a:t>
            </a:r>
          </a:p>
        </p:txBody>
      </p:sp>
    </p:spTree>
    <p:extLst>
      <p:ext uri="{BB962C8B-B14F-4D97-AF65-F5344CB8AC3E}">
        <p14:creationId xmlns="" xmlns:p14="http://schemas.microsoft.com/office/powerpoint/2010/main" val="14412733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Operators</a:t>
            </a:r>
            <a:endParaRPr lang="en-US" dirty="0"/>
          </a:p>
        </p:txBody>
      </p:sp>
      <p:sp>
        <p:nvSpPr>
          <p:cNvPr id="4" name="TextBox 3"/>
          <p:cNvSpPr txBox="1"/>
          <p:nvPr/>
        </p:nvSpPr>
        <p:spPr>
          <a:xfrm>
            <a:off x="228600" y="1066800"/>
            <a:ext cx="8763000" cy="2062103"/>
          </a:xfrm>
          <a:prstGeom prst="rect">
            <a:avLst/>
          </a:prstGeom>
          <a:noFill/>
        </p:spPr>
        <p:txBody>
          <a:bodyPr wrap="square" rtlCol="0">
            <a:spAutoFit/>
          </a:bodyPr>
          <a:lstStyle/>
          <a:p>
            <a:pPr algn="just"/>
            <a:r>
              <a:rPr lang="en-US" sz="3200" dirty="0" smtClean="0"/>
              <a:t>All operators can be used as it is like our previous languages i.e. C, C++, Java etc.</a:t>
            </a:r>
          </a:p>
          <a:p>
            <a:pPr algn="just"/>
            <a:endParaRPr lang="en-US" sz="3200" dirty="0"/>
          </a:p>
          <a:p>
            <a:pPr algn="just"/>
            <a:r>
              <a:rPr lang="en-US" sz="3200" dirty="0" err="1" smtClean="0"/>
              <a:t>Python_MCA_2_final.pdf</a:t>
            </a:r>
            <a:r>
              <a:rPr lang="en-US" sz="3200" dirty="0" smtClean="0"/>
              <a:t> – page no. 7</a:t>
            </a:r>
            <a:endParaRPr lang="en-US" sz="3200" dirty="0"/>
          </a:p>
        </p:txBody>
      </p:sp>
    </p:spTree>
    <p:extLst>
      <p:ext uri="{BB962C8B-B14F-4D97-AF65-F5344CB8AC3E}">
        <p14:creationId xmlns="" xmlns:p14="http://schemas.microsoft.com/office/powerpoint/2010/main" val="349381202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algn="just"/>
            <a:r>
              <a:rPr lang="en-US" sz="3200" dirty="0"/>
              <a:t>Python Data Types are used to define the type of a variable.</a:t>
            </a:r>
          </a:p>
          <a:p>
            <a:pPr algn="just"/>
            <a:r>
              <a:rPr lang="en-US" sz="3200" dirty="0"/>
              <a:t>There are different types of data types in Python. Some built-in Python data types are:</a:t>
            </a:r>
          </a:p>
          <a:p>
            <a:pPr marL="457200" indent="-457200" algn="just">
              <a:buFont typeface="Arial" panose="020B0604020202020204" pitchFamily="34" charset="0"/>
              <a:buChar char="•"/>
            </a:pPr>
            <a:r>
              <a:rPr lang="en-US" sz="3200" dirty="0"/>
              <a:t>Numeric data types: </a:t>
            </a:r>
            <a:r>
              <a:rPr lang="en-US" sz="3200" dirty="0" err="1"/>
              <a:t>int</a:t>
            </a:r>
            <a:r>
              <a:rPr lang="en-US" sz="3200" dirty="0"/>
              <a:t>, float, complex</a:t>
            </a:r>
          </a:p>
          <a:p>
            <a:pPr marL="457200" indent="-457200" algn="just">
              <a:buFont typeface="Arial" panose="020B0604020202020204" pitchFamily="34" charset="0"/>
              <a:buChar char="•"/>
            </a:pPr>
            <a:r>
              <a:rPr lang="en-US" sz="3200" dirty="0"/>
              <a:t>String data types: </a:t>
            </a:r>
            <a:r>
              <a:rPr lang="en-US" sz="3200" dirty="0" err="1"/>
              <a:t>str</a:t>
            </a:r>
            <a:endParaRPr lang="en-US" sz="3200" dirty="0"/>
          </a:p>
          <a:p>
            <a:pPr marL="457200" indent="-457200" algn="just">
              <a:buFont typeface="Arial" panose="020B0604020202020204" pitchFamily="34" charset="0"/>
              <a:buChar char="•"/>
            </a:pPr>
            <a:r>
              <a:rPr lang="en-US" sz="3200" dirty="0"/>
              <a:t>Sequence types: list, tuple, range</a:t>
            </a:r>
          </a:p>
          <a:p>
            <a:pPr marL="457200" indent="-457200" algn="just">
              <a:buFont typeface="Arial" panose="020B0604020202020204" pitchFamily="34" charset="0"/>
              <a:buChar char="•"/>
            </a:pPr>
            <a:r>
              <a:rPr lang="en-US" sz="3200" dirty="0"/>
              <a:t>Mapping data type: </a:t>
            </a:r>
            <a:r>
              <a:rPr lang="en-US" sz="3200" dirty="0" err="1"/>
              <a:t>dict</a:t>
            </a:r>
            <a:endParaRPr lang="en-US" sz="3200" dirty="0"/>
          </a:p>
          <a:p>
            <a:pPr marL="457200" indent="-457200" algn="just">
              <a:buFont typeface="Arial" panose="020B0604020202020204" pitchFamily="34" charset="0"/>
              <a:buChar char="•"/>
            </a:pPr>
            <a:r>
              <a:rPr lang="en-US" sz="3200" dirty="0"/>
              <a:t>Boolean type: bool</a:t>
            </a:r>
          </a:p>
          <a:p>
            <a:pPr marL="457200" indent="-457200" algn="just">
              <a:buFont typeface="Arial" panose="020B0604020202020204" pitchFamily="34" charset="0"/>
              <a:buChar char="•"/>
            </a:pPr>
            <a:r>
              <a:rPr lang="en-US" sz="3200" dirty="0"/>
              <a:t>Set data types: set</a:t>
            </a:r>
          </a:p>
        </p:txBody>
      </p:sp>
    </p:spTree>
    <p:extLst>
      <p:ext uri="{BB962C8B-B14F-4D97-AF65-F5344CB8AC3E}">
        <p14:creationId xmlns="" xmlns:p14="http://schemas.microsoft.com/office/powerpoint/2010/main" val="7445098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6001643"/>
          </a:xfrm>
          <a:prstGeom prst="rect">
            <a:avLst/>
          </a:prstGeom>
          <a:noFill/>
        </p:spPr>
        <p:txBody>
          <a:bodyPr wrap="square" rtlCol="0">
            <a:spAutoFit/>
          </a:bodyPr>
          <a:lstStyle/>
          <a:p>
            <a:pPr marL="457200" indent="-457200" algn="just">
              <a:buFont typeface="Arial" panose="020B0604020202020204" pitchFamily="34" charset="0"/>
              <a:buChar char="•"/>
            </a:pPr>
            <a:r>
              <a:rPr lang="en-US" sz="3200" b="1" dirty="0" smtClean="0"/>
              <a:t>Python </a:t>
            </a:r>
            <a:r>
              <a:rPr lang="en-US" sz="3200" b="1" dirty="0"/>
              <a:t>Numeric Data Type</a:t>
            </a:r>
          </a:p>
          <a:p>
            <a:pPr algn="just"/>
            <a:r>
              <a:rPr lang="en-US" sz="3200" dirty="0"/>
              <a:t>Python numeric data type is used to hold numeric values like;</a:t>
            </a:r>
          </a:p>
          <a:p>
            <a:pPr algn="just"/>
            <a:r>
              <a:rPr lang="en-US" sz="3200" b="1" dirty="0" err="1"/>
              <a:t>int</a:t>
            </a:r>
            <a:r>
              <a:rPr lang="en-US" sz="3200" dirty="0"/>
              <a:t> - holds signed integers of non-limited length.</a:t>
            </a:r>
          </a:p>
          <a:p>
            <a:pPr algn="just"/>
            <a:r>
              <a:rPr lang="en-US" sz="3200" b="1" dirty="0"/>
              <a:t>f</a:t>
            </a:r>
            <a:r>
              <a:rPr lang="en-US" sz="3200" b="1" dirty="0" smtClean="0"/>
              <a:t>loat </a:t>
            </a:r>
            <a:r>
              <a:rPr lang="en-US" sz="3200" dirty="0" smtClean="0"/>
              <a:t>- </a:t>
            </a:r>
            <a:r>
              <a:rPr lang="en-US" sz="3200" dirty="0"/>
              <a:t>holds floating precision numbers and it’s accurate up to 15 decimal places.</a:t>
            </a:r>
          </a:p>
          <a:p>
            <a:pPr algn="just"/>
            <a:r>
              <a:rPr lang="en-US" sz="3200" b="1" dirty="0" smtClean="0"/>
              <a:t>complex</a:t>
            </a:r>
            <a:r>
              <a:rPr lang="en-US" sz="3200" dirty="0" smtClean="0"/>
              <a:t> - </a:t>
            </a:r>
            <a:r>
              <a:rPr lang="en-US" sz="3200" dirty="0"/>
              <a:t>holds complex numbers</a:t>
            </a:r>
            <a:r>
              <a:rPr lang="en-US" sz="3200" dirty="0" smtClean="0"/>
              <a:t>.</a:t>
            </a:r>
          </a:p>
          <a:p>
            <a:pPr algn="just"/>
            <a:r>
              <a:rPr lang="en-US" sz="3200" b="1" dirty="0" smtClean="0"/>
              <a:t>Note </a:t>
            </a:r>
            <a:r>
              <a:rPr lang="en-US" sz="3200" b="1" dirty="0"/>
              <a:t>: In Python, we need not declare a datatype while declaring a variable like C or C++. We can simply just assign values in a variable. But if we want to see what type of numerical value is it holding right now, we can use type() function</a:t>
            </a:r>
          </a:p>
        </p:txBody>
      </p:sp>
    </p:spTree>
    <p:extLst>
      <p:ext uri="{BB962C8B-B14F-4D97-AF65-F5344CB8AC3E}">
        <p14:creationId xmlns="" xmlns:p14="http://schemas.microsoft.com/office/powerpoint/2010/main" val="266821039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5262979"/>
          </a:xfrm>
          <a:prstGeom prst="rect">
            <a:avLst/>
          </a:prstGeom>
          <a:noFill/>
        </p:spPr>
        <p:txBody>
          <a:bodyPr wrap="square" rtlCol="0">
            <a:spAutoFit/>
          </a:bodyPr>
          <a:lstStyle/>
          <a:p>
            <a:pPr algn="just"/>
            <a:r>
              <a:rPr lang="en-US" sz="2800" b="1" dirty="0"/>
              <a:t>Example:</a:t>
            </a:r>
          </a:p>
          <a:p>
            <a:pPr algn="just"/>
            <a:r>
              <a:rPr lang="en-US" sz="2800" dirty="0"/>
              <a:t>#create a variable with integer value.</a:t>
            </a:r>
          </a:p>
          <a:p>
            <a:pPr algn="just"/>
            <a:r>
              <a:rPr lang="en-US" sz="2800" dirty="0"/>
              <a:t>a=100</a:t>
            </a:r>
          </a:p>
          <a:p>
            <a:pPr algn="just"/>
            <a:r>
              <a:rPr lang="en-US" sz="2800" dirty="0"/>
              <a:t>print("The type of variable having value", a, " is ", type(a))</a:t>
            </a:r>
          </a:p>
          <a:p>
            <a:pPr algn="just"/>
            <a:endParaRPr lang="en-US" sz="2800" dirty="0" smtClean="0"/>
          </a:p>
          <a:p>
            <a:pPr algn="just"/>
            <a:r>
              <a:rPr lang="en-US" sz="2800" dirty="0" smtClean="0"/>
              <a:t>#</a:t>
            </a:r>
            <a:r>
              <a:rPr lang="en-US" sz="2800" dirty="0"/>
              <a:t>create a variable with float value.</a:t>
            </a:r>
          </a:p>
          <a:p>
            <a:pPr algn="just"/>
            <a:r>
              <a:rPr lang="en-US" sz="2800" dirty="0"/>
              <a:t>b=10.2345</a:t>
            </a:r>
          </a:p>
          <a:p>
            <a:pPr algn="just"/>
            <a:r>
              <a:rPr lang="en-US" sz="2800" dirty="0"/>
              <a:t>print("The type of variable having value", b, " is ", type(b))</a:t>
            </a:r>
          </a:p>
          <a:p>
            <a:pPr algn="just"/>
            <a:endParaRPr lang="en-US" sz="2800" dirty="0" smtClean="0"/>
          </a:p>
          <a:p>
            <a:pPr algn="just"/>
            <a:r>
              <a:rPr lang="en-US" sz="2800" dirty="0" smtClean="0"/>
              <a:t>#</a:t>
            </a:r>
            <a:r>
              <a:rPr lang="en-US" sz="2800" dirty="0"/>
              <a:t>create a variable with complex value.</a:t>
            </a:r>
          </a:p>
          <a:p>
            <a:pPr algn="just"/>
            <a:r>
              <a:rPr lang="en-US" sz="2800" dirty="0"/>
              <a:t>c=</a:t>
            </a:r>
            <a:r>
              <a:rPr lang="en-US" sz="2800" dirty="0" err="1"/>
              <a:t>100+3j</a:t>
            </a:r>
            <a:endParaRPr lang="en-US" sz="2800" dirty="0"/>
          </a:p>
          <a:p>
            <a:pPr algn="just"/>
            <a:r>
              <a:rPr lang="en-US" sz="2800" dirty="0"/>
              <a:t>print("The type of variable having value", c, " is ", type(c))</a:t>
            </a:r>
          </a:p>
        </p:txBody>
      </p:sp>
    </p:spTree>
    <p:extLst>
      <p:ext uri="{BB962C8B-B14F-4D97-AF65-F5344CB8AC3E}">
        <p14:creationId xmlns="" xmlns:p14="http://schemas.microsoft.com/office/powerpoint/2010/main" val="33738452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marL="457200" indent="-457200" algn="just">
              <a:buFont typeface="Arial" panose="020B0604020202020204" pitchFamily="34" charset="0"/>
              <a:buChar char="•"/>
            </a:pPr>
            <a:r>
              <a:rPr lang="en-US" sz="3200" b="1" dirty="0"/>
              <a:t>Python String Data Type</a:t>
            </a:r>
          </a:p>
          <a:p>
            <a:pPr algn="just"/>
            <a:r>
              <a:rPr lang="en-US" sz="3200" dirty="0"/>
              <a:t>The string is a sequence of characters. Python supports Unicode characters. Generally, strings are represented by either single or double-quotes.</a:t>
            </a:r>
          </a:p>
          <a:p>
            <a:pPr algn="just"/>
            <a:r>
              <a:rPr lang="en-US" sz="3200" b="1" dirty="0"/>
              <a:t>Example:</a:t>
            </a:r>
          </a:p>
          <a:p>
            <a:pPr algn="just"/>
            <a:r>
              <a:rPr lang="en-US" sz="3200" dirty="0"/>
              <a:t>a = "string in a double quote"</a:t>
            </a:r>
          </a:p>
          <a:p>
            <a:pPr algn="just"/>
            <a:r>
              <a:rPr lang="en-US" sz="3200" dirty="0"/>
              <a:t>b= 'string in a single quote'</a:t>
            </a:r>
          </a:p>
          <a:p>
            <a:pPr algn="just"/>
            <a:r>
              <a:rPr lang="en-US" sz="3200" dirty="0"/>
              <a:t>print(a)</a:t>
            </a:r>
          </a:p>
          <a:p>
            <a:pPr algn="just"/>
            <a:r>
              <a:rPr lang="en-US" sz="3200" dirty="0"/>
              <a:t>print(b)</a:t>
            </a:r>
          </a:p>
        </p:txBody>
      </p:sp>
    </p:spTree>
    <p:extLst>
      <p:ext uri="{BB962C8B-B14F-4D97-AF65-F5344CB8AC3E}">
        <p14:creationId xmlns="" xmlns:p14="http://schemas.microsoft.com/office/powerpoint/2010/main" val="38197775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b="1" dirty="0"/>
              <a:t>S</a:t>
            </a:r>
            <a:r>
              <a:rPr lang="en-US" sz="3200" b="1" dirty="0" smtClean="0"/>
              <a:t>tring </a:t>
            </a:r>
            <a:r>
              <a:rPr lang="en-US" sz="3200" b="1" dirty="0"/>
              <a:t>slices:</a:t>
            </a:r>
          </a:p>
          <a:p>
            <a:pPr algn="just"/>
            <a:r>
              <a:rPr lang="en-US" sz="3200" dirty="0"/>
              <a:t>A segment of a string is called a slice. Selecting a slice is similar to selecting a character:</a:t>
            </a:r>
          </a:p>
          <a:p>
            <a:pPr algn="just"/>
            <a:r>
              <a:rPr lang="en-US" sz="3200" dirty="0"/>
              <a:t>Subsets of strings can be taken using the slice operator ([ ] and [:]) with indexes starting at 0 in the beginning of the string and working their way from -1 at the end.</a:t>
            </a:r>
          </a:p>
          <a:p>
            <a:pPr algn="just"/>
            <a:r>
              <a:rPr lang="en-US" sz="3200" dirty="0"/>
              <a:t>Slice out substrings, sub lists, sub Tuples using index</a:t>
            </a:r>
            <a:r>
              <a:rPr lang="en-US" sz="3200" dirty="0" smtClean="0"/>
              <a:t>.</a:t>
            </a:r>
          </a:p>
        </p:txBody>
      </p:sp>
    </p:spTree>
    <p:extLst>
      <p:ext uri="{BB962C8B-B14F-4D97-AF65-F5344CB8AC3E}">
        <p14:creationId xmlns="" xmlns:p14="http://schemas.microsoft.com/office/powerpoint/2010/main" val="25105295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a:t>Syntax</a:t>
            </a:r>
            <a:r>
              <a:rPr lang="en-US" sz="3200" dirty="0"/>
              <a:t>:[Start: stop: steps]</a:t>
            </a:r>
          </a:p>
          <a:p>
            <a:pPr marL="457200" indent="-457200" algn="just">
              <a:buFont typeface="Arial" panose="020B0604020202020204" pitchFamily="34" charset="0"/>
              <a:buChar char="•"/>
            </a:pPr>
            <a:r>
              <a:rPr lang="en-US" sz="3200" dirty="0" smtClean="0"/>
              <a:t>Slicing </a:t>
            </a:r>
            <a:r>
              <a:rPr lang="en-US" sz="3200" dirty="0"/>
              <a:t>will start from index and will go up to stop in step of steps</a:t>
            </a:r>
            <a:r>
              <a:rPr lang="en-US" sz="3200" dirty="0" smtClean="0"/>
              <a:t>.</a:t>
            </a:r>
            <a:endParaRPr lang="en-US" sz="3200" dirty="0"/>
          </a:p>
          <a:p>
            <a:pPr marL="457200" indent="-457200" algn="just">
              <a:buFont typeface="Arial" panose="020B0604020202020204" pitchFamily="34" charset="0"/>
              <a:buChar char="•"/>
            </a:pPr>
            <a:r>
              <a:rPr lang="en-US" sz="3200" dirty="0" smtClean="0"/>
              <a:t>Default </a:t>
            </a:r>
            <a:r>
              <a:rPr lang="en-US" sz="3200" dirty="0"/>
              <a:t>value of start is 0</a:t>
            </a:r>
            <a:r>
              <a:rPr lang="en-US" sz="3200" dirty="0" smtClean="0"/>
              <a:t>,</a:t>
            </a:r>
            <a:endParaRPr lang="en-US" sz="3200" dirty="0"/>
          </a:p>
          <a:p>
            <a:pPr marL="457200" indent="-457200" algn="just">
              <a:buFont typeface="Arial" panose="020B0604020202020204" pitchFamily="34" charset="0"/>
              <a:buChar char="•"/>
            </a:pPr>
            <a:r>
              <a:rPr lang="en-US" sz="3200" dirty="0" smtClean="0"/>
              <a:t>Stop </a:t>
            </a:r>
            <a:r>
              <a:rPr lang="en-US" sz="3200" dirty="0"/>
              <a:t>is last index of </a:t>
            </a:r>
            <a:r>
              <a:rPr lang="en-US" sz="3200" dirty="0" smtClean="0"/>
              <a:t>list</a:t>
            </a:r>
            <a:endParaRPr lang="en-US" sz="3200" dirty="0"/>
          </a:p>
          <a:p>
            <a:pPr marL="457200" indent="-457200" algn="just">
              <a:buFont typeface="Arial" panose="020B0604020202020204" pitchFamily="34" charset="0"/>
              <a:buChar char="•"/>
            </a:pPr>
            <a:r>
              <a:rPr lang="en-US" sz="3200" dirty="0" smtClean="0"/>
              <a:t>And </a:t>
            </a:r>
            <a:r>
              <a:rPr lang="en-US" sz="3200" dirty="0"/>
              <a:t>for step default </a:t>
            </a:r>
            <a:r>
              <a:rPr lang="en-US" sz="3200" dirty="0" smtClean="0"/>
              <a:t>is 1</a:t>
            </a:r>
          </a:p>
        </p:txBody>
      </p:sp>
    </p:spTree>
    <p:extLst>
      <p:ext uri="{BB962C8B-B14F-4D97-AF65-F5344CB8AC3E}">
        <p14:creationId xmlns="" xmlns:p14="http://schemas.microsoft.com/office/powerpoint/2010/main" val="8473335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algn="just"/>
            <a:r>
              <a:rPr lang="en-US" sz="3200" b="1" dirty="0" smtClean="0"/>
              <a:t>Example</a:t>
            </a:r>
          </a:p>
          <a:p>
            <a:pPr algn="just"/>
            <a:r>
              <a:rPr lang="en-US" sz="3200" dirty="0" err="1" smtClean="0"/>
              <a:t>str</a:t>
            </a:r>
            <a:r>
              <a:rPr lang="en-US" sz="3200" dirty="0" smtClean="0"/>
              <a:t> </a:t>
            </a:r>
            <a:r>
              <a:rPr lang="en-US" sz="3200" dirty="0"/>
              <a:t>= 'Hello World!'</a:t>
            </a:r>
          </a:p>
          <a:p>
            <a:pPr algn="just"/>
            <a:r>
              <a:rPr lang="en-US" sz="3200" dirty="0"/>
              <a:t>print </a:t>
            </a:r>
            <a:r>
              <a:rPr lang="en-US" sz="3200" dirty="0" err="1"/>
              <a:t>str</a:t>
            </a:r>
            <a:r>
              <a:rPr lang="en-US" sz="3200" dirty="0"/>
              <a:t> # Prints complete string</a:t>
            </a:r>
          </a:p>
          <a:p>
            <a:pPr algn="just"/>
            <a:r>
              <a:rPr lang="en-US" sz="3200" dirty="0"/>
              <a:t>print </a:t>
            </a:r>
            <a:r>
              <a:rPr lang="en-US" sz="3200" dirty="0" err="1"/>
              <a:t>str</a:t>
            </a:r>
            <a:r>
              <a:rPr lang="en-US" sz="3200" dirty="0"/>
              <a:t>[0] # Prints first character of the string</a:t>
            </a:r>
          </a:p>
          <a:p>
            <a:pPr algn="just"/>
            <a:r>
              <a:rPr lang="en-US" sz="3200" dirty="0"/>
              <a:t>print </a:t>
            </a:r>
            <a:r>
              <a:rPr lang="en-US" sz="3200" dirty="0" err="1"/>
              <a:t>str</a:t>
            </a:r>
            <a:r>
              <a:rPr lang="en-US" sz="3200" dirty="0"/>
              <a:t>[2:5] # Prints characters starting from 3rd to 5th print </a:t>
            </a:r>
            <a:r>
              <a:rPr lang="en-US" sz="3200" dirty="0" err="1"/>
              <a:t>str</a:t>
            </a:r>
            <a:r>
              <a:rPr lang="en-US" sz="3200" dirty="0"/>
              <a:t>[2:] # Prints string starting from 3rd character print </a:t>
            </a:r>
            <a:r>
              <a:rPr lang="en-US" sz="3200" dirty="0" err="1"/>
              <a:t>str</a:t>
            </a:r>
            <a:r>
              <a:rPr lang="en-US" sz="3200" dirty="0"/>
              <a:t> * 2 # Prints string two times</a:t>
            </a:r>
          </a:p>
          <a:p>
            <a:pPr algn="just"/>
            <a:r>
              <a:rPr lang="en-US" sz="3200" dirty="0"/>
              <a:t>print </a:t>
            </a:r>
            <a:r>
              <a:rPr lang="en-US" sz="3200" dirty="0" err="1"/>
              <a:t>str</a:t>
            </a:r>
            <a:r>
              <a:rPr lang="en-US" sz="3200" dirty="0"/>
              <a:t> + "TEST" # Prints concatenated string</a:t>
            </a:r>
            <a:endParaRPr lang="en-US" sz="3200" dirty="0" smtClean="0"/>
          </a:p>
        </p:txBody>
      </p:sp>
    </p:spTree>
    <p:extLst>
      <p:ext uri="{BB962C8B-B14F-4D97-AF65-F5344CB8AC3E}">
        <p14:creationId xmlns="" xmlns:p14="http://schemas.microsoft.com/office/powerpoint/2010/main" val="4632339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5940088"/>
          </a:xfrm>
          <a:prstGeom prst="rect">
            <a:avLst/>
          </a:prstGeom>
          <a:noFill/>
        </p:spPr>
        <p:txBody>
          <a:bodyPr wrap="square" rtlCol="0">
            <a:spAutoFit/>
          </a:bodyPr>
          <a:lstStyle/>
          <a:p>
            <a:pPr algn="just"/>
            <a:r>
              <a:rPr lang="en-US" sz="2000" dirty="0"/>
              <a:t>&gt;&gt;&gt; x='computer'</a:t>
            </a:r>
          </a:p>
          <a:p>
            <a:pPr algn="just"/>
            <a:r>
              <a:rPr lang="en-US" sz="2000" dirty="0"/>
              <a:t>&gt;&gt;&gt; x[1:4]</a:t>
            </a:r>
          </a:p>
          <a:p>
            <a:pPr algn="just"/>
            <a:r>
              <a:rPr lang="en-US" sz="2000" dirty="0"/>
              <a:t>'</a:t>
            </a:r>
            <a:r>
              <a:rPr lang="en-US" sz="2000" dirty="0" err="1"/>
              <a:t>omp</a:t>
            </a:r>
            <a:r>
              <a:rPr lang="en-US" sz="2000" dirty="0"/>
              <a:t>'</a:t>
            </a:r>
          </a:p>
          <a:p>
            <a:pPr algn="just"/>
            <a:r>
              <a:rPr lang="en-US" sz="2000" dirty="0"/>
              <a:t>&gt;&gt;&gt; x[1:6:2]</a:t>
            </a:r>
          </a:p>
          <a:p>
            <a:pPr algn="just"/>
            <a:r>
              <a:rPr lang="en-US" sz="2000" dirty="0"/>
              <a:t>'opt'</a:t>
            </a:r>
          </a:p>
          <a:p>
            <a:pPr algn="just"/>
            <a:r>
              <a:rPr lang="en-US" sz="2000" dirty="0"/>
              <a:t>&gt;&gt;&gt; x[3:]</a:t>
            </a:r>
          </a:p>
          <a:p>
            <a:pPr algn="just"/>
            <a:r>
              <a:rPr lang="en-US" sz="2000" dirty="0"/>
              <a:t>'</a:t>
            </a:r>
            <a:r>
              <a:rPr lang="en-US" sz="2000" dirty="0" err="1"/>
              <a:t>puter</a:t>
            </a:r>
            <a:r>
              <a:rPr lang="en-US" sz="2000" dirty="0"/>
              <a:t>'</a:t>
            </a:r>
          </a:p>
          <a:p>
            <a:pPr algn="just"/>
            <a:r>
              <a:rPr lang="en-US" sz="2000" dirty="0"/>
              <a:t>&gt;&gt;&gt; x[:5]</a:t>
            </a:r>
          </a:p>
          <a:p>
            <a:pPr algn="just"/>
            <a:r>
              <a:rPr lang="en-US" sz="2000" dirty="0"/>
              <a:t>'</a:t>
            </a:r>
            <a:r>
              <a:rPr lang="en-US" sz="2000" dirty="0" err="1"/>
              <a:t>compu</a:t>
            </a:r>
            <a:r>
              <a:rPr lang="en-US" sz="2000" dirty="0"/>
              <a:t>'</a:t>
            </a:r>
          </a:p>
          <a:p>
            <a:pPr algn="just"/>
            <a:r>
              <a:rPr lang="en-US" sz="2000" dirty="0"/>
              <a:t>&gt;&gt;&gt; x[-1]</a:t>
            </a:r>
          </a:p>
          <a:p>
            <a:pPr algn="just"/>
            <a:r>
              <a:rPr lang="en-US" sz="2000" dirty="0"/>
              <a:t>'r'</a:t>
            </a:r>
          </a:p>
          <a:p>
            <a:pPr algn="just"/>
            <a:r>
              <a:rPr lang="en-US" sz="2000" dirty="0"/>
              <a:t>&gt;&gt;&gt; x[-3:]</a:t>
            </a:r>
          </a:p>
          <a:p>
            <a:pPr algn="just"/>
            <a:r>
              <a:rPr lang="en-US" sz="2000" dirty="0"/>
              <a:t>'</a:t>
            </a:r>
            <a:r>
              <a:rPr lang="en-US" sz="2000" dirty="0" err="1"/>
              <a:t>ter</a:t>
            </a:r>
            <a:r>
              <a:rPr lang="en-US" sz="2000" dirty="0"/>
              <a:t>'</a:t>
            </a:r>
          </a:p>
          <a:p>
            <a:pPr algn="just"/>
            <a:r>
              <a:rPr lang="en-US" sz="2000" dirty="0"/>
              <a:t>&gt;&gt;&gt; x[:-2]</a:t>
            </a:r>
          </a:p>
          <a:p>
            <a:pPr algn="just"/>
            <a:r>
              <a:rPr lang="en-US" sz="2000" dirty="0"/>
              <a:t>'</a:t>
            </a:r>
            <a:r>
              <a:rPr lang="en-US" sz="2000" dirty="0" err="1"/>
              <a:t>comput</a:t>
            </a:r>
            <a:r>
              <a:rPr lang="en-US" sz="2000" dirty="0"/>
              <a:t>'</a:t>
            </a:r>
          </a:p>
          <a:p>
            <a:pPr algn="just"/>
            <a:r>
              <a:rPr lang="en-US" sz="2000" dirty="0"/>
              <a:t>&gt;&gt;&gt; x[::-2]</a:t>
            </a:r>
          </a:p>
          <a:p>
            <a:pPr algn="just"/>
            <a:r>
              <a:rPr lang="en-US" sz="2000" dirty="0"/>
              <a:t>'</a:t>
            </a:r>
            <a:r>
              <a:rPr lang="en-US" sz="2000" dirty="0" err="1"/>
              <a:t>rtpo</a:t>
            </a:r>
            <a:r>
              <a:rPr lang="en-US" sz="2000" dirty="0"/>
              <a:t>'</a:t>
            </a:r>
          </a:p>
          <a:p>
            <a:pPr algn="just"/>
            <a:r>
              <a:rPr lang="en-US" sz="2000" dirty="0"/>
              <a:t>&gt;&gt;&gt; x[::-1]</a:t>
            </a:r>
          </a:p>
          <a:p>
            <a:pPr algn="just"/>
            <a:r>
              <a:rPr lang="en-US" sz="2000" dirty="0"/>
              <a:t>'</a:t>
            </a:r>
            <a:r>
              <a:rPr lang="en-US" sz="2000" dirty="0" err="1"/>
              <a:t>retupmoc</a:t>
            </a:r>
            <a:r>
              <a:rPr lang="en-US" sz="2000" dirty="0"/>
              <a:t>'</a:t>
            </a:r>
            <a:endParaRPr lang="en-US" sz="2000" dirty="0" smtClean="0"/>
          </a:p>
        </p:txBody>
      </p:sp>
    </p:spTree>
    <p:extLst>
      <p:ext uri="{BB962C8B-B14F-4D97-AF65-F5344CB8AC3E}">
        <p14:creationId xmlns="" xmlns:p14="http://schemas.microsoft.com/office/powerpoint/2010/main" val="37329186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2554545"/>
          </a:xfrm>
          <a:prstGeom prst="rect">
            <a:avLst/>
          </a:prstGeom>
          <a:noFill/>
        </p:spPr>
        <p:txBody>
          <a:bodyPr wrap="square" rtlCol="0">
            <a:spAutoFit/>
          </a:bodyPr>
          <a:lstStyle/>
          <a:p>
            <a:pPr algn="just"/>
            <a:r>
              <a:rPr lang="en-US" sz="2000" b="1" dirty="0"/>
              <a:t>in keyword:</a:t>
            </a:r>
          </a:p>
          <a:p>
            <a:pPr algn="just"/>
            <a:r>
              <a:rPr lang="en-US" sz="2000" dirty="0" smtClean="0"/>
              <a:t>To </a:t>
            </a:r>
            <a:r>
              <a:rPr lang="en-US" sz="2000" dirty="0"/>
              <a:t>check if a certain phrase or character is present in a string, we can use the keyword in.</a:t>
            </a:r>
          </a:p>
          <a:p>
            <a:pPr algn="just"/>
            <a:r>
              <a:rPr lang="en-US" sz="2000" b="1" dirty="0"/>
              <a:t>Example :</a:t>
            </a:r>
          </a:p>
          <a:p>
            <a:pPr algn="just"/>
            <a:r>
              <a:rPr lang="en-US" sz="2000" dirty="0"/>
              <a:t>text = "The best things in life are free!"</a:t>
            </a:r>
          </a:p>
          <a:p>
            <a:pPr algn="just"/>
            <a:r>
              <a:rPr lang="en-US" sz="2000" dirty="0"/>
              <a:t>print("free" in text)</a:t>
            </a:r>
          </a:p>
          <a:p>
            <a:pPr algn="just"/>
            <a:endParaRPr lang="en-US" sz="2000" dirty="0"/>
          </a:p>
          <a:p>
            <a:pPr algn="just"/>
            <a:r>
              <a:rPr lang="en-US" sz="2000" dirty="0"/>
              <a:t>Output : True</a:t>
            </a:r>
          </a:p>
        </p:txBody>
      </p:sp>
    </p:spTree>
    <p:extLst>
      <p:ext uri="{BB962C8B-B14F-4D97-AF65-F5344CB8AC3E}">
        <p14:creationId xmlns="" xmlns:p14="http://schemas.microsoft.com/office/powerpoint/2010/main" val="17462637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4893647"/>
          </a:xfrm>
          <a:prstGeom prst="rect">
            <a:avLst/>
          </a:prstGeom>
          <a:noFill/>
        </p:spPr>
        <p:txBody>
          <a:bodyPr wrap="square" rtlCol="0">
            <a:spAutoFit/>
          </a:bodyPr>
          <a:lstStyle/>
          <a:p>
            <a:pPr algn="just"/>
            <a:r>
              <a:rPr lang="en-US" sz="2400" dirty="0"/>
              <a:t>To check if a certain phrase or character is NOT present in a string, we can use the keyword not in</a:t>
            </a:r>
            <a:r>
              <a:rPr lang="en-US" sz="2400" dirty="0" smtClean="0"/>
              <a:t>.</a:t>
            </a:r>
          </a:p>
          <a:p>
            <a:pPr algn="just"/>
            <a:endParaRPr lang="en-US" sz="2400" dirty="0"/>
          </a:p>
          <a:p>
            <a:r>
              <a:rPr lang="en-US" sz="2400" dirty="0"/>
              <a:t>Example :</a:t>
            </a:r>
            <a:endParaRPr lang="en-IN" sz="2400" dirty="0"/>
          </a:p>
          <a:p>
            <a:r>
              <a:rPr lang="en-US" sz="2400" dirty="0"/>
              <a:t>text = "The best things in life are free!"</a:t>
            </a:r>
            <a:endParaRPr lang="en-IN" sz="2400" dirty="0"/>
          </a:p>
          <a:p>
            <a:r>
              <a:rPr lang="en-US" sz="2400" dirty="0"/>
              <a:t>print("expensive" not in text)</a:t>
            </a:r>
            <a:endParaRPr lang="en-IN" sz="2400" dirty="0"/>
          </a:p>
          <a:p>
            <a:r>
              <a:rPr lang="en-US" sz="2400" dirty="0"/>
              <a:t>Output: True</a:t>
            </a:r>
            <a:endParaRPr lang="en-IN" sz="2400" dirty="0"/>
          </a:p>
          <a:p>
            <a:r>
              <a:rPr lang="en-US" sz="2400" dirty="0"/>
              <a:t>Example :</a:t>
            </a:r>
            <a:endParaRPr lang="en-IN" sz="2400" dirty="0"/>
          </a:p>
          <a:p>
            <a:r>
              <a:rPr lang="en-US" sz="2400" dirty="0"/>
              <a:t> </a:t>
            </a:r>
            <a:r>
              <a:rPr lang="en-US" sz="2400" dirty="0" smtClean="0"/>
              <a:t>text </a:t>
            </a:r>
            <a:r>
              <a:rPr lang="en-US" sz="2400" dirty="0"/>
              <a:t>= "The best things in life are free!"</a:t>
            </a:r>
            <a:endParaRPr lang="en-IN" sz="2400" dirty="0"/>
          </a:p>
          <a:p>
            <a:r>
              <a:rPr lang="en-US" sz="2400" dirty="0"/>
              <a:t> </a:t>
            </a:r>
            <a:r>
              <a:rPr lang="en-US" sz="2400" dirty="0" smtClean="0"/>
              <a:t>if </a:t>
            </a:r>
            <a:r>
              <a:rPr lang="en-US" sz="2400" dirty="0"/>
              <a:t>"expensive" not in txt:</a:t>
            </a:r>
            <a:endParaRPr lang="en-IN" sz="2400" dirty="0"/>
          </a:p>
          <a:p>
            <a:r>
              <a:rPr lang="en-US" sz="2400" dirty="0"/>
              <a:t> 	print("Yes, 'expensive' is NOT present.")</a:t>
            </a:r>
            <a:endParaRPr lang="en-IN" sz="2400" dirty="0"/>
          </a:p>
          <a:p>
            <a:r>
              <a:rPr lang="en-US" sz="2400" dirty="0"/>
              <a:t> </a:t>
            </a:r>
            <a:r>
              <a:rPr lang="en-US" sz="2400" dirty="0" smtClean="0"/>
              <a:t>Output</a:t>
            </a:r>
            <a:r>
              <a:rPr lang="en-US" sz="2400" dirty="0"/>
              <a:t>: </a:t>
            </a:r>
            <a:endParaRPr lang="en-IN" sz="2400" dirty="0"/>
          </a:p>
          <a:p>
            <a:r>
              <a:rPr lang="en-US" sz="2400" dirty="0"/>
              <a:t>"Yes, 'expensive' is NOT present."</a:t>
            </a:r>
          </a:p>
        </p:txBody>
      </p:sp>
    </p:spTree>
    <p:extLst>
      <p:ext uri="{BB962C8B-B14F-4D97-AF65-F5344CB8AC3E}">
        <p14:creationId xmlns="" xmlns:p14="http://schemas.microsoft.com/office/powerpoint/2010/main" val="81619949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5509200"/>
          </a:xfrm>
          <a:prstGeom prst="rect">
            <a:avLst/>
          </a:prstGeom>
          <a:noFill/>
        </p:spPr>
        <p:txBody>
          <a:bodyPr wrap="square" rtlCol="0">
            <a:spAutoFit/>
          </a:bodyPr>
          <a:lstStyle/>
          <a:p>
            <a:pPr marL="457200" indent="-457200" algn="just">
              <a:buFont typeface="Arial" panose="020B0604020202020204" pitchFamily="34" charset="0"/>
              <a:buChar char="•"/>
            </a:pPr>
            <a:r>
              <a:rPr lang="en-US" sz="3200" b="1" dirty="0"/>
              <a:t>Python List Data Type</a:t>
            </a:r>
          </a:p>
          <a:p>
            <a:pPr algn="just"/>
            <a:r>
              <a:rPr lang="en-US" sz="3200" dirty="0"/>
              <a:t>The list is a versatile data type exclusive in Python. In a sense, it is the same as the array in C/C++. But the interesting thing about the list in Python is it can simultaneously hold different types of data. Formally list is an ordered sequence of some data written using square brackets([]) and commas(,).</a:t>
            </a:r>
          </a:p>
          <a:p>
            <a:pPr algn="just"/>
            <a:r>
              <a:rPr lang="en-US" sz="3200" b="1" dirty="0"/>
              <a:t>Example:</a:t>
            </a:r>
          </a:p>
          <a:p>
            <a:pPr algn="just"/>
            <a:r>
              <a:rPr lang="en-US" sz="3200" dirty="0"/>
              <a:t>#list of having only integers</a:t>
            </a:r>
          </a:p>
          <a:p>
            <a:pPr algn="just"/>
            <a:r>
              <a:rPr lang="en-US" sz="3200" dirty="0"/>
              <a:t>a= [1,2,3,4,5,6]</a:t>
            </a:r>
          </a:p>
          <a:p>
            <a:pPr algn="just"/>
            <a:r>
              <a:rPr lang="en-US" sz="3200" dirty="0"/>
              <a:t>print(a</a:t>
            </a:r>
            <a:r>
              <a:rPr lang="en-US" sz="3200" dirty="0" smtClean="0"/>
              <a:t>)  or Print(a[1])</a:t>
            </a:r>
            <a:endParaRPr lang="en-US" sz="3200" dirty="0"/>
          </a:p>
        </p:txBody>
      </p:sp>
    </p:spTree>
    <p:extLst>
      <p:ext uri="{BB962C8B-B14F-4D97-AF65-F5344CB8AC3E}">
        <p14:creationId xmlns="" xmlns:p14="http://schemas.microsoft.com/office/powerpoint/2010/main" val="21022204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marL="457200" indent="-457200" algn="just">
              <a:buFont typeface="Arial" panose="020B0604020202020204" pitchFamily="34" charset="0"/>
              <a:buChar char="•"/>
            </a:pPr>
            <a:r>
              <a:rPr lang="en-US" sz="3200" b="1" dirty="0"/>
              <a:t>Python Tuple</a:t>
            </a:r>
          </a:p>
          <a:p>
            <a:pPr algn="just"/>
            <a:r>
              <a:rPr lang="en-US" sz="3200" dirty="0"/>
              <a:t>The tuple is another data type which is a sequence of data similar to a list. But it is immutable. That means data in a tuple is write-protected. Data in a tuple is written using parenthesis and commas.</a:t>
            </a:r>
          </a:p>
          <a:p>
            <a:pPr algn="just"/>
            <a:r>
              <a:rPr lang="en-US" sz="3200" b="1" dirty="0"/>
              <a:t>Example:</a:t>
            </a:r>
          </a:p>
          <a:p>
            <a:pPr algn="just"/>
            <a:r>
              <a:rPr lang="en-US" sz="3200" dirty="0"/>
              <a:t>#tuple having only integer type of data.</a:t>
            </a:r>
          </a:p>
          <a:p>
            <a:pPr algn="just"/>
            <a:r>
              <a:rPr lang="en-US" sz="3200" dirty="0"/>
              <a:t>a=(1,2,3,4)</a:t>
            </a:r>
          </a:p>
          <a:p>
            <a:pPr algn="just"/>
            <a:r>
              <a:rPr lang="en-US" sz="3200" dirty="0"/>
              <a:t>print(a) #prints the whole tuple</a:t>
            </a:r>
          </a:p>
        </p:txBody>
      </p:sp>
    </p:spTree>
    <p:extLst>
      <p:ext uri="{BB962C8B-B14F-4D97-AF65-F5344CB8AC3E}">
        <p14:creationId xmlns="" xmlns:p14="http://schemas.microsoft.com/office/powerpoint/2010/main" val="175400774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marL="457200" indent="-457200" algn="just">
              <a:buFont typeface="Arial" panose="020B0604020202020204" pitchFamily="34" charset="0"/>
              <a:buChar char="•"/>
            </a:pPr>
            <a:r>
              <a:rPr lang="en-US" sz="3200" b="1" dirty="0"/>
              <a:t>Python Dictionary</a:t>
            </a:r>
          </a:p>
          <a:p>
            <a:pPr algn="just"/>
            <a:r>
              <a:rPr lang="en-US" sz="3200" dirty="0"/>
              <a:t>Python Dictionary is </a:t>
            </a:r>
            <a:r>
              <a:rPr lang="en-US" sz="3200"/>
              <a:t>an </a:t>
            </a:r>
            <a:r>
              <a:rPr lang="en-US" sz="3200" smtClean="0"/>
              <a:t>ordered </a:t>
            </a:r>
            <a:r>
              <a:rPr lang="en-US" sz="3200" dirty="0"/>
              <a:t>sequence of data of key-value pair form. It is similar to the hash table type. Dictionaries are written within curly braces in the form </a:t>
            </a:r>
            <a:r>
              <a:rPr lang="en-US" sz="3200" dirty="0" err="1"/>
              <a:t>key:value</a:t>
            </a:r>
            <a:r>
              <a:rPr lang="en-US" sz="3200" dirty="0"/>
              <a:t>. It is very useful to retrieve data in an optimized way among a large amount of data</a:t>
            </a:r>
            <a:r>
              <a:rPr lang="en-US" sz="3200" dirty="0" smtClean="0"/>
              <a:t>.</a:t>
            </a:r>
            <a:endParaRPr lang="en-US" sz="3200" dirty="0"/>
          </a:p>
        </p:txBody>
      </p:sp>
    </p:spTree>
    <p:extLst>
      <p:ext uri="{BB962C8B-B14F-4D97-AF65-F5344CB8AC3E}">
        <p14:creationId xmlns="" xmlns:p14="http://schemas.microsoft.com/office/powerpoint/2010/main" val="235108088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b="1" dirty="0"/>
              <a:t>Example:</a:t>
            </a:r>
          </a:p>
          <a:p>
            <a:pPr algn="just"/>
            <a:r>
              <a:rPr lang="en-US" sz="3200" dirty="0"/>
              <a:t>#a sample dictionary variable</a:t>
            </a:r>
          </a:p>
          <a:p>
            <a:pPr algn="just"/>
            <a:r>
              <a:rPr lang="en-US" sz="3200" dirty="0"/>
              <a:t>a = {</a:t>
            </a:r>
            <a:r>
              <a:rPr lang="en-US" sz="3200" dirty="0" err="1"/>
              <a:t>1:"first</a:t>
            </a:r>
            <a:r>
              <a:rPr lang="en-US" sz="3200" dirty="0"/>
              <a:t> </a:t>
            </a:r>
            <a:r>
              <a:rPr lang="en-US" sz="3200" dirty="0" err="1"/>
              <a:t>name",2:"last</a:t>
            </a:r>
            <a:r>
              <a:rPr lang="en-US" sz="3200" dirty="0"/>
              <a:t> name", "</a:t>
            </a:r>
            <a:r>
              <a:rPr lang="en-US" sz="3200" dirty="0" err="1"/>
              <a:t>age":33</a:t>
            </a:r>
            <a:r>
              <a:rPr lang="en-US" sz="3200" dirty="0"/>
              <a:t>}</a:t>
            </a:r>
          </a:p>
          <a:p>
            <a:pPr algn="just"/>
            <a:r>
              <a:rPr lang="en-US" sz="3200" dirty="0"/>
              <a:t>#print value having key=1</a:t>
            </a:r>
          </a:p>
          <a:p>
            <a:pPr algn="just"/>
            <a:r>
              <a:rPr lang="en-US" sz="3200" dirty="0"/>
              <a:t>print(a[1])</a:t>
            </a:r>
          </a:p>
          <a:p>
            <a:pPr algn="just"/>
            <a:r>
              <a:rPr lang="en-US" sz="3200" dirty="0"/>
              <a:t>#print value having key=2</a:t>
            </a:r>
          </a:p>
          <a:p>
            <a:pPr algn="just"/>
            <a:r>
              <a:rPr lang="en-US" sz="3200" dirty="0"/>
              <a:t>print(a[2])</a:t>
            </a:r>
          </a:p>
          <a:p>
            <a:pPr algn="just"/>
            <a:r>
              <a:rPr lang="en-US" sz="3200" dirty="0"/>
              <a:t>#print value having key="age"</a:t>
            </a:r>
          </a:p>
          <a:p>
            <a:pPr algn="just"/>
            <a:r>
              <a:rPr lang="en-US" sz="3200" dirty="0"/>
              <a:t>print(a["age"])</a:t>
            </a:r>
          </a:p>
        </p:txBody>
      </p:sp>
    </p:spTree>
    <p:extLst>
      <p:ext uri="{BB962C8B-B14F-4D97-AF65-F5344CB8AC3E}">
        <p14:creationId xmlns="" xmlns:p14="http://schemas.microsoft.com/office/powerpoint/2010/main" val="376193052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5509200"/>
          </a:xfrm>
          <a:prstGeom prst="rect">
            <a:avLst/>
          </a:prstGeom>
          <a:noFill/>
        </p:spPr>
        <p:txBody>
          <a:bodyPr wrap="square" rtlCol="0">
            <a:spAutoFit/>
          </a:bodyPr>
          <a:lstStyle/>
          <a:p>
            <a:pPr marL="457200" indent="-457200" algn="just">
              <a:buFont typeface="Arial" panose="020B0604020202020204" pitchFamily="34" charset="0"/>
              <a:buChar char="•"/>
            </a:pPr>
            <a:r>
              <a:rPr lang="en-US" sz="3200" b="1" dirty="0"/>
              <a:t>bool</a:t>
            </a:r>
          </a:p>
          <a:p>
            <a:pPr algn="just"/>
            <a:r>
              <a:rPr lang="en-US" sz="3200" dirty="0"/>
              <a:t>Boolean type provides two built-in values, True and False. These values are used to determine the given statement true or false. It denotes by the class bool. True can be represented by any non-zero value or 'T' whereas false can be represented by the 0 or 'F'. Consider the following example.</a:t>
            </a:r>
          </a:p>
          <a:p>
            <a:pPr algn="just"/>
            <a:r>
              <a:rPr lang="en-US" sz="3200" b="1" dirty="0" smtClean="0"/>
              <a:t>Example</a:t>
            </a:r>
            <a:r>
              <a:rPr lang="en-US" sz="3200" b="1" dirty="0"/>
              <a:t>:</a:t>
            </a:r>
          </a:p>
          <a:p>
            <a:pPr algn="just"/>
            <a:r>
              <a:rPr lang="en-US" sz="3200" dirty="0"/>
              <a:t>print(type(True))</a:t>
            </a:r>
          </a:p>
          <a:p>
            <a:pPr algn="just"/>
            <a:r>
              <a:rPr lang="en-US" sz="3200" dirty="0"/>
              <a:t>print(type(False))</a:t>
            </a:r>
          </a:p>
          <a:p>
            <a:pPr algn="just"/>
            <a:r>
              <a:rPr lang="en-US" sz="3200" dirty="0"/>
              <a:t>print(false)</a:t>
            </a:r>
          </a:p>
        </p:txBody>
      </p:sp>
    </p:spTree>
    <p:extLst>
      <p:ext uri="{BB962C8B-B14F-4D97-AF65-F5344CB8AC3E}">
        <p14:creationId xmlns="" xmlns:p14="http://schemas.microsoft.com/office/powerpoint/2010/main" val="290339499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marL="457200" indent="-457200" algn="just">
              <a:buFont typeface="Arial" panose="020B0604020202020204" pitchFamily="34" charset="0"/>
              <a:buChar char="•"/>
            </a:pPr>
            <a:r>
              <a:rPr lang="en-US" sz="3200" b="1" dirty="0"/>
              <a:t>Set</a:t>
            </a:r>
          </a:p>
          <a:p>
            <a:pPr algn="just"/>
            <a:r>
              <a:rPr lang="en-US" sz="3200" dirty="0"/>
              <a:t>Python Set is the unordered collection of the data type. It is </a:t>
            </a:r>
            <a:r>
              <a:rPr lang="en-US" sz="3200" dirty="0" err="1"/>
              <a:t>iterable</a:t>
            </a:r>
            <a:r>
              <a:rPr lang="en-US" sz="3200" dirty="0"/>
              <a:t>, mutable(can modify after creation), and has unique elements. In set, the order of the elements is undefined; it may return the changed sequence of the element. The set is created by using a built-in function set(), or a sequence of elements is passed in the curly braces and separated by the comma. It can contain various types of values. Consider the following example.</a:t>
            </a:r>
          </a:p>
        </p:txBody>
      </p:sp>
    </p:spTree>
    <p:extLst>
      <p:ext uri="{BB962C8B-B14F-4D97-AF65-F5344CB8AC3E}">
        <p14:creationId xmlns="" xmlns:p14="http://schemas.microsoft.com/office/powerpoint/2010/main" val="335972477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Data Types</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a:t>Example:</a:t>
            </a:r>
          </a:p>
          <a:p>
            <a:pPr algn="just"/>
            <a:r>
              <a:rPr lang="en-US" sz="3200" dirty="0"/>
              <a:t># Creating Empty set</a:t>
            </a:r>
          </a:p>
          <a:p>
            <a:pPr algn="just"/>
            <a:r>
              <a:rPr lang="en-US" sz="3200" dirty="0" err="1" smtClean="0"/>
              <a:t>set1</a:t>
            </a:r>
            <a:r>
              <a:rPr lang="en-US" sz="3200" dirty="0" smtClean="0"/>
              <a:t> </a:t>
            </a:r>
            <a:r>
              <a:rPr lang="en-US" sz="3200" dirty="0"/>
              <a:t>= set()</a:t>
            </a:r>
          </a:p>
          <a:p>
            <a:pPr algn="just"/>
            <a:r>
              <a:rPr lang="en-US" sz="3200" dirty="0" err="1"/>
              <a:t>set2</a:t>
            </a:r>
            <a:r>
              <a:rPr lang="en-US" sz="3200" dirty="0"/>
              <a:t> = {'James', 2, </a:t>
            </a:r>
            <a:r>
              <a:rPr lang="en-US" sz="3200" dirty="0" err="1"/>
              <a:t>3,'Python</a:t>
            </a:r>
            <a:r>
              <a:rPr lang="en-US" sz="3200" dirty="0"/>
              <a:t>'}</a:t>
            </a:r>
          </a:p>
          <a:p>
            <a:pPr algn="just"/>
            <a:r>
              <a:rPr lang="en-US" sz="3200" dirty="0"/>
              <a:t>#Printing Set value</a:t>
            </a:r>
          </a:p>
          <a:p>
            <a:pPr algn="just"/>
            <a:r>
              <a:rPr lang="en-US" sz="3200" dirty="0"/>
              <a:t>print(</a:t>
            </a:r>
            <a:r>
              <a:rPr lang="en-US" sz="3200" dirty="0" err="1"/>
              <a:t>set2</a:t>
            </a:r>
            <a:r>
              <a:rPr lang="en-US" sz="3200" dirty="0"/>
              <a:t>)</a:t>
            </a:r>
          </a:p>
        </p:txBody>
      </p:sp>
    </p:spTree>
    <p:extLst>
      <p:ext uri="{BB962C8B-B14F-4D97-AF65-F5344CB8AC3E}">
        <p14:creationId xmlns="" xmlns:p14="http://schemas.microsoft.com/office/powerpoint/2010/main" val="273478558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Comments</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algn="just"/>
            <a:r>
              <a:rPr lang="en-US" sz="3200" b="1" dirty="0"/>
              <a:t>Single-line comments</a:t>
            </a:r>
            <a:r>
              <a:rPr lang="en-US" sz="3200" dirty="0"/>
              <a:t> begins with a hash(#) symbol and is useful in mentioning that the whole line should be considered as a comment until the end of line.</a:t>
            </a:r>
          </a:p>
          <a:p>
            <a:pPr algn="just"/>
            <a:r>
              <a:rPr lang="en-US" sz="3200" dirty="0"/>
              <a:t>A Multi line comment is useful when we need to comment on many lines. In python, triple double quote(“ “ “) and single quote</a:t>
            </a:r>
            <a:r>
              <a:rPr lang="en-US" sz="3200" dirty="0" smtClean="0"/>
              <a:t>(‘ ‘ ‘)</a:t>
            </a:r>
            <a:r>
              <a:rPr lang="en-US" sz="3200" dirty="0"/>
              <a:t>are used for multi-line commenting.</a:t>
            </a:r>
          </a:p>
        </p:txBody>
      </p:sp>
      <p:pic>
        <p:nvPicPr>
          <p:cNvPr id="3" name="Picture 2"/>
          <p:cNvPicPr>
            <a:picLocks noChangeAspect="1"/>
          </p:cNvPicPr>
          <p:nvPr/>
        </p:nvPicPr>
        <p:blipFill>
          <a:blip r:embed="rId2"/>
          <a:stretch>
            <a:fillRect/>
          </a:stretch>
        </p:blipFill>
        <p:spPr>
          <a:xfrm>
            <a:off x="1752600" y="5098673"/>
            <a:ext cx="6457071" cy="1543050"/>
          </a:xfrm>
          <a:prstGeom prst="rect">
            <a:avLst/>
          </a:prstGeom>
        </p:spPr>
      </p:pic>
    </p:spTree>
    <p:extLst>
      <p:ext uri="{BB962C8B-B14F-4D97-AF65-F5344CB8AC3E}">
        <p14:creationId xmlns="" xmlns:p14="http://schemas.microsoft.com/office/powerpoint/2010/main" val="27836200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Use of IDLE</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Typing programs directly into the shell is highly inconvenient. Most programmers prefer to use some sort of text editor that is part of an integrated development environment  (IDE </a:t>
            </a:r>
            <a:r>
              <a:rPr lang="en-US" sz="3200" dirty="0" smtClean="0"/>
              <a:t>).</a:t>
            </a:r>
          </a:p>
          <a:p>
            <a:pPr marL="457200" indent="-457200" algn="just">
              <a:buFont typeface="Arial" panose="020B0604020202020204" pitchFamily="34" charset="0"/>
              <a:buChar char="•"/>
            </a:pPr>
            <a:r>
              <a:rPr lang="en-US" sz="3200" dirty="0" smtClean="0"/>
              <a:t>IDLE </a:t>
            </a:r>
            <a:r>
              <a:rPr lang="en-US" sz="3200" dirty="0"/>
              <a:t>comes as part of the standard Python installation package. </a:t>
            </a:r>
          </a:p>
          <a:p>
            <a:pPr marL="457200" indent="-457200" algn="just">
              <a:buFont typeface="Arial" panose="020B0604020202020204" pitchFamily="34" charset="0"/>
              <a:buChar char="•"/>
            </a:pPr>
            <a:r>
              <a:rPr lang="en-US" sz="3200" dirty="0" smtClean="0"/>
              <a:t>IDLE </a:t>
            </a:r>
            <a:r>
              <a:rPr lang="en-US" sz="3200" dirty="0"/>
              <a:t>is an application, just like any other application on your computer. Start it the same way you would start any other application, e.g., by double-clicking on an icon. </a:t>
            </a:r>
          </a:p>
        </p:txBody>
      </p:sp>
    </p:spTree>
    <p:extLst>
      <p:ext uri="{BB962C8B-B14F-4D97-AF65-F5344CB8AC3E}">
        <p14:creationId xmlns="" xmlns:p14="http://schemas.microsoft.com/office/powerpoint/2010/main" val="4585654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Use of IDLE</a:t>
            </a:r>
            <a:endParaRPr lang="en-US" dirty="0"/>
          </a:p>
        </p:txBody>
      </p:sp>
      <p:sp>
        <p:nvSpPr>
          <p:cNvPr id="4" name="TextBox 3"/>
          <p:cNvSpPr txBox="1"/>
          <p:nvPr/>
        </p:nvSpPr>
        <p:spPr>
          <a:xfrm>
            <a:off x="228600" y="1066800"/>
            <a:ext cx="8763000" cy="2062103"/>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When IDLE starts it will open a shell window into which you can type Python commands. </a:t>
            </a:r>
            <a:endParaRPr lang="en-US" sz="3200" dirty="0" smtClean="0"/>
          </a:p>
          <a:p>
            <a:pPr marL="457200" indent="-457200" algn="just">
              <a:buFont typeface="Arial" panose="020B0604020202020204" pitchFamily="34" charset="0"/>
              <a:buChar char="•"/>
            </a:pPr>
            <a:r>
              <a:rPr lang="en-US" sz="3200" dirty="0" smtClean="0"/>
              <a:t>It </a:t>
            </a:r>
            <a:r>
              <a:rPr lang="en-US" sz="3200" dirty="0"/>
              <a:t>will also provide you with a file menu and an edit menu (as </a:t>
            </a:r>
            <a:r>
              <a:rPr lang="en-US" sz="3200" dirty="0" smtClean="0"/>
              <a:t>well as </a:t>
            </a:r>
            <a:r>
              <a:rPr lang="en-US" sz="3200" dirty="0"/>
              <a:t>some other </a:t>
            </a:r>
            <a:r>
              <a:rPr lang="en-US" sz="3200" dirty="0" smtClean="0"/>
              <a:t>menus).</a:t>
            </a:r>
            <a:endParaRPr lang="en-US" sz="3200" dirty="0"/>
          </a:p>
        </p:txBody>
      </p:sp>
    </p:spTree>
    <p:extLst>
      <p:ext uri="{BB962C8B-B14F-4D97-AF65-F5344CB8AC3E}">
        <p14:creationId xmlns="" xmlns:p14="http://schemas.microsoft.com/office/powerpoint/2010/main" val="297505365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Taking user input with input()</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smtClean="0"/>
              <a:t>we </a:t>
            </a:r>
            <a:r>
              <a:rPr lang="en-US" sz="3200" dirty="0"/>
              <a:t>use input() function to take input from the user.</a:t>
            </a:r>
          </a:p>
          <a:p>
            <a:pPr marL="457200" indent="-457200" algn="just">
              <a:buFont typeface="Arial" panose="020B0604020202020204" pitchFamily="34" charset="0"/>
              <a:buChar char="•"/>
            </a:pPr>
            <a:r>
              <a:rPr lang="en-US" sz="3200" dirty="0" smtClean="0"/>
              <a:t>Most </a:t>
            </a:r>
            <a:r>
              <a:rPr lang="en-US" sz="3200" dirty="0"/>
              <a:t>programs today use a dialog box as a way of asking the user to provide some type of input. </a:t>
            </a:r>
          </a:p>
          <a:p>
            <a:pPr marL="457200" indent="-457200" algn="just">
              <a:buFont typeface="Arial" panose="020B0604020202020204" pitchFamily="34" charset="0"/>
              <a:buChar char="•"/>
            </a:pPr>
            <a:r>
              <a:rPr lang="en-US" sz="3200" dirty="0" smtClean="0"/>
              <a:t>While </a:t>
            </a:r>
            <a:r>
              <a:rPr lang="en-US" sz="3200" dirty="0"/>
              <a:t>Python provides us with two inbuilt functions to read the input from the keyboard.</a:t>
            </a:r>
          </a:p>
          <a:p>
            <a:pPr marL="457200" indent="-457200" algn="just">
              <a:buFont typeface="Arial" panose="020B0604020202020204" pitchFamily="34" charset="0"/>
              <a:buChar char="•"/>
            </a:pPr>
            <a:r>
              <a:rPr lang="en-US" sz="3200" dirty="0"/>
              <a:t>1)	input ( prompt )</a:t>
            </a:r>
          </a:p>
          <a:p>
            <a:pPr marL="457200" indent="-457200" algn="just">
              <a:buFont typeface="Arial" panose="020B0604020202020204" pitchFamily="34" charset="0"/>
              <a:buChar char="•"/>
            </a:pPr>
            <a:r>
              <a:rPr lang="en-US" sz="3200" dirty="0"/>
              <a:t>2)	</a:t>
            </a:r>
            <a:r>
              <a:rPr lang="en-US" sz="3200" dirty="0" err="1"/>
              <a:t>raw_input</a:t>
            </a:r>
            <a:r>
              <a:rPr lang="en-US" sz="3200" dirty="0"/>
              <a:t> ( prompt )   ( in python </a:t>
            </a:r>
            <a:r>
              <a:rPr lang="en-US" sz="3200" dirty="0" err="1"/>
              <a:t>2.x</a:t>
            </a:r>
            <a:r>
              <a:rPr lang="en-US" sz="3200" dirty="0"/>
              <a:t> only </a:t>
            </a:r>
            <a:r>
              <a:rPr lang="en-US" sz="3200" dirty="0" smtClean="0"/>
              <a:t>)</a:t>
            </a:r>
          </a:p>
          <a:p>
            <a:pPr marL="457200" indent="-457200" algn="just">
              <a:buFont typeface="Arial" panose="020B0604020202020204" pitchFamily="34" charset="0"/>
              <a:buChar char="•"/>
            </a:pPr>
            <a:endParaRPr lang="en-US" sz="3200" dirty="0"/>
          </a:p>
        </p:txBody>
      </p:sp>
    </p:spTree>
    <p:extLst>
      <p:ext uri="{BB962C8B-B14F-4D97-AF65-F5344CB8AC3E}">
        <p14:creationId xmlns="" xmlns:p14="http://schemas.microsoft.com/office/powerpoint/2010/main" val="99022042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Taking user input with input()</a:t>
            </a:r>
            <a:endParaRPr lang="en-US" dirty="0"/>
          </a:p>
        </p:txBody>
      </p:sp>
      <p:sp>
        <p:nvSpPr>
          <p:cNvPr id="4" name="TextBox 3"/>
          <p:cNvSpPr txBox="1"/>
          <p:nvPr/>
        </p:nvSpPr>
        <p:spPr>
          <a:xfrm>
            <a:off x="228600" y="1066800"/>
            <a:ext cx="8763000" cy="2554545"/>
          </a:xfrm>
          <a:prstGeom prst="rect">
            <a:avLst/>
          </a:prstGeom>
          <a:noFill/>
        </p:spPr>
        <p:txBody>
          <a:bodyPr wrap="square" rtlCol="0">
            <a:spAutoFit/>
          </a:bodyPr>
          <a:lstStyle/>
          <a:p>
            <a:pPr algn="just"/>
            <a:r>
              <a:rPr lang="en-US" sz="3200" dirty="0"/>
              <a:t>Example :  (Taking input from the user</a:t>
            </a:r>
            <a:r>
              <a:rPr lang="en-US" sz="3200" dirty="0" smtClean="0"/>
              <a:t>.)</a:t>
            </a:r>
            <a:endParaRPr lang="en-US" sz="3200" dirty="0"/>
          </a:p>
          <a:p>
            <a:pPr algn="just"/>
            <a:r>
              <a:rPr lang="en-US" sz="3200" dirty="0" smtClean="0"/>
              <a:t>&gt;&gt;&gt; </a:t>
            </a:r>
            <a:r>
              <a:rPr lang="en-US" sz="3200" dirty="0"/>
              <a:t>string=input()</a:t>
            </a:r>
          </a:p>
          <a:p>
            <a:pPr algn="just"/>
            <a:r>
              <a:rPr lang="en-US" sz="3200" dirty="0" err="1" smtClean="0"/>
              <a:t>Kalpesh</a:t>
            </a:r>
            <a:endParaRPr lang="en-US" sz="3200" dirty="0"/>
          </a:p>
          <a:p>
            <a:pPr algn="just"/>
            <a:r>
              <a:rPr lang="en-US" sz="3200" dirty="0"/>
              <a:t>&gt;&gt;&gt; </a:t>
            </a:r>
            <a:r>
              <a:rPr lang="en-US" sz="3200" dirty="0" smtClean="0"/>
              <a:t>print(string)</a:t>
            </a:r>
          </a:p>
          <a:p>
            <a:pPr algn="just"/>
            <a:r>
              <a:rPr lang="en-US" sz="3200" dirty="0" err="1" smtClean="0"/>
              <a:t>Kalpesh</a:t>
            </a:r>
            <a:endParaRPr lang="en-US" sz="3200" dirty="0"/>
          </a:p>
        </p:txBody>
      </p:sp>
    </p:spTree>
    <p:extLst>
      <p:ext uri="{BB962C8B-B14F-4D97-AF65-F5344CB8AC3E}">
        <p14:creationId xmlns="" xmlns:p14="http://schemas.microsoft.com/office/powerpoint/2010/main" val="27721275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Taking user input with input()</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algn="just"/>
            <a:r>
              <a:rPr lang="en-US" sz="3200" dirty="0"/>
              <a:t>Example : (Taking input from the user with message)</a:t>
            </a:r>
          </a:p>
          <a:p>
            <a:pPr algn="just"/>
            <a:r>
              <a:rPr lang="en-US" sz="3200" dirty="0"/>
              <a:t>&gt;&gt;&gt; string=input("enter the name:")</a:t>
            </a:r>
          </a:p>
          <a:p>
            <a:pPr algn="just"/>
            <a:r>
              <a:rPr lang="en-US" sz="3200" dirty="0"/>
              <a:t>enter the name:  </a:t>
            </a:r>
            <a:r>
              <a:rPr lang="en-US" sz="3200" dirty="0" err="1" smtClean="0"/>
              <a:t>Kalpesh</a:t>
            </a:r>
            <a:endParaRPr lang="en-US" sz="3200" dirty="0"/>
          </a:p>
          <a:p>
            <a:pPr algn="just"/>
            <a:r>
              <a:rPr lang="en-US" sz="3200" dirty="0"/>
              <a:t>&gt;&gt;&gt; print(string)</a:t>
            </a:r>
          </a:p>
          <a:p>
            <a:pPr algn="just"/>
            <a:r>
              <a:rPr lang="en-US" sz="3200" dirty="0" err="1" smtClean="0"/>
              <a:t>Kalpesh</a:t>
            </a:r>
            <a:endParaRPr lang="en-US" sz="3200" dirty="0"/>
          </a:p>
          <a:p>
            <a:pPr algn="just"/>
            <a:r>
              <a:rPr lang="en-US" sz="3200" dirty="0"/>
              <a:t>&gt;&gt;&gt; print("hello " + string)</a:t>
            </a:r>
          </a:p>
          <a:p>
            <a:pPr algn="just"/>
            <a:r>
              <a:rPr lang="en-US" sz="3200" dirty="0"/>
              <a:t>hello </a:t>
            </a:r>
            <a:r>
              <a:rPr lang="en-US" sz="3200" dirty="0" err="1" smtClean="0"/>
              <a:t>Kalpesh</a:t>
            </a:r>
            <a:endParaRPr lang="en-US" sz="3200" dirty="0"/>
          </a:p>
        </p:txBody>
      </p:sp>
    </p:spTree>
    <p:extLst>
      <p:ext uri="{BB962C8B-B14F-4D97-AF65-F5344CB8AC3E}">
        <p14:creationId xmlns="" xmlns:p14="http://schemas.microsoft.com/office/powerpoint/2010/main" val="385633967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Taking user input with input()</a:t>
            </a:r>
            <a:endParaRPr lang="en-US" dirty="0"/>
          </a:p>
        </p:txBody>
      </p:sp>
      <p:sp>
        <p:nvSpPr>
          <p:cNvPr id="4" name="TextBox 3"/>
          <p:cNvSpPr txBox="1"/>
          <p:nvPr/>
        </p:nvSpPr>
        <p:spPr>
          <a:xfrm>
            <a:off x="228600" y="1066800"/>
            <a:ext cx="8763000" cy="2554545"/>
          </a:xfrm>
          <a:prstGeom prst="rect">
            <a:avLst/>
          </a:prstGeom>
          <a:noFill/>
        </p:spPr>
        <p:txBody>
          <a:bodyPr wrap="square" rtlCol="0">
            <a:spAutoFit/>
          </a:bodyPr>
          <a:lstStyle/>
          <a:p>
            <a:pPr algn="just"/>
            <a:r>
              <a:rPr lang="en-US" sz="3200" b="1" dirty="0"/>
              <a:t>●	By default input() function takes the user’s input in a string. So, to take the input in the form of </a:t>
            </a:r>
            <a:r>
              <a:rPr lang="en-US" sz="3200" b="1" dirty="0" err="1"/>
              <a:t>int</a:t>
            </a:r>
            <a:r>
              <a:rPr lang="en-US" sz="3200" b="1" dirty="0"/>
              <a:t> you need to use </a:t>
            </a:r>
            <a:r>
              <a:rPr lang="en-US" sz="3200" b="1" dirty="0" err="1"/>
              <a:t>int</a:t>
            </a:r>
            <a:r>
              <a:rPr lang="en-US" sz="3200" b="1" dirty="0"/>
              <a:t>() along with the input function.  So we need to use type conversion( type cast) to take desired type of data.</a:t>
            </a:r>
          </a:p>
        </p:txBody>
      </p:sp>
    </p:spTree>
    <p:extLst>
      <p:ext uri="{BB962C8B-B14F-4D97-AF65-F5344CB8AC3E}">
        <p14:creationId xmlns="" xmlns:p14="http://schemas.microsoft.com/office/powerpoint/2010/main" val="224619436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Taking user input with input()</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r>
              <a:rPr lang="en-US" sz="2400" dirty="0"/>
              <a:t>Example :  ( taking </a:t>
            </a:r>
            <a:r>
              <a:rPr lang="en-US" sz="2400" dirty="0" err="1"/>
              <a:t>int</a:t>
            </a:r>
            <a:r>
              <a:rPr lang="en-US" sz="2400" dirty="0"/>
              <a:t> from user)</a:t>
            </a:r>
            <a:endParaRPr lang="en-IN" sz="2400" dirty="0"/>
          </a:p>
          <a:p>
            <a:r>
              <a:rPr lang="en-US" sz="2400" dirty="0"/>
              <a:t>&gt;&gt;&gt;</a:t>
            </a:r>
            <a:r>
              <a:rPr lang="en-US" sz="2400" dirty="0" err="1"/>
              <a:t>num</a:t>
            </a:r>
            <a:r>
              <a:rPr lang="en-US" sz="2400" dirty="0"/>
              <a:t> = </a:t>
            </a:r>
            <a:r>
              <a:rPr lang="en-US" sz="2400" dirty="0" err="1"/>
              <a:t>int</a:t>
            </a:r>
            <a:r>
              <a:rPr lang="en-US" sz="2400" dirty="0"/>
              <a:t>(input("Enter a number:"))</a:t>
            </a:r>
            <a:endParaRPr lang="en-IN" sz="2400" dirty="0"/>
          </a:p>
          <a:p>
            <a:r>
              <a:rPr lang="en-US" sz="2400" dirty="0"/>
              <a:t>&gt;&gt;&gt;add = </a:t>
            </a:r>
            <a:r>
              <a:rPr lang="en-US" sz="2400" dirty="0" err="1"/>
              <a:t>num</a:t>
            </a:r>
            <a:r>
              <a:rPr lang="en-US" sz="2400" dirty="0"/>
              <a:t> + 1</a:t>
            </a:r>
            <a:endParaRPr lang="en-IN" sz="2400" dirty="0"/>
          </a:p>
          <a:p>
            <a:r>
              <a:rPr lang="en-US" sz="2400" dirty="0"/>
              <a:t>&gt;&gt;&gt;print(add)</a:t>
            </a:r>
            <a:endParaRPr lang="en-IN" sz="2400" dirty="0"/>
          </a:p>
          <a:p>
            <a:r>
              <a:rPr lang="en-US" sz="2400" dirty="0"/>
              <a:t> </a:t>
            </a:r>
            <a:endParaRPr lang="en-IN" sz="2400" dirty="0"/>
          </a:p>
          <a:p>
            <a:r>
              <a:rPr lang="en-US" sz="2400" dirty="0"/>
              <a:t>Output:</a:t>
            </a:r>
            <a:endParaRPr lang="en-IN" sz="2400" dirty="0"/>
          </a:p>
          <a:p>
            <a:r>
              <a:rPr lang="en-US" sz="2400" dirty="0"/>
              <a:t>Enter a </a:t>
            </a:r>
            <a:r>
              <a:rPr lang="en-US" sz="2400" dirty="0" err="1"/>
              <a:t>number:15</a:t>
            </a:r>
            <a:endParaRPr lang="en-IN" sz="2400" dirty="0"/>
          </a:p>
          <a:p>
            <a:r>
              <a:rPr lang="en-US" sz="2400" dirty="0" smtClean="0"/>
              <a:t>16</a:t>
            </a:r>
            <a:endParaRPr lang="en-IN" sz="2400" dirty="0"/>
          </a:p>
        </p:txBody>
      </p:sp>
    </p:spTree>
    <p:extLst>
      <p:ext uri="{BB962C8B-B14F-4D97-AF65-F5344CB8AC3E}">
        <p14:creationId xmlns="" xmlns:p14="http://schemas.microsoft.com/office/powerpoint/2010/main" val="394657606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Taking user input with input()</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r>
              <a:rPr lang="en-US" sz="2400" dirty="0"/>
              <a:t>Example : ( taking float from user)</a:t>
            </a:r>
            <a:endParaRPr lang="en-IN" sz="2400" dirty="0"/>
          </a:p>
          <a:p>
            <a:r>
              <a:rPr lang="en-US" sz="2400" dirty="0"/>
              <a:t>&gt;&gt;&gt;</a:t>
            </a:r>
            <a:r>
              <a:rPr lang="en-US" sz="2400" dirty="0" err="1"/>
              <a:t>num</a:t>
            </a:r>
            <a:r>
              <a:rPr lang="en-US" sz="2400" dirty="0"/>
              <a:t> = float(input("Enter a number:"))</a:t>
            </a:r>
            <a:endParaRPr lang="en-IN" sz="2400" dirty="0"/>
          </a:p>
          <a:p>
            <a:r>
              <a:rPr lang="en-US" sz="2400" dirty="0"/>
              <a:t>&gt;&gt;&gt;add = </a:t>
            </a:r>
            <a:r>
              <a:rPr lang="en-US" sz="2400" dirty="0" err="1"/>
              <a:t>num</a:t>
            </a:r>
            <a:r>
              <a:rPr lang="en-US" sz="2400" dirty="0"/>
              <a:t> + 1</a:t>
            </a:r>
            <a:endParaRPr lang="en-IN" sz="2400" dirty="0"/>
          </a:p>
          <a:p>
            <a:r>
              <a:rPr lang="en-US" sz="2400" dirty="0"/>
              <a:t>&gt;&gt;&gt;print(add)</a:t>
            </a:r>
            <a:endParaRPr lang="en-IN" sz="2400" dirty="0"/>
          </a:p>
          <a:p>
            <a:r>
              <a:rPr lang="en-US" sz="2400" dirty="0"/>
              <a:t> </a:t>
            </a:r>
            <a:endParaRPr lang="en-IN" sz="2400" dirty="0"/>
          </a:p>
          <a:p>
            <a:r>
              <a:rPr lang="en-US" sz="2400" dirty="0"/>
              <a:t>Output:</a:t>
            </a:r>
            <a:endParaRPr lang="en-IN" sz="2400" dirty="0"/>
          </a:p>
          <a:p>
            <a:r>
              <a:rPr lang="en-US" sz="2400" dirty="0"/>
              <a:t>Enter a </a:t>
            </a:r>
            <a:r>
              <a:rPr lang="en-US" sz="2400" dirty="0" err="1"/>
              <a:t>number:15.5</a:t>
            </a:r>
            <a:endParaRPr lang="en-IN" sz="2400" dirty="0"/>
          </a:p>
          <a:p>
            <a:r>
              <a:rPr lang="en-US" sz="2400" dirty="0" smtClean="0"/>
              <a:t>16.5</a:t>
            </a:r>
            <a:endParaRPr lang="en-IN" sz="2400" dirty="0"/>
          </a:p>
        </p:txBody>
      </p:sp>
    </p:spTree>
    <p:extLst>
      <p:ext uri="{BB962C8B-B14F-4D97-AF65-F5344CB8AC3E}">
        <p14:creationId xmlns="" xmlns:p14="http://schemas.microsoft.com/office/powerpoint/2010/main" val="196454333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Taking user input with input()</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r>
              <a:rPr lang="en-US" sz="2400" dirty="0"/>
              <a:t>Example: (Taking input from the user as list) :</a:t>
            </a:r>
            <a:endParaRPr lang="en-IN" sz="2400" dirty="0"/>
          </a:p>
          <a:p>
            <a:r>
              <a:rPr lang="en-US" sz="2400" dirty="0"/>
              <a:t> </a:t>
            </a:r>
            <a:endParaRPr lang="en-IN" sz="2400" dirty="0"/>
          </a:p>
          <a:p>
            <a:r>
              <a:rPr lang="en-US" sz="2400" dirty="0"/>
              <a:t> &gt;&gt;&gt;l =list(input("Enter number "))</a:t>
            </a:r>
            <a:endParaRPr lang="en-IN" sz="2400" dirty="0"/>
          </a:p>
          <a:p>
            <a:r>
              <a:rPr lang="en-US" sz="2400" dirty="0"/>
              <a:t> &gt;&gt;&gt;print(l)</a:t>
            </a:r>
            <a:endParaRPr lang="en-IN" sz="2400" dirty="0"/>
          </a:p>
          <a:p>
            <a:r>
              <a:rPr lang="en-US" sz="2400" dirty="0"/>
              <a:t> </a:t>
            </a:r>
            <a:endParaRPr lang="en-IN" sz="2400" dirty="0"/>
          </a:p>
          <a:p>
            <a:r>
              <a:rPr lang="en-US" sz="2400" dirty="0"/>
              <a:t>Output:</a:t>
            </a:r>
            <a:endParaRPr lang="en-IN" sz="2400" dirty="0"/>
          </a:p>
          <a:p>
            <a:r>
              <a:rPr lang="en-US" sz="2400" dirty="0"/>
              <a:t>Enter number 12345</a:t>
            </a:r>
            <a:endParaRPr lang="en-IN" sz="2400" dirty="0"/>
          </a:p>
          <a:p>
            <a:r>
              <a:rPr lang="en-US" sz="2400" dirty="0"/>
              <a:t>['1', '2', '3', '4', '5']</a:t>
            </a:r>
            <a:endParaRPr lang="en-US" sz="4000" b="1" dirty="0"/>
          </a:p>
        </p:txBody>
      </p:sp>
    </p:spTree>
    <p:extLst>
      <p:ext uri="{BB962C8B-B14F-4D97-AF65-F5344CB8AC3E}">
        <p14:creationId xmlns="" xmlns:p14="http://schemas.microsoft.com/office/powerpoint/2010/main" val="378527796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Condition by If</a:t>
            </a:r>
            <a:endParaRPr lang="en-US" dirty="0"/>
          </a:p>
        </p:txBody>
      </p:sp>
      <p:sp>
        <p:nvSpPr>
          <p:cNvPr id="4" name="TextBox 3"/>
          <p:cNvSpPr txBox="1"/>
          <p:nvPr/>
        </p:nvSpPr>
        <p:spPr>
          <a:xfrm>
            <a:off x="228600" y="1066800"/>
            <a:ext cx="8763000" cy="5509200"/>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Decision making is required when we want to execute a code only if a certain condition is </a:t>
            </a:r>
            <a:r>
              <a:rPr lang="en-US" sz="3200" dirty="0" smtClean="0"/>
              <a:t>satisfied.</a:t>
            </a:r>
          </a:p>
          <a:p>
            <a:pPr marL="457200" indent="-457200" algn="just">
              <a:buFont typeface="Arial" panose="020B0604020202020204" pitchFamily="34" charset="0"/>
              <a:buChar char="•"/>
            </a:pPr>
            <a:r>
              <a:rPr lang="en-US" sz="3200" dirty="0" smtClean="0"/>
              <a:t>The </a:t>
            </a:r>
            <a:r>
              <a:rPr lang="en-US" sz="3200" dirty="0"/>
              <a:t>if…</a:t>
            </a:r>
            <a:r>
              <a:rPr lang="en-US" sz="3200" dirty="0" err="1"/>
              <a:t>elif</a:t>
            </a:r>
            <a:r>
              <a:rPr lang="en-US" sz="3200" dirty="0"/>
              <a:t>…else statement is used in Python for decision making. </a:t>
            </a:r>
            <a:endParaRPr lang="en-US" sz="3200" dirty="0" smtClean="0"/>
          </a:p>
          <a:p>
            <a:pPr marL="457200" indent="-457200" algn="just">
              <a:buFont typeface="Arial" panose="020B0604020202020204" pitchFamily="34" charset="0"/>
              <a:buChar char="•"/>
            </a:pPr>
            <a:r>
              <a:rPr lang="en-US" sz="3200" dirty="0"/>
              <a:t>If   Statement:</a:t>
            </a:r>
          </a:p>
          <a:p>
            <a:pPr algn="just"/>
            <a:r>
              <a:rPr lang="en-US" sz="3200" dirty="0" smtClean="0"/>
              <a:t>	Syntax</a:t>
            </a:r>
            <a:endParaRPr lang="en-US" sz="3200" dirty="0"/>
          </a:p>
          <a:p>
            <a:pPr algn="just"/>
            <a:endParaRPr lang="en-US" sz="3200" dirty="0"/>
          </a:p>
          <a:p>
            <a:pPr algn="just"/>
            <a:r>
              <a:rPr lang="en-US" sz="3200" dirty="0" smtClean="0"/>
              <a:t>if  </a:t>
            </a:r>
            <a:r>
              <a:rPr lang="en-US" sz="3200" dirty="0"/>
              <a:t>(condition):</a:t>
            </a:r>
          </a:p>
          <a:p>
            <a:pPr algn="just"/>
            <a:r>
              <a:rPr lang="en-US" sz="3200" dirty="0" smtClean="0"/>
              <a:t>	statement(s</a:t>
            </a:r>
            <a:r>
              <a:rPr lang="en-US" sz="3200" dirty="0"/>
              <a:t>)</a:t>
            </a:r>
          </a:p>
          <a:p>
            <a:pPr marL="457200" indent="-457200" algn="just">
              <a:buFont typeface="Arial" panose="020B0604020202020204" pitchFamily="34" charset="0"/>
              <a:buChar char="•"/>
            </a:pPr>
            <a:endParaRPr lang="en-US" sz="3200" dirty="0"/>
          </a:p>
        </p:txBody>
      </p:sp>
    </p:spTree>
    <p:extLst>
      <p:ext uri="{BB962C8B-B14F-4D97-AF65-F5344CB8AC3E}">
        <p14:creationId xmlns="" xmlns:p14="http://schemas.microsoft.com/office/powerpoint/2010/main" val="27147654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Condition by If</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dirty="0" smtClean="0"/>
              <a:t>Example :</a:t>
            </a:r>
          </a:p>
          <a:p>
            <a:pPr algn="just"/>
            <a:r>
              <a:rPr lang="en-US" sz="3200" dirty="0" smtClean="0"/>
              <a:t>password = "qwerty"</a:t>
            </a:r>
          </a:p>
          <a:p>
            <a:pPr algn="just"/>
            <a:r>
              <a:rPr lang="en-US" sz="3200" dirty="0" smtClean="0"/>
              <a:t>attempt = input("Enter password: ")</a:t>
            </a:r>
          </a:p>
          <a:p>
            <a:pPr algn="just"/>
            <a:endParaRPr lang="en-US" sz="3200" dirty="0" smtClean="0"/>
          </a:p>
          <a:p>
            <a:pPr algn="just"/>
            <a:r>
              <a:rPr lang="en-US" sz="3200" dirty="0" smtClean="0"/>
              <a:t>if attempt == password:</a:t>
            </a:r>
          </a:p>
          <a:p>
            <a:pPr algn="just"/>
            <a:r>
              <a:rPr lang="en-US" sz="3200" dirty="0" smtClean="0"/>
              <a:t>    print("Welcome")</a:t>
            </a:r>
            <a:endParaRPr lang="en-US" sz="3200" dirty="0"/>
          </a:p>
        </p:txBody>
      </p:sp>
    </p:spTree>
    <p:extLst>
      <p:ext uri="{BB962C8B-B14F-4D97-AF65-F5344CB8AC3E}">
        <p14:creationId xmlns="" xmlns:p14="http://schemas.microsoft.com/office/powerpoint/2010/main" val="302974864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Condition by If - else</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dirty="0"/>
              <a:t>●	The </a:t>
            </a:r>
            <a:r>
              <a:rPr lang="en-US" sz="3200" dirty="0" err="1"/>
              <a:t>if..else</a:t>
            </a:r>
            <a:r>
              <a:rPr lang="en-US" sz="3200" dirty="0"/>
              <a:t> statement evaluates test expression and will execute the body of if only when the test condition is True.</a:t>
            </a:r>
          </a:p>
          <a:p>
            <a:pPr algn="just"/>
            <a:r>
              <a:rPr lang="en-US" sz="3200" dirty="0"/>
              <a:t>●	If the condition is False, the body of else is executed. Indentation is used to separate the blocks</a:t>
            </a:r>
            <a:r>
              <a:rPr lang="en-US" sz="3200" dirty="0" smtClean="0"/>
              <a:t>.</a:t>
            </a:r>
          </a:p>
        </p:txBody>
      </p:sp>
    </p:spTree>
    <p:extLst>
      <p:ext uri="{BB962C8B-B14F-4D97-AF65-F5344CB8AC3E}">
        <p14:creationId xmlns="" xmlns:p14="http://schemas.microsoft.com/office/powerpoint/2010/main" val="7920091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Condition by If - else</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lvl="0"/>
            <a:r>
              <a:rPr lang="en-US" sz="3200" dirty="0">
                <a:latin typeface="Nunito"/>
                <a:ea typeface="Nunito"/>
                <a:cs typeface="Nunito"/>
                <a:sym typeface="Nunito"/>
              </a:rPr>
              <a:t>Syntax:</a:t>
            </a:r>
          </a:p>
          <a:p>
            <a:pPr lvl="0"/>
            <a:endParaRPr lang="en-US" sz="3200" dirty="0">
              <a:latin typeface="Nunito"/>
              <a:ea typeface="Nunito"/>
              <a:cs typeface="Nunito"/>
              <a:sym typeface="Nunito"/>
            </a:endParaRPr>
          </a:p>
          <a:p>
            <a:pPr lvl="0"/>
            <a:r>
              <a:rPr lang="en-US" sz="3200" dirty="0">
                <a:latin typeface="Nunito"/>
                <a:ea typeface="Nunito"/>
                <a:cs typeface="Nunito"/>
                <a:sym typeface="Nunito"/>
              </a:rPr>
              <a:t>if (condition):</a:t>
            </a:r>
          </a:p>
          <a:p>
            <a:pPr lvl="0"/>
            <a:r>
              <a:rPr lang="en-US" sz="3200" dirty="0">
                <a:latin typeface="Nunito"/>
                <a:ea typeface="Nunito"/>
                <a:cs typeface="Nunito"/>
                <a:sym typeface="Nunito"/>
              </a:rPr>
              <a:t>    # Executes this block if</a:t>
            </a:r>
          </a:p>
          <a:p>
            <a:pPr lvl="0"/>
            <a:r>
              <a:rPr lang="en-US" sz="3200" dirty="0">
                <a:latin typeface="Nunito"/>
                <a:ea typeface="Nunito"/>
                <a:cs typeface="Nunito"/>
                <a:sym typeface="Nunito"/>
              </a:rPr>
              <a:t>    # condition is true</a:t>
            </a:r>
          </a:p>
          <a:p>
            <a:pPr lvl="0"/>
            <a:r>
              <a:rPr lang="en-US" sz="3200" dirty="0">
                <a:latin typeface="Nunito"/>
                <a:ea typeface="Nunito"/>
                <a:cs typeface="Nunito"/>
                <a:sym typeface="Nunito"/>
              </a:rPr>
              <a:t>else:</a:t>
            </a:r>
          </a:p>
          <a:p>
            <a:pPr lvl="0"/>
            <a:r>
              <a:rPr lang="en-US" sz="3200" dirty="0">
                <a:latin typeface="Nunito"/>
                <a:ea typeface="Nunito"/>
                <a:cs typeface="Nunito"/>
                <a:sym typeface="Nunito"/>
              </a:rPr>
              <a:t>    # Executes this block if</a:t>
            </a:r>
          </a:p>
          <a:p>
            <a:pPr lvl="0"/>
            <a:r>
              <a:rPr lang="en-US" sz="3200" dirty="0">
                <a:latin typeface="Nunito"/>
                <a:ea typeface="Nunito"/>
                <a:cs typeface="Nunito"/>
                <a:sym typeface="Nunito"/>
              </a:rPr>
              <a:t>    # condition is false</a:t>
            </a:r>
            <a:endParaRPr lang="en-US" sz="3200" dirty="0"/>
          </a:p>
        </p:txBody>
      </p:sp>
    </p:spTree>
    <p:extLst>
      <p:ext uri="{BB962C8B-B14F-4D97-AF65-F5344CB8AC3E}">
        <p14:creationId xmlns="" xmlns:p14="http://schemas.microsoft.com/office/powerpoint/2010/main" val="172298203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Condition by If - else</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lvl="0"/>
            <a:r>
              <a:rPr lang="en-US" sz="3200" dirty="0" smtClean="0">
                <a:latin typeface="Nunito"/>
                <a:ea typeface="Nunito"/>
                <a:cs typeface="Nunito"/>
                <a:sym typeface="Nunito"/>
              </a:rPr>
              <a:t>Example :</a:t>
            </a:r>
          </a:p>
          <a:p>
            <a:pPr lvl="0"/>
            <a:r>
              <a:rPr lang="en-US" sz="3200" dirty="0" smtClean="0">
                <a:latin typeface="Nunito"/>
                <a:ea typeface="Nunito"/>
                <a:cs typeface="Nunito"/>
                <a:sym typeface="Nunito"/>
              </a:rPr>
              <a:t># </a:t>
            </a:r>
            <a:r>
              <a:rPr lang="en-US" sz="3200" dirty="0">
                <a:latin typeface="Nunito"/>
                <a:ea typeface="Nunito"/>
                <a:cs typeface="Nunito"/>
                <a:sym typeface="Nunito"/>
              </a:rPr>
              <a:t>python program to illustrate If else statement </a:t>
            </a:r>
          </a:p>
          <a:p>
            <a:pPr lvl="0"/>
            <a:r>
              <a:rPr lang="en-US" sz="3200" dirty="0" err="1">
                <a:latin typeface="Nunito"/>
                <a:ea typeface="Nunito"/>
                <a:cs typeface="Nunito"/>
                <a:sym typeface="Nunito"/>
              </a:rPr>
              <a:t>i</a:t>
            </a:r>
            <a:r>
              <a:rPr lang="en-US" sz="3200" dirty="0">
                <a:latin typeface="Nunito"/>
                <a:ea typeface="Nunito"/>
                <a:cs typeface="Nunito"/>
                <a:sym typeface="Nunito"/>
              </a:rPr>
              <a:t> = 20; </a:t>
            </a:r>
          </a:p>
          <a:p>
            <a:pPr lvl="0"/>
            <a:r>
              <a:rPr lang="en-US" sz="3200" dirty="0">
                <a:latin typeface="Nunito"/>
                <a:ea typeface="Nunito"/>
                <a:cs typeface="Nunito"/>
                <a:sym typeface="Nunito"/>
              </a:rPr>
              <a:t>if (</a:t>
            </a:r>
            <a:r>
              <a:rPr lang="en-US" sz="3200" dirty="0" err="1">
                <a:latin typeface="Nunito"/>
                <a:ea typeface="Nunito"/>
                <a:cs typeface="Nunito"/>
                <a:sym typeface="Nunito"/>
              </a:rPr>
              <a:t>i</a:t>
            </a:r>
            <a:r>
              <a:rPr lang="en-US" sz="3200" dirty="0">
                <a:latin typeface="Nunito"/>
                <a:ea typeface="Nunito"/>
                <a:cs typeface="Nunito"/>
                <a:sym typeface="Nunito"/>
              </a:rPr>
              <a:t> &lt; 15): </a:t>
            </a:r>
          </a:p>
          <a:p>
            <a:pPr lvl="0"/>
            <a:r>
              <a:rPr lang="en-US" sz="3200" dirty="0">
                <a:latin typeface="Nunito"/>
                <a:ea typeface="Nunito"/>
                <a:cs typeface="Nunito"/>
                <a:sym typeface="Nunito"/>
              </a:rPr>
              <a:t>    print ("</a:t>
            </a:r>
            <a:r>
              <a:rPr lang="en-US" sz="3200" dirty="0" err="1">
                <a:latin typeface="Nunito"/>
                <a:ea typeface="Nunito"/>
                <a:cs typeface="Nunito"/>
                <a:sym typeface="Nunito"/>
              </a:rPr>
              <a:t>i</a:t>
            </a:r>
            <a:r>
              <a:rPr lang="en-US" sz="3200" dirty="0">
                <a:latin typeface="Nunito"/>
                <a:ea typeface="Nunito"/>
                <a:cs typeface="Nunito"/>
                <a:sym typeface="Nunito"/>
              </a:rPr>
              <a:t> is smaller than 15") </a:t>
            </a:r>
          </a:p>
          <a:p>
            <a:pPr lvl="0"/>
            <a:r>
              <a:rPr lang="en-US" sz="3200" dirty="0">
                <a:latin typeface="Nunito"/>
                <a:ea typeface="Nunito"/>
                <a:cs typeface="Nunito"/>
                <a:sym typeface="Nunito"/>
              </a:rPr>
              <a:t>    print ("</a:t>
            </a:r>
            <a:r>
              <a:rPr lang="en-US" sz="3200" dirty="0" err="1">
                <a:latin typeface="Nunito"/>
                <a:ea typeface="Nunito"/>
                <a:cs typeface="Nunito"/>
                <a:sym typeface="Nunito"/>
              </a:rPr>
              <a:t>i'm</a:t>
            </a:r>
            <a:r>
              <a:rPr lang="en-US" sz="3200" dirty="0">
                <a:latin typeface="Nunito"/>
                <a:ea typeface="Nunito"/>
                <a:cs typeface="Nunito"/>
                <a:sym typeface="Nunito"/>
              </a:rPr>
              <a:t> in if Block") </a:t>
            </a:r>
          </a:p>
          <a:p>
            <a:pPr lvl="0"/>
            <a:r>
              <a:rPr lang="en-US" sz="3200" dirty="0">
                <a:latin typeface="Nunito"/>
                <a:ea typeface="Nunito"/>
                <a:cs typeface="Nunito"/>
                <a:sym typeface="Nunito"/>
              </a:rPr>
              <a:t>else: </a:t>
            </a:r>
          </a:p>
          <a:p>
            <a:pPr lvl="0"/>
            <a:r>
              <a:rPr lang="en-US" sz="3200" dirty="0">
                <a:latin typeface="Nunito"/>
                <a:ea typeface="Nunito"/>
                <a:cs typeface="Nunito"/>
                <a:sym typeface="Nunito"/>
              </a:rPr>
              <a:t>    print ("</a:t>
            </a:r>
            <a:r>
              <a:rPr lang="en-US" sz="3200" dirty="0" err="1">
                <a:latin typeface="Nunito"/>
                <a:ea typeface="Nunito"/>
                <a:cs typeface="Nunito"/>
                <a:sym typeface="Nunito"/>
              </a:rPr>
              <a:t>i</a:t>
            </a:r>
            <a:r>
              <a:rPr lang="en-US" sz="3200" dirty="0">
                <a:latin typeface="Nunito"/>
                <a:ea typeface="Nunito"/>
                <a:cs typeface="Nunito"/>
                <a:sym typeface="Nunito"/>
              </a:rPr>
              <a:t> is greater than 15") </a:t>
            </a:r>
          </a:p>
          <a:p>
            <a:pPr lvl="0"/>
            <a:r>
              <a:rPr lang="en-US" sz="3200" dirty="0">
                <a:latin typeface="Nunito"/>
                <a:ea typeface="Nunito"/>
                <a:cs typeface="Nunito"/>
                <a:sym typeface="Nunito"/>
              </a:rPr>
              <a:t>    print ("</a:t>
            </a:r>
            <a:r>
              <a:rPr lang="en-US" sz="3200" dirty="0" err="1">
                <a:latin typeface="Nunito"/>
                <a:ea typeface="Nunito"/>
                <a:cs typeface="Nunito"/>
                <a:sym typeface="Nunito"/>
              </a:rPr>
              <a:t>i'm</a:t>
            </a:r>
            <a:r>
              <a:rPr lang="en-US" sz="3200" dirty="0">
                <a:latin typeface="Nunito"/>
                <a:ea typeface="Nunito"/>
                <a:cs typeface="Nunito"/>
                <a:sym typeface="Nunito"/>
              </a:rPr>
              <a:t> in else Block") </a:t>
            </a:r>
          </a:p>
          <a:p>
            <a:pPr lvl="0"/>
            <a:r>
              <a:rPr lang="en-US" sz="3200" dirty="0">
                <a:latin typeface="Nunito"/>
                <a:ea typeface="Nunito"/>
                <a:cs typeface="Nunito"/>
                <a:sym typeface="Nunito"/>
              </a:rPr>
              <a:t>print ("</a:t>
            </a:r>
            <a:r>
              <a:rPr lang="en-US" sz="3200" dirty="0" err="1">
                <a:latin typeface="Nunito"/>
                <a:ea typeface="Nunito"/>
                <a:cs typeface="Nunito"/>
                <a:sym typeface="Nunito"/>
              </a:rPr>
              <a:t>i'm</a:t>
            </a:r>
            <a:r>
              <a:rPr lang="en-US" sz="3200" dirty="0">
                <a:latin typeface="Nunito"/>
                <a:ea typeface="Nunito"/>
                <a:cs typeface="Nunito"/>
                <a:sym typeface="Nunito"/>
              </a:rPr>
              <a:t> not in if and not in else Block")</a:t>
            </a:r>
            <a:endParaRPr lang="en-US" sz="3200" dirty="0"/>
          </a:p>
        </p:txBody>
      </p:sp>
    </p:spTree>
    <p:extLst>
      <p:ext uri="{BB962C8B-B14F-4D97-AF65-F5344CB8AC3E}">
        <p14:creationId xmlns="" xmlns:p14="http://schemas.microsoft.com/office/powerpoint/2010/main" val="108896530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Condition by if-</a:t>
            </a:r>
            <a:r>
              <a:rPr lang="en-US" b="1" dirty="0" err="1" smtClean="0"/>
              <a:t>elif</a:t>
            </a:r>
            <a:r>
              <a:rPr lang="en-US" b="1" dirty="0" smtClean="0"/>
              <a:t>-else ladder</a:t>
            </a:r>
            <a:endParaRPr lang="en-US" dirty="0"/>
          </a:p>
        </p:txBody>
      </p:sp>
      <p:sp>
        <p:nvSpPr>
          <p:cNvPr id="4" name="TextBox 3"/>
          <p:cNvSpPr txBox="1"/>
          <p:nvPr/>
        </p:nvSpPr>
        <p:spPr>
          <a:xfrm>
            <a:off x="228600" y="1066800"/>
            <a:ext cx="8763000" cy="5509200"/>
          </a:xfrm>
          <a:prstGeom prst="rect">
            <a:avLst/>
          </a:prstGeom>
          <a:noFill/>
        </p:spPr>
        <p:txBody>
          <a:bodyPr wrap="square" rtlCol="0">
            <a:spAutoFit/>
          </a:bodyPr>
          <a:lstStyle/>
          <a:p>
            <a:pPr lvl="0" algn="just"/>
            <a:r>
              <a:rPr lang="en-US" sz="3200" dirty="0">
                <a:latin typeface="Nunito"/>
                <a:ea typeface="Nunito"/>
                <a:cs typeface="Nunito"/>
                <a:sym typeface="Nunito"/>
              </a:rPr>
              <a:t>●	The </a:t>
            </a:r>
            <a:r>
              <a:rPr lang="en-US" sz="3200" dirty="0" err="1">
                <a:latin typeface="Nunito"/>
                <a:ea typeface="Nunito"/>
                <a:cs typeface="Nunito"/>
                <a:sym typeface="Nunito"/>
              </a:rPr>
              <a:t>elif</a:t>
            </a:r>
            <a:r>
              <a:rPr lang="en-US" sz="3200" dirty="0">
                <a:latin typeface="Nunito"/>
                <a:ea typeface="Nunito"/>
                <a:cs typeface="Nunito"/>
                <a:sym typeface="Nunito"/>
              </a:rPr>
              <a:t> is short for else if. It allows us to check for multiple expressions.</a:t>
            </a:r>
          </a:p>
          <a:p>
            <a:pPr lvl="0" algn="just"/>
            <a:r>
              <a:rPr lang="en-US" sz="3200" dirty="0">
                <a:latin typeface="Nunito"/>
                <a:ea typeface="Nunito"/>
                <a:cs typeface="Nunito"/>
                <a:sym typeface="Nunito"/>
              </a:rPr>
              <a:t>●	If the condition for if is False, it checks the condition of the next </a:t>
            </a:r>
            <a:r>
              <a:rPr lang="en-US" sz="3200" dirty="0" err="1">
                <a:latin typeface="Nunito"/>
                <a:ea typeface="Nunito"/>
                <a:cs typeface="Nunito"/>
                <a:sym typeface="Nunito"/>
              </a:rPr>
              <a:t>elif</a:t>
            </a:r>
            <a:r>
              <a:rPr lang="en-US" sz="3200" dirty="0">
                <a:latin typeface="Nunito"/>
                <a:ea typeface="Nunito"/>
                <a:cs typeface="Nunito"/>
                <a:sym typeface="Nunito"/>
              </a:rPr>
              <a:t> block and so on.</a:t>
            </a:r>
          </a:p>
          <a:p>
            <a:pPr lvl="0" algn="just"/>
            <a:r>
              <a:rPr lang="en-US" sz="3200" dirty="0">
                <a:latin typeface="Nunito"/>
                <a:ea typeface="Nunito"/>
                <a:cs typeface="Nunito"/>
                <a:sym typeface="Nunito"/>
              </a:rPr>
              <a:t>●	If all the conditions are False, the body of else is executed.</a:t>
            </a:r>
          </a:p>
          <a:p>
            <a:pPr lvl="0" algn="just"/>
            <a:r>
              <a:rPr lang="en-US" sz="3200" dirty="0">
                <a:latin typeface="Nunito"/>
                <a:ea typeface="Nunito"/>
                <a:cs typeface="Nunito"/>
                <a:sym typeface="Nunito"/>
              </a:rPr>
              <a:t>●	Only one block among the several if...</a:t>
            </a:r>
            <a:r>
              <a:rPr lang="en-US" sz="3200" dirty="0" err="1">
                <a:latin typeface="Nunito"/>
                <a:ea typeface="Nunito"/>
                <a:cs typeface="Nunito"/>
                <a:sym typeface="Nunito"/>
              </a:rPr>
              <a:t>elif</a:t>
            </a:r>
            <a:r>
              <a:rPr lang="en-US" sz="3200" dirty="0">
                <a:latin typeface="Nunito"/>
                <a:ea typeface="Nunito"/>
                <a:cs typeface="Nunito"/>
                <a:sym typeface="Nunito"/>
              </a:rPr>
              <a:t>...else blocks is executed according to the condition.</a:t>
            </a:r>
          </a:p>
          <a:p>
            <a:pPr lvl="0" algn="just"/>
            <a:r>
              <a:rPr lang="en-US" sz="3200" dirty="0">
                <a:latin typeface="Nunito"/>
                <a:ea typeface="Nunito"/>
                <a:cs typeface="Nunito"/>
                <a:sym typeface="Nunito"/>
              </a:rPr>
              <a:t>●	The if block can have only one else block. But it can have multiple </a:t>
            </a:r>
            <a:r>
              <a:rPr lang="en-US" sz="3200" dirty="0" err="1">
                <a:latin typeface="Nunito"/>
                <a:ea typeface="Nunito"/>
                <a:cs typeface="Nunito"/>
                <a:sym typeface="Nunito"/>
              </a:rPr>
              <a:t>elif</a:t>
            </a:r>
            <a:r>
              <a:rPr lang="en-US" sz="3200" dirty="0">
                <a:latin typeface="Nunito"/>
                <a:ea typeface="Nunito"/>
                <a:cs typeface="Nunito"/>
                <a:sym typeface="Nunito"/>
              </a:rPr>
              <a:t> blocks</a:t>
            </a:r>
          </a:p>
        </p:txBody>
      </p:sp>
    </p:spTree>
    <p:extLst>
      <p:ext uri="{BB962C8B-B14F-4D97-AF65-F5344CB8AC3E}">
        <p14:creationId xmlns="" xmlns:p14="http://schemas.microsoft.com/office/powerpoint/2010/main" val="410762584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Condition by if-</a:t>
            </a:r>
            <a:r>
              <a:rPr lang="en-US" b="1" dirty="0" err="1" smtClean="0"/>
              <a:t>elif</a:t>
            </a:r>
            <a:r>
              <a:rPr lang="en-US" b="1" dirty="0" smtClean="0"/>
              <a:t>-else ladder</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lvl="0"/>
            <a:r>
              <a:rPr lang="en-US" sz="3200" dirty="0" smtClean="0">
                <a:latin typeface="Nunito"/>
                <a:ea typeface="Nunito"/>
                <a:cs typeface="Nunito"/>
                <a:sym typeface="Nunito"/>
              </a:rPr>
              <a:t>Syntax :</a:t>
            </a:r>
          </a:p>
          <a:p>
            <a:pPr lvl="0"/>
            <a:r>
              <a:rPr lang="en-US" sz="3200" dirty="0" smtClean="0">
                <a:latin typeface="Nunito"/>
                <a:ea typeface="Nunito"/>
                <a:cs typeface="Nunito"/>
                <a:sym typeface="Nunito"/>
              </a:rPr>
              <a:t>if </a:t>
            </a:r>
            <a:r>
              <a:rPr lang="en-US" sz="3200" dirty="0">
                <a:latin typeface="Nunito"/>
                <a:ea typeface="Nunito"/>
                <a:cs typeface="Nunito"/>
                <a:sym typeface="Nunito"/>
              </a:rPr>
              <a:t>(condition):</a:t>
            </a:r>
          </a:p>
          <a:p>
            <a:pPr lvl="0"/>
            <a:r>
              <a:rPr lang="en-US" sz="3200" dirty="0">
                <a:latin typeface="Nunito"/>
                <a:ea typeface="Nunito"/>
                <a:cs typeface="Nunito"/>
                <a:sym typeface="Nunito"/>
              </a:rPr>
              <a:t>    statement</a:t>
            </a:r>
          </a:p>
          <a:p>
            <a:pPr lvl="0"/>
            <a:r>
              <a:rPr lang="en-US" sz="3200" dirty="0" err="1">
                <a:latin typeface="Nunito"/>
                <a:ea typeface="Nunito"/>
                <a:cs typeface="Nunito"/>
                <a:sym typeface="Nunito"/>
              </a:rPr>
              <a:t>elif</a:t>
            </a:r>
            <a:r>
              <a:rPr lang="en-US" sz="3200" dirty="0">
                <a:latin typeface="Nunito"/>
                <a:ea typeface="Nunito"/>
                <a:cs typeface="Nunito"/>
                <a:sym typeface="Nunito"/>
              </a:rPr>
              <a:t> (condition):</a:t>
            </a:r>
          </a:p>
          <a:p>
            <a:pPr lvl="0"/>
            <a:r>
              <a:rPr lang="en-US" sz="3200" dirty="0">
                <a:latin typeface="Nunito"/>
                <a:ea typeface="Nunito"/>
                <a:cs typeface="Nunito"/>
                <a:sym typeface="Nunito"/>
              </a:rPr>
              <a:t>    statement</a:t>
            </a:r>
          </a:p>
          <a:p>
            <a:pPr lvl="0"/>
            <a:r>
              <a:rPr lang="en-US" sz="3200" dirty="0">
                <a:latin typeface="Nunito"/>
                <a:ea typeface="Nunito"/>
                <a:cs typeface="Nunito"/>
                <a:sym typeface="Nunito"/>
              </a:rPr>
              <a:t>.</a:t>
            </a:r>
          </a:p>
          <a:p>
            <a:pPr lvl="0"/>
            <a:r>
              <a:rPr lang="en-US" sz="3200" dirty="0">
                <a:latin typeface="Nunito"/>
                <a:ea typeface="Nunito"/>
                <a:cs typeface="Nunito"/>
                <a:sym typeface="Nunito"/>
              </a:rPr>
              <a:t>.</a:t>
            </a:r>
          </a:p>
          <a:p>
            <a:pPr lvl="0"/>
            <a:r>
              <a:rPr lang="en-US" sz="3200" dirty="0">
                <a:latin typeface="Nunito"/>
                <a:ea typeface="Nunito"/>
                <a:cs typeface="Nunito"/>
                <a:sym typeface="Nunito"/>
              </a:rPr>
              <a:t>else:</a:t>
            </a:r>
          </a:p>
          <a:p>
            <a:pPr lvl="0"/>
            <a:r>
              <a:rPr lang="en-US" sz="3200" dirty="0">
                <a:latin typeface="Nunito"/>
                <a:ea typeface="Nunito"/>
                <a:cs typeface="Nunito"/>
                <a:sym typeface="Nunito"/>
              </a:rPr>
              <a:t>    statement</a:t>
            </a:r>
          </a:p>
        </p:txBody>
      </p:sp>
    </p:spTree>
    <p:extLst>
      <p:ext uri="{BB962C8B-B14F-4D97-AF65-F5344CB8AC3E}">
        <p14:creationId xmlns="" xmlns:p14="http://schemas.microsoft.com/office/powerpoint/2010/main" val="77856523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Condition by if-</a:t>
            </a:r>
            <a:r>
              <a:rPr lang="en-US" b="1" dirty="0" err="1" smtClean="0"/>
              <a:t>elif</a:t>
            </a:r>
            <a:r>
              <a:rPr lang="en-US" b="1" dirty="0" smtClean="0"/>
              <a:t>-else ladder</a:t>
            </a:r>
            <a:endParaRPr lang="en-US" dirty="0"/>
          </a:p>
        </p:txBody>
      </p:sp>
      <p:sp>
        <p:nvSpPr>
          <p:cNvPr id="4" name="TextBox 3"/>
          <p:cNvSpPr txBox="1"/>
          <p:nvPr/>
        </p:nvSpPr>
        <p:spPr>
          <a:xfrm>
            <a:off x="228600" y="1066800"/>
            <a:ext cx="8763000" cy="5509200"/>
          </a:xfrm>
          <a:prstGeom prst="rect">
            <a:avLst/>
          </a:prstGeom>
          <a:noFill/>
        </p:spPr>
        <p:txBody>
          <a:bodyPr wrap="square" rtlCol="0">
            <a:spAutoFit/>
          </a:bodyPr>
          <a:lstStyle/>
          <a:p>
            <a:pPr lvl="0"/>
            <a:r>
              <a:rPr lang="en-US" sz="3200" dirty="0" smtClean="0">
                <a:latin typeface="Nunito"/>
                <a:ea typeface="Nunito"/>
                <a:cs typeface="Nunito"/>
                <a:sym typeface="Nunito"/>
              </a:rPr>
              <a:t>Example:</a:t>
            </a:r>
          </a:p>
          <a:p>
            <a:pPr lvl="0"/>
            <a:r>
              <a:rPr lang="en-US" sz="3200" dirty="0" smtClean="0">
                <a:latin typeface="Nunito"/>
                <a:ea typeface="Nunito"/>
                <a:cs typeface="Nunito"/>
                <a:sym typeface="Nunito"/>
              </a:rPr>
              <a:t># </a:t>
            </a:r>
            <a:r>
              <a:rPr lang="en-US" sz="3200" dirty="0">
                <a:latin typeface="Nunito"/>
                <a:ea typeface="Nunito"/>
                <a:cs typeface="Nunito"/>
                <a:sym typeface="Nunito"/>
              </a:rPr>
              <a:t>Python program to illustrate if-</a:t>
            </a:r>
            <a:r>
              <a:rPr lang="en-US" sz="3200" dirty="0" err="1">
                <a:latin typeface="Nunito"/>
                <a:ea typeface="Nunito"/>
                <a:cs typeface="Nunito"/>
                <a:sym typeface="Nunito"/>
              </a:rPr>
              <a:t>elif</a:t>
            </a:r>
            <a:r>
              <a:rPr lang="en-US" sz="3200" dirty="0">
                <a:latin typeface="Nunito"/>
                <a:ea typeface="Nunito"/>
                <a:cs typeface="Nunito"/>
                <a:sym typeface="Nunito"/>
              </a:rPr>
              <a:t>-else ladder </a:t>
            </a:r>
          </a:p>
          <a:p>
            <a:pPr lvl="0"/>
            <a:r>
              <a:rPr lang="en-US" sz="3200" dirty="0" err="1">
                <a:latin typeface="Nunito"/>
                <a:ea typeface="Nunito"/>
                <a:cs typeface="Nunito"/>
                <a:sym typeface="Nunito"/>
              </a:rPr>
              <a:t>i</a:t>
            </a:r>
            <a:r>
              <a:rPr lang="en-US" sz="3200" dirty="0">
                <a:latin typeface="Nunito"/>
                <a:ea typeface="Nunito"/>
                <a:cs typeface="Nunito"/>
                <a:sym typeface="Nunito"/>
              </a:rPr>
              <a:t> = 20</a:t>
            </a:r>
          </a:p>
          <a:p>
            <a:pPr lvl="0"/>
            <a:r>
              <a:rPr lang="en-US" sz="3200" dirty="0">
                <a:latin typeface="Nunito"/>
                <a:ea typeface="Nunito"/>
                <a:cs typeface="Nunito"/>
                <a:sym typeface="Nunito"/>
              </a:rPr>
              <a:t>if (</a:t>
            </a:r>
            <a:r>
              <a:rPr lang="en-US" sz="3200" dirty="0" err="1">
                <a:latin typeface="Nunito"/>
                <a:ea typeface="Nunito"/>
                <a:cs typeface="Nunito"/>
                <a:sym typeface="Nunito"/>
              </a:rPr>
              <a:t>i</a:t>
            </a:r>
            <a:r>
              <a:rPr lang="en-US" sz="3200" dirty="0">
                <a:latin typeface="Nunito"/>
                <a:ea typeface="Nunito"/>
                <a:cs typeface="Nunito"/>
                <a:sym typeface="Nunito"/>
              </a:rPr>
              <a:t> == 10): </a:t>
            </a:r>
          </a:p>
          <a:p>
            <a:pPr lvl="0"/>
            <a:r>
              <a:rPr lang="en-US" sz="3200" dirty="0">
                <a:latin typeface="Nunito"/>
                <a:ea typeface="Nunito"/>
                <a:cs typeface="Nunito"/>
                <a:sym typeface="Nunito"/>
              </a:rPr>
              <a:t>    print ("</a:t>
            </a:r>
            <a:r>
              <a:rPr lang="en-US" sz="3200" dirty="0" err="1">
                <a:latin typeface="Nunito"/>
                <a:ea typeface="Nunito"/>
                <a:cs typeface="Nunito"/>
                <a:sym typeface="Nunito"/>
              </a:rPr>
              <a:t>i</a:t>
            </a:r>
            <a:r>
              <a:rPr lang="en-US" sz="3200" dirty="0">
                <a:latin typeface="Nunito"/>
                <a:ea typeface="Nunito"/>
                <a:cs typeface="Nunito"/>
                <a:sym typeface="Nunito"/>
              </a:rPr>
              <a:t> is 10") </a:t>
            </a:r>
          </a:p>
          <a:p>
            <a:pPr lvl="0"/>
            <a:r>
              <a:rPr lang="en-US" sz="3200" dirty="0" err="1">
                <a:latin typeface="Nunito"/>
                <a:ea typeface="Nunito"/>
                <a:cs typeface="Nunito"/>
                <a:sym typeface="Nunito"/>
              </a:rPr>
              <a:t>elif</a:t>
            </a:r>
            <a:r>
              <a:rPr lang="en-US" sz="3200" dirty="0">
                <a:latin typeface="Nunito"/>
                <a:ea typeface="Nunito"/>
                <a:cs typeface="Nunito"/>
                <a:sym typeface="Nunito"/>
              </a:rPr>
              <a:t> (</a:t>
            </a:r>
            <a:r>
              <a:rPr lang="en-US" sz="3200" dirty="0" err="1">
                <a:latin typeface="Nunito"/>
                <a:ea typeface="Nunito"/>
                <a:cs typeface="Nunito"/>
                <a:sym typeface="Nunito"/>
              </a:rPr>
              <a:t>i</a:t>
            </a:r>
            <a:r>
              <a:rPr lang="en-US" sz="3200" dirty="0">
                <a:latin typeface="Nunito"/>
                <a:ea typeface="Nunito"/>
                <a:cs typeface="Nunito"/>
                <a:sym typeface="Nunito"/>
              </a:rPr>
              <a:t> == 15): </a:t>
            </a:r>
          </a:p>
          <a:p>
            <a:pPr lvl="0"/>
            <a:r>
              <a:rPr lang="en-US" sz="3200" dirty="0">
                <a:latin typeface="Nunito"/>
                <a:ea typeface="Nunito"/>
                <a:cs typeface="Nunito"/>
                <a:sym typeface="Nunito"/>
              </a:rPr>
              <a:t>    print ("</a:t>
            </a:r>
            <a:r>
              <a:rPr lang="en-US" sz="3200" dirty="0" err="1">
                <a:latin typeface="Nunito"/>
                <a:ea typeface="Nunito"/>
                <a:cs typeface="Nunito"/>
                <a:sym typeface="Nunito"/>
              </a:rPr>
              <a:t>i</a:t>
            </a:r>
            <a:r>
              <a:rPr lang="en-US" sz="3200" dirty="0">
                <a:latin typeface="Nunito"/>
                <a:ea typeface="Nunito"/>
                <a:cs typeface="Nunito"/>
                <a:sym typeface="Nunito"/>
              </a:rPr>
              <a:t> is 15") </a:t>
            </a:r>
          </a:p>
          <a:p>
            <a:pPr lvl="0"/>
            <a:r>
              <a:rPr lang="en-US" sz="3200" dirty="0" err="1">
                <a:latin typeface="Nunito"/>
                <a:ea typeface="Nunito"/>
                <a:cs typeface="Nunito"/>
                <a:sym typeface="Nunito"/>
              </a:rPr>
              <a:t>elif</a:t>
            </a:r>
            <a:r>
              <a:rPr lang="en-US" sz="3200" dirty="0">
                <a:latin typeface="Nunito"/>
                <a:ea typeface="Nunito"/>
                <a:cs typeface="Nunito"/>
                <a:sym typeface="Nunito"/>
              </a:rPr>
              <a:t> (</a:t>
            </a:r>
            <a:r>
              <a:rPr lang="en-US" sz="3200" dirty="0" err="1">
                <a:latin typeface="Nunito"/>
                <a:ea typeface="Nunito"/>
                <a:cs typeface="Nunito"/>
                <a:sym typeface="Nunito"/>
              </a:rPr>
              <a:t>i</a:t>
            </a:r>
            <a:r>
              <a:rPr lang="en-US" sz="3200" dirty="0">
                <a:latin typeface="Nunito"/>
                <a:ea typeface="Nunito"/>
                <a:cs typeface="Nunito"/>
                <a:sym typeface="Nunito"/>
              </a:rPr>
              <a:t> == 20): </a:t>
            </a:r>
          </a:p>
          <a:p>
            <a:pPr lvl="0"/>
            <a:r>
              <a:rPr lang="en-US" sz="3200" dirty="0">
                <a:latin typeface="Nunito"/>
                <a:ea typeface="Nunito"/>
                <a:cs typeface="Nunito"/>
                <a:sym typeface="Nunito"/>
              </a:rPr>
              <a:t>    print ("</a:t>
            </a:r>
            <a:r>
              <a:rPr lang="en-US" sz="3200" dirty="0" err="1">
                <a:latin typeface="Nunito"/>
                <a:ea typeface="Nunito"/>
                <a:cs typeface="Nunito"/>
                <a:sym typeface="Nunito"/>
              </a:rPr>
              <a:t>i</a:t>
            </a:r>
            <a:r>
              <a:rPr lang="en-US" sz="3200" dirty="0">
                <a:latin typeface="Nunito"/>
                <a:ea typeface="Nunito"/>
                <a:cs typeface="Nunito"/>
                <a:sym typeface="Nunito"/>
              </a:rPr>
              <a:t> is 20") </a:t>
            </a:r>
          </a:p>
          <a:p>
            <a:pPr lvl="0"/>
            <a:r>
              <a:rPr lang="en-US" sz="3200" dirty="0">
                <a:latin typeface="Nunito"/>
                <a:ea typeface="Nunito"/>
                <a:cs typeface="Nunito"/>
                <a:sym typeface="Nunito"/>
              </a:rPr>
              <a:t>else: </a:t>
            </a:r>
          </a:p>
          <a:p>
            <a:pPr lvl="0"/>
            <a:r>
              <a:rPr lang="en-US" sz="3200" dirty="0">
                <a:latin typeface="Nunito"/>
                <a:ea typeface="Nunito"/>
                <a:cs typeface="Nunito"/>
                <a:sym typeface="Nunito"/>
              </a:rPr>
              <a:t>    print ("</a:t>
            </a:r>
            <a:r>
              <a:rPr lang="en-US" sz="3200" dirty="0" err="1">
                <a:latin typeface="Nunito"/>
                <a:ea typeface="Nunito"/>
                <a:cs typeface="Nunito"/>
                <a:sym typeface="Nunito"/>
              </a:rPr>
              <a:t>i</a:t>
            </a:r>
            <a:r>
              <a:rPr lang="en-US" sz="3200" dirty="0">
                <a:latin typeface="Nunito"/>
                <a:ea typeface="Nunito"/>
                <a:cs typeface="Nunito"/>
                <a:sym typeface="Nunito"/>
              </a:rPr>
              <a:t> is not present")</a:t>
            </a:r>
          </a:p>
        </p:txBody>
      </p:sp>
    </p:spTree>
    <p:extLst>
      <p:ext uri="{BB962C8B-B14F-4D97-AF65-F5344CB8AC3E}">
        <p14:creationId xmlns="" xmlns:p14="http://schemas.microsoft.com/office/powerpoint/2010/main" val="262259225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Loops</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lvl="0" algn="just"/>
            <a:r>
              <a:rPr lang="en-US" sz="3200" dirty="0" smtClean="0">
                <a:latin typeface="Nunito"/>
                <a:ea typeface="Nunito"/>
                <a:cs typeface="Nunito"/>
                <a:sym typeface="Nunito"/>
              </a:rPr>
              <a:t>A </a:t>
            </a:r>
            <a:r>
              <a:rPr lang="en-US" sz="3200" dirty="0">
                <a:latin typeface="Nunito"/>
                <a:ea typeface="Nunito"/>
                <a:cs typeface="Nunito"/>
                <a:sym typeface="Nunito"/>
              </a:rPr>
              <a:t>loop statement  allows us to execute a statement or group of statements multiple times</a:t>
            </a:r>
            <a:r>
              <a:rPr lang="en-US" sz="3200" dirty="0" smtClean="0">
                <a:latin typeface="Nunito"/>
                <a:ea typeface="Nunito"/>
                <a:cs typeface="Nunito"/>
                <a:sym typeface="Nunito"/>
              </a:rPr>
              <a:t>.</a:t>
            </a:r>
          </a:p>
          <a:p>
            <a:pPr lvl="0" algn="just"/>
            <a:r>
              <a:rPr lang="en-US" sz="3200" dirty="0" smtClean="0">
                <a:latin typeface="Nunito"/>
                <a:ea typeface="Nunito"/>
                <a:cs typeface="Nunito"/>
                <a:sym typeface="Nunito"/>
              </a:rPr>
              <a:t>There are three types of loops in python</a:t>
            </a:r>
          </a:p>
          <a:p>
            <a:pPr lvl="0" algn="just"/>
            <a:r>
              <a:rPr lang="en-US" sz="3200" dirty="0">
                <a:latin typeface="Nunito"/>
                <a:ea typeface="Nunito"/>
                <a:cs typeface="Nunito"/>
                <a:sym typeface="Nunito"/>
              </a:rPr>
              <a:t>●	while loop</a:t>
            </a:r>
          </a:p>
          <a:p>
            <a:pPr lvl="0" algn="just"/>
            <a:r>
              <a:rPr lang="en-US" sz="3200" dirty="0">
                <a:latin typeface="Nunito"/>
                <a:ea typeface="Nunito"/>
                <a:cs typeface="Nunito"/>
                <a:sym typeface="Nunito"/>
              </a:rPr>
              <a:t>Repeats a statement or group of statements while a given condition is true. It tests the condition before executing the loop body</a:t>
            </a:r>
            <a:r>
              <a:rPr lang="en-US" sz="3200" dirty="0" smtClean="0">
                <a:latin typeface="Nunito"/>
                <a:ea typeface="Nunito"/>
                <a:cs typeface="Nunito"/>
                <a:sym typeface="Nunito"/>
              </a:rPr>
              <a:t>.</a:t>
            </a:r>
            <a:endParaRPr lang="en-US" sz="3200" dirty="0">
              <a:latin typeface="Nunito"/>
              <a:ea typeface="Nunito"/>
              <a:cs typeface="Nunito"/>
              <a:sym typeface="Nunito"/>
            </a:endParaRPr>
          </a:p>
        </p:txBody>
      </p:sp>
    </p:spTree>
    <p:extLst>
      <p:ext uri="{BB962C8B-B14F-4D97-AF65-F5344CB8AC3E}">
        <p14:creationId xmlns="" xmlns:p14="http://schemas.microsoft.com/office/powerpoint/2010/main" val="286192230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Loops</a:t>
            </a:r>
            <a:endParaRPr lang="en-US" dirty="0"/>
          </a:p>
        </p:txBody>
      </p:sp>
      <p:sp>
        <p:nvSpPr>
          <p:cNvPr id="4" name="TextBox 3"/>
          <p:cNvSpPr txBox="1"/>
          <p:nvPr/>
        </p:nvSpPr>
        <p:spPr>
          <a:xfrm>
            <a:off x="228600" y="1066800"/>
            <a:ext cx="8763000" cy="3539430"/>
          </a:xfrm>
          <a:prstGeom prst="rect">
            <a:avLst/>
          </a:prstGeom>
          <a:noFill/>
        </p:spPr>
        <p:txBody>
          <a:bodyPr wrap="square" rtlCol="0">
            <a:spAutoFit/>
          </a:bodyPr>
          <a:lstStyle/>
          <a:p>
            <a:pPr lvl="0" algn="just"/>
            <a:r>
              <a:rPr lang="en-US" sz="3200" dirty="0">
                <a:latin typeface="Nunito"/>
                <a:ea typeface="Nunito"/>
                <a:cs typeface="Nunito"/>
                <a:sym typeface="Nunito"/>
              </a:rPr>
              <a:t>●	for loop</a:t>
            </a:r>
          </a:p>
          <a:p>
            <a:pPr lvl="0" algn="just"/>
            <a:r>
              <a:rPr lang="en-US" sz="3200" dirty="0">
                <a:latin typeface="Nunito"/>
                <a:ea typeface="Nunito"/>
                <a:cs typeface="Nunito"/>
                <a:sym typeface="Nunito"/>
              </a:rPr>
              <a:t>Executes a sequence of statements multiple times and abbreviates the code that manages the loop variable.</a:t>
            </a:r>
          </a:p>
          <a:p>
            <a:pPr lvl="0" algn="just"/>
            <a:r>
              <a:rPr lang="en-US" sz="3200" dirty="0">
                <a:latin typeface="Nunito"/>
                <a:ea typeface="Nunito"/>
                <a:cs typeface="Nunito"/>
                <a:sym typeface="Nunito"/>
              </a:rPr>
              <a:t>●	nested loops </a:t>
            </a:r>
          </a:p>
          <a:p>
            <a:pPr lvl="0" algn="just"/>
            <a:r>
              <a:rPr lang="en-US" sz="3200" dirty="0">
                <a:latin typeface="Nunito"/>
                <a:ea typeface="Nunito"/>
                <a:cs typeface="Nunito"/>
                <a:sym typeface="Nunito"/>
              </a:rPr>
              <a:t>You can use one or more loop inside any another loop.</a:t>
            </a:r>
          </a:p>
        </p:txBody>
      </p:sp>
    </p:spTree>
    <p:extLst>
      <p:ext uri="{BB962C8B-B14F-4D97-AF65-F5344CB8AC3E}">
        <p14:creationId xmlns="" xmlns:p14="http://schemas.microsoft.com/office/powerpoint/2010/main" val="419376371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While Loop</a:t>
            </a:r>
            <a:endParaRPr lang="en-US" dirty="0"/>
          </a:p>
        </p:txBody>
      </p:sp>
      <p:sp>
        <p:nvSpPr>
          <p:cNvPr id="4" name="TextBox 3"/>
          <p:cNvSpPr txBox="1"/>
          <p:nvPr/>
        </p:nvSpPr>
        <p:spPr>
          <a:xfrm>
            <a:off x="228600" y="1066800"/>
            <a:ext cx="8763000" cy="5940088"/>
          </a:xfrm>
          <a:prstGeom prst="rect">
            <a:avLst/>
          </a:prstGeom>
          <a:noFill/>
        </p:spPr>
        <p:txBody>
          <a:bodyPr wrap="square" rtlCol="0">
            <a:spAutoFit/>
          </a:bodyPr>
          <a:lstStyle/>
          <a:p>
            <a:pPr lvl="0" algn="just"/>
            <a:r>
              <a:rPr lang="en-US" sz="3200" dirty="0">
                <a:latin typeface="Nunito"/>
                <a:ea typeface="Nunito"/>
                <a:cs typeface="Nunito"/>
                <a:sym typeface="Nunito"/>
              </a:rPr>
              <a:t>Syntax:</a:t>
            </a:r>
          </a:p>
          <a:p>
            <a:pPr lvl="0" algn="just"/>
            <a:r>
              <a:rPr lang="en-US" sz="3200" dirty="0" smtClean="0">
                <a:latin typeface="Nunito"/>
                <a:ea typeface="Nunito"/>
                <a:cs typeface="Nunito"/>
                <a:sym typeface="Nunito"/>
              </a:rPr>
              <a:t>while  </a:t>
            </a:r>
            <a:r>
              <a:rPr lang="en-US" sz="3200" dirty="0">
                <a:latin typeface="Nunito"/>
                <a:ea typeface="Nunito"/>
                <a:cs typeface="Nunito"/>
                <a:sym typeface="Nunito"/>
              </a:rPr>
              <a:t>expression:</a:t>
            </a:r>
          </a:p>
          <a:p>
            <a:pPr lvl="0" algn="just"/>
            <a:r>
              <a:rPr lang="en-US" sz="3200" dirty="0" smtClean="0">
                <a:latin typeface="Nunito"/>
                <a:ea typeface="Nunito"/>
                <a:cs typeface="Nunito"/>
                <a:sym typeface="Nunito"/>
              </a:rPr>
              <a:t>	statement(s)</a:t>
            </a:r>
          </a:p>
          <a:p>
            <a:pPr lvl="0" algn="just"/>
            <a:endParaRPr lang="en-US" sz="3200" dirty="0">
              <a:latin typeface="Nunito"/>
              <a:ea typeface="Nunito"/>
              <a:cs typeface="Nunito"/>
              <a:sym typeface="Nunito"/>
            </a:endParaRPr>
          </a:p>
          <a:p>
            <a:r>
              <a:rPr lang="en-US" dirty="0"/>
              <a:t>Example :</a:t>
            </a:r>
            <a:endParaRPr lang="en-IN" dirty="0"/>
          </a:p>
          <a:p>
            <a:r>
              <a:rPr lang="en-US" dirty="0"/>
              <a:t> </a:t>
            </a:r>
            <a:endParaRPr lang="en-IN" dirty="0"/>
          </a:p>
          <a:p>
            <a:r>
              <a:rPr lang="en-US" dirty="0" err="1"/>
              <a:t>i</a:t>
            </a:r>
            <a:r>
              <a:rPr lang="en-US" dirty="0"/>
              <a:t> = 1</a:t>
            </a:r>
            <a:endParaRPr lang="en-IN" dirty="0"/>
          </a:p>
          <a:p>
            <a:r>
              <a:rPr lang="en-US" dirty="0"/>
              <a:t> </a:t>
            </a:r>
            <a:endParaRPr lang="en-IN" dirty="0"/>
          </a:p>
          <a:p>
            <a:r>
              <a:rPr lang="en-US" dirty="0"/>
              <a:t>while </a:t>
            </a:r>
            <a:r>
              <a:rPr lang="en-US" dirty="0" err="1"/>
              <a:t>i</a:t>
            </a:r>
            <a:r>
              <a:rPr lang="en-US" dirty="0"/>
              <a:t>&lt; 6:</a:t>
            </a:r>
            <a:endParaRPr lang="en-IN" dirty="0"/>
          </a:p>
          <a:p>
            <a:r>
              <a:rPr lang="en-US" dirty="0"/>
              <a:t>     print(</a:t>
            </a:r>
            <a:r>
              <a:rPr lang="en-US" dirty="0" err="1"/>
              <a:t>i</a:t>
            </a:r>
            <a:r>
              <a:rPr lang="en-US" dirty="0"/>
              <a:t>)</a:t>
            </a:r>
            <a:endParaRPr lang="en-IN" dirty="0"/>
          </a:p>
          <a:p>
            <a:r>
              <a:rPr lang="en-US" dirty="0"/>
              <a:t>     </a:t>
            </a:r>
            <a:r>
              <a:rPr lang="en-US" dirty="0" err="1"/>
              <a:t>i</a:t>
            </a:r>
            <a:r>
              <a:rPr lang="en-US" dirty="0"/>
              <a:t>=</a:t>
            </a:r>
            <a:r>
              <a:rPr lang="en-US" dirty="0" err="1"/>
              <a:t>i+1</a:t>
            </a:r>
            <a:r>
              <a:rPr lang="en-US" dirty="0"/>
              <a:t> </a:t>
            </a:r>
            <a:endParaRPr lang="en-IN" dirty="0"/>
          </a:p>
          <a:p>
            <a:r>
              <a:rPr lang="en-US" dirty="0"/>
              <a:t> </a:t>
            </a:r>
            <a:endParaRPr lang="en-IN" dirty="0"/>
          </a:p>
          <a:p>
            <a:r>
              <a:rPr lang="en-US" dirty="0"/>
              <a:t>Output:</a:t>
            </a:r>
            <a:endParaRPr lang="en-IN" dirty="0"/>
          </a:p>
          <a:p>
            <a:r>
              <a:rPr lang="en-US" dirty="0"/>
              <a:t>1</a:t>
            </a:r>
            <a:endParaRPr lang="en-IN" dirty="0"/>
          </a:p>
          <a:p>
            <a:r>
              <a:rPr lang="en-US" dirty="0"/>
              <a:t>2</a:t>
            </a:r>
            <a:endParaRPr lang="en-IN" dirty="0"/>
          </a:p>
          <a:p>
            <a:r>
              <a:rPr lang="en-US" dirty="0"/>
              <a:t>3</a:t>
            </a:r>
            <a:endParaRPr lang="en-IN" dirty="0"/>
          </a:p>
          <a:p>
            <a:r>
              <a:rPr lang="en-US" dirty="0"/>
              <a:t>4</a:t>
            </a:r>
            <a:endParaRPr lang="en-IN" dirty="0"/>
          </a:p>
          <a:p>
            <a:r>
              <a:rPr lang="en-US" dirty="0" smtClean="0"/>
              <a:t>5</a:t>
            </a:r>
            <a:endParaRPr lang="en-IN" dirty="0"/>
          </a:p>
        </p:txBody>
      </p:sp>
    </p:spTree>
    <p:extLst>
      <p:ext uri="{BB962C8B-B14F-4D97-AF65-F5344CB8AC3E}">
        <p14:creationId xmlns="" xmlns:p14="http://schemas.microsoft.com/office/powerpoint/2010/main" val="379143238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While Loop</a:t>
            </a:r>
            <a:endParaRPr lang="en-US" dirty="0"/>
          </a:p>
        </p:txBody>
      </p:sp>
      <p:sp>
        <p:nvSpPr>
          <p:cNvPr id="4" name="TextBox 3"/>
          <p:cNvSpPr txBox="1"/>
          <p:nvPr/>
        </p:nvSpPr>
        <p:spPr>
          <a:xfrm>
            <a:off x="228600" y="1066800"/>
            <a:ext cx="8763000" cy="5632311"/>
          </a:xfrm>
          <a:prstGeom prst="rect">
            <a:avLst/>
          </a:prstGeom>
          <a:noFill/>
        </p:spPr>
        <p:txBody>
          <a:bodyPr wrap="square" rtlCol="0">
            <a:spAutoFit/>
          </a:bodyPr>
          <a:lstStyle/>
          <a:p>
            <a:r>
              <a:rPr lang="en-US" dirty="0"/>
              <a:t>The else Statement with while </a:t>
            </a:r>
            <a:endParaRPr lang="en-IN" dirty="0"/>
          </a:p>
          <a:p>
            <a:r>
              <a:rPr lang="en-US" dirty="0"/>
              <a:t> </a:t>
            </a:r>
            <a:endParaRPr lang="en-IN" dirty="0"/>
          </a:p>
          <a:p>
            <a:r>
              <a:rPr lang="en-US" dirty="0"/>
              <a:t>With the else statement we can run a block of code once when the condition no longer is true:</a:t>
            </a:r>
            <a:endParaRPr lang="en-IN" dirty="0"/>
          </a:p>
          <a:p>
            <a:r>
              <a:rPr lang="en-US" dirty="0"/>
              <a:t> </a:t>
            </a:r>
            <a:endParaRPr lang="en-IN" dirty="0"/>
          </a:p>
          <a:p>
            <a:r>
              <a:rPr lang="en-US" dirty="0"/>
              <a:t>Example :</a:t>
            </a:r>
            <a:endParaRPr lang="en-IN" dirty="0"/>
          </a:p>
          <a:p>
            <a:r>
              <a:rPr lang="en-US" dirty="0" err="1" smtClean="0"/>
              <a:t>i</a:t>
            </a:r>
            <a:r>
              <a:rPr lang="en-US" dirty="0" smtClean="0"/>
              <a:t> </a:t>
            </a:r>
            <a:r>
              <a:rPr lang="en-US" dirty="0"/>
              <a:t>= 1</a:t>
            </a:r>
            <a:endParaRPr lang="en-IN" dirty="0"/>
          </a:p>
          <a:p>
            <a:r>
              <a:rPr lang="en-US" dirty="0" smtClean="0"/>
              <a:t>while </a:t>
            </a:r>
            <a:r>
              <a:rPr lang="en-US" dirty="0" err="1"/>
              <a:t>i</a:t>
            </a:r>
            <a:r>
              <a:rPr lang="en-US" dirty="0"/>
              <a:t>&lt;6:</a:t>
            </a:r>
            <a:endParaRPr lang="en-IN" dirty="0"/>
          </a:p>
          <a:p>
            <a:r>
              <a:rPr lang="en-US" dirty="0"/>
              <a:t>   print(</a:t>
            </a:r>
            <a:r>
              <a:rPr lang="en-US" dirty="0" err="1"/>
              <a:t>i</a:t>
            </a:r>
            <a:r>
              <a:rPr lang="en-US" dirty="0"/>
              <a:t>)</a:t>
            </a:r>
            <a:endParaRPr lang="en-IN" dirty="0"/>
          </a:p>
          <a:p>
            <a:r>
              <a:rPr lang="en-US" dirty="0"/>
              <a:t>   </a:t>
            </a:r>
            <a:r>
              <a:rPr lang="en-US" dirty="0" err="1"/>
              <a:t>i</a:t>
            </a:r>
            <a:r>
              <a:rPr lang="en-US" dirty="0"/>
              <a:t> += 1</a:t>
            </a:r>
            <a:endParaRPr lang="en-IN" dirty="0"/>
          </a:p>
          <a:p>
            <a:r>
              <a:rPr lang="en-US" dirty="0"/>
              <a:t>else:</a:t>
            </a:r>
            <a:endParaRPr lang="en-IN" dirty="0"/>
          </a:p>
          <a:p>
            <a:r>
              <a:rPr lang="en-US" dirty="0"/>
              <a:t>   print("</a:t>
            </a:r>
            <a:r>
              <a:rPr lang="en-US" dirty="0" err="1"/>
              <a:t>i</a:t>
            </a:r>
            <a:r>
              <a:rPr lang="en-US" dirty="0"/>
              <a:t> is no longer less than 6")</a:t>
            </a:r>
            <a:endParaRPr lang="en-IN" dirty="0"/>
          </a:p>
          <a:p>
            <a:endParaRPr lang="en-IN" dirty="0"/>
          </a:p>
          <a:p>
            <a:r>
              <a:rPr lang="en-US" dirty="0"/>
              <a:t>Output:</a:t>
            </a:r>
            <a:endParaRPr lang="en-IN" dirty="0"/>
          </a:p>
          <a:p>
            <a:r>
              <a:rPr lang="en-US" dirty="0"/>
              <a:t>1</a:t>
            </a:r>
            <a:endParaRPr lang="en-IN" dirty="0"/>
          </a:p>
          <a:p>
            <a:r>
              <a:rPr lang="en-US" dirty="0"/>
              <a:t>2</a:t>
            </a:r>
            <a:endParaRPr lang="en-IN" dirty="0"/>
          </a:p>
          <a:p>
            <a:r>
              <a:rPr lang="en-US" dirty="0"/>
              <a:t>3</a:t>
            </a:r>
            <a:endParaRPr lang="en-IN" dirty="0"/>
          </a:p>
          <a:p>
            <a:r>
              <a:rPr lang="en-US" dirty="0"/>
              <a:t>4</a:t>
            </a:r>
            <a:endParaRPr lang="en-IN" dirty="0"/>
          </a:p>
          <a:p>
            <a:r>
              <a:rPr lang="en-US" dirty="0"/>
              <a:t>5</a:t>
            </a:r>
            <a:endParaRPr lang="en-IN" dirty="0"/>
          </a:p>
          <a:p>
            <a:r>
              <a:rPr lang="en-US" dirty="0" err="1"/>
              <a:t>i</a:t>
            </a:r>
            <a:r>
              <a:rPr lang="en-US" dirty="0"/>
              <a:t> is no longer less than 6</a:t>
            </a:r>
            <a:endParaRPr lang="en-IN" dirty="0"/>
          </a:p>
        </p:txBody>
      </p:sp>
    </p:spTree>
    <p:extLst>
      <p:ext uri="{BB962C8B-B14F-4D97-AF65-F5344CB8AC3E}">
        <p14:creationId xmlns="" xmlns:p14="http://schemas.microsoft.com/office/powerpoint/2010/main" val="94170136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For Loop</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dirty="0"/>
              <a:t>●	A for loop is used for iterating over a sequence (that is either a list, a tuple, a dictionary, a set, or a string).</a:t>
            </a:r>
          </a:p>
          <a:p>
            <a:pPr algn="just"/>
            <a:r>
              <a:rPr lang="en-US" sz="3200" dirty="0"/>
              <a:t>●	With the for loop we can execute a set of statements multiple times &amp; once for each item in a list, tuple, set </a:t>
            </a:r>
            <a:r>
              <a:rPr lang="en-US" sz="3200" dirty="0" err="1"/>
              <a:t>etc</a:t>
            </a:r>
            <a:endParaRPr lang="en-US" sz="3200" dirty="0"/>
          </a:p>
          <a:p>
            <a:pPr algn="just"/>
            <a:r>
              <a:rPr lang="en-US" sz="3200" dirty="0"/>
              <a:t>Syntax:</a:t>
            </a:r>
          </a:p>
          <a:p>
            <a:pPr algn="just"/>
            <a:r>
              <a:rPr lang="en-US" sz="3200" dirty="0"/>
              <a:t>for </a:t>
            </a:r>
            <a:r>
              <a:rPr lang="en-US" sz="3200" dirty="0" err="1"/>
              <a:t>iterating_var</a:t>
            </a:r>
            <a:r>
              <a:rPr lang="en-US" sz="3200" dirty="0"/>
              <a:t> in sequence:</a:t>
            </a:r>
          </a:p>
          <a:p>
            <a:pPr algn="just"/>
            <a:r>
              <a:rPr lang="en-US" sz="3200" dirty="0" smtClean="0"/>
              <a:t>	statements(s</a:t>
            </a:r>
            <a:r>
              <a:rPr lang="en-US" sz="3200" dirty="0"/>
              <a:t>)</a:t>
            </a:r>
          </a:p>
        </p:txBody>
      </p:sp>
    </p:spTree>
    <p:extLst>
      <p:ext uri="{BB962C8B-B14F-4D97-AF65-F5344CB8AC3E}">
        <p14:creationId xmlns="" xmlns:p14="http://schemas.microsoft.com/office/powerpoint/2010/main" val="294570362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For Loop</a:t>
            </a:r>
            <a:endParaRPr lang="en-US" dirty="0"/>
          </a:p>
        </p:txBody>
      </p:sp>
      <p:sp>
        <p:nvSpPr>
          <p:cNvPr id="4" name="TextBox 3"/>
          <p:cNvSpPr txBox="1"/>
          <p:nvPr/>
        </p:nvSpPr>
        <p:spPr>
          <a:xfrm>
            <a:off x="228600" y="1066800"/>
            <a:ext cx="8763000" cy="3693319"/>
          </a:xfrm>
          <a:prstGeom prst="rect">
            <a:avLst/>
          </a:prstGeom>
          <a:noFill/>
        </p:spPr>
        <p:txBody>
          <a:bodyPr wrap="square" rtlCol="0">
            <a:spAutoFit/>
          </a:bodyPr>
          <a:lstStyle/>
          <a:p>
            <a:r>
              <a:rPr lang="en-US" dirty="0"/>
              <a:t>Example:</a:t>
            </a:r>
            <a:endParaRPr lang="en-IN" dirty="0"/>
          </a:p>
          <a:p>
            <a:r>
              <a:rPr lang="en-US" dirty="0"/>
              <a:t> </a:t>
            </a:r>
            <a:endParaRPr lang="en-IN" dirty="0"/>
          </a:p>
          <a:p>
            <a:r>
              <a:rPr lang="en-US" dirty="0"/>
              <a:t>fruits = ["apple", "banana", "cherry"]  </a:t>
            </a:r>
            <a:endParaRPr lang="en-IN" dirty="0"/>
          </a:p>
          <a:p>
            <a:r>
              <a:rPr lang="en-US" dirty="0"/>
              <a:t> </a:t>
            </a:r>
            <a:endParaRPr lang="en-IN" dirty="0"/>
          </a:p>
          <a:p>
            <a:r>
              <a:rPr lang="en-US" dirty="0"/>
              <a:t>for </a:t>
            </a:r>
            <a:r>
              <a:rPr lang="en-US" dirty="0" err="1"/>
              <a:t>i</a:t>
            </a:r>
            <a:r>
              <a:rPr lang="en-US" dirty="0"/>
              <a:t>  in  fruits:  </a:t>
            </a:r>
            <a:endParaRPr lang="en-IN" dirty="0"/>
          </a:p>
          <a:p>
            <a:r>
              <a:rPr lang="en-US" dirty="0"/>
              <a:t>   print(</a:t>
            </a:r>
            <a:r>
              <a:rPr lang="en-US" dirty="0" err="1"/>
              <a:t>i</a:t>
            </a:r>
            <a:r>
              <a:rPr lang="en-US" dirty="0"/>
              <a:t>)</a:t>
            </a:r>
            <a:endParaRPr lang="en-IN" dirty="0"/>
          </a:p>
          <a:p>
            <a:r>
              <a:rPr lang="en-US" dirty="0"/>
              <a:t> </a:t>
            </a:r>
            <a:endParaRPr lang="en-IN" dirty="0"/>
          </a:p>
          <a:p>
            <a:r>
              <a:rPr lang="en-US" dirty="0"/>
              <a:t> </a:t>
            </a:r>
            <a:endParaRPr lang="en-IN" dirty="0"/>
          </a:p>
          <a:p>
            <a:r>
              <a:rPr lang="en-US" dirty="0"/>
              <a:t>Output:</a:t>
            </a:r>
            <a:endParaRPr lang="en-IN" dirty="0"/>
          </a:p>
          <a:p>
            <a:r>
              <a:rPr lang="en-US" dirty="0"/>
              <a:t> </a:t>
            </a:r>
            <a:endParaRPr lang="en-IN" dirty="0"/>
          </a:p>
          <a:p>
            <a:r>
              <a:rPr lang="en-US" dirty="0"/>
              <a:t>apple</a:t>
            </a:r>
            <a:endParaRPr lang="en-IN" dirty="0"/>
          </a:p>
          <a:p>
            <a:r>
              <a:rPr lang="en-US" dirty="0"/>
              <a:t>banana</a:t>
            </a:r>
            <a:endParaRPr lang="en-IN" dirty="0"/>
          </a:p>
          <a:p>
            <a:r>
              <a:rPr lang="en-US" dirty="0"/>
              <a:t>Cherry</a:t>
            </a:r>
            <a:endParaRPr lang="en-IN" dirty="0"/>
          </a:p>
        </p:txBody>
      </p:sp>
    </p:spTree>
    <p:extLst>
      <p:ext uri="{BB962C8B-B14F-4D97-AF65-F5344CB8AC3E}">
        <p14:creationId xmlns="" xmlns:p14="http://schemas.microsoft.com/office/powerpoint/2010/main" val="21029624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For Loop</a:t>
            </a:r>
            <a:endParaRPr lang="en-US" dirty="0"/>
          </a:p>
        </p:txBody>
      </p:sp>
      <p:sp>
        <p:nvSpPr>
          <p:cNvPr id="4" name="TextBox 3"/>
          <p:cNvSpPr txBox="1"/>
          <p:nvPr/>
        </p:nvSpPr>
        <p:spPr>
          <a:xfrm>
            <a:off x="228600" y="1066800"/>
            <a:ext cx="8763000" cy="3416320"/>
          </a:xfrm>
          <a:prstGeom prst="rect">
            <a:avLst/>
          </a:prstGeom>
          <a:noFill/>
        </p:spPr>
        <p:txBody>
          <a:bodyPr wrap="square" rtlCol="0">
            <a:spAutoFit/>
          </a:bodyPr>
          <a:lstStyle/>
          <a:p>
            <a:r>
              <a:rPr lang="en-US" b="1" dirty="0"/>
              <a:t>Looping Through a String:</a:t>
            </a:r>
            <a:endParaRPr lang="en-IN" b="1" dirty="0"/>
          </a:p>
          <a:p>
            <a:r>
              <a:rPr lang="en-US" dirty="0"/>
              <a:t>Even strings are </a:t>
            </a:r>
            <a:r>
              <a:rPr lang="en-US" dirty="0" err="1"/>
              <a:t>iterable</a:t>
            </a:r>
            <a:r>
              <a:rPr lang="en-US" dirty="0"/>
              <a:t> objects, they contain a sequence of characters:</a:t>
            </a:r>
            <a:endParaRPr lang="en-IN" dirty="0"/>
          </a:p>
          <a:p>
            <a:r>
              <a:rPr lang="en-US" dirty="0"/>
              <a:t>Example :</a:t>
            </a:r>
            <a:endParaRPr lang="en-IN" dirty="0"/>
          </a:p>
          <a:p>
            <a:r>
              <a:rPr lang="en-US" dirty="0"/>
              <a:t>for  x in "banana":   </a:t>
            </a:r>
            <a:endParaRPr lang="en-IN" dirty="0"/>
          </a:p>
          <a:p>
            <a:r>
              <a:rPr lang="en-US" dirty="0"/>
              <a:t>print(x)</a:t>
            </a:r>
            <a:endParaRPr lang="en-IN" dirty="0"/>
          </a:p>
          <a:p>
            <a:r>
              <a:rPr lang="en-US" dirty="0"/>
              <a:t>Output:</a:t>
            </a:r>
            <a:endParaRPr lang="en-IN" dirty="0"/>
          </a:p>
          <a:p>
            <a:r>
              <a:rPr lang="en-US" dirty="0"/>
              <a:t>b</a:t>
            </a:r>
            <a:endParaRPr lang="en-IN" dirty="0"/>
          </a:p>
          <a:p>
            <a:r>
              <a:rPr lang="en-US" dirty="0"/>
              <a:t>a</a:t>
            </a:r>
            <a:endParaRPr lang="en-IN" dirty="0"/>
          </a:p>
          <a:p>
            <a:r>
              <a:rPr lang="en-US" dirty="0"/>
              <a:t>n</a:t>
            </a:r>
            <a:endParaRPr lang="en-IN" dirty="0"/>
          </a:p>
          <a:p>
            <a:r>
              <a:rPr lang="en-US" dirty="0"/>
              <a:t>a</a:t>
            </a:r>
            <a:endParaRPr lang="en-IN" dirty="0"/>
          </a:p>
          <a:p>
            <a:r>
              <a:rPr lang="en-US" dirty="0"/>
              <a:t>n</a:t>
            </a:r>
            <a:endParaRPr lang="en-IN" dirty="0"/>
          </a:p>
          <a:p>
            <a:r>
              <a:rPr lang="en-US" dirty="0"/>
              <a:t>a</a:t>
            </a:r>
            <a:endParaRPr lang="en-IN" dirty="0"/>
          </a:p>
        </p:txBody>
      </p:sp>
    </p:spTree>
    <p:extLst>
      <p:ext uri="{BB962C8B-B14F-4D97-AF65-F5344CB8AC3E}">
        <p14:creationId xmlns="" xmlns:p14="http://schemas.microsoft.com/office/powerpoint/2010/main" val="360776624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For Loop</a:t>
            </a:r>
            <a:endParaRPr lang="en-US" dirty="0"/>
          </a:p>
        </p:txBody>
      </p:sp>
      <p:sp>
        <p:nvSpPr>
          <p:cNvPr id="4" name="TextBox 3"/>
          <p:cNvSpPr txBox="1"/>
          <p:nvPr/>
        </p:nvSpPr>
        <p:spPr>
          <a:xfrm>
            <a:off x="228600" y="1066800"/>
            <a:ext cx="8763000" cy="4801314"/>
          </a:xfrm>
          <a:prstGeom prst="rect">
            <a:avLst/>
          </a:prstGeom>
          <a:noFill/>
        </p:spPr>
        <p:txBody>
          <a:bodyPr wrap="square" rtlCol="0">
            <a:spAutoFit/>
          </a:bodyPr>
          <a:lstStyle/>
          <a:p>
            <a:r>
              <a:rPr lang="en-US" b="1" dirty="0"/>
              <a:t>Else in For Loop :</a:t>
            </a:r>
            <a:endParaRPr lang="en-IN" b="1" dirty="0"/>
          </a:p>
          <a:p>
            <a:pPr lvl="0"/>
            <a:r>
              <a:rPr lang="en-US" dirty="0"/>
              <a:t>The else keyword in a for loop specifies a block of code to be executed when the loop is finished:</a:t>
            </a:r>
            <a:endParaRPr lang="en-IN" dirty="0"/>
          </a:p>
          <a:p>
            <a:r>
              <a:rPr lang="en-US" dirty="0"/>
              <a:t>Example :</a:t>
            </a:r>
            <a:endParaRPr lang="en-IN" dirty="0"/>
          </a:p>
          <a:p>
            <a:r>
              <a:rPr lang="en-US" dirty="0"/>
              <a:t>for x in range(6):</a:t>
            </a:r>
            <a:endParaRPr lang="en-IN" dirty="0"/>
          </a:p>
          <a:p>
            <a:r>
              <a:rPr lang="en-US" dirty="0"/>
              <a:t>  </a:t>
            </a:r>
            <a:r>
              <a:rPr lang="en-US" dirty="0" smtClean="0"/>
              <a:t>print(x)</a:t>
            </a:r>
            <a:endParaRPr lang="en-IN" dirty="0"/>
          </a:p>
          <a:p>
            <a:r>
              <a:rPr lang="en-US" dirty="0" smtClean="0"/>
              <a:t>else</a:t>
            </a:r>
            <a:r>
              <a:rPr lang="en-US" dirty="0"/>
              <a:t>:</a:t>
            </a:r>
            <a:endParaRPr lang="en-IN" dirty="0"/>
          </a:p>
          <a:p>
            <a:r>
              <a:rPr lang="en-US" dirty="0"/>
              <a:t>  print("Finally finished!")</a:t>
            </a:r>
            <a:endParaRPr lang="en-IN" dirty="0"/>
          </a:p>
          <a:p>
            <a:r>
              <a:rPr lang="en-US" dirty="0"/>
              <a:t> </a:t>
            </a:r>
            <a:endParaRPr lang="en-IN" dirty="0"/>
          </a:p>
          <a:p>
            <a:r>
              <a:rPr lang="en-US" dirty="0"/>
              <a:t>Output:</a:t>
            </a:r>
            <a:endParaRPr lang="en-IN" dirty="0"/>
          </a:p>
          <a:p>
            <a:r>
              <a:rPr lang="en-US" dirty="0"/>
              <a:t>0</a:t>
            </a:r>
            <a:endParaRPr lang="en-IN" dirty="0"/>
          </a:p>
          <a:p>
            <a:r>
              <a:rPr lang="en-US" dirty="0"/>
              <a:t>1</a:t>
            </a:r>
            <a:endParaRPr lang="en-IN" dirty="0"/>
          </a:p>
          <a:p>
            <a:r>
              <a:rPr lang="en-US" dirty="0"/>
              <a:t>2</a:t>
            </a:r>
            <a:endParaRPr lang="en-IN" dirty="0"/>
          </a:p>
          <a:p>
            <a:r>
              <a:rPr lang="en-US" dirty="0"/>
              <a:t>3</a:t>
            </a:r>
            <a:endParaRPr lang="en-IN" dirty="0"/>
          </a:p>
          <a:p>
            <a:r>
              <a:rPr lang="en-US" dirty="0"/>
              <a:t>4</a:t>
            </a:r>
            <a:endParaRPr lang="en-IN" dirty="0"/>
          </a:p>
          <a:p>
            <a:r>
              <a:rPr lang="en-US" dirty="0"/>
              <a:t>5</a:t>
            </a:r>
            <a:endParaRPr lang="en-IN" dirty="0"/>
          </a:p>
          <a:p>
            <a:r>
              <a:rPr lang="en-US" dirty="0"/>
              <a:t>Finally finished</a:t>
            </a:r>
            <a:endParaRPr lang="en-IN" dirty="0"/>
          </a:p>
        </p:txBody>
      </p:sp>
    </p:spTree>
    <p:extLst>
      <p:ext uri="{BB962C8B-B14F-4D97-AF65-F5344CB8AC3E}">
        <p14:creationId xmlns="" xmlns:p14="http://schemas.microsoft.com/office/powerpoint/2010/main" val="261689573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For Loop</a:t>
            </a:r>
            <a:endParaRPr lang="en-US" dirty="0"/>
          </a:p>
        </p:txBody>
      </p:sp>
      <p:sp>
        <p:nvSpPr>
          <p:cNvPr id="4" name="TextBox 3"/>
          <p:cNvSpPr txBox="1"/>
          <p:nvPr/>
        </p:nvSpPr>
        <p:spPr>
          <a:xfrm>
            <a:off x="228600" y="1066800"/>
            <a:ext cx="8763000" cy="3970318"/>
          </a:xfrm>
          <a:prstGeom prst="rect">
            <a:avLst/>
          </a:prstGeom>
          <a:noFill/>
        </p:spPr>
        <p:txBody>
          <a:bodyPr wrap="square" rtlCol="0">
            <a:spAutoFit/>
          </a:bodyPr>
          <a:lstStyle/>
          <a:p>
            <a:pPr lvl="0"/>
            <a:r>
              <a:rPr lang="en-US" dirty="0"/>
              <a:t>The else block will NOT be executed if the loop is stopped by a break statement.</a:t>
            </a:r>
            <a:endParaRPr lang="en-IN" dirty="0"/>
          </a:p>
          <a:p>
            <a:r>
              <a:rPr lang="en-US" dirty="0"/>
              <a:t>Example:</a:t>
            </a:r>
            <a:endParaRPr lang="en-IN" dirty="0"/>
          </a:p>
          <a:p>
            <a:r>
              <a:rPr lang="en-US" dirty="0"/>
              <a:t>for x in range(6):   </a:t>
            </a:r>
            <a:endParaRPr lang="en-IN" dirty="0"/>
          </a:p>
          <a:p>
            <a:r>
              <a:rPr lang="en-US" dirty="0"/>
              <a:t>  if x == 3: break</a:t>
            </a:r>
            <a:endParaRPr lang="en-IN" dirty="0"/>
          </a:p>
          <a:p>
            <a:r>
              <a:rPr lang="en-US" dirty="0"/>
              <a:t>  print(x)</a:t>
            </a:r>
            <a:endParaRPr lang="en-IN" dirty="0"/>
          </a:p>
          <a:p>
            <a:r>
              <a:rPr lang="en-US" dirty="0"/>
              <a:t>else:</a:t>
            </a:r>
            <a:endParaRPr lang="en-IN" dirty="0"/>
          </a:p>
          <a:p>
            <a:r>
              <a:rPr lang="en-US" dirty="0"/>
              <a:t>  print("Finally finished!")</a:t>
            </a:r>
            <a:endParaRPr lang="en-IN" dirty="0"/>
          </a:p>
          <a:p>
            <a:r>
              <a:rPr lang="en-US" dirty="0"/>
              <a:t> </a:t>
            </a:r>
            <a:endParaRPr lang="en-IN" dirty="0"/>
          </a:p>
          <a:p>
            <a:r>
              <a:rPr lang="en-US" dirty="0"/>
              <a:t>#If the loop breaks, the else block is not executed.</a:t>
            </a:r>
            <a:endParaRPr lang="en-IN" dirty="0"/>
          </a:p>
          <a:p>
            <a:r>
              <a:rPr lang="en-US" dirty="0"/>
              <a:t> </a:t>
            </a:r>
            <a:endParaRPr lang="en-IN" dirty="0"/>
          </a:p>
          <a:p>
            <a:r>
              <a:rPr lang="en-US" dirty="0"/>
              <a:t>Output:</a:t>
            </a:r>
            <a:endParaRPr lang="en-IN" dirty="0"/>
          </a:p>
          <a:p>
            <a:r>
              <a:rPr lang="en-US" dirty="0"/>
              <a:t>0</a:t>
            </a:r>
            <a:endParaRPr lang="en-IN" dirty="0"/>
          </a:p>
          <a:p>
            <a:r>
              <a:rPr lang="en-US" dirty="0"/>
              <a:t>1</a:t>
            </a:r>
            <a:endParaRPr lang="en-IN" dirty="0"/>
          </a:p>
          <a:p>
            <a:r>
              <a:rPr lang="en-US" dirty="0"/>
              <a:t>2</a:t>
            </a:r>
            <a:endParaRPr lang="en-IN" dirty="0"/>
          </a:p>
        </p:txBody>
      </p:sp>
    </p:spTree>
    <p:extLst>
      <p:ext uri="{BB962C8B-B14F-4D97-AF65-F5344CB8AC3E}">
        <p14:creationId xmlns="" xmlns:p14="http://schemas.microsoft.com/office/powerpoint/2010/main" val="153980932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Range() function</a:t>
            </a:r>
            <a:endParaRPr lang="en-US" dirty="0"/>
          </a:p>
        </p:txBody>
      </p:sp>
      <p:sp>
        <p:nvSpPr>
          <p:cNvPr id="4" name="TextBox 3"/>
          <p:cNvSpPr txBox="1"/>
          <p:nvPr/>
        </p:nvSpPr>
        <p:spPr>
          <a:xfrm>
            <a:off x="228600" y="1066800"/>
            <a:ext cx="8763000" cy="3970318"/>
          </a:xfrm>
          <a:prstGeom prst="rect">
            <a:avLst/>
          </a:prstGeom>
          <a:noFill/>
        </p:spPr>
        <p:txBody>
          <a:bodyPr wrap="square" rtlCol="0">
            <a:spAutoFit/>
          </a:bodyPr>
          <a:lstStyle/>
          <a:p>
            <a:pPr lvl="0" algn="just"/>
            <a:r>
              <a:rPr lang="en-US" dirty="0"/>
              <a:t>To loop through a set of code a specified number of times, we can use the range() </a:t>
            </a:r>
            <a:r>
              <a:rPr lang="en-US" dirty="0" smtClean="0"/>
              <a:t>function,</a:t>
            </a:r>
            <a:r>
              <a:rPr lang="en-IN" dirty="0"/>
              <a:t> </a:t>
            </a:r>
            <a:r>
              <a:rPr lang="en-US" dirty="0" smtClean="0"/>
              <a:t>The </a:t>
            </a:r>
            <a:r>
              <a:rPr lang="en-US" dirty="0"/>
              <a:t>range() function returns a sequence of numbers, starting from 0 by default, and increments by 1 (by default), and ends at a specified number.</a:t>
            </a:r>
            <a:endParaRPr lang="en-IN" dirty="0"/>
          </a:p>
          <a:p>
            <a:pPr lvl="0" algn="just"/>
            <a:r>
              <a:rPr lang="en-US" dirty="0"/>
              <a:t>Example :</a:t>
            </a:r>
            <a:endParaRPr lang="en-IN" dirty="0"/>
          </a:p>
          <a:p>
            <a:pPr algn="just"/>
            <a:r>
              <a:rPr lang="en-US" dirty="0"/>
              <a:t>for </a:t>
            </a:r>
            <a:r>
              <a:rPr lang="en-US" dirty="0" err="1"/>
              <a:t>i</a:t>
            </a:r>
            <a:r>
              <a:rPr lang="en-US" dirty="0"/>
              <a:t> in range(6):    </a:t>
            </a:r>
            <a:endParaRPr lang="en-IN" dirty="0"/>
          </a:p>
          <a:p>
            <a:pPr algn="just"/>
            <a:r>
              <a:rPr lang="en-US" dirty="0"/>
              <a:t>  print(</a:t>
            </a:r>
            <a:r>
              <a:rPr lang="en-US" dirty="0" err="1"/>
              <a:t>i</a:t>
            </a:r>
            <a:r>
              <a:rPr lang="en-US" dirty="0"/>
              <a:t>)</a:t>
            </a:r>
            <a:endParaRPr lang="en-IN" dirty="0"/>
          </a:p>
          <a:p>
            <a:pPr algn="just"/>
            <a:r>
              <a:rPr lang="en-US" dirty="0"/>
              <a:t> </a:t>
            </a:r>
            <a:endParaRPr lang="en-IN" dirty="0"/>
          </a:p>
          <a:p>
            <a:pPr algn="just"/>
            <a:r>
              <a:rPr lang="en-US" dirty="0"/>
              <a:t>Output:</a:t>
            </a:r>
            <a:endParaRPr lang="en-IN" dirty="0"/>
          </a:p>
          <a:p>
            <a:pPr algn="just"/>
            <a:r>
              <a:rPr lang="en-US" dirty="0"/>
              <a:t>0</a:t>
            </a:r>
            <a:endParaRPr lang="en-IN" dirty="0"/>
          </a:p>
          <a:p>
            <a:pPr algn="just"/>
            <a:r>
              <a:rPr lang="en-US" dirty="0"/>
              <a:t>1</a:t>
            </a:r>
            <a:endParaRPr lang="en-IN" dirty="0"/>
          </a:p>
          <a:p>
            <a:pPr algn="just"/>
            <a:r>
              <a:rPr lang="en-US" dirty="0"/>
              <a:t>2</a:t>
            </a:r>
            <a:endParaRPr lang="en-IN" dirty="0"/>
          </a:p>
          <a:p>
            <a:pPr algn="just"/>
            <a:r>
              <a:rPr lang="en-US" dirty="0"/>
              <a:t>3</a:t>
            </a:r>
            <a:endParaRPr lang="en-IN" dirty="0"/>
          </a:p>
          <a:p>
            <a:pPr algn="just"/>
            <a:r>
              <a:rPr lang="en-US" dirty="0"/>
              <a:t>4</a:t>
            </a:r>
            <a:endParaRPr lang="en-IN" dirty="0"/>
          </a:p>
          <a:p>
            <a:pPr algn="just"/>
            <a:r>
              <a:rPr lang="en-US" dirty="0" smtClean="0"/>
              <a:t>5</a:t>
            </a:r>
            <a:endParaRPr lang="en-IN" dirty="0"/>
          </a:p>
        </p:txBody>
      </p:sp>
    </p:spTree>
    <p:extLst>
      <p:ext uri="{BB962C8B-B14F-4D97-AF65-F5344CB8AC3E}">
        <p14:creationId xmlns="" xmlns:p14="http://schemas.microsoft.com/office/powerpoint/2010/main" val="108403142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Range() function</a:t>
            </a:r>
            <a:endParaRPr lang="en-US" dirty="0"/>
          </a:p>
        </p:txBody>
      </p:sp>
      <p:sp>
        <p:nvSpPr>
          <p:cNvPr id="4" name="TextBox 3"/>
          <p:cNvSpPr txBox="1"/>
          <p:nvPr/>
        </p:nvSpPr>
        <p:spPr>
          <a:xfrm>
            <a:off x="228600" y="1066800"/>
            <a:ext cx="8763000" cy="3693319"/>
          </a:xfrm>
          <a:prstGeom prst="rect">
            <a:avLst/>
          </a:prstGeom>
          <a:noFill/>
        </p:spPr>
        <p:txBody>
          <a:bodyPr wrap="square" rtlCol="0">
            <a:spAutoFit/>
          </a:bodyPr>
          <a:lstStyle/>
          <a:p>
            <a:pPr lvl="0" algn="just"/>
            <a:r>
              <a:rPr lang="en-US" dirty="0"/>
              <a:t>The range() function defaults to 0 as a starting value, however it is possible to specify the starting value by adding a parameter: range(2, 6), which means values from 2 to 6 (but not including 6):</a:t>
            </a:r>
            <a:endParaRPr lang="en-IN" dirty="0"/>
          </a:p>
          <a:p>
            <a:pPr algn="just"/>
            <a:r>
              <a:rPr lang="en-US" dirty="0"/>
              <a:t> </a:t>
            </a:r>
            <a:endParaRPr lang="en-IN" dirty="0"/>
          </a:p>
          <a:p>
            <a:pPr algn="just"/>
            <a:r>
              <a:rPr lang="en-US" dirty="0"/>
              <a:t>Example :</a:t>
            </a:r>
            <a:endParaRPr lang="en-IN" dirty="0"/>
          </a:p>
          <a:p>
            <a:pPr algn="just"/>
            <a:r>
              <a:rPr lang="en-US" dirty="0"/>
              <a:t>for x in range(2, 6</a:t>
            </a:r>
            <a:r>
              <a:rPr lang="en-US" dirty="0" smtClean="0"/>
              <a:t>):</a:t>
            </a:r>
            <a:endParaRPr lang="en-IN" dirty="0"/>
          </a:p>
          <a:p>
            <a:pPr algn="just"/>
            <a:r>
              <a:rPr lang="en-US" dirty="0"/>
              <a:t>  print(x)</a:t>
            </a:r>
            <a:endParaRPr lang="en-IN" dirty="0"/>
          </a:p>
          <a:p>
            <a:pPr algn="just"/>
            <a:r>
              <a:rPr lang="en-US" dirty="0"/>
              <a:t> </a:t>
            </a:r>
            <a:endParaRPr lang="en-IN" dirty="0"/>
          </a:p>
          <a:p>
            <a:pPr algn="just"/>
            <a:r>
              <a:rPr lang="en-US" dirty="0"/>
              <a:t> Output:</a:t>
            </a:r>
            <a:endParaRPr lang="en-IN" dirty="0"/>
          </a:p>
          <a:p>
            <a:pPr algn="just"/>
            <a:r>
              <a:rPr lang="en-US" dirty="0"/>
              <a:t>2</a:t>
            </a:r>
            <a:endParaRPr lang="en-IN" dirty="0"/>
          </a:p>
          <a:p>
            <a:pPr algn="just"/>
            <a:r>
              <a:rPr lang="en-US" dirty="0"/>
              <a:t>3</a:t>
            </a:r>
            <a:endParaRPr lang="en-IN" dirty="0"/>
          </a:p>
          <a:p>
            <a:pPr algn="just"/>
            <a:r>
              <a:rPr lang="en-US" dirty="0"/>
              <a:t>4 </a:t>
            </a:r>
            <a:endParaRPr lang="en-IN" dirty="0"/>
          </a:p>
          <a:p>
            <a:pPr algn="just"/>
            <a:r>
              <a:rPr lang="en-US" dirty="0" smtClean="0"/>
              <a:t>5</a:t>
            </a:r>
            <a:endParaRPr lang="en-IN" dirty="0"/>
          </a:p>
        </p:txBody>
      </p:sp>
    </p:spTree>
    <p:extLst>
      <p:ext uri="{BB962C8B-B14F-4D97-AF65-F5344CB8AC3E}">
        <p14:creationId xmlns="" xmlns:p14="http://schemas.microsoft.com/office/powerpoint/2010/main" val="207387869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Range() function</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lvl="0" algn="just"/>
            <a:r>
              <a:rPr lang="en-US" dirty="0"/>
              <a:t>The range() function defaults to increment the sequence by 1, however it is possible to specify the increment value by adding a third parameter: range(2,30 ,3 ):</a:t>
            </a:r>
            <a:endParaRPr lang="en-IN" dirty="0"/>
          </a:p>
          <a:p>
            <a:pPr algn="just"/>
            <a:r>
              <a:rPr lang="en-US" dirty="0"/>
              <a:t>Example :</a:t>
            </a:r>
            <a:endParaRPr lang="en-IN" dirty="0"/>
          </a:p>
          <a:p>
            <a:pPr algn="just"/>
            <a:r>
              <a:rPr lang="en-US" dirty="0"/>
              <a:t>for x in range(2, 30, 3):</a:t>
            </a:r>
            <a:endParaRPr lang="en-IN" dirty="0"/>
          </a:p>
          <a:p>
            <a:pPr algn="just"/>
            <a:r>
              <a:rPr lang="en-US" dirty="0"/>
              <a:t>  print(x)</a:t>
            </a:r>
            <a:endParaRPr lang="en-IN" dirty="0"/>
          </a:p>
          <a:p>
            <a:pPr algn="just"/>
            <a:r>
              <a:rPr lang="en-US" dirty="0"/>
              <a:t>Output:</a:t>
            </a:r>
            <a:endParaRPr lang="en-IN" dirty="0"/>
          </a:p>
          <a:p>
            <a:pPr algn="just"/>
            <a:r>
              <a:rPr lang="en-US" dirty="0"/>
              <a:t>2</a:t>
            </a:r>
            <a:endParaRPr lang="en-IN" dirty="0"/>
          </a:p>
          <a:p>
            <a:pPr algn="just"/>
            <a:r>
              <a:rPr lang="en-US" dirty="0"/>
              <a:t>5</a:t>
            </a:r>
            <a:endParaRPr lang="en-IN" dirty="0"/>
          </a:p>
          <a:p>
            <a:pPr algn="just"/>
            <a:r>
              <a:rPr lang="en-US" dirty="0"/>
              <a:t>8</a:t>
            </a:r>
            <a:endParaRPr lang="en-IN" dirty="0"/>
          </a:p>
          <a:p>
            <a:pPr algn="just"/>
            <a:r>
              <a:rPr lang="en-US" dirty="0"/>
              <a:t>11</a:t>
            </a:r>
            <a:endParaRPr lang="en-IN" dirty="0"/>
          </a:p>
          <a:p>
            <a:pPr algn="just"/>
            <a:r>
              <a:rPr lang="en-US" dirty="0"/>
              <a:t>14</a:t>
            </a:r>
            <a:endParaRPr lang="en-IN" dirty="0"/>
          </a:p>
          <a:p>
            <a:pPr algn="just"/>
            <a:r>
              <a:rPr lang="en-US" dirty="0"/>
              <a:t>17</a:t>
            </a:r>
            <a:endParaRPr lang="en-IN" dirty="0"/>
          </a:p>
          <a:p>
            <a:pPr algn="just"/>
            <a:r>
              <a:rPr lang="en-US" dirty="0"/>
              <a:t>20</a:t>
            </a:r>
            <a:endParaRPr lang="en-IN" dirty="0"/>
          </a:p>
          <a:p>
            <a:pPr algn="just"/>
            <a:r>
              <a:rPr lang="en-US" dirty="0"/>
              <a:t>23</a:t>
            </a:r>
            <a:endParaRPr lang="en-IN" dirty="0"/>
          </a:p>
          <a:p>
            <a:pPr algn="just"/>
            <a:r>
              <a:rPr lang="en-US" dirty="0"/>
              <a:t>26</a:t>
            </a:r>
            <a:endParaRPr lang="en-IN" dirty="0"/>
          </a:p>
          <a:p>
            <a:pPr algn="just"/>
            <a:r>
              <a:rPr lang="en-US" dirty="0"/>
              <a:t>29</a:t>
            </a:r>
            <a:endParaRPr lang="en-IN" dirty="0"/>
          </a:p>
        </p:txBody>
      </p:sp>
    </p:spTree>
    <p:extLst>
      <p:ext uri="{BB962C8B-B14F-4D97-AF65-F5344CB8AC3E}">
        <p14:creationId xmlns="" xmlns:p14="http://schemas.microsoft.com/office/powerpoint/2010/main" val="131052620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Nesting of Loops</a:t>
            </a:r>
            <a:endParaRPr lang="en-US" dirty="0"/>
          </a:p>
        </p:txBody>
      </p:sp>
      <p:sp>
        <p:nvSpPr>
          <p:cNvPr id="4" name="TextBox 3"/>
          <p:cNvSpPr txBox="1"/>
          <p:nvPr/>
        </p:nvSpPr>
        <p:spPr>
          <a:xfrm>
            <a:off x="228600" y="1066800"/>
            <a:ext cx="8763000" cy="5632311"/>
          </a:xfrm>
          <a:prstGeom prst="rect">
            <a:avLst/>
          </a:prstGeom>
          <a:noFill/>
        </p:spPr>
        <p:txBody>
          <a:bodyPr wrap="square" rtlCol="0">
            <a:spAutoFit/>
          </a:bodyPr>
          <a:lstStyle/>
          <a:p>
            <a:pPr lvl="0" algn="just"/>
            <a:r>
              <a:rPr lang="en-US" dirty="0"/>
              <a:t>A nested loop is a loop inside a loop.</a:t>
            </a:r>
          </a:p>
          <a:p>
            <a:pPr lvl="0" algn="just"/>
            <a:r>
              <a:rPr lang="en-US" dirty="0"/>
              <a:t>The "inner loop" will be executed one time for each iteration of the "outer loop":</a:t>
            </a:r>
          </a:p>
          <a:p>
            <a:pPr lvl="0" algn="just"/>
            <a:r>
              <a:rPr lang="en-US" dirty="0"/>
              <a:t>Example:</a:t>
            </a:r>
          </a:p>
          <a:p>
            <a:pPr lvl="0" algn="just"/>
            <a:r>
              <a:rPr lang="en-US" dirty="0" smtClean="0"/>
              <a:t>a </a:t>
            </a:r>
            <a:r>
              <a:rPr lang="en-US" dirty="0"/>
              <a:t>= ["red", "big", "tasty"]</a:t>
            </a:r>
          </a:p>
          <a:p>
            <a:pPr lvl="0" algn="just"/>
            <a:r>
              <a:rPr lang="en-US" dirty="0" smtClean="0"/>
              <a:t>b</a:t>
            </a:r>
            <a:r>
              <a:rPr lang="en-US" dirty="0"/>
              <a:t>= ["apple", "banana", "cherry"]</a:t>
            </a:r>
          </a:p>
          <a:p>
            <a:pPr lvl="0" algn="just"/>
            <a:endParaRPr lang="en-US" dirty="0" smtClean="0"/>
          </a:p>
          <a:p>
            <a:pPr lvl="0" algn="just"/>
            <a:r>
              <a:rPr lang="en-US" dirty="0" smtClean="0"/>
              <a:t>for </a:t>
            </a:r>
            <a:r>
              <a:rPr lang="en-US" dirty="0"/>
              <a:t>x in a:        </a:t>
            </a:r>
          </a:p>
          <a:p>
            <a:pPr lvl="0" algn="just"/>
            <a:r>
              <a:rPr lang="en-US" dirty="0"/>
              <a:t>   for y in b:     </a:t>
            </a:r>
          </a:p>
          <a:p>
            <a:pPr lvl="0" algn="just"/>
            <a:r>
              <a:rPr lang="en-US" dirty="0"/>
              <a:t>	</a:t>
            </a:r>
            <a:r>
              <a:rPr lang="en-US" dirty="0" smtClean="0"/>
              <a:t>print(x</a:t>
            </a:r>
            <a:r>
              <a:rPr lang="en-US" dirty="0"/>
              <a:t>, y)</a:t>
            </a:r>
          </a:p>
          <a:p>
            <a:pPr lvl="0" algn="just"/>
            <a:endParaRPr lang="en-US" dirty="0" smtClean="0"/>
          </a:p>
          <a:p>
            <a:pPr lvl="0" algn="just"/>
            <a:r>
              <a:rPr lang="en-US" dirty="0" smtClean="0"/>
              <a:t>Output</a:t>
            </a:r>
            <a:r>
              <a:rPr lang="en-US" dirty="0"/>
              <a:t>:</a:t>
            </a:r>
          </a:p>
          <a:p>
            <a:pPr lvl="0" algn="just"/>
            <a:r>
              <a:rPr lang="en-US" dirty="0" smtClean="0"/>
              <a:t>red </a:t>
            </a:r>
            <a:r>
              <a:rPr lang="en-US" dirty="0"/>
              <a:t>apple</a:t>
            </a:r>
          </a:p>
          <a:p>
            <a:pPr lvl="0" algn="just"/>
            <a:r>
              <a:rPr lang="en-US" dirty="0"/>
              <a:t>red banana</a:t>
            </a:r>
          </a:p>
          <a:p>
            <a:pPr lvl="0" algn="just"/>
            <a:r>
              <a:rPr lang="en-US" dirty="0"/>
              <a:t>red cherry</a:t>
            </a:r>
          </a:p>
          <a:p>
            <a:pPr lvl="0" algn="just"/>
            <a:r>
              <a:rPr lang="en-US" dirty="0"/>
              <a:t>big apple</a:t>
            </a:r>
          </a:p>
          <a:p>
            <a:pPr lvl="0" algn="just"/>
            <a:r>
              <a:rPr lang="en-US" dirty="0"/>
              <a:t>big banana</a:t>
            </a:r>
          </a:p>
          <a:p>
            <a:pPr lvl="0" algn="just"/>
            <a:r>
              <a:rPr lang="en-US" dirty="0"/>
              <a:t>big cherry</a:t>
            </a:r>
          </a:p>
          <a:p>
            <a:pPr lvl="0" algn="just"/>
            <a:r>
              <a:rPr lang="en-US" dirty="0"/>
              <a:t>tasty apple</a:t>
            </a:r>
          </a:p>
          <a:p>
            <a:pPr lvl="0" algn="just"/>
            <a:r>
              <a:rPr lang="en-US" dirty="0"/>
              <a:t>tasty banana</a:t>
            </a:r>
          </a:p>
          <a:p>
            <a:pPr lvl="0" algn="just"/>
            <a:r>
              <a:rPr lang="en-US" dirty="0"/>
              <a:t>tasty cherry</a:t>
            </a:r>
          </a:p>
        </p:txBody>
      </p:sp>
    </p:spTree>
    <p:extLst>
      <p:ext uri="{BB962C8B-B14F-4D97-AF65-F5344CB8AC3E}">
        <p14:creationId xmlns="" xmlns:p14="http://schemas.microsoft.com/office/powerpoint/2010/main" val="213462401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Break Statement</a:t>
            </a:r>
            <a:endParaRPr lang="en-US" dirty="0"/>
          </a:p>
        </p:txBody>
      </p:sp>
      <p:sp>
        <p:nvSpPr>
          <p:cNvPr id="4" name="TextBox 3"/>
          <p:cNvSpPr txBox="1"/>
          <p:nvPr/>
        </p:nvSpPr>
        <p:spPr>
          <a:xfrm>
            <a:off x="228600" y="1066800"/>
            <a:ext cx="8763000" cy="4247317"/>
          </a:xfrm>
          <a:prstGeom prst="rect">
            <a:avLst/>
          </a:prstGeom>
          <a:noFill/>
        </p:spPr>
        <p:txBody>
          <a:bodyPr wrap="square" rtlCol="0">
            <a:spAutoFit/>
          </a:bodyPr>
          <a:lstStyle/>
          <a:p>
            <a:r>
              <a:rPr lang="en-US" b="1" dirty="0"/>
              <a:t>The break Statement</a:t>
            </a:r>
            <a:endParaRPr lang="en-IN" b="1" dirty="0"/>
          </a:p>
          <a:p>
            <a:pPr lvl="0"/>
            <a:r>
              <a:rPr lang="en-US" dirty="0"/>
              <a:t>With the break statement we can stop the loop even if the while/for  condition is true:</a:t>
            </a:r>
            <a:endParaRPr lang="en-IN" dirty="0"/>
          </a:p>
          <a:p>
            <a:r>
              <a:rPr lang="en-US" dirty="0"/>
              <a:t>Example:</a:t>
            </a:r>
            <a:endParaRPr lang="en-IN" dirty="0"/>
          </a:p>
          <a:p>
            <a:r>
              <a:rPr lang="en-US" dirty="0"/>
              <a:t> </a:t>
            </a:r>
            <a:endParaRPr lang="en-IN" dirty="0"/>
          </a:p>
          <a:p>
            <a:r>
              <a:rPr lang="en-US" dirty="0"/>
              <a:t>for x in range(6):   </a:t>
            </a:r>
            <a:endParaRPr lang="en-IN" dirty="0"/>
          </a:p>
          <a:p>
            <a:r>
              <a:rPr lang="en-US" dirty="0"/>
              <a:t>  if x==3:</a:t>
            </a:r>
            <a:endParaRPr lang="en-IN" dirty="0"/>
          </a:p>
          <a:p>
            <a:r>
              <a:rPr lang="en-US" dirty="0"/>
              <a:t>   break</a:t>
            </a:r>
            <a:endParaRPr lang="en-IN" dirty="0"/>
          </a:p>
          <a:p>
            <a:r>
              <a:rPr lang="en-US" dirty="0"/>
              <a:t>  print(x)</a:t>
            </a:r>
            <a:endParaRPr lang="en-IN" dirty="0"/>
          </a:p>
          <a:p>
            <a:r>
              <a:rPr lang="en-US" dirty="0"/>
              <a:t>        print("outside loop")</a:t>
            </a:r>
            <a:endParaRPr lang="en-IN" dirty="0"/>
          </a:p>
          <a:p>
            <a:r>
              <a:rPr lang="en-US" dirty="0"/>
              <a:t> </a:t>
            </a:r>
            <a:endParaRPr lang="en-IN" dirty="0"/>
          </a:p>
          <a:p>
            <a:r>
              <a:rPr lang="en-US" dirty="0"/>
              <a:t>Output:</a:t>
            </a:r>
            <a:endParaRPr lang="en-IN" dirty="0"/>
          </a:p>
          <a:p>
            <a:r>
              <a:rPr lang="en-US" dirty="0"/>
              <a:t>0</a:t>
            </a:r>
            <a:endParaRPr lang="en-IN" dirty="0"/>
          </a:p>
          <a:p>
            <a:r>
              <a:rPr lang="en-US" dirty="0"/>
              <a:t>1</a:t>
            </a:r>
            <a:endParaRPr lang="en-IN" dirty="0"/>
          </a:p>
          <a:p>
            <a:r>
              <a:rPr lang="en-US" dirty="0"/>
              <a:t>2</a:t>
            </a:r>
            <a:endParaRPr lang="en-IN" dirty="0"/>
          </a:p>
          <a:p>
            <a:r>
              <a:rPr lang="en-US" dirty="0"/>
              <a:t>outside </a:t>
            </a:r>
            <a:r>
              <a:rPr lang="en-US" dirty="0" smtClean="0"/>
              <a:t>loop</a:t>
            </a:r>
            <a:endParaRPr lang="en-IN" dirty="0"/>
          </a:p>
        </p:txBody>
      </p:sp>
    </p:spTree>
    <p:extLst>
      <p:ext uri="{BB962C8B-B14F-4D97-AF65-F5344CB8AC3E}">
        <p14:creationId xmlns="" xmlns:p14="http://schemas.microsoft.com/office/powerpoint/2010/main" val="127193115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Break Statement</a:t>
            </a:r>
            <a:endParaRPr lang="en-US" dirty="0"/>
          </a:p>
        </p:txBody>
      </p:sp>
      <p:sp>
        <p:nvSpPr>
          <p:cNvPr id="4" name="TextBox 3"/>
          <p:cNvSpPr txBox="1"/>
          <p:nvPr/>
        </p:nvSpPr>
        <p:spPr>
          <a:xfrm>
            <a:off x="228600" y="1066800"/>
            <a:ext cx="8763000" cy="3693319"/>
          </a:xfrm>
          <a:prstGeom prst="rect">
            <a:avLst/>
          </a:prstGeom>
          <a:noFill/>
        </p:spPr>
        <p:txBody>
          <a:bodyPr wrap="square" rtlCol="0">
            <a:spAutoFit/>
          </a:bodyPr>
          <a:lstStyle/>
          <a:p>
            <a:r>
              <a:rPr lang="en-US" dirty="0"/>
              <a:t>Example :</a:t>
            </a:r>
            <a:endParaRPr lang="en-IN" dirty="0"/>
          </a:p>
          <a:p>
            <a:r>
              <a:rPr lang="en-US" dirty="0"/>
              <a:t> </a:t>
            </a:r>
            <a:endParaRPr lang="en-IN" dirty="0"/>
          </a:p>
          <a:p>
            <a:r>
              <a:rPr lang="en-US" dirty="0"/>
              <a:t>fruits = ["apple", "banana", "cherry"]</a:t>
            </a:r>
            <a:endParaRPr lang="en-IN" dirty="0"/>
          </a:p>
          <a:p>
            <a:r>
              <a:rPr lang="en-US" dirty="0"/>
              <a:t> </a:t>
            </a:r>
            <a:endParaRPr lang="en-IN" dirty="0"/>
          </a:p>
          <a:p>
            <a:r>
              <a:rPr lang="en-US" dirty="0"/>
              <a:t>for x in fruits:</a:t>
            </a:r>
            <a:endParaRPr lang="en-IN" dirty="0"/>
          </a:p>
          <a:p>
            <a:r>
              <a:rPr lang="en-US" dirty="0"/>
              <a:t>  print(x) </a:t>
            </a:r>
            <a:endParaRPr lang="en-IN" dirty="0"/>
          </a:p>
          <a:p>
            <a:r>
              <a:rPr lang="en-US" dirty="0"/>
              <a:t>  if x == "banana":</a:t>
            </a:r>
            <a:endParaRPr lang="en-IN" dirty="0"/>
          </a:p>
          <a:p>
            <a:r>
              <a:rPr lang="en-US" dirty="0"/>
              <a:t>    break</a:t>
            </a:r>
            <a:endParaRPr lang="en-IN" dirty="0"/>
          </a:p>
          <a:p>
            <a:r>
              <a:rPr lang="en-US" dirty="0"/>
              <a:t> </a:t>
            </a:r>
            <a:endParaRPr lang="en-IN" dirty="0"/>
          </a:p>
          <a:p>
            <a:r>
              <a:rPr lang="en-US" dirty="0"/>
              <a:t>Output.</a:t>
            </a:r>
            <a:endParaRPr lang="en-IN" dirty="0"/>
          </a:p>
          <a:p>
            <a:r>
              <a:rPr lang="en-US" dirty="0"/>
              <a:t> </a:t>
            </a:r>
            <a:endParaRPr lang="en-IN" dirty="0"/>
          </a:p>
          <a:p>
            <a:r>
              <a:rPr lang="en-US" dirty="0"/>
              <a:t>apple</a:t>
            </a:r>
            <a:endParaRPr lang="en-IN" dirty="0"/>
          </a:p>
          <a:p>
            <a:r>
              <a:rPr lang="en-US" dirty="0"/>
              <a:t>banana</a:t>
            </a:r>
            <a:endParaRPr lang="en-IN" dirty="0"/>
          </a:p>
        </p:txBody>
      </p:sp>
    </p:spTree>
    <p:extLst>
      <p:ext uri="{BB962C8B-B14F-4D97-AF65-F5344CB8AC3E}">
        <p14:creationId xmlns="" xmlns:p14="http://schemas.microsoft.com/office/powerpoint/2010/main" val="247676023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Continue Statement</a:t>
            </a:r>
            <a:endParaRPr lang="en-US" dirty="0"/>
          </a:p>
        </p:txBody>
      </p:sp>
      <p:sp>
        <p:nvSpPr>
          <p:cNvPr id="4" name="TextBox 3"/>
          <p:cNvSpPr txBox="1"/>
          <p:nvPr/>
        </p:nvSpPr>
        <p:spPr>
          <a:xfrm>
            <a:off x="228600" y="1066800"/>
            <a:ext cx="8763000" cy="5355312"/>
          </a:xfrm>
          <a:prstGeom prst="rect">
            <a:avLst/>
          </a:prstGeom>
          <a:noFill/>
        </p:spPr>
        <p:txBody>
          <a:bodyPr wrap="square" rtlCol="0">
            <a:spAutoFit/>
          </a:bodyPr>
          <a:lstStyle/>
          <a:p>
            <a:pPr lvl="0"/>
            <a:r>
              <a:rPr lang="en-US" b="1" dirty="0" smtClean="0"/>
              <a:t>The Continue Statement</a:t>
            </a:r>
          </a:p>
          <a:p>
            <a:pPr lvl="0"/>
            <a:r>
              <a:rPr lang="en-US" dirty="0" smtClean="0"/>
              <a:t>With </a:t>
            </a:r>
            <a:r>
              <a:rPr lang="en-US" dirty="0"/>
              <a:t>the continue statement we can stop the current iteration, and continue with the next iteration:</a:t>
            </a:r>
            <a:endParaRPr lang="en-IN" dirty="0"/>
          </a:p>
          <a:p>
            <a:r>
              <a:rPr lang="en-US" dirty="0"/>
              <a:t>Example :</a:t>
            </a:r>
            <a:endParaRPr lang="en-IN" dirty="0"/>
          </a:p>
          <a:p>
            <a:r>
              <a:rPr lang="en-US" dirty="0"/>
              <a:t> </a:t>
            </a:r>
            <a:endParaRPr lang="en-IN" dirty="0"/>
          </a:p>
          <a:p>
            <a:r>
              <a:rPr lang="en-US" dirty="0"/>
              <a:t>for x in range(6):  </a:t>
            </a:r>
            <a:endParaRPr lang="en-IN" dirty="0"/>
          </a:p>
          <a:p>
            <a:r>
              <a:rPr lang="en-US" dirty="0"/>
              <a:t>  if x==3:</a:t>
            </a:r>
            <a:endParaRPr lang="en-IN" dirty="0"/>
          </a:p>
          <a:p>
            <a:r>
              <a:rPr lang="en-US" dirty="0"/>
              <a:t>   continue</a:t>
            </a:r>
            <a:endParaRPr lang="en-IN" dirty="0"/>
          </a:p>
          <a:p>
            <a:r>
              <a:rPr lang="en-US" dirty="0"/>
              <a:t>  print(x)</a:t>
            </a:r>
            <a:endParaRPr lang="en-IN" dirty="0"/>
          </a:p>
          <a:p>
            <a:r>
              <a:rPr lang="en-US" dirty="0"/>
              <a:t> </a:t>
            </a:r>
            <a:endParaRPr lang="en-IN" dirty="0"/>
          </a:p>
          <a:p>
            <a:r>
              <a:rPr lang="en-US" dirty="0"/>
              <a:t>print("outside loop")</a:t>
            </a:r>
            <a:endParaRPr lang="en-IN" dirty="0"/>
          </a:p>
          <a:p>
            <a:r>
              <a:rPr lang="en-US" dirty="0"/>
              <a:t> </a:t>
            </a:r>
            <a:endParaRPr lang="en-IN" dirty="0"/>
          </a:p>
          <a:p>
            <a:r>
              <a:rPr lang="en-US" dirty="0"/>
              <a:t>Output:</a:t>
            </a:r>
            <a:endParaRPr lang="en-IN" dirty="0"/>
          </a:p>
          <a:p>
            <a:r>
              <a:rPr lang="en-US" dirty="0"/>
              <a:t>0</a:t>
            </a:r>
            <a:endParaRPr lang="en-IN" dirty="0"/>
          </a:p>
          <a:p>
            <a:r>
              <a:rPr lang="en-US" dirty="0"/>
              <a:t>1</a:t>
            </a:r>
            <a:endParaRPr lang="en-IN" dirty="0"/>
          </a:p>
          <a:p>
            <a:r>
              <a:rPr lang="en-US" dirty="0"/>
              <a:t>2</a:t>
            </a:r>
            <a:endParaRPr lang="en-IN" dirty="0"/>
          </a:p>
          <a:p>
            <a:r>
              <a:rPr lang="en-US" dirty="0"/>
              <a:t>4</a:t>
            </a:r>
            <a:endParaRPr lang="en-IN" dirty="0"/>
          </a:p>
          <a:p>
            <a:r>
              <a:rPr lang="en-US" dirty="0"/>
              <a:t>5</a:t>
            </a:r>
            <a:endParaRPr lang="en-IN" dirty="0"/>
          </a:p>
          <a:p>
            <a:r>
              <a:rPr lang="en-US" dirty="0"/>
              <a:t>outside </a:t>
            </a:r>
            <a:r>
              <a:rPr lang="en-US" dirty="0" smtClean="0"/>
              <a:t>loop</a:t>
            </a:r>
            <a:endParaRPr lang="en-IN" dirty="0"/>
          </a:p>
        </p:txBody>
      </p:sp>
    </p:spTree>
    <p:extLst>
      <p:ext uri="{BB962C8B-B14F-4D97-AF65-F5344CB8AC3E}">
        <p14:creationId xmlns="" xmlns:p14="http://schemas.microsoft.com/office/powerpoint/2010/main" val="247361428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Continue Statement</a:t>
            </a:r>
            <a:endParaRPr lang="en-US" dirty="0"/>
          </a:p>
        </p:txBody>
      </p:sp>
      <p:sp>
        <p:nvSpPr>
          <p:cNvPr id="4" name="TextBox 3"/>
          <p:cNvSpPr txBox="1"/>
          <p:nvPr/>
        </p:nvSpPr>
        <p:spPr>
          <a:xfrm>
            <a:off x="228600" y="1066800"/>
            <a:ext cx="8763000" cy="3139321"/>
          </a:xfrm>
          <a:prstGeom prst="rect">
            <a:avLst/>
          </a:prstGeom>
          <a:noFill/>
        </p:spPr>
        <p:txBody>
          <a:bodyPr wrap="square" rtlCol="0">
            <a:spAutoFit/>
          </a:bodyPr>
          <a:lstStyle/>
          <a:p>
            <a:r>
              <a:rPr lang="en-US" dirty="0" smtClean="0"/>
              <a:t>Example </a:t>
            </a:r>
            <a:r>
              <a:rPr lang="en-US" dirty="0"/>
              <a:t>:</a:t>
            </a:r>
            <a:endParaRPr lang="en-IN" dirty="0"/>
          </a:p>
          <a:p>
            <a:r>
              <a:rPr lang="en-US" dirty="0"/>
              <a:t>fruits = ["apple", "banana", "cherry"]</a:t>
            </a:r>
            <a:endParaRPr lang="en-IN" dirty="0"/>
          </a:p>
          <a:p>
            <a:r>
              <a:rPr lang="en-US" dirty="0"/>
              <a:t> </a:t>
            </a:r>
            <a:endParaRPr lang="en-IN" dirty="0"/>
          </a:p>
          <a:p>
            <a:r>
              <a:rPr lang="en-US" dirty="0"/>
              <a:t>for x in fruits:</a:t>
            </a:r>
            <a:endParaRPr lang="en-IN" dirty="0"/>
          </a:p>
          <a:p>
            <a:r>
              <a:rPr lang="en-US" dirty="0"/>
              <a:t>  if x == "banana":</a:t>
            </a:r>
            <a:endParaRPr lang="en-IN" dirty="0"/>
          </a:p>
          <a:p>
            <a:r>
              <a:rPr lang="en-US" dirty="0"/>
              <a:t>    continue</a:t>
            </a:r>
            <a:endParaRPr lang="en-IN" dirty="0"/>
          </a:p>
          <a:p>
            <a:r>
              <a:rPr lang="en-US" dirty="0"/>
              <a:t>  print(x)</a:t>
            </a:r>
            <a:endParaRPr lang="en-IN" dirty="0"/>
          </a:p>
          <a:p>
            <a:r>
              <a:rPr lang="en-US" dirty="0"/>
              <a:t> </a:t>
            </a:r>
            <a:endParaRPr lang="en-IN" dirty="0"/>
          </a:p>
          <a:p>
            <a:r>
              <a:rPr lang="en-US" dirty="0"/>
              <a:t>Output:</a:t>
            </a:r>
            <a:endParaRPr lang="en-IN" dirty="0"/>
          </a:p>
          <a:p>
            <a:r>
              <a:rPr lang="en-US" dirty="0"/>
              <a:t>apple</a:t>
            </a:r>
            <a:endParaRPr lang="en-IN" dirty="0"/>
          </a:p>
          <a:p>
            <a:r>
              <a:rPr lang="en-US" dirty="0"/>
              <a:t>cherry</a:t>
            </a:r>
            <a:endParaRPr lang="en-IN" dirty="0"/>
          </a:p>
        </p:txBody>
      </p:sp>
    </p:spTree>
    <p:extLst>
      <p:ext uri="{BB962C8B-B14F-4D97-AF65-F5344CB8AC3E}">
        <p14:creationId xmlns="" xmlns:p14="http://schemas.microsoft.com/office/powerpoint/2010/main" val="83988382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Pass Statement</a:t>
            </a:r>
            <a:endParaRPr lang="en-US" dirty="0"/>
          </a:p>
        </p:txBody>
      </p:sp>
      <p:sp>
        <p:nvSpPr>
          <p:cNvPr id="4" name="TextBox 3"/>
          <p:cNvSpPr txBox="1"/>
          <p:nvPr/>
        </p:nvSpPr>
        <p:spPr>
          <a:xfrm>
            <a:off x="228600" y="1066800"/>
            <a:ext cx="8763000" cy="3693319"/>
          </a:xfrm>
          <a:prstGeom prst="rect">
            <a:avLst/>
          </a:prstGeom>
          <a:noFill/>
        </p:spPr>
        <p:txBody>
          <a:bodyPr wrap="square" rtlCol="0">
            <a:spAutoFit/>
          </a:bodyPr>
          <a:lstStyle/>
          <a:p>
            <a:pPr lvl="0"/>
            <a:r>
              <a:rPr lang="en-US" b="1" dirty="0" smtClean="0"/>
              <a:t>The Pass Statement</a:t>
            </a:r>
          </a:p>
          <a:p>
            <a:pPr lvl="0"/>
            <a:r>
              <a:rPr lang="en-US" dirty="0" smtClean="0"/>
              <a:t>for </a:t>
            </a:r>
            <a:r>
              <a:rPr lang="en-US" dirty="0"/>
              <a:t>loops cannot be empty, but if you for some reason have a for loop with no content, put in the pass statement to avoid getting an error.</a:t>
            </a:r>
            <a:endParaRPr lang="en-IN" dirty="0"/>
          </a:p>
          <a:p>
            <a:r>
              <a:rPr lang="en-US" dirty="0"/>
              <a:t>Example :</a:t>
            </a:r>
            <a:endParaRPr lang="en-IN" dirty="0"/>
          </a:p>
          <a:p>
            <a:r>
              <a:rPr lang="en-US" dirty="0"/>
              <a:t> </a:t>
            </a:r>
            <a:endParaRPr lang="en-IN" dirty="0"/>
          </a:p>
          <a:p>
            <a:r>
              <a:rPr lang="en-US" dirty="0"/>
              <a:t>for x in range(6):</a:t>
            </a:r>
            <a:endParaRPr lang="en-IN" dirty="0"/>
          </a:p>
          <a:p>
            <a:r>
              <a:rPr lang="en-US" dirty="0"/>
              <a:t>        pass</a:t>
            </a:r>
            <a:endParaRPr lang="en-IN" dirty="0"/>
          </a:p>
          <a:p>
            <a:r>
              <a:rPr lang="en-US" dirty="0"/>
              <a:t> </a:t>
            </a:r>
            <a:endParaRPr lang="en-IN" dirty="0"/>
          </a:p>
          <a:p>
            <a:r>
              <a:rPr lang="en-US" dirty="0"/>
              <a:t>Output :   ( no output)</a:t>
            </a:r>
            <a:endParaRPr lang="en-IN" dirty="0"/>
          </a:p>
          <a:p>
            <a:r>
              <a:rPr lang="en-US" dirty="0"/>
              <a:t> </a:t>
            </a:r>
            <a:endParaRPr lang="en-IN" dirty="0"/>
          </a:p>
          <a:p>
            <a:r>
              <a:rPr lang="en-US" dirty="0"/>
              <a:t> </a:t>
            </a:r>
            <a:endParaRPr lang="en-IN" dirty="0"/>
          </a:p>
          <a:p>
            <a:r>
              <a:rPr lang="en-US" dirty="0"/>
              <a:t>note:</a:t>
            </a:r>
            <a:endParaRPr lang="en-IN" dirty="0"/>
          </a:p>
          <a:p>
            <a:r>
              <a:rPr lang="en-US" dirty="0"/>
              <a:t># having an empty for loop like this, would raise an error without the pass statement</a:t>
            </a:r>
            <a:endParaRPr lang="en-IN" dirty="0"/>
          </a:p>
        </p:txBody>
      </p:sp>
    </p:spTree>
    <p:extLst>
      <p:ext uri="{BB962C8B-B14F-4D97-AF65-F5344CB8AC3E}">
        <p14:creationId xmlns="" xmlns:p14="http://schemas.microsoft.com/office/powerpoint/2010/main" val="134249375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Python Collections</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lvl="0" algn="just"/>
            <a:r>
              <a:rPr lang="en-US" sz="3200" dirty="0"/>
              <a:t>●	List is a collection which is ordered and changeable. Allows duplicate members.</a:t>
            </a:r>
          </a:p>
          <a:p>
            <a:pPr lvl="0" algn="just"/>
            <a:r>
              <a:rPr lang="en-US" sz="3200" dirty="0"/>
              <a:t>●	Tuple is a collection which is ordered and unchangeable. Allows duplicate members.</a:t>
            </a:r>
          </a:p>
          <a:p>
            <a:pPr lvl="0" algn="just"/>
            <a:r>
              <a:rPr lang="en-US" sz="3200" dirty="0"/>
              <a:t>●	Set is a collection which is unordered and unindexed. No duplicate members.</a:t>
            </a:r>
          </a:p>
          <a:p>
            <a:pPr lvl="0" algn="just"/>
            <a:r>
              <a:rPr lang="en-US" sz="3200" dirty="0"/>
              <a:t>●	Dictionary is a collection which is ordered* and changeable. No duplicate members.</a:t>
            </a:r>
          </a:p>
        </p:txBody>
      </p:sp>
    </p:spTree>
    <p:extLst>
      <p:ext uri="{BB962C8B-B14F-4D97-AF65-F5344CB8AC3E}">
        <p14:creationId xmlns="" xmlns:p14="http://schemas.microsoft.com/office/powerpoint/2010/main" val="27554646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List</a:t>
            </a:r>
            <a:endParaRPr lang="en-US" dirty="0"/>
          </a:p>
        </p:txBody>
      </p:sp>
      <p:sp>
        <p:nvSpPr>
          <p:cNvPr id="4" name="TextBox 3"/>
          <p:cNvSpPr txBox="1"/>
          <p:nvPr/>
        </p:nvSpPr>
        <p:spPr>
          <a:xfrm>
            <a:off x="228600" y="932557"/>
            <a:ext cx="8763000" cy="6001643"/>
          </a:xfrm>
          <a:prstGeom prst="rect">
            <a:avLst/>
          </a:prstGeom>
          <a:noFill/>
        </p:spPr>
        <p:txBody>
          <a:bodyPr wrap="square" rtlCol="0">
            <a:spAutoFit/>
          </a:bodyPr>
          <a:lstStyle/>
          <a:p>
            <a:pPr lvl="0" algn="just"/>
            <a:r>
              <a:rPr lang="en-US" sz="3200" dirty="0"/>
              <a:t>●	The list can be written as a list of comma-separated values (items) between square brackets. Important thing about a list is that the items in a list need not be of the same type.</a:t>
            </a:r>
          </a:p>
          <a:p>
            <a:pPr lvl="0" algn="just"/>
            <a:r>
              <a:rPr lang="en-US" sz="3200" dirty="0"/>
              <a:t>●	Creating a list is as simple as putting different comma-separated values between square brackets. For example −</a:t>
            </a:r>
          </a:p>
          <a:p>
            <a:pPr lvl="0" algn="just"/>
            <a:r>
              <a:rPr lang="en-US" sz="3200" dirty="0" err="1"/>
              <a:t>list1</a:t>
            </a:r>
            <a:r>
              <a:rPr lang="en-US" sz="3200" dirty="0"/>
              <a:t> = ['physics', 'chemistry', 1997, 2000];</a:t>
            </a:r>
          </a:p>
          <a:p>
            <a:pPr lvl="0" algn="just"/>
            <a:r>
              <a:rPr lang="en-US" sz="3200" dirty="0" err="1"/>
              <a:t>list2</a:t>
            </a:r>
            <a:r>
              <a:rPr lang="en-US" sz="3200" dirty="0"/>
              <a:t> = [1, 2, 3, 4, 5 ];</a:t>
            </a:r>
          </a:p>
          <a:p>
            <a:pPr lvl="0" algn="just"/>
            <a:r>
              <a:rPr lang="en-US" sz="3200" dirty="0" err="1"/>
              <a:t>list3</a:t>
            </a:r>
            <a:r>
              <a:rPr lang="en-US" sz="3200" dirty="0"/>
              <a:t> = ["a", "b", "c", "d</a:t>
            </a:r>
            <a:r>
              <a:rPr lang="en-US" sz="3200" dirty="0" smtClean="0"/>
              <a:t>"];</a:t>
            </a:r>
          </a:p>
          <a:p>
            <a:pPr lvl="0" algn="just"/>
            <a:r>
              <a:rPr lang="en-US" sz="3200" dirty="0"/>
              <a:t>●	Similar to string indices, list indices start at 0, and lists can be sliced, concatenated and so on.</a:t>
            </a:r>
          </a:p>
        </p:txBody>
      </p:sp>
    </p:spTree>
    <p:extLst>
      <p:ext uri="{BB962C8B-B14F-4D97-AF65-F5344CB8AC3E}">
        <p14:creationId xmlns="" xmlns:p14="http://schemas.microsoft.com/office/powerpoint/2010/main" val="420760397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List</a:t>
            </a:r>
            <a:endParaRPr lang="en-US" dirty="0"/>
          </a:p>
        </p:txBody>
      </p:sp>
      <p:sp>
        <p:nvSpPr>
          <p:cNvPr id="4" name="TextBox 3"/>
          <p:cNvSpPr txBox="1"/>
          <p:nvPr/>
        </p:nvSpPr>
        <p:spPr>
          <a:xfrm>
            <a:off x="228600" y="932557"/>
            <a:ext cx="8763000" cy="4524315"/>
          </a:xfrm>
          <a:prstGeom prst="rect">
            <a:avLst/>
          </a:prstGeom>
          <a:noFill/>
        </p:spPr>
        <p:txBody>
          <a:bodyPr wrap="square" rtlCol="0">
            <a:spAutoFit/>
          </a:bodyPr>
          <a:lstStyle/>
          <a:p>
            <a:pPr lvl="0" algn="just"/>
            <a:r>
              <a:rPr lang="en-US" sz="2400" b="1" dirty="0"/>
              <a:t>Accessing Values in Lists</a:t>
            </a:r>
          </a:p>
          <a:p>
            <a:pPr lvl="0" algn="just"/>
            <a:r>
              <a:rPr lang="en-US" sz="2400" dirty="0"/>
              <a:t>To access values in lists, use the square brackets for slicing along with the index or indices to obtain value available at that index.</a:t>
            </a:r>
          </a:p>
          <a:p>
            <a:pPr lvl="0" algn="just"/>
            <a:r>
              <a:rPr lang="en-US" sz="2400" dirty="0"/>
              <a:t>Example −</a:t>
            </a:r>
          </a:p>
          <a:p>
            <a:pPr lvl="0" algn="just"/>
            <a:r>
              <a:rPr lang="en-US" sz="2400" dirty="0" err="1"/>
              <a:t>list1</a:t>
            </a:r>
            <a:r>
              <a:rPr lang="en-US" sz="2400" dirty="0"/>
              <a:t> = ['physics', 'chemistry', 1997, 2000]</a:t>
            </a:r>
          </a:p>
          <a:p>
            <a:pPr lvl="0" algn="just"/>
            <a:r>
              <a:rPr lang="en-US" sz="2400" dirty="0" err="1"/>
              <a:t>list2</a:t>
            </a:r>
            <a:r>
              <a:rPr lang="en-US" sz="2400" dirty="0"/>
              <a:t> = [1, 2, 3, 4, 5, 6, 7 ]</a:t>
            </a:r>
          </a:p>
          <a:p>
            <a:pPr lvl="0" algn="just"/>
            <a:endParaRPr lang="en-US" sz="2400" dirty="0"/>
          </a:p>
          <a:p>
            <a:pPr lvl="0" algn="just"/>
            <a:r>
              <a:rPr lang="en-US" sz="2400" dirty="0"/>
              <a:t>print ("</a:t>
            </a:r>
            <a:r>
              <a:rPr lang="en-US" sz="2400" dirty="0" err="1"/>
              <a:t>list1</a:t>
            </a:r>
            <a:r>
              <a:rPr lang="en-US" sz="2400" dirty="0"/>
              <a:t>[0]: ", </a:t>
            </a:r>
            <a:r>
              <a:rPr lang="en-US" sz="2400" dirty="0" err="1"/>
              <a:t>list1</a:t>
            </a:r>
            <a:r>
              <a:rPr lang="en-US" sz="2400" dirty="0"/>
              <a:t>[0])</a:t>
            </a:r>
          </a:p>
          <a:p>
            <a:pPr lvl="0" algn="just"/>
            <a:r>
              <a:rPr lang="en-US" sz="2400" dirty="0"/>
              <a:t>print ("</a:t>
            </a:r>
            <a:r>
              <a:rPr lang="en-US" sz="2400" dirty="0" err="1"/>
              <a:t>list2</a:t>
            </a:r>
            <a:r>
              <a:rPr lang="en-US" sz="2400" dirty="0"/>
              <a:t>[1:5]: ", </a:t>
            </a:r>
            <a:r>
              <a:rPr lang="en-US" sz="2400" dirty="0" err="1"/>
              <a:t>list2</a:t>
            </a:r>
            <a:r>
              <a:rPr lang="en-US" sz="2400" dirty="0"/>
              <a:t>[1:5])</a:t>
            </a:r>
          </a:p>
          <a:p>
            <a:pPr lvl="0" algn="just"/>
            <a:r>
              <a:rPr lang="en-US" sz="2400" dirty="0"/>
              <a:t>When the above code is executed, it produces the following result −</a:t>
            </a:r>
          </a:p>
          <a:p>
            <a:pPr lvl="0" algn="just"/>
            <a:r>
              <a:rPr lang="en-US" sz="2400" dirty="0" err="1"/>
              <a:t>list1</a:t>
            </a:r>
            <a:r>
              <a:rPr lang="en-US" sz="2400" dirty="0"/>
              <a:t>[0]:  physics</a:t>
            </a:r>
          </a:p>
          <a:p>
            <a:pPr lvl="0" algn="just"/>
            <a:r>
              <a:rPr lang="en-US" sz="2400" dirty="0" err="1"/>
              <a:t>list2</a:t>
            </a:r>
            <a:r>
              <a:rPr lang="en-US" sz="2400" dirty="0"/>
              <a:t>[1:5]:  [2, 3, 4, 5]</a:t>
            </a:r>
          </a:p>
        </p:txBody>
      </p:sp>
    </p:spTree>
    <p:extLst>
      <p:ext uri="{BB962C8B-B14F-4D97-AF65-F5344CB8AC3E}">
        <p14:creationId xmlns="" xmlns:p14="http://schemas.microsoft.com/office/powerpoint/2010/main" val="41493209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List</a:t>
            </a:r>
            <a:endParaRPr lang="en-US" dirty="0"/>
          </a:p>
        </p:txBody>
      </p:sp>
      <p:sp>
        <p:nvSpPr>
          <p:cNvPr id="4" name="TextBox 3"/>
          <p:cNvSpPr txBox="1"/>
          <p:nvPr/>
        </p:nvSpPr>
        <p:spPr>
          <a:xfrm>
            <a:off x="228600" y="932557"/>
            <a:ext cx="8763000" cy="5262979"/>
          </a:xfrm>
          <a:prstGeom prst="rect">
            <a:avLst/>
          </a:prstGeom>
          <a:noFill/>
        </p:spPr>
        <p:txBody>
          <a:bodyPr wrap="square" rtlCol="0">
            <a:spAutoFit/>
          </a:bodyPr>
          <a:lstStyle/>
          <a:p>
            <a:pPr lvl="0" algn="just"/>
            <a:r>
              <a:rPr lang="en-US" sz="2400" b="1" dirty="0"/>
              <a:t>Updating Lists</a:t>
            </a:r>
          </a:p>
          <a:p>
            <a:pPr lvl="0" algn="just"/>
            <a:r>
              <a:rPr lang="en-US" sz="2400" dirty="0"/>
              <a:t>●	You can update single or multiple elements of lists by giving the slice on the left-hand side of the assignment operator, and you can add to elements in a list with the append() method. For example −</a:t>
            </a:r>
          </a:p>
          <a:p>
            <a:pPr lvl="0" algn="just"/>
            <a:r>
              <a:rPr lang="en-US" sz="2400" dirty="0" smtClean="0"/>
              <a:t>list </a:t>
            </a:r>
            <a:r>
              <a:rPr lang="en-US" sz="2400" dirty="0"/>
              <a:t>= ['physics', 'chemistry', 1997, 2000]</a:t>
            </a:r>
          </a:p>
          <a:p>
            <a:pPr lvl="0" algn="just"/>
            <a:r>
              <a:rPr lang="en-US" sz="2400" dirty="0"/>
              <a:t>print ("Value available at index 2 : ", list[2])</a:t>
            </a:r>
          </a:p>
          <a:p>
            <a:pPr lvl="0" algn="just"/>
            <a:endParaRPr lang="en-US" sz="2400" dirty="0"/>
          </a:p>
          <a:p>
            <a:pPr lvl="0" algn="just"/>
            <a:r>
              <a:rPr lang="en-US" sz="2400" dirty="0"/>
              <a:t>list[2] = </a:t>
            </a:r>
            <a:r>
              <a:rPr lang="en-US" sz="2400" dirty="0" smtClean="0"/>
              <a:t>1997</a:t>
            </a:r>
            <a:endParaRPr lang="en-US" sz="2400" dirty="0"/>
          </a:p>
          <a:p>
            <a:pPr lvl="0" algn="just"/>
            <a:r>
              <a:rPr lang="en-US" sz="2400" dirty="0"/>
              <a:t>print ("New value available at index 2 : ", list[2])</a:t>
            </a:r>
          </a:p>
          <a:p>
            <a:pPr lvl="0" algn="just"/>
            <a:r>
              <a:rPr lang="en-US" sz="2400" dirty="0"/>
              <a:t>Note − The append() method is discussed in the subsequent section.</a:t>
            </a:r>
          </a:p>
          <a:p>
            <a:pPr lvl="0" algn="just"/>
            <a:r>
              <a:rPr lang="en-US" sz="2400" dirty="0"/>
              <a:t>When the above code is executed, it produces the following result −</a:t>
            </a:r>
          </a:p>
          <a:p>
            <a:pPr lvl="0" algn="just"/>
            <a:r>
              <a:rPr lang="en-US" sz="2400" dirty="0"/>
              <a:t>Value available at index 2 :  1997</a:t>
            </a:r>
          </a:p>
          <a:p>
            <a:pPr lvl="0" algn="just"/>
            <a:r>
              <a:rPr lang="en-US" sz="2400" dirty="0"/>
              <a:t>New value available at index 2 :  2001</a:t>
            </a:r>
          </a:p>
        </p:txBody>
      </p:sp>
    </p:spTree>
    <p:extLst>
      <p:ext uri="{BB962C8B-B14F-4D97-AF65-F5344CB8AC3E}">
        <p14:creationId xmlns="" xmlns:p14="http://schemas.microsoft.com/office/powerpoint/2010/main" val="378999792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List</a:t>
            </a:r>
            <a:endParaRPr lang="en-US" dirty="0"/>
          </a:p>
        </p:txBody>
      </p:sp>
      <p:sp>
        <p:nvSpPr>
          <p:cNvPr id="4" name="TextBox 3"/>
          <p:cNvSpPr txBox="1"/>
          <p:nvPr/>
        </p:nvSpPr>
        <p:spPr>
          <a:xfrm>
            <a:off x="228600" y="932557"/>
            <a:ext cx="8763000" cy="6001643"/>
          </a:xfrm>
          <a:prstGeom prst="rect">
            <a:avLst/>
          </a:prstGeom>
          <a:noFill/>
        </p:spPr>
        <p:txBody>
          <a:bodyPr wrap="square" rtlCol="0">
            <a:spAutoFit/>
          </a:bodyPr>
          <a:lstStyle/>
          <a:p>
            <a:pPr lvl="0" algn="just"/>
            <a:r>
              <a:rPr lang="en-US" sz="2400" b="1" dirty="0"/>
              <a:t>Delete List Elements</a:t>
            </a:r>
          </a:p>
          <a:p>
            <a:pPr lvl="0" algn="just"/>
            <a:r>
              <a:rPr lang="en-US" sz="2400" b="1" dirty="0"/>
              <a:t>●	To remove a list element, you can use either the del statement if you know exactly which element(s) you are deleting. You can use the remove() method if you do not know exactly which items to delete. For example −</a:t>
            </a:r>
          </a:p>
          <a:p>
            <a:pPr lvl="0" algn="just"/>
            <a:endParaRPr lang="en-US" sz="2400" b="1" dirty="0"/>
          </a:p>
          <a:p>
            <a:pPr lvl="0" algn="just"/>
            <a:r>
              <a:rPr lang="en-US" sz="2400" dirty="0"/>
              <a:t>list = ['physics', 'chemistry', 1997, 2000]</a:t>
            </a:r>
          </a:p>
          <a:p>
            <a:pPr lvl="0" algn="just"/>
            <a:r>
              <a:rPr lang="en-US" sz="2400" dirty="0"/>
              <a:t>print (list)</a:t>
            </a:r>
          </a:p>
          <a:p>
            <a:pPr lvl="0" algn="just"/>
            <a:r>
              <a:rPr lang="en-US" sz="2400" dirty="0" smtClean="0"/>
              <a:t>del </a:t>
            </a:r>
            <a:r>
              <a:rPr lang="en-US" sz="2400" dirty="0"/>
              <a:t>list[2]</a:t>
            </a:r>
          </a:p>
          <a:p>
            <a:pPr lvl="0" algn="just"/>
            <a:r>
              <a:rPr lang="en-US" sz="2400" dirty="0"/>
              <a:t>print ("After deleting value at index 2 : ", list)</a:t>
            </a:r>
          </a:p>
          <a:p>
            <a:pPr lvl="0" algn="just"/>
            <a:r>
              <a:rPr lang="en-US" sz="2400" dirty="0"/>
              <a:t>When the above code is executed, it produces the following result −</a:t>
            </a:r>
          </a:p>
          <a:p>
            <a:pPr lvl="0" algn="just"/>
            <a:r>
              <a:rPr lang="en-US" sz="2400" dirty="0"/>
              <a:t>['physics', 'chemistry', 1997, 2000]</a:t>
            </a:r>
          </a:p>
          <a:p>
            <a:pPr lvl="0" algn="just"/>
            <a:r>
              <a:rPr lang="en-US" sz="2400" dirty="0"/>
              <a:t>After deleting value at index 2 :  </a:t>
            </a:r>
          </a:p>
          <a:p>
            <a:pPr lvl="0" algn="just"/>
            <a:r>
              <a:rPr lang="en-US" sz="2400" dirty="0"/>
              <a:t>['physics', 'chemistry', 2000]</a:t>
            </a:r>
          </a:p>
          <a:p>
            <a:pPr lvl="0" algn="just"/>
            <a:endParaRPr lang="en-US" sz="2400" dirty="0"/>
          </a:p>
          <a:p>
            <a:pPr lvl="0" algn="just"/>
            <a:r>
              <a:rPr lang="en-US" sz="2400" dirty="0"/>
              <a:t>Note − remove() method is discussed in subsequent section.</a:t>
            </a:r>
          </a:p>
        </p:txBody>
      </p:sp>
    </p:spTree>
    <p:extLst>
      <p:ext uri="{BB962C8B-B14F-4D97-AF65-F5344CB8AC3E}">
        <p14:creationId xmlns="" xmlns:p14="http://schemas.microsoft.com/office/powerpoint/2010/main" val="351514117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Basic List Operations</a:t>
            </a:r>
            <a:endParaRPr lang="en-US" dirty="0"/>
          </a:p>
        </p:txBody>
      </p:sp>
      <p:sp>
        <p:nvSpPr>
          <p:cNvPr id="4" name="TextBox 3"/>
          <p:cNvSpPr txBox="1"/>
          <p:nvPr/>
        </p:nvSpPr>
        <p:spPr>
          <a:xfrm>
            <a:off x="228600" y="932557"/>
            <a:ext cx="8763000" cy="1938992"/>
          </a:xfrm>
          <a:prstGeom prst="rect">
            <a:avLst/>
          </a:prstGeom>
          <a:noFill/>
        </p:spPr>
        <p:txBody>
          <a:bodyPr wrap="square" rtlCol="0">
            <a:spAutoFit/>
          </a:bodyPr>
          <a:lstStyle/>
          <a:p>
            <a:pPr lvl="0" algn="just"/>
            <a:r>
              <a:rPr lang="en-US" sz="2400" b="1" dirty="0" smtClean="0"/>
              <a:t>●	Lists </a:t>
            </a:r>
            <a:r>
              <a:rPr lang="en-US" sz="2400" b="1" dirty="0"/>
              <a:t>respond to the + and * operators much like strings; they mean concatenation and repetition here too, except that the result is a new list, not a string.</a:t>
            </a:r>
          </a:p>
          <a:p>
            <a:pPr lvl="0" algn="just"/>
            <a:r>
              <a:rPr lang="en-US" sz="2400" b="1" dirty="0"/>
              <a:t>●	In fact, lists respond to all of the general sequence operations we used on strings in the prior chapter.</a:t>
            </a:r>
          </a:p>
        </p:txBody>
      </p:sp>
      <p:graphicFrame>
        <p:nvGraphicFramePr>
          <p:cNvPr id="3" name="Table 2"/>
          <p:cNvGraphicFramePr>
            <a:graphicFrameLocks noGrp="1"/>
          </p:cNvGraphicFramePr>
          <p:nvPr>
            <p:extLst>
              <p:ext uri="{D42A27DB-BD31-4B8C-83A1-F6EECF244321}">
                <p14:modId xmlns="" xmlns:p14="http://schemas.microsoft.com/office/powerpoint/2010/main" val="1666288971"/>
              </p:ext>
            </p:extLst>
          </p:nvPr>
        </p:nvGraphicFramePr>
        <p:xfrm>
          <a:off x="1066800" y="3276600"/>
          <a:ext cx="7543799" cy="3429000"/>
        </p:xfrm>
        <a:graphic>
          <a:graphicData uri="http://schemas.openxmlformats.org/drawingml/2006/table">
            <a:tbl>
              <a:tblPr>
                <a:tableStyleId>{5C22544A-7EE6-4342-B048-85BDC9FD1C3A}</a:tableStyleId>
              </a:tblPr>
              <a:tblGrid>
                <a:gridCol w="3523832">
                  <a:extLst>
                    <a:ext uri="{9D8B030D-6E8A-4147-A177-3AD203B41FA5}">
                      <a16:colId xmlns="" xmlns:a16="http://schemas.microsoft.com/office/drawing/2014/main" val="3729902663"/>
                    </a:ext>
                  </a:extLst>
                </a:gridCol>
                <a:gridCol w="2264412">
                  <a:extLst>
                    <a:ext uri="{9D8B030D-6E8A-4147-A177-3AD203B41FA5}">
                      <a16:colId xmlns="" xmlns:a16="http://schemas.microsoft.com/office/drawing/2014/main" val="3721895657"/>
                    </a:ext>
                  </a:extLst>
                </a:gridCol>
                <a:gridCol w="1755555">
                  <a:extLst>
                    <a:ext uri="{9D8B030D-6E8A-4147-A177-3AD203B41FA5}">
                      <a16:colId xmlns="" xmlns:a16="http://schemas.microsoft.com/office/drawing/2014/main" val="3732133128"/>
                    </a:ext>
                  </a:extLst>
                </a:gridCol>
              </a:tblGrid>
              <a:tr h="571500">
                <a:tc>
                  <a:txBody>
                    <a:bodyPr/>
                    <a:lstStyle/>
                    <a:p>
                      <a:pPr algn="ctr">
                        <a:lnSpc>
                          <a:spcPct val="142000"/>
                        </a:lnSpc>
                        <a:spcAft>
                          <a:spcPts val="1500"/>
                        </a:spcAft>
                      </a:pPr>
                      <a:r>
                        <a:rPr lang="en-US" sz="1600">
                          <a:effectLst/>
                          <a:highlight>
                            <a:srgbClr val="FFFFFF"/>
                          </a:highlight>
                        </a:rPr>
                        <a:t>Python Expression</a:t>
                      </a:r>
                      <a:endParaRPr lang="en-IN" sz="14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a:effectLst/>
                          <a:highlight>
                            <a:srgbClr val="FFFFFF"/>
                          </a:highlight>
                        </a:rPr>
                        <a:t>Results</a:t>
                      </a:r>
                      <a:endParaRPr lang="en-IN" sz="14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a:effectLst/>
                          <a:highlight>
                            <a:srgbClr val="FFFFFF"/>
                          </a:highlight>
                        </a:rPr>
                        <a:t>Description</a:t>
                      </a:r>
                      <a:endParaRPr lang="en-IN" sz="14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188515818"/>
                  </a:ext>
                </a:extLst>
              </a:tr>
              <a:tr h="571500">
                <a:tc>
                  <a:txBody>
                    <a:bodyPr/>
                    <a:lstStyle/>
                    <a:p>
                      <a:pPr algn="ctr">
                        <a:lnSpc>
                          <a:spcPct val="142000"/>
                        </a:lnSpc>
                        <a:spcAft>
                          <a:spcPts val="1500"/>
                        </a:spcAft>
                      </a:pPr>
                      <a:r>
                        <a:rPr lang="en-US" sz="1600">
                          <a:effectLst/>
                          <a:highlight>
                            <a:srgbClr val="FFFFFF"/>
                          </a:highlight>
                        </a:rPr>
                        <a:t>len([1, 2, 3])</a:t>
                      </a:r>
                      <a:endParaRPr lang="en-IN" sz="14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a:effectLst/>
                          <a:highlight>
                            <a:srgbClr val="FFFFFF"/>
                          </a:highlight>
                        </a:rPr>
                        <a:t>3</a:t>
                      </a:r>
                      <a:endParaRPr lang="en-IN" sz="14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a:effectLst/>
                          <a:highlight>
                            <a:srgbClr val="FFFFFF"/>
                          </a:highlight>
                        </a:rPr>
                        <a:t>Length</a:t>
                      </a:r>
                      <a:endParaRPr lang="en-IN" sz="14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1885735043"/>
                  </a:ext>
                </a:extLst>
              </a:tr>
              <a:tr h="571500">
                <a:tc>
                  <a:txBody>
                    <a:bodyPr/>
                    <a:lstStyle/>
                    <a:p>
                      <a:pPr algn="ctr">
                        <a:lnSpc>
                          <a:spcPct val="142000"/>
                        </a:lnSpc>
                        <a:spcAft>
                          <a:spcPts val="1500"/>
                        </a:spcAft>
                      </a:pPr>
                      <a:r>
                        <a:rPr lang="en-US" sz="1600" dirty="0">
                          <a:effectLst/>
                          <a:highlight>
                            <a:srgbClr val="FFFFFF"/>
                          </a:highlight>
                        </a:rPr>
                        <a:t>[1, 2, 3] + [4, 5, 6]</a:t>
                      </a:r>
                      <a:endParaRPr lang="en-IN" sz="1400" dirty="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dirty="0">
                          <a:effectLst/>
                          <a:highlight>
                            <a:srgbClr val="FFFFFF"/>
                          </a:highlight>
                        </a:rPr>
                        <a:t>[1, 2, 3, 4, 5, 6]</a:t>
                      </a:r>
                      <a:endParaRPr lang="en-IN" sz="1400" dirty="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a:effectLst/>
                          <a:highlight>
                            <a:srgbClr val="FFFFFF"/>
                          </a:highlight>
                        </a:rPr>
                        <a:t>Concatenation</a:t>
                      </a:r>
                      <a:endParaRPr lang="en-IN" sz="14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1626354432"/>
                  </a:ext>
                </a:extLst>
              </a:tr>
              <a:tr h="571500">
                <a:tc>
                  <a:txBody>
                    <a:bodyPr/>
                    <a:lstStyle/>
                    <a:p>
                      <a:pPr algn="ctr">
                        <a:lnSpc>
                          <a:spcPct val="142000"/>
                        </a:lnSpc>
                        <a:spcAft>
                          <a:spcPts val="1500"/>
                        </a:spcAft>
                      </a:pPr>
                      <a:r>
                        <a:rPr lang="en-US" sz="1600">
                          <a:effectLst/>
                          <a:highlight>
                            <a:srgbClr val="FFFFFF"/>
                          </a:highlight>
                        </a:rPr>
                        <a:t>['Hi!'] * 4</a:t>
                      </a:r>
                      <a:endParaRPr lang="en-IN" sz="14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a:effectLst/>
                          <a:highlight>
                            <a:srgbClr val="FFFFFF"/>
                          </a:highlight>
                        </a:rPr>
                        <a:t>['Hi!', 'Hi!', 'Hi!', 'Hi!']</a:t>
                      </a:r>
                      <a:endParaRPr lang="en-IN" sz="14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dirty="0">
                          <a:effectLst/>
                          <a:highlight>
                            <a:srgbClr val="FFFFFF"/>
                          </a:highlight>
                        </a:rPr>
                        <a:t>Repetition</a:t>
                      </a:r>
                      <a:endParaRPr lang="en-IN" sz="1400" dirty="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1288902297"/>
                  </a:ext>
                </a:extLst>
              </a:tr>
              <a:tr h="571500">
                <a:tc>
                  <a:txBody>
                    <a:bodyPr/>
                    <a:lstStyle/>
                    <a:p>
                      <a:pPr algn="ctr">
                        <a:lnSpc>
                          <a:spcPct val="142000"/>
                        </a:lnSpc>
                        <a:spcAft>
                          <a:spcPts val="1500"/>
                        </a:spcAft>
                      </a:pPr>
                      <a:r>
                        <a:rPr lang="en-US" sz="1600">
                          <a:effectLst/>
                          <a:highlight>
                            <a:srgbClr val="FFFFFF"/>
                          </a:highlight>
                        </a:rPr>
                        <a:t>3 in [1, 2, 3]</a:t>
                      </a:r>
                      <a:endParaRPr lang="en-IN" sz="14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a:effectLst/>
                          <a:highlight>
                            <a:srgbClr val="FFFFFF"/>
                          </a:highlight>
                        </a:rPr>
                        <a:t>True</a:t>
                      </a:r>
                      <a:endParaRPr lang="en-IN" sz="14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a:effectLst/>
                          <a:highlight>
                            <a:srgbClr val="FFFFFF"/>
                          </a:highlight>
                        </a:rPr>
                        <a:t>Membership</a:t>
                      </a:r>
                      <a:endParaRPr lang="en-IN" sz="14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817170345"/>
                  </a:ext>
                </a:extLst>
              </a:tr>
              <a:tr h="571500">
                <a:tc>
                  <a:txBody>
                    <a:bodyPr/>
                    <a:lstStyle/>
                    <a:p>
                      <a:pPr algn="ctr">
                        <a:lnSpc>
                          <a:spcPct val="142000"/>
                        </a:lnSpc>
                        <a:spcAft>
                          <a:spcPts val="1500"/>
                        </a:spcAft>
                      </a:pPr>
                      <a:r>
                        <a:rPr lang="en-US" sz="1600">
                          <a:effectLst/>
                          <a:highlight>
                            <a:srgbClr val="FFFFFF"/>
                          </a:highlight>
                        </a:rPr>
                        <a:t>for x in [1,2,3] : print (x,end = ' ')</a:t>
                      </a:r>
                      <a:endParaRPr lang="en-IN" sz="14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a:effectLst/>
                          <a:highlight>
                            <a:srgbClr val="FFFFFF"/>
                          </a:highlight>
                        </a:rPr>
                        <a:t>1 2 3</a:t>
                      </a:r>
                      <a:endParaRPr lang="en-IN" sz="14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600" dirty="0">
                          <a:effectLst/>
                          <a:highlight>
                            <a:srgbClr val="FFFFFF"/>
                          </a:highlight>
                        </a:rPr>
                        <a:t>Iteration</a:t>
                      </a:r>
                      <a:endParaRPr lang="en-IN" sz="1400" dirty="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3990396018"/>
                  </a:ext>
                </a:extLst>
              </a:tr>
            </a:tbl>
          </a:graphicData>
        </a:graphic>
      </p:graphicFrame>
    </p:spTree>
    <p:extLst>
      <p:ext uri="{BB962C8B-B14F-4D97-AF65-F5344CB8AC3E}">
        <p14:creationId xmlns="" xmlns:p14="http://schemas.microsoft.com/office/powerpoint/2010/main" val="324335957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Indexing, Slicing and Matrixes</a:t>
            </a:r>
            <a:endParaRPr lang="en-US" dirty="0"/>
          </a:p>
        </p:txBody>
      </p:sp>
      <p:sp>
        <p:nvSpPr>
          <p:cNvPr id="4" name="TextBox 3"/>
          <p:cNvSpPr txBox="1"/>
          <p:nvPr/>
        </p:nvSpPr>
        <p:spPr>
          <a:xfrm>
            <a:off x="228600" y="932557"/>
            <a:ext cx="8763000" cy="1569660"/>
          </a:xfrm>
          <a:prstGeom prst="rect">
            <a:avLst/>
          </a:prstGeom>
          <a:noFill/>
        </p:spPr>
        <p:txBody>
          <a:bodyPr wrap="square" rtlCol="0">
            <a:spAutoFit/>
          </a:bodyPr>
          <a:lstStyle/>
          <a:p>
            <a:pPr marL="342900" lvl="0" indent="-342900" algn="just">
              <a:buFont typeface="Arial" panose="020B0604020202020204" pitchFamily="34" charset="0"/>
              <a:buChar char="•"/>
            </a:pPr>
            <a:r>
              <a:rPr lang="en-US" sz="2400" b="1" dirty="0" smtClean="0"/>
              <a:t>Since </a:t>
            </a:r>
            <a:r>
              <a:rPr lang="en-US" sz="2400" b="1" dirty="0"/>
              <a:t>lists are sequences, indexing and slicing work the same way for lists as they do for strings.</a:t>
            </a:r>
          </a:p>
          <a:p>
            <a:pPr lvl="0" algn="just"/>
            <a:r>
              <a:rPr lang="en-US" sz="2400" dirty="0"/>
              <a:t>Assuming the following input −</a:t>
            </a:r>
          </a:p>
          <a:p>
            <a:pPr lvl="0" algn="just"/>
            <a:r>
              <a:rPr lang="en-US" sz="2400" dirty="0"/>
              <a:t>L = ['C++', 'Java', 'Python']</a:t>
            </a:r>
          </a:p>
        </p:txBody>
      </p:sp>
      <p:graphicFrame>
        <p:nvGraphicFramePr>
          <p:cNvPr id="5" name="Table 4"/>
          <p:cNvGraphicFramePr>
            <a:graphicFrameLocks noGrp="1"/>
          </p:cNvGraphicFramePr>
          <p:nvPr>
            <p:extLst>
              <p:ext uri="{D42A27DB-BD31-4B8C-83A1-F6EECF244321}">
                <p14:modId xmlns="" xmlns:p14="http://schemas.microsoft.com/office/powerpoint/2010/main" val="1978500735"/>
              </p:ext>
            </p:extLst>
          </p:nvPr>
        </p:nvGraphicFramePr>
        <p:xfrm>
          <a:off x="609600" y="2743200"/>
          <a:ext cx="7772400" cy="3505200"/>
        </p:xfrm>
        <a:graphic>
          <a:graphicData uri="http://schemas.openxmlformats.org/drawingml/2006/table">
            <a:tbl>
              <a:tblPr>
                <a:tableStyleId>{5C22544A-7EE6-4342-B048-85BDC9FD1C3A}</a:tableStyleId>
              </a:tblPr>
              <a:tblGrid>
                <a:gridCol w="2424779">
                  <a:extLst>
                    <a:ext uri="{9D8B030D-6E8A-4147-A177-3AD203B41FA5}">
                      <a16:colId xmlns="" xmlns:a16="http://schemas.microsoft.com/office/drawing/2014/main" val="415534476"/>
                    </a:ext>
                  </a:extLst>
                </a:gridCol>
                <a:gridCol w="1952930">
                  <a:extLst>
                    <a:ext uri="{9D8B030D-6E8A-4147-A177-3AD203B41FA5}">
                      <a16:colId xmlns="" xmlns:a16="http://schemas.microsoft.com/office/drawing/2014/main" val="72985163"/>
                    </a:ext>
                  </a:extLst>
                </a:gridCol>
                <a:gridCol w="3394691">
                  <a:extLst>
                    <a:ext uri="{9D8B030D-6E8A-4147-A177-3AD203B41FA5}">
                      <a16:colId xmlns="" xmlns:a16="http://schemas.microsoft.com/office/drawing/2014/main" val="1190074428"/>
                    </a:ext>
                  </a:extLst>
                </a:gridCol>
              </a:tblGrid>
              <a:tr h="876300">
                <a:tc>
                  <a:txBody>
                    <a:bodyPr/>
                    <a:lstStyle/>
                    <a:p>
                      <a:pPr algn="ctr">
                        <a:lnSpc>
                          <a:spcPct val="142000"/>
                        </a:lnSpc>
                        <a:spcAft>
                          <a:spcPts val="1500"/>
                        </a:spcAft>
                      </a:pPr>
                      <a:r>
                        <a:rPr lang="en-US" sz="1800" dirty="0">
                          <a:effectLst/>
                          <a:highlight>
                            <a:srgbClr val="FFFFFF"/>
                          </a:highlight>
                        </a:rPr>
                        <a:t>Python Expression</a:t>
                      </a:r>
                      <a:endParaRPr lang="en-IN" sz="1600" dirty="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Results</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Description</a:t>
                      </a:r>
                      <a:endParaRPr lang="en-IN" sz="16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1251911508"/>
                  </a:ext>
                </a:extLst>
              </a:tr>
              <a:tr h="876300">
                <a:tc>
                  <a:txBody>
                    <a:bodyPr/>
                    <a:lstStyle/>
                    <a:p>
                      <a:pPr algn="ctr">
                        <a:lnSpc>
                          <a:spcPct val="142000"/>
                        </a:lnSpc>
                        <a:spcAft>
                          <a:spcPts val="1500"/>
                        </a:spcAft>
                      </a:pPr>
                      <a:r>
                        <a:rPr lang="en-US" sz="1800">
                          <a:effectLst/>
                          <a:highlight>
                            <a:srgbClr val="FFFFFF"/>
                          </a:highlight>
                        </a:rPr>
                        <a:t>L[2]</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'Python'</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Offsets start at zero</a:t>
                      </a:r>
                      <a:endParaRPr lang="en-IN" sz="16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2243440981"/>
                  </a:ext>
                </a:extLst>
              </a:tr>
              <a:tr h="876300">
                <a:tc>
                  <a:txBody>
                    <a:bodyPr/>
                    <a:lstStyle/>
                    <a:p>
                      <a:pPr algn="ctr">
                        <a:lnSpc>
                          <a:spcPct val="142000"/>
                        </a:lnSpc>
                        <a:spcAft>
                          <a:spcPts val="1500"/>
                        </a:spcAft>
                      </a:pPr>
                      <a:r>
                        <a:rPr lang="en-US" sz="1800">
                          <a:effectLst/>
                          <a:highlight>
                            <a:srgbClr val="FFFFFF"/>
                          </a:highlight>
                        </a:rPr>
                        <a:t>L[-2]</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'Java'</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Negative: count from the right</a:t>
                      </a:r>
                      <a:endParaRPr lang="en-IN" sz="16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3675916520"/>
                  </a:ext>
                </a:extLst>
              </a:tr>
              <a:tr h="876300">
                <a:tc>
                  <a:txBody>
                    <a:bodyPr/>
                    <a:lstStyle/>
                    <a:p>
                      <a:pPr algn="ctr">
                        <a:lnSpc>
                          <a:spcPct val="142000"/>
                        </a:lnSpc>
                        <a:spcAft>
                          <a:spcPts val="1500"/>
                        </a:spcAft>
                      </a:pPr>
                      <a:r>
                        <a:rPr lang="en-US" sz="1800">
                          <a:effectLst/>
                          <a:highlight>
                            <a:srgbClr val="FFFFFF"/>
                          </a:highlight>
                        </a:rPr>
                        <a:t>L[1:]</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['Java', 'Python']</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dirty="0">
                          <a:effectLst/>
                          <a:highlight>
                            <a:srgbClr val="FFFFFF"/>
                          </a:highlight>
                        </a:rPr>
                        <a:t>Slicing fetches sections</a:t>
                      </a:r>
                      <a:endParaRPr lang="en-IN" sz="1600" dirty="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1002806069"/>
                  </a:ext>
                </a:extLst>
              </a:tr>
            </a:tbl>
          </a:graphicData>
        </a:graphic>
      </p:graphicFrame>
    </p:spTree>
    <p:extLst>
      <p:ext uri="{BB962C8B-B14F-4D97-AF65-F5344CB8AC3E}">
        <p14:creationId xmlns="" xmlns:p14="http://schemas.microsoft.com/office/powerpoint/2010/main" val="194626884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3970318"/>
          </a:xfrm>
          <a:prstGeom prst="rect">
            <a:avLst/>
          </a:prstGeom>
          <a:noFill/>
        </p:spPr>
        <p:txBody>
          <a:bodyPr wrap="square" rtlCol="0">
            <a:spAutoFit/>
          </a:bodyPr>
          <a:lstStyle/>
          <a:p>
            <a:pPr marL="285750" indent="-285750">
              <a:buFont typeface="Arial" panose="020B0604020202020204" pitchFamily="34" charset="0"/>
              <a:buChar char="•"/>
            </a:pPr>
            <a:r>
              <a:rPr lang="en-US" b="1" dirty="0" err="1"/>
              <a:t>len</a:t>
            </a:r>
            <a:r>
              <a:rPr lang="en-US" b="1" dirty="0"/>
              <a:t>()</a:t>
            </a:r>
            <a:endParaRPr lang="en-IN" b="1" dirty="0"/>
          </a:p>
          <a:p>
            <a:r>
              <a:rPr lang="en-US" dirty="0"/>
              <a:t>The </a:t>
            </a:r>
            <a:r>
              <a:rPr lang="en-US" dirty="0" err="1"/>
              <a:t>len</a:t>
            </a:r>
            <a:r>
              <a:rPr lang="en-US" dirty="0"/>
              <a:t>() method returns the number of elements in the list.</a:t>
            </a:r>
            <a:endParaRPr lang="en-IN" dirty="0"/>
          </a:p>
          <a:p>
            <a:r>
              <a:rPr lang="en-US" b="1" dirty="0"/>
              <a:t>Syntax</a:t>
            </a:r>
            <a:endParaRPr lang="en-IN" b="1" dirty="0"/>
          </a:p>
          <a:p>
            <a:r>
              <a:rPr lang="en-US" dirty="0" err="1"/>
              <a:t>len</a:t>
            </a:r>
            <a:r>
              <a:rPr lang="en-US" dirty="0"/>
              <a:t>(list)</a:t>
            </a:r>
            <a:endParaRPr lang="en-IN" dirty="0"/>
          </a:p>
          <a:p>
            <a:endParaRPr lang="en-IN" dirty="0"/>
          </a:p>
          <a:p>
            <a:r>
              <a:rPr lang="en-US" dirty="0"/>
              <a:t>Example:</a:t>
            </a:r>
            <a:endParaRPr lang="en-IN" dirty="0"/>
          </a:p>
          <a:p>
            <a:r>
              <a:rPr lang="en-US" dirty="0" err="1"/>
              <a:t>list1</a:t>
            </a:r>
            <a:r>
              <a:rPr lang="en-US" dirty="0"/>
              <a:t> = ['physics', 'chemistry', '</a:t>
            </a:r>
            <a:r>
              <a:rPr lang="en-US" dirty="0" err="1"/>
              <a:t>maths</a:t>
            </a:r>
            <a:r>
              <a:rPr lang="en-US" dirty="0"/>
              <a:t>']</a:t>
            </a:r>
            <a:endParaRPr lang="en-IN" dirty="0"/>
          </a:p>
          <a:p>
            <a:r>
              <a:rPr lang="en-US" dirty="0"/>
              <a:t>print (</a:t>
            </a:r>
            <a:r>
              <a:rPr lang="en-US" dirty="0" err="1"/>
              <a:t>len</a:t>
            </a:r>
            <a:r>
              <a:rPr lang="en-US" dirty="0"/>
              <a:t>(</a:t>
            </a:r>
            <a:r>
              <a:rPr lang="en-US" dirty="0" err="1"/>
              <a:t>list1</a:t>
            </a:r>
            <a:r>
              <a:rPr lang="en-US" dirty="0"/>
              <a:t>))</a:t>
            </a:r>
            <a:endParaRPr lang="en-IN" dirty="0"/>
          </a:p>
          <a:p>
            <a:r>
              <a:rPr lang="en-US" dirty="0"/>
              <a:t> </a:t>
            </a:r>
            <a:endParaRPr lang="en-IN" dirty="0"/>
          </a:p>
          <a:p>
            <a:r>
              <a:rPr lang="en-US" dirty="0" err="1"/>
              <a:t>list2</a:t>
            </a:r>
            <a:r>
              <a:rPr lang="en-US" dirty="0"/>
              <a:t> = list(range(5)) #creates list of numbers between 0-4</a:t>
            </a:r>
            <a:endParaRPr lang="en-IN" dirty="0"/>
          </a:p>
          <a:p>
            <a:r>
              <a:rPr lang="en-US" dirty="0"/>
              <a:t>print (</a:t>
            </a:r>
            <a:r>
              <a:rPr lang="en-US" dirty="0" err="1"/>
              <a:t>len</a:t>
            </a:r>
            <a:r>
              <a:rPr lang="en-US" dirty="0"/>
              <a:t>(</a:t>
            </a:r>
            <a:r>
              <a:rPr lang="en-US" dirty="0" err="1"/>
              <a:t>list2</a:t>
            </a:r>
            <a:r>
              <a:rPr lang="en-US" dirty="0"/>
              <a:t>))</a:t>
            </a:r>
            <a:endParaRPr lang="en-IN" dirty="0"/>
          </a:p>
          <a:p>
            <a:r>
              <a:rPr lang="en-US" dirty="0"/>
              <a:t>Output:</a:t>
            </a:r>
            <a:endParaRPr lang="en-IN" dirty="0"/>
          </a:p>
          <a:p>
            <a:r>
              <a:rPr lang="en-US" dirty="0"/>
              <a:t>3</a:t>
            </a:r>
            <a:endParaRPr lang="en-IN" dirty="0"/>
          </a:p>
          <a:p>
            <a:r>
              <a:rPr lang="en-US" dirty="0"/>
              <a:t>5</a:t>
            </a:r>
            <a:endParaRPr lang="en-IN" dirty="0"/>
          </a:p>
        </p:txBody>
      </p:sp>
    </p:spTree>
    <p:extLst>
      <p:ext uri="{BB962C8B-B14F-4D97-AF65-F5344CB8AC3E}">
        <p14:creationId xmlns="" xmlns:p14="http://schemas.microsoft.com/office/powerpoint/2010/main" val="282685856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3693319"/>
          </a:xfrm>
          <a:prstGeom prst="rect">
            <a:avLst/>
          </a:prstGeom>
          <a:noFill/>
        </p:spPr>
        <p:txBody>
          <a:bodyPr wrap="square" rtlCol="0">
            <a:spAutoFit/>
          </a:bodyPr>
          <a:lstStyle/>
          <a:p>
            <a:pPr marL="285750" indent="-285750">
              <a:buFont typeface="Arial" panose="020B0604020202020204" pitchFamily="34" charset="0"/>
              <a:buChar char="•"/>
            </a:pPr>
            <a:r>
              <a:rPr lang="en-US" b="1" dirty="0"/>
              <a:t>max()</a:t>
            </a:r>
            <a:endParaRPr lang="en-IN" b="1" dirty="0"/>
          </a:p>
          <a:p>
            <a:r>
              <a:rPr lang="en-US" dirty="0"/>
              <a:t>The max() method returns the elements from the list with maximum value.</a:t>
            </a:r>
            <a:endParaRPr lang="en-IN" dirty="0"/>
          </a:p>
          <a:p>
            <a:r>
              <a:rPr lang="en-US" b="1" dirty="0"/>
              <a:t>Syntax</a:t>
            </a:r>
            <a:endParaRPr lang="en-IN" b="1" dirty="0"/>
          </a:p>
          <a:p>
            <a:r>
              <a:rPr lang="en-US" dirty="0"/>
              <a:t>Following is the syntax for max() method −</a:t>
            </a:r>
            <a:endParaRPr lang="en-IN" dirty="0"/>
          </a:p>
          <a:p>
            <a:r>
              <a:rPr lang="en-US" dirty="0"/>
              <a:t>max(list)</a:t>
            </a:r>
            <a:endParaRPr lang="en-IN" dirty="0"/>
          </a:p>
          <a:p>
            <a:r>
              <a:rPr lang="en-US" dirty="0"/>
              <a:t>Example:</a:t>
            </a:r>
            <a:endParaRPr lang="en-IN" dirty="0"/>
          </a:p>
          <a:p>
            <a:r>
              <a:rPr lang="en-US" dirty="0" err="1"/>
              <a:t>list1</a:t>
            </a:r>
            <a:r>
              <a:rPr lang="en-US" dirty="0"/>
              <a:t>, </a:t>
            </a:r>
            <a:r>
              <a:rPr lang="en-US" dirty="0" err="1"/>
              <a:t>list2</a:t>
            </a:r>
            <a:r>
              <a:rPr lang="en-US" dirty="0"/>
              <a:t> = ['C++','Java', 'Python'], [456, 700, 200]</a:t>
            </a:r>
            <a:endParaRPr lang="en-IN" dirty="0"/>
          </a:p>
          <a:p>
            <a:r>
              <a:rPr lang="en-US" dirty="0"/>
              <a:t>print ("Max value element : ", max(</a:t>
            </a:r>
            <a:r>
              <a:rPr lang="en-US" dirty="0" err="1"/>
              <a:t>list1</a:t>
            </a:r>
            <a:r>
              <a:rPr lang="en-US" dirty="0"/>
              <a:t>))</a:t>
            </a:r>
            <a:endParaRPr lang="en-IN" dirty="0"/>
          </a:p>
          <a:p>
            <a:r>
              <a:rPr lang="en-US" dirty="0"/>
              <a:t>print ("Max value element : ", max(</a:t>
            </a:r>
            <a:r>
              <a:rPr lang="en-US" dirty="0" err="1"/>
              <a:t>list2</a:t>
            </a:r>
            <a:r>
              <a:rPr lang="en-US" dirty="0"/>
              <a:t>))</a:t>
            </a:r>
            <a:endParaRPr lang="en-IN" dirty="0"/>
          </a:p>
          <a:p>
            <a:r>
              <a:rPr lang="en-US" dirty="0"/>
              <a:t> </a:t>
            </a:r>
            <a:endParaRPr lang="en-IN" dirty="0"/>
          </a:p>
          <a:p>
            <a:r>
              <a:rPr lang="en-US" dirty="0"/>
              <a:t>Output:</a:t>
            </a:r>
            <a:endParaRPr lang="en-IN" dirty="0"/>
          </a:p>
          <a:p>
            <a:r>
              <a:rPr lang="en-US" dirty="0"/>
              <a:t>Max value element :  Python</a:t>
            </a:r>
            <a:endParaRPr lang="en-IN" dirty="0"/>
          </a:p>
          <a:p>
            <a:r>
              <a:rPr lang="en-US" dirty="0"/>
              <a:t>Max value element :  700</a:t>
            </a:r>
            <a:endParaRPr lang="en-IN" dirty="0"/>
          </a:p>
        </p:txBody>
      </p:sp>
    </p:spTree>
    <p:extLst>
      <p:ext uri="{BB962C8B-B14F-4D97-AF65-F5344CB8AC3E}">
        <p14:creationId xmlns="" xmlns:p14="http://schemas.microsoft.com/office/powerpoint/2010/main" val="205952588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3693319"/>
          </a:xfrm>
          <a:prstGeom prst="rect">
            <a:avLst/>
          </a:prstGeom>
          <a:noFill/>
        </p:spPr>
        <p:txBody>
          <a:bodyPr wrap="square" rtlCol="0">
            <a:spAutoFit/>
          </a:bodyPr>
          <a:lstStyle/>
          <a:p>
            <a:pPr marL="285750" indent="-285750">
              <a:buFont typeface="Arial" panose="020B0604020202020204" pitchFamily="34" charset="0"/>
              <a:buChar char="•"/>
            </a:pPr>
            <a:r>
              <a:rPr lang="en-US" b="1" dirty="0"/>
              <a:t>min()</a:t>
            </a:r>
            <a:endParaRPr lang="en-IN" b="1" dirty="0"/>
          </a:p>
          <a:p>
            <a:r>
              <a:rPr lang="en-US" dirty="0"/>
              <a:t>The min() method returns the elements from the list with minimum value.</a:t>
            </a:r>
            <a:endParaRPr lang="en-IN" dirty="0"/>
          </a:p>
          <a:p>
            <a:r>
              <a:rPr lang="en-US" b="1" dirty="0"/>
              <a:t>Syntax</a:t>
            </a:r>
            <a:endParaRPr lang="en-IN" b="1" dirty="0"/>
          </a:p>
          <a:p>
            <a:r>
              <a:rPr lang="en-US" dirty="0"/>
              <a:t>Following is the syntax for min() method −</a:t>
            </a:r>
            <a:endParaRPr lang="en-IN" dirty="0"/>
          </a:p>
          <a:p>
            <a:r>
              <a:rPr lang="en-US" dirty="0"/>
              <a:t>min(list)</a:t>
            </a:r>
            <a:endParaRPr lang="en-IN" dirty="0"/>
          </a:p>
          <a:p>
            <a:r>
              <a:rPr lang="en-US" dirty="0"/>
              <a:t>Example:</a:t>
            </a:r>
            <a:endParaRPr lang="en-IN" dirty="0"/>
          </a:p>
          <a:p>
            <a:r>
              <a:rPr lang="en-US" dirty="0"/>
              <a:t> </a:t>
            </a:r>
            <a:endParaRPr lang="en-IN" dirty="0"/>
          </a:p>
          <a:p>
            <a:r>
              <a:rPr lang="en-US" dirty="0" err="1"/>
              <a:t>list1</a:t>
            </a:r>
            <a:r>
              <a:rPr lang="en-US" dirty="0"/>
              <a:t>, </a:t>
            </a:r>
            <a:r>
              <a:rPr lang="en-US" dirty="0" err="1"/>
              <a:t>list2</a:t>
            </a:r>
            <a:r>
              <a:rPr lang="en-US" dirty="0"/>
              <a:t> = ['C++','Java', 'Python'], [456, 700, 200]</a:t>
            </a:r>
            <a:endParaRPr lang="en-IN" dirty="0"/>
          </a:p>
          <a:p>
            <a:r>
              <a:rPr lang="en-US" dirty="0"/>
              <a:t>print ("min value element : ", min(</a:t>
            </a:r>
            <a:r>
              <a:rPr lang="en-US" dirty="0" err="1"/>
              <a:t>list1</a:t>
            </a:r>
            <a:r>
              <a:rPr lang="en-US" dirty="0"/>
              <a:t>))</a:t>
            </a:r>
            <a:endParaRPr lang="en-IN" dirty="0"/>
          </a:p>
          <a:p>
            <a:r>
              <a:rPr lang="en-US" dirty="0"/>
              <a:t>print ("min value element : ", min(</a:t>
            </a:r>
            <a:r>
              <a:rPr lang="en-US" dirty="0" err="1"/>
              <a:t>list2</a:t>
            </a:r>
            <a:r>
              <a:rPr lang="en-US" dirty="0"/>
              <a:t>))</a:t>
            </a:r>
            <a:endParaRPr lang="en-IN" dirty="0"/>
          </a:p>
          <a:p>
            <a:r>
              <a:rPr lang="en-US" dirty="0"/>
              <a:t>Output:</a:t>
            </a:r>
            <a:endParaRPr lang="en-IN" dirty="0"/>
          </a:p>
          <a:p>
            <a:r>
              <a:rPr lang="en-US" dirty="0"/>
              <a:t>min value element :  C++</a:t>
            </a:r>
            <a:endParaRPr lang="en-IN" dirty="0"/>
          </a:p>
          <a:p>
            <a:r>
              <a:rPr lang="en-US" dirty="0"/>
              <a:t>min value element :  200</a:t>
            </a:r>
            <a:endParaRPr lang="en-IN" dirty="0"/>
          </a:p>
        </p:txBody>
      </p:sp>
    </p:spTree>
    <p:extLst>
      <p:ext uri="{BB962C8B-B14F-4D97-AF65-F5344CB8AC3E}">
        <p14:creationId xmlns="" xmlns:p14="http://schemas.microsoft.com/office/powerpoint/2010/main" val="88227366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5632311"/>
          </a:xfrm>
          <a:prstGeom prst="rect">
            <a:avLst/>
          </a:prstGeom>
          <a:noFill/>
        </p:spPr>
        <p:txBody>
          <a:bodyPr wrap="square" rtlCol="0">
            <a:spAutoFit/>
          </a:bodyPr>
          <a:lstStyle/>
          <a:p>
            <a:pPr marL="285750" indent="-285750">
              <a:buFont typeface="Arial" panose="020B0604020202020204" pitchFamily="34" charset="0"/>
              <a:buChar char="•"/>
            </a:pPr>
            <a:r>
              <a:rPr lang="en-US" b="1" dirty="0"/>
              <a:t>list()</a:t>
            </a:r>
            <a:endParaRPr lang="en-IN" b="1" dirty="0"/>
          </a:p>
          <a:p>
            <a:r>
              <a:rPr lang="en-US" dirty="0"/>
              <a:t>The list() method takes sequence types and converts them to lists. This is used to convert a given tuple into list.</a:t>
            </a:r>
            <a:endParaRPr lang="en-IN" dirty="0"/>
          </a:p>
          <a:p>
            <a:r>
              <a:rPr lang="en-US" dirty="0"/>
              <a:t>Note − Tuple are very similar to lists with only difference that element values of a tuple can not be changed and tuple elements are put between parentheses instead of square bracket. This function also converts characters in a string into a list.</a:t>
            </a:r>
            <a:endParaRPr lang="en-IN" dirty="0"/>
          </a:p>
          <a:p>
            <a:r>
              <a:rPr lang="en-US" b="1" dirty="0"/>
              <a:t>Syntax</a:t>
            </a:r>
            <a:endParaRPr lang="en-IN" b="1" dirty="0"/>
          </a:p>
          <a:p>
            <a:r>
              <a:rPr lang="en-US" dirty="0"/>
              <a:t>Following is the syntax for list() method −</a:t>
            </a:r>
            <a:endParaRPr lang="en-IN" dirty="0"/>
          </a:p>
          <a:p>
            <a:r>
              <a:rPr lang="en-US" dirty="0"/>
              <a:t>list( </a:t>
            </a:r>
            <a:r>
              <a:rPr lang="en-US" dirty="0" err="1"/>
              <a:t>seq</a:t>
            </a:r>
            <a:r>
              <a:rPr lang="en-US" dirty="0"/>
              <a:t> )</a:t>
            </a:r>
            <a:endParaRPr lang="en-IN" dirty="0"/>
          </a:p>
          <a:p>
            <a:r>
              <a:rPr lang="en-US" dirty="0"/>
              <a:t> </a:t>
            </a:r>
            <a:endParaRPr lang="en-IN" dirty="0"/>
          </a:p>
          <a:p>
            <a:r>
              <a:rPr lang="en-US" dirty="0"/>
              <a:t>Example:</a:t>
            </a:r>
            <a:endParaRPr lang="en-IN" dirty="0"/>
          </a:p>
          <a:p>
            <a:r>
              <a:rPr lang="en-US" dirty="0" err="1"/>
              <a:t>aTuple</a:t>
            </a:r>
            <a:r>
              <a:rPr lang="en-US" dirty="0"/>
              <a:t> = (123, 'C++', 'Java', 'Python')</a:t>
            </a:r>
            <a:endParaRPr lang="en-IN" dirty="0"/>
          </a:p>
          <a:p>
            <a:r>
              <a:rPr lang="en-US" dirty="0" err="1"/>
              <a:t>list1</a:t>
            </a:r>
            <a:r>
              <a:rPr lang="en-US" dirty="0"/>
              <a:t> = list(</a:t>
            </a:r>
            <a:r>
              <a:rPr lang="en-US" dirty="0" err="1"/>
              <a:t>aTuple</a:t>
            </a:r>
            <a:r>
              <a:rPr lang="en-US" dirty="0"/>
              <a:t>)</a:t>
            </a:r>
            <a:endParaRPr lang="en-IN" dirty="0"/>
          </a:p>
          <a:p>
            <a:r>
              <a:rPr lang="en-US" dirty="0"/>
              <a:t>print ("List elements : ", </a:t>
            </a:r>
            <a:r>
              <a:rPr lang="en-US" dirty="0" err="1"/>
              <a:t>list1</a:t>
            </a:r>
            <a:r>
              <a:rPr lang="en-US" dirty="0" smtClean="0"/>
              <a:t>)</a:t>
            </a:r>
            <a:endParaRPr lang="en-IN" dirty="0"/>
          </a:p>
          <a:p>
            <a:r>
              <a:rPr lang="en-US" dirty="0" err="1"/>
              <a:t>str</a:t>
            </a:r>
            <a:r>
              <a:rPr lang="en-US" dirty="0"/>
              <a:t> = "Hello World</a:t>
            </a:r>
            <a:r>
              <a:rPr lang="en-US" dirty="0" smtClean="0"/>
              <a:t>"</a:t>
            </a:r>
            <a:endParaRPr lang="en-IN" dirty="0"/>
          </a:p>
          <a:p>
            <a:r>
              <a:rPr lang="en-US" dirty="0" err="1"/>
              <a:t>list2</a:t>
            </a:r>
            <a:r>
              <a:rPr lang="en-US" dirty="0"/>
              <a:t> = list(</a:t>
            </a:r>
            <a:r>
              <a:rPr lang="en-US" dirty="0" err="1"/>
              <a:t>str</a:t>
            </a:r>
            <a:r>
              <a:rPr lang="en-US" dirty="0"/>
              <a:t>)</a:t>
            </a:r>
            <a:endParaRPr lang="en-IN" dirty="0"/>
          </a:p>
          <a:p>
            <a:r>
              <a:rPr lang="en-US" dirty="0"/>
              <a:t>print ("List elements : ", </a:t>
            </a:r>
            <a:r>
              <a:rPr lang="en-US" dirty="0" err="1"/>
              <a:t>list2</a:t>
            </a:r>
            <a:r>
              <a:rPr lang="en-US" dirty="0"/>
              <a:t>)</a:t>
            </a:r>
            <a:endParaRPr lang="en-IN" dirty="0"/>
          </a:p>
          <a:p>
            <a:r>
              <a:rPr lang="en-US" dirty="0"/>
              <a:t>Output:</a:t>
            </a:r>
            <a:endParaRPr lang="en-IN" dirty="0"/>
          </a:p>
          <a:p>
            <a:r>
              <a:rPr lang="en-US" dirty="0"/>
              <a:t>List elements :  [123, 'C++', 'Java', 'Python']</a:t>
            </a:r>
            <a:endParaRPr lang="en-IN" dirty="0"/>
          </a:p>
          <a:p>
            <a:r>
              <a:rPr lang="en-US" dirty="0"/>
              <a:t>List elements :  ['H', 'e', 'l', 'l', 'o', ' ', 'W', 'o', 'r', 'l', 'd']</a:t>
            </a:r>
            <a:endParaRPr lang="en-IN" dirty="0"/>
          </a:p>
        </p:txBody>
      </p:sp>
    </p:spTree>
    <p:extLst>
      <p:ext uri="{BB962C8B-B14F-4D97-AF65-F5344CB8AC3E}">
        <p14:creationId xmlns="" xmlns:p14="http://schemas.microsoft.com/office/powerpoint/2010/main" val="85297421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err="1"/>
              <a:t>list.append</a:t>
            </a:r>
            <a:r>
              <a:rPr lang="en-US" b="1" dirty="0"/>
              <a:t>(</a:t>
            </a:r>
            <a:r>
              <a:rPr lang="en-US" b="1" dirty="0" err="1"/>
              <a:t>obj</a:t>
            </a:r>
            <a:r>
              <a:rPr lang="en-US" b="1" dirty="0"/>
              <a:t>)</a:t>
            </a:r>
            <a:endParaRPr lang="en-IN" b="1" dirty="0"/>
          </a:p>
          <a:p>
            <a:r>
              <a:rPr lang="en-US" dirty="0"/>
              <a:t>The append() method appends a passed </a:t>
            </a:r>
            <a:r>
              <a:rPr lang="en-US" dirty="0" err="1"/>
              <a:t>obj</a:t>
            </a:r>
            <a:r>
              <a:rPr lang="en-US" dirty="0"/>
              <a:t> into the existing list.</a:t>
            </a:r>
            <a:endParaRPr lang="en-IN" dirty="0"/>
          </a:p>
          <a:p>
            <a:r>
              <a:rPr lang="en-US" b="1" dirty="0"/>
              <a:t>Syntax</a:t>
            </a:r>
            <a:endParaRPr lang="en-IN" b="1" dirty="0"/>
          </a:p>
          <a:p>
            <a:r>
              <a:rPr lang="en-US" dirty="0"/>
              <a:t>Following is the syntax for append() method −</a:t>
            </a:r>
            <a:endParaRPr lang="en-IN" dirty="0"/>
          </a:p>
          <a:p>
            <a:r>
              <a:rPr lang="en-US" dirty="0" err="1"/>
              <a:t>list.append</a:t>
            </a:r>
            <a:r>
              <a:rPr lang="en-US" dirty="0"/>
              <a:t>(</a:t>
            </a:r>
            <a:r>
              <a:rPr lang="en-US" dirty="0" err="1"/>
              <a:t>obj</a:t>
            </a:r>
            <a:r>
              <a:rPr lang="en-US" dirty="0"/>
              <a:t>)</a:t>
            </a:r>
            <a:endParaRPr lang="en-IN" dirty="0"/>
          </a:p>
          <a:p>
            <a:r>
              <a:rPr lang="en-US" dirty="0"/>
              <a:t>Example:</a:t>
            </a:r>
            <a:endParaRPr lang="en-IN" dirty="0"/>
          </a:p>
          <a:p>
            <a:r>
              <a:rPr lang="en-US" dirty="0" err="1"/>
              <a:t>list1</a:t>
            </a:r>
            <a:r>
              <a:rPr lang="en-US" dirty="0"/>
              <a:t> = ['C++', 'Java', 'Python']</a:t>
            </a:r>
            <a:endParaRPr lang="en-IN" dirty="0"/>
          </a:p>
          <a:p>
            <a:r>
              <a:rPr lang="en-US" dirty="0" err="1"/>
              <a:t>list1.append</a:t>
            </a:r>
            <a:r>
              <a:rPr lang="en-US" dirty="0"/>
              <a:t>('C#')</a:t>
            </a:r>
            <a:endParaRPr lang="en-IN" dirty="0"/>
          </a:p>
          <a:p>
            <a:r>
              <a:rPr lang="en-US" dirty="0"/>
              <a:t>print ("updated list : ", </a:t>
            </a:r>
            <a:r>
              <a:rPr lang="en-US" dirty="0" err="1"/>
              <a:t>list1</a:t>
            </a:r>
            <a:r>
              <a:rPr lang="en-US" dirty="0"/>
              <a:t>)</a:t>
            </a:r>
            <a:endParaRPr lang="en-IN" dirty="0"/>
          </a:p>
          <a:p>
            <a:r>
              <a:rPr lang="en-US" dirty="0"/>
              <a:t>Output:</a:t>
            </a:r>
            <a:endParaRPr lang="en-IN" dirty="0"/>
          </a:p>
          <a:p>
            <a:r>
              <a:rPr lang="en-US" dirty="0"/>
              <a:t>updated list :  ['C++', 'Java', 'Python', 'C#']</a:t>
            </a:r>
            <a:endParaRPr lang="en-IN" dirty="0"/>
          </a:p>
        </p:txBody>
      </p:sp>
    </p:spTree>
    <p:extLst>
      <p:ext uri="{BB962C8B-B14F-4D97-AF65-F5344CB8AC3E}">
        <p14:creationId xmlns="" xmlns:p14="http://schemas.microsoft.com/office/powerpoint/2010/main" val="35494336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3970318"/>
          </a:xfrm>
          <a:prstGeom prst="rect">
            <a:avLst/>
          </a:prstGeom>
          <a:noFill/>
        </p:spPr>
        <p:txBody>
          <a:bodyPr wrap="square" rtlCol="0">
            <a:spAutoFit/>
          </a:bodyPr>
          <a:lstStyle/>
          <a:p>
            <a:pPr marL="285750" indent="-285750">
              <a:buFont typeface="Arial" panose="020B0604020202020204" pitchFamily="34" charset="0"/>
              <a:buChar char="•"/>
            </a:pPr>
            <a:r>
              <a:rPr lang="en-US" b="1" dirty="0" err="1"/>
              <a:t>list.count</a:t>
            </a:r>
            <a:r>
              <a:rPr lang="en-US" b="1" dirty="0"/>
              <a:t>(</a:t>
            </a:r>
            <a:r>
              <a:rPr lang="en-US" b="1" dirty="0" err="1"/>
              <a:t>obj</a:t>
            </a:r>
            <a:r>
              <a:rPr lang="en-US" b="1" dirty="0"/>
              <a:t>)</a:t>
            </a:r>
            <a:endParaRPr lang="en-IN" b="1" dirty="0"/>
          </a:p>
          <a:p>
            <a:r>
              <a:rPr lang="en-US" dirty="0"/>
              <a:t>The count() method returns count of how many times </a:t>
            </a:r>
            <a:r>
              <a:rPr lang="en-US" dirty="0" err="1"/>
              <a:t>obj</a:t>
            </a:r>
            <a:r>
              <a:rPr lang="en-US" dirty="0"/>
              <a:t> occurs in list.</a:t>
            </a:r>
            <a:endParaRPr lang="en-IN" dirty="0"/>
          </a:p>
          <a:p>
            <a:r>
              <a:rPr lang="en-US" b="1" dirty="0"/>
              <a:t>Syntax</a:t>
            </a:r>
            <a:endParaRPr lang="en-IN" b="1" dirty="0"/>
          </a:p>
          <a:p>
            <a:r>
              <a:rPr lang="en-US" dirty="0"/>
              <a:t>Following is the syntax for count() method −</a:t>
            </a:r>
            <a:endParaRPr lang="en-IN" dirty="0"/>
          </a:p>
          <a:p>
            <a:r>
              <a:rPr lang="en-US" dirty="0" err="1"/>
              <a:t>list.count</a:t>
            </a:r>
            <a:r>
              <a:rPr lang="en-US" dirty="0"/>
              <a:t>(</a:t>
            </a:r>
            <a:r>
              <a:rPr lang="en-US" dirty="0" err="1"/>
              <a:t>obj</a:t>
            </a:r>
            <a:r>
              <a:rPr lang="en-US" dirty="0"/>
              <a:t>)</a:t>
            </a:r>
            <a:endParaRPr lang="en-IN" dirty="0"/>
          </a:p>
          <a:p>
            <a:r>
              <a:rPr lang="en-US" dirty="0"/>
              <a:t>Example:</a:t>
            </a:r>
            <a:endParaRPr lang="en-IN" dirty="0"/>
          </a:p>
          <a:p>
            <a:r>
              <a:rPr lang="en-US" dirty="0"/>
              <a:t> </a:t>
            </a:r>
            <a:endParaRPr lang="en-IN" dirty="0"/>
          </a:p>
          <a:p>
            <a:r>
              <a:rPr lang="en-US" dirty="0"/>
              <a:t>List = [123, 'xyz', '</a:t>
            </a:r>
            <a:r>
              <a:rPr lang="en-US" dirty="0" err="1"/>
              <a:t>zara</a:t>
            </a:r>
            <a:r>
              <a:rPr lang="en-US" dirty="0"/>
              <a:t>', '</a:t>
            </a:r>
            <a:r>
              <a:rPr lang="en-US" dirty="0" err="1"/>
              <a:t>abc</a:t>
            </a:r>
            <a:r>
              <a:rPr lang="en-US" dirty="0"/>
              <a:t>', 123];</a:t>
            </a:r>
            <a:endParaRPr lang="en-IN" dirty="0"/>
          </a:p>
          <a:p>
            <a:r>
              <a:rPr lang="en-US" dirty="0"/>
              <a:t> </a:t>
            </a:r>
            <a:endParaRPr lang="en-IN" dirty="0"/>
          </a:p>
          <a:p>
            <a:r>
              <a:rPr lang="en-US" dirty="0"/>
              <a:t>print ("Count for 123 : ", </a:t>
            </a:r>
            <a:r>
              <a:rPr lang="en-US" dirty="0" err="1"/>
              <a:t>List.count</a:t>
            </a:r>
            <a:r>
              <a:rPr lang="en-US" dirty="0"/>
              <a:t>(123))</a:t>
            </a:r>
            <a:endParaRPr lang="en-IN" dirty="0"/>
          </a:p>
          <a:p>
            <a:r>
              <a:rPr lang="en-US" dirty="0"/>
              <a:t>print ("Count for </a:t>
            </a:r>
            <a:r>
              <a:rPr lang="en-US" dirty="0" err="1"/>
              <a:t>zara</a:t>
            </a:r>
            <a:r>
              <a:rPr lang="en-US" dirty="0"/>
              <a:t> : ",  </a:t>
            </a:r>
            <a:r>
              <a:rPr lang="en-US" dirty="0" err="1"/>
              <a:t>List.count</a:t>
            </a:r>
            <a:r>
              <a:rPr lang="en-US" dirty="0"/>
              <a:t>('</a:t>
            </a:r>
            <a:r>
              <a:rPr lang="en-US" dirty="0" err="1"/>
              <a:t>zara</a:t>
            </a:r>
            <a:r>
              <a:rPr lang="en-US" dirty="0"/>
              <a:t>'))</a:t>
            </a:r>
            <a:endParaRPr lang="en-IN" dirty="0"/>
          </a:p>
          <a:p>
            <a:r>
              <a:rPr lang="en-US" dirty="0"/>
              <a:t>Output:</a:t>
            </a:r>
            <a:endParaRPr lang="en-IN" dirty="0"/>
          </a:p>
          <a:p>
            <a:r>
              <a:rPr lang="en-US" dirty="0"/>
              <a:t>Count for 123 :  2</a:t>
            </a:r>
            <a:endParaRPr lang="en-IN" dirty="0"/>
          </a:p>
          <a:p>
            <a:r>
              <a:rPr lang="en-US" dirty="0"/>
              <a:t>Count for </a:t>
            </a:r>
            <a:r>
              <a:rPr lang="en-US" dirty="0" err="1"/>
              <a:t>zara</a:t>
            </a:r>
            <a:r>
              <a:rPr lang="en-US" dirty="0"/>
              <a:t> :  1</a:t>
            </a:r>
            <a:endParaRPr lang="en-IN" dirty="0"/>
          </a:p>
        </p:txBody>
      </p:sp>
    </p:spTree>
    <p:extLst>
      <p:ext uri="{BB962C8B-B14F-4D97-AF65-F5344CB8AC3E}">
        <p14:creationId xmlns="" xmlns:p14="http://schemas.microsoft.com/office/powerpoint/2010/main" val="214262122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3970318"/>
          </a:xfrm>
          <a:prstGeom prst="rect">
            <a:avLst/>
          </a:prstGeom>
          <a:noFill/>
        </p:spPr>
        <p:txBody>
          <a:bodyPr wrap="square" rtlCol="0">
            <a:spAutoFit/>
          </a:bodyPr>
          <a:lstStyle/>
          <a:p>
            <a:r>
              <a:rPr lang="en-US" b="1" dirty="0" err="1"/>
              <a:t>list.extend</a:t>
            </a:r>
            <a:r>
              <a:rPr lang="en-US" b="1" dirty="0"/>
              <a:t>(list)</a:t>
            </a:r>
            <a:endParaRPr lang="en-IN" b="1" dirty="0"/>
          </a:p>
          <a:p>
            <a:r>
              <a:rPr lang="en-US" dirty="0"/>
              <a:t>The extend() method appends the contents of </a:t>
            </a:r>
            <a:r>
              <a:rPr lang="en-US" dirty="0" err="1"/>
              <a:t>seq</a:t>
            </a:r>
            <a:r>
              <a:rPr lang="en-US" dirty="0"/>
              <a:t> to list.</a:t>
            </a:r>
            <a:endParaRPr lang="en-IN" dirty="0"/>
          </a:p>
          <a:p>
            <a:r>
              <a:rPr lang="en-US" b="1" dirty="0"/>
              <a:t>Syntax</a:t>
            </a:r>
            <a:endParaRPr lang="en-IN" b="1" dirty="0"/>
          </a:p>
          <a:p>
            <a:r>
              <a:rPr lang="en-US" dirty="0"/>
              <a:t>Following is the syntax for extend() method −</a:t>
            </a:r>
            <a:endParaRPr lang="en-IN" dirty="0"/>
          </a:p>
          <a:p>
            <a:r>
              <a:rPr lang="en-US" dirty="0" err="1"/>
              <a:t>list.extend</a:t>
            </a:r>
            <a:r>
              <a:rPr lang="en-US" dirty="0"/>
              <a:t>(</a:t>
            </a:r>
            <a:r>
              <a:rPr lang="en-US" dirty="0" err="1"/>
              <a:t>seq</a:t>
            </a:r>
            <a:r>
              <a:rPr lang="en-US" dirty="0"/>
              <a:t>)</a:t>
            </a:r>
            <a:endParaRPr lang="en-IN" dirty="0"/>
          </a:p>
          <a:p>
            <a:r>
              <a:rPr lang="en-US" dirty="0"/>
              <a:t> </a:t>
            </a:r>
            <a:endParaRPr lang="en-IN" dirty="0"/>
          </a:p>
          <a:p>
            <a:r>
              <a:rPr lang="en-US" dirty="0"/>
              <a:t>Example:</a:t>
            </a:r>
            <a:endParaRPr lang="en-IN" dirty="0"/>
          </a:p>
          <a:p>
            <a:r>
              <a:rPr lang="en-US" dirty="0"/>
              <a:t> </a:t>
            </a:r>
            <a:endParaRPr lang="en-IN" dirty="0"/>
          </a:p>
          <a:p>
            <a:r>
              <a:rPr lang="en-US" dirty="0" err="1"/>
              <a:t>list1</a:t>
            </a:r>
            <a:r>
              <a:rPr lang="en-US" dirty="0"/>
              <a:t> = ['physics', 'chemistry', '</a:t>
            </a:r>
            <a:r>
              <a:rPr lang="en-US" dirty="0" err="1"/>
              <a:t>maths</a:t>
            </a:r>
            <a:r>
              <a:rPr lang="en-US" dirty="0"/>
              <a:t>']</a:t>
            </a:r>
            <a:endParaRPr lang="en-IN" dirty="0"/>
          </a:p>
          <a:p>
            <a:r>
              <a:rPr lang="en-US" dirty="0" err="1"/>
              <a:t>list2</a:t>
            </a:r>
            <a:r>
              <a:rPr lang="en-US" dirty="0"/>
              <a:t> = list(range(5))     #</a:t>
            </a:r>
            <a:r>
              <a:rPr lang="en-US" dirty="0" err="1"/>
              <a:t>list2</a:t>
            </a:r>
            <a:r>
              <a:rPr lang="en-US" dirty="0"/>
              <a:t>=[0,1,2,3,4]</a:t>
            </a:r>
            <a:endParaRPr lang="en-IN" dirty="0"/>
          </a:p>
          <a:p>
            <a:r>
              <a:rPr lang="en-US" dirty="0" err="1"/>
              <a:t>list1.extend</a:t>
            </a:r>
            <a:r>
              <a:rPr lang="en-US" dirty="0"/>
              <a:t>(</a:t>
            </a:r>
            <a:r>
              <a:rPr lang="en-US" dirty="0" err="1"/>
              <a:t>list2</a:t>
            </a:r>
            <a:r>
              <a:rPr lang="en-US" dirty="0"/>
              <a:t>)</a:t>
            </a:r>
            <a:endParaRPr lang="en-IN" dirty="0"/>
          </a:p>
          <a:p>
            <a:r>
              <a:rPr lang="en-US" dirty="0"/>
              <a:t>print ('Extended List :', </a:t>
            </a:r>
            <a:r>
              <a:rPr lang="en-US" dirty="0" err="1"/>
              <a:t>list1</a:t>
            </a:r>
            <a:r>
              <a:rPr lang="en-US" dirty="0"/>
              <a:t>)</a:t>
            </a:r>
            <a:endParaRPr lang="en-IN" dirty="0"/>
          </a:p>
          <a:p>
            <a:r>
              <a:rPr lang="en-US" dirty="0"/>
              <a:t>Output:</a:t>
            </a:r>
            <a:endParaRPr lang="en-IN" dirty="0"/>
          </a:p>
          <a:p>
            <a:r>
              <a:rPr lang="en-US" dirty="0"/>
              <a:t>Extended </a:t>
            </a:r>
            <a:r>
              <a:rPr lang="en-US" dirty="0" err="1"/>
              <a:t>List1</a:t>
            </a:r>
            <a:r>
              <a:rPr lang="en-US" dirty="0"/>
              <a:t> :  ['physics', 'chemistry', '</a:t>
            </a:r>
            <a:r>
              <a:rPr lang="en-US" dirty="0" err="1"/>
              <a:t>maths</a:t>
            </a:r>
            <a:r>
              <a:rPr lang="en-US" dirty="0"/>
              <a:t>', 0, 1, 2, 3, 4]</a:t>
            </a:r>
            <a:endParaRPr lang="en-IN" dirty="0"/>
          </a:p>
        </p:txBody>
      </p:sp>
    </p:spTree>
    <p:extLst>
      <p:ext uri="{BB962C8B-B14F-4D97-AF65-F5344CB8AC3E}">
        <p14:creationId xmlns="" xmlns:p14="http://schemas.microsoft.com/office/powerpoint/2010/main" val="396559039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3970318"/>
          </a:xfrm>
          <a:prstGeom prst="rect">
            <a:avLst/>
          </a:prstGeom>
          <a:noFill/>
        </p:spPr>
        <p:txBody>
          <a:bodyPr wrap="square" rtlCol="0">
            <a:spAutoFit/>
          </a:bodyPr>
          <a:lstStyle/>
          <a:p>
            <a:pPr marL="285750" indent="-285750">
              <a:buFont typeface="Arial" panose="020B0604020202020204" pitchFamily="34" charset="0"/>
              <a:buChar char="•"/>
            </a:pPr>
            <a:r>
              <a:rPr lang="en-US" b="1" dirty="0" err="1"/>
              <a:t>list.index</a:t>
            </a:r>
            <a:r>
              <a:rPr lang="en-US" b="1" dirty="0"/>
              <a:t>(</a:t>
            </a:r>
            <a:r>
              <a:rPr lang="en-US" b="1" dirty="0" err="1"/>
              <a:t>obj</a:t>
            </a:r>
            <a:r>
              <a:rPr lang="en-US" b="1" dirty="0"/>
              <a:t>)</a:t>
            </a:r>
            <a:endParaRPr lang="en-IN" b="1" dirty="0"/>
          </a:p>
          <a:p>
            <a:r>
              <a:rPr lang="en-US" dirty="0"/>
              <a:t>The index() method returns the lowest index in list that </a:t>
            </a:r>
            <a:r>
              <a:rPr lang="en-US" dirty="0" err="1"/>
              <a:t>obj</a:t>
            </a:r>
            <a:r>
              <a:rPr lang="en-US" dirty="0"/>
              <a:t> appears.</a:t>
            </a:r>
            <a:endParaRPr lang="en-IN" dirty="0"/>
          </a:p>
          <a:p>
            <a:r>
              <a:rPr lang="en-US" b="1" dirty="0"/>
              <a:t>Syntax</a:t>
            </a:r>
            <a:endParaRPr lang="en-IN" b="1" dirty="0"/>
          </a:p>
          <a:p>
            <a:r>
              <a:rPr lang="en-US" dirty="0"/>
              <a:t>Following is the syntax for index() method −</a:t>
            </a:r>
            <a:endParaRPr lang="en-IN" dirty="0"/>
          </a:p>
          <a:p>
            <a:r>
              <a:rPr lang="en-US" dirty="0" err="1"/>
              <a:t>list.index</a:t>
            </a:r>
            <a:r>
              <a:rPr lang="en-US" dirty="0"/>
              <a:t>(</a:t>
            </a:r>
            <a:r>
              <a:rPr lang="en-US" dirty="0" err="1"/>
              <a:t>obj</a:t>
            </a:r>
            <a:r>
              <a:rPr lang="en-US" dirty="0"/>
              <a:t>)</a:t>
            </a:r>
            <a:endParaRPr lang="en-IN" dirty="0"/>
          </a:p>
          <a:p>
            <a:r>
              <a:rPr lang="en-US" dirty="0"/>
              <a:t> </a:t>
            </a:r>
            <a:endParaRPr lang="en-IN" dirty="0"/>
          </a:p>
          <a:p>
            <a:r>
              <a:rPr lang="en-US" dirty="0"/>
              <a:t> </a:t>
            </a:r>
            <a:endParaRPr lang="en-IN" dirty="0"/>
          </a:p>
          <a:p>
            <a:r>
              <a:rPr lang="en-US" dirty="0"/>
              <a:t> </a:t>
            </a:r>
            <a:endParaRPr lang="en-IN" dirty="0"/>
          </a:p>
          <a:p>
            <a:r>
              <a:rPr lang="en-US" dirty="0"/>
              <a:t>Example:</a:t>
            </a:r>
            <a:endParaRPr lang="en-IN" dirty="0"/>
          </a:p>
          <a:p>
            <a:r>
              <a:rPr lang="en-US" dirty="0" err="1"/>
              <a:t>list1</a:t>
            </a:r>
            <a:r>
              <a:rPr lang="en-US" dirty="0"/>
              <a:t> = ['physics', 'chemistry', '</a:t>
            </a:r>
            <a:r>
              <a:rPr lang="en-US" dirty="0" err="1"/>
              <a:t>maths</a:t>
            </a:r>
            <a:r>
              <a:rPr lang="en-US" dirty="0"/>
              <a:t>']</a:t>
            </a:r>
            <a:endParaRPr lang="en-IN" dirty="0"/>
          </a:p>
          <a:p>
            <a:r>
              <a:rPr lang="en-US" dirty="0"/>
              <a:t>print ('Index of chemistry', </a:t>
            </a:r>
            <a:r>
              <a:rPr lang="en-US" dirty="0" err="1"/>
              <a:t>list1.index</a:t>
            </a:r>
            <a:r>
              <a:rPr lang="en-US" dirty="0"/>
              <a:t>('chemistry'))</a:t>
            </a:r>
            <a:endParaRPr lang="en-IN" dirty="0"/>
          </a:p>
          <a:p>
            <a:r>
              <a:rPr lang="en-US" dirty="0"/>
              <a:t>print ('Index of C#', </a:t>
            </a:r>
            <a:r>
              <a:rPr lang="en-US" dirty="0" err="1"/>
              <a:t>list1.index</a:t>
            </a:r>
            <a:r>
              <a:rPr lang="en-US" dirty="0"/>
              <a:t>('C#'))</a:t>
            </a:r>
            <a:endParaRPr lang="en-IN" dirty="0"/>
          </a:p>
          <a:p>
            <a:r>
              <a:rPr lang="en-US" dirty="0"/>
              <a:t>Output:</a:t>
            </a:r>
            <a:endParaRPr lang="en-IN" dirty="0"/>
          </a:p>
          <a:p>
            <a:r>
              <a:rPr lang="en-US" dirty="0"/>
              <a:t>Index of chemistry 1</a:t>
            </a:r>
            <a:endParaRPr lang="en-IN" dirty="0"/>
          </a:p>
        </p:txBody>
      </p:sp>
    </p:spTree>
    <p:extLst>
      <p:ext uri="{BB962C8B-B14F-4D97-AF65-F5344CB8AC3E}">
        <p14:creationId xmlns="" xmlns:p14="http://schemas.microsoft.com/office/powerpoint/2010/main" val="59799309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3693319"/>
          </a:xfrm>
          <a:prstGeom prst="rect">
            <a:avLst/>
          </a:prstGeom>
          <a:noFill/>
        </p:spPr>
        <p:txBody>
          <a:bodyPr wrap="square" rtlCol="0">
            <a:spAutoFit/>
          </a:bodyPr>
          <a:lstStyle/>
          <a:p>
            <a:pPr marL="285750" indent="-285750">
              <a:buFont typeface="Arial" panose="020B0604020202020204" pitchFamily="34" charset="0"/>
              <a:buChar char="•"/>
            </a:pPr>
            <a:r>
              <a:rPr lang="en-US" b="1" dirty="0" err="1"/>
              <a:t>list.insert</a:t>
            </a:r>
            <a:r>
              <a:rPr lang="en-US" b="1" dirty="0"/>
              <a:t>(</a:t>
            </a:r>
            <a:r>
              <a:rPr lang="en-US" b="1" dirty="0" err="1"/>
              <a:t>index,obj</a:t>
            </a:r>
            <a:r>
              <a:rPr lang="en-US" b="1" dirty="0"/>
              <a:t>)</a:t>
            </a:r>
            <a:endParaRPr lang="en-IN" b="1" dirty="0"/>
          </a:p>
          <a:p>
            <a:r>
              <a:rPr lang="en-US" dirty="0"/>
              <a:t>The insert() method inserts object </a:t>
            </a:r>
            <a:r>
              <a:rPr lang="en-US" dirty="0" err="1"/>
              <a:t>obj</a:t>
            </a:r>
            <a:r>
              <a:rPr lang="en-US" dirty="0"/>
              <a:t> into list at offset index.</a:t>
            </a:r>
            <a:endParaRPr lang="en-IN" dirty="0"/>
          </a:p>
          <a:p>
            <a:r>
              <a:rPr lang="en-US" b="1" dirty="0"/>
              <a:t>Syntax</a:t>
            </a:r>
            <a:endParaRPr lang="en-IN" b="1" dirty="0"/>
          </a:p>
          <a:p>
            <a:r>
              <a:rPr lang="en-US" dirty="0"/>
              <a:t>Following is the syntax for insert() method −</a:t>
            </a:r>
            <a:endParaRPr lang="en-IN" dirty="0"/>
          </a:p>
          <a:p>
            <a:r>
              <a:rPr lang="en-US" dirty="0" err="1"/>
              <a:t>list.insert</a:t>
            </a:r>
            <a:r>
              <a:rPr lang="en-US" dirty="0"/>
              <a:t>(index, </a:t>
            </a:r>
            <a:r>
              <a:rPr lang="en-US" dirty="0" err="1"/>
              <a:t>obj</a:t>
            </a:r>
            <a:r>
              <a:rPr lang="en-US" dirty="0"/>
              <a:t>)</a:t>
            </a:r>
            <a:endParaRPr lang="en-IN" dirty="0"/>
          </a:p>
          <a:p>
            <a:r>
              <a:rPr lang="en-US" dirty="0"/>
              <a:t> </a:t>
            </a:r>
            <a:endParaRPr lang="en-IN" dirty="0"/>
          </a:p>
          <a:p>
            <a:r>
              <a:rPr lang="en-US" dirty="0"/>
              <a:t>Example:</a:t>
            </a:r>
            <a:endParaRPr lang="en-IN" dirty="0"/>
          </a:p>
          <a:p>
            <a:r>
              <a:rPr lang="en-US" dirty="0" err="1"/>
              <a:t>list1</a:t>
            </a:r>
            <a:r>
              <a:rPr lang="en-US" dirty="0"/>
              <a:t> = ['physics', 'chemistry', '</a:t>
            </a:r>
            <a:r>
              <a:rPr lang="en-US" dirty="0" err="1"/>
              <a:t>maths</a:t>
            </a:r>
            <a:r>
              <a:rPr lang="en-US" dirty="0"/>
              <a:t>']</a:t>
            </a:r>
            <a:endParaRPr lang="en-IN" dirty="0"/>
          </a:p>
          <a:p>
            <a:r>
              <a:rPr lang="en-US" dirty="0" err="1"/>
              <a:t>list1.insert</a:t>
            </a:r>
            <a:r>
              <a:rPr lang="en-US" dirty="0"/>
              <a:t>(1, 'Biology')</a:t>
            </a:r>
            <a:endParaRPr lang="en-IN" dirty="0"/>
          </a:p>
          <a:p>
            <a:r>
              <a:rPr lang="en-US" dirty="0"/>
              <a:t>print ('Final list : ', </a:t>
            </a:r>
            <a:r>
              <a:rPr lang="en-US" dirty="0" err="1"/>
              <a:t>list1</a:t>
            </a:r>
            <a:r>
              <a:rPr lang="en-US" dirty="0"/>
              <a:t>)</a:t>
            </a:r>
            <a:endParaRPr lang="en-IN" dirty="0"/>
          </a:p>
          <a:p>
            <a:r>
              <a:rPr lang="en-US" dirty="0"/>
              <a:t>Example:</a:t>
            </a:r>
            <a:endParaRPr lang="en-IN" dirty="0"/>
          </a:p>
          <a:p>
            <a:r>
              <a:rPr lang="en-US" dirty="0"/>
              <a:t>Output:</a:t>
            </a:r>
            <a:endParaRPr lang="en-IN" dirty="0"/>
          </a:p>
          <a:p>
            <a:r>
              <a:rPr lang="en-US" dirty="0"/>
              <a:t>Final list :  ['physics', 'Biology', 'chemistry', '</a:t>
            </a:r>
            <a:r>
              <a:rPr lang="en-US" dirty="0" err="1"/>
              <a:t>maths</a:t>
            </a:r>
            <a:r>
              <a:rPr lang="en-US" dirty="0"/>
              <a:t>']</a:t>
            </a:r>
            <a:endParaRPr lang="en-IN" dirty="0"/>
          </a:p>
        </p:txBody>
      </p:sp>
    </p:spTree>
    <p:extLst>
      <p:ext uri="{BB962C8B-B14F-4D97-AF65-F5344CB8AC3E}">
        <p14:creationId xmlns="" xmlns:p14="http://schemas.microsoft.com/office/powerpoint/2010/main" val="341569604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4801314"/>
          </a:xfrm>
          <a:prstGeom prst="rect">
            <a:avLst/>
          </a:prstGeom>
          <a:noFill/>
        </p:spPr>
        <p:txBody>
          <a:bodyPr wrap="square" rtlCol="0">
            <a:spAutoFit/>
          </a:bodyPr>
          <a:lstStyle/>
          <a:p>
            <a:pPr marL="285750" indent="-285750">
              <a:buFont typeface="Arial" panose="020B0604020202020204" pitchFamily="34" charset="0"/>
              <a:buChar char="•"/>
            </a:pPr>
            <a:r>
              <a:rPr lang="en-US" b="1" dirty="0" err="1"/>
              <a:t>list.pop</a:t>
            </a:r>
            <a:r>
              <a:rPr lang="en-US" b="1" dirty="0"/>
              <a:t>(</a:t>
            </a:r>
            <a:r>
              <a:rPr lang="en-US" b="1" dirty="0" err="1"/>
              <a:t>obj</a:t>
            </a:r>
            <a:r>
              <a:rPr lang="en-US" b="1" dirty="0"/>
              <a:t>)</a:t>
            </a:r>
            <a:endParaRPr lang="en-IN" b="1" dirty="0"/>
          </a:p>
          <a:p>
            <a:r>
              <a:rPr lang="en-US" dirty="0"/>
              <a:t>The pop() method removes and returns last object or </a:t>
            </a:r>
            <a:r>
              <a:rPr lang="en-US" dirty="0" err="1"/>
              <a:t>obj</a:t>
            </a:r>
            <a:r>
              <a:rPr lang="en-US" dirty="0"/>
              <a:t> from the list.</a:t>
            </a:r>
            <a:endParaRPr lang="en-IN" dirty="0"/>
          </a:p>
          <a:p>
            <a:r>
              <a:rPr lang="en-US" b="1" dirty="0"/>
              <a:t>Syntax</a:t>
            </a:r>
            <a:endParaRPr lang="en-IN" b="1" dirty="0"/>
          </a:p>
          <a:p>
            <a:r>
              <a:rPr lang="en-US" dirty="0"/>
              <a:t>Following is the syntax for pop() method −</a:t>
            </a:r>
            <a:endParaRPr lang="en-IN" dirty="0"/>
          </a:p>
          <a:p>
            <a:r>
              <a:rPr lang="en-US" dirty="0" err="1"/>
              <a:t>list.pop</a:t>
            </a:r>
            <a:r>
              <a:rPr lang="en-US" dirty="0"/>
              <a:t>(</a:t>
            </a:r>
            <a:r>
              <a:rPr lang="en-US" dirty="0" err="1"/>
              <a:t>obj</a:t>
            </a:r>
            <a:r>
              <a:rPr lang="en-US" dirty="0"/>
              <a:t>)</a:t>
            </a:r>
            <a:endParaRPr lang="en-IN" dirty="0"/>
          </a:p>
          <a:p>
            <a:r>
              <a:rPr lang="en-US" dirty="0"/>
              <a:t> </a:t>
            </a:r>
            <a:endParaRPr lang="en-IN" dirty="0"/>
          </a:p>
          <a:p>
            <a:r>
              <a:rPr lang="en-US" dirty="0"/>
              <a:t>Example:</a:t>
            </a:r>
            <a:endParaRPr lang="en-IN" dirty="0"/>
          </a:p>
          <a:p>
            <a:r>
              <a:rPr lang="en-US" dirty="0" err="1"/>
              <a:t>list1</a:t>
            </a:r>
            <a:r>
              <a:rPr lang="en-US" dirty="0"/>
              <a:t> = ['physics', 'Biology', 'chemistry', '</a:t>
            </a:r>
            <a:r>
              <a:rPr lang="en-US" dirty="0" err="1"/>
              <a:t>maths</a:t>
            </a:r>
            <a:r>
              <a:rPr lang="en-US" dirty="0"/>
              <a:t>']</a:t>
            </a:r>
            <a:endParaRPr lang="en-IN" dirty="0"/>
          </a:p>
          <a:p>
            <a:r>
              <a:rPr lang="en-US" dirty="0" err="1"/>
              <a:t>list1.pop</a:t>
            </a:r>
            <a:r>
              <a:rPr lang="en-US" dirty="0"/>
              <a:t>()</a:t>
            </a:r>
            <a:endParaRPr lang="en-IN" dirty="0"/>
          </a:p>
          <a:p>
            <a:r>
              <a:rPr lang="en-US" dirty="0"/>
              <a:t>print ("list now : ", </a:t>
            </a:r>
            <a:r>
              <a:rPr lang="en-US" dirty="0" err="1"/>
              <a:t>list1</a:t>
            </a:r>
            <a:r>
              <a:rPr lang="en-US" dirty="0"/>
              <a:t>)</a:t>
            </a:r>
            <a:endParaRPr lang="en-IN" dirty="0"/>
          </a:p>
          <a:p>
            <a:r>
              <a:rPr lang="en-US" dirty="0"/>
              <a:t> </a:t>
            </a:r>
            <a:endParaRPr lang="en-IN" dirty="0"/>
          </a:p>
          <a:p>
            <a:r>
              <a:rPr lang="en-US" dirty="0" err="1"/>
              <a:t>list1.pop</a:t>
            </a:r>
            <a:r>
              <a:rPr lang="en-US" dirty="0"/>
              <a:t>(1)</a:t>
            </a:r>
            <a:endParaRPr lang="en-IN" dirty="0"/>
          </a:p>
          <a:p>
            <a:r>
              <a:rPr lang="en-US" dirty="0"/>
              <a:t>print ("list now : ", </a:t>
            </a:r>
            <a:r>
              <a:rPr lang="en-US" dirty="0" err="1"/>
              <a:t>list1</a:t>
            </a:r>
            <a:r>
              <a:rPr lang="en-US" dirty="0"/>
              <a:t>)</a:t>
            </a:r>
            <a:endParaRPr lang="en-IN" dirty="0"/>
          </a:p>
          <a:p>
            <a:r>
              <a:rPr lang="en-US" dirty="0"/>
              <a:t> </a:t>
            </a:r>
            <a:endParaRPr lang="en-IN" dirty="0"/>
          </a:p>
          <a:p>
            <a:r>
              <a:rPr lang="en-US" dirty="0"/>
              <a:t>Output:</a:t>
            </a:r>
            <a:endParaRPr lang="en-IN" dirty="0"/>
          </a:p>
          <a:p>
            <a:r>
              <a:rPr lang="en-US" dirty="0"/>
              <a:t>list now :  ['physics', 'Biology', 'chemistry']</a:t>
            </a:r>
            <a:endParaRPr lang="en-IN" dirty="0"/>
          </a:p>
          <a:p>
            <a:r>
              <a:rPr lang="en-US" dirty="0"/>
              <a:t>list now :  ['physics', 'chemistry']</a:t>
            </a:r>
            <a:endParaRPr lang="en-IN" dirty="0"/>
          </a:p>
        </p:txBody>
      </p:sp>
    </p:spTree>
    <p:extLst>
      <p:ext uri="{BB962C8B-B14F-4D97-AF65-F5344CB8AC3E}">
        <p14:creationId xmlns="" xmlns:p14="http://schemas.microsoft.com/office/powerpoint/2010/main" val="302267852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3970318"/>
          </a:xfrm>
          <a:prstGeom prst="rect">
            <a:avLst/>
          </a:prstGeom>
          <a:noFill/>
        </p:spPr>
        <p:txBody>
          <a:bodyPr wrap="square" rtlCol="0">
            <a:spAutoFit/>
          </a:bodyPr>
          <a:lstStyle/>
          <a:p>
            <a:pPr marL="285750" indent="-285750">
              <a:buFont typeface="Arial" panose="020B0604020202020204" pitchFamily="34" charset="0"/>
              <a:buChar char="•"/>
            </a:pPr>
            <a:r>
              <a:rPr lang="en-US" b="1" dirty="0" err="1"/>
              <a:t>list.remove</a:t>
            </a:r>
            <a:r>
              <a:rPr lang="en-US" b="1" dirty="0"/>
              <a:t>()</a:t>
            </a:r>
            <a:endParaRPr lang="en-IN" b="1" dirty="0"/>
          </a:p>
          <a:p>
            <a:r>
              <a:rPr lang="en-US" dirty="0"/>
              <a:t> </a:t>
            </a:r>
            <a:endParaRPr lang="en-IN" dirty="0"/>
          </a:p>
          <a:p>
            <a:r>
              <a:rPr lang="en-US" dirty="0"/>
              <a:t>The remove() method remove  </a:t>
            </a:r>
            <a:r>
              <a:rPr lang="en-US" dirty="0" err="1"/>
              <a:t>obj</a:t>
            </a:r>
            <a:r>
              <a:rPr lang="en-US" dirty="0"/>
              <a:t> from the list.</a:t>
            </a:r>
            <a:endParaRPr lang="en-IN" dirty="0"/>
          </a:p>
          <a:p>
            <a:r>
              <a:rPr lang="en-US" dirty="0"/>
              <a:t>Syntax:</a:t>
            </a:r>
            <a:endParaRPr lang="en-IN" dirty="0"/>
          </a:p>
          <a:p>
            <a:r>
              <a:rPr lang="en-US" dirty="0" err="1"/>
              <a:t>list.remove</a:t>
            </a:r>
            <a:r>
              <a:rPr lang="en-US" dirty="0"/>
              <a:t>(</a:t>
            </a:r>
            <a:r>
              <a:rPr lang="en-US" dirty="0" err="1"/>
              <a:t>obj</a:t>
            </a:r>
            <a:r>
              <a:rPr lang="en-US" dirty="0"/>
              <a:t>)</a:t>
            </a:r>
            <a:endParaRPr lang="en-IN" dirty="0"/>
          </a:p>
          <a:p>
            <a:r>
              <a:rPr lang="en-US" dirty="0"/>
              <a:t>Example:</a:t>
            </a:r>
            <a:endParaRPr lang="en-IN" dirty="0"/>
          </a:p>
          <a:p>
            <a:r>
              <a:rPr lang="en-US" dirty="0" err="1"/>
              <a:t>list1</a:t>
            </a:r>
            <a:r>
              <a:rPr lang="en-US" dirty="0"/>
              <a:t> = ['physics', 'Biology', 'chemistry', '</a:t>
            </a:r>
            <a:r>
              <a:rPr lang="en-US" dirty="0" err="1"/>
              <a:t>maths</a:t>
            </a:r>
            <a:r>
              <a:rPr lang="en-US" dirty="0"/>
              <a:t>']</a:t>
            </a:r>
            <a:endParaRPr lang="en-IN" dirty="0"/>
          </a:p>
          <a:p>
            <a:r>
              <a:rPr lang="en-US" dirty="0" err="1"/>
              <a:t>list1.remove</a:t>
            </a:r>
            <a:r>
              <a:rPr lang="en-US" dirty="0"/>
              <a:t>('Biology')</a:t>
            </a:r>
            <a:endParaRPr lang="en-IN" dirty="0"/>
          </a:p>
          <a:p>
            <a:r>
              <a:rPr lang="en-US" dirty="0"/>
              <a:t>print ("list now : ", </a:t>
            </a:r>
            <a:r>
              <a:rPr lang="en-US" dirty="0" err="1"/>
              <a:t>list1</a:t>
            </a:r>
            <a:r>
              <a:rPr lang="en-US" dirty="0"/>
              <a:t>)</a:t>
            </a:r>
            <a:endParaRPr lang="en-IN" dirty="0"/>
          </a:p>
          <a:p>
            <a:r>
              <a:rPr lang="en-US" dirty="0" err="1"/>
              <a:t>list1.remove</a:t>
            </a:r>
            <a:r>
              <a:rPr lang="en-US" dirty="0"/>
              <a:t>('</a:t>
            </a:r>
            <a:r>
              <a:rPr lang="en-US" dirty="0" err="1"/>
              <a:t>maths</a:t>
            </a:r>
            <a:r>
              <a:rPr lang="en-US" dirty="0"/>
              <a:t>')</a:t>
            </a:r>
            <a:endParaRPr lang="en-IN" dirty="0"/>
          </a:p>
          <a:p>
            <a:r>
              <a:rPr lang="en-US" dirty="0"/>
              <a:t>print ("list now : ", </a:t>
            </a:r>
            <a:r>
              <a:rPr lang="en-US" dirty="0" err="1"/>
              <a:t>list1</a:t>
            </a:r>
            <a:r>
              <a:rPr lang="en-US" dirty="0"/>
              <a:t>)</a:t>
            </a:r>
            <a:endParaRPr lang="en-IN" dirty="0"/>
          </a:p>
          <a:p>
            <a:r>
              <a:rPr lang="en-US" dirty="0"/>
              <a:t>Output:</a:t>
            </a:r>
            <a:endParaRPr lang="en-IN" dirty="0"/>
          </a:p>
          <a:p>
            <a:r>
              <a:rPr lang="en-US" dirty="0"/>
              <a:t>list now :  ['physics', 'chemistry', '</a:t>
            </a:r>
            <a:r>
              <a:rPr lang="en-US" dirty="0" err="1"/>
              <a:t>maths</a:t>
            </a:r>
            <a:r>
              <a:rPr lang="en-US" dirty="0"/>
              <a:t>']</a:t>
            </a:r>
            <a:endParaRPr lang="en-IN" dirty="0"/>
          </a:p>
          <a:p>
            <a:r>
              <a:rPr lang="en-US" dirty="0"/>
              <a:t>list now :  ['physics', 'chemistry']</a:t>
            </a:r>
            <a:endParaRPr lang="en-IN" dirty="0"/>
          </a:p>
        </p:txBody>
      </p:sp>
    </p:spTree>
    <p:extLst>
      <p:ext uri="{BB962C8B-B14F-4D97-AF65-F5344CB8AC3E}">
        <p14:creationId xmlns="" xmlns:p14="http://schemas.microsoft.com/office/powerpoint/2010/main" val="235127078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3416320"/>
          </a:xfrm>
          <a:prstGeom prst="rect">
            <a:avLst/>
          </a:prstGeom>
          <a:noFill/>
        </p:spPr>
        <p:txBody>
          <a:bodyPr wrap="square" rtlCol="0">
            <a:spAutoFit/>
          </a:bodyPr>
          <a:lstStyle/>
          <a:p>
            <a:pPr marL="285750" indent="-285750">
              <a:buFont typeface="Arial" panose="020B0604020202020204" pitchFamily="34" charset="0"/>
              <a:buChar char="•"/>
            </a:pPr>
            <a:r>
              <a:rPr lang="en-US" b="1" dirty="0" err="1"/>
              <a:t>list.reverse</a:t>
            </a:r>
            <a:r>
              <a:rPr lang="en-US" b="1" dirty="0"/>
              <a:t>(</a:t>
            </a:r>
            <a:r>
              <a:rPr lang="en-US" b="1" dirty="0" err="1"/>
              <a:t>obj</a:t>
            </a:r>
            <a:r>
              <a:rPr lang="en-US" b="1" dirty="0"/>
              <a:t>)</a:t>
            </a:r>
            <a:endParaRPr lang="en-IN" b="1" dirty="0"/>
          </a:p>
          <a:p>
            <a:r>
              <a:rPr lang="en-US" dirty="0"/>
              <a:t>The reverse() method reverses objects of list in place.</a:t>
            </a:r>
            <a:endParaRPr lang="en-IN" dirty="0"/>
          </a:p>
          <a:p>
            <a:r>
              <a:rPr lang="en-US" b="1" dirty="0"/>
              <a:t>Syntax</a:t>
            </a:r>
            <a:endParaRPr lang="en-IN" b="1" dirty="0"/>
          </a:p>
          <a:p>
            <a:r>
              <a:rPr lang="en-US" dirty="0"/>
              <a:t>Following is the syntax for reverse() method −</a:t>
            </a:r>
            <a:endParaRPr lang="en-IN" dirty="0"/>
          </a:p>
          <a:p>
            <a:r>
              <a:rPr lang="en-US" dirty="0" err="1"/>
              <a:t>list.reverse</a:t>
            </a:r>
            <a:r>
              <a:rPr lang="en-US" dirty="0"/>
              <a:t>()</a:t>
            </a:r>
            <a:endParaRPr lang="en-IN" dirty="0"/>
          </a:p>
          <a:p>
            <a:r>
              <a:rPr lang="en-US" dirty="0"/>
              <a:t>Example:</a:t>
            </a:r>
            <a:endParaRPr lang="en-IN" dirty="0"/>
          </a:p>
          <a:p>
            <a:r>
              <a:rPr lang="en-US" dirty="0" err="1"/>
              <a:t>list1</a:t>
            </a:r>
            <a:r>
              <a:rPr lang="en-US" dirty="0"/>
              <a:t> = ['physics', 'Biology', 'chemistry', '</a:t>
            </a:r>
            <a:r>
              <a:rPr lang="en-US" dirty="0" err="1"/>
              <a:t>maths</a:t>
            </a:r>
            <a:r>
              <a:rPr lang="en-US" dirty="0"/>
              <a:t>']</a:t>
            </a:r>
            <a:endParaRPr lang="en-IN" dirty="0"/>
          </a:p>
          <a:p>
            <a:r>
              <a:rPr lang="en-US" dirty="0" err="1"/>
              <a:t>list1.reverse</a:t>
            </a:r>
            <a:r>
              <a:rPr lang="en-US" dirty="0"/>
              <a:t>()</a:t>
            </a:r>
            <a:endParaRPr lang="en-IN" dirty="0"/>
          </a:p>
          <a:p>
            <a:r>
              <a:rPr lang="en-US" dirty="0"/>
              <a:t>print ("list now : ", </a:t>
            </a:r>
            <a:r>
              <a:rPr lang="en-US" dirty="0" err="1"/>
              <a:t>list1</a:t>
            </a:r>
            <a:r>
              <a:rPr lang="en-US" dirty="0"/>
              <a:t>)</a:t>
            </a:r>
            <a:endParaRPr lang="en-IN" dirty="0"/>
          </a:p>
          <a:p>
            <a:r>
              <a:rPr lang="en-US" dirty="0"/>
              <a:t> </a:t>
            </a:r>
            <a:endParaRPr lang="en-IN" dirty="0"/>
          </a:p>
          <a:p>
            <a:r>
              <a:rPr lang="en-US" dirty="0"/>
              <a:t>Output:</a:t>
            </a:r>
            <a:endParaRPr lang="en-IN" dirty="0"/>
          </a:p>
          <a:p>
            <a:r>
              <a:rPr lang="en-US" dirty="0"/>
              <a:t>list now :  ['</a:t>
            </a:r>
            <a:r>
              <a:rPr lang="en-US" dirty="0" err="1"/>
              <a:t>maths</a:t>
            </a:r>
            <a:r>
              <a:rPr lang="en-US" dirty="0"/>
              <a:t>', 'chemistry', 'Biology', 'physics']</a:t>
            </a:r>
            <a:endParaRPr lang="en-IN" dirty="0"/>
          </a:p>
        </p:txBody>
      </p:sp>
    </p:spTree>
    <p:extLst>
      <p:ext uri="{BB962C8B-B14F-4D97-AF65-F5344CB8AC3E}">
        <p14:creationId xmlns="" xmlns:p14="http://schemas.microsoft.com/office/powerpoint/2010/main" val="290227585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 in functions</a:t>
            </a:r>
            <a:endParaRPr lang="en-US" dirty="0"/>
          </a:p>
        </p:txBody>
      </p:sp>
      <p:sp>
        <p:nvSpPr>
          <p:cNvPr id="4" name="TextBox 3"/>
          <p:cNvSpPr txBox="1"/>
          <p:nvPr/>
        </p:nvSpPr>
        <p:spPr>
          <a:xfrm>
            <a:off x="228600" y="932557"/>
            <a:ext cx="8763000" cy="3970318"/>
          </a:xfrm>
          <a:prstGeom prst="rect">
            <a:avLst/>
          </a:prstGeom>
          <a:noFill/>
        </p:spPr>
        <p:txBody>
          <a:bodyPr wrap="square" rtlCol="0">
            <a:spAutoFit/>
          </a:bodyPr>
          <a:lstStyle/>
          <a:p>
            <a:pPr marL="285750" indent="-285750">
              <a:buFont typeface="Arial" panose="020B0604020202020204" pitchFamily="34" charset="0"/>
              <a:buChar char="•"/>
            </a:pPr>
            <a:r>
              <a:rPr lang="en-US" b="1" dirty="0" err="1"/>
              <a:t>list.sort</a:t>
            </a:r>
            <a:r>
              <a:rPr lang="en-US" b="1" dirty="0"/>
              <a:t>()</a:t>
            </a:r>
            <a:endParaRPr lang="en-IN" b="1" dirty="0"/>
          </a:p>
          <a:p>
            <a:r>
              <a:rPr lang="en-US" dirty="0"/>
              <a:t>The sort() method sorts objects of list, use compare function if given.</a:t>
            </a:r>
            <a:endParaRPr lang="en-IN" dirty="0"/>
          </a:p>
          <a:p>
            <a:r>
              <a:rPr lang="en-US" b="1" dirty="0"/>
              <a:t>Syntax</a:t>
            </a:r>
            <a:endParaRPr lang="en-IN" b="1" dirty="0"/>
          </a:p>
          <a:p>
            <a:r>
              <a:rPr lang="en-US" dirty="0"/>
              <a:t>Following is the syntax for sort() method −</a:t>
            </a:r>
            <a:endParaRPr lang="en-IN" dirty="0"/>
          </a:p>
          <a:p>
            <a:r>
              <a:rPr lang="en-US" dirty="0" err="1"/>
              <a:t>list.sort</a:t>
            </a:r>
            <a:r>
              <a:rPr lang="en-US" dirty="0"/>
              <a:t>([</a:t>
            </a:r>
            <a:r>
              <a:rPr lang="en-US" dirty="0" err="1"/>
              <a:t>func</a:t>
            </a:r>
            <a:r>
              <a:rPr lang="en-US" dirty="0"/>
              <a:t>])</a:t>
            </a:r>
            <a:endParaRPr lang="en-IN" dirty="0"/>
          </a:p>
          <a:p>
            <a:r>
              <a:rPr lang="en-US" dirty="0"/>
              <a:t>Example:</a:t>
            </a:r>
            <a:endParaRPr lang="en-IN" dirty="0"/>
          </a:p>
          <a:p>
            <a:r>
              <a:rPr lang="en-US" dirty="0"/>
              <a:t> </a:t>
            </a:r>
            <a:endParaRPr lang="en-IN" dirty="0"/>
          </a:p>
          <a:p>
            <a:r>
              <a:rPr lang="en-US" dirty="0" err="1"/>
              <a:t>list1</a:t>
            </a:r>
            <a:r>
              <a:rPr lang="en-US" dirty="0"/>
              <a:t> = ['physics', 'Biology', 'chemistry', '</a:t>
            </a:r>
            <a:r>
              <a:rPr lang="en-US" dirty="0" err="1"/>
              <a:t>maths</a:t>
            </a:r>
            <a:r>
              <a:rPr lang="en-US" dirty="0"/>
              <a:t>']</a:t>
            </a:r>
            <a:endParaRPr lang="en-IN" dirty="0"/>
          </a:p>
          <a:p>
            <a:r>
              <a:rPr lang="en-US" dirty="0" err="1"/>
              <a:t>list1.sort</a:t>
            </a:r>
            <a:r>
              <a:rPr lang="en-US" dirty="0"/>
              <a:t>()</a:t>
            </a:r>
            <a:endParaRPr lang="en-IN" dirty="0"/>
          </a:p>
          <a:p>
            <a:r>
              <a:rPr lang="en-US" dirty="0"/>
              <a:t>print ("list now : ", </a:t>
            </a:r>
            <a:r>
              <a:rPr lang="en-US" dirty="0" err="1"/>
              <a:t>list1</a:t>
            </a:r>
            <a:r>
              <a:rPr lang="en-US" dirty="0"/>
              <a:t>)</a:t>
            </a:r>
            <a:endParaRPr lang="en-IN" dirty="0"/>
          </a:p>
          <a:p>
            <a:r>
              <a:rPr lang="en-US" dirty="0"/>
              <a:t>Output:</a:t>
            </a:r>
            <a:endParaRPr lang="en-IN" dirty="0"/>
          </a:p>
          <a:p>
            <a:r>
              <a:rPr lang="en-US" dirty="0"/>
              <a:t>list now :  ['Biology', 'chemistry', '</a:t>
            </a:r>
            <a:r>
              <a:rPr lang="en-US" dirty="0" err="1"/>
              <a:t>maths</a:t>
            </a:r>
            <a:r>
              <a:rPr lang="en-US" dirty="0"/>
              <a:t>', 'physics']</a:t>
            </a:r>
            <a:endParaRPr lang="en-IN" dirty="0"/>
          </a:p>
          <a:p>
            <a:r>
              <a:rPr lang="en-US" dirty="0"/>
              <a:t>Note : for descending order </a:t>
            </a:r>
            <a:r>
              <a:rPr lang="en-US" dirty="0" err="1"/>
              <a:t>list.sort</a:t>
            </a:r>
            <a:r>
              <a:rPr lang="en-US" dirty="0"/>
              <a:t>(reverse=True)</a:t>
            </a:r>
            <a:endParaRPr lang="en-IN" dirty="0"/>
          </a:p>
          <a:p>
            <a:r>
              <a:rPr lang="en-US" dirty="0"/>
              <a:t>Sorting using name </a:t>
            </a:r>
            <a:r>
              <a:rPr lang="en-US" dirty="0" err="1"/>
              <a:t>list.sort</a:t>
            </a:r>
            <a:r>
              <a:rPr lang="en-US" dirty="0"/>
              <a:t>(key=name) is also possible</a:t>
            </a:r>
            <a:endParaRPr lang="en-IN" dirty="0"/>
          </a:p>
        </p:txBody>
      </p:sp>
    </p:spTree>
    <p:extLst>
      <p:ext uri="{BB962C8B-B14F-4D97-AF65-F5344CB8AC3E}">
        <p14:creationId xmlns="" xmlns:p14="http://schemas.microsoft.com/office/powerpoint/2010/main" val="185193119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Tuple</a:t>
            </a:r>
            <a:endParaRPr lang="en-US" dirty="0"/>
          </a:p>
        </p:txBody>
      </p:sp>
      <p:sp>
        <p:nvSpPr>
          <p:cNvPr id="4" name="TextBox 3"/>
          <p:cNvSpPr txBox="1"/>
          <p:nvPr/>
        </p:nvSpPr>
        <p:spPr>
          <a:xfrm>
            <a:off x="228600" y="932557"/>
            <a:ext cx="8763000" cy="5539978"/>
          </a:xfrm>
          <a:prstGeom prst="rect">
            <a:avLst/>
          </a:prstGeom>
          <a:noFill/>
        </p:spPr>
        <p:txBody>
          <a:bodyPr wrap="square" rtlCol="0">
            <a:spAutoFit/>
          </a:bodyPr>
          <a:lstStyle/>
          <a:p>
            <a:pPr marL="285750" indent="-285750" algn="just">
              <a:buFont typeface="Arial" panose="020B0604020202020204" pitchFamily="34" charset="0"/>
              <a:buChar char="•"/>
            </a:pPr>
            <a:r>
              <a:rPr lang="en-US" sz="2400" b="1" dirty="0"/>
              <a:t>A tuple is a sequence of immutable Python objects. </a:t>
            </a:r>
          </a:p>
          <a:p>
            <a:pPr marL="285750" indent="-285750" algn="just">
              <a:buFont typeface="Arial" panose="020B0604020202020204" pitchFamily="34" charset="0"/>
              <a:buChar char="•"/>
            </a:pPr>
            <a:r>
              <a:rPr lang="en-US" sz="2400" b="1" dirty="0" smtClean="0"/>
              <a:t>Tuples </a:t>
            </a:r>
            <a:r>
              <a:rPr lang="en-US" sz="2400" b="1" dirty="0"/>
              <a:t>are sequences, just like lists. But unchangeable.</a:t>
            </a:r>
          </a:p>
          <a:p>
            <a:pPr marL="285750" indent="-285750" algn="just">
              <a:buFont typeface="Arial" panose="020B0604020202020204" pitchFamily="34" charset="0"/>
              <a:buChar char="•"/>
            </a:pPr>
            <a:r>
              <a:rPr lang="en-US" sz="2400" b="1" dirty="0" smtClean="0"/>
              <a:t>The </a:t>
            </a:r>
            <a:r>
              <a:rPr lang="en-US" sz="2400" b="1" dirty="0"/>
              <a:t>main difference between the tuples and the lists is that the tuples cannot be changed unlike lists. Tuples use parentheses, whereas lists use square brackets.</a:t>
            </a:r>
          </a:p>
          <a:p>
            <a:pPr marL="285750" indent="-285750" algn="just">
              <a:buFont typeface="Arial" panose="020B0604020202020204" pitchFamily="34" charset="0"/>
              <a:buChar char="•"/>
            </a:pPr>
            <a:r>
              <a:rPr lang="en-US" sz="2400" b="1" dirty="0" smtClean="0"/>
              <a:t>Creating </a:t>
            </a:r>
            <a:r>
              <a:rPr lang="en-US" sz="2400" b="1" dirty="0"/>
              <a:t>a tuple is as simple as putting different comma-separated values. Optionally, you can put these comma-separated values between parentheses also. For example </a:t>
            </a:r>
            <a:r>
              <a:rPr lang="en-US" sz="2400" b="1" dirty="0" smtClean="0"/>
              <a:t>−</a:t>
            </a:r>
          </a:p>
          <a:p>
            <a:r>
              <a:rPr lang="en-US" dirty="0" err="1"/>
              <a:t>tup1</a:t>
            </a:r>
            <a:r>
              <a:rPr lang="en-US" dirty="0"/>
              <a:t> = ('physics', 'chemistry', 1997, 2000)</a:t>
            </a:r>
            <a:endParaRPr lang="en-IN" dirty="0"/>
          </a:p>
          <a:p>
            <a:r>
              <a:rPr lang="en-US" dirty="0" err="1" smtClean="0"/>
              <a:t>tup2</a:t>
            </a:r>
            <a:r>
              <a:rPr lang="en-US" dirty="0" smtClean="0"/>
              <a:t> </a:t>
            </a:r>
            <a:r>
              <a:rPr lang="en-US" dirty="0"/>
              <a:t>= (1, 2, 3, 4, 5 )</a:t>
            </a:r>
            <a:endParaRPr lang="en-IN" dirty="0"/>
          </a:p>
          <a:p>
            <a:r>
              <a:rPr lang="en-US" dirty="0" err="1" smtClean="0"/>
              <a:t>tup3</a:t>
            </a:r>
            <a:r>
              <a:rPr lang="en-US" dirty="0" smtClean="0"/>
              <a:t> </a:t>
            </a:r>
            <a:r>
              <a:rPr lang="en-US" dirty="0"/>
              <a:t>= "a", "b", "c", "d"</a:t>
            </a:r>
            <a:endParaRPr lang="en-IN" dirty="0"/>
          </a:p>
          <a:p>
            <a:r>
              <a:rPr lang="en-US" dirty="0"/>
              <a:t>The empty tuple is written as two parentheses containing nothing −</a:t>
            </a:r>
            <a:endParaRPr lang="en-IN" dirty="0"/>
          </a:p>
          <a:p>
            <a:r>
              <a:rPr lang="en-US" dirty="0" err="1"/>
              <a:t>tup1</a:t>
            </a:r>
            <a:r>
              <a:rPr lang="en-US" dirty="0"/>
              <a:t> = ();</a:t>
            </a:r>
            <a:endParaRPr lang="en-IN" dirty="0"/>
          </a:p>
          <a:p>
            <a:r>
              <a:rPr lang="en-US" dirty="0" smtClean="0"/>
              <a:t>To </a:t>
            </a:r>
            <a:r>
              <a:rPr lang="en-US" dirty="0"/>
              <a:t>write a tuple containing a single value you have to include a comma, even though there is only one value −</a:t>
            </a:r>
            <a:endParaRPr lang="en-IN" dirty="0"/>
          </a:p>
          <a:p>
            <a:r>
              <a:rPr lang="en-US" dirty="0" err="1"/>
              <a:t>tup1</a:t>
            </a:r>
            <a:r>
              <a:rPr lang="en-US" dirty="0"/>
              <a:t> = (50,)</a:t>
            </a:r>
            <a:endParaRPr lang="en-IN" dirty="0"/>
          </a:p>
          <a:p>
            <a:r>
              <a:rPr lang="en-US" dirty="0" smtClean="0"/>
              <a:t>Like </a:t>
            </a:r>
            <a:r>
              <a:rPr lang="en-US" dirty="0"/>
              <a:t>string indices, tuple indices start at 0, and they can be sliced, concatenated, and so on</a:t>
            </a:r>
            <a:r>
              <a:rPr lang="en-US" dirty="0" smtClean="0"/>
              <a:t>.</a:t>
            </a:r>
            <a:endParaRPr lang="en-IN" dirty="0"/>
          </a:p>
        </p:txBody>
      </p:sp>
    </p:spTree>
    <p:extLst>
      <p:ext uri="{BB962C8B-B14F-4D97-AF65-F5344CB8AC3E}">
        <p14:creationId xmlns="" xmlns:p14="http://schemas.microsoft.com/office/powerpoint/2010/main" val="166435658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Tuple</a:t>
            </a:r>
            <a:endParaRPr lang="en-US" dirty="0"/>
          </a:p>
        </p:txBody>
      </p:sp>
      <p:sp>
        <p:nvSpPr>
          <p:cNvPr id="4" name="TextBox 3"/>
          <p:cNvSpPr txBox="1"/>
          <p:nvPr/>
        </p:nvSpPr>
        <p:spPr>
          <a:xfrm>
            <a:off x="228600" y="932557"/>
            <a:ext cx="8763000" cy="4154984"/>
          </a:xfrm>
          <a:prstGeom prst="rect">
            <a:avLst/>
          </a:prstGeom>
          <a:noFill/>
        </p:spPr>
        <p:txBody>
          <a:bodyPr wrap="square" rtlCol="0">
            <a:spAutoFit/>
          </a:bodyPr>
          <a:lstStyle/>
          <a:p>
            <a:pPr marL="285750" indent="-285750" algn="just">
              <a:buFont typeface="Arial" panose="020B0604020202020204" pitchFamily="34" charset="0"/>
              <a:buChar char="•"/>
            </a:pPr>
            <a:r>
              <a:rPr lang="en-US" sz="2400" b="1" dirty="0"/>
              <a:t>Accessing Values in Tuples</a:t>
            </a:r>
          </a:p>
          <a:p>
            <a:pPr marL="285750" indent="-285750" algn="just">
              <a:buFont typeface="Arial" panose="020B0604020202020204" pitchFamily="34" charset="0"/>
              <a:buChar char="•"/>
            </a:pPr>
            <a:r>
              <a:rPr lang="en-US" sz="2400" dirty="0"/>
              <a:t>To access values in tuple, use the square brackets for slicing along with the index or indices to obtain the value available at that index. For example −</a:t>
            </a:r>
          </a:p>
          <a:p>
            <a:pPr algn="just"/>
            <a:r>
              <a:rPr lang="en-US" sz="2400" dirty="0" err="1" smtClean="0"/>
              <a:t>tup1</a:t>
            </a:r>
            <a:r>
              <a:rPr lang="en-US" sz="2400" dirty="0" smtClean="0"/>
              <a:t> </a:t>
            </a:r>
            <a:r>
              <a:rPr lang="en-US" sz="2400" dirty="0"/>
              <a:t>= ('physics', 'chemistry', 1997, 2000)</a:t>
            </a:r>
          </a:p>
          <a:p>
            <a:pPr algn="just"/>
            <a:r>
              <a:rPr lang="en-US" sz="2400" dirty="0" err="1" smtClean="0"/>
              <a:t>tup2</a:t>
            </a:r>
            <a:r>
              <a:rPr lang="en-US" sz="2400" dirty="0" smtClean="0"/>
              <a:t> </a:t>
            </a:r>
            <a:r>
              <a:rPr lang="en-US" sz="2400" dirty="0"/>
              <a:t>= (1, 2, 3, 4, 5, 6, 7 )</a:t>
            </a:r>
          </a:p>
          <a:p>
            <a:pPr algn="just"/>
            <a:r>
              <a:rPr lang="en-US" sz="2400" dirty="0" smtClean="0"/>
              <a:t>print </a:t>
            </a:r>
            <a:r>
              <a:rPr lang="en-US" sz="2400" dirty="0"/>
              <a:t>("</a:t>
            </a:r>
            <a:r>
              <a:rPr lang="en-US" sz="2400" dirty="0" err="1"/>
              <a:t>tup1</a:t>
            </a:r>
            <a:r>
              <a:rPr lang="en-US" sz="2400" dirty="0"/>
              <a:t>[0]: ", </a:t>
            </a:r>
            <a:r>
              <a:rPr lang="en-US" sz="2400" dirty="0" err="1"/>
              <a:t>tup1</a:t>
            </a:r>
            <a:r>
              <a:rPr lang="en-US" sz="2400" dirty="0"/>
              <a:t>[0])</a:t>
            </a:r>
          </a:p>
          <a:p>
            <a:pPr algn="just"/>
            <a:r>
              <a:rPr lang="en-US" sz="2400" dirty="0"/>
              <a:t>print ("</a:t>
            </a:r>
            <a:r>
              <a:rPr lang="en-US" sz="2400" dirty="0" err="1"/>
              <a:t>tup2</a:t>
            </a:r>
            <a:r>
              <a:rPr lang="en-US" sz="2400" dirty="0"/>
              <a:t>[1:5]: ", </a:t>
            </a:r>
            <a:r>
              <a:rPr lang="en-US" sz="2400" dirty="0" err="1"/>
              <a:t>tup2</a:t>
            </a:r>
            <a:r>
              <a:rPr lang="en-US" sz="2400" dirty="0"/>
              <a:t>[1:5])</a:t>
            </a:r>
          </a:p>
          <a:p>
            <a:pPr algn="just"/>
            <a:r>
              <a:rPr lang="en-US" sz="2400" dirty="0"/>
              <a:t>When the above code is executed, it produces the following result </a:t>
            </a:r>
            <a:r>
              <a:rPr lang="en-US" sz="2400" dirty="0" smtClean="0"/>
              <a:t>−</a:t>
            </a:r>
          </a:p>
          <a:p>
            <a:pPr algn="just"/>
            <a:r>
              <a:rPr lang="en-US" sz="2400" dirty="0" err="1"/>
              <a:t>tup1</a:t>
            </a:r>
            <a:r>
              <a:rPr lang="en-US" sz="2400" dirty="0"/>
              <a:t>[0]:  physics</a:t>
            </a:r>
          </a:p>
          <a:p>
            <a:pPr algn="just"/>
            <a:r>
              <a:rPr lang="en-US" sz="2400" dirty="0" err="1"/>
              <a:t>tup2</a:t>
            </a:r>
            <a:r>
              <a:rPr lang="en-US" sz="2400" dirty="0"/>
              <a:t>[1:5]:  (2, 3, 4, 5</a:t>
            </a:r>
            <a:r>
              <a:rPr lang="en-US" sz="2400" dirty="0" smtClean="0"/>
              <a:t>)</a:t>
            </a:r>
            <a:endParaRPr lang="en-US" sz="2400" dirty="0"/>
          </a:p>
        </p:txBody>
      </p:sp>
    </p:spTree>
    <p:extLst>
      <p:ext uri="{BB962C8B-B14F-4D97-AF65-F5344CB8AC3E}">
        <p14:creationId xmlns="" xmlns:p14="http://schemas.microsoft.com/office/powerpoint/2010/main" val="194805126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Tuple</a:t>
            </a:r>
            <a:endParaRPr lang="en-US" dirty="0"/>
          </a:p>
        </p:txBody>
      </p:sp>
      <p:sp>
        <p:nvSpPr>
          <p:cNvPr id="4" name="TextBox 3"/>
          <p:cNvSpPr txBox="1"/>
          <p:nvPr/>
        </p:nvSpPr>
        <p:spPr>
          <a:xfrm>
            <a:off x="228600" y="932557"/>
            <a:ext cx="8763000" cy="4801314"/>
          </a:xfrm>
          <a:prstGeom prst="rect">
            <a:avLst/>
          </a:prstGeom>
          <a:noFill/>
        </p:spPr>
        <p:txBody>
          <a:bodyPr wrap="square" rtlCol="0">
            <a:spAutoFit/>
          </a:bodyPr>
          <a:lstStyle/>
          <a:p>
            <a:pPr algn="just"/>
            <a:r>
              <a:rPr lang="en-US" b="1" dirty="0"/>
              <a:t>Updating Tuples ( not available)</a:t>
            </a:r>
            <a:endParaRPr lang="en-IN" b="1" dirty="0"/>
          </a:p>
          <a:p>
            <a:pPr algn="just"/>
            <a:r>
              <a:rPr lang="en-US" dirty="0"/>
              <a:t>Tuples are immutable, which means you cannot update or change the values of tuple elements. You are able to take portions of the existing tuples to create new tuples as the following example demonstrates −</a:t>
            </a:r>
            <a:endParaRPr lang="en-IN" dirty="0"/>
          </a:p>
          <a:p>
            <a:pPr algn="just"/>
            <a:r>
              <a:rPr lang="en-US" dirty="0"/>
              <a:t> </a:t>
            </a:r>
            <a:endParaRPr lang="en-IN" dirty="0"/>
          </a:p>
          <a:p>
            <a:pPr algn="just"/>
            <a:r>
              <a:rPr lang="en-US" dirty="0" err="1"/>
              <a:t>tup1</a:t>
            </a:r>
            <a:r>
              <a:rPr lang="en-US" dirty="0"/>
              <a:t> = (12, 34.56)</a:t>
            </a:r>
            <a:endParaRPr lang="en-IN" dirty="0"/>
          </a:p>
          <a:p>
            <a:pPr algn="just"/>
            <a:r>
              <a:rPr lang="en-US" dirty="0" err="1"/>
              <a:t>tup2</a:t>
            </a:r>
            <a:r>
              <a:rPr lang="en-US" dirty="0"/>
              <a:t> = ('</a:t>
            </a:r>
            <a:r>
              <a:rPr lang="en-US" dirty="0" err="1"/>
              <a:t>abc</a:t>
            </a:r>
            <a:r>
              <a:rPr lang="en-US" dirty="0"/>
              <a:t>', 'xyz')</a:t>
            </a:r>
            <a:endParaRPr lang="en-IN" dirty="0"/>
          </a:p>
          <a:p>
            <a:pPr algn="just"/>
            <a:r>
              <a:rPr lang="en-US" dirty="0"/>
              <a:t> </a:t>
            </a:r>
            <a:endParaRPr lang="en-IN" dirty="0"/>
          </a:p>
          <a:p>
            <a:pPr algn="just"/>
            <a:r>
              <a:rPr lang="en-US" dirty="0"/>
              <a:t># Following action is not valid for tuples  , it will give error</a:t>
            </a:r>
            <a:endParaRPr lang="en-IN" dirty="0"/>
          </a:p>
          <a:p>
            <a:pPr algn="just"/>
            <a:r>
              <a:rPr lang="en-US" dirty="0"/>
              <a:t># </a:t>
            </a:r>
            <a:r>
              <a:rPr lang="en-US" dirty="0" err="1"/>
              <a:t>tup1</a:t>
            </a:r>
            <a:r>
              <a:rPr lang="en-US" dirty="0"/>
              <a:t>[0] = 100;</a:t>
            </a:r>
            <a:endParaRPr lang="en-IN" dirty="0"/>
          </a:p>
          <a:p>
            <a:pPr algn="just"/>
            <a:r>
              <a:rPr lang="en-US" dirty="0"/>
              <a:t> </a:t>
            </a:r>
            <a:endParaRPr lang="en-IN" dirty="0"/>
          </a:p>
          <a:p>
            <a:pPr algn="just"/>
            <a:r>
              <a:rPr lang="en-US" dirty="0"/>
              <a:t># So let's create a new tuple as follows</a:t>
            </a:r>
            <a:endParaRPr lang="en-IN" dirty="0"/>
          </a:p>
          <a:p>
            <a:pPr algn="just"/>
            <a:r>
              <a:rPr lang="en-US" dirty="0" err="1"/>
              <a:t>tup3</a:t>
            </a:r>
            <a:r>
              <a:rPr lang="en-US" dirty="0"/>
              <a:t> = </a:t>
            </a:r>
            <a:r>
              <a:rPr lang="en-US" dirty="0" err="1"/>
              <a:t>tup1</a:t>
            </a:r>
            <a:r>
              <a:rPr lang="en-US" dirty="0"/>
              <a:t> + </a:t>
            </a:r>
            <a:r>
              <a:rPr lang="en-US" dirty="0" err="1"/>
              <a:t>tup2</a:t>
            </a:r>
            <a:endParaRPr lang="en-IN" dirty="0"/>
          </a:p>
          <a:p>
            <a:pPr algn="just"/>
            <a:r>
              <a:rPr lang="en-US" dirty="0"/>
              <a:t>print (</a:t>
            </a:r>
            <a:r>
              <a:rPr lang="en-US" dirty="0" err="1"/>
              <a:t>tup3</a:t>
            </a:r>
            <a:r>
              <a:rPr lang="en-US" dirty="0"/>
              <a:t>)</a:t>
            </a:r>
            <a:endParaRPr lang="en-IN" dirty="0"/>
          </a:p>
          <a:p>
            <a:pPr algn="just"/>
            <a:r>
              <a:rPr lang="en-US" dirty="0"/>
              <a:t>When the above code is executed, it produces the following result −</a:t>
            </a:r>
            <a:endParaRPr lang="en-IN" dirty="0"/>
          </a:p>
          <a:p>
            <a:pPr algn="just"/>
            <a:r>
              <a:rPr lang="en-US" dirty="0"/>
              <a:t>(12, 34.56, '</a:t>
            </a:r>
            <a:r>
              <a:rPr lang="en-US" dirty="0" err="1"/>
              <a:t>abc</a:t>
            </a:r>
            <a:r>
              <a:rPr lang="en-US" dirty="0"/>
              <a:t>', 'xyz')</a:t>
            </a:r>
            <a:endParaRPr lang="en-IN" dirty="0"/>
          </a:p>
          <a:p>
            <a:pPr algn="just"/>
            <a:r>
              <a:rPr lang="en-US" dirty="0"/>
              <a:t> </a:t>
            </a:r>
            <a:endParaRPr lang="en-IN" dirty="0"/>
          </a:p>
        </p:txBody>
      </p:sp>
    </p:spTree>
    <p:extLst>
      <p:ext uri="{BB962C8B-B14F-4D97-AF65-F5344CB8AC3E}">
        <p14:creationId xmlns="" xmlns:p14="http://schemas.microsoft.com/office/powerpoint/2010/main" val="72155320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Tuple</a:t>
            </a:r>
            <a:endParaRPr lang="en-US" dirty="0"/>
          </a:p>
        </p:txBody>
      </p:sp>
      <p:sp>
        <p:nvSpPr>
          <p:cNvPr id="4" name="TextBox 3"/>
          <p:cNvSpPr txBox="1"/>
          <p:nvPr/>
        </p:nvSpPr>
        <p:spPr>
          <a:xfrm>
            <a:off x="228600" y="932557"/>
            <a:ext cx="8763000" cy="5355312"/>
          </a:xfrm>
          <a:prstGeom prst="rect">
            <a:avLst/>
          </a:prstGeom>
          <a:noFill/>
        </p:spPr>
        <p:txBody>
          <a:bodyPr wrap="square" rtlCol="0">
            <a:spAutoFit/>
          </a:bodyPr>
          <a:lstStyle/>
          <a:p>
            <a:r>
              <a:rPr lang="en-US" b="1" dirty="0"/>
              <a:t>Delete Tuple Elements</a:t>
            </a:r>
            <a:endParaRPr lang="en-IN" b="1" dirty="0"/>
          </a:p>
          <a:p>
            <a:r>
              <a:rPr lang="en-US" dirty="0"/>
              <a:t>Removing individual tuple elements is not possible. There is, of course, nothing wrong with putting together another tuple with the undesired elements discarded.</a:t>
            </a:r>
            <a:endParaRPr lang="en-IN" dirty="0"/>
          </a:p>
          <a:p>
            <a:r>
              <a:rPr lang="en-US" dirty="0"/>
              <a:t>To explicitly remove an entire tuple, just use the del statement. For example −</a:t>
            </a:r>
            <a:endParaRPr lang="en-IN" dirty="0"/>
          </a:p>
          <a:p>
            <a:r>
              <a:rPr lang="en-US" dirty="0"/>
              <a:t> </a:t>
            </a:r>
            <a:endParaRPr lang="en-IN" dirty="0"/>
          </a:p>
          <a:p>
            <a:r>
              <a:rPr lang="en-US" dirty="0" err="1"/>
              <a:t>tup</a:t>
            </a:r>
            <a:r>
              <a:rPr lang="en-US" dirty="0"/>
              <a:t> = ('physics', 'chemistry', 1997, 2000);</a:t>
            </a:r>
            <a:endParaRPr lang="en-IN" dirty="0"/>
          </a:p>
          <a:p>
            <a:r>
              <a:rPr lang="en-US" dirty="0"/>
              <a:t> </a:t>
            </a:r>
            <a:endParaRPr lang="en-IN" dirty="0"/>
          </a:p>
          <a:p>
            <a:r>
              <a:rPr lang="en-US" dirty="0"/>
              <a:t>print (</a:t>
            </a:r>
            <a:r>
              <a:rPr lang="en-US" dirty="0" err="1"/>
              <a:t>tup</a:t>
            </a:r>
            <a:r>
              <a:rPr lang="en-US" dirty="0"/>
              <a:t>)</a:t>
            </a:r>
            <a:endParaRPr lang="en-IN" dirty="0"/>
          </a:p>
          <a:p>
            <a:r>
              <a:rPr lang="en-US" dirty="0"/>
              <a:t>del </a:t>
            </a:r>
            <a:r>
              <a:rPr lang="en-US" dirty="0" err="1"/>
              <a:t>tup</a:t>
            </a:r>
            <a:r>
              <a:rPr lang="en-US" dirty="0"/>
              <a:t>;</a:t>
            </a:r>
            <a:endParaRPr lang="en-IN" dirty="0"/>
          </a:p>
          <a:p>
            <a:r>
              <a:rPr lang="en-US" dirty="0"/>
              <a:t>print ("After deleting </a:t>
            </a:r>
            <a:r>
              <a:rPr lang="en-US" dirty="0" err="1"/>
              <a:t>tup</a:t>
            </a:r>
            <a:r>
              <a:rPr lang="en-US" dirty="0"/>
              <a:t> : ")</a:t>
            </a:r>
            <a:endParaRPr lang="en-IN" dirty="0"/>
          </a:p>
          <a:p>
            <a:r>
              <a:rPr lang="en-US" dirty="0"/>
              <a:t>print (</a:t>
            </a:r>
            <a:r>
              <a:rPr lang="en-US" dirty="0" err="1"/>
              <a:t>tup</a:t>
            </a:r>
            <a:r>
              <a:rPr lang="en-US" dirty="0"/>
              <a:t>)</a:t>
            </a:r>
            <a:endParaRPr lang="en-IN" dirty="0"/>
          </a:p>
          <a:p>
            <a:r>
              <a:rPr lang="en-US" dirty="0"/>
              <a:t>This produces the following result.</a:t>
            </a:r>
            <a:endParaRPr lang="en-IN" dirty="0"/>
          </a:p>
          <a:p>
            <a:r>
              <a:rPr lang="en-US" dirty="0"/>
              <a:t>Note − An exception is raised. This is because after del </a:t>
            </a:r>
            <a:r>
              <a:rPr lang="en-US" dirty="0" err="1"/>
              <a:t>tup</a:t>
            </a:r>
            <a:r>
              <a:rPr lang="en-US" dirty="0"/>
              <a:t>, tuple does not exist any more.</a:t>
            </a:r>
            <a:endParaRPr lang="en-IN" dirty="0"/>
          </a:p>
          <a:p>
            <a:r>
              <a:rPr lang="en-US" dirty="0"/>
              <a:t>('physics', 'chemistry', 1997, 2000)</a:t>
            </a:r>
            <a:endParaRPr lang="en-IN" dirty="0"/>
          </a:p>
          <a:p>
            <a:r>
              <a:rPr lang="en-US" dirty="0"/>
              <a:t>After deleting </a:t>
            </a:r>
            <a:r>
              <a:rPr lang="en-US" dirty="0" err="1"/>
              <a:t>tup</a:t>
            </a:r>
            <a:r>
              <a:rPr lang="en-US" dirty="0"/>
              <a:t> :</a:t>
            </a:r>
            <a:endParaRPr lang="en-IN" dirty="0"/>
          </a:p>
          <a:p>
            <a:r>
              <a:rPr lang="en-US" dirty="0" err="1"/>
              <a:t>Traceback</a:t>
            </a:r>
            <a:r>
              <a:rPr lang="en-US" dirty="0"/>
              <a:t> (most recent call last):</a:t>
            </a:r>
            <a:endParaRPr lang="en-IN" dirty="0"/>
          </a:p>
          <a:p>
            <a:r>
              <a:rPr lang="en-US" dirty="0"/>
              <a:t>   File "</a:t>
            </a:r>
            <a:r>
              <a:rPr lang="en-US" dirty="0" err="1"/>
              <a:t>test.py</a:t>
            </a:r>
            <a:r>
              <a:rPr lang="en-US" dirty="0"/>
              <a:t>", line 9, in &lt;module&gt;</a:t>
            </a:r>
            <a:endParaRPr lang="en-IN" dirty="0"/>
          </a:p>
          <a:p>
            <a:r>
              <a:rPr lang="en-US" dirty="0"/>
              <a:t>      print </a:t>
            </a:r>
            <a:r>
              <a:rPr lang="en-US" dirty="0" err="1"/>
              <a:t>tup</a:t>
            </a:r>
            <a:r>
              <a:rPr lang="en-US" dirty="0"/>
              <a:t>;</a:t>
            </a:r>
            <a:endParaRPr lang="en-IN" dirty="0"/>
          </a:p>
          <a:p>
            <a:r>
              <a:rPr lang="en-US" dirty="0" err="1"/>
              <a:t>NameError</a:t>
            </a:r>
            <a:r>
              <a:rPr lang="en-US" dirty="0"/>
              <a:t>: name '</a:t>
            </a:r>
            <a:r>
              <a:rPr lang="en-US" dirty="0" err="1"/>
              <a:t>tup</a:t>
            </a:r>
            <a:r>
              <a:rPr lang="en-US" dirty="0"/>
              <a:t>' is not defined</a:t>
            </a:r>
            <a:endParaRPr lang="en-IN" dirty="0"/>
          </a:p>
        </p:txBody>
      </p:sp>
    </p:spTree>
    <p:extLst>
      <p:ext uri="{BB962C8B-B14F-4D97-AF65-F5344CB8AC3E}">
        <p14:creationId xmlns="" xmlns:p14="http://schemas.microsoft.com/office/powerpoint/2010/main" val="1510479436"/>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Tuple</a:t>
            </a:r>
            <a:endParaRPr lang="en-US" dirty="0"/>
          </a:p>
        </p:txBody>
      </p:sp>
      <p:sp>
        <p:nvSpPr>
          <p:cNvPr id="4" name="TextBox 3"/>
          <p:cNvSpPr txBox="1"/>
          <p:nvPr/>
        </p:nvSpPr>
        <p:spPr>
          <a:xfrm>
            <a:off x="228600" y="932557"/>
            <a:ext cx="8763000" cy="1477328"/>
          </a:xfrm>
          <a:prstGeom prst="rect">
            <a:avLst/>
          </a:prstGeom>
          <a:noFill/>
        </p:spPr>
        <p:txBody>
          <a:bodyPr wrap="square" rtlCol="0">
            <a:spAutoFit/>
          </a:bodyPr>
          <a:lstStyle/>
          <a:p>
            <a:pPr algn="just"/>
            <a:r>
              <a:rPr lang="en-US" b="1" dirty="0"/>
              <a:t>Basic Tuples Operations</a:t>
            </a:r>
            <a:endParaRPr lang="en-IN" b="1" dirty="0"/>
          </a:p>
          <a:p>
            <a:pPr algn="just"/>
            <a:r>
              <a:rPr lang="en-US" dirty="0"/>
              <a:t>Tuples respond to the + and * operators much like strings; they mean concatenation and repetition here too, except that the result is a new tuple, not a string.</a:t>
            </a:r>
            <a:endParaRPr lang="en-IN" dirty="0"/>
          </a:p>
          <a:p>
            <a:pPr algn="just"/>
            <a:r>
              <a:rPr lang="en-US" dirty="0"/>
              <a:t>In fact, tuples respond to all of the general sequence operations we used on strings in the previous chapter.</a:t>
            </a:r>
            <a:endParaRPr lang="en-IN" dirty="0"/>
          </a:p>
        </p:txBody>
      </p:sp>
      <p:graphicFrame>
        <p:nvGraphicFramePr>
          <p:cNvPr id="3" name="Table 2"/>
          <p:cNvGraphicFramePr>
            <a:graphicFrameLocks noGrp="1"/>
          </p:cNvGraphicFramePr>
          <p:nvPr>
            <p:extLst>
              <p:ext uri="{D42A27DB-BD31-4B8C-83A1-F6EECF244321}">
                <p14:modId xmlns="" xmlns:p14="http://schemas.microsoft.com/office/powerpoint/2010/main" val="57940177"/>
              </p:ext>
            </p:extLst>
          </p:nvPr>
        </p:nvGraphicFramePr>
        <p:xfrm>
          <a:off x="685800" y="2626836"/>
          <a:ext cx="7848599" cy="3773964"/>
        </p:xfrm>
        <a:graphic>
          <a:graphicData uri="http://schemas.openxmlformats.org/drawingml/2006/table">
            <a:tbl>
              <a:tblPr>
                <a:tableStyleId>{5C22544A-7EE6-4342-B048-85BDC9FD1C3A}</a:tableStyleId>
              </a:tblPr>
              <a:tblGrid>
                <a:gridCol w="3691896">
                  <a:extLst>
                    <a:ext uri="{9D8B030D-6E8A-4147-A177-3AD203B41FA5}">
                      <a16:colId xmlns="" xmlns:a16="http://schemas.microsoft.com/office/drawing/2014/main" val="1835657385"/>
                    </a:ext>
                  </a:extLst>
                </a:gridCol>
                <a:gridCol w="2350596">
                  <a:extLst>
                    <a:ext uri="{9D8B030D-6E8A-4147-A177-3AD203B41FA5}">
                      <a16:colId xmlns="" xmlns:a16="http://schemas.microsoft.com/office/drawing/2014/main" val="2469466762"/>
                    </a:ext>
                  </a:extLst>
                </a:gridCol>
                <a:gridCol w="1806107">
                  <a:extLst>
                    <a:ext uri="{9D8B030D-6E8A-4147-A177-3AD203B41FA5}">
                      <a16:colId xmlns="" xmlns:a16="http://schemas.microsoft.com/office/drawing/2014/main" val="3598897313"/>
                    </a:ext>
                  </a:extLst>
                </a:gridCol>
              </a:tblGrid>
              <a:tr h="628994">
                <a:tc>
                  <a:txBody>
                    <a:bodyPr/>
                    <a:lstStyle/>
                    <a:p>
                      <a:pPr algn="ctr">
                        <a:lnSpc>
                          <a:spcPct val="142000"/>
                        </a:lnSpc>
                        <a:spcAft>
                          <a:spcPts val="1500"/>
                        </a:spcAft>
                      </a:pPr>
                      <a:r>
                        <a:rPr lang="en-US" sz="1800">
                          <a:effectLst/>
                          <a:highlight>
                            <a:srgbClr val="FFFFFF"/>
                          </a:highlight>
                        </a:rPr>
                        <a:t>Python Expression</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Results</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Description</a:t>
                      </a:r>
                      <a:endParaRPr lang="en-IN" sz="16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1379736870"/>
                  </a:ext>
                </a:extLst>
              </a:tr>
              <a:tr h="628994">
                <a:tc>
                  <a:txBody>
                    <a:bodyPr/>
                    <a:lstStyle/>
                    <a:p>
                      <a:pPr algn="ctr">
                        <a:lnSpc>
                          <a:spcPct val="142000"/>
                        </a:lnSpc>
                        <a:spcAft>
                          <a:spcPts val="1500"/>
                        </a:spcAft>
                      </a:pPr>
                      <a:r>
                        <a:rPr lang="en-US" sz="1800">
                          <a:effectLst/>
                          <a:highlight>
                            <a:srgbClr val="FFFFFF"/>
                          </a:highlight>
                        </a:rPr>
                        <a:t>len((1, 2, 3))</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3</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Length</a:t>
                      </a:r>
                      <a:endParaRPr lang="en-IN" sz="16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1977394497"/>
                  </a:ext>
                </a:extLst>
              </a:tr>
              <a:tr h="628994">
                <a:tc>
                  <a:txBody>
                    <a:bodyPr/>
                    <a:lstStyle/>
                    <a:p>
                      <a:pPr algn="ctr">
                        <a:lnSpc>
                          <a:spcPct val="142000"/>
                        </a:lnSpc>
                        <a:spcAft>
                          <a:spcPts val="1500"/>
                        </a:spcAft>
                      </a:pPr>
                      <a:r>
                        <a:rPr lang="en-US" sz="1800">
                          <a:effectLst/>
                          <a:highlight>
                            <a:srgbClr val="FFFFFF"/>
                          </a:highlight>
                        </a:rPr>
                        <a:t>(1, 2, 3) + (4, 5, 6)</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(1, 2, 3, 4, 5, 6)</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Concatenation</a:t>
                      </a:r>
                      <a:endParaRPr lang="en-IN" sz="16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2930129000"/>
                  </a:ext>
                </a:extLst>
              </a:tr>
              <a:tr h="628994">
                <a:tc>
                  <a:txBody>
                    <a:bodyPr/>
                    <a:lstStyle/>
                    <a:p>
                      <a:pPr algn="ctr">
                        <a:lnSpc>
                          <a:spcPct val="142000"/>
                        </a:lnSpc>
                        <a:spcAft>
                          <a:spcPts val="1500"/>
                        </a:spcAft>
                      </a:pPr>
                      <a:r>
                        <a:rPr lang="en-US" sz="1800" dirty="0">
                          <a:effectLst/>
                          <a:highlight>
                            <a:srgbClr val="FFFFFF"/>
                          </a:highlight>
                        </a:rPr>
                        <a:t>('Hi!',) * 4</a:t>
                      </a:r>
                      <a:endParaRPr lang="en-IN" sz="1600" dirty="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('Hi!', 'Hi!', 'Hi!', 'Hi!')</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Repetition</a:t>
                      </a:r>
                      <a:endParaRPr lang="en-IN" sz="16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615130172"/>
                  </a:ext>
                </a:extLst>
              </a:tr>
              <a:tr h="628994">
                <a:tc>
                  <a:txBody>
                    <a:bodyPr/>
                    <a:lstStyle/>
                    <a:p>
                      <a:pPr algn="ctr">
                        <a:lnSpc>
                          <a:spcPct val="142000"/>
                        </a:lnSpc>
                        <a:spcAft>
                          <a:spcPts val="1500"/>
                        </a:spcAft>
                      </a:pPr>
                      <a:r>
                        <a:rPr lang="en-US" sz="1800">
                          <a:effectLst/>
                          <a:highlight>
                            <a:srgbClr val="FFFFFF"/>
                          </a:highlight>
                        </a:rPr>
                        <a:t>3 in (1, 2, 3)</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True</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Membership</a:t>
                      </a:r>
                      <a:endParaRPr lang="en-IN" sz="16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2774165655"/>
                  </a:ext>
                </a:extLst>
              </a:tr>
              <a:tr h="628994">
                <a:tc>
                  <a:txBody>
                    <a:bodyPr/>
                    <a:lstStyle/>
                    <a:p>
                      <a:pPr algn="ctr">
                        <a:lnSpc>
                          <a:spcPct val="142000"/>
                        </a:lnSpc>
                        <a:spcAft>
                          <a:spcPts val="1500"/>
                        </a:spcAft>
                      </a:pPr>
                      <a:r>
                        <a:rPr lang="en-US" sz="1800">
                          <a:effectLst/>
                          <a:highlight>
                            <a:srgbClr val="FFFFFF"/>
                          </a:highlight>
                        </a:rPr>
                        <a:t>for x in (1,2,3) : print (x, end = ' ')</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a:effectLst/>
                          <a:highlight>
                            <a:srgbClr val="FFFFFF"/>
                          </a:highlight>
                        </a:rPr>
                        <a:t>1 2 3</a:t>
                      </a:r>
                      <a:endParaRPr lang="en-IN" sz="16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1800" dirty="0">
                          <a:effectLst/>
                          <a:highlight>
                            <a:srgbClr val="FFFFFF"/>
                          </a:highlight>
                        </a:rPr>
                        <a:t>Iteration</a:t>
                      </a:r>
                      <a:endParaRPr lang="en-IN" sz="1600" dirty="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3301239936"/>
                  </a:ext>
                </a:extLst>
              </a:tr>
            </a:tbl>
          </a:graphicData>
        </a:graphic>
      </p:graphicFrame>
    </p:spTree>
    <p:extLst>
      <p:ext uri="{BB962C8B-B14F-4D97-AF65-F5344CB8AC3E}">
        <p14:creationId xmlns="" xmlns:p14="http://schemas.microsoft.com/office/powerpoint/2010/main" val="3387149415"/>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Indexing, Slicing and Matrixes</a:t>
            </a:r>
            <a:endParaRPr lang="en-US" dirty="0"/>
          </a:p>
        </p:txBody>
      </p:sp>
      <p:sp>
        <p:nvSpPr>
          <p:cNvPr id="4" name="TextBox 3"/>
          <p:cNvSpPr txBox="1"/>
          <p:nvPr/>
        </p:nvSpPr>
        <p:spPr>
          <a:xfrm>
            <a:off x="228600" y="932557"/>
            <a:ext cx="8763000" cy="1569660"/>
          </a:xfrm>
          <a:prstGeom prst="rect">
            <a:avLst/>
          </a:prstGeom>
          <a:noFill/>
        </p:spPr>
        <p:txBody>
          <a:bodyPr wrap="square" rtlCol="0">
            <a:spAutoFit/>
          </a:bodyPr>
          <a:lstStyle/>
          <a:p>
            <a:pPr marL="342900" lvl="0" indent="-342900" algn="just">
              <a:buFont typeface="Arial" panose="020B0604020202020204" pitchFamily="34" charset="0"/>
              <a:buChar char="•"/>
            </a:pPr>
            <a:r>
              <a:rPr lang="en-US" sz="2400" b="1" dirty="0"/>
              <a:t>Since tuples are sequences, indexing and slicing work the same way for tuples as they do for strings, assuming the following input −</a:t>
            </a:r>
          </a:p>
          <a:p>
            <a:pPr marL="342900" lvl="0" indent="-342900" algn="just">
              <a:buFont typeface="Arial" panose="020B0604020202020204" pitchFamily="34" charset="0"/>
              <a:buChar char="•"/>
            </a:pPr>
            <a:r>
              <a:rPr lang="en-US" sz="2400" b="1" dirty="0"/>
              <a:t>T=('C++', 'Java', 'Python')</a:t>
            </a:r>
          </a:p>
        </p:txBody>
      </p:sp>
      <p:graphicFrame>
        <p:nvGraphicFramePr>
          <p:cNvPr id="3" name="Table 2"/>
          <p:cNvGraphicFramePr>
            <a:graphicFrameLocks noGrp="1"/>
          </p:cNvGraphicFramePr>
          <p:nvPr>
            <p:extLst>
              <p:ext uri="{D42A27DB-BD31-4B8C-83A1-F6EECF244321}">
                <p14:modId xmlns="" xmlns:p14="http://schemas.microsoft.com/office/powerpoint/2010/main" val="2960794960"/>
              </p:ext>
            </p:extLst>
          </p:nvPr>
        </p:nvGraphicFramePr>
        <p:xfrm>
          <a:off x="685800" y="2819400"/>
          <a:ext cx="7848599" cy="3505200"/>
        </p:xfrm>
        <a:graphic>
          <a:graphicData uri="http://schemas.openxmlformats.org/drawingml/2006/table">
            <a:tbl>
              <a:tblPr>
                <a:tableStyleId>{5C22544A-7EE6-4342-B048-85BDC9FD1C3A}</a:tableStyleId>
              </a:tblPr>
              <a:tblGrid>
                <a:gridCol w="2430277">
                  <a:extLst>
                    <a:ext uri="{9D8B030D-6E8A-4147-A177-3AD203B41FA5}">
                      <a16:colId xmlns="" xmlns:a16="http://schemas.microsoft.com/office/drawing/2014/main" val="3365196162"/>
                    </a:ext>
                  </a:extLst>
                </a:gridCol>
                <a:gridCol w="1992030">
                  <a:extLst>
                    <a:ext uri="{9D8B030D-6E8A-4147-A177-3AD203B41FA5}">
                      <a16:colId xmlns="" xmlns:a16="http://schemas.microsoft.com/office/drawing/2014/main" val="2281676603"/>
                    </a:ext>
                  </a:extLst>
                </a:gridCol>
                <a:gridCol w="3426292">
                  <a:extLst>
                    <a:ext uri="{9D8B030D-6E8A-4147-A177-3AD203B41FA5}">
                      <a16:colId xmlns="" xmlns:a16="http://schemas.microsoft.com/office/drawing/2014/main" val="3586928952"/>
                    </a:ext>
                  </a:extLst>
                </a:gridCol>
              </a:tblGrid>
              <a:tr h="876300">
                <a:tc>
                  <a:txBody>
                    <a:bodyPr/>
                    <a:lstStyle/>
                    <a:p>
                      <a:pPr algn="ctr">
                        <a:lnSpc>
                          <a:spcPct val="142000"/>
                        </a:lnSpc>
                        <a:spcAft>
                          <a:spcPts val="1500"/>
                        </a:spcAft>
                      </a:pPr>
                      <a:r>
                        <a:rPr lang="en-US" sz="2000">
                          <a:effectLst/>
                          <a:highlight>
                            <a:srgbClr val="FFFFFF"/>
                          </a:highlight>
                        </a:rPr>
                        <a:t>Python Expression</a:t>
                      </a:r>
                      <a:endParaRPr lang="en-IN" sz="18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2000">
                          <a:effectLst/>
                          <a:highlight>
                            <a:srgbClr val="FFFFFF"/>
                          </a:highlight>
                        </a:rPr>
                        <a:t>Results</a:t>
                      </a:r>
                      <a:endParaRPr lang="en-IN" sz="18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2000">
                          <a:effectLst/>
                          <a:highlight>
                            <a:srgbClr val="FFFFFF"/>
                          </a:highlight>
                        </a:rPr>
                        <a:t>Description</a:t>
                      </a:r>
                      <a:endParaRPr lang="en-IN" sz="18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18055407"/>
                  </a:ext>
                </a:extLst>
              </a:tr>
              <a:tr h="876300">
                <a:tc>
                  <a:txBody>
                    <a:bodyPr/>
                    <a:lstStyle/>
                    <a:p>
                      <a:pPr algn="ctr">
                        <a:lnSpc>
                          <a:spcPct val="142000"/>
                        </a:lnSpc>
                        <a:spcAft>
                          <a:spcPts val="1500"/>
                        </a:spcAft>
                      </a:pPr>
                      <a:r>
                        <a:rPr lang="en-US" sz="2000">
                          <a:effectLst/>
                          <a:highlight>
                            <a:srgbClr val="FFFFFF"/>
                          </a:highlight>
                        </a:rPr>
                        <a:t>T[2]</a:t>
                      </a:r>
                      <a:endParaRPr lang="en-IN" sz="18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2000">
                          <a:effectLst/>
                          <a:highlight>
                            <a:srgbClr val="FFFFFF"/>
                          </a:highlight>
                        </a:rPr>
                        <a:t>'Python'</a:t>
                      </a:r>
                      <a:endParaRPr lang="en-IN" sz="18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2000" dirty="0">
                          <a:effectLst/>
                          <a:highlight>
                            <a:srgbClr val="FFFFFF"/>
                          </a:highlight>
                        </a:rPr>
                        <a:t>Offsets start at zero</a:t>
                      </a:r>
                      <a:endParaRPr lang="en-IN" sz="1800" dirty="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2986678118"/>
                  </a:ext>
                </a:extLst>
              </a:tr>
              <a:tr h="876300">
                <a:tc>
                  <a:txBody>
                    <a:bodyPr/>
                    <a:lstStyle/>
                    <a:p>
                      <a:pPr algn="ctr">
                        <a:lnSpc>
                          <a:spcPct val="142000"/>
                        </a:lnSpc>
                        <a:spcAft>
                          <a:spcPts val="1500"/>
                        </a:spcAft>
                      </a:pPr>
                      <a:r>
                        <a:rPr lang="en-US" sz="2000">
                          <a:effectLst/>
                          <a:highlight>
                            <a:srgbClr val="FFFFFF"/>
                          </a:highlight>
                        </a:rPr>
                        <a:t>T[-2]</a:t>
                      </a:r>
                      <a:endParaRPr lang="en-IN" sz="18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2000">
                          <a:effectLst/>
                          <a:highlight>
                            <a:srgbClr val="FFFFFF"/>
                          </a:highlight>
                        </a:rPr>
                        <a:t>'Java'</a:t>
                      </a:r>
                      <a:endParaRPr lang="en-IN" sz="18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2000">
                          <a:effectLst/>
                          <a:highlight>
                            <a:srgbClr val="FFFFFF"/>
                          </a:highlight>
                        </a:rPr>
                        <a:t>Negative: count from the right</a:t>
                      </a:r>
                      <a:endParaRPr lang="en-IN" sz="180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3360128746"/>
                  </a:ext>
                </a:extLst>
              </a:tr>
              <a:tr h="876300">
                <a:tc>
                  <a:txBody>
                    <a:bodyPr/>
                    <a:lstStyle/>
                    <a:p>
                      <a:pPr algn="ctr">
                        <a:lnSpc>
                          <a:spcPct val="142000"/>
                        </a:lnSpc>
                        <a:spcAft>
                          <a:spcPts val="1500"/>
                        </a:spcAft>
                      </a:pPr>
                      <a:r>
                        <a:rPr lang="en-US" sz="2000">
                          <a:effectLst/>
                          <a:highlight>
                            <a:srgbClr val="FFFFFF"/>
                          </a:highlight>
                        </a:rPr>
                        <a:t>T[1:]</a:t>
                      </a:r>
                      <a:endParaRPr lang="en-IN" sz="18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2000">
                          <a:effectLst/>
                          <a:highlight>
                            <a:srgbClr val="FFFFFF"/>
                          </a:highlight>
                        </a:rPr>
                        <a:t>('Java', 'Python')</a:t>
                      </a:r>
                      <a:endParaRPr lang="en-IN" sz="1800">
                        <a:effectLst/>
                        <a:latin typeface="Arial" panose="020B0604020202020204" pitchFamily="34" charset="0"/>
                        <a:ea typeface="Arial" panose="020B0604020202020204" pitchFamily="34" charset="0"/>
                      </a:endParaRPr>
                    </a:p>
                  </a:txBody>
                  <a:tcPr marL="76200" marR="76200" marT="76200" marB="76200"/>
                </a:tc>
                <a:tc>
                  <a:txBody>
                    <a:bodyPr/>
                    <a:lstStyle/>
                    <a:p>
                      <a:pPr algn="ctr">
                        <a:lnSpc>
                          <a:spcPct val="142000"/>
                        </a:lnSpc>
                        <a:spcAft>
                          <a:spcPts val="1500"/>
                        </a:spcAft>
                      </a:pPr>
                      <a:r>
                        <a:rPr lang="en-US" sz="2000" dirty="0">
                          <a:effectLst/>
                          <a:highlight>
                            <a:srgbClr val="FFFFFF"/>
                          </a:highlight>
                        </a:rPr>
                        <a:t>Slicing fetches sections</a:t>
                      </a:r>
                      <a:endParaRPr lang="en-IN" sz="1800" dirty="0">
                        <a:effectLst/>
                        <a:latin typeface="Arial" panose="020B0604020202020204" pitchFamily="34" charset="0"/>
                        <a:ea typeface="Arial" panose="020B0604020202020204" pitchFamily="34" charset="0"/>
                      </a:endParaRPr>
                    </a:p>
                  </a:txBody>
                  <a:tcPr marL="76200" marR="76200" marT="76200" marB="76200"/>
                </a:tc>
                <a:extLst>
                  <a:ext uri="{0D108BD9-81ED-4DB2-BD59-A6C34878D82A}">
                    <a16:rowId xmlns="" xmlns:a16="http://schemas.microsoft.com/office/drawing/2014/main" val="3047104410"/>
                  </a:ext>
                </a:extLst>
              </a:tr>
            </a:tbl>
          </a:graphicData>
        </a:graphic>
      </p:graphicFrame>
    </p:spTree>
    <p:extLst>
      <p:ext uri="{BB962C8B-B14F-4D97-AF65-F5344CB8AC3E}">
        <p14:creationId xmlns="" xmlns:p14="http://schemas.microsoft.com/office/powerpoint/2010/main" val="280366044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Dictionary</a:t>
            </a:r>
            <a:endParaRPr lang="en-US" dirty="0"/>
          </a:p>
        </p:txBody>
      </p:sp>
      <p:sp>
        <p:nvSpPr>
          <p:cNvPr id="4" name="TextBox 3"/>
          <p:cNvSpPr txBox="1"/>
          <p:nvPr/>
        </p:nvSpPr>
        <p:spPr>
          <a:xfrm>
            <a:off x="228600" y="932557"/>
            <a:ext cx="8763000" cy="3046988"/>
          </a:xfrm>
          <a:prstGeom prst="rect">
            <a:avLst/>
          </a:prstGeom>
          <a:noFill/>
        </p:spPr>
        <p:txBody>
          <a:bodyPr wrap="square" rtlCol="0">
            <a:spAutoFit/>
          </a:bodyPr>
          <a:lstStyle/>
          <a:p>
            <a:pPr marL="342900" lvl="0" indent="-342900" algn="just">
              <a:buFont typeface="Arial" panose="020B0604020202020204" pitchFamily="34" charset="0"/>
              <a:buChar char="•"/>
            </a:pPr>
            <a:r>
              <a:rPr lang="en-US" sz="2400" b="1" dirty="0" smtClean="0"/>
              <a:t>Each </a:t>
            </a:r>
            <a:r>
              <a:rPr lang="en-US" sz="2400" b="1" dirty="0"/>
              <a:t>key is separated from its value by a colon (:), the items are separated by commas, and the whole thing is enclosed in curly braces. </a:t>
            </a:r>
          </a:p>
          <a:p>
            <a:pPr marL="342900" lvl="0" indent="-342900" algn="just">
              <a:buFont typeface="Arial" panose="020B0604020202020204" pitchFamily="34" charset="0"/>
              <a:buChar char="•"/>
            </a:pPr>
            <a:r>
              <a:rPr lang="en-US" sz="2400" b="1" dirty="0" smtClean="0"/>
              <a:t>An </a:t>
            </a:r>
            <a:r>
              <a:rPr lang="en-US" sz="2400" b="1" dirty="0"/>
              <a:t>empty dictionary without any items is written with just two curly braces, like this: { }.</a:t>
            </a:r>
          </a:p>
          <a:p>
            <a:pPr marL="342900" lvl="0" indent="-342900" algn="just">
              <a:buFont typeface="Arial" panose="020B0604020202020204" pitchFamily="34" charset="0"/>
              <a:buChar char="•"/>
            </a:pPr>
            <a:r>
              <a:rPr lang="en-US" sz="2400" b="1" dirty="0" smtClean="0"/>
              <a:t>Keys </a:t>
            </a:r>
            <a:r>
              <a:rPr lang="en-US" sz="2400" b="1" dirty="0"/>
              <a:t>are unique within a dictionary while values may not be. The values of a dictionary can be of any type, but the keys must be of an immutable data type such as strings, numbers, or tuples.</a:t>
            </a:r>
          </a:p>
        </p:txBody>
      </p:sp>
    </p:spTree>
    <p:extLst>
      <p:ext uri="{BB962C8B-B14F-4D97-AF65-F5344CB8AC3E}">
        <p14:creationId xmlns="" xmlns:p14="http://schemas.microsoft.com/office/powerpoint/2010/main" val="215081545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Dictionary</a:t>
            </a:r>
            <a:endParaRPr lang="en-US" dirty="0"/>
          </a:p>
        </p:txBody>
      </p:sp>
      <p:sp>
        <p:nvSpPr>
          <p:cNvPr id="4" name="TextBox 3"/>
          <p:cNvSpPr txBox="1"/>
          <p:nvPr/>
        </p:nvSpPr>
        <p:spPr>
          <a:xfrm>
            <a:off x="228600" y="932557"/>
            <a:ext cx="8763000" cy="5355312"/>
          </a:xfrm>
          <a:prstGeom prst="rect">
            <a:avLst/>
          </a:prstGeom>
          <a:noFill/>
        </p:spPr>
        <p:txBody>
          <a:bodyPr wrap="square" rtlCol="0">
            <a:spAutoFit/>
          </a:bodyPr>
          <a:lstStyle/>
          <a:p>
            <a:r>
              <a:rPr lang="en-US" b="1" dirty="0"/>
              <a:t>Accessing Values in Dictionary</a:t>
            </a:r>
            <a:endParaRPr lang="en-IN" b="1" dirty="0"/>
          </a:p>
          <a:p>
            <a:r>
              <a:rPr lang="en-US" dirty="0"/>
              <a:t>To access dictionary elements, you can use the familiar square brackets along with the key to obtain its value. Following is a simple example −</a:t>
            </a:r>
            <a:endParaRPr lang="en-IN" dirty="0"/>
          </a:p>
          <a:p>
            <a:r>
              <a:rPr lang="en-US" dirty="0" err="1" smtClean="0"/>
              <a:t>dict</a:t>
            </a:r>
            <a:r>
              <a:rPr lang="en-US" dirty="0" smtClean="0"/>
              <a:t> </a:t>
            </a:r>
            <a:r>
              <a:rPr lang="en-US" dirty="0"/>
              <a:t>= {'Name': 'Zara', 'Age': 7, 'Class': 'First'}</a:t>
            </a:r>
            <a:endParaRPr lang="en-IN" dirty="0"/>
          </a:p>
          <a:p>
            <a:r>
              <a:rPr lang="en-US" dirty="0"/>
              <a:t>print ("</a:t>
            </a:r>
            <a:r>
              <a:rPr lang="en-US" dirty="0" err="1"/>
              <a:t>dict</a:t>
            </a:r>
            <a:r>
              <a:rPr lang="en-US" dirty="0"/>
              <a:t>['Name']: ", </a:t>
            </a:r>
            <a:r>
              <a:rPr lang="en-US" dirty="0" err="1"/>
              <a:t>dict</a:t>
            </a:r>
            <a:r>
              <a:rPr lang="en-US" dirty="0"/>
              <a:t>['Name'])</a:t>
            </a:r>
            <a:endParaRPr lang="en-IN" dirty="0"/>
          </a:p>
          <a:p>
            <a:r>
              <a:rPr lang="en-US" dirty="0"/>
              <a:t>print ("</a:t>
            </a:r>
            <a:r>
              <a:rPr lang="en-US" dirty="0" err="1"/>
              <a:t>dict</a:t>
            </a:r>
            <a:r>
              <a:rPr lang="en-US" dirty="0"/>
              <a:t>['Age']: ", </a:t>
            </a:r>
            <a:r>
              <a:rPr lang="en-US" dirty="0" err="1"/>
              <a:t>dict</a:t>
            </a:r>
            <a:r>
              <a:rPr lang="en-US" dirty="0"/>
              <a:t>['Age'])</a:t>
            </a:r>
            <a:endParaRPr lang="en-IN" dirty="0"/>
          </a:p>
          <a:p>
            <a:r>
              <a:rPr lang="en-US" b="1" dirty="0"/>
              <a:t>When the above code is executed, it produces the following result −</a:t>
            </a:r>
            <a:endParaRPr lang="en-IN" b="1" dirty="0"/>
          </a:p>
          <a:p>
            <a:r>
              <a:rPr lang="en-US" dirty="0" err="1"/>
              <a:t>dict</a:t>
            </a:r>
            <a:r>
              <a:rPr lang="en-US" dirty="0"/>
              <a:t>['Name']:  Zara</a:t>
            </a:r>
            <a:endParaRPr lang="en-IN" dirty="0"/>
          </a:p>
          <a:p>
            <a:r>
              <a:rPr lang="en-US" dirty="0" err="1"/>
              <a:t>dict</a:t>
            </a:r>
            <a:r>
              <a:rPr lang="en-US" dirty="0"/>
              <a:t>['Age']:  </a:t>
            </a:r>
            <a:r>
              <a:rPr lang="en-US" dirty="0" smtClean="0"/>
              <a:t>7</a:t>
            </a:r>
            <a:endParaRPr lang="en-IN" dirty="0"/>
          </a:p>
          <a:p>
            <a:r>
              <a:rPr lang="en-US" b="1" dirty="0"/>
              <a:t>If we attempt to access a data item with a key, which is not a part of the dictionary, we get an error as follows −</a:t>
            </a:r>
            <a:endParaRPr lang="en-IN" b="1" dirty="0"/>
          </a:p>
          <a:p>
            <a:r>
              <a:rPr lang="en-US" dirty="0" err="1" smtClean="0"/>
              <a:t>dict</a:t>
            </a:r>
            <a:r>
              <a:rPr lang="en-US" dirty="0" smtClean="0"/>
              <a:t> </a:t>
            </a:r>
            <a:r>
              <a:rPr lang="en-US" dirty="0"/>
              <a:t>= {'Name': 'Zara', 'Age': 7, 'Class': 'First'};</a:t>
            </a:r>
            <a:endParaRPr lang="en-IN" dirty="0"/>
          </a:p>
          <a:p>
            <a:r>
              <a:rPr lang="en-US" dirty="0"/>
              <a:t>print ("</a:t>
            </a:r>
            <a:r>
              <a:rPr lang="en-US" dirty="0" err="1"/>
              <a:t>dict</a:t>
            </a:r>
            <a:r>
              <a:rPr lang="en-US" dirty="0"/>
              <a:t>['Alice']: ", </a:t>
            </a:r>
            <a:r>
              <a:rPr lang="en-US" dirty="0" err="1"/>
              <a:t>dict</a:t>
            </a:r>
            <a:r>
              <a:rPr lang="en-US" dirty="0"/>
              <a:t>['Alice'])</a:t>
            </a:r>
            <a:endParaRPr lang="en-IN" dirty="0"/>
          </a:p>
          <a:p>
            <a:r>
              <a:rPr lang="en-US" b="1" dirty="0"/>
              <a:t>When the above code is executed, it produces the following result −</a:t>
            </a:r>
            <a:endParaRPr lang="en-IN" b="1" dirty="0"/>
          </a:p>
          <a:p>
            <a:r>
              <a:rPr lang="en-US" dirty="0" err="1"/>
              <a:t>dict</a:t>
            </a:r>
            <a:r>
              <a:rPr lang="en-US" dirty="0"/>
              <a:t>['Zara']:</a:t>
            </a:r>
            <a:endParaRPr lang="en-IN" dirty="0"/>
          </a:p>
          <a:p>
            <a:r>
              <a:rPr lang="en-US" dirty="0" err="1"/>
              <a:t>Traceback</a:t>
            </a:r>
            <a:r>
              <a:rPr lang="en-US" dirty="0"/>
              <a:t> (most recent call last):</a:t>
            </a:r>
            <a:endParaRPr lang="en-IN" dirty="0"/>
          </a:p>
          <a:p>
            <a:r>
              <a:rPr lang="en-US" dirty="0"/>
              <a:t>   File "</a:t>
            </a:r>
            <a:r>
              <a:rPr lang="en-US" dirty="0" err="1"/>
              <a:t>test.py</a:t>
            </a:r>
            <a:r>
              <a:rPr lang="en-US" dirty="0"/>
              <a:t>", line 4, in &lt;module&gt;</a:t>
            </a:r>
            <a:endParaRPr lang="en-IN" dirty="0"/>
          </a:p>
          <a:p>
            <a:r>
              <a:rPr lang="en-US" dirty="0"/>
              <a:t>      print "</a:t>
            </a:r>
            <a:r>
              <a:rPr lang="en-US" dirty="0" err="1"/>
              <a:t>dict</a:t>
            </a:r>
            <a:r>
              <a:rPr lang="en-US" dirty="0"/>
              <a:t>['Alice']: ", </a:t>
            </a:r>
            <a:r>
              <a:rPr lang="en-US" dirty="0" err="1"/>
              <a:t>dict</a:t>
            </a:r>
            <a:r>
              <a:rPr lang="en-US" dirty="0"/>
              <a:t>['Alice'];</a:t>
            </a:r>
            <a:endParaRPr lang="en-IN" dirty="0"/>
          </a:p>
          <a:p>
            <a:r>
              <a:rPr lang="en-US" dirty="0" err="1"/>
              <a:t>KeyError</a:t>
            </a:r>
            <a:r>
              <a:rPr lang="en-US" dirty="0"/>
              <a:t>: 'Alice'</a:t>
            </a:r>
            <a:endParaRPr lang="en-IN" dirty="0"/>
          </a:p>
        </p:txBody>
      </p:sp>
    </p:spTree>
    <p:extLst>
      <p:ext uri="{BB962C8B-B14F-4D97-AF65-F5344CB8AC3E}">
        <p14:creationId xmlns="" xmlns:p14="http://schemas.microsoft.com/office/powerpoint/2010/main" val="102104214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Dictionary</a:t>
            </a:r>
            <a:endParaRPr lang="en-US" dirty="0"/>
          </a:p>
        </p:txBody>
      </p:sp>
      <p:sp>
        <p:nvSpPr>
          <p:cNvPr id="4" name="TextBox 3"/>
          <p:cNvSpPr txBox="1"/>
          <p:nvPr/>
        </p:nvSpPr>
        <p:spPr>
          <a:xfrm>
            <a:off x="228600" y="932557"/>
            <a:ext cx="8763000" cy="4524315"/>
          </a:xfrm>
          <a:prstGeom prst="rect">
            <a:avLst/>
          </a:prstGeom>
          <a:noFill/>
        </p:spPr>
        <p:txBody>
          <a:bodyPr wrap="square" rtlCol="0">
            <a:spAutoFit/>
          </a:bodyPr>
          <a:lstStyle/>
          <a:p>
            <a:r>
              <a:rPr lang="en-US" b="1" dirty="0"/>
              <a:t>Updating Dictionary</a:t>
            </a:r>
            <a:endParaRPr lang="en-IN" b="1" dirty="0"/>
          </a:p>
          <a:p>
            <a:r>
              <a:rPr lang="en-US" dirty="0"/>
              <a:t>You can update a dictionary by adding a new entry or a key-value pair, modifying an existing entry, or deleting an existing entry as shown in a simple example given below.</a:t>
            </a:r>
            <a:endParaRPr lang="en-IN" dirty="0"/>
          </a:p>
          <a:p>
            <a:r>
              <a:rPr lang="en-US" dirty="0"/>
              <a:t> </a:t>
            </a:r>
            <a:endParaRPr lang="en-IN" dirty="0"/>
          </a:p>
          <a:p>
            <a:r>
              <a:rPr lang="en-US" dirty="0"/>
              <a:t> </a:t>
            </a:r>
            <a:endParaRPr lang="en-IN" dirty="0"/>
          </a:p>
          <a:p>
            <a:r>
              <a:rPr lang="en-US" dirty="0" err="1"/>
              <a:t>dict</a:t>
            </a:r>
            <a:r>
              <a:rPr lang="en-US" dirty="0"/>
              <a:t> = {'Name': 'Zara', 'Age': 7, 'Class': 'First'}</a:t>
            </a:r>
            <a:endParaRPr lang="en-IN" dirty="0"/>
          </a:p>
          <a:p>
            <a:r>
              <a:rPr lang="en-US" dirty="0"/>
              <a:t> </a:t>
            </a:r>
            <a:endParaRPr lang="en-IN" dirty="0"/>
          </a:p>
          <a:p>
            <a:r>
              <a:rPr lang="en-US" dirty="0" err="1"/>
              <a:t>dict</a:t>
            </a:r>
            <a:r>
              <a:rPr lang="en-US" dirty="0"/>
              <a:t>['Age'] = 8; # update existing entry</a:t>
            </a:r>
            <a:endParaRPr lang="en-IN" dirty="0"/>
          </a:p>
          <a:p>
            <a:r>
              <a:rPr lang="en-US" dirty="0"/>
              <a:t> </a:t>
            </a:r>
            <a:endParaRPr lang="en-IN" dirty="0"/>
          </a:p>
          <a:p>
            <a:r>
              <a:rPr lang="en-US" dirty="0" err="1"/>
              <a:t>dict</a:t>
            </a:r>
            <a:r>
              <a:rPr lang="en-US" dirty="0"/>
              <a:t>['School'] = "DPS School" # Add new entry</a:t>
            </a:r>
            <a:endParaRPr lang="en-IN" dirty="0"/>
          </a:p>
          <a:p>
            <a:r>
              <a:rPr lang="en-US" dirty="0"/>
              <a:t> </a:t>
            </a:r>
            <a:endParaRPr lang="en-IN" dirty="0"/>
          </a:p>
          <a:p>
            <a:r>
              <a:rPr lang="en-US" dirty="0"/>
              <a:t>print ("</a:t>
            </a:r>
            <a:r>
              <a:rPr lang="en-US" dirty="0" err="1"/>
              <a:t>dict</a:t>
            </a:r>
            <a:r>
              <a:rPr lang="en-US" dirty="0"/>
              <a:t>['Age']: ", </a:t>
            </a:r>
            <a:r>
              <a:rPr lang="en-US" dirty="0" err="1"/>
              <a:t>dict</a:t>
            </a:r>
            <a:r>
              <a:rPr lang="en-US" dirty="0"/>
              <a:t>['Age'])</a:t>
            </a:r>
            <a:endParaRPr lang="en-IN" dirty="0"/>
          </a:p>
          <a:p>
            <a:r>
              <a:rPr lang="en-US" dirty="0"/>
              <a:t>print ("</a:t>
            </a:r>
            <a:r>
              <a:rPr lang="en-US" dirty="0" err="1"/>
              <a:t>dict</a:t>
            </a:r>
            <a:r>
              <a:rPr lang="en-US" dirty="0"/>
              <a:t>['School']: ", </a:t>
            </a:r>
            <a:r>
              <a:rPr lang="en-US" dirty="0" err="1"/>
              <a:t>dict</a:t>
            </a:r>
            <a:r>
              <a:rPr lang="en-US" dirty="0"/>
              <a:t>['School'])</a:t>
            </a:r>
            <a:endParaRPr lang="en-IN" dirty="0"/>
          </a:p>
          <a:p>
            <a:r>
              <a:rPr lang="en-US" dirty="0"/>
              <a:t>When the above code is executed, it produces the following result −</a:t>
            </a:r>
            <a:endParaRPr lang="en-IN" dirty="0"/>
          </a:p>
          <a:p>
            <a:r>
              <a:rPr lang="en-US" dirty="0" err="1"/>
              <a:t>dict</a:t>
            </a:r>
            <a:r>
              <a:rPr lang="en-US" dirty="0"/>
              <a:t>['Age']:  8</a:t>
            </a:r>
            <a:endParaRPr lang="en-IN" dirty="0"/>
          </a:p>
          <a:p>
            <a:r>
              <a:rPr lang="en-US" dirty="0" err="1"/>
              <a:t>dict</a:t>
            </a:r>
            <a:r>
              <a:rPr lang="en-US" dirty="0"/>
              <a:t>['School']:  DPS School</a:t>
            </a:r>
            <a:endParaRPr lang="en-IN" dirty="0"/>
          </a:p>
        </p:txBody>
      </p:sp>
    </p:spTree>
    <p:extLst>
      <p:ext uri="{BB962C8B-B14F-4D97-AF65-F5344CB8AC3E}">
        <p14:creationId xmlns="" xmlns:p14="http://schemas.microsoft.com/office/powerpoint/2010/main" val="848836205"/>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Dictionary</a:t>
            </a:r>
            <a:endParaRPr lang="en-US" dirty="0"/>
          </a:p>
        </p:txBody>
      </p:sp>
      <p:sp>
        <p:nvSpPr>
          <p:cNvPr id="4" name="TextBox 3"/>
          <p:cNvSpPr txBox="1"/>
          <p:nvPr/>
        </p:nvSpPr>
        <p:spPr>
          <a:xfrm>
            <a:off x="228600" y="932557"/>
            <a:ext cx="8763000" cy="5909310"/>
          </a:xfrm>
          <a:prstGeom prst="rect">
            <a:avLst/>
          </a:prstGeom>
          <a:noFill/>
        </p:spPr>
        <p:txBody>
          <a:bodyPr wrap="square" rtlCol="0">
            <a:spAutoFit/>
          </a:bodyPr>
          <a:lstStyle/>
          <a:p>
            <a:pPr algn="just"/>
            <a:r>
              <a:rPr lang="en-US" b="1" dirty="0"/>
              <a:t>Delete Dictionary Elements</a:t>
            </a:r>
            <a:endParaRPr lang="en-IN" b="1" dirty="0"/>
          </a:p>
          <a:p>
            <a:pPr algn="just"/>
            <a:r>
              <a:rPr lang="en-US" dirty="0"/>
              <a:t>You can either remove individual dictionary elements or clear the entire contents of a dictionary. You can also delete entire dictionary in a single operation.</a:t>
            </a:r>
            <a:endParaRPr lang="en-IN" dirty="0"/>
          </a:p>
          <a:p>
            <a:pPr algn="just"/>
            <a:r>
              <a:rPr lang="en-US" dirty="0"/>
              <a:t>To explicitly remove an entire dictionary, just use the del statement. Following is a simple example </a:t>
            </a:r>
            <a:r>
              <a:rPr lang="en-US" dirty="0" smtClean="0"/>
              <a:t>−</a:t>
            </a:r>
            <a:endParaRPr lang="en-IN" dirty="0"/>
          </a:p>
          <a:p>
            <a:pPr algn="just"/>
            <a:r>
              <a:rPr lang="en-US" dirty="0" err="1"/>
              <a:t>dict</a:t>
            </a:r>
            <a:r>
              <a:rPr lang="en-US" dirty="0"/>
              <a:t> = {'Name': 'Zara', 'Age': 7, 'Class': 'First</a:t>
            </a:r>
            <a:r>
              <a:rPr lang="en-US" dirty="0" smtClean="0"/>
              <a:t>'}</a:t>
            </a:r>
            <a:endParaRPr lang="en-IN" dirty="0"/>
          </a:p>
          <a:p>
            <a:pPr algn="just"/>
            <a:r>
              <a:rPr lang="en-US" dirty="0"/>
              <a:t>del </a:t>
            </a:r>
            <a:r>
              <a:rPr lang="en-US" dirty="0" err="1"/>
              <a:t>dict</a:t>
            </a:r>
            <a:r>
              <a:rPr lang="en-US" dirty="0"/>
              <a:t>['Name'] # remove entry with key 'Name'</a:t>
            </a:r>
            <a:endParaRPr lang="en-IN" dirty="0"/>
          </a:p>
          <a:p>
            <a:pPr algn="just"/>
            <a:r>
              <a:rPr lang="en-US" dirty="0" err="1"/>
              <a:t>dict.clear</a:t>
            </a:r>
            <a:r>
              <a:rPr lang="en-US" dirty="0"/>
              <a:t>()     # remove all entries in </a:t>
            </a:r>
            <a:r>
              <a:rPr lang="en-US" dirty="0" err="1"/>
              <a:t>dict</a:t>
            </a:r>
            <a:endParaRPr lang="en-IN" dirty="0"/>
          </a:p>
          <a:p>
            <a:pPr algn="just"/>
            <a:r>
              <a:rPr lang="en-US" dirty="0"/>
              <a:t>del </a:t>
            </a:r>
            <a:r>
              <a:rPr lang="en-US" dirty="0" err="1"/>
              <a:t>dict</a:t>
            </a:r>
            <a:r>
              <a:rPr lang="en-US" dirty="0"/>
              <a:t>         # delete entire dictionary</a:t>
            </a:r>
            <a:endParaRPr lang="en-IN" dirty="0"/>
          </a:p>
          <a:p>
            <a:pPr algn="just"/>
            <a:r>
              <a:rPr lang="en-US" dirty="0"/>
              <a:t> </a:t>
            </a:r>
            <a:endParaRPr lang="en-IN" dirty="0"/>
          </a:p>
          <a:p>
            <a:pPr algn="just"/>
            <a:r>
              <a:rPr lang="en-US" dirty="0"/>
              <a:t>print ("</a:t>
            </a:r>
            <a:r>
              <a:rPr lang="en-US" dirty="0" err="1"/>
              <a:t>dict</a:t>
            </a:r>
            <a:r>
              <a:rPr lang="en-US" dirty="0"/>
              <a:t>['Age']: ", </a:t>
            </a:r>
            <a:r>
              <a:rPr lang="en-US" dirty="0" err="1"/>
              <a:t>dict</a:t>
            </a:r>
            <a:r>
              <a:rPr lang="en-US" dirty="0"/>
              <a:t>['Age'])</a:t>
            </a:r>
            <a:endParaRPr lang="en-IN" dirty="0"/>
          </a:p>
          <a:p>
            <a:pPr algn="just"/>
            <a:r>
              <a:rPr lang="en-US" dirty="0"/>
              <a:t>print ("</a:t>
            </a:r>
            <a:r>
              <a:rPr lang="en-US" dirty="0" err="1"/>
              <a:t>dict</a:t>
            </a:r>
            <a:r>
              <a:rPr lang="en-US" dirty="0"/>
              <a:t>['School']: ", </a:t>
            </a:r>
            <a:r>
              <a:rPr lang="en-US" dirty="0" err="1"/>
              <a:t>dict</a:t>
            </a:r>
            <a:r>
              <a:rPr lang="en-US" dirty="0"/>
              <a:t>['School'])</a:t>
            </a:r>
            <a:endParaRPr lang="en-IN" dirty="0"/>
          </a:p>
          <a:p>
            <a:pPr algn="just"/>
            <a:r>
              <a:rPr lang="en-US" dirty="0"/>
              <a:t>This produces the following result.</a:t>
            </a:r>
            <a:endParaRPr lang="en-IN" dirty="0"/>
          </a:p>
          <a:p>
            <a:pPr algn="just"/>
            <a:r>
              <a:rPr lang="en-US" dirty="0"/>
              <a:t>An exception is raised because after del </a:t>
            </a:r>
            <a:r>
              <a:rPr lang="en-US" dirty="0" err="1"/>
              <a:t>dict</a:t>
            </a:r>
            <a:r>
              <a:rPr lang="en-US" dirty="0"/>
              <a:t>, the dictionary does not exist anymore.</a:t>
            </a:r>
            <a:endParaRPr lang="en-IN" dirty="0"/>
          </a:p>
          <a:p>
            <a:pPr algn="just"/>
            <a:r>
              <a:rPr lang="en-US" dirty="0" err="1"/>
              <a:t>dict</a:t>
            </a:r>
            <a:r>
              <a:rPr lang="en-US" dirty="0"/>
              <a:t>['Age']:</a:t>
            </a:r>
            <a:endParaRPr lang="en-IN" dirty="0"/>
          </a:p>
          <a:p>
            <a:pPr algn="just"/>
            <a:r>
              <a:rPr lang="en-US" dirty="0" err="1"/>
              <a:t>Traceback</a:t>
            </a:r>
            <a:r>
              <a:rPr lang="en-US" dirty="0"/>
              <a:t> (most recent call last):</a:t>
            </a:r>
            <a:endParaRPr lang="en-IN" dirty="0"/>
          </a:p>
          <a:p>
            <a:pPr algn="just"/>
            <a:r>
              <a:rPr lang="en-US" dirty="0"/>
              <a:t>   File "</a:t>
            </a:r>
            <a:r>
              <a:rPr lang="en-US" dirty="0" err="1"/>
              <a:t>test.py</a:t>
            </a:r>
            <a:r>
              <a:rPr lang="en-US" dirty="0"/>
              <a:t>", line 8, in &lt;module&gt;</a:t>
            </a:r>
            <a:endParaRPr lang="en-IN" dirty="0"/>
          </a:p>
          <a:p>
            <a:pPr algn="just"/>
            <a:r>
              <a:rPr lang="en-US" dirty="0"/>
              <a:t>      print "</a:t>
            </a:r>
            <a:r>
              <a:rPr lang="en-US" dirty="0" err="1"/>
              <a:t>dict</a:t>
            </a:r>
            <a:r>
              <a:rPr lang="en-US" dirty="0"/>
              <a:t>['Age']: ", </a:t>
            </a:r>
            <a:r>
              <a:rPr lang="en-US" dirty="0" err="1"/>
              <a:t>dict</a:t>
            </a:r>
            <a:r>
              <a:rPr lang="en-US" dirty="0"/>
              <a:t>['Age'];</a:t>
            </a:r>
            <a:endParaRPr lang="en-IN" dirty="0"/>
          </a:p>
          <a:p>
            <a:pPr algn="just"/>
            <a:r>
              <a:rPr lang="en-US" dirty="0" err="1"/>
              <a:t>TypeError</a:t>
            </a:r>
            <a:r>
              <a:rPr lang="en-US" dirty="0"/>
              <a:t>: 'type' object is </a:t>
            </a:r>
            <a:r>
              <a:rPr lang="en-US" dirty="0" err="1"/>
              <a:t>unsubscriptable</a:t>
            </a:r>
            <a:endParaRPr lang="en-IN" dirty="0"/>
          </a:p>
          <a:p>
            <a:pPr algn="just"/>
            <a:r>
              <a:rPr lang="en-US" dirty="0"/>
              <a:t> </a:t>
            </a:r>
            <a:endParaRPr lang="en-IN" dirty="0"/>
          </a:p>
          <a:p>
            <a:pPr algn="just"/>
            <a:r>
              <a:rPr lang="en-US" dirty="0"/>
              <a:t>Note − The del() method is discussed in subsequent section.</a:t>
            </a:r>
            <a:endParaRPr lang="en-IN" dirty="0"/>
          </a:p>
        </p:txBody>
      </p:sp>
    </p:spTree>
    <p:extLst>
      <p:ext uri="{BB962C8B-B14F-4D97-AF65-F5344CB8AC3E}">
        <p14:creationId xmlns="" xmlns:p14="http://schemas.microsoft.com/office/powerpoint/2010/main" val="146428032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Dictionary</a:t>
            </a:r>
            <a:endParaRPr lang="en-US" dirty="0"/>
          </a:p>
        </p:txBody>
      </p:sp>
      <p:sp>
        <p:nvSpPr>
          <p:cNvPr id="4" name="TextBox 3"/>
          <p:cNvSpPr txBox="1"/>
          <p:nvPr/>
        </p:nvSpPr>
        <p:spPr>
          <a:xfrm>
            <a:off x="228600" y="932557"/>
            <a:ext cx="8763000" cy="4893647"/>
          </a:xfrm>
          <a:prstGeom prst="rect">
            <a:avLst/>
          </a:prstGeom>
          <a:noFill/>
        </p:spPr>
        <p:txBody>
          <a:bodyPr wrap="square" rtlCol="0">
            <a:spAutoFit/>
          </a:bodyPr>
          <a:lstStyle/>
          <a:p>
            <a:pPr algn="just"/>
            <a:r>
              <a:rPr lang="en-US" sz="2400" b="1" dirty="0"/>
              <a:t>Properties of Dictionary Keys</a:t>
            </a:r>
            <a:endParaRPr lang="en-IN" sz="2400" b="1" dirty="0"/>
          </a:p>
          <a:p>
            <a:pPr algn="just"/>
            <a:r>
              <a:rPr lang="en-US" sz="2400" dirty="0"/>
              <a:t>Dictionary values have no restrictions. They can be any arbitrary Python object, either standard objects or user-defined objects. However, same is not true for the keys.</a:t>
            </a:r>
            <a:endParaRPr lang="en-IN" sz="2400" dirty="0"/>
          </a:p>
          <a:p>
            <a:pPr algn="just"/>
            <a:r>
              <a:rPr lang="en-US" sz="2400" dirty="0"/>
              <a:t>There are two important points to remember about dictionary keys −</a:t>
            </a:r>
            <a:endParaRPr lang="en-IN" sz="2400" dirty="0"/>
          </a:p>
          <a:p>
            <a:pPr algn="just"/>
            <a:r>
              <a:rPr lang="en-US" sz="2400" dirty="0"/>
              <a:t>(a) More than one entry per key is not allowed. This means no duplicate key is allowed. When duplicate keys are encountered during assignment, the last assignment wins. For example −</a:t>
            </a:r>
            <a:endParaRPr lang="en-IN" sz="2400" dirty="0"/>
          </a:p>
          <a:p>
            <a:pPr algn="just"/>
            <a:r>
              <a:rPr lang="en-US" sz="2400" dirty="0"/>
              <a:t> </a:t>
            </a:r>
            <a:endParaRPr lang="en-IN" sz="2400" dirty="0"/>
          </a:p>
          <a:p>
            <a:pPr algn="just"/>
            <a:r>
              <a:rPr lang="en-US" sz="2400" dirty="0" err="1"/>
              <a:t>dict</a:t>
            </a:r>
            <a:r>
              <a:rPr lang="en-US" sz="2400" dirty="0"/>
              <a:t> = {'Name': 'Zara', 'Age': 7, 'Name': '</a:t>
            </a:r>
            <a:r>
              <a:rPr lang="en-US" sz="2400" dirty="0" err="1"/>
              <a:t>Manni</a:t>
            </a:r>
            <a:r>
              <a:rPr lang="en-US" sz="2400" dirty="0"/>
              <a:t>'}</a:t>
            </a:r>
            <a:endParaRPr lang="en-IN" sz="2400" dirty="0"/>
          </a:p>
          <a:p>
            <a:pPr algn="just"/>
            <a:r>
              <a:rPr lang="en-US" sz="2400" dirty="0"/>
              <a:t>print ("</a:t>
            </a:r>
            <a:r>
              <a:rPr lang="en-US" sz="2400" dirty="0" err="1"/>
              <a:t>dict</a:t>
            </a:r>
            <a:r>
              <a:rPr lang="en-US" sz="2400" dirty="0"/>
              <a:t>['Name']: ", </a:t>
            </a:r>
            <a:r>
              <a:rPr lang="en-US" sz="2400" dirty="0" err="1"/>
              <a:t>dict</a:t>
            </a:r>
            <a:r>
              <a:rPr lang="en-US" sz="2400" dirty="0"/>
              <a:t>['Name'])</a:t>
            </a:r>
            <a:endParaRPr lang="en-IN" sz="2400" dirty="0"/>
          </a:p>
          <a:p>
            <a:pPr algn="just"/>
            <a:r>
              <a:rPr lang="en-US" sz="2400" dirty="0"/>
              <a:t>When the above code is executed, it produces the following result −</a:t>
            </a:r>
            <a:endParaRPr lang="en-IN" sz="2400" dirty="0"/>
          </a:p>
          <a:p>
            <a:pPr algn="just"/>
            <a:r>
              <a:rPr lang="en-US" sz="2400" dirty="0" err="1"/>
              <a:t>dict</a:t>
            </a:r>
            <a:r>
              <a:rPr lang="en-US" sz="2400" dirty="0"/>
              <a:t>['Name']:  </a:t>
            </a:r>
            <a:r>
              <a:rPr lang="en-US" sz="2400" dirty="0" err="1"/>
              <a:t>Manni</a:t>
            </a:r>
            <a:endParaRPr lang="en-IN" sz="2400" dirty="0"/>
          </a:p>
        </p:txBody>
      </p:sp>
    </p:spTree>
    <p:extLst>
      <p:ext uri="{BB962C8B-B14F-4D97-AF65-F5344CB8AC3E}">
        <p14:creationId xmlns="" xmlns:p14="http://schemas.microsoft.com/office/powerpoint/2010/main" val="58784533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Dictionary</a:t>
            </a:r>
            <a:endParaRPr lang="en-US" dirty="0"/>
          </a:p>
        </p:txBody>
      </p:sp>
      <p:sp>
        <p:nvSpPr>
          <p:cNvPr id="4" name="TextBox 3"/>
          <p:cNvSpPr txBox="1"/>
          <p:nvPr/>
        </p:nvSpPr>
        <p:spPr>
          <a:xfrm>
            <a:off x="228600" y="932557"/>
            <a:ext cx="8763000" cy="4154984"/>
          </a:xfrm>
          <a:prstGeom prst="rect">
            <a:avLst/>
          </a:prstGeom>
          <a:noFill/>
        </p:spPr>
        <p:txBody>
          <a:bodyPr wrap="square" rtlCol="0">
            <a:spAutoFit/>
          </a:bodyPr>
          <a:lstStyle/>
          <a:p>
            <a:pPr algn="just"/>
            <a:r>
              <a:rPr lang="en-US" sz="2400" dirty="0"/>
              <a:t>(b) Keys must be immutable. This means you can use strings, numbers or tuples as dictionary keys but something like ['key'] is not allowed. Following is a simple example −</a:t>
            </a:r>
          </a:p>
          <a:p>
            <a:pPr algn="just"/>
            <a:endParaRPr lang="en-US" sz="2400" dirty="0"/>
          </a:p>
          <a:p>
            <a:pPr algn="just"/>
            <a:r>
              <a:rPr lang="en-US" sz="2400" dirty="0" err="1"/>
              <a:t>dict</a:t>
            </a:r>
            <a:r>
              <a:rPr lang="en-US" sz="2400" dirty="0"/>
              <a:t> = {['Name']: 'Zara', 'Age': 7}</a:t>
            </a:r>
          </a:p>
          <a:p>
            <a:pPr algn="just"/>
            <a:r>
              <a:rPr lang="en-US" sz="2400" dirty="0"/>
              <a:t>print ("</a:t>
            </a:r>
            <a:r>
              <a:rPr lang="en-US" sz="2400" dirty="0" err="1"/>
              <a:t>dict</a:t>
            </a:r>
            <a:r>
              <a:rPr lang="en-US" sz="2400" dirty="0"/>
              <a:t>['Name']: ", </a:t>
            </a:r>
            <a:r>
              <a:rPr lang="en-US" sz="2400" dirty="0" err="1"/>
              <a:t>dict</a:t>
            </a:r>
            <a:r>
              <a:rPr lang="en-US" sz="2400" dirty="0"/>
              <a:t>['Name'])</a:t>
            </a:r>
          </a:p>
          <a:p>
            <a:pPr algn="just"/>
            <a:r>
              <a:rPr lang="en-US" sz="2400" dirty="0"/>
              <a:t>When the above code is executed, it produces the following result −</a:t>
            </a:r>
          </a:p>
          <a:p>
            <a:pPr algn="just"/>
            <a:r>
              <a:rPr lang="en-US" sz="2400" dirty="0" err="1"/>
              <a:t>Traceback</a:t>
            </a:r>
            <a:r>
              <a:rPr lang="en-US" sz="2400" dirty="0"/>
              <a:t> (most recent call last):</a:t>
            </a:r>
          </a:p>
          <a:p>
            <a:pPr algn="just"/>
            <a:r>
              <a:rPr lang="en-US" sz="2400" dirty="0"/>
              <a:t>   File "</a:t>
            </a:r>
            <a:r>
              <a:rPr lang="en-US" sz="2400" dirty="0" err="1"/>
              <a:t>test.py</a:t>
            </a:r>
            <a:r>
              <a:rPr lang="en-US" sz="2400" dirty="0"/>
              <a:t>", line 3, in &lt;module&gt;</a:t>
            </a:r>
          </a:p>
          <a:p>
            <a:pPr algn="just"/>
            <a:r>
              <a:rPr lang="en-US" sz="2400" dirty="0"/>
              <a:t>      </a:t>
            </a:r>
            <a:r>
              <a:rPr lang="en-US" sz="2400" dirty="0" err="1"/>
              <a:t>dict</a:t>
            </a:r>
            <a:r>
              <a:rPr lang="en-US" sz="2400" dirty="0"/>
              <a:t> = {['Name']: 'Zara', 'Age': 7}</a:t>
            </a:r>
          </a:p>
          <a:p>
            <a:pPr algn="just"/>
            <a:r>
              <a:rPr lang="en-US" sz="2400" dirty="0" err="1"/>
              <a:t>TypeError</a:t>
            </a:r>
            <a:r>
              <a:rPr lang="en-US" sz="2400" dirty="0"/>
              <a:t>: list objects are </a:t>
            </a:r>
            <a:r>
              <a:rPr lang="en-US" sz="2400" dirty="0" err="1"/>
              <a:t>unhashable</a:t>
            </a:r>
            <a:endParaRPr lang="en-US" sz="2400" dirty="0"/>
          </a:p>
        </p:txBody>
      </p:sp>
    </p:spTree>
    <p:extLst>
      <p:ext uri="{BB962C8B-B14F-4D97-AF65-F5344CB8AC3E}">
        <p14:creationId xmlns="" xmlns:p14="http://schemas.microsoft.com/office/powerpoint/2010/main" val="83556707"/>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Built-in functions of Dictionary</a:t>
            </a:r>
            <a:endParaRPr lang="en-US" dirty="0"/>
          </a:p>
        </p:txBody>
      </p:sp>
      <p:sp>
        <p:nvSpPr>
          <p:cNvPr id="4" name="TextBox 3"/>
          <p:cNvSpPr txBox="1"/>
          <p:nvPr/>
        </p:nvSpPr>
        <p:spPr>
          <a:xfrm>
            <a:off x="228600" y="932557"/>
            <a:ext cx="8763000" cy="5355312"/>
          </a:xfrm>
          <a:prstGeom prst="rect">
            <a:avLst/>
          </a:prstGeom>
          <a:noFill/>
        </p:spPr>
        <p:txBody>
          <a:bodyPr wrap="square" rtlCol="0">
            <a:spAutoFit/>
          </a:bodyPr>
          <a:lstStyle/>
          <a:p>
            <a:r>
              <a:rPr lang="en-US" dirty="0"/>
              <a:t>The method </a:t>
            </a:r>
            <a:r>
              <a:rPr lang="en-US" dirty="0" err="1"/>
              <a:t>cmp</a:t>
            </a:r>
            <a:r>
              <a:rPr lang="en-US" dirty="0"/>
              <a:t>() compares two dictionaries based on key and values.</a:t>
            </a:r>
            <a:endParaRPr lang="en-IN" dirty="0"/>
          </a:p>
          <a:p>
            <a:r>
              <a:rPr lang="en-US" b="1" dirty="0"/>
              <a:t>Syntax</a:t>
            </a:r>
            <a:endParaRPr lang="en-IN" b="1" dirty="0"/>
          </a:p>
          <a:p>
            <a:r>
              <a:rPr lang="en-US" dirty="0" err="1"/>
              <a:t>cmp</a:t>
            </a:r>
            <a:r>
              <a:rPr lang="en-US" dirty="0"/>
              <a:t>(</a:t>
            </a:r>
            <a:r>
              <a:rPr lang="en-US" dirty="0" err="1"/>
              <a:t>dict1</a:t>
            </a:r>
            <a:r>
              <a:rPr lang="en-US" dirty="0"/>
              <a:t>, </a:t>
            </a:r>
            <a:r>
              <a:rPr lang="en-US" dirty="0" err="1"/>
              <a:t>dict2</a:t>
            </a:r>
            <a:r>
              <a:rPr lang="en-US" dirty="0" smtClean="0"/>
              <a:t>)</a:t>
            </a:r>
            <a:endParaRPr lang="en-IN" dirty="0"/>
          </a:p>
          <a:p>
            <a:r>
              <a:rPr lang="en-US" b="1" dirty="0"/>
              <a:t>Return Value</a:t>
            </a:r>
            <a:endParaRPr lang="en-IN" b="1" dirty="0"/>
          </a:p>
          <a:p>
            <a:r>
              <a:rPr lang="en-US" dirty="0"/>
              <a:t>This method returns 0 if both dictionaries are equal, -1 if </a:t>
            </a:r>
            <a:r>
              <a:rPr lang="en-US" dirty="0" err="1"/>
              <a:t>dict1</a:t>
            </a:r>
            <a:r>
              <a:rPr lang="en-US" dirty="0"/>
              <a:t> &lt; </a:t>
            </a:r>
            <a:r>
              <a:rPr lang="en-US" dirty="0" err="1"/>
              <a:t>dict2</a:t>
            </a:r>
            <a:r>
              <a:rPr lang="en-US" dirty="0"/>
              <a:t> and 1 if </a:t>
            </a:r>
            <a:r>
              <a:rPr lang="en-US" dirty="0" err="1"/>
              <a:t>dict1</a:t>
            </a:r>
            <a:r>
              <a:rPr lang="en-US" dirty="0"/>
              <a:t> &gt; </a:t>
            </a:r>
            <a:r>
              <a:rPr lang="en-US" dirty="0" err="1"/>
              <a:t>dic2</a:t>
            </a:r>
            <a:r>
              <a:rPr lang="en-US" dirty="0"/>
              <a:t>.</a:t>
            </a:r>
            <a:endParaRPr lang="en-IN" dirty="0"/>
          </a:p>
          <a:p>
            <a:r>
              <a:rPr lang="en-US" b="1" dirty="0"/>
              <a:t>Example</a:t>
            </a:r>
            <a:endParaRPr lang="en-IN" b="1" dirty="0"/>
          </a:p>
          <a:p>
            <a:r>
              <a:rPr lang="en-US" dirty="0"/>
              <a:t>The following example shows the usage of </a:t>
            </a:r>
            <a:r>
              <a:rPr lang="en-US" dirty="0" err="1"/>
              <a:t>cmp</a:t>
            </a:r>
            <a:r>
              <a:rPr lang="en-US" dirty="0"/>
              <a:t>() method.</a:t>
            </a:r>
            <a:endParaRPr lang="en-IN" dirty="0"/>
          </a:p>
          <a:p>
            <a:r>
              <a:rPr lang="en-US" dirty="0"/>
              <a:t>#!/</a:t>
            </a:r>
            <a:r>
              <a:rPr lang="en-US" dirty="0" err="1" smtClean="0"/>
              <a:t>usr</a:t>
            </a:r>
            <a:r>
              <a:rPr lang="en-US" dirty="0" smtClean="0"/>
              <a:t>/bin/</a:t>
            </a:r>
            <a:r>
              <a:rPr lang="en-US" dirty="0" err="1" smtClean="0"/>
              <a:t>python3</a:t>
            </a:r>
            <a:endParaRPr lang="en-IN" dirty="0"/>
          </a:p>
          <a:p>
            <a:r>
              <a:rPr lang="en-US" dirty="0" err="1"/>
              <a:t>dict1</a:t>
            </a:r>
            <a:r>
              <a:rPr lang="en-US" dirty="0"/>
              <a:t> = {'Name': 'Zara', 'Age': 7};</a:t>
            </a:r>
            <a:endParaRPr lang="en-IN" dirty="0"/>
          </a:p>
          <a:p>
            <a:r>
              <a:rPr lang="en-US" dirty="0" err="1"/>
              <a:t>dict2</a:t>
            </a:r>
            <a:r>
              <a:rPr lang="en-US" dirty="0"/>
              <a:t> = {'Name': '</a:t>
            </a:r>
            <a:r>
              <a:rPr lang="en-US" dirty="0" err="1"/>
              <a:t>Mahnaz</a:t>
            </a:r>
            <a:r>
              <a:rPr lang="en-US" dirty="0"/>
              <a:t>', 'Age': 27};</a:t>
            </a:r>
            <a:endParaRPr lang="en-IN" dirty="0"/>
          </a:p>
          <a:p>
            <a:r>
              <a:rPr lang="en-US" dirty="0" err="1"/>
              <a:t>dict3</a:t>
            </a:r>
            <a:r>
              <a:rPr lang="en-US" dirty="0"/>
              <a:t> = {'Name': '</a:t>
            </a:r>
            <a:r>
              <a:rPr lang="en-US" dirty="0" err="1"/>
              <a:t>Abid</a:t>
            </a:r>
            <a:r>
              <a:rPr lang="en-US" dirty="0"/>
              <a:t>', 'Age': 27};</a:t>
            </a:r>
            <a:endParaRPr lang="en-IN" dirty="0"/>
          </a:p>
          <a:p>
            <a:r>
              <a:rPr lang="en-US" dirty="0" err="1"/>
              <a:t>dict4</a:t>
            </a:r>
            <a:r>
              <a:rPr lang="en-US" dirty="0"/>
              <a:t> = {'Name': 'Zara', 'Age': 7</a:t>
            </a:r>
            <a:r>
              <a:rPr lang="en-US" dirty="0" smtClean="0"/>
              <a:t>};</a:t>
            </a:r>
            <a:r>
              <a:rPr lang="en-US" dirty="0"/>
              <a:t> </a:t>
            </a:r>
            <a:endParaRPr lang="en-IN" dirty="0"/>
          </a:p>
          <a:p>
            <a:r>
              <a:rPr lang="en-US" dirty="0"/>
              <a:t>print "Return Value : %d" %  </a:t>
            </a:r>
            <a:r>
              <a:rPr lang="en-US" dirty="0" err="1"/>
              <a:t>cmp</a:t>
            </a:r>
            <a:r>
              <a:rPr lang="en-US" dirty="0"/>
              <a:t>(</a:t>
            </a:r>
            <a:r>
              <a:rPr lang="en-US" dirty="0" err="1"/>
              <a:t>dict1</a:t>
            </a:r>
            <a:r>
              <a:rPr lang="en-US" dirty="0"/>
              <a:t>, </a:t>
            </a:r>
            <a:r>
              <a:rPr lang="en-US" dirty="0" err="1"/>
              <a:t>dict2</a:t>
            </a:r>
            <a:r>
              <a:rPr lang="en-US" dirty="0" smtClean="0"/>
              <a:t>)</a:t>
            </a:r>
            <a:endParaRPr lang="en-IN" dirty="0"/>
          </a:p>
          <a:p>
            <a:r>
              <a:rPr lang="en-US" dirty="0"/>
              <a:t>print "Return Value : %d" %  </a:t>
            </a:r>
            <a:r>
              <a:rPr lang="en-US" dirty="0" err="1"/>
              <a:t>cmp</a:t>
            </a:r>
            <a:r>
              <a:rPr lang="en-US" dirty="0"/>
              <a:t> (</a:t>
            </a:r>
            <a:r>
              <a:rPr lang="en-US" dirty="0" err="1"/>
              <a:t>dict2</a:t>
            </a:r>
            <a:r>
              <a:rPr lang="en-US" dirty="0"/>
              <a:t>, </a:t>
            </a:r>
            <a:r>
              <a:rPr lang="en-US" dirty="0" err="1"/>
              <a:t>dict3</a:t>
            </a:r>
            <a:r>
              <a:rPr lang="en-US" dirty="0" smtClean="0"/>
              <a:t>)</a:t>
            </a:r>
            <a:endParaRPr lang="en-IN" dirty="0"/>
          </a:p>
          <a:p>
            <a:r>
              <a:rPr lang="en-US" dirty="0"/>
              <a:t>print "Return Value : %d" %  </a:t>
            </a:r>
            <a:r>
              <a:rPr lang="en-US" dirty="0" err="1"/>
              <a:t>cmp</a:t>
            </a:r>
            <a:r>
              <a:rPr lang="en-US" dirty="0"/>
              <a:t> (</a:t>
            </a:r>
            <a:r>
              <a:rPr lang="en-US" dirty="0" err="1"/>
              <a:t>dict1</a:t>
            </a:r>
            <a:r>
              <a:rPr lang="en-US" dirty="0"/>
              <a:t>, </a:t>
            </a:r>
            <a:r>
              <a:rPr lang="en-US" dirty="0" err="1"/>
              <a:t>dict4</a:t>
            </a:r>
            <a:r>
              <a:rPr lang="en-US" dirty="0"/>
              <a:t>)</a:t>
            </a:r>
            <a:endParaRPr lang="en-IN" dirty="0"/>
          </a:p>
          <a:p>
            <a:r>
              <a:rPr lang="en-US" b="1" dirty="0"/>
              <a:t>Result</a:t>
            </a:r>
            <a:endParaRPr lang="en-IN" b="1" dirty="0"/>
          </a:p>
          <a:p>
            <a:r>
              <a:rPr lang="en-US" dirty="0"/>
              <a:t>Return Value : -1</a:t>
            </a:r>
            <a:endParaRPr lang="en-IN" dirty="0"/>
          </a:p>
          <a:p>
            <a:r>
              <a:rPr lang="en-US" dirty="0"/>
              <a:t>Return Value : 1</a:t>
            </a:r>
            <a:endParaRPr lang="en-IN" dirty="0"/>
          </a:p>
          <a:p>
            <a:r>
              <a:rPr lang="en-US" dirty="0"/>
              <a:t>Return Value : 0</a:t>
            </a:r>
            <a:endParaRPr lang="en-IN" dirty="0"/>
          </a:p>
        </p:txBody>
      </p:sp>
    </p:spTree>
    <p:extLst>
      <p:ext uri="{BB962C8B-B14F-4D97-AF65-F5344CB8AC3E}">
        <p14:creationId xmlns="" xmlns:p14="http://schemas.microsoft.com/office/powerpoint/2010/main" val="37747892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Built-in functions of Dictionary</a:t>
            </a:r>
            <a:endParaRPr lang="en-US" dirty="0"/>
          </a:p>
        </p:txBody>
      </p:sp>
      <p:sp>
        <p:nvSpPr>
          <p:cNvPr id="4" name="TextBox 3"/>
          <p:cNvSpPr txBox="1"/>
          <p:nvPr/>
        </p:nvSpPr>
        <p:spPr>
          <a:xfrm>
            <a:off x="228600" y="932557"/>
            <a:ext cx="8763000" cy="3693319"/>
          </a:xfrm>
          <a:prstGeom prst="rect">
            <a:avLst/>
          </a:prstGeom>
          <a:noFill/>
        </p:spPr>
        <p:txBody>
          <a:bodyPr wrap="square" rtlCol="0">
            <a:spAutoFit/>
          </a:bodyPr>
          <a:lstStyle/>
          <a:p>
            <a:r>
              <a:rPr lang="en-US" dirty="0" err="1"/>
              <a:t>len</a:t>
            </a:r>
            <a:r>
              <a:rPr lang="en-US" dirty="0"/>
              <a:t>(</a:t>
            </a:r>
            <a:r>
              <a:rPr lang="en-US" dirty="0" err="1"/>
              <a:t>dict</a:t>
            </a:r>
            <a:r>
              <a:rPr lang="en-US" dirty="0"/>
              <a:t>)</a:t>
            </a:r>
            <a:endParaRPr lang="en-IN" dirty="0"/>
          </a:p>
          <a:p>
            <a:r>
              <a:rPr lang="en-US" dirty="0"/>
              <a:t>The method </a:t>
            </a:r>
            <a:r>
              <a:rPr lang="en-US" dirty="0" err="1"/>
              <a:t>len</a:t>
            </a:r>
            <a:r>
              <a:rPr lang="en-US" dirty="0"/>
              <a:t>() gives the total length of the dictionary. This would be equal to the number of items in the dictionary.</a:t>
            </a:r>
            <a:endParaRPr lang="en-IN" dirty="0"/>
          </a:p>
          <a:p>
            <a:r>
              <a:rPr lang="en-US" b="1" dirty="0"/>
              <a:t>Syntax</a:t>
            </a:r>
            <a:endParaRPr lang="en-IN" b="1" dirty="0"/>
          </a:p>
          <a:p>
            <a:r>
              <a:rPr lang="en-US" dirty="0" err="1"/>
              <a:t>len</a:t>
            </a:r>
            <a:r>
              <a:rPr lang="en-US" dirty="0"/>
              <a:t>(</a:t>
            </a:r>
            <a:r>
              <a:rPr lang="en-US" dirty="0" err="1"/>
              <a:t>dict</a:t>
            </a:r>
            <a:r>
              <a:rPr lang="en-US" dirty="0"/>
              <a:t>)</a:t>
            </a:r>
            <a:endParaRPr lang="en-IN" dirty="0"/>
          </a:p>
          <a:p>
            <a:r>
              <a:rPr lang="en-US" dirty="0"/>
              <a:t> </a:t>
            </a:r>
            <a:endParaRPr lang="en-IN" dirty="0"/>
          </a:p>
          <a:p>
            <a:r>
              <a:rPr lang="en-US" b="1" dirty="0"/>
              <a:t>Example</a:t>
            </a:r>
            <a:endParaRPr lang="en-IN" b="1" dirty="0"/>
          </a:p>
          <a:p>
            <a:r>
              <a:rPr lang="en-US" dirty="0"/>
              <a:t> </a:t>
            </a:r>
            <a:endParaRPr lang="en-IN" dirty="0"/>
          </a:p>
          <a:p>
            <a:r>
              <a:rPr lang="en-US" dirty="0" err="1"/>
              <a:t>dict</a:t>
            </a:r>
            <a:r>
              <a:rPr lang="en-US" dirty="0"/>
              <a:t> = {'Name': '</a:t>
            </a:r>
            <a:r>
              <a:rPr lang="en-US" dirty="0" err="1"/>
              <a:t>Manni</a:t>
            </a:r>
            <a:r>
              <a:rPr lang="en-US" dirty="0"/>
              <a:t>', 'Age': 7, 'Class': 'First'}</a:t>
            </a:r>
            <a:endParaRPr lang="en-IN" dirty="0"/>
          </a:p>
          <a:p>
            <a:r>
              <a:rPr lang="en-US" dirty="0"/>
              <a:t>print ("Length ",</a:t>
            </a:r>
            <a:r>
              <a:rPr lang="en-US" dirty="0" err="1"/>
              <a:t>len</a:t>
            </a:r>
            <a:r>
              <a:rPr lang="en-US" dirty="0"/>
              <a:t> (</a:t>
            </a:r>
            <a:r>
              <a:rPr lang="en-US" dirty="0" err="1"/>
              <a:t>dict</a:t>
            </a:r>
            <a:r>
              <a:rPr lang="en-US" dirty="0"/>
              <a:t>))</a:t>
            </a:r>
            <a:endParaRPr lang="en-IN" dirty="0"/>
          </a:p>
          <a:p>
            <a:r>
              <a:rPr lang="en-US" b="1" dirty="0"/>
              <a:t>Result</a:t>
            </a:r>
            <a:endParaRPr lang="en-IN" b="1" dirty="0"/>
          </a:p>
          <a:p>
            <a:r>
              <a:rPr lang="en-US" dirty="0"/>
              <a:t>When we run above program, it produces the following result −</a:t>
            </a:r>
            <a:endParaRPr lang="en-IN" dirty="0"/>
          </a:p>
          <a:p>
            <a:r>
              <a:rPr lang="en-US" dirty="0"/>
              <a:t>Length : 3</a:t>
            </a:r>
            <a:endParaRPr lang="en-IN" dirty="0"/>
          </a:p>
        </p:txBody>
      </p:sp>
    </p:spTree>
    <p:extLst>
      <p:ext uri="{BB962C8B-B14F-4D97-AF65-F5344CB8AC3E}">
        <p14:creationId xmlns="" xmlns:p14="http://schemas.microsoft.com/office/powerpoint/2010/main" val="3412576605"/>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Built-in functions of Dictionary</a:t>
            </a:r>
            <a:endParaRPr lang="en-US" dirty="0"/>
          </a:p>
        </p:txBody>
      </p:sp>
      <p:sp>
        <p:nvSpPr>
          <p:cNvPr id="4" name="TextBox 3"/>
          <p:cNvSpPr txBox="1"/>
          <p:nvPr/>
        </p:nvSpPr>
        <p:spPr>
          <a:xfrm>
            <a:off x="228600" y="932557"/>
            <a:ext cx="8763000" cy="3693319"/>
          </a:xfrm>
          <a:prstGeom prst="rect">
            <a:avLst/>
          </a:prstGeom>
          <a:noFill/>
        </p:spPr>
        <p:txBody>
          <a:bodyPr wrap="square" rtlCol="0">
            <a:spAutoFit/>
          </a:bodyPr>
          <a:lstStyle/>
          <a:p>
            <a:r>
              <a:rPr lang="en-US" dirty="0" err="1"/>
              <a:t>str</a:t>
            </a:r>
            <a:r>
              <a:rPr lang="en-US" dirty="0"/>
              <a:t>(</a:t>
            </a:r>
            <a:r>
              <a:rPr lang="en-US" dirty="0" err="1"/>
              <a:t>dict</a:t>
            </a:r>
            <a:r>
              <a:rPr lang="en-US" dirty="0"/>
              <a:t>)</a:t>
            </a:r>
            <a:endParaRPr lang="en-IN" dirty="0"/>
          </a:p>
          <a:p>
            <a:r>
              <a:rPr lang="en-US" dirty="0"/>
              <a:t>The method </a:t>
            </a:r>
            <a:r>
              <a:rPr lang="en-US" dirty="0" err="1"/>
              <a:t>str</a:t>
            </a:r>
            <a:r>
              <a:rPr lang="en-US" dirty="0"/>
              <a:t>() produces a printable string representation of a dictionary.</a:t>
            </a:r>
            <a:endParaRPr lang="en-IN" dirty="0"/>
          </a:p>
          <a:p>
            <a:r>
              <a:rPr lang="en-US" b="1" dirty="0"/>
              <a:t>Syntax</a:t>
            </a:r>
            <a:endParaRPr lang="en-IN" b="1" dirty="0"/>
          </a:p>
          <a:p>
            <a:r>
              <a:rPr lang="en-US" dirty="0" err="1"/>
              <a:t>str</a:t>
            </a:r>
            <a:r>
              <a:rPr lang="en-US" dirty="0"/>
              <a:t>(</a:t>
            </a:r>
            <a:r>
              <a:rPr lang="en-US" dirty="0" err="1"/>
              <a:t>dict</a:t>
            </a:r>
            <a:r>
              <a:rPr lang="en-US" dirty="0"/>
              <a:t>)</a:t>
            </a:r>
            <a:endParaRPr lang="en-IN" dirty="0"/>
          </a:p>
          <a:p>
            <a:r>
              <a:rPr lang="en-US" b="1" dirty="0"/>
              <a:t> </a:t>
            </a:r>
            <a:endParaRPr lang="en-IN" b="1" dirty="0"/>
          </a:p>
          <a:p>
            <a:r>
              <a:rPr lang="en-US" b="1" dirty="0"/>
              <a:t>Return Value</a:t>
            </a:r>
            <a:endParaRPr lang="en-IN" b="1" dirty="0"/>
          </a:p>
          <a:p>
            <a:r>
              <a:rPr lang="en-US" dirty="0"/>
              <a:t>This method returns string representation.</a:t>
            </a:r>
            <a:endParaRPr lang="en-IN" dirty="0"/>
          </a:p>
          <a:p>
            <a:r>
              <a:rPr lang="en-US" b="1" dirty="0"/>
              <a:t> </a:t>
            </a:r>
            <a:endParaRPr lang="en-IN" b="1" dirty="0"/>
          </a:p>
          <a:p>
            <a:r>
              <a:rPr lang="en-US" b="1" dirty="0"/>
              <a:t>Example</a:t>
            </a:r>
            <a:endParaRPr lang="en-IN" b="1" dirty="0"/>
          </a:p>
          <a:p>
            <a:r>
              <a:rPr lang="en-US" dirty="0" err="1" smtClean="0"/>
              <a:t>dict</a:t>
            </a:r>
            <a:r>
              <a:rPr lang="en-US" dirty="0" smtClean="0"/>
              <a:t> </a:t>
            </a:r>
            <a:r>
              <a:rPr lang="en-US" dirty="0"/>
              <a:t>= {'Name': '</a:t>
            </a:r>
            <a:r>
              <a:rPr lang="en-US" dirty="0" err="1"/>
              <a:t>Manni</a:t>
            </a:r>
            <a:r>
              <a:rPr lang="en-US" dirty="0"/>
              <a:t>', 'Age': 7, 'Class': 'First'}</a:t>
            </a:r>
            <a:endParaRPr lang="en-IN" dirty="0"/>
          </a:p>
          <a:p>
            <a:r>
              <a:rPr lang="en-US" dirty="0"/>
              <a:t>print ("Equivalent String : %s" % </a:t>
            </a:r>
            <a:r>
              <a:rPr lang="en-US" dirty="0" err="1"/>
              <a:t>str</a:t>
            </a:r>
            <a:r>
              <a:rPr lang="en-US" dirty="0"/>
              <a:t>(</a:t>
            </a:r>
            <a:r>
              <a:rPr lang="en-US" dirty="0" err="1"/>
              <a:t>dict</a:t>
            </a:r>
            <a:r>
              <a:rPr lang="en-US" dirty="0"/>
              <a:t>))</a:t>
            </a:r>
            <a:endParaRPr lang="en-IN" dirty="0"/>
          </a:p>
          <a:p>
            <a:r>
              <a:rPr lang="en-US" b="1" dirty="0"/>
              <a:t>Result</a:t>
            </a:r>
            <a:endParaRPr lang="en-IN" b="1" dirty="0"/>
          </a:p>
          <a:p>
            <a:r>
              <a:rPr lang="en-US" dirty="0"/>
              <a:t>Equivalent String : {'Name': '</a:t>
            </a:r>
            <a:r>
              <a:rPr lang="en-US" dirty="0" err="1"/>
              <a:t>Manni</a:t>
            </a:r>
            <a:r>
              <a:rPr lang="en-US" dirty="0"/>
              <a:t>', 'Age': 7, 'Class': 'First'}</a:t>
            </a:r>
            <a:endParaRPr lang="en-IN" dirty="0"/>
          </a:p>
        </p:txBody>
      </p:sp>
    </p:spTree>
    <p:extLst>
      <p:ext uri="{BB962C8B-B14F-4D97-AF65-F5344CB8AC3E}">
        <p14:creationId xmlns="" xmlns:p14="http://schemas.microsoft.com/office/powerpoint/2010/main" val="225527608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Built-in functions of Dictionary</a:t>
            </a:r>
            <a:endParaRPr lang="en-US" dirty="0"/>
          </a:p>
        </p:txBody>
      </p:sp>
      <p:sp>
        <p:nvSpPr>
          <p:cNvPr id="4" name="TextBox 3"/>
          <p:cNvSpPr txBox="1"/>
          <p:nvPr/>
        </p:nvSpPr>
        <p:spPr>
          <a:xfrm>
            <a:off x="228600" y="932557"/>
            <a:ext cx="8763000" cy="3970318"/>
          </a:xfrm>
          <a:prstGeom prst="rect">
            <a:avLst/>
          </a:prstGeom>
          <a:noFill/>
        </p:spPr>
        <p:txBody>
          <a:bodyPr wrap="square" rtlCol="0">
            <a:spAutoFit/>
          </a:bodyPr>
          <a:lstStyle/>
          <a:p>
            <a:r>
              <a:rPr lang="en-US" dirty="0"/>
              <a:t>type(</a:t>
            </a:r>
            <a:r>
              <a:rPr lang="en-US" dirty="0" err="1"/>
              <a:t>dict</a:t>
            </a:r>
            <a:r>
              <a:rPr lang="en-US" dirty="0"/>
              <a:t>)</a:t>
            </a:r>
            <a:endParaRPr lang="en-IN" dirty="0"/>
          </a:p>
          <a:p>
            <a:r>
              <a:rPr lang="en-US" dirty="0"/>
              <a:t>The method type() returns the type of the passed variable. If passed variable is dictionary then it would return a dictionary type.</a:t>
            </a:r>
            <a:endParaRPr lang="en-IN" dirty="0"/>
          </a:p>
          <a:p>
            <a:r>
              <a:rPr lang="en-US" b="1" dirty="0"/>
              <a:t>Syntax</a:t>
            </a:r>
            <a:endParaRPr lang="en-IN" b="1" dirty="0"/>
          </a:p>
          <a:p>
            <a:r>
              <a:rPr lang="en-US" dirty="0"/>
              <a:t>type(</a:t>
            </a:r>
            <a:r>
              <a:rPr lang="en-US" dirty="0" err="1"/>
              <a:t>dict</a:t>
            </a:r>
            <a:r>
              <a:rPr lang="en-US" dirty="0"/>
              <a:t>)</a:t>
            </a:r>
            <a:endParaRPr lang="en-IN" dirty="0"/>
          </a:p>
          <a:p>
            <a:r>
              <a:rPr lang="en-US" dirty="0"/>
              <a:t> </a:t>
            </a:r>
            <a:endParaRPr lang="en-IN" dirty="0"/>
          </a:p>
          <a:p>
            <a:r>
              <a:rPr lang="en-US" b="1" dirty="0"/>
              <a:t>Example</a:t>
            </a:r>
            <a:endParaRPr lang="en-IN" b="1" dirty="0"/>
          </a:p>
          <a:p>
            <a:r>
              <a:rPr lang="en-US" dirty="0"/>
              <a:t>The following example shows the usage of type() method.</a:t>
            </a:r>
            <a:endParaRPr lang="en-IN" dirty="0"/>
          </a:p>
          <a:p>
            <a:r>
              <a:rPr lang="en-US" dirty="0"/>
              <a:t> </a:t>
            </a:r>
            <a:endParaRPr lang="en-IN" dirty="0"/>
          </a:p>
          <a:p>
            <a:r>
              <a:rPr lang="en-US" dirty="0"/>
              <a:t> </a:t>
            </a:r>
            <a:endParaRPr lang="en-IN" dirty="0"/>
          </a:p>
          <a:p>
            <a:r>
              <a:rPr lang="en-US" dirty="0" err="1"/>
              <a:t>dict</a:t>
            </a:r>
            <a:r>
              <a:rPr lang="en-US" dirty="0"/>
              <a:t> = {'Name': '</a:t>
            </a:r>
            <a:r>
              <a:rPr lang="en-US" dirty="0" err="1"/>
              <a:t>Manni</a:t>
            </a:r>
            <a:r>
              <a:rPr lang="en-US" dirty="0"/>
              <a:t>', 'Age': 7, 'Class': 'First'}</a:t>
            </a:r>
            <a:endParaRPr lang="en-IN" dirty="0"/>
          </a:p>
          <a:p>
            <a:r>
              <a:rPr lang="en-US" dirty="0"/>
              <a:t>print ("Variable Type : %s" %  type (</a:t>
            </a:r>
            <a:r>
              <a:rPr lang="en-US" dirty="0" err="1"/>
              <a:t>dict</a:t>
            </a:r>
            <a:r>
              <a:rPr lang="en-US" dirty="0"/>
              <a:t>))</a:t>
            </a:r>
            <a:endParaRPr lang="en-IN" dirty="0"/>
          </a:p>
          <a:p>
            <a:r>
              <a:rPr lang="en-US" b="1" dirty="0"/>
              <a:t>Result</a:t>
            </a:r>
            <a:endParaRPr lang="en-IN" b="1" dirty="0"/>
          </a:p>
          <a:p>
            <a:r>
              <a:rPr lang="en-US" dirty="0"/>
              <a:t>Variable Type : &lt;type '</a:t>
            </a:r>
            <a:r>
              <a:rPr lang="en-US" dirty="0" err="1"/>
              <a:t>dict</a:t>
            </a:r>
            <a:r>
              <a:rPr lang="en-US" dirty="0"/>
              <a:t>'&gt;</a:t>
            </a:r>
            <a:endParaRPr lang="en-IN" dirty="0"/>
          </a:p>
        </p:txBody>
      </p:sp>
    </p:spTree>
    <p:extLst>
      <p:ext uri="{BB962C8B-B14F-4D97-AF65-F5344CB8AC3E}">
        <p14:creationId xmlns="" xmlns:p14="http://schemas.microsoft.com/office/powerpoint/2010/main" val="103443097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Built-in functions of Dictionary</a:t>
            </a:r>
            <a:endParaRPr lang="en-US" dirty="0"/>
          </a:p>
        </p:txBody>
      </p:sp>
      <p:sp>
        <p:nvSpPr>
          <p:cNvPr id="4" name="TextBox 3"/>
          <p:cNvSpPr txBox="1"/>
          <p:nvPr/>
        </p:nvSpPr>
        <p:spPr>
          <a:xfrm>
            <a:off x="228600" y="932557"/>
            <a:ext cx="8763000" cy="4247317"/>
          </a:xfrm>
          <a:prstGeom prst="rect">
            <a:avLst/>
          </a:prstGeom>
          <a:noFill/>
        </p:spPr>
        <p:txBody>
          <a:bodyPr wrap="square" rtlCol="0">
            <a:spAutoFit/>
          </a:bodyPr>
          <a:lstStyle/>
          <a:p>
            <a:r>
              <a:rPr lang="en-US" b="1" dirty="0" err="1"/>
              <a:t>dict.clear</a:t>
            </a:r>
            <a:r>
              <a:rPr lang="en-US" b="1" dirty="0"/>
              <a:t>()</a:t>
            </a:r>
            <a:endParaRPr lang="en-IN" b="1" dirty="0"/>
          </a:p>
          <a:p>
            <a:r>
              <a:rPr lang="en-US" dirty="0"/>
              <a:t>The method clear() removes all items from the dictionary.</a:t>
            </a:r>
            <a:endParaRPr lang="en-IN" dirty="0"/>
          </a:p>
          <a:p>
            <a:r>
              <a:rPr lang="en-US" b="1" dirty="0"/>
              <a:t>Syntax</a:t>
            </a:r>
            <a:endParaRPr lang="en-IN" b="1" dirty="0"/>
          </a:p>
          <a:p>
            <a:r>
              <a:rPr lang="en-US" dirty="0" err="1"/>
              <a:t>dict.clear</a:t>
            </a:r>
            <a:r>
              <a:rPr lang="en-US" dirty="0"/>
              <a:t>()</a:t>
            </a:r>
            <a:endParaRPr lang="en-IN" dirty="0"/>
          </a:p>
          <a:p>
            <a:r>
              <a:rPr lang="en-US" b="1" dirty="0"/>
              <a:t>Example</a:t>
            </a:r>
            <a:endParaRPr lang="en-IN" b="1" dirty="0"/>
          </a:p>
          <a:p>
            <a:r>
              <a:rPr lang="en-US" dirty="0"/>
              <a:t> </a:t>
            </a:r>
            <a:endParaRPr lang="en-IN" dirty="0"/>
          </a:p>
          <a:p>
            <a:r>
              <a:rPr lang="en-US" dirty="0" err="1"/>
              <a:t>dict</a:t>
            </a:r>
            <a:r>
              <a:rPr lang="en-US" dirty="0"/>
              <a:t> = {'Name': 'Zara', 'Age': 7}</a:t>
            </a:r>
            <a:endParaRPr lang="en-IN" dirty="0"/>
          </a:p>
          <a:p>
            <a:r>
              <a:rPr lang="en-US" dirty="0"/>
              <a:t>print ("Start Len : %d" %  </a:t>
            </a:r>
            <a:r>
              <a:rPr lang="en-US" dirty="0" err="1"/>
              <a:t>len</a:t>
            </a:r>
            <a:r>
              <a:rPr lang="en-US" dirty="0"/>
              <a:t>(</a:t>
            </a:r>
            <a:r>
              <a:rPr lang="en-US" dirty="0" err="1"/>
              <a:t>dict</a:t>
            </a:r>
            <a:r>
              <a:rPr lang="en-US" dirty="0"/>
              <a:t>))</a:t>
            </a:r>
            <a:endParaRPr lang="en-IN" dirty="0"/>
          </a:p>
          <a:p>
            <a:r>
              <a:rPr lang="en-US" dirty="0"/>
              <a:t> </a:t>
            </a:r>
            <a:endParaRPr lang="en-IN" dirty="0"/>
          </a:p>
          <a:p>
            <a:r>
              <a:rPr lang="en-US" dirty="0" err="1"/>
              <a:t>dict.clear</a:t>
            </a:r>
            <a:r>
              <a:rPr lang="en-US" dirty="0"/>
              <a:t>()</a:t>
            </a:r>
            <a:endParaRPr lang="en-IN" dirty="0"/>
          </a:p>
          <a:p>
            <a:r>
              <a:rPr lang="en-US" dirty="0"/>
              <a:t>print ("End Len : %d" %  </a:t>
            </a:r>
            <a:r>
              <a:rPr lang="en-US" dirty="0" err="1"/>
              <a:t>len</a:t>
            </a:r>
            <a:r>
              <a:rPr lang="en-US" dirty="0"/>
              <a:t>(</a:t>
            </a:r>
            <a:r>
              <a:rPr lang="en-US" dirty="0" err="1"/>
              <a:t>dict</a:t>
            </a:r>
            <a:r>
              <a:rPr lang="en-US" dirty="0"/>
              <a:t>))</a:t>
            </a:r>
            <a:endParaRPr lang="en-IN" dirty="0"/>
          </a:p>
          <a:p>
            <a:r>
              <a:rPr lang="en-US" b="1" dirty="0"/>
              <a:t>Result</a:t>
            </a:r>
            <a:endParaRPr lang="en-IN" b="1" dirty="0"/>
          </a:p>
          <a:p>
            <a:r>
              <a:rPr lang="en-US" dirty="0"/>
              <a:t>When we run above program, it produces the following result −</a:t>
            </a:r>
            <a:endParaRPr lang="en-IN" dirty="0"/>
          </a:p>
          <a:p>
            <a:r>
              <a:rPr lang="en-US" dirty="0"/>
              <a:t>Start Len : 2</a:t>
            </a:r>
            <a:endParaRPr lang="en-IN" dirty="0"/>
          </a:p>
          <a:p>
            <a:r>
              <a:rPr lang="en-US" dirty="0"/>
              <a:t>End Len : 0</a:t>
            </a:r>
            <a:endParaRPr lang="en-IN" dirty="0"/>
          </a:p>
        </p:txBody>
      </p:sp>
    </p:spTree>
    <p:extLst>
      <p:ext uri="{BB962C8B-B14F-4D97-AF65-F5344CB8AC3E}">
        <p14:creationId xmlns="" xmlns:p14="http://schemas.microsoft.com/office/powerpoint/2010/main" val="3266662661"/>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Built-in functions of Dictionary</a:t>
            </a:r>
            <a:endParaRPr lang="en-US" dirty="0"/>
          </a:p>
        </p:txBody>
      </p:sp>
      <p:sp>
        <p:nvSpPr>
          <p:cNvPr id="4" name="TextBox 3"/>
          <p:cNvSpPr txBox="1"/>
          <p:nvPr/>
        </p:nvSpPr>
        <p:spPr>
          <a:xfrm>
            <a:off x="228600" y="932557"/>
            <a:ext cx="8763000" cy="3970318"/>
          </a:xfrm>
          <a:prstGeom prst="rect">
            <a:avLst/>
          </a:prstGeom>
          <a:noFill/>
        </p:spPr>
        <p:txBody>
          <a:bodyPr wrap="square" rtlCol="0">
            <a:spAutoFit/>
          </a:bodyPr>
          <a:lstStyle/>
          <a:p>
            <a:r>
              <a:rPr lang="en-US" b="1" dirty="0" err="1"/>
              <a:t>dict.copy</a:t>
            </a:r>
            <a:r>
              <a:rPr lang="en-US" b="1" dirty="0"/>
              <a:t>()</a:t>
            </a:r>
            <a:endParaRPr lang="en-IN" b="1" dirty="0"/>
          </a:p>
          <a:p>
            <a:r>
              <a:rPr lang="en-US" dirty="0"/>
              <a:t>The method copy() returns a shallow copy of the dictionary.</a:t>
            </a:r>
            <a:endParaRPr lang="en-IN" dirty="0"/>
          </a:p>
          <a:p>
            <a:r>
              <a:rPr lang="en-US" b="1" dirty="0"/>
              <a:t>Syntax</a:t>
            </a:r>
            <a:endParaRPr lang="en-IN" b="1" dirty="0"/>
          </a:p>
          <a:p>
            <a:r>
              <a:rPr lang="en-US" dirty="0" err="1"/>
              <a:t>dict.copy</a:t>
            </a:r>
            <a:r>
              <a:rPr lang="en-US" dirty="0"/>
              <a:t>()</a:t>
            </a:r>
            <a:endParaRPr lang="en-IN" dirty="0"/>
          </a:p>
          <a:p>
            <a:r>
              <a:rPr lang="en-US" dirty="0"/>
              <a:t> </a:t>
            </a:r>
            <a:endParaRPr lang="en-IN" dirty="0"/>
          </a:p>
          <a:p>
            <a:r>
              <a:rPr lang="en-US" b="1" dirty="0"/>
              <a:t> </a:t>
            </a:r>
            <a:endParaRPr lang="en-IN" b="1" dirty="0"/>
          </a:p>
          <a:p>
            <a:r>
              <a:rPr lang="en-US" b="1" dirty="0"/>
              <a:t>Example</a:t>
            </a:r>
            <a:endParaRPr lang="en-IN" b="1" dirty="0"/>
          </a:p>
          <a:p>
            <a:r>
              <a:rPr lang="en-US" dirty="0"/>
              <a:t> </a:t>
            </a:r>
            <a:endParaRPr lang="en-IN" dirty="0"/>
          </a:p>
          <a:p>
            <a:r>
              <a:rPr lang="en-US" dirty="0" err="1"/>
              <a:t>dict1</a:t>
            </a:r>
            <a:r>
              <a:rPr lang="en-US" dirty="0"/>
              <a:t> = {'Name': '</a:t>
            </a:r>
            <a:r>
              <a:rPr lang="en-US" dirty="0" err="1"/>
              <a:t>Manni</a:t>
            </a:r>
            <a:r>
              <a:rPr lang="en-US" dirty="0"/>
              <a:t>', 'Age': 7, 'Class': 'First'}</a:t>
            </a:r>
            <a:endParaRPr lang="en-IN" dirty="0"/>
          </a:p>
          <a:p>
            <a:r>
              <a:rPr lang="en-US" dirty="0" err="1"/>
              <a:t>dict2</a:t>
            </a:r>
            <a:r>
              <a:rPr lang="en-US" dirty="0"/>
              <a:t> = </a:t>
            </a:r>
            <a:r>
              <a:rPr lang="en-US" dirty="0" err="1"/>
              <a:t>dict1.copy</a:t>
            </a:r>
            <a:r>
              <a:rPr lang="en-US" dirty="0"/>
              <a:t>()</a:t>
            </a:r>
            <a:endParaRPr lang="en-IN" dirty="0"/>
          </a:p>
          <a:p>
            <a:r>
              <a:rPr lang="en-US" dirty="0"/>
              <a:t>print ("New Dictionary : ",</a:t>
            </a:r>
            <a:r>
              <a:rPr lang="en-US" dirty="0" err="1"/>
              <a:t>dict2</a:t>
            </a:r>
            <a:r>
              <a:rPr lang="en-US" dirty="0"/>
              <a:t>)</a:t>
            </a:r>
            <a:endParaRPr lang="en-IN" dirty="0"/>
          </a:p>
          <a:p>
            <a:r>
              <a:rPr lang="en-US" b="1" dirty="0"/>
              <a:t>Result</a:t>
            </a:r>
            <a:endParaRPr lang="en-IN" b="1" dirty="0"/>
          </a:p>
          <a:p>
            <a:r>
              <a:rPr lang="en-US" dirty="0"/>
              <a:t>When we run above program, it produces the following result −</a:t>
            </a:r>
            <a:endParaRPr lang="en-IN" dirty="0"/>
          </a:p>
          <a:p>
            <a:r>
              <a:rPr lang="en-US" dirty="0"/>
              <a:t>New dictionary :  {'Name': '</a:t>
            </a:r>
            <a:r>
              <a:rPr lang="en-US" dirty="0" err="1"/>
              <a:t>Manni</a:t>
            </a:r>
            <a:r>
              <a:rPr lang="en-US" dirty="0"/>
              <a:t>', 'Age': 7, 'Class': 'First'}</a:t>
            </a:r>
            <a:endParaRPr lang="en-IN" dirty="0"/>
          </a:p>
        </p:txBody>
      </p:sp>
    </p:spTree>
    <p:extLst>
      <p:ext uri="{BB962C8B-B14F-4D97-AF65-F5344CB8AC3E}">
        <p14:creationId xmlns="" xmlns:p14="http://schemas.microsoft.com/office/powerpoint/2010/main" val="1654099850"/>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Built-in functions of Dictionary</a:t>
            </a:r>
            <a:endParaRPr lang="en-US" dirty="0"/>
          </a:p>
        </p:txBody>
      </p:sp>
      <p:sp>
        <p:nvSpPr>
          <p:cNvPr id="4" name="TextBox 3"/>
          <p:cNvSpPr txBox="1"/>
          <p:nvPr/>
        </p:nvSpPr>
        <p:spPr>
          <a:xfrm>
            <a:off x="228600" y="932557"/>
            <a:ext cx="8763000" cy="3139321"/>
          </a:xfrm>
          <a:prstGeom prst="rect">
            <a:avLst/>
          </a:prstGeom>
          <a:noFill/>
        </p:spPr>
        <p:txBody>
          <a:bodyPr wrap="square" rtlCol="0">
            <a:spAutoFit/>
          </a:bodyPr>
          <a:lstStyle/>
          <a:p>
            <a:r>
              <a:rPr lang="en-US" b="1" dirty="0" err="1"/>
              <a:t>dict.items</a:t>
            </a:r>
            <a:r>
              <a:rPr lang="en-US" b="1" dirty="0"/>
              <a:t>()</a:t>
            </a:r>
            <a:endParaRPr lang="en-IN" b="1" dirty="0"/>
          </a:p>
          <a:p>
            <a:r>
              <a:rPr lang="en-US" dirty="0"/>
              <a:t>The method items() returns a list of </a:t>
            </a:r>
            <a:r>
              <a:rPr lang="en-US" dirty="0" err="1"/>
              <a:t>dict's</a:t>
            </a:r>
            <a:r>
              <a:rPr lang="en-US" dirty="0"/>
              <a:t> (key, value) tuple pairs</a:t>
            </a:r>
            <a:endParaRPr lang="en-IN" dirty="0"/>
          </a:p>
          <a:p>
            <a:r>
              <a:rPr lang="en-US" b="1" dirty="0"/>
              <a:t>Syntax</a:t>
            </a:r>
            <a:endParaRPr lang="en-IN" b="1" dirty="0"/>
          </a:p>
          <a:p>
            <a:r>
              <a:rPr lang="en-US" dirty="0" err="1"/>
              <a:t>dict.items</a:t>
            </a:r>
            <a:r>
              <a:rPr lang="en-US" dirty="0"/>
              <a:t>()</a:t>
            </a:r>
            <a:endParaRPr lang="en-IN" dirty="0"/>
          </a:p>
          <a:p>
            <a:r>
              <a:rPr lang="en-US" dirty="0"/>
              <a:t> </a:t>
            </a:r>
            <a:endParaRPr lang="en-IN" dirty="0"/>
          </a:p>
          <a:p>
            <a:r>
              <a:rPr lang="en-US" b="1" dirty="0"/>
              <a:t>Example</a:t>
            </a:r>
            <a:endParaRPr lang="en-IN" b="1" dirty="0"/>
          </a:p>
          <a:p>
            <a:r>
              <a:rPr lang="en-US" dirty="0"/>
              <a:t> </a:t>
            </a:r>
            <a:endParaRPr lang="en-IN" dirty="0"/>
          </a:p>
          <a:p>
            <a:r>
              <a:rPr lang="en-US" dirty="0" err="1"/>
              <a:t>dict2</a:t>
            </a:r>
            <a:r>
              <a:rPr lang="en-US" dirty="0"/>
              <a:t> = {'Name': 'Zara', 'Age': 7}</a:t>
            </a:r>
            <a:endParaRPr lang="en-IN" dirty="0"/>
          </a:p>
          <a:p>
            <a:r>
              <a:rPr lang="en-US" dirty="0"/>
              <a:t>print ("Value : %s" %  </a:t>
            </a:r>
            <a:r>
              <a:rPr lang="en-US" dirty="0" err="1"/>
              <a:t>dict.items</a:t>
            </a:r>
            <a:r>
              <a:rPr lang="en-US" dirty="0"/>
              <a:t>())</a:t>
            </a:r>
            <a:endParaRPr lang="en-IN" dirty="0"/>
          </a:p>
          <a:p>
            <a:r>
              <a:rPr lang="en-US" b="1" dirty="0"/>
              <a:t>Result</a:t>
            </a:r>
            <a:endParaRPr lang="en-IN" b="1" dirty="0"/>
          </a:p>
          <a:p>
            <a:r>
              <a:rPr lang="en-US" dirty="0"/>
              <a:t>Value : [('Age', 7), ('Name', 'Zara')]</a:t>
            </a:r>
            <a:endParaRPr lang="en-IN" dirty="0"/>
          </a:p>
        </p:txBody>
      </p:sp>
    </p:spTree>
    <p:extLst>
      <p:ext uri="{BB962C8B-B14F-4D97-AF65-F5344CB8AC3E}">
        <p14:creationId xmlns="" xmlns:p14="http://schemas.microsoft.com/office/powerpoint/2010/main" val="120810410"/>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Built-in functions of Dictionary</a:t>
            </a:r>
            <a:endParaRPr lang="en-US" dirty="0"/>
          </a:p>
        </p:txBody>
      </p:sp>
      <p:sp>
        <p:nvSpPr>
          <p:cNvPr id="4" name="TextBox 3"/>
          <p:cNvSpPr txBox="1"/>
          <p:nvPr/>
        </p:nvSpPr>
        <p:spPr>
          <a:xfrm>
            <a:off x="228600" y="932557"/>
            <a:ext cx="8763000" cy="3416320"/>
          </a:xfrm>
          <a:prstGeom prst="rect">
            <a:avLst/>
          </a:prstGeom>
          <a:noFill/>
        </p:spPr>
        <p:txBody>
          <a:bodyPr wrap="square" rtlCol="0">
            <a:spAutoFit/>
          </a:bodyPr>
          <a:lstStyle/>
          <a:p>
            <a:r>
              <a:rPr lang="en-US" b="1" dirty="0" err="1"/>
              <a:t>dict.keys</a:t>
            </a:r>
            <a:r>
              <a:rPr lang="en-US" b="1" dirty="0"/>
              <a:t>()</a:t>
            </a:r>
            <a:endParaRPr lang="en-IN" b="1" dirty="0"/>
          </a:p>
          <a:p>
            <a:r>
              <a:rPr lang="en-US" dirty="0"/>
              <a:t>The method keys() returns a list of all the available keys in the dictionary.</a:t>
            </a:r>
            <a:endParaRPr lang="en-IN" dirty="0"/>
          </a:p>
          <a:p>
            <a:r>
              <a:rPr lang="en-US" b="1" dirty="0"/>
              <a:t>Syntax</a:t>
            </a:r>
            <a:endParaRPr lang="en-IN" b="1" dirty="0"/>
          </a:p>
          <a:p>
            <a:r>
              <a:rPr lang="en-US" dirty="0" err="1"/>
              <a:t>dict.keys</a:t>
            </a:r>
            <a:r>
              <a:rPr lang="en-US" dirty="0"/>
              <a:t>()</a:t>
            </a:r>
            <a:endParaRPr lang="en-IN" dirty="0"/>
          </a:p>
          <a:p>
            <a:r>
              <a:rPr lang="en-US" dirty="0"/>
              <a:t> </a:t>
            </a:r>
            <a:endParaRPr lang="en-IN" dirty="0"/>
          </a:p>
          <a:p>
            <a:r>
              <a:rPr lang="en-US" b="1" dirty="0"/>
              <a:t> </a:t>
            </a:r>
            <a:endParaRPr lang="en-IN" b="1" dirty="0"/>
          </a:p>
          <a:p>
            <a:r>
              <a:rPr lang="en-US" b="1" dirty="0"/>
              <a:t>Example</a:t>
            </a:r>
            <a:endParaRPr lang="en-IN" b="1" dirty="0"/>
          </a:p>
          <a:p>
            <a:r>
              <a:rPr lang="en-US" dirty="0"/>
              <a:t> </a:t>
            </a:r>
            <a:endParaRPr lang="en-IN" dirty="0"/>
          </a:p>
          <a:p>
            <a:r>
              <a:rPr lang="en-US" dirty="0" err="1"/>
              <a:t>dict</a:t>
            </a:r>
            <a:r>
              <a:rPr lang="en-US" dirty="0"/>
              <a:t> = {'Name': 'Zara', 'Age': 7}</a:t>
            </a:r>
            <a:endParaRPr lang="en-IN" dirty="0"/>
          </a:p>
          <a:p>
            <a:r>
              <a:rPr lang="en-US" dirty="0"/>
              <a:t>print ("keys : %s" %  </a:t>
            </a:r>
            <a:r>
              <a:rPr lang="en-US" dirty="0" err="1"/>
              <a:t>dict.keys</a:t>
            </a:r>
            <a:r>
              <a:rPr lang="en-US" dirty="0"/>
              <a:t>())</a:t>
            </a:r>
            <a:endParaRPr lang="en-IN" dirty="0"/>
          </a:p>
          <a:p>
            <a:r>
              <a:rPr lang="en-US" b="1" dirty="0"/>
              <a:t>Result</a:t>
            </a:r>
            <a:endParaRPr lang="en-IN" b="1" dirty="0"/>
          </a:p>
          <a:p>
            <a:r>
              <a:rPr lang="en-US" dirty="0"/>
              <a:t>keys : </a:t>
            </a:r>
            <a:r>
              <a:rPr lang="en-US" dirty="0" err="1"/>
              <a:t>dict_keys</a:t>
            </a:r>
            <a:r>
              <a:rPr lang="en-US" dirty="0"/>
              <a:t>(['Age', 'Name'])</a:t>
            </a:r>
            <a:endParaRPr lang="en-IN" dirty="0"/>
          </a:p>
        </p:txBody>
      </p:sp>
    </p:spTree>
    <p:extLst>
      <p:ext uri="{BB962C8B-B14F-4D97-AF65-F5344CB8AC3E}">
        <p14:creationId xmlns="" xmlns:p14="http://schemas.microsoft.com/office/powerpoint/2010/main" val="4063178829"/>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Built-in functions of Dictionary</a:t>
            </a:r>
            <a:endParaRPr lang="en-US" dirty="0"/>
          </a:p>
        </p:txBody>
      </p:sp>
      <p:sp>
        <p:nvSpPr>
          <p:cNvPr id="4" name="TextBox 3"/>
          <p:cNvSpPr txBox="1"/>
          <p:nvPr/>
        </p:nvSpPr>
        <p:spPr>
          <a:xfrm>
            <a:off x="228600" y="932557"/>
            <a:ext cx="8763000" cy="3139321"/>
          </a:xfrm>
          <a:prstGeom prst="rect">
            <a:avLst/>
          </a:prstGeom>
          <a:noFill/>
        </p:spPr>
        <p:txBody>
          <a:bodyPr wrap="square" rtlCol="0">
            <a:spAutoFit/>
          </a:bodyPr>
          <a:lstStyle/>
          <a:p>
            <a:r>
              <a:rPr lang="en-US" b="1" dirty="0" err="1"/>
              <a:t>dict.values</a:t>
            </a:r>
            <a:r>
              <a:rPr lang="en-US" b="1" dirty="0"/>
              <a:t>()</a:t>
            </a:r>
            <a:endParaRPr lang="en-IN" b="1" dirty="0"/>
          </a:p>
          <a:p>
            <a:r>
              <a:rPr lang="en-US" dirty="0"/>
              <a:t>The method values() returns a list of all the values available in a given dictionary.</a:t>
            </a:r>
            <a:endParaRPr lang="en-IN" dirty="0"/>
          </a:p>
          <a:p>
            <a:r>
              <a:rPr lang="en-US" b="1" dirty="0"/>
              <a:t>Syntax</a:t>
            </a:r>
            <a:endParaRPr lang="en-IN" b="1" dirty="0"/>
          </a:p>
          <a:p>
            <a:r>
              <a:rPr lang="en-US" dirty="0" err="1"/>
              <a:t>dict.values</a:t>
            </a:r>
            <a:r>
              <a:rPr lang="en-US" dirty="0"/>
              <a:t>()</a:t>
            </a:r>
            <a:endParaRPr lang="en-IN" dirty="0"/>
          </a:p>
          <a:p>
            <a:r>
              <a:rPr lang="en-US" dirty="0"/>
              <a:t> </a:t>
            </a:r>
            <a:endParaRPr lang="en-IN" dirty="0"/>
          </a:p>
          <a:p>
            <a:r>
              <a:rPr lang="en-US" b="1" dirty="0"/>
              <a:t>Example</a:t>
            </a:r>
            <a:endParaRPr lang="en-IN" b="1" dirty="0"/>
          </a:p>
          <a:p>
            <a:r>
              <a:rPr lang="en-US" dirty="0"/>
              <a:t> </a:t>
            </a:r>
            <a:endParaRPr lang="en-IN" dirty="0"/>
          </a:p>
          <a:p>
            <a:r>
              <a:rPr lang="en-US" dirty="0" err="1"/>
              <a:t>dict</a:t>
            </a:r>
            <a:r>
              <a:rPr lang="en-US" dirty="0"/>
              <a:t> = {'Gender': 'female', 'Age': 7, 'Name': 'Zara'}</a:t>
            </a:r>
            <a:endParaRPr lang="en-IN" dirty="0"/>
          </a:p>
          <a:p>
            <a:r>
              <a:rPr lang="en-US" dirty="0"/>
              <a:t>print ("Values : ",  list(</a:t>
            </a:r>
            <a:r>
              <a:rPr lang="en-US" dirty="0" err="1"/>
              <a:t>dict.values</a:t>
            </a:r>
            <a:r>
              <a:rPr lang="en-US" dirty="0"/>
              <a:t>()))</a:t>
            </a:r>
            <a:endParaRPr lang="en-IN" dirty="0"/>
          </a:p>
          <a:p>
            <a:r>
              <a:rPr lang="en-US" b="1" dirty="0"/>
              <a:t>Result</a:t>
            </a:r>
            <a:endParaRPr lang="en-IN" b="1" dirty="0"/>
          </a:p>
          <a:p>
            <a:r>
              <a:rPr lang="en-US" dirty="0"/>
              <a:t>Values :  ['female', 7, 'Zara']</a:t>
            </a:r>
            <a:endParaRPr lang="en-IN" dirty="0"/>
          </a:p>
        </p:txBody>
      </p:sp>
    </p:spTree>
    <p:extLst>
      <p:ext uri="{BB962C8B-B14F-4D97-AF65-F5344CB8AC3E}">
        <p14:creationId xmlns="" xmlns:p14="http://schemas.microsoft.com/office/powerpoint/2010/main" val="3425898211"/>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Functions in Python</a:t>
            </a:r>
            <a:endParaRPr lang="en-US" dirty="0"/>
          </a:p>
        </p:txBody>
      </p:sp>
      <p:sp>
        <p:nvSpPr>
          <p:cNvPr id="4" name="TextBox 3"/>
          <p:cNvSpPr txBox="1"/>
          <p:nvPr/>
        </p:nvSpPr>
        <p:spPr>
          <a:xfrm>
            <a:off x="228600" y="932557"/>
            <a:ext cx="8763000" cy="397031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A function is a block of code which only runs when it is called</a:t>
            </a:r>
            <a:r>
              <a:rPr lang="en-US" sz="2800" dirty="0" smtClean="0"/>
              <a:t>.</a:t>
            </a:r>
            <a:endParaRPr lang="en-US" sz="2800" dirty="0"/>
          </a:p>
          <a:p>
            <a:pPr marL="457200" indent="-457200" algn="just">
              <a:buFont typeface="Arial" panose="020B0604020202020204" pitchFamily="34" charset="0"/>
              <a:buChar char="•"/>
            </a:pPr>
            <a:r>
              <a:rPr lang="en-US" sz="2800" dirty="0"/>
              <a:t>You can pass data, known as parameters, into a function</a:t>
            </a:r>
            <a:r>
              <a:rPr lang="en-US" sz="2800" dirty="0" smtClean="0"/>
              <a:t>.</a:t>
            </a:r>
            <a:endParaRPr lang="en-US" sz="2800" dirty="0"/>
          </a:p>
          <a:p>
            <a:pPr marL="457200" indent="-457200" algn="just">
              <a:buFont typeface="Arial" panose="020B0604020202020204" pitchFamily="34" charset="0"/>
              <a:buChar char="•"/>
            </a:pPr>
            <a:r>
              <a:rPr lang="en-US" sz="2800" dirty="0"/>
              <a:t>A function can return data as a result</a:t>
            </a:r>
            <a:r>
              <a:rPr lang="en-US" sz="2800" dirty="0" smtClean="0"/>
              <a:t>.</a:t>
            </a:r>
          </a:p>
          <a:p>
            <a:pPr marL="457200" indent="-457200" algn="just">
              <a:buFont typeface="Arial" panose="020B0604020202020204" pitchFamily="34" charset="0"/>
              <a:buChar char="•"/>
            </a:pPr>
            <a:r>
              <a:rPr lang="en-US" sz="2800" dirty="0"/>
              <a:t>In Python a function is defined using the </a:t>
            </a:r>
            <a:r>
              <a:rPr lang="en-US" sz="2800" dirty="0" err="1"/>
              <a:t>def</a:t>
            </a:r>
            <a:r>
              <a:rPr lang="en-US" sz="2800" dirty="0"/>
              <a:t> keyword</a:t>
            </a:r>
            <a:r>
              <a:rPr lang="en-US" sz="2800" dirty="0" smtClean="0"/>
              <a:t>:</a:t>
            </a:r>
            <a:endParaRPr lang="en-US" sz="2800" dirty="0"/>
          </a:p>
          <a:p>
            <a:pPr marL="457200" indent="-457200" algn="just">
              <a:buFont typeface="Arial" panose="020B0604020202020204" pitchFamily="34" charset="0"/>
              <a:buChar char="•"/>
            </a:pPr>
            <a:r>
              <a:rPr lang="en-US" sz="2800" dirty="0"/>
              <a:t>Example</a:t>
            </a:r>
          </a:p>
          <a:p>
            <a:pPr algn="just"/>
            <a:r>
              <a:rPr lang="en-US" sz="2800" dirty="0" smtClean="0"/>
              <a:t>	</a:t>
            </a:r>
            <a:r>
              <a:rPr lang="en-US" sz="2800" dirty="0" err="1" smtClean="0"/>
              <a:t>def</a:t>
            </a:r>
            <a:r>
              <a:rPr lang="en-US" sz="2800" dirty="0" smtClean="0"/>
              <a:t> </a:t>
            </a:r>
            <a:r>
              <a:rPr lang="en-US" sz="2800" dirty="0" err="1"/>
              <a:t>my_function</a:t>
            </a:r>
            <a:r>
              <a:rPr lang="en-US" sz="2800" dirty="0" smtClean="0"/>
              <a:t>():</a:t>
            </a:r>
          </a:p>
          <a:p>
            <a:pPr algn="just"/>
            <a:r>
              <a:rPr lang="en-US" sz="2800" dirty="0"/>
              <a:t>	</a:t>
            </a:r>
            <a:r>
              <a:rPr lang="en-US" sz="2800" dirty="0" smtClean="0"/>
              <a:t>	print</a:t>
            </a:r>
            <a:r>
              <a:rPr lang="en-US" sz="2800" dirty="0"/>
              <a:t>("Hello from a function</a:t>
            </a:r>
            <a:r>
              <a:rPr lang="en-US" sz="2800" dirty="0" smtClean="0"/>
              <a:t>")</a:t>
            </a:r>
          </a:p>
        </p:txBody>
      </p:sp>
    </p:spTree>
    <p:extLst>
      <p:ext uri="{BB962C8B-B14F-4D97-AF65-F5344CB8AC3E}">
        <p14:creationId xmlns="" xmlns:p14="http://schemas.microsoft.com/office/powerpoint/2010/main" val="1244999175"/>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Functions in Python</a:t>
            </a:r>
            <a:endParaRPr lang="en-US" dirty="0"/>
          </a:p>
        </p:txBody>
      </p:sp>
      <p:sp>
        <p:nvSpPr>
          <p:cNvPr id="4" name="TextBox 3"/>
          <p:cNvSpPr txBox="1"/>
          <p:nvPr/>
        </p:nvSpPr>
        <p:spPr>
          <a:xfrm>
            <a:off x="228600" y="932557"/>
            <a:ext cx="8763000" cy="3539430"/>
          </a:xfrm>
          <a:prstGeom prst="rect">
            <a:avLst/>
          </a:prstGeom>
          <a:noFill/>
        </p:spPr>
        <p:txBody>
          <a:bodyPr wrap="square" rtlCol="0">
            <a:spAutoFit/>
          </a:bodyPr>
          <a:lstStyle/>
          <a:p>
            <a:pPr marL="457200" lvl="0" indent="-457200" algn="just">
              <a:buFont typeface="Arial" panose="020B0604020202020204" pitchFamily="34" charset="0"/>
              <a:buChar char="•"/>
            </a:pPr>
            <a:r>
              <a:rPr lang="en-US" sz="2800" dirty="0">
                <a:latin typeface="Nunito"/>
                <a:ea typeface="Nunito"/>
                <a:cs typeface="Nunito"/>
                <a:sym typeface="Nunito"/>
              </a:rPr>
              <a:t>To call a function, use the function name followed by parenthesis:</a:t>
            </a:r>
          </a:p>
          <a:p>
            <a:pPr lvl="0" algn="just"/>
            <a:endParaRPr lang="en-US" sz="2800" dirty="0">
              <a:latin typeface="Nunito"/>
              <a:ea typeface="Nunito"/>
              <a:cs typeface="Nunito"/>
              <a:sym typeface="Nunito"/>
            </a:endParaRPr>
          </a:p>
          <a:p>
            <a:pPr lvl="0" algn="just"/>
            <a:r>
              <a:rPr lang="en-US" sz="2800" dirty="0">
                <a:latin typeface="Nunito"/>
                <a:ea typeface="Nunito"/>
                <a:cs typeface="Nunito"/>
                <a:sym typeface="Nunito"/>
              </a:rPr>
              <a:t>Example</a:t>
            </a:r>
          </a:p>
          <a:p>
            <a:pPr lvl="0" algn="just"/>
            <a:r>
              <a:rPr lang="en-US" sz="2800" dirty="0" err="1">
                <a:latin typeface="Nunito"/>
                <a:ea typeface="Nunito"/>
                <a:cs typeface="Nunito"/>
                <a:sym typeface="Nunito"/>
              </a:rPr>
              <a:t>def</a:t>
            </a:r>
            <a:r>
              <a:rPr lang="en-US" sz="2800" dirty="0">
                <a:latin typeface="Nunito"/>
                <a:ea typeface="Nunito"/>
                <a:cs typeface="Nunito"/>
                <a:sym typeface="Nunito"/>
              </a:rPr>
              <a:t> </a:t>
            </a:r>
            <a:r>
              <a:rPr lang="en-US" sz="2800" dirty="0" err="1">
                <a:latin typeface="Nunito"/>
                <a:ea typeface="Nunito"/>
                <a:cs typeface="Nunito"/>
                <a:sym typeface="Nunito"/>
              </a:rPr>
              <a:t>my_function</a:t>
            </a:r>
            <a:r>
              <a:rPr lang="en-US" sz="2800" dirty="0">
                <a:latin typeface="Nunito"/>
                <a:ea typeface="Nunito"/>
                <a:cs typeface="Nunito"/>
                <a:sym typeface="Nunito"/>
              </a:rPr>
              <a:t>():</a:t>
            </a:r>
          </a:p>
          <a:p>
            <a:pPr lvl="0" algn="just"/>
            <a:r>
              <a:rPr lang="en-US" sz="2800" dirty="0">
                <a:latin typeface="Nunito"/>
                <a:ea typeface="Nunito"/>
                <a:cs typeface="Nunito"/>
                <a:sym typeface="Nunito"/>
              </a:rPr>
              <a:t>  print("Hello from a function")</a:t>
            </a:r>
          </a:p>
          <a:p>
            <a:pPr lvl="0" algn="just"/>
            <a:endParaRPr lang="en-US" sz="2800" dirty="0">
              <a:latin typeface="Nunito"/>
              <a:ea typeface="Nunito"/>
              <a:cs typeface="Nunito"/>
              <a:sym typeface="Nunito"/>
            </a:endParaRPr>
          </a:p>
          <a:p>
            <a:pPr lvl="0" algn="just"/>
            <a:r>
              <a:rPr lang="en-US" sz="2800" dirty="0" err="1">
                <a:latin typeface="Nunito"/>
                <a:ea typeface="Nunito"/>
                <a:cs typeface="Nunito"/>
                <a:sym typeface="Nunito"/>
              </a:rPr>
              <a:t>my_function</a:t>
            </a:r>
            <a:r>
              <a:rPr lang="en-US" sz="2800" dirty="0">
                <a:latin typeface="Nunito"/>
                <a:ea typeface="Nunito"/>
                <a:cs typeface="Nunito"/>
                <a:sym typeface="Nunito"/>
              </a:rPr>
              <a:t>()</a:t>
            </a:r>
          </a:p>
        </p:txBody>
      </p:sp>
    </p:spTree>
    <p:extLst>
      <p:ext uri="{BB962C8B-B14F-4D97-AF65-F5344CB8AC3E}">
        <p14:creationId xmlns="" xmlns:p14="http://schemas.microsoft.com/office/powerpoint/2010/main" val="540318273"/>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Functions in Python</a:t>
            </a:r>
            <a:endParaRPr lang="en-US" dirty="0"/>
          </a:p>
        </p:txBody>
      </p:sp>
      <p:sp>
        <p:nvSpPr>
          <p:cNvPr id="4" name="TextBox 3"/>
          <p:cNvSpPr txBox="1"/>
          <p:nvPr/>
        </p:nvSpPr>
        <p:spPr>
          <a:xfrm>
            <a:off x="228600" y="932557"/>
            <a:ext cx="8763000" cy="4832092"/>
          </a:xfrm>
          <a:prstGeom prst="rect">
            <a:avLst/>
          </a:prstGeom>
          <a:noFill/>
        </p:spPr>
        <p:txBody>
          <a:bodyPr wrap="square" rtlCol="0">
            <a:spAutoFit/>
          </a:bodyPr>
          <a:lstStyle/>
          <a:p>
            <a:pPr marL="457200" lvl="0" indent="-457200" algn="just">
              <a:buFont typeface="Arial" panose="020B0604020202020204" pitchFamily="34" charset="0"/>
              <a:buChar char="•"/>
            </a:pPr>
            <a:r>
              <a:rPr lang="en-US" sz="2800" dirty="0">
                <a:latin typeface="Nunito"/>
                <a:ea typeface="Nunito"/>
                <a:cs typeface="Nunito"/>
                <a:sym typeface="Nunito"/>
              </a:rPr>
              <a:t>Arguments</a:t>
            </a:r>
          </a:p>
          <a:p>
            <a:pPr marL="457200" lvl="0" indent="-457200" algn="just">
              <a:buFont typeface="Arial" panose="020B0604020202020204" pitchFamily="34" charset="0"/>
              <a:buChar char="•"/>
            </a:pPr>
            <a:r>
              <a:rPr lang="en-US" sz="2800" dirty="0">
                <a:latin typeface="Nunito"/>
                <a:ea typeface="Nunito"/>
                <a:cs typeface="Nunito"/>
                <a:sym typeface="Nunito"/>
              </a:rPr>
              <a:t>Information can be passed into functions as arguments</a:t>
            </a:r>
            <a:r>
              <a:rPr lang="en-US" sz="2800" dirty="0" smtClean="0">
                <a:latin typeface="Nunito"/>
                <a:ea typeface="Nunito"/>
                <a:cs typeface="Nunito"/>
                <a:sym typeface="Nunito"/>
              </a:rPr>
              <a:t>.</a:t>
            </a:r>
            <a:endParaRPr lang="en-US" sz="2800" dirty="0">
              <a:latin typeface="Nunito"/>
              <a:ea typeface="Nunito"/>
              <a:cs typeface="Nunito"/>
              <a:sym typeface="Nunito"/>
            </a:endParaRPr>
          </a:p>
          <a:p>
            <a:pPr marL="457200" lvl="0" indent="-457200" algn="just">
              <a:buFont typeface="Arial" panose="020B0604020202020204" pitchFamily="34" charset="0"/>
              <a:buChar char="•"/>
            </a:pPr>
            <a:r>
              <a:rPr lang="en-US" sz="2800" dirty="0">
                <a:latin typeface="Nunito"/>
                <a:ea typeface="Nunito"/>
                <a:cs typeface="Nunito"/>
                <a:sym typeface="Nunito"/>
              </a:rPr>
              <a:t>Arguments are specified after the function name, inside the parentheses. You can add as many arguments as you want, just separate them with a </a:t>
            </a:r>
            <a:r>
              <a:rPr lang="en-US" sz="2800" dirty="0" smtClean="0">
                <a:latin typeface="Nunito"/>
                <a:ea typeface="Nunito"/>
                <a:cs typeface="Nunito"/>
                <a:sym typeface="Nunito"/>
              </a:rPr>
              <a:t>comma.</a:t>
            </a:r>
          </a:p>
          <a:p>
            <a:pPr marL="457200" lvl="0" indent="-457200" algn="just">
              <a:buFont typeface="Arial" panose="020B0604020202020204" pitchFamily="34" charset="0"/>
              <a:buChar char="•"/>
            </a:pPr>
            <a:r>
              <a:rPr lang="en-US" sz="2800" dirty="0" smtClean="0">
                <a:latin typeface="Nunito"/>
                <a:ea typeface="Nunito"/>
                <a:cs typeface="Nunito"/>
                <a:sym typeface="Nunito"/>
              </a:rPr>
              <a:t>The </a:t>
            </a:r>
            <a:r>
              <a:rPr lang="en-US" sz="2800" dirty="0">
                <a:latin typeface="Nunito"/>
                <a:ea typeface="Nunito"/>
                <a:cs typeface="Nunito"/>
                <a:sym typeface="Nunito"/>
              </a:rPr>
              <a:t>following example has a function with one argument (</a:t>
            </a:r>
            <a:r>
              <a:rPr lang="en-US" sz="2800" dirty="0" err="1">
                <a:latin typeface="Nunito"/>
                <a:ea typeface="Nunito"/>
                <a:cs typeface="Nunito"/>
                <a:sym typeface="Nunito"/>
              </a:rPr>
              <a:t>fname</a:t>
            </a:r>
            <a:r>
              <a:rPr lang="en-US" sz="2800" dirty="0">
                <a:latin typeface="Nunito"/>
                <a:ea typeface="Nunito"/>
                <a:cs typeface="Nunito"/>
                <a:sym typeface="Nunito"/>
              </a:rPr>
              <a:t>). When the function is called, we pass along a first name, which is used inside the function to print the full </a:t>
            </a:r>
            <a:r>
              <a:rPr lang="en-US" sz="2800" dirty="0" smtClean="0">
                <a:latin typeface="Nunito"/>
                <a:ea typeface="Nunito"/>
                <a:cs typeface="Nunito"/>
                <a:sym typeface="Nunito"/>
              </a:rPr>
              <a:t>name</a:t>
            </a:r>
            <a:r>
              <a:rPr lang="en-US" sz="2800" dirty="0">
                <a:latin typeface="Nunito"/>
                <a:ea typeface="Nunito"/>
                <a:cs typeface="Nunito"/>
                <a:sym typeface="Nunito"/>
              </a:rPr>
              <a:t>:</a:t>
            </a:r>
          </a:p>
        </p:txBody>
      </p:sp>
    </p:spTree>
    <p:extLst>
      <p:ext uri="{BB962C8B-B14F-4D97-AF65-F5344CB8AC3E}">
        <p14:creationId xmlns="" xmlns:p14="http://schemas.microsoft.com/office/powerpoint/2010/main" val="4014752612"/>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Functions in Python</a:t>
            </a:r>
            <a:endParaRPr lang="en-US" dirty="0"/>
          </a:p>
        </p:txBody>
      </p:sp>
      <p:sp>
        <p:nvSpPr>
          <p:cNvPr id="4" name="TextBox 3"/>
          <p:cNvSpPr txBox="1"/>
          <p:nvPr/>
        </p:nvSpPr>
        <p:spPr>
          <a:xfrm>
            <a:off x="228600" y="932557"/>
            <a:ext cx="8763000" cy="5693866"/>
          </a:xfrm>
          <a:prstGeom prst="rect">
            <a:avLst/>
          </a:prstGeom>
          <a:noFill/>
        </p:spPr>
        <p:txBody>
          <a:bodyPr wrap="square" rtlCol="0">
            <a:spAutoFit/>
          </a:bodyPr>
          <a:lstStyle/>
          <a:p>
            <a:pPr marL="457200" lvl="0" indent="-457200" algn="just">
              <a:buFont typeface="Arial" panose="020B0604020202020204" pitchFamily="34" charset="0"/>
              <a:buChar char="•"/>
            </a:pPr>
            <a:r>
              <a:rPr lang="en-US" sz="2800" dirty="0">
                <a:latin typeface="Nunito"/>
                <a:ea typeface="Nunito"/>
                <a:cs typeface="Nunito"/>
                <a:sym typeface="Nunito"/>
              </a:rPr>
              <a:t>Example</a:t>
            </a:r>
          </a:p>
          <a:p>
            <a:pPr lvl="0" algn="just"/>
            <a:r>
              <a:rPr lang="en-US" sz="2800" dirty="0" err="1">
                <a:latin typeface="Nunito"/>
                <a:ea typeface="Nunito"/>
                <a:cs typeface="Nunito"/>
                <a:sym typeface="Nunito"/>
              </a:rPr>
              <a:t>def</a:t>
            </a:r>
            <a:r>
              <a:rPr lang="en-US" sz="2800" dirty="0">
                <a:latin typeface="Nunito"/>
                <a:ea typeface="Nunito"/>
                <a:cs typeface="Nunito"/>
                <a:sym typeface="Nunito"/>
              </a:rPr>
              <a:t> </a:t>
            </a:r>
            <a:r>
              <a:rPr lang="en-US" sz="2800" dirty="0" err="1">
                <a:latin typeface="Nunito"/>
                <a:ea typeface="Nunito"/>
                <a:cs typeface="Nunito"/>
                <a:sym typeface="Nunito"/>
              </a:rPr>
              <a:t>my_function</a:t>
            </a:r>
            <a:r>
              <a:rPr lang="en-US" sz="2800" dirty="0">
                <a:latin typeface="Nunito"/>
                <a:ea typeface="Nunito"/>
                <a:cs typeface="Nunito"/>
                <a:sym typeface="Nunito"/>
              </a:rPr>
              <a:t>(</a:t>
            </a:r>
            <a:r>
              <a:rPr lang="en-US" sz="2800" dirty="0" err="1">
                <a:latin typeface="Nunito"/>
                <a:ea typeface="Nunito"/>
                <a:cs typeface="Nunito"/>
                <a:sym typeface="Nunito"/>
              </a:rPr>
              <a:t>fname</a:t>
            </a:r>
            <a:r>
              <a:rPr lang="en-US" sz="2800" dirty="0">
                <a:latin typeface="Nunito"/>
                <a:ea typeface="Nunito"/>
                <a:cs typeface="Nunito"/>
                <a:sym typeface="Nunito"/>
              </a:rPr>
              <a:t>):</a:t>
            </a:r>
          </a:p>
          <a:p>
            <a:pPr lvl="0" algn="just"/>
            <a:r>
              <a:rPr lang="en-US" sz="2800" dirty="0">
                <a:latin typeface="Nunito"/>
                <a:ea typeface="Nunito"/>
                <a:cs typeface="Nunito"/>
                <a:sym typeface="Nunito"/>
              </a:rPr>
              <a:t>  print(</a:t>
            </a:r>
            <a:r>
              <a:rPr lang="en-US" sz="2800" dirty="0" err="1">
                <a:latin typeface="Nunito"/>
                <a:ea typeface="Nunito"/>
                <a:cs typeface="Nunito"/>
                <a:sym typeface="Nunito"/>
              </a:rPr>
              <a:t>fname</a:t>
            </a:r>
            <a:r>
              <a:rPr lang="en-US" sz="2800" dirty="0">
                <a:latin typeface="Nunito"/>
                <a:ea typeface="Nunito"/>
                <a:cs typeface="Nunito"/>
                <a:sym typeface="Nunito"/>
              </a:rPr>
              <a:t> + " </a:t>
            </a:r>
            <a:r>
              <a:rPr lang="en-US" sz="2800" dirty="0" err="1">
                <a:latin typeface="Nunito"/>
                <a:ea typeface="Nunito"/>
                <a:cs typeface="Nunito"/>
                <a:sym typeface="Nunito"/>
              </a:rPr>
              <a:t>Refsnes</a:t>
            </a:r>
            <a:r>
              <a:rPr lang="en-US" sz="2800" dirty="0">
                <a:latin typeface="Nunito"/>
                <a:ea typeface="Nunito"/>
                <a:cs typeface="Nunito"/>
                <a:sym typeface="Nunito"/>
              </a:rPr>
              <a:t>")</a:t>
            </a:r>
          </a:p>
          <a:p>
            <a:pPr lvl="0" algn="just"/>
            <a:r>
              <a:rPr lang="en-US" sz="2800" dirty="0" err="1">
                <a:latin typeface="Nunito"/>
                <a:ea typeface="Nunito"/>
                <a:cs typeface="Nunito"/>
                <a:sym typeface="Nunito"/>
              </a:rPr>
              <a:t>my_function</a:t>
            </a:r>
            <a:r>
              <a:rPr lang="en-US" sz="2800" dirty="0">
                <a:latin typeface="Nunito"/>
                <a:ea typeface="Nunito"/>
                <a:cs typeface="Nunito"/>
                <a:sym typeface="Nunito"/>
              </a:rPr>
              <a:t>("Emil")</a:t>
            </a:r>
          </a:p>
          <a:p>
            <a:pPr lvl="0" algn="just"/>
            <a:r>
              <a:rPr lang="en-US" sz="2800" dirty="0" err="1">
                <a:latin typeface="Nunito"/>
                <a:ea typeface="Nunito"/>
                <a:cs typeface="Nunito"/>
                <a:sym typeface="Nunito"/>
              </a:rPr>
              <a:t>my_function</a:t>
            </a:r>
            <a:r>
              <a:rPr lang="en-US" sz="2800" dirty="0">
                <a:latin typeface="Nunito"/>
                <a:ea typeface="Nunito"/>
                <a:cs typeface="Nunito"/>
                <a:sym typeface="Nunito"/>
              </a:rPr>
              <a:t>("Tobias")</a:t>
            </a:r>
          </a:p>
          <a:p>
            <a:pPr lvl="0" algn="just"/>
            <a:r>
              <a:rPr lang="en-US" sz="2800" dirty="0" err="1">
                <a:latin typeface="Nunito"/>
                <a:ea typeface="Nunito"/>
                <a:cs typeface="Nunito"/>
                <a:sym typeface="Nunito"/>
              </a:rPr>
              <a:t>my_function</a:t>
            </a:r>
            <a:r>
              <a:rPr lang="en-US" sz="2800" dirty="0">
                <a:latin typeface="Nunito"/>
                <a:ea typeface="Nunito"/>
                <a:cs typeface="Nunito"/>
                <a:sym typeface="Nunito"/>
              </a:rPr>
              <a:t>("Linus</a:t>
            </a:r>
            <a:r>
              <a:rPr lang="en-US" sz="2800" dirty="0" smtClean="0">
                <a:latin typeface="Nunito"/>
                <a:ea typeface="Nunito"/>
                <a:cs typeface="Nunito"/>
                <a:sym typeface="Nunito"/>
              </a:rPr>
              <a:t>")</a:t>
            </a:r>
            <a:endParaRPr lang="en-US" sz="2800" dirty="0">
              <a:latin typeface="Nunito"/>
              <a:ea typeface="Nunito"/>
              <a:cs typeface="Nunito"/>
              <a:sym typeface="Nunito"/>
            </a:endParaRPr>
          </a:p>
          <a:p>
            <a:pPr lvl="0" algn="just"/>
            <a:endParaRPr lang="en-US" sz="2800" dirty="0">
              <a:latin typeface="Nunito"/>
              <a:ea typeface="Nunito"/>
              <a:cs typeface="Nunito"/>
              <a:sym typeface="Nunito"/>
            </a:endParaRPr>
          </a:p>
          <a:p>
            <a:pPr marL="457200" lvl="0" indent="-457200">
              <a:buFont typeface="Arial" panose="020B0604020202020204" pitchFamily="34" charset="0"/>
              <a:buChar char="•"/>
            </a:pPr>
            <a:r>
              <a:rPr lang="en-US" sz="2800" dirty="0" smtClean="0">
                <a:latin typeface="Nunito"/>
                <a:ea typeface="Nunito"/>
                <a:cs typeface="Nunito"/>
                <a:sym typeface="Nunito"/>
              </a:rPr>
              <a:t>Example</a:t>
            </a:r>
            <a:endParaRPr lang="en-US" sz="2800" dirty="0">
              <a:latin typeface="Nunito"/>
              <a:ea typeface="Nunito"/>
              <a:cs typeface="Nunito"/>
              <a:sym typeface="Nunito"/>
            </a:endParaRPr>
          </a:p>
          <a:p>
            <a:pPr lvl="0"/>
            <a:r>
              <a:rPr lang="en-US" sz="2800" dirty="0">
                <a:latin typeface="Nunito"/>
                <a:ea typeface="Nunito"/>
                <a:cs typeface="Nunito"/>
                <a:sym typeface="Nunito"/>
              </a:rPr>
              <a:t>This function expects 2 arguments, and gets 2 arguments:</a:t>
            </a:r>
          </a:p>
          <a:p>
            <a:pPr lvl="0"/>
            <a:r>
              <a:rPr lang="en-US" sz="2800" dirty="0" err="1" smtClean="0">
                <a:latin typeface="Nunito"/>
                <a:ea typeface="Nunito"/>
                <a:cs typeface="Nunito"/>
                <a:sym typeface="Nunito"/>
              </a:rPr>
              <a:t>def</a:t>
            </a:r>
            <a:r>
              <a:rPr lang="en-US" sz="2800" dirty="0" smtClean="0">
                <a:latin typeface="Nunito"/>
                <a:ea typeface="Nunito"/>
                <a:cs typeface="Nunito"/>
                <a:sym typeface="Nunito"/>
              </a:rPr>
              <a:t> </a:t>
            </a:r>
            <a:r>
              <a:rPr lang="en-US" sz="2800" dirty="0" err="1">
                <a:latin typeface="Nunito"/>
                <a:ea typeface="Nunito"/>
                <a:cs typeface="Nunito"/>
                <a:sym typeface="Nunito"/>
              </a:rPr>
              <a:t>my_function</a:t>
            </a:r>
            <a:r>
              <a:rPr lang="en-US" sz="2800" dirty="0">
                <a:latin typeface="Nunito"/>
                <a:ea typeface="Nunito"/>
                <a:cs typeface="Nunito"/>
                <a:sym typeface="Nunito"/>
              </a:rPr>
              <a:t>(</a:t>
            </a:r>
            <a:r>
              <a:rPr lang="en-US" sz="2800" dirty="0" err="1">
                <a:latin typeface="Nunito"/>
                <a:ea typeface="Nunito"/>
                <a:cs typeface="Nunito"/>
                <a:sym typeface="Nunito"/>
              </a:rPr>
              <a:t>fname</a:t>
            </a:r>
            <a:r>
              <a:rPr lang="en-US" sz="2800" dirty="0">
                <a:latin typeface="Nunito"/>
                <a:ea typeface="Nunito"/>
                <a:cs typeface="Nunito"/>
                <a:sym typeface="Nunito"/>
              </a:rPr>
              <a:t>, </a:t>
            </a:r>
            <a:r>
              <a:rPr lang="en-US" sz="2800" dirty="0" err="1">
                <a:latin typeface="Nunito"/>
                <a:ea typeface="Nunito"/>
                <a:cs typeface="Nunito"/>
                <a:sym typeface="Nunito"/>
              </a:rPr>
              <a:t>lname</a:t>
            </a:r>
            <a:r>
              <a:rPr lang="en-US" sz="2800" dirty="0">
                <a:latin typeface="Nunito"/>
                <a:ea typeface="Nunito"/>
                <a:cs typeface="Nunito"/>
                <a:sym typeface="Nunito"/>
              </a:rPr>
              <a:t>):</a:t>
            </a:r>
          </a:p>
          <a:p>
            <a:pPr lvl="0"/>
            <a:r>
              <a:rPr lang="en-US" sz="2800" dirty="0">
                <a:latin typeface="Nunito"/>
                <a:ea typeface="Nunito"/>
                <a:cs typeface="Nunito"/>
                <a:sym typeface="Nunito"/>
              </a:rPr>
              <a:t>  print(</a:t>
            </a:r>
            <a:r>
              <a:rPr lang="en-US" sz="2800" dirty="0" err="1">
                <a:latin typeface="Nunito"/>
                <a:ea typeface="Nunito"/>
                <a:cs typeface="Nunito"/>
                <a:sym typeface="Nunito"/>
              </a:rPr>
              <a:t>fname</a:t>
            </a:r>
            <a:r>
              <a:rPr lang="en-US" sz="2800" dirty="0">
                <a:latin typeface="Nunito"/>
                <a:ea typeface="Nunito"/>
                <a:cs typeface="Nunito"/>
                <a:sym typeface="Nunito"/>
              </a:rPr>
              <a:t> + " " + </a:t>
            </a:r>
            <a:r>
              <a:rPr lang="en-US" sz="2800" dirty="0" err="1">
                <a:latin typeface="Nunito"/>
                <a:ea typeface="Nunito"/>
                <a:cs typeface="Nunito"/>
                <a:sym typeface="Nunito"/>
              </a:rPr>
              <a:t>lname</a:t>
            </a:r>
            <a:r>
              <a:rPr lang="en-US" sz="2800" dirty="0">
                <a:latin typeface="Nunito"/>
                <a:ea typeface="Nunito"/>
                <a:cs typeface="Nunito"/>
                <a:sym typeface="Nunito"/>
              </a:rPr>
              <a:t>)</a:t>
            </a:r>
          </a:p>
          <a:p>
            <a:pPr lvl="0"/>
            <a:r>
              <a:rPr lang="en-US" sz="2800" dirty="0" err="1" smtClean="0">
                <a:latin typeface="Nunito"/>
                <a:ea typeface="Nunito"/>
                <a:cs typeface="Nunito"/>
                <a:sym typeface="Nunito"/>
              </a:rPr>
              <a:t>my_function</a:t>
            </a:r>
            <a:r>
              <a:rPr lang="en-US" sz="2800" dirty="0">
                <a:latin typeface="Nunito"/>
                <a:ea typeface="Nunito"/>
                <a:cs typeface="Nunito"/>
                <a:sym typeface="Nunito"/>
              </a:rPr>
              <a:t>("Emil", "</a:t>
            </a:r>
            <a:r>
              <a:rPr lang="en-US" sz="2800" dirty="0" err="1">
                <a:latin typeface="Nunito"/>
                <a:ea typeface="Nunito"/>
                <a:cs typeface="Nunito"/>
                <a:sym typeface="Nunito"/>
              </a:rPr>
              <a:t>Refsnes</a:t>
            </a:r>
            <a:r>
              <a:rPr lang="en-US" sz="2800" dirty="0">
                <a:latin typeface="Nunito"/>
                <a:ea typeface="Nunito"/>
                <a:cs typeface="Nunito"/>
                <a:sym typeface="Nunito"/>
              </a:rPr>
              <a:t>")</a:t>
            </a:r>
          </a:p>
        </p:txBody>
      </p:sp>
    </p:spTree>
    <p:extLst>
      <p:ext uri="{BB962C8B-B14F-4D97-AF65-F5344CB8AC3E}">
        <p14:creationId xmlns="" xmlns:p14="http://schemas.microsoft.com/office/powerpoint/2010/main" val="3208942213"/>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Functions in Python</a:t>
            </a:r>
            <a:endParaRPr lang="en-US" dirty="0"/>
          </a:p>
        </p:txBody>
      </p:sp>
      <p:sp>
        <p:nvSpPr>
          <p:cNvPr id="4" name="TextBox 3"/>
          <p:cNvSpPr txBox="1"/>
          <p:nvPr/>
        </p:nvSpPr>
        <p:spPr>
          <a:xfrm>
            <a:off x="228600" y="932557"/>
            <a:ext cx="8763000" cy="3970318"/>
          </a:xfrm>
          <a:prstGeom prst="rect">
            <a:avLst/>
          </a:prstGeom>
          <a:noFill/>
        </p:spPr>
        <p:txBody>
          <a:bodyPr wrap="square" rtlCol="0">
            <a:spAutoFit/>
          </a:bodyPr>
          <a:lstStyle/>
          <a:p>
            <a:pPr lvl="0" algn="just"/>
            <a:r>
              <a:rPr lang="en-US" sz="2800" b="1" dirty="0">
                <a:latin typeface="Nunito"/>
                <a:ea typeface="Nunito"/>
                <a:cs typeface="Nunito"/>
                <a:sym typeface="Nunito"/>
              </a:rPr>
              <a:t>Keyword Arguments</a:t>
            </a:r>
          </a:p>
          <a:p>
            <a:pPr lvl="0" algn="just"/>
            <a:r>
              <a:rPr lang="en-US" sz="2800" dirty="0">
                <a:latin typeface="Nunito"/>
                <a:ea typeface="Nunito"/>
                <a:cs typeface="Nunito"/>
                <a:sym typeface="Nunito"/>
              </a:rPr>
              <a:t>You can also send arguments with the key = value syntax.</a:t>
            </a:r>
          </a:p>
          <a:p>
            <a:pPr lvl="0" algn="just"/>
            <a:r>
              <a:rPr lang="en-US" sz="2800" dirty="0">
                <a:latin typeface="Nunito"/>
                <a:ea typeface="Nunito"/>
                <a:cs typeface="Nunito"/>
                <a:sym typeface="Nunito"/>
              </a:rPr>
              <a:t>This way the order of the arguments does not matter.</a:t>
            </a:r>
          </a:p>
          <a:p>
            <a:pPr lvl="0" algn="just"/>
            <a:r>
              <a:rPr lang="en-US" sz="2800" dirty="0">
                <a:latin typeface="Nunito"/>
                <a:ea typeface="Nunito"/>
                <a:cs typeface="Nunito"/>
                <a:sym typeface="Nunito"/>
              </a:rPr>
              <a:t>Example</a:t>
            </a:r>
          </a:p>
          <a:p>
            <a:pPr lvl="0" algn="just"/>
            <a:r>
              <a:rPr lang="en-US" sz="2800" dirty="0" err="1">
                <a:latin typeface="Nunito"/>
                <a:ea typeface="Nunito"/>
                <a:cs typeface="Nunito"/>
                <a:sym typeface="Nunito"/>
              </a:rPr>
              <a:t>def</a:t>
            </a:r>
            <a:r>
              <a:rPr lang="en-US" sz="2800" dirty="0">
                <a:latin typeface="Nunito"/>
                <a:ea typeface="Nunito"/>
                <a:cs typeface="Nunito"/>
                <a:sym typeface="Nunito"/>
              </a:rPr>
              <a:t> </a:t>
            </a:r>
            <a:r>
              <a:rPr lang="en-US" sz="2800" dirty="0" err="1">
                <a:latin typeface="Nunito"/>
                <a:ea typeface="Nunito"/>
                <a:cs typeface="Nunito"/>
                <a:sym typeface="Nunito"/>
              </a:rPr>
              <a:t>my_function</a:t>
            </a:r>
            <a:r>
              <a:rPr lang="en-US" sz="2800" dirty="0">
                <a:latin typeface="Nunito"/>
                <a:ea typeface="Nunito"/>
                <a:cs typeface="Nunito"/>
                <a:sym typeface="Nunito"/>
              </a:rPr>
              <a:t>(</a:t>
            </a:r>
            <a:r>
              <a:rPr lang="en-US" sz="2800" dirty="0" err="1">
                <a:latin typeface="Nunito"/>
                <a:ea typeface="Nunito"/>
                <a:cs typeface="Nunito"/>
                <a:sym typeface="Nunito"/>
              </a:rPr>
              <a:t>child3</a:t>
            </a:r>
            <a:r>
              <a:rPr lang="en-US" sz="2800" dirty="0">
                <a:latin typeface="Nunito"/>
                <a:ea typeface="Nunito"/>
                <a:cs typeface="Nunito"/>
                <a:sym typeface="Nunito"/>
              </a:rPr>
              <a:t>, </a:t>
            </a:r>
            <a:r>
              <a:rPr lang="en-US" sz="2800" dirty="0" err="1">
                <a:latin typeface="Nunito"/>
                <a:ea typeface="Nunito"/>
                <a:cs typeface="Nunito"/>
                <a:sym typeface="Nunito"/>
              </a:rPr>
              <a:t>child2</a:t>
            </a:r>
            <a:r>
              <a:rPr lang="en-US" sz="2800" dirty="0">
                <a:latin typeface="Nunito"/>
                <a:ea typeface="Nunito"/>
                <a:cs typeface="Nunito"/>
                <a:sym typeface="Nunito"/>
              </a:rPr>
              <a:t>, </a:t>
            </a:r>
            <a:r>
              <a:rPr lang="en-US" sz="2800" dirty="0" err="1">
                <a:latin typeface="Nunito"/>
                <a:ea typeface="Nunito"/>
                <a:cs typeface="Nunito"/>
                <a:sym typeface="Nunito"/>
              </a:rPr>
              <a:t>child1</a:t>
            </a:r>
            <a:r>
              <a:rPr lang="en-US" sz="2800" dirty="0">
                <a:latin typeface="Nunito"/>
                <a:ea typeface="Nunito"/>
                <a:cs typeface="Nunito"/>
                <a:sym typeface="Nunito"/>
              </a:rPr>
              <a:t>):</a:t>
            </a:r>
          </a:p>
          <a:p>
            <a:pPr lvl="0" algn="just"/>
            <a:r>
              <a:rPr lang="en-US" sz="2800" dirty="0">
                <a:latin typeface="Nunito"/>
                <a:ea typeface="Nunito"/>
                <a:cs typeface="Nunito"/>
                <a:sym typeface="Nunito"/>
              </a:rPr>
              <a:t>  print("The youngest child is " + </a:t>
            </a:r>
            <a:r>
              <a:rPr lang="en-US" sz="2800" dirty="0" err="1">
                <a:latin typeface="Nunito"/>
                <a:ea typeface="Nunito"/>
                <a:cs typeface="Nunito"/>
                <a:sym typeface="Nunito"/>
              </a:rPr>
              <a:t>child3</a:t>
            </a:r>
            <a:r>
              <a:rPr lang="en-US" sz="2800" dirty="0">
                <a:latin typeface="Nunito"/>
                <a:ea typeface="Nunito"/>
                <a:cs typeface="Nunito"/>
                <a:sym typeface="Nunito"/>
              </a:rPr>
              <a:t>)</a:t>
            </a:r>
          </a:p>
          <a:p>
            <a:pPr lvl="0" algn="just"/>
            <a:r>
              <a:rPr lang="en-US" sz="2800" dirty="0" err="1">
                <a:latin typeface="Nunito"/>
                <a:ea typeface="Nunito"/>
                <a:cs typeface="Nunito"/>
                <a:sym typeface="Nunito"/>
              </a:rPr>
              <a:t>my_function</a:t>
            </a:r>
            <a:r>
              <a:rPr lang="en-US" sz="2800" dirty="0">
                <a:latin typeface="Nunito"/>
                <a:ea typeface="Nunito"/>
                <a:cs typeface="Nunito"/>
                <a:sym typeface="Nunito"/>
              </a:rPr>
              <a:t>(</a:t>
            </a:r>
            <a:r>
              <a:rPr lang="en-US" sz="2800" dirty="0" err="1">
                <a:latin typeface="Nunito"/>
                <a:ea typeface="Nunito"/>
                <a:cs typeface="Nunito"/>
                <a:sym typeface="Nunito"/>
              </a:rPr>
              <a:t>child1</a:t>
            </a:r>
            <a:r>
              <a:rPr lang="en-US" sz="2800" dirty="0">
                <a:latin typeface="Nunito"/>
                <a:ea typeface="Nunito"/>
                <a:cs typeface="Nunito"/>
                <a:sym typeface="Nunito"/>
              </a:rPr>
              <a:t> = "Emil", </a:t>
            </a:r>
            <a:r>
              <a:rPr lang="en-US" sz="2800" dirty="0" err="1">
                <a:latin typeface="Nunito"/>
                <a:ea typeface="Nunito"/>
                <a:cs typeface="Nunito"/>
                <a:sym typeface="Nunito"/>
              </a:rPr>
              <a:t>child2</a:t>
            </a:r>
            <a:r>
              <a:rPr lang="en-US" sz="2800" dirty="0">
                <a:latin typeface="Nunito"/>
                <a:ea typeface="Nunito"/>
                <a:cs typeface="Nunito"/>
                <a:sym typeface="Nunito"/>
              </a:rPr>
              <a:t> = "Tobias", </a:t>
            </a:r>
            <a:r>
              <a:rPr lang="en-US" sz="2800" dirty="0" err="1">
                <a:latin typeface="Nunito"/>
                <a:ea typeface="Nunito"/>
                <a:cs typeface="Nunito"/>
                <a:sym typeface="Nunito"/>
              </a:rPr>
              <a:t>child3</a:t>
            </a:r>
            <a:r>
              <a:rPr lang="en-US" sz="2800" dirty="0">
                <a:latin typeface="Nunito"/>
                <a:ea typeface="Nunito"/>
                <a:cs typeface="Nunito"/>
                <a:sym typeface="Nunito"/>
              </a:rPr>
              <a:t> = "Linus")</a:t>
            </a:r>
          </a:p>
        </p:txBody>
      </p:sp>
    </p:spTree>
    <p:extLst>
      <p:ext uri="{BB962C8B-B14F-4D97-AF65-F5344CB8AC3E}">
        <p14:creationId xmlns="" xmlns:p14="http://schemas.microsoft.com/office/powerpoint/2010/main" val="74287976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Functions in Python</a:t>
            </a:r>
            <a:endParaRPr lang="en-US" dirty="0"/>
          </a:p>
        </p:txBody>
      </p:sp>
      <p:sp>
        <p:nvSpPr>
          <p:cNvPr id="4" name="TextBox 3"/>
          <p:cNvSpPr txBox="1"/>
          <p:nvPr/>
        </p:nvSpPr>
        <p:spPr>
          <a:xfrm>
            <a:off x="228600" y="932557"/>
            <a:ext cx="8763000" cy="5262979"/>
          </a:xfrm>
          <a:prstGeom prst="rect">
            <a:avLst/>
          </a:prstGeom>
          <a:noFill/>
        </p:spPr>
        <p:txBody>
          <a:bodyPr wrap="square" rtlCol="0">
            <a:spAutoFit/>
          </a:bodyPr>
          <a:lstStyle/>
          <a:p>
            <a:pPr lvl="0" algn="just"/>
            <a:r>
              <a:rPr lang="en-US" sz="2800" b="1" dirty="0" smtClean="0">
                <a:latin typeface="Nunito"/>
                <a:ea typeface="Nunito"/>
                <a:cs typeface="Nunito"/>
                <a:sym typeface="Nunito"/>
              </a:rPr>
              <a:t>Default Parameter</a:t>
            </a:r>
          </a:p>
          <a:p>
            <a:pPr lvl="0" algn="just"/>
            <a:r>
              <a:rPr lang="en-US" sz="2800" dirty="0" smtClean="0">
                <a:latin typeface="Nunito"/>
                <a:ea typeface="Nunito"/>
                <a:cs typeface="Nunito"/>
                <a:sym typeface="Nunito"/>
              </a:rPr>
              <a:t>The </a:t>
            </a:r>
            <a:r>
              <a:rPr lang="en-US" sz="2800" dirty="0">
                <a:latin typeface="Nunito"/>
                <a:ea typeface="Nunito"/>
                <a:cs typeface="Nunito"/>
                <a:sym typeface="Nunito"/>
              </a:rPr>
              <a:t>following example shows how to use a default parameter value.</a:t>
            </a:r>
          </a:p>
          <a:p>
            <a:pPr lvl="0" algn="just"/>
            <a:r>
              <a:rPr lang="en-US" sz="2800" dirty="0">
                <a:latin typeface="Nunito"/>
                <a:ea typeface="Nunito"/>
                <a:cs typeface="Nunito"/>
                <a:sym typeface="Nunito"/>
              </a:rPr>
              <a:t>If we call the function without argument, it uses the default value:</a:t>
            </a:r>
          </a:p>
          <a:p>
            <a:pPr lvl="0" algn="just"/>
            <a:r>
              <a:rPr lang="en-US" sz="2800" dirty="0">
                <a:latin typeface="Nunito"/>
                <a:ea typeface="Nunito"/>
                <a:cs typeface="Nunito"/>
                <a:sym typeface="Nunito"/>
              </a:rPr>
              <a:t>Example</a:t>
            </a:r>
          </a:p>
          <a:p>
            <a:pPr lvl="0" algn="just"/>
            <a:r>
              <a:rPr lang="en-US" sz="2800" dirty="0" err="1">
                <a:latin typeface="Nunito"/>
                <a:ea typeface="Nunito"/>
                <a:cs typeface="Nunito"/>
                <a:sym typeface="Nunito"/>
              </a:rPr>
              <a:t>def</a:t>
            </a:r>
            <a:r>
              <a:rPr lang="en-US" sz="2800" dirty="0">
                <a:latin typeface="Nunito"/>
                <a:ea typeface="Nunito"/>
                <a:cs typeface="Nunito"/>
                <a:sym typeface="Nunito"/>
              </a:rPr>
              <a:t> </a:t>
            </a:r>
            <a:r>
              <a:rPr lang="en-US" sz="2800" dirty="0" err="1">
                <a:latin typeface="Nunito"/>
                <a:ea typeface="Nunito"/>
                <a:cs typeface="Nunito"/>
                <a:sym typeface="Nunito"/>
              </a:rPr>
              <a:t>my_function</a:t>
            </a:r>
            <a:r>
              <a:rPr lang="en-US" sz="2800" dirty="0">
                <a:latin typeface="Nunito"/>
                <a:ea typeface="Nunito"/>
                <a:cs typeface="Nunito"/>
                <a:sym typeface="Nunito"/>
              </a:rPr>
              <a:t>(country = "Norway"):</a:t>
            </a:r>
          </a:p>
          <a:p>
            <a:pPr lvl="0" algn="just"/>
            <a:r>
              <a:rPr lang="en-US" sz="2800" dirty="0">
                <a:latin typeface="Nunito"/>
                <a:ea typeface="Nunito"/>
                <a:cs typeface="Nunito"/>
                <a:sym typeface="Nunito"/>
              </a:rPr>
              <a:t>print("I am from " + country)</a:t>
            </a:r>
          </a:p>
          <a:p>
            <a:pPr lvl="0" algn="just"/>
            <a:r>
              <a:rPr lang="en-US" sz="2800" dirty="0" err="1">
                <a:latin typeface="Nunito"/>
                <a:ea typeface="Nunito"/>
                <a:cs typeface="Nunito"/>
                <a:sym typeface="Nunito"/>
              </a:rPr>
              <a:t>my_function</a:t>
            </a:r>
            <a:r>
              <a:rPr lang="en-US" sz="2800" dirty="0">
                <a:latin typeface="Nunito"/>
                <a:ea typeface="Nunito"/>
                <a:cs typeface="Nunito"/>
                <a:sym typeface="Nunito"/>
              </a:rPr>
              <a:t>("Sweden")</a:t>
            </a:r>
          </a:p>
          <a:p>
            <a:pPr lvl="0" algn="just"/>
            <a:r>
              <a:rPr lang="en-US" sz="2800" dirty="0" err="1">
                <a:latin typeface="Nunito"/>
                <a:ea typeface="Nunito"/>
                <a:cs typeface="Nunito"/>
                <a:sym typeface="Nunito"/>
              </a:rPr>
              <a:t>my_function</a:t>
            </a:r>
            <a:r>
              <a:rPr lang="en-US" sz="2800" dirty="0">
                <a:latin typeface="Nunito"/>
                <a:ea typeface="Nunito"/>
                <a:cs typeface="Nunito"/>
                <a:sym typeface="Nunito"/>
              </a:rPr>
              <a:t>("India")</a:t>
            </a:r>
          </a:p>
          <a:p>
            <a:pPr lvl="0" algn="just"/>
            <a:r>
              <a:rPr lang="en-US" sz="2800" dirty="0" err="1">
                <a:latin typeface="Nunito"/>
                <a:ea typeface="Nunito"/>
                <a:cs typeface="Nunito"/>
                <a:sym typeface="Nunito"/>
              </a:rPr>
              <a:t>my_function</a:t>
            </a:r>
            <a:r>
              <a:rPr lang="en-US" sz="2800" dirty="0">
                <a:latin typeface="Nunito"/>
                <a:ea typeface="Nunito"/>
                <a:cs typeface="Nunito"/>
                <a:sym typeface="Nunito"/>
              </a:rPr>
              <a:t>()</a:t>
            </a:r>
          </a:p>
          <a:p>
            <a:pPr lvl="0" algn="just"/>
            <a:r>
              <a:rPr lang="en-US" sz="2800" dirty="0" err="1">
                <a:latin typeface="Nunito"/>
                <a:ea typeface="Nunito"/>
                <a:cs typeface="Nunito"/>
                <a:sym typeface="Nunito"/>
              </a:rPr>
              <a:t>my_function</a:t>
            </a:r>
            <a:r>
              <a:rPr lang="en-US" sz="2800" dirty="0">
                <a:latin typeface="Nunito"/>
                <a:ea typeface="Nunito"/>
                <a:cs typeface="Nunito"/>
                <a:sym typeface="Nunito"/>
              </a:rPr>
              <a:t>("Brazil")</a:t>
            </a:r>
          </a:p>
        </p:txBody>
      </p:sp>
    </p:spTree>
    <p:extLst>
      <p:ext uri="{BB962C8B-B14F-4D97-AF65-F5344CB8AC3E}">
        <p14:creationId xmlns="" xmlns:p14="http://schemas.microsoft.com/office/powerpoint/2010/main" val="2277640866"/>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Functions in Python</a:t>
            </a:r>
            <a:endParaRPr lang="en-US" dirty="0"/>
          </a:p>
        </p:txBody>
      </p:sp>
      <p:sp>
        <p:nvSpPr>
          <p:cNvPr id="4" name="TextBox 3"/>
          <p:cNvSpPr txBox="1"/>
          <p:nvPr/>
        </p:nvSpPr>
        <p:spPr>
          <a:xfrm>
            <a:off x="228600" y="932557"/>
            <a:ext cx="8763000" cy="5262979"/>
          </a:xfrm>
          <a:prstGeom prst="rect">
            <a:avLst/>
          </a:prstGeom>
          <a:noFill/>
        </p:spPr>
        <p:txBody>
          <a:bodyPr wrap="square" rtlCol="0">
            <a:spAutoFit/>
          </a:bodyPr>
          <a:lstStyle/>
          <a:p>
            <a:pPr lvl="0" algn="just"/>
            <a:r>
              <a:rPr lang="en-US" sz="2800" b="1" dirty="0">
                <a:latin typeface="Nunito"/>
                <a:ea typeface="Nunito"/>
                <a:cs typeface="Nunito"/>
                <a:sym typeface="Nunito"/>
              </a:rPr>
              <a:t>Passing a List as an Argument</a:t>
            </a:r>
          </a:p>
          <a:p>
            <a:pPr lvl="0" algn="just"/>
            <a:r>
              <a:rPr lang="en-US" sz="2800" dirty="0">
                <a:latin typeface="Nunito"/>
                <a:ea typeface="Nunito"/>
                <a:cs typeface="Nunito"/>
                <a:sym typeface="Nunito"/>
              </a:rPr>
              <a:t>You can send any data types of argument to a function (string, number, list, dictionary etc.), and it will be treated as the same data type inside the function.</a:t>
            </a:r>
          </a:p>
          <a:p>
            <a:pPr lvl="0" algn="just"/>
            <a:r>
              <a:rPr lang="en-US" sz="2800" dirty="0">
                <a:latin typeface="Nunito"/>
                <a:ea typeface="Nunito"/>
                <a:cs typeface="Nunito"/>
                <a:sym typeface="Nunito"/>
              </a:rPr>
              <a:t>E.g. if you send a List as an argument, it will still be a List when it reaches the function:</a:t>
            </a:r>
          </a:p>
          <a:p>
            <a:pPr lvl="0" algn="just"/>
            <a:r>
              <a:rPr lang="en-US" sz="2800" dirty="0">
                <a:latin typeface="Nunito"/>
                <a:ea typeface="Nunito"/>
                <a:cs typeface="Nunito"/>
                <a:sym typeface="Nunito"/>
              </a:rPr>
              <a:t>Example</a:t>
            </a:r>
          </a:p>
          <a:p>
            <a:pPr lvl="0" algn="just"/>
            <a:r>
              <a:rPr lang="en-US" sz="2800" dirty="0" err="1">
                <a:latin typeface="Nunito"/>
                <a:ea typeface="Nunito"/>
                <a:cs typeface="Nunito"/>
                <a:sym typeface="Nunito"/>
              </a:rPr>
              <a:t>def</a:t>
            </a:r>
            <a:r>
              <a:rPr lang="en-US" sz="2800" dirty="0">
                <a:latin typeface="Nunito"/>
                <a:ea typeface="Nunito"/>
                <a:cs typeface="Nunito"/>
                <a:sym typeface="Nunito"/>
              </a:rPr>
              <a:t> </a:t>
            </a:r>
            <a:r>
              <a:rPr lang="en-US" sz="2800" dirty="0" err="1">
                <a:latin typeface="Nunito"/>
                <a:ea typeface="Nunito"/>
                <a:cs typeface="Nunito"/>
                <a:sym typeface="Nunito"/>
              </a:rPr>
              <a:t>my_function</a:t>
            </a:r>
            <a:r>
              <a:rPr lang="en-US" sz="2800" dirty="0">
                <a:latin typeface="Nunito"/>
                <a:ea typeface="Nunito"/>
                <a:cs typeface="Nunito"/>
                <a:sym typeface="Nunito"/>
              </a:rPr>
              <a:t>(food):</a:t>
            </a:r>
          </a:p>
          <a:p>
            <a:pPr lvl="0" algn="just"/>
            <a:r>
              <a:rPr lang="en-US" sz="2800" dirty="0">
                <a:latin typeface="Nunito"/>
                <a:ea typeface="Nunito"/>
                <a:cs typeface="Nunito"/>
                <a:sym typeface="Nunito"/>
              </a:rPr>
              <a:t>  for x in food:</a:t>
            </a:r>
          </a:p>
          <a:p>
            <a:pPr lvl="0" algn="just"/>
            <a:r>
              <a:rPr lang="en-US" sz="2800" dirty="0">
                <a:latin typeface="Nunito"/>
                <a:ea typeface="Nunito"/>
                <a:cs typeface="Nunito"/>
                <a:sym typeface="Nunito"/>
              </a:rPr>
              <a:t>    print(x)</a:t>
            </a:r>
          </a:p>
          <a:p>
            <a:pPr lvl="0" algn="just"/>
            <a:r>
              <a:rPr lang="en-US" sz="2800" dirty="0" smtClean="0">
                <a:latin typeface="Nunito"/>
                <a:ea typeface="Nunito"/>
                <a:cs typeface="Nunito"/>
                <a:sym typeface="Nunito"/>
              </a:rPr>
              <a:t>fruits </a:t>
            </a:r>
            <a:r>
              <a:rPr lang="en-US" sz="2800" dirty="0">
                <a:latin typeface="Nunito"/>
                <a:ea typeface="Nunito"/>
                <a:cs typeface="Nunito"/>
                <a:sym typeface="Nunito"/>
              </a:rPr>
              <a:t>= ["apple", "banana", "cherry"]</a:t>
            </a:r>
          </a:p>
          <a:p>
            <a:pPr lvl="0" algn="just"/>
            <a:r>
              <a:rPr lang="en-US" sz="2800" dirty="0" err="1" smtClean="0">
                <a:latin typeface="Nunito"/>
                <a:ea typeface="Nunito"/>
                <a:cs typeface="Nunito"/>
                <a:sym typeface="Nunito"/>
              </a:rPr>
              <a:t>my_function</a:t>
            </a:r>
            <a:r>
              <a:rPr lang="en-US" sz="2800" dirty="0" smtClean="0">
                <a:latin typeface="Nunito"/>
                <a:ea typeface="Nunito"/>
                <a:cs typeface="Nunito"/>
                <a:sym typeface="Nunito"/>
              </a:rPr>
              <a:t>(fruits</a:t>
            </a:r>
            <a:r>
              <a:rPr lang="en-US" sz="2800" dirty="0">
                <a:latin typeface="Nunito"/>
                <a:ea typeface="Nunito"/>
                <a:cs typeface="Nunito"/>
                <a:sym typeface="Nunito"/>
              </a:rPr>
              <a:t>)</a:t>
            </a:r>
          </a:p>
        </p:txBody>
      </p:sp>
    </p:spTree>
    <p:extLst>
      <p:ext uri="{BB962C8B-B14F-4D97-AF65-F5344CB8AC3E}">
        <p14:creationId xmlns="" xmlns:p14="http://schemas.microsoft.com/office/powerpoint/2010/main" val="2774382454"/>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Arguments</a:t>
            </a:r>
            <a:endParaRPr lang="en-US" dirty="0"/>
          </a:p>
        </p:txBody>
      </p:sp>
      <p:sp>
        <p:nvSpPr>
          <p:cNvPr id="4" name="TextBox 3"/>
          <p:cNvSpPr txBox="1"/>
          <p:nvPr/>
        </p:nvSpPr>
        <p:spPr>
          <a:xfrm>
            <a:off x="228600" y="932557"/>
            <a:ext cx="8763000" cy="2677656"/>
          </a:xfrm>
          <a:prstGeom prst="rect">
            <a:avLst/>
          </a:prstGeom>
          <a:noFill/>
        </p:spPr>
        <p:txBody>
          <a:bodyPr wrap="square" rtlCol="0">
            <a:spAutoFit/>
          </a:bodyPr>
          <a:lstStyle/>
          <a:p>
            <a:pPr lvl="0" algn="just"/>
            <a:r>
              <a:rPr lang="en-US" sz="2800" b="1" dirty="0">
                <a:latin typeface="Nunito"/>
                <a:ea typeface="Nunito"/>
                <a:cs typeface="Nunito"/>
                <a:sym typeface="Nunito"/>
              </a:rPr>
              <a:t>You can call a function by using the following types of formal arguments −</a:t>
            </a:r>
          </a:p>
          <a:p>
            <a:pPr lvl="0" algn="just"/>
            <a:r>
              <a:rPr lang="en-US" sz="2800" dirty="0">
                <a:latin typeface="Nunito"/>
                <a:ea typeface="Nunito"/>
                <a:cs typeface="Nunito"/>
                <a:sym typeface="Nunito"/>
              </a:rPr>
              <a:t>●	Required arguments (positional)</a:t>
            </a:r>
          </a:p>
          <a:p>
            <a:pPr lvl="0" algn="just"/>
            <a:r>
              <a:rPr lang="en-US" sz="2800" dirty="0">
                <a:latin typeface="Nunito"/>
                <a:ea typeface="Nunito"/>
                <a:cs typeface="Nunito"/>
                <a:sym typeface="Nunito"/>
              </a:rPr>
              <a:t>●	Keyword arguments</a:t>
            </a:r>
          </a:p>
          <a:p>
            <a:pPr lvl="0" algn="just"/>
            <a:r>
              <a:rPr lang="en-US" sz="2800" dirty="0">
                <a:latin typeface="Nunito"/>
                <a:ea typeface="Nunito"/>
                <a:cs typeface="Nunito"/>
                <a:sym typeface="Nunito"/>
              </a:rPr>
              <a:t>●	Default arguments</a:t>
            </a:r>
          </a:p>
          <a:p>
            <a:pPr lvl="0" algn="just"/>
            <a:r>
              <a:rPr lang="en-US" sz="2800" dirty="0">
                <a:latin typeface="Nunito"/>
                <a:ea typeface="Nunito"/>
                <a:cs typeface="Nunito"/>
                <a:sym typeface="Nunito"/>
              </a:rPr>
              <a:t>●	Variable-length arguments</a:t>
            </a:r>
          </a:p>
        </p:txBody>
      </p:sp>
    </p:spTree>
    <p:extLst>
      <p:ext uri="{BB962C8B-B14F-4D97-AF65-F5344CB8AC3E}">
        <p14:creationId xmlns="" xmlns:p14="http://schemas.microsoft.com/office/powerpoint/2010/main" val="1165755239"/>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Arguments</a:t>
            </a:r>
            <a:endParaRPr lang="en-US" dirty="0"/>
          </a:p>
        </p:txBody>
      </p:sp>
      <p:sp>
        <p:nvSpPr>
          <p:cNvPr id="4" name="TextBox 3"/>
          <p:cNvSpPr txBox="1"/>
          <p:nvPr/>
        </p:nvSpPr>
        <p:spPr>
          <a:xfrm>
            <a:off x="228600" y="932557"/>
            <a:ext cx="8763000" cy="6001643"/>
          </a:xfrm>
          <a:prstGeom prst="rect">
            <a:avLst/>
          </a:prstGeom>
          <a:noFill/>
        </p:spPr>
        <p:txBody>
          <a:bodyPr wrap="square" rtlCol="0">
            <a:spAutoFit/>
          </a:bodyPr>
          <a:lstStyle/>
          <a:p>
            <a:r>
              <a:rPr lang="en-US" sz="2400" b="1" dirty="0"/>
              <a:t>Required Arguments (positional argument)</a:t>
            </a:r>
            <a:endParaRPr lang="en-IN" sz="2400" b="1" dirty="0"/>
          </a:p>
          <a:p>
            <a:pPr lvl="0"/>
            <a:r>
              <a:rPr lang="en-US" sz="2400" dirty="0"/>
              <a:t>Required arguments are the arguments passed to a function in correct positional order. Here, the number of arguments in the function call should match exactly with the function definition.</a:t>
            </a:r>
            <a:endParaRPr lang="en-IN" sz="2400" dirty="0"/>
          </a:p>
          <a:p>
            <a:r>
              <a:rPr lang="en-US" sz="2400" dirty="0"/>
              <a:t> </a:t>
            </a:r>
            <a:endParaRPr lang="en-IN" sz="2400" dirty="0"/>
          </a:p>
          <a:p>
            <a:r>
              <a:rPr lang="en-US" sz="2400" dirty="0" err="1"/>
              <a:t>def</a:t>
            </a:r>
            <a:r>
              <a:rPr lang="en-US" sz="2400" dirty="0"/>
              <a:t> </a:t>
            </a:r>
            <a:r>
              <a:rPr lang="en-US" sz="2400" dirty="0" err="1"/>
              <a:t>printme</a:t>
            </a:r>
            <a:r>
              <a:rPr lang="en-US" sz="2400" dirty="0"/>
              <a:t>( </a:t>
            </a:r>
            <a:r>
              <a:rPr lang="en-US" sz="2400" dirty="0" err="1"/>
              <a:t>name,marks</a:t>
            </a:r>
            <a:r>
              <a:rPr lang="en-US" sz="2400" dirty="0"/>
              <a:t> ):</a:t>
            </a:r>
            <a:endParaRPr lang="en-IN" sz="2400" dirty="0"/>
          </a:p>
          <a:p>
            <a:r>
              <a:rPr lang="en-US" sz="2400" dirty="0"/>
              <a:t>   "This prints a passed string into this function"</a:t>
            </a:r>
            <a:endParaRPr lang="en-IN" sz="2400" dirty="0"/>
          </a:p>
          <a:p>
            <a:r>
              <a:rPr lang="en-US" sz="2400" dirty="0"/>
              <a:t>   print ("</a:t>
            </a:r>
            <a:r>
              <a:rPr lang="en-US" sz="2400" dirty="0" err="1"/>
              <a:t>name:",name</a:t>
            </a:r>
            <a:r>
              <a:rPr lang="en-US" sz="2400" dirty="0"/>
              <a:t>)</a:t>
            </a:r>
            <a:endParaRPr lang="en-IN" sz="2400" dirty="0"/>
          </a:p>
          <a:p>
            <a:r>
              <a:rPr lang="en-US" sz="2400" dirty="0"/>
              <a:t>   print("</a:t>
            </a:r>
            <a:r>
              <a:rPr lang="en-US" sz="2400" dirty="0" err="1"/>
              <a:t>marks:",marks</a:t>
            </a:r>
            <a:r>
              <a:rPr lang="en-US" sz="2400" dirty="0"/>
              <a:t>)</a:t>
            </a:r>
            <a:endParaRPr lang="en-IN" sz="2400" dirty="0"/>
          </a:p>
          <a:p>
            <a:r>
              <a:rPr lang="en-US" sz="2400" dirty="0"/>
              <a:t>   return</a:t>
            </a:r>
            <a:endParaRPr lang="en-IN" sz="2400" dirty="0"/>
          </a:p>
          <a:p>
            <a:endParaRPr lang="en-US" sz="2400" dirty="0"/>
          </a:p>
          <a:p>
            <a:r>
              <a:rPr lang="en-US" sz="2400" dirty="0" smtClean="0"/>
              <a:t># </a:t>
            </a:r>
            <a:r>
              <a:rPr lang="en-US" sz="2400" dirty="0"/>
              <a:t>Now you can call </a:t>
            </a:r>
            <a:r>
              <a:rPr lang="en-US" sz="2400" dirty="0" err="1"/>
              <a:t>printme</a:t>
            </a:r>
            <a:r>
              <a:rPr lang="en-US" sz="2400" dirty="0"/>
              <a:t> function</a:t>
            </a:r>
            <a:endParaRPr lang="en-IN" sz="2400" dirty="0"/>
          </a:p>
          <a:p>
            <a:r>
              <a:rPr lang="en-US" sz="2400" dirty="0" err="1"/>
              <a:t>printme</a:t>
            </a:r>
            <a:r>
              <a:rPr lang="en-US" sz="2400" dirty="0"/>
              <a:t>("</a:t>
            </a:r>
            <a:r>
              <a:rPr lang="en-US" sz="2400" dirty="0" err="1"/>
              <a:t>vivek</a:t>
            </a:r>
            <a:r>
              <a:rPr lang="en-US" sz="2400" dirty="0"/>
              <a:t>",12)</a:t>
            </a:r>
            <a:endParaRPr lang="en-IN" sz="2400" dirty="0"/>
          </a:p>
          <a:p>
            <a:r>
              <a:rPr lang="en-US" sz="2400" dirty="0" smtClean="0"/>
              <a:t>Output</a:t>
            </a:r>
            <a:r>
              <a:rPr lang="en-US" sz="2400" dirty="0"/>
              <a:t>:</a:t>
            </a:r>
            <a:endParaRPr lang="en-IN" sz="2400" dirty="0"/>
          </a:p>
          <a:p>
            <a:r>
              <a:rPr lang="en-US" sz="2400" dirty="0"/>
              <a:t>name : </a:t>
            </a:r>
            <a:r>
              <a:rPr lang="en-US" sz="2400" dirty="0" err="1" smtClean="0"/>
              <a:t>kalpesh</a:t>
            </a:r>
            <a:endParaRPr lang="en-IN" sz="2400" dirty="0"/>
          </a:p>
          <a:p>
            <a:r>
              <a:rPr lang="en-US" sz="2400" dirty="0"/>
              <a:t>marks :12</a:t>
            </a:r>
            <a:endParaRPr lang="en-IN" sz="2400" dirty="0"/>
          </a:p>
        </p:txBody>
      </p:sp>
    </p:spTree>
    <p:extLst>
      <p:ext uri="{BB962C8B-B14F-4D97-AF65-F5344CB8AC3E}">
        <p14:creationId xmlns="" xmlns:p14="http://schemas.microsoft.com/office/powerpoint/2010/main" val="703127947"/>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Arguments</a:t>
            </a:r>
            <a:endParaRPr lang="en-US" dirty="0"/>
          </a:p>
        </p:txBody>
      </p:sp>
      <p:sp>
        <p:nvSpPr>
          <p:cNvPr id="4" name="TextBox 3"/>
          <p:cNvSpPr txBox="1"/>
          <p:nvPr/>
        </p:nvSpPr>
        <p:spPr>
          <a:xfrm>
            <a:off x="228600" y="932557"/>
            <a:ext cx="8763000" cy="5262979"/>
          </a:xfrm>
          <a:prstGeom prst="rect">
            <a:avLst/>
          </a:prstGeom>
          <a:noFill/>
        </p:spPr>
        <p:txBody>
          <a:bodyPr wrap="square" rtlCol="0">
            <a:spAutoFit/>
          </a:bodyPr>
          <a:lstStyle/>
          <a:p>
            <a:pPr lvl="0" algn="just"/>
            <a:r>
              <a:rPr lang="en-US" sz="2400" dirty="0"/>
              <a:t>But if we will change order of arguments, then it will take wrong input of argument which produce wrong output −</a:t>
            </a:r>
            <a:endParaRPr lang="en-IN" sz="2400" dirty="0"/>
          </a:p>
          <a:p>
            <a:pPr algn="just"/>
            <a:r>
              <a:rPr lang="en-US" sz="2400" dirty="0" err="1"/>
              <a:t>def</a:t>
            </a:r>
            <a:r>
              <a:rPr lang="en-US" sz="2400" dirty="0"/>
              <a:t> </a:t>
            </a:r>
            <a:r>
              <a:rPr lang="en-US" sz="2400" dirty="0" err="1"/>
              <a:t>printme</a:t>
            </a:r>
            <a:r>
              <a:rPr lang="en-US" sz="2400" dirty="0"/>
              <a:t>( </a:t>
            </a:r>
            <a:r>
              <a:rPr lang="en-US" sz="2400" dirty="0" err="1"/>
              <a:t>name,marks</a:t>
            </a:r>
            <a:r>
              <a:rPr lang="en-US" sz="2400" dirty="0"/>
              <a:t> ):</a:t>
            </a:r>
            <a:endParaRPr lang="en-IN" sz="2400" dirty="0"/>
          </a:p>
          <a:p>
            <a:pPr algn="just"/>
            <a:r>
              <a:rPr lang="en-US" sz="2400" dirty="0"/>
              <a:t>   "This prints a passed string into this function"</a:t>
            </a:r>
            <a:endParaRPr lang="en-IN" sz="2400" dirty="0"/>
          </a:p>
          <a:p>
            <a:pPr algn="just"/>
            <a:r>
              <a:rPr lang="en-US" sz="2400" dirty="0"/>
              <a:t>   print ("</a:t>
            </a:r>
            <a:r>
              <a:rPr lang="en-US" sz="2400" dirty="0" err="1"/>
              <a:t>name:",name</a:t>
            </a:r>
            <a:r>
              <a:rPr lang="en-US" sz="2400" dirty="0"/>
              <a:t>)</a:t>
            </a:r>
            <a:endParaRPr lang="en-IN" sz="2400" dirty="0"/>
          </a:p>
          <a:p>
            <a:pPr algn="just"/>
            <a:r>
              <a:rPr lang="en-US" sz="2400" dirty="0"/>
              <a:t>   print("</a:t>
            </a:r>
            <a:r>
              <a:rPr lang="en-US" sz="2400" dirty="0" err="1"/>
              <a:t>marks:",marks</a:t>
            </a:r>
            <a:r>
              <a:rPr lang="en-US" sz="2400" dirty="0"/>
              <a:t>)</a:t>
            </a:r>
            <a:endParaRPr lang="en-IN" sz="2400" dirty="0"/>
          </a:p>
          <a:p>
            <a:pPr algn="just"/>
            <a:r>
              <a:rPr lang="en-US" sz="2400" dirty="0"/>
              <a:t>   return</a:t>
            </a:r>
            <a:endParaRPr lang="en-IN" sz="2400" dirty="0"/>
          </a:p>
          <a:p>
            <a:pPr algn="just"/>
            <a:r>
              <a:rPr lang="en-US" sz="2400" dirty="0"/>
              <a:t> </a:t>
            </a:r>
            <a:endParaRPr lang="en-IN" sz="2400" dirty="0"/>
          </a:p>
          <a:p>
            <a:pPr algn="just"/>
            <a:r>
              <a:rPr lang="en-US" sz="2400" dirty="0"/>
              <a:t># Now you can call </a:t>
            </a:r>
            <a:r>
              <a:rPr lang="en-US" sz="2400" dirty="0" err="1"/>
              <a:t>printme</a:t>
            </a:r>
            <a:r>
              <a:rPr lang="en-US" sz="2400" dirty="0"/>
              <a:t> function</a:t>
            </a:r>
            <a:endParaRPr lang="en-IN" sz="2400" dirty="0"/>
          </a:p>
          <a:p>
            <a:pPr algn="just"/>
            <a:r>
              <a:rPr lang="en-US" sz="2400" dirty="0" err="1"/>
              <a:t>printme</a:t>
            </a:r>
            <a:r>
              <a:rPr lang="en-US" sz="2400" dirty="0"/>
              <a:t>(12,"</a:t>
            </a:r>
            <a:r>
              <a:rPr lang="en-US" sz="2400" dirty="0" err="1"/>
              <a:t>vivek</a:t>
            </a:r>
            <a:r>
              <a:rPr lang="en-US" sz="2400" dirty="0"/>
              <a:t>")</a:t>
            </a:r>
            <a:endParaRPr lang="en-IN" sz="2400" dirty="0"/>
          </a:p>
          <a:p>
            <a:pPr algn="just"/>
            <a:r>
              <a:rPr lang="en-US" sz="2400" dirty="0"/>
              <a:t> </a:t>
            </a:r>
            <a:endParaRPr lang="en-IN" sz="2400" dirty="0"/>
          </a:p>
          <a:p>
            <a:pPr algn="just"/>
            <a:r>
              <a:rPr lang="en-US" sz="2400" dirty="0"/>
              <a:t>Output:</a:t>
            </a:r>
            <a:endParaRPr lang="en-IN" sz="2400" dirty="0"/>
          </a:p>
          <a:p>
            <a:pPr algn="just"/>
            <a:r>
              <a:rPr lang="en-US" sz="2400" dirty="0"/>
              <a:t>name : 12</a:t>
            </a:r>
            <a:endParaRPr lang="en-IN" sz="2400" dirty="0"/>
          </a:p>
          <a:p>
            <a:pPr algn="just"/>
            <a:r>
              <a:rPr lang="en-US" sz="2400" dirty="0"/>
              <a:t>marks :</a:t>
            </a:r>
            <a:r>
              <a:rPr lang="en-US" sz="2400" dirty="0" err="1"/>
              <a:t>vivek</a:t>
            </a:r>
            <a:endParaRPr lang="en-IN" sz="2400" dirty="0"/>
          </a:p>
        </p:txBody>
      </p:sp>
    </p:spTree>
    <p:extLst>
      <p:ext uri="{BB962C8B-B14F-4D97-AF65-F5344CB8AC3E}">
        <p14:creationId xmlns="" xmlns:p14="http://schemas.microsoft.com/office/powerpoint/2010/main" val="3249097337"/>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Arguments</a:t>
            </a:r>
            <a:endParaRPr lang="en-US" dirty="0"/>
          </a:p>
        </p:txBody>
      </p:sp>
      <p:sp>
        <p:nvSpPr>
          <p:cNvPr id="4" name="TextBox 3"/>
          <p:cNvSpPr txBox="1"/>
          <p:nvPr/>
        </p:nvSpPr>
        <p:spPr>
          <a:xfrm>
            <a:off x="228600" y="932557"/>
            <a:ext cx="8763000" cy="4524315"/>
          </a:xfrm>
          <a:prstGeom prst="rect">
            <a:avLst/>
          </a:prstGeom>
          <a:noFill/>
        </p:spPr>
        <p:txBody>
          <a:bodyPr wrap="square" rtlCol="0">
            <a:spAutoFit/>
          </a:bodyPr>
          <a:lstStyle/>
          <a:p>
            <a:pPr algn="just"/>
            <a:r>
              <a:rPr lang="en-US" sz="2400" b="1" dirty="0"/>
              <a:t>Variable-length Arguments</a:t>
            </a:r>
            <a:endParaRPr lang="en-IN" sz="2400" b="1" dirty="0"/>
          </a:p>
          <a:p>
            <a:pPr lvl="0" algn="just"/>
            <a:r>
              <a:rPr lang="en-US" sz="2400" dirty="0"/>
              <a:t>You may need to process a function for more arguments than you specified while defining the function. These arguments are called </a:t>
            </a:r>
            <a:r>
              <a:rPr lang="en-US" sz="2400" i="1" dirty="0"/>
              <a:t>variable-length</a:t>
            </a:r>
            <a:r>
              <a:rPr lang="en-US" sz="2400" dirty="0"/>
              <a:t> arguments and are not named in the function definition, unlike required and default arguments</a:t>
            </a:r>
            <a:r>
              <a:rPr lang="en-US" sz="2400" dirty="0" smtClean="0"/>
              <a:t>.</a:t>
            </a:r>
          </a:p>
          <a:p>
            <a:pPr lvl="0" algn="just"/>
            <a:endParaRPr lang="en-IN" sz="2400" dirty="0"/>
          </a:p>
          <a:p>
            <a:pPr lvl="0" algn="just"/>
            <a:r>
              <a:rPr lang="en-US" sz="2400" dirty="0"/>
              <a:t>Syntax for a function with non-keyword variable arguments is given below −</a:t>
            </a:r>
            <a:endParaRPr lang="en-IN" sz="2400" dirty="0"/>
          </a:p>
          <a:p>
            <a:pPr algn="just"/>
            <a:r>
              <a:rPr lang="en-US" sz="2400" dirty="0" err="1"/>
              <a:t>def</a:t>
            </a:r>
            <a:r>
              <a:rPr lang="en-US" sz="2400" dirty="0"/>
              <a:t> </a:t>
            </a:r>
            <a:r>
              <a:rPr lang="en-US" sz="2400" dirty="0" err="1"/>
              <a:t>functionname</a:t>
            </a:r>
            <a:r>
              <a:rPr lang="en-US" sz="2400" dirty="0"/>
              <a:t>([</a:t>
            </a:r>
            <a:r>
              <a:rPr lang="en-US" sz="2400" dirty="0" err="1"/>
              <a:t>formal_args</a:t>
            </a:r>
            <a:r>
              <a:rPr lang="en-US" sz="2400" dirty="0"/>
              <a:t>,] *</a:t>
            </a:r>
            <a:r>
              <a:rPr lang="en-US" sz="2400" dirty="0" err="1"/>
              <a:t>var_args_tuple</a:t>
            </a:r>
            <a:r>
              <a:rPr lang="en-US" sz="2400" dirty="0"/>
              <a:t> ):</a:t>
            </a:r>
            <a:endParaRPr lang="en-IN" sz="2400" dirty="0"/>
          </a:p>
          <a:p>
            <a:pPr algn="just"/>
            <a:r>
              <a:rPr lang="en-US" sz="2400" dirty="0"/>
              <a:t>   "</a:t>
            </a:r>
            <a:r>
              <a:rPr lang="en-US" sz="2400" dirty="0" err="1"/>
              <a:t>function_docstring</a:t>
            </a:r>
            <a:r>
              <a:rPr lang="en-US" sz="2400" dirty="0"/>
              <a:t>"</a:t>
            </a:r>
            <a:endParaRPr lang="en-IN" sz="2400" dirty="0"/>
          </a:p>
          <a:p>
            <a:pPr algn="just"/>
            <a:r>
              <a:rPr lang="en-US" sz="2400" dirty="0"/>
              <a:t>   </a:t>
            </a:r>
            <a:r>
              <a:rPr lang="en-US" sz="2400" dirty="0" err="1"/>
              <a:t>function_suite</a:t>
            </a:r>
            <a:endParaRPr lang="en-IN" sz="2400" dirty="0"/>
          </a:p>
          <a:p>
            <a:pPr algn="just"/>
            <a:r>
              <a:rPr lang="en-US" sz="2400" dirty="0"/>
              <a:t>   return [expression</a:t>
            </a:r>
            <a:r>
              <a:rPr lang="en-US" sz="2400" dirty="0" smtClean="0"/>
              <a:t>]</a:t>
            </a:r>
            <a:endParaRPr lang="en-IN" sz="2400" dirty="0"/>
          </a:p>
        </p:txBody>
      </p:sp>
    </p:spTree>
    <p:extLst>
      <p:ext uri="{BB962C8B-B14F-4D97-AF65-F5344CB8AC3E}">
        <p14:creationId xmlns="" xmlns:p14="http://schemas.microsoft.com/office/powerpoint/2010/main" val="2446263041"/>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Arguments</a:t>
            </a:r>
            <a:endParaRPr lang="en-US" dirty="0"/>
          </a:p>
        </p:txBody>
      </p:sp>
      <p:sp>
        <p:nvSpPr>
          <p:cNvPr id="4" name="TextBox 3"/>
          <p:cNvSpPr txBox="1"/>
          <p:nvPr/>
        </p:nvSpPr>
        <p:spPr>
          <a:xfrm>
            <a:off x="228600" y="932557"/>
            <a:ext cx="8763000" cy="4524315"/>
          </a:xfrm>
          <a:prstGeom prst="rect">
            <a:avLst/>
          </a:prstGeom>
          <a:noFill/>
        </p:spPr>
        <p:txBody>
          <a:bodyPr wrap="square" rtlCol="0">
            <a:spAutoFit/>
          </a:bodyPr>
          <a:lstStyle/>
          <a:p>
            <a:pPr lvl="0" algn="just"/>
            <a:r>
              <a:rPr lang="en-US" sz="2400" dirty="0"/>
              <a:t>An asterisk (*) is placed before the variable name that holds the values of all </a:t>
            </a:r>
            <a:r>
              <a:rPr lang="en-US" sz="2400" dirty="0" err="1"/>
              <a:t>nonkeyword</a:t>
            </a:r>
            <a:r>
              <a:rPr lang="en-US" sz="2400" dirty="0"/>
              <a:t> variable arguments. This tuple remains empty if no additional arguments are specified during the function call. Following is a simple example −</a:t>
            </a:r>
            <a:endParaRPr lang="en-IN" sz="2400" dirty="0"/>
          </a:p>
          <a:p>
            <a:pPr algn="just"/>
            <a:r>
              <a:rPr lang="en-US" sz="2400" dirty="0"/>
              <a:t> </a:t>
            </a:r>
            <a:endParaRPr lang="en-IN" sz="2400" dirty="0"/>
          </a:p>
          <a:p>
            <a:pPr algn="just"/>
            <a:r>
              <a:rPr lang="en-US" sz="2400" dirty="0" err="1"/>
              <a:t>def</a:t>
            </a:r>
            <a:r>
              <a:rPr lang="en-US" sz="2400" dirty="0"/>
              <a:t> adder(*</a:t>
            </a:r>
            <a:r>
              <a:rPr lang="en-US" sz="2400" dirty="0" err="1"/>
              <a:t>num</a:t>
            </a:r>
            <a:r>
              <a:rPr lang="en-US" sz="2400" dirty="0"/>
              <a:t>):</a:t>
            </a:r>
            <a:endParaRPr lang="en-IN" sz="2400" dirty="0"/>
          </a:p>
          <a:p>
            <a:pPr algn="just"/>
            <a:r>
              <a:rPr lang="en-US" sz="2400" dirty="0"/>
              <a:t>    sum = 0</a:t>
            </a:r>
            <a:endParaRPr lang="en-IN" sz="2400" dirty="0"/>
          </a:p>
          <a:p>
            <a:pPr algn="just"/>
            <a:r>
              <a:rPr lang="en-US" sz="2400" dirty="0"/>
              <a:t>    </a:t>
            </a:r>
            <a:endParaRPr lang="en-IN" sz="2400" dirty="0"/>
          </a:p>
          <a:p>
            <a:pPr algn="just"/>
            <a:r>
              <a:rPr lang="en-US" sz="2400" dirty="0"/>
              <a:t>    for n in </a:t>
            </a:r>
            <a:r>
              <a:rPr lang="en-US" sz="2400" dirty="0" err="1"/>
              <a:t>num</a:t>
            </a:r>
            <a:r>
              <a:rPr lang="en-US" sz="2400" dirty="0"/>
              <a:t>:</a:t>
            </a:r>
            <a:endParaRPr lang="en-IN" sz="2400" dirty="0"/>
          </a:p>
          <a:p>
            <a:pPr algn="just"/>
            <a:r>
              <a:rPr lang="en-US" sz="2400" dirty="0"/>
              <a:t>        sum = sum + n</a:t>
            </a:r>
            <a:endParaRPr lang="en-IN" sz="2400" dirty="0"/>
          </a:p>
          <a:p>
            <a:pPr algn="just"/>
            <a:r>
              <a:rPr lang="en-US" sz="2400" dirty="0"/>
              <a:t> </a:t>
            </a:r>
            <a:endParaRPr lang="en-IN" sz="2400" dirty="0"/>
          </a:p>
          <a:p>
            <a:pPr algn="just"/>
            <a:r>
              <a:rPr lang="en-US" sz="2400" dirty="0"/>
              <a:t>    print("total </a:t>
            </a:r>
            <a:r>
              <a:rPr lang="en-US" sz="2400" dirty="0" err="1"/>
              <a:t>is:",sum</a:t>
            </a:r>
            <a:r>
              <a:rPr lang="en-US" sz="2400" dirty="0" smtClean="0"/>
              <a:t>)</a:t>
            </a:r>
            <a:endParaRPr lang="en-IN" sz="2400" dirty="0"/>
          </a:p>
        </p:txBody>
      </p:sp>
    </p:spTree>
    <p:extLst>
      <p:ext uri="{BB962C8B-B14F-4D97-AF65-F5344CB8AC3E}">
        <p14:creationId xmlns="" xmlns:p14="http://schemas.microsoft.com/office/powerpoint/2010/main" val="3610885239"/>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Arguments</a:t>
            </a:r>
            <a:endParaRPr lang="en-US" dirty="0"/>
          </a:p>
        </p:txBody>
      </p:sp>
      <p:sp>
        <p:nvSpPr>
          <p:cNvPr id="4" name="TextBox 3"/>
          <p:cNvSpPr txBox="1"/>
          <p:nvPr/>
        </p:nvSpPr>
        <p:spPr>
          <a:xfrm>
            <a:off x="228600" y="932557"/>
            <a:ext cx="8763000" cy="2677656"/>
          </a:xfrm>
          <a:prstGeom prst="rect">
            <a:avLst/>
          </a:prstGeom>
          <a:noFill/>
        </p:spPr>
        <p:txBody>
          <a:bodyPr wrap="square" rtlCol="0">
            <a:spAutoFit/>
          </a:bodyPr>
          <a:lstStyle/>
          <a:p>
            <a:pPr algn="just"/>
            <a:r>
              <a:rPr lang="en-US" sz="2400" dirty="0"/>
              <a:t>adder(3,5)</a:t>
            </a:r>
            <a:endParaRPr lang="en-IN" sz="2400" dirty="0"/>
          </a:p>
          <a:p>
            <a:pPr algn="just"/>
            <a:r>
              <a:rPr lang="en-US" sz="2400" dirty="0"/>
              <a:t>adder(4,5,6,7)</a:t>
            </a:r>
            <a:endParaRPr lang="en-IN" sz="2400" dirty="0"/>
          </a:p>
          <a:p>
            <a:pPr algn="just"/>
            <a:r>
              <a:rPr lang="en-US" sz="2400" dirty="0"/>
              <a:t>adder(1,2,3,5,6)</a:t>
            </a:r>
            <a:endParaRPr lang="en-IN" sz="2400" dirty="0"/>
          </a:p>
          <a:p>
            <a:pPr algn="just"/>
            <a:r>
              <a:rPr lang="en-US" sz="2400" dirty="0"/>
              <a:t>When we run the above program, the output will be</a:t>
            </a:r>
            <a:endParaRPr lang="en-IN" sz="2400" dirty="0"/>
          </a:p>
          <a:p>
            <a:pPr algn="just"/>
            <a:r>
              <a:rPr lang="en-US" sz="2400" dirty="0"/>
              <a:t>Sum: 8</a:t>
            </a:r>
            <a:endParaRPr lang="en-IN" sz="2400" dirty="0"/>
          </a:p>
          <a:p>
            <a:pPr algn="just"/>
            <a:r>
              <a:rPr lang="en-US" sz="2400" dirty="0"/>
              <a:t>Sum: 22</a:t>
            </a:r>
            <a:endParaRPr lang="en-IN" sz="2400" dirty="0"/>
          </a:p>
          <a:p>
            <a:pPr algn="just"/>
            <a:r>
              <a:rPr lang="en-US" sz="2400" dirty="0"/>
              <a:t>Sum: </a:t>
            </a:r>
            <a:r>
              <a:rPr lang="en-US" sz="2400" dirty="0" smtClean="0"/>
              <a:t>17</a:t>
            </a:r>
            <a:endParaRPr lang="en-IN" sz="2400" dirty="0"/>
          </a:p>
        </p:txBody>
      </p:sp>
    </p:spTree>
    <p:extLst>
      <p:ext uri="{BB962C8B-B14F-4D97-AF65-F5344CB8AC3E}">
        <p14:creationId xmlns="" xmlns:p14="http://schemas.microsoft.com/office/powerpoint/2010/main" val="2313467693"/>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Arguments</a:t>
            </a:r>
            <a:endParaRPr lang="en-US" dirty="0"/>
          </a:p>
        </p:txBody>
      </p:sp>
      <p:sp>
        <p:nvSpPr>
          <p:cNvPr id="4" name="TextBox 3"/>
          <p:cNvSpPr txBox="1"/>
          <p:nvPr/>
        </p:nvSpPr>
        <p:spPr>
          <a:xfrm>
            <a:off x="228600" y="932557"/>
            <a:ext cx="8763000" cy="3416320"/>
          </a:xfrm>
          <a:prstGeom prst="rect">
            <a:avLst/>
          </a:prstGeom>
          <a:noFill/>
        </p:spPr>
        <p:txBody>
          <a:bodyPr wrap="square" rtlCol="0">
            <a:spAutoFit/>
          </a:bodyPr>
          <a:lstStyle/>
          <a:p>
            <a:pPr algn="just"/>
            <a:r>
              <a:rPr lang="en-US" sz="2400" dirty="0"/>
              <a:t># Function definition is here</a:t>
            </a:r>
            <a:endParaRPr lang="en-IN" sz="2400" dirty="0"/>
          </a:p>
          <a:p>
            <a:pPr algn="just"/>
            <a:r>
              <a:rPr lang="en-US" sz="2400" dirty="0" err="1"/>
              <a:t>def</a:t>
            </a:r>
            <a:r>
              <a:rPr lang="en-US" sz="2400" dirty="0"/>
              <a:t> </a:t>
            </a:r>
            <a:r>
              <a:rPr lang="en-US" sz="2400" dirty="0" err="1"/>
              <a:t>printinfo</a:t>
            </a:r>
            <a:r>
              <a:rPr lang="en-US" sz="2400" dirty="0"/>
              <a:t>(</a:t>
            </a:r>
            <a:r>
              <a:rPr lang="en-US" sz="2400" dirty="0" err="1"/>
              <a:t>arg1</a:t>
            </a:r>
            <a:r>
              <a:rPr lang="en-US" sz="2400" dirty="0"/>
              <a:t>,*</a:t>
            </a:r>
            <a:r>
              <a:rPr lang="en-US" sz="2400" dirty="0" err="1"/>
              <a:t>vartuple</a:t>
            </a:r>
            <a:r>
              <a:rPr lang="en-US" sz="2400" dirty="0"/>
              <a:t> ):</a:t>
            </a:r>
            <a:endParaRPr lang="en-IN" sz="2400" dirty="0"/>
          </a:p>
          <a:p>
            <a:pPr algn="just"/>
            <a:r>
              <a:rPr lang="en-US" sz="2400" dirty="0"/>
              <a:t>   "This prints a variable passed arguments"</a:t>
            </a:r>
            <a:endParaRPr lang="en-IN" sz="2400" dirty="0"/>
          </a:p>
          <a:p>
            <a:pPr algn="just"/>
            <a:r>
              <a:rPr lang="en-US" sz="2400" dirty="0"/>
              <a:t>   print ("Output is: ")</a:t>
            </a:r>
            <a:endParaRPr lang="en-IN" sz="2400" dirty="0"/>
          </a:p>
          <a:p>
            <a:pPr algn="just"/>
            <a:r>
              <a:rPr lang="en-US" sz="2400" dirty="0"/>
              <a:t>   print (</a:t>
            </a:r>
            <a:r>
              <a:rPr lang="en-US" sz="2400" dirty="0" err="1"/>
              <a:t>arg1</a:t>
            </a:r>
            <a:r>
              <a:rPr lang="en-US" sz="2400" dirty="0"/>
              <a:t>)</a:t>
            </a:r>
            <a:endParaRPr lang="en-IN" sz="2400" dirty="0"/>
          </a:p>
          <a:p>
            <a:pPr algn="just"/>
            <a:r>
              <a:rPr lang="en-US" sz="2400" dirty="0"/>
              <a:t>   </a:t>
            </a:r>
            <a:endParaRPr lang="en-IN" sz="2400" dirty="0"/>
          </a:p>
          <a:p>
            <a:pPr algn="just"/>
            <a:r>
              <a:rPr lang="en-US" sz="2400" dirty="0"/>
              <a:t>   for </a:t>
            </a:r>
            <a:r>
              <a:rPr lang="en-US" sz="2400" dirty="0" err="1"/>
              <a:t>var</a:t>
            </a:r>
            <a:r>
              <a:rPr lang="en-US" sz="2400" dirty="0"/>
              <a:t> in </a:t>
            </a:r>
            <a:r>
              <a:rPr lang="en-US" sz="2400" dirty="0" err="1"/>
              <a:t>vartuple</a:t>
            </a:r>
            <a:r>
              <a:rPr lang="en-US" sz="2400" dirty="0"/>
              <a:t>:</a:t>
            </a:r>
            <a:endParaRPr lang="en-IN" sz="2400" dirty="0"/>
          </a:p>
          <a:p>
            <a:pPr algn="just"/>
            <a:r>
              <a:rPr lang="en-US" sz="2400" dirty="0"/>
              <a:t>      print (</a:t>
            </a:r>
            <a:r>
              <a:rPr lang="en-US" sz="2400" dirty="0" err="1"/>
              <a:t>var</a:t>
            </a:r>
            <a:r>
              <a:rPr lang="en-US" sz="2400" dirty="0"/>
              <a:t>)</a:t>
            </a:r>
            <a:endParaRPr lang="en-IN" sz="2400" dirty="0"/>
          </a:p>
          <a:p>
            <a:pPr algn="just"/>
            <a:r>
              <a:rPr lang="en-US" sz="2400" dirty="0"/>
              <a:t>   </a:t>
            </a:r>
            <a:r>
              <a:rPr lang="en-US" sz="2400" dirty="0" smtClean="0"/>
              <a:t>return</a:t>
            </a:r>
            <a:endParaRPr lang="en-IN" sz="2400" dirty="0"/>
          </a:p>
        </p:txBody>
      </p:sp>
    </p:spTree>
    <p:extLst>
      <p:ext uri="{BB962C8B-B14F-4D97-AF65-F5344CB8AC3E}">
        <p14:creationId xmlns="" xmlns:p14="http://schemas.microsoft.com/office/powerpoint/2010/main" val="4225992180"/>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Arguments</a:t>
            </a:r>
            <a:endParaRPr lang="en-US" dirty="0"/>
          </a:p>
        </p:txBody>
      </p:sp>
      <p:sp>
        <p:nvSpPr>
          <p:cNvPr id="4" name="TextBox 3"/>
          <p:cNvSpPr txBox="1"/>
          <p:nvPr/>
        </p:nvSpPr>
        <p:spPr>
          <a:xfrm>
            <a:off x="228600" y="932557"/>
            <a:ext cx="8763000" cy="3785652"/>
          </a:xfrm>
          <a:prstGeom prst="rect">
            <a:avLst/>
          </a:prstGeom>
          <a:noFill/>
        </p:spPr>
        <p:txBody>
          <a:bodyPr wrap="square" rtlCol="0">
            <a:spAutoFit/>
          </a:bodyPr>
          <a:lstStyle/>
          <a:p>
            <a:pPr algn="just"/>
            <a:r>
              <a:rPr lang="en-US" sz="2400" dirty="0"/>
              <a:t># Now you can call </a:t>
            </a:r>
            <a:r>
              <a:rPr lang="en-US" sz="2400" dirty="0" err="1"/>
              <a:t>printinfo</a:t>
            </a:r>
            <a:r>
              <a:rPr lang="en-US" sz="2400" dirty="0"/>
              <a:t> function</a:t>
            </a:r>
            <a:endParaRPr lang="en-IN" sz="2400" dirty="0"/>
          </a:p>
          <a:p>
            <a:pPr algn="just"/>
            <a:r>
              <a:rPr lang="en-US" sz="2400" dirty="0" err="1"/>
              <a:t>printinfo</a:t>
            </a:r>
            <a:r>
              <a:rPr lang="en-US" sz="2400" dirty="0"/>
              <a:t>( 10 )</a:t>
            </a:r>
            <a:endParaRPr lang="en-IN" sz="2400" dirty="0"/>
          </a:p>
          <a:p>
            <a:pPr algn="just"/>
            <a:r>
              <a:rPr lang="en-US" sz="2400" dirty="0" err="1"/>
              <a:t>printinfo</a:t>
            </a:r>
            <a:r>
              <a:rPr lang="en-US" sz="2400" dirty="0"/>
              <a:t>( 70, 60, 50 )</a:t>
            </a:r>
            <a:endParaRPr lang="en-IN" sz="2400" dirty="0"/>
          </a:p>
          <a:p>
            <a:pPr algn="just"/>
            <a:r>
              <a:rPr lang="en-US" sz="2400" dirty="0"/>
              <a:t>When the above code is executed, it produces the following result −</a:t>
            </a:r>
            <a:endParaRPr lang="en-IN" sz="2400" dirty="0"/>
          </a:p>
          <a:p>
            <a:pPr algn="just"/>
            <a:r>
              <a:rPr lang="en-US" sz="2400" dirty="0"/>
              <a:t>Output is:</a:t>
            </a:r>
            <a:endParaRPr lang="en-IN" sz="2400" dirty="0"/>
          </a:p>
          <a:p>
            <a:pPr algn="just"/>
            <a:r>
              <a:rPr lang="en-US" sz="2400" dirty="0"/>
              <a:t>10</a:t>
            </a:r>
            <a:endParaRPr lang="en-IN" sz="2400" dirty="0"/>
          </a:p>
          <a:p>
            <a:pPr algn="just"/>
            <a:r>
              <a:rPr lang="en-US" sz="2400" dirty="0"/>
              <a:t>Output is:</a:t>
            </a:r>
            <a:endParaRPr lang="en-IN" sz="2400" dirty="0"/>
          </a:p>
          <a:p>
            <a:pPr algn="just"/>
            <a:r>
              <a:rPr lang="en-US" sz="2400" dirty="0"/>
              <a:t>70</a:t>
            </a:r>
            <a:endParaRPr lang="en-IN" sz="2400" dirty="0"/>
          </a:p>
          <a:p>
            <a:pPr algn="just"/>
            <a:r>
              <a:rPr lang="en-US" sz="2400" dirty="0"/>
              <a:t>60</a:t>
            </a:r>
            <a:endParaRPr lang="en-IN" sz="2400" dirty="0"/>
          </a:p>
          <a:p>
            <a:pPr algn="just"/>
            <a:r>
              <a:rPr lang="en-US" sz="2400" dirty="0"/>
              <a:t>50</a:t>
            </a:r>
            <a:endParaRPr lang="en-IN" sz="2400" dirty="0"/>
          </a:p>
        </p:txBody>
      </p:sp>
    </p:spTree>
    <p:extLst>
      <p:ext uri="{BB962C8B-B14F-4D97-AF65-F5344CB8AC3E}">
        <p14:creationId xmlns="" xmlns:p14="http://schemas.microsoft.com/office/powerpoint/2010/main" val="834244305"/>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The Return Statement</a:t>
            </a:r>
            <a:endParaRPr lang="en-US" dirty="0"/>
          </a:p>
        </p:txBody>
      </p:sp>
      <p:sp>
        <p:nvSpPr>
          <p:cNvPr id="4" name="TextBox 3"/>
          <p:cNvSpPr txBox="1"/>
          <p:nvPr/>
        </p:nvSpPr>
        <p:spPr>
          <a:xfrm>
            <a:off x="228600" y="932557"/>
            <a:ext cx="8763000" cy="4524315"/>
          </a:xfrm>
          <a:prstGeom prst="rect">
            <a:avLst/>
          </a:prstGeom>
          <a:noFill/>
        </p:spPr>
        <p:txBody>
          <a:bodyPr wrap="square" rtlCol="0">
            <a:spAutoFit/>
          </a:bodyPr>
          <a:lstStyle/>
          <a:p>
            <a:pPr lvl="0" algn="just"/>
            <a:r>
              <a:rPr lang="en-US" sz="2400" dirty="0" smtClean="0"/>
              <a:t>The </a:t>
            </a:r>
            <a:r>
              <a:rPr lang="en-US" sz="2400" dirty="0"/>
              <a:t>statement return [expression] exits a function, optionally passing back an expression to the caller. A return statement with no arguments is the same as return None.</a:t>
            </a:r>
            <a:endParaRPr lang="en-IN" sz="2400" dirty="0"/>
          </a:p>
          <a:p>
            <a:pPr lvl="0" algn="just"/>
            <a:r>
              <a:rPr lang="en-US" sz="2400" dirty="0"/>
              <a:t>All the examples given below are not returning any value. You can return a value from a function as follows −</a:t>
            </a:r>
            <a:endParaRPr lang="en-IN" sz="2400" dirty="0"/>
          </a:p>
          <a:p>
            <a:pPr algn="just"/>
            <a:r>
              <a:rPr lang="en-US" sz="2400" dirty="0"/>
              <a:t> </a:t>
            </a:r>
            <a:endParaRPr lang="en-IN" sz="2400" dirty="0"/>
          </a:p>
          <a:p>
            <a:pPr algn="just"/>
            <a:r>
              <a:rPr lang="en-US" sz="2400" dirty="0"/>
              <a:t># Function definition is here</a:t>
            </a:r>
            <a:endParaRPr lang="en-IN" sz="2400" dirty="0"/>
          </a:p>
          <a:p>
            <a:pPr algn="just"/>
            <a:r>
              <a:rPr lang="en-US" sz="2400" dirty="0" err="1"/>
              <a:t>def</a:t>
            </a:r>
            <a:r>
              <a:rPr lang="en-US" sz="2400" dirty="0"/>
              <a:t> sum( </a:t>
            </a:r>
            <a:r>
              <a:rPr lang="en-US" sz="2400" dirty="0" err="1"/>
              <a:t>arg1</a:t>
            </a:r>
            <a:r>
              <a:rPr lang="en-US" sz="2400" dirty="0"/>
              <a:t>, </a:t>
            </a:r>
            <a:r>
              <a:rPr lang="en-US" sz="2400" dirty="0" err="1"/>
              <a:t>arg2</a:t>
            </a:r>
            <a:r>
              <a:rPr lang="en-US" sz="2400" dirty="0"/>
              <a:t> ):</a:t>
            </a:r>
            <a:endParaRPr lang="en-IN" sz="2400" dirty="0"/>
          </a:p>
          <a:p>
            <a:pPr algn="just"/>
            <a:r>
              <a:rPr lang="en-US" sz="2400" dirty="0"/>
              <a:t>   # Add both the parameters and return them."</a:t>
            </a:r>
            <a:endParaRPr lang="en-IN" sz="2400" dirty="0"/>
          </a:p>
          <a:p>
            <a:pPr algn="just"/>
            <a:r>
              <a:rPr lang="en-US" sz="2400" dirty="0"/>
              <a:t>   total = </a:t>
            </a:r>
            <a:r>
              <a:rPr lang="en-US" sz="2400" dirty="0" err="1"/>
              <a:t>arg1</a:t>
            </a:r>
            <a:r>
              <a:rPr lang="en-US" sz="2400" dirty="0"/>
              <a:t> + </a:t>
            </a:r>
            <a:r>
              <a:rPr lang="en-US" sz="2400" dirty="0" err="1"/>
              <a:t>arg2</a:t>
            </a:r>
            <a:endParaRPr lang="en-IN" sz="2400" dirty="0"/>
          </a:p>
          <a:p>
            <a:pPr algn="just"/>
            <a:r>
              <a:rPr lang="en-US" sz="2400" dirty="0"/>
              <a:t>   print ("Inside the function : ", total)</a:t>
            </a:r>
            <a:endParaRPr lang="en-IN" sz="2400" dirty="0"/>
          </a:p>
          <a:p>
            <a:pPr algn="just"/>
            <a:r>
              <a:rPr lang="en-US" sz="2400" dirty="0"/>
              <a:t>   return </a:t>
            </a:r>
            <a:r>
              <a:rPr lang="en-US" sz="2400" dirty="0" smtClean="0"/>
              <a:t>total</a:t>
            </a:r>
            <a:endParaRPr lang="en-IN" sz="2400" dirty="0"/>
          </a:p>
        </p:txBody>
      </p:sp>
    </p:spTree>
    <p:extLst>
      <p:ext uri="{BB962C8B-B14F-4D97-AF65-F5344CB8AC3E}">
        <p14:creationId xmlns="" xmlns:p14="http://schemas.microsoft.com/office/powerpoint/2010/main" val="1239809007"/>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The Return Statement</a:t>
            </a:r>
            <a:endParaRPr lang="en-US" dirty="0"/>
          </a:p>
        </p:txBody>
      </p:sp>
      <p:sp>
        <p:nvSpPr>
          <p:cNvPr id="4" name="TextBox 3"/>
          <p:cNvSpPr txBox="1"/>
          <p:nvPr/>
        </p:nvSpPr>
        <p:spPr>
          <a:xfrm>
            <a:off x="228600" y="932557"/>
            <a:ext cx="8763000" cy="2308324"/>
          </a:xfrm>
          <a:prstGeom prst="rect">
            <a:avLst/>
          </a:prstGeom>
          <a:noFill/>
        </p:spPr>
        <p:txBody>
          <a:bodyPr wrap="square" rtlCol="0">
            <a:spAutoFit/>
          </a:bodyPr>
          <a:lstStyle/>
          <a:p>
            <a:pPr algn="just"/>
            <a:r>
              <a:rPr lang="en-US" sz="2400" dirty="0"/>
              <a:t># Now you can call sum function</a:t>
            </a:r>
            <a:endParaRPr lang="en-IN" sz="2400" dirty="0"/>
          </a:p>
          <a:p>
            <a:pPr algn="just"/>
            <a:r>
              <a:rPr lang="en-US" sz="2400" dirty="0"/>
              <a:t>total = sum( 10, 20 )</a:t>
            </a:r>
            <a:endParaRPr lang="en-IN" sz="2400" dirty="0"/>
          </a:p>
          <a:p>
            <a:pPr algn="just"/>
            <a:r>
              <a:rPr lang="en-US" sz="2400" dirty="0"/>
              <a:t>print ("Outside the function : ", total )</a:t>
            </a:r>
            <a:endParaRPr lang="en-IN" sz="2400" dirty="0"/>
          </a:p>
          <a:p>
            <a:pPr algn="just"/>
            <a:r>
              <a:rPr lang="en-US" sz="2400" dirty="0"/>
              <a:t>When the above code is executed, it produces the following result −</a:t>
            </a:r>
            <a:endParaRPr lang="en-IN" sz="2400" dirty="0"/>
          </a:p>
          <a:p>
            <a:pPr algn="just"/>
            <a:r>
              <a:rPr lang="en-US" sz="2400" dirty="0"/>
              <a:t>Inside the function :  30</a:t>
            </a:r>
            <a:endParaRPr lang="en-IN" sz="2400" dirty="0"/>
          </a:p>
          <a:p>
            <a:pPr algn="just"/>
            <a:r>
              <a:rPr lang="en-US" sz="2400" dirty="0"/>
              <a:t>Outside the function :  30</a:t>
            </a:r>
            <a:endParaRPr lang="en-IN" sz="2400" dirty="0"/>
          </a:p>
        </p:txBody>
      </p:sp>
    </p:spTree>
    <p:extLst>
      <p:ext uri="{BB962C8B-B14F-4D97-AF65-F5344CB8AC3E}">
        <p14:creationId xmlns="" xmlns:p14="http://schemas.microsoft.com/office/powerpoint/2010/main" val="1770733156"/>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Scope of variables</a:t>
            </a:r>
            <a:endParaRPr lang="en-US" dirty="0"/>
          </a:p>
        </p:txBody>
      </p:sp>
      <p:sp>
        <p:nvSpPr>
          <p:cNvPr id="4" name="TextBox 3"/>
          <p:cNvSpPr txBox="1"/>
          <p:nvPr/>
        </p:nvSpPr>
        <p:spPr>
          <a:xfrm>
            <a:off x="228600" y="932557"/>
            <a:ext cx="8763000" cy="3046988"/>
          </a:xfrm>
          <a:prstGeom prst="rect">
            <a:avLst/>
          </a:prstGeom>
          <a:noFill/>
        </p:spPr>
        <p:txBody>
          <a:bodyPr wrap="square" rtlCol="0">
            <a:spAutoFit/>
          </a:bodyPr>
          <a:lstStyle/>
          <a:p>
            <a:pPr algn="just"/>
            <a:r>
              <a:rPr lang="en-US" sz="2400" b="1" dirty="0"/>
              <a:t>Scope of Variables</a:t>
            </a:r>
          </a:p>
          <a:p>
            <a:pPr algn="just"/>
            <a:r>
              <a:rPr lang="en-US" sz="2400" dirty="0"/>
              <a:t>All variables in a program may not be accessible at all locations in that program. This depends on where you have declared a variable.</a:t>
            </a:r>
          </a:p>
          <a:p>
            <a:pPr algn="just"/>
            <a:r>
              <a:rPr lang="en-US" sz="2400" dirty="0"/>
              <a:t>The scope of a variable determines the portion of the program where you can access a particular identifier. There are two basic scopes of variables in Python −</a:t>
            </a:r>
          </a:p>
          <a:p>
            <a:pPr algn="just"/>
            <a:r>
              <a:rPr lang="en-US" sz="2400" dirty="0"/>
              <a:t>●	Global variables</a:t>
            </a:r>
          </a:p>
          <a:p>
            <a:pPr algn="just"/>
            <a:r>
              <a:rPr lang="en-US" sz="2400" dirty="0"/>
              <a:t>●	Local variables</a:t>
            </a:r>
          </a:p>
        </p:txBody>
      </p:sp>
    </p:spTree>
    <p:extLst>
      <p:ext uri="{BB962C8B-B14F-4D97-AF65-F5344CB8AC3E}">
        <p14:creationId xmlns="" xmlns:p14="http://schemas.microsoft.com/office/powerpoint/2010/main" val="3360898242"/>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Scope of variables</a:t>
            </a:r>
            <a:endParaRPr lang="en-US" dirty="0"/>
          </a:p>
        </p:txBody>
      </p:sp>
      <p:sp>
        <p:nvSpPr>
          <p:cNvPr id="4" name="TextBox 3"/>
          <p:cNvSpPr txBox="1"/>
          <p:nvPr/>
        </p:nvSpPr>
        <p:spPr>
          <a:xfrm>
            <a:off x="228600" y="932557"/>
            <a:ext cx="8763000" cy="6001643"/>
          </a:xfrm>
          <a:prstGeom prst="rect">
            <a:avLst/>
          </a:prstGeom>
          <a:noFill/>
        </p:spPr>
        <p:txBody>
          <a:bodyPr wrap="square" rtlCol="0">
            <a:spAutoFit/>
          </a:bodyPr>
          <a:lstStyle/>
          <a:p>
            <a:pPr algn="just"/>
            <a:r>
              <a:rPr lang="en-US" sz="2400" b="1" dirty="0"/>
              <a:t>Global vs. Local variables</a:t>
            </a:r>
          </a:p>
          <a:p>
            <a:pPr algn="just"/>
            <a:r>
              <a:rPr lang="en-US" sz="2400" dirty="0"/>
              <a:t>●	Variables that are defined inside a function body have a local scope, and those defined outside have a global scope.</a:t>
            </a:r>
          </a:p>
          <a:p>
            <a:pPr algn="just"/>
            <a:r>
              <a:rPr lang="en-US" sz="2400" dirty="0"/>
              <a:t>●	This means that local variables can be accessed only inside the function in which they are declared, whereas global variables can be accessed throughout the program body by all functions. When you call a function, the variables declared inside it are brought into scope. Following is a simple example −</a:t>
            </a:r>
          </a:p>
          <a:p>
            <a:pPr algn="just"/>
            <a:endParaRPr lang="en-US" sz="2400" dirty="0"/>
          </a:p>
          <a:p>
            <a:pPr algn="just"/>
            <a:r>
              <a:rPr lang="en-US" sz="2400" dirty="0" smtClean="0"/>
              <a:t>total </a:t>
            </a:r>
            <a:r>
              <a:rPr lang="en-US" sz="2400" dirty="0"/>
              <a:t>= 0   # This is global variable.</a:t>
            </a:r>
          </a:p>
          <a:p>
            <a:pPr algn="just"/>
            <a:r>
              <a:rPr lang="en-US" sz="2400" dirty="0"/>
              <a:t># Function definition is here</a:t>
            </a:r>
          </a:p>
          <a:p>
            <a:pPr algn="just"/>
            <a:r>
              <a:rPr lang="en-US" sz="2400" dirty="0" err="1"/>
              <a:t>def</a:t>
            </a:r>
            <a:r>
              <a:rPr lang="en-US" sz="2400" dirty="0"/>
              <a:t> sum( </a:t>
            </a:r>
            <a:r>
              <a:rPr lang="en-US" sz="2400" dirty="0" err="1"/>
              <a:t>arg1</a:t>
            </a:r>
            <a:r>
              <a:rPr lang="en-US" sz="2400" dirty="0"/>
              <a:t>, </a:t>
            </a:r>
            <a:r>
              <a:rPr lang="en-US" sz="2400" dirty="0" err="1"/>
              <a:t>arg2</a:t>
            </a:r>
            <a:r>
              <a:rPr lang="en-US" sz="2400" dirty="0"/>
              <a:t> ):</a:t>
            </a:r>
          </a:p>
          <a:p>
            <a:pPr algn="just"/>
            <a:r>
              <a:rPr lang="en-US" sz="2400" dirty="0"/>
              <a:t>   # Add both the parameters and return them."</a:t>
            </a:r>
          </a:p>
          <a:p>
            <a:pPr algn="just"/>
            <a:r>
              <a:rPr lang="en-US" sz="2400" dirty="0"/>
              <a:t>   total = </a:t>
            </a:r>
            <a:r>
              <a:rPr lang="en-US" sz="2400" dirty="0" err="1"/>
              <a:t>arg1</a:t>
            </a:r>
            <a:r>
              <a:rPr lang="en-US" sz="2400" dirty="0"/>
              <a:t> + </a:t>
            </a:r>
            <a:r>
              <a:rPr lang="en-US" sz="2400" dirty="0" err="1"/>
              <a:t>arg2</a:t>
            </a:r>
            <a:r>
              <a:rPr lang="en-US" sz="2400" dirty="0"/>
              <a:t>; # Here total is local variable.</a:t>
            </a:r>
          </a:p>
          <a:p>
            <a:pPr algn="just"/>
            <a:r>
              <a:rPr lang="en-US" sz="2400" dirty="0"/>
              <a:t>   print ("Inside the function local total : ", total)</a:t>
            </a:r>
          </a:p>
          <a:p>
            <a:pPr algn="just"/>
            <a:r>
              <a:rPr lang="en-US" sz="2400" dirty="0"/>
              <a:t>   return </a:t>
            </a:r>
            <a:r>
              <a:rPr lang="en-US" sz="2400" dirty="0" smtClean="0"/>
              <a:t>total</a:t>
            </a:r>
            <a:endParaRPr lang="en-US" sz="2400" dirty="0"/>
          </a:p>
        </p:txBody>
      </p:sp>
    </p:spTree>
    <p:extLst>
      <p:ext uri="{BB962C8B-B14F-4D97-AF65-F5344CB8AC3E}">
        <p14:creationId xmlns="" xmlns:p14="http://schemas.microsoft.com/office/powerpoint/2010/main" val="1170537284"/>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Scope of variables</a:t>
            </a:r>
            <a:endParaRPr lang="en-US" dirty="0"/>
          </a:p>
        </p:txBody>
      </p:sp>
      <p:sp>
        <p:nvSpPr>
          <p:cNvPr id="4" name="TextBox 3"/>
          <p:cNvSpPr txBox="1"/>
          <p:nvPr/>
        </p:nvSpPr>
        <p:spPr>
          <a:xfrm>
            <a:off x="228600" y="932557"/>
            <a:ext cx="8763000" cy="2308324"/>
          </a:xfrm>
          <a:prstGeom prst="rect">
            <a:avLst/>
          </a:prstGeom>
          <a:noFill/>
        </p:spPr>
        <p:txBody>
          <a:bodyPr wrap="square" rtlCol="0">
            <a:spAutoFit/>
          </a:bodyPr>
          <a:lstStyle/>
          <a:p>
            <a:pPr algn="just"/>
            <a:r>
              <a:rPr lang="en-US" sz="2400" dirty="0" smtClean="0"/>
              <a:t># </a:t>
            </a:r>
            <a:r>
              <a:rPr lang="en-US" sz="2400" dirty="0"/>
              <a:t>Now you can call sum function</a:t>
            </a:r>
          </a:p>
          <a:p>
            <a:pPr algn="just"/>
            <a:r>
              <a:rPr lang="en-US" sz="2400" dirty="0"/>
              <a:t>sum( 10, 20 )</a:t>
            </a:r>
          </a:p>
          <a:p>
            <a:pPr algn="just"/>
            <a:r>
              <a:rPr lang="en-US" sz="2400" dirty="0"/>
              <a:t>print ("Outside the function global total : ", total )</a:t>
            </a:r>
          </a:p>
          <a:p>
            <a:pPr algn="just"/>
            <a:r>
              <a:rPr lang="en-US" sz="2400" dirty="0"/>
              <a:t>When the above code is executed, it produces the following result −</a:t>
            </a:r>
          </a:p>
          <a:p>
            <a:pPr algn="just"/>
            <a:r>
              <a:rPr lang="en-US" sz="2400" dirty="0"/>
              <a:t>Inside the function local total :  30</a:t>
            </a:r>
          </a:p>
          <a:p>
            <a:pPr algn="just"/>
            <a:r>
              <a:rPr lang="en-US" sz="2400" dirty="0"/>
              <a:t>Outside the function global total :  0</a:t>
            </a:r>
          </a:p>
        </p:txBody>
      </p:sp>
    </p:spTree>
    <p:extLst>
      <p:ext uri="{BB962C8B-B14F-4D97-AF65-F5344CB8AC3E}">
        <p14:creationId xmlns="" xmlns:p14="http://schemas.microsoft.com/office/powerpoint/2010/main" val="3173110019"/>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Use of Global Keyword</a:t>
            </a:r>
            <a:endParaRPr lang="en-US" dirty="0"/>
          </a:p>
        </p:txBody>
      </p:sp>
      <p:sp>
        <p:nvSpPr>
          <p:cNvPr id="4" name="TextBox 3"/>
          <p:cNvSpPr txBox="1"/>
          <p:nvPr/>
        </p:nvSpPr>
        <p:spPr>
          <a:xfrm>
            <a:off x="228600" y="932557"/>
            <a:ext cx="8763000" cy="5632311"/>
          </a:xfrm>
          <a:prstGeom prst="rect">
            <a:avLst/>
          </a:prstGeom>
          <a:noFill/>
        </p:spPr>
        <p:txBody>
          <a:bodyPr wrap="square" rtlCol="0">
            <a:spAutoFit/>
          </a:bodyPr>
          <a:lstStyle/>
          <a:p>
            <a:pPr algn="just"/>
            <a:r>
              <a:rPr lang="en-US" sz="2400" dirty="0"/>
              <a:t>The global keyword is used in Python to declare a variable as global. This means that the variable can be accessed and modified from anywhere in the program, not just from the function in which it was declared.</a:t>
            </a:r>
          </a:p>
          <a:p>
            <a:pPr algn="just"/>
            <a:r>
              <a:rPr lang="en-US" sz="2400" dirty="0"/>
              <a:t>The global keyword is typically used when you need to access a variable that is defined in a different module or function. For example, you might have a global variable that stores the current user's login information. This variable would need to be accessible from any function in the program that needs to know the user's login information.</a:t>
            </a:r>
          </a:p>
          <a:p>
            <a:pPr algn="just"/>
            <a:r>
              <a:rPr lang="en-US" sz="2400" dirty="0"/>
              <a:t>To use the global keyword, you simply need to place it before the variable declaration. For example, the following code declares a global variable called </a:t>
            </a:r>
            <a:r>
              <a:rPr lang="en-US" sz="2400" dirty="0" err="1"/>
              <a:t>current_user</a:t>
            </a:r>
            <a:r>
              <a:rPr lang="en-US" sz="2400" dirty="0" smtClean="0"/>
              <a:t>:</a:t>
            </a:r>
          </a:p>
          <a:p>
            <a:pPr algn="just"/>
            <a:endParaRPr lang="en-US" sz="2400" dirty="0"/>
          </a:p>
          <a:p>
            <a:pPr algn="just"/>
            <a:r>
              <a:rPr lang="en-US" sz="2400" dirty="0"/>
              <a:t>global </a:t>
            </a:r>
            <a:r>
              <a:rPr lang="en-US" sz="2400" dirty="0" err="1"/>
              <a:t>current_user</a:t>
            </a:r>
            <a:endParaRPr lang="en-US" sz="2400" dirty="0"/>
          </a:p>
        </p:txBody>
      </p:sp>
    </p:spTree>
    <p:extLst>
      <p:ext uri="{BB962C8B-B14F-4D97-AF65-F5344CB8AC3E}">
        <p14:creationId xmlns="" xmlns:p14="http://schemas.microsoft.com/office/powerpoint/2010/main" val="2089967645"/>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Use of Global Keyword</a:t>
            </a:r>
            <a:endParaRPr lang="en-US" dirty="0"/>
          </a:p>
        </p:txBody>
      </p:sp>
      <p:sp>
        <p:nvSpPr>
          <p:cNvPr id="4" name="TextBox 3"/>
          <p:cNvSpPr txBox="1"/>
          <p:nvPr/>
        </p:nvSpPr>
        <p:spPr>
          <a:xfrm>
            <a:off x="228600" y="932557"/>
            <a:ext cx="8763000" cy="4524315"/>
          </a:xfrm>
          <a:prstGeom prst="rect">
            <a:avLst/>
          </a:prstGeom>
          <a:noFill/>
        </p:spPr>
        <p:txBody>
          <a:bodyPr wrap="square" rtlCol="0">
            <a:spAutoFit/>
          </a:bodyPr>
          <a:lstStyle/>
          <a:p>
            <a:pPr algn="just"/>
            <a:r>
              <a:rPr lang="en-US" sz="2400" dirty="0"/>
              <a:t>Once a variable has been declared as global, it can be accessed and modified from anywhere in the program. For example, the following code prints the value of the </a:t>
            </a:r>
            <a:r>
              <a:rPr lang="en-US" sz="2400" dirty="0" err="1"/>
              <a:t>current_user</a:t>
            </a:r>
            <a:r>
              <a:rPr lang="en-US" sz="2400" dirty="0"/>
              <a:t> variable:</a:t>
            </a:r>
          </a:p>
          <a:p>
            <a:pPr algn="just"/>
            <a:endParaRPr lang="en-US" sz="2400" dirty="0" smtClean="0"/>
          </a:p>
          <a:p>
            <a:pPr algn="just"/>
            <a:r>
              <a:rPr lang="en-US" sz="2400" dirty="0" smtClean="0"/>
              <a:t>print(</a:t>
            </a:r>
            <a:r>
              <a:rPr lang="en-US" sz="2400" dirty="0" err="1" smtClean="0"/>
              <a:t>current_user</a:t>
            </a:r>
            <a:r>
              <a:rPr lang="en-US" sz="2400" dirty="0" smtClean="0"/>
              <a:t>)</a:t>
            </a:r>
          </a:p>
          <a:p>
            <a:pPr algn="just"/>
            <a:endParaRPr lang="en-US" sz="2400" dirty="0"/>
          </a:p>
          <a:p>
            <a:pPr algn="just"/>
            <a:r>
              <a:rPr lang="en-US" sz="2400" dirty="0"/>
              <a:t>The global keyword can also be used to modify the value of a global variable. For example, the following code sets the value of the </a:t>
            </a:r>
            <a:r>
              <a:rPr lang="en-US" sz="2400" dirty="0" err="1"/>
              <a:t>current_user</a:t>
            </a:r>
            <a:r>
              <a:rPr lang="en-US" sz="2400" dirty="0"/>
              <a:t> variable to John Doe</a:t>
            </a:r>
            <a:r>
              <a:rPr lang="en-US" sz="2400" dirty="0" smtClean="0"/>
              <a:t>:</a:t>
            </a:r>
          </a:p>
          <a:p>
            <a:pPr algn="just"/>
            <a:endParaRPr lang="en-US" sz="2400" dirty="0"/>
          </a:p>
          <a:p>
            <a:pPr algn="just"/>
            <a:r>
              <a:rPr lang="en-US" sz="2400" dirty="0" err="1"/>
              <a:t>current_user</a:t>
            </a:r>
            <a:r>
              <a:rPr lang="en-US" sz="2400" dirty="0"/>
              <a:t> = "John Doe"</a:t>
            </a:r>
          </a:p>
          <a:p>
            <a:pPr algn="just"/>
            <a:endParaRPr lang="en-US" sz="2400" dirty="0"/>
          </a:p>
        </p:txBody>
      </p:sp>
    </p:spTree>
    <p:extLst>
      <p:ext uri="{BB962C8B-B14F-4D97-AF65-F5344CB8AC3E}">
        <p14:creationId xmlns="" xmlns:p14="http://schemas.microsoft.com/office/powerpoint/2010/main" val="1403196982"/>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Use of Global Keyword</a:t>
            </a:r>
            <a:endParaRPr lang="en-US" dirty="0"/>
          </a:p>
        </p:txBody>
      </p:sp>
      <p:sp>
        <p:nvSpPr>
          <p:cNvPr id="4" name="TextBox 3"/>
          <p:cNvSpPr txBox="1"/>
          <p:nvPr/>
        </p:nvSpPr>
        <p:spPr>
          <a:xfrm>
            <a:off x="228600" y="932557"/>
            <a:ext cx="8763000" cy="1200329"/>
          </a:xfrm>
          <a:prstGeom prst="rect">
            <a:avLst/>
          </a:prstGeom>
          <a:noFill/>
        </p:spPr>
        <p:txBody>
          <a:bodyPr wrap="square" rtlCol="0">
            <a:spAutoFit/>
          </a:bodyPr>
          <a:lstStyle/>
          <a:p>
            <a:r>
              <a:rPr lang="en-US" sz="2400" dirty="0"/>
              <a:t>It is important to note that the global keyword should only be used when necessary. Using the global keyword too often can make your code difficult to read and understand</a:t>
            </a:r>
            <a:r>
              <a:rPr lang="en-US" sz="2400" dirty="0" smtClean="0"/>
              <a:t>.</a:t>
            </a:r>
            <a:endParaRPr lang="en-US" sz="2400" dirty="0"/>
          </a:p>
        </p:txBody>
      </p:sp>
    </p:spTree>
    <p:extLst>
      <p:ext uri="{BB962C8B-B14F-4D97-AF65-F5344CB8AC3E}">
        <p14:creationId xmlns="" xmlns:p14="http://schemas.microsoft.com/office/powerpoint/2010/main" val="169664670"/>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as First Object Class</a:t>
            </a:r>
            <a:endParaRPr lang="en-US" dirty="0"/>
          </a:p>
        </p:txBody>
      </p:sp>
      <p:sp>
        <p:nvSpPr>
          <p:cNvPr id="4" name="TextBox 3"/>
          <p:cNvSpPr txBox="1"/>
          <p:nvPr/>
        </p:nvSpPr>
        <p:spPr>
          <a:xfrm>
            <a:off x="228600" y="932557"/>
            <a:ext cx="8763000" cy="4893647"/>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 programming language is said to support first-class functions if it treats functions as first-class objects. </a:t>
            </a:r>
          </a:p>
          <a:p>
            <a:pPr marL="342900" indent="-342900" algn="just">
              <a:buFont typeface="Arial" panose="020B0604020202020204" pitchFamily="34" charset="0"/>
              <a:buChar char="•"/>
            </a:pPr>
            <a:r>
              <a:rPr lang="en-US" sz="2400" dirty="0" smtClean="0"/>
              <a:t>Python </a:t>
            </a:r>
            <a:r>
              <a:rPr lang="en-US" sz="2400" dirty="0"/>
              <a:t>supports the concept of First Class functions.</a:t>
            </a:r>
          </a:p>
          <a:p>
            <a:pPr marL="342900" indent="-342900" algn="just">
              <a:buFont typeface="Arial" panose="020B0604020202020204" pitchFamily="34" charset="0"/>
              <a:buChar char="•"/>
            </a:pPr>
            <a:r>
              <a:rPr lang="en-US" sz="2400" dirty="0" smtClean="0"/>
              <a:t>All </a:t>
            </a:r>
            <a:r>
              <a:rPr lang="en-US" sz="2400" dirty="0"/>
              <a:t>functions in Python are first-class functions. To say that functions are first-class in a certain programming language means that they can be passed around and manipulated similarly to how you would pass around and manipulate other kinds of objects (like integers or strings</a:t>
            </a:r>
            <a:r>
              <a:rPr lang="en-US" sz="2400" dirty="0" smtClean="0"/>
              <a:t>).</a:t>
            </a:r>
          </a:p>
          <a:p>
            <a:pPr algn="just"/>
            <a:r>
              <a:rPr lang="en-US" sz="2400" dirty="0" smtClean="0"/>
              <a:t>Properties </a:t>
            </a:r>
            <a:r>
              <a:rPr lang="en-US" sz="2400" dirty="0"/>
              <a:t>of first class functions</a:t>
            </a:r>
          </a:p>
          <a:p>
            <a:pPr algn="just"/>
            <a:r>
              <a:rPr lang="en-US" sz="2400" dirty="0"/>
              <a:t>●	A function is an instance of the Object type.</a:t>
            </a:r>
          </a:p>
          <a:p>
            <a:pPr algn="just"/>
            <a:r>
              <a:rPr lang="en-US" sz="2400" dirty="0"/>
              <a:t>●	You can store the function in a variable.</a:t>
            </a:r>
          </a:p>
          <a:p>
            <a:pPr algn="just"/>
            <a:r>
              <a:rPr lang="en-US" sz="2400" dirty="0"/>
              <a:t>●	You can pass the function as a parameter to another function.</a:t>
            </a:r>
          </a:p>
          <a:p>
            <a:pPr algn="just"/>
            <a:r>
              <a:rPr lang="en-US" sz="2400" dirty="0"/>
              <a:t>●	You can return the function from a function</a:t>
            </a:r>
            <a:r>
              <a:rPr lang="en-US" sz="2400" dirty="0" smtClean="0"/>
              <a:t>.</a:t>
            </a:r>
            <a:endParaRPr lang="en-US" sz="2400" dirty="0"/>
          </a:p>
        </p:txBody>
      </p:sp>
    </p:spTree>
    <p:extLst>
      <p:ext uri="{BB962C8B-B14F-4D97-AF65-F5344CB8AC3E}">
        <p14:creationId xmlns="" xmlns:p14="http://schemas.microsoft.com/office/powerpoint/2010/main" val="2343050421"/>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as First Object Class</a:t>
            </a:r>
            <a:endParaRPr lang="en-US" dirty="0"/>
          </a:p>
        </p:txBody>
      </p:sp>
      <p:sp>
        <p:nvSpPr>
          <p:cNvPr id="4" name="TextBox 3"/>
          <p:cNvSpPr txBox="1"/>
          <p:nvPr/>
        </p:nvSpPr>
        <p:spPr>
          <a:xfrm>
            <a:off x="228600" y="932557"/>
            <a:ext cx="8763000" cy="5632311"/>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t>Functions are objects:            </a:t>
            </a:r>
            <a:endParaRPr lang="en-US" sz="2400" b="1" dirty="0" smtClean="0"/>
          </a:p>
          <a:p>
            <a:pPr algn="just"/>
            <a:r>
              <a:rPr lang="en-US" sz="2400" dirty="0" smtClean="0"/>
              <a:t>	Python </a:t>
            </a:r>
            <a:r>
              <a:rPr lang="en-US" sz="2400" dirty="0"/>
              <a:t>functions are first class objects. In the example below, we are assigning function to a variable. This assignment doesn’t call the function. It takes the function object referenced by shout and creates a second name pointing to it, yell</a:t>
            </a:r>
            <a:r>
              <a:rPr lang="en-US" sz="2400" dirty="0" smtClean="0"/>
              <a:t>.</a:t>
            </a:r>
          </a:p>
          <a:p>
            <a:pPr algn="just"/>
            <a:endParaRPr lang="en-US" sz="2400" dirty="0" smtClean="0"/>
          </a:p>
          <a:p>
            <a:pPr algn="just"/>
            <a:endParaRPr lang="en-US" sz="2400" dirty="0"/>
          </a:p>
          <a:p>
            <a:pPr algn="just"/>
            <a:r>
              <a:rPr lang="en-US" sz="2400" dirty="0" err="1"/>
              <a:t>def</a:t>
            </a:r>
            <a:r>
              <a:rPr lang="en-US" sz="2400" dirty="0"/>
              <a:t> </a:t>
            </a:r>
            <a:r>
              <a:rPr lang="en-US" sz="2400" dirty="0" err="1"/>
              <a:t>myfun</a:t>
            </a:r>
            <a:r>
              <a:rPr lang="en-US" sz="2400" dirty="0"/>
              <a:t>(text):</a:t>
            </a:r>
          </a:p>
          <a:p>
            <a:pPr algn="just"/>
            <a:r>
              <a:rPr lang="en-US" sz="2400" dirty="0"/>
              <a:t>    return </a:t>
            </a:r>
            <a:r>
              <a:rPr lang="en-US" sz="2400" dirty="0" err="1"/>
              <a:t>text.upper</a:t>
            </a:r>
            <a:r>
              <a:rPr lang="en-US" sz="2400" dirty="0" smtClean="0"/>
              <a:t>()</a:t>
            </a:r>
            <a:endParaRPr lang="en-US" sz="2400" dirty="0"/>
          </a:p>
          <a:p>
            <a:pPr algn="just"/>
            <a:r>
              <a:rPr lang="en-US" sz="2400" dirty="0" err="1" smtClean="0"/>
              <a:t>abc</a:t>
            </a:r>
            <a:r>
              <a:rPr lang="en-US" sz="2400" dirty="0" smtClean="0"/>
              <a:t> </a:t>
            </a:r>
            <a:r>
              <a:rPr lang="en-US" sz="2400" dirty="0"/>
              <a:t>= </a:t>
            </a:r>
            <a:r>
              <a:rPr lang="en-US" sz="2400" dirty="0" err="1"/>
              <a:t>myfun</a:t>
            </a:r>
            <a:endParaRPr lang="en-US" sz="2400" dirty="0"/>
          </a:p>
          <a:p>
            <a:pPr algn="just"/>
            <a:r>
              <a:rPr lang="en-US" sz="2400" dirty="0"/>
              <a:t>  </a:t>
            </a:r>
          </a:p>
          <a:p>
            <a:pPr algn="just"/>
            <a:r>
              <a:rPr lang="en-US" sz="2400" dirty="0"/>
              <a:t>print </a:t>
            </a:r>
            <a:r>
              <a:rPr lang="en-US" sz="2400" dirty="0" smtClean="0"/>
              <a:t>(</a:t>
            </a:r>
            <a:r>
              <a:rPr lang="en-US" sz="2400" dirty="0" err="1" smtClean="0"/>
              <a:t>abc</a:t>
            </a:r>
            <a:r>
              <a:rPr lang="en-US" sz="2400" dirty="0" smtClean="0"/>
              <a:t>(</a:t>
            </a:r>
            <a:r>
              <a:rPr lang="en-US" sz="2400" dirty="0"/>
              <a:t>'Hello'))</a:t>
            </a:r>
          </a:p>
          <a:p>
            <a:pPr algn="just"/>
            <a:r>
              <a:rPr lang="en-US" sz="2400" dirty="0"/>
              <a:t>Output:</a:t>
            </a:r>
          </a:p>
          <a:p>
            <a:pPr algn="just"/>
            <a:endParaRPr lang="en-US" sz="2400" dirty="0"/>
          </a:p>
          <a:p>
            <a:pPr algn="just"/>
            <a:r>
              <a:rPr lang="en-US" sz="2400" dirty="0" smtClean="0"/>
              <a:t>HELLO</a:t>
            </a:r>
            <a:endParaRPr lang="en-US" sz="2400" dirty="0"/>
          </a:p>
        </p:txBody>
      </p:sp>
    </p:spTree>
    <p:extLst>
      <p:ext uri="{BB962C8B-B14F-4D97-AF65-F5344CB8AC3E}">
        <p14:creationId xmlns="" xmlns:p14="http://schemas.microsoft.com/office/powerpoint/2010/main" val="1066417893"/>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as First Object Class</a:t>
            </a:r>
            <a:endParaRPr lang="en-US" dirty="0"/>
          </a:p>
        </p:txBody>
      </p:sp>
      <p:sp>
        <p:nvSpPr>
          <p:cNvPr id="4" name="TextBox 3"/>
          <p:cNvSpPr txBox="1"/>
          <p:nvPr/>
        </p:nvSpPr>
        <p:spPr>
          <a:xfrm>
            <a:off x="228600" y="932557"/>
            <a:ext cx="8763000" cy="3046988"/>
          </a:xfrm>
          <a:prstGeom prst="rect">
            <a:avLst/>
          </a:prstGeom>
          <a:noFill/>
        </p:spPr>
        <p:txBody>
          <a:bodyPr wrap="square" rtlCol="0">
            <a:spAutoFit/>
          </a:bodyPr>
          <a:lstStyle/>
          <a:p>
            <a:pPr algn="just"/>
            <a:r>
              <a:rPr lang="en-US" sz="2400" dirty="0"/>
              <a:t>Example-2 :</a:t>
            </a:r>
          </a:p>
          <a:p>
            <a:pPr algn="just"/>
            <a:endParaRPr lang="en-US" sz="2400" dirty="0" smtClean="0"/>
          </a:p>
          <a:p>
            <a:pPr algn="just"/>
            <a:r>
              <a:rPr lang="en-US" sz="2400" dirty="0" err="1" smtClean="0"/>
              <a:t>def</a:t>
            </a:r>
            <a:r>
              <a:rPr lang="en-US" sz="2400" dirty="0" smtClean="0"/>
              <a:t> </a:t>
            </a:r>
            <a:r>
              <a:rPr lang="en-US" sz="2400" dirty="0"/>
              <a:t>add(</a:t>
            </a:r>
            <a:r>
              <a:rPr lang="en-US" sz="2400" dirty="0" err="1"/>
              <a:t>a,b</a:t>
            </a:r>
            <a:r>
              <a:rPr lang="en-US" sz="2400" dirty="0"/>
              <a:t>):</a:t>
            </a:r>
          </a:p>
          <a:p>
            <a:pPr algn="just"/>
            <a:r>
              <a:rPr lang="en-US" sz="2400" dirty="0"/>
              <a:t>    return </a:t>
            </a:r>
            <a:r>
              <a:rPr lang="en-US" sz="2400" dirty="0" err="1"/>
              <a:t>a+b</a:t>
            </a:r>
            <a:endParaRPr lang="en-US" sz="2400" dirty="0"/>
          </a:p>
          <a:p>
            <a:pPr algn="just"/>
            <a:r>
              <a:rPr lang="en-US" sz="2400" dirty="0"/>
              <a:t>    </a:t>
            </a:r>
          </a:p>
          <a:p>
            <a:pPr algn="just"/>
            <a:r>
              <a:rPr lang="en-US" sz="2400" dirty="0"/>
              <a:t>a=add</a:t>
            </a:r>
          </a:p>
          <a:p>
            <a:pPr algn="just"/>
            <a:r>
              <a:rPr lang="en-US" sz="2400" dirty="0"/>
              <a:t>  </a:t>
            </a:r>
          </a:p>
          <a:p>
            <a:pPr algn="just"/>
            <a:r>
              <a:rPr lang="en-US" sz="2400" dirty="0"/>
              <a:t>print (a(1,2</a:t>
            </a:r>
            <a:r>
              <a:rPr lang="en-US" sz="2400" dirty="0" smtClean="0"/>
              <a:t>))</a:t>
            </a:r>
            <a:endParaRPr lang="en-US" sz="2400" dirty="0"/>
          </a:p>
        </p:txBody>
      </p:sp>
    </p:spTree>
    <p:extLst>
      <p:ext uri="{BB962C8B-B14F-4D97-AF65-F5344CB8AC3E}">
        <p14:creationId xmlns="" xmlns:p14="http://schemas.microsoft.com/office/powerpoint/2010/main" val="4101066633"/>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as First Object Class</a:t>
            </a:r>
            <a:endParaRPr lang="en-US" dirty="0"/>
          </a:p>
        </p:txBody>
      </p:sp>
      <p:sp>
        <p:nvSpPr>
          <p:cNvPr id="4" name="TextBox 3"/>
          <p:cNvSpPr txBox="1"/>
          <p:nvPr/>
        </p:nvSpPr>
        <p:spPr>
          <a:xfrm>
            <a:off x="228600" y="932557"/>
            <a:ext cx="8763000" cy="5262979"/>
          </a:xfrm>
          <a:prstGeom prst="rect">
            <a:avLst/>
          </a:prstGeom>
          <a:noFill/>
        </p:spPr>
        <p:txBody>
          <a:bodyPr wrap="square" rtlCol="0">
            <a:spAutoFit/>
          </a:bodyPr>
          <a:lstStyle/>
          <a:p>
            <a:pPr algn="just"/>
            <a:r>
              <a:rPr lang="en-US" sz="2400" dirty="0"/>
              <a:t>Functions can be passed as arguments to other functions: Because functions are objects we can pass them as arguments to other functions. Functions that can accept other functions as arguments are also called higher-order functions. In the example below, we have created a function greet which takes a function as an argument.</a:t>
            </a:r>
          </a:p>
          <a:p>
            <a:pPr algn="just"/>
            <a:endParaRPr lang="en-US" sz="2400" dirty="0"/>
          </a:p>
          <a:p>
            <a:pPr algn="just"/>
            <a:r>
              <a:rPr lang="en-US" sz="2400" dirty="0" err="1" smtClean="0"/>
              <a:t>def</a:t>
            </a:r>
            <a:r>
              <a:rPr lang="en-US" sz="2400" dirty="0" smtClean="0"/>
              <a:t> </a:t>
            </a:r>
            <a:r>
              <a:rPr lang="en-US" sz="2400" dirty="0" err="1"/>
              <a:t>fun1</a:t>
            </a:r>
            <a:r>
              <a:rPr lang="en-US" sz="2400" dirty="0"/>
              <a:t>(text):</a:t>
            </a:r>
          </a:p>
          <a:p>
            <a:pPr algn="just"/>
            <a:r>
              <a:rPr lang="en-US" sz="2400" dirty="0"/>
              <a:t>    return </a:t>
            </a:r>
            <a:r>
              <a:rPr lang="en-US" sz="2400" dirty="0" err="1"/>
              <a:t>text.upper</a:t>
            </a:r>
            <a:r>
              <a:rPr lang="en-US" sz="2400" dirty="0"/>
              <a:t>()</a:t>
            </a:r>
          </a:p>
          <a:p>
            <a:pPr algn="just"/>
            <a:r>
              <a:rPr lang="en-US" sz="2400" dirty="0"/>
              <a:t>  </a:t>
            </a:r>
          </a:p>
          <a:p>
            <a:pPr algn="just"/>
            <a:r>
              <a:rPr lang="en-US" sz="2400" dirty="0" err="1"/>
              <a:t>def</a:t>
            </a:r>
            <a:r>
              <a:rPr lang="en-US" sz="2400" dirty="0"/>
              <a:t> </a:t>
            </a:r>
            <a:r>
              <a:rPr lang="en-US" sz="2400" dirty="0" err="1"/>
              <a:t>fun2</a:t>
            </a:r>
            <a:r>
              <a:rPr lang="en-US" sz="2400" dirty="0"/>
              <a:t>(</a:t>
            </a:r>
            <a:r>
              <a:rPr lang="en-US" sz="2400" dirty="0" err="1"/>
              <a:t>fun1</a:t>
            </a:r>
            <a:r>
              <a:rPr lang="en-US" sz="2400" dirty="0"/>
              <a:t>):</a:t>
            </a:r>
          </a:p>
          <a:p>
            <a:pPr algn="just"/>
            <a:r>
              <a:rPr lang="en-US" sz="2400" dirty="0"/>
              <a:t>    # storing the function in a variable</a:t>
            </a:r>
          </a:p>
          <a:p>
            <a:pPr algn="just"/>
            <a:r>
              <a:rPr lang="en-US" sz="2400" dirty="0"/>
              <a:t>   greeting = </a:t>
            </a:r>
            <a:r>
              <a:rPr lang="en-US" sz="2400" dirty="0" err="1"/>
              <a:t>fun1</a:t>
            </a:r>
            <a:r>
              <a:rPr lang="en-US" sz="2400" dirty="0"/>
              <a:t>("Hi, I am created by a function passed as an argument.")</a:t>
            </a:r>
          </a:p>
          <a:p>
            <a:pPr algn="just"/>
            <a:r>
              <a:rPr lang="en-US" sz="2400" dirty="0"/>
              <a:t>   print (greeting) </a:t>
            </a:r>
          </a:p>
        </p:txBody>
      </p:sp>
    </p:spTree>
    <p:extLst>
      <p:ext uri="{BB962C8B-B14F-4D97-AF65-F5344CB8AC3E}">
        <p14:creationId xmlns="" xmlns:p14="http://schemas.microsoft.com/office/powerpoint/2010/main" val="3046826387"/>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as First Object Class</a:t>
            </a:r>
            <a:endParaRPr lang="en-US" dirty="0"/>
          </a:p>
        </p:txBody>
      </p:sp>
      <p:sp>
        <p:nvSpPr>
          <p:cNvPr id="4" name="TextBox 3"/>
          <p:cNvSpPr txBox="1"/>
          <p:nvPr/>
        </p:nvSpPr>
        <p:spPr>
          <a:xfrm>
            <a:off x="228600" y="932557"/>
            <a:ext cx="8763000" cy="1569660"/>
          </a:xfrm>
          <a:prstGeom prst="rect">
            <a:avLst/>
          </a:prstGeom>
          <a:noFill/>
        </p:spPr>
        <p:txBody>
          <a:bodyPr wrap="square" rtlCol="0">
            <a:spAutoFit/>
          </a:bodyPr>
          <a:lstStyle/>
          <a:p>
            <a:pPr algn="just"/>
            <a:r>
              <a:rPr lang="en-US" sz="2400" dirty="0" err="1"/>
              <a:t>fun2</a:t>
            </a:r>
            <a:r>
              <a:rPr lang="en-US" sz="2400" dirty="0"/>
              <a:t>(</a:t>
            </a:r>
            <a:r>
              <a:rPr lang="en-US" sz="2400" dirty="0" err="1"/>
              <a:t>fun1</a:t>
            </a:r>
            <a:r>
              <a:rPr lang="en-US" sz="2400" dirty="0"/>
              <a:t>)</a:t>
            </a:r>
          </a:p>
          <a:p>
            <a:pPr algn="just"/>
            <a:endParaRPr lang="en-US" sz="2400" dirty="0" smtClean="0"/>
          </a:p>
          <a:p>
            <a:pPr algn="just"/>
            <a:r>
              <a:rPr lang="en-US" sz="2400" dirty="0" smtClean="0"/>
              <a:t>Output</a:t>
            </a:r>
            <a:r>
              <a:rPr lang="en-US" sz="2400" dirty="0"/>
              <a:t>:</a:t>
            </a:r>
          </a:p>
          <a:p>
            <a:pPr algn="just"/>
            <a:r>
              <a:rPr lang="en-US" sz="2400" dirty="0"/>
              <a:t>HI, I AM CREATED BY A FUNCTION PASSED AS AN ARGUMENT.</a:t>
            </a:r>
          </a:p>
        </p:txBody>
      </p:sp>
    </p:spTree>
    <p:extLst>
      <p:ext uri="{BB962C8B-B14F-4D97-AF65-F5344CB8AC3E}">
        <p14:creationId xmlns="" xmlns:p14="http://schemas.microsoft.com/office/powerpoint/2010/main" val="332834703"/>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Function as First Object Class</a:t>
            </a:r>
            <a:endParaRPr lang="en-US" dirty="0"/>
          </a:p>
        </p:txBody>
      </p:sp>
      <p:sp>
        <p:nvSpPr>
          <p:cNvPr id="4" name="TextBox 3"/>
          <p:cNvSpPr txBox="1"/>
          <p:nvPr/>
        </p:nvSpPr>
        <p:spPr>
          <a:xfrm>
            <a:off x="228600" y="932557"/>
            <a:ext cx="8763000" cy="6001643"/>
          </a:xfrm>
          <a:prstGeom prst="rect">
            <a:avLst/>
          </a:prstGeom>
          <a:noFill/>
        </p:spPr>
        <p:txBody>
          <a:bodyPr wrap="square" rtlCol="0">
            <a:spAutoFit/>
          </a:bodyPr>
          <a:lstStyle/>
          <a:p>
            <a:pPr algn="just"/>
            <a:r>
              <a:rPr lang="en-US" sz="2400" b="1" dirty="0"/>
              <a:t>Returning function from function:</a:t>
            </a:r>
          </a:p>
          <a:p>
            <a:pPr algn="just"/>
            <a:r>
              <a:rPr lang="en-US" sz="2400" dirty="0" smtClean="0"/>
              <a:t>In </a:t>
            </a:r>
            <a:r>
              <a:rPr lang="en-US" sz="2400" dirty="0"/>
              <a:t>this example, the first method is </a:t>
            </a:r>
            <a:r>
              <a:rPr lang="en-US" sz="2400" dirty="0" err="1"/>
              <a:t>funA</a:t>
            </a:r>
            <a:r>
              <a:rPr lang="en-US" sz="2400" dirty="0"/>
              <a:t>() and the second method is </a:t>
            </a:r>
            <a:r>
              <a:rPr lang="en-US" sz="2400" dirty="0" err="1"/>
              <a:t>funB</a:t>
            </a:r>
            <a:r>
              <a:rPr lang="en-US" sz="2400" dirty="0"/>
              <a:t>(). </a:t>
            </a:r>
            <a:r>
              <a:rPr lang="en-US" sz="2400" dirty="0" err="1"/>
              <a:t>funA</a:t>
            </a:r>
            <a:r>
              <a:rPr lang="en-US" sz="2400" dirty="0"/>
              <a:t>() method returns the </a:t>
            </a:r>
            <a:r>
              <a:rPr lang="en-US" sz="2400" dirty="0" err="1"/>
              <a:t>funB</a:t>
            </a:r>
            <a:r>
              <a:rPr lang="en-US" sz="2400" dirty="0"/>
              <a:t>() method that is kept as an object with name fun() and will be used for calling the second method.</a:t>
            </a:r>
          </a:p>
          <a:p>
            <a:pPr algn="just"/>
            <a:r>
              <a:rPr lang="en-US" sz="2400" dirty="0" smtClean="0"/>
              <a:t>Example </a:t>
            </a:r>
            <a:r>
              <a:rPr lang="en-US" sz="2400" dirty="0"/>
              <a:t>:</a:t>
            </a:r>
          </a:p>
          <a:p>
            <a:pPr algn="just"/>
            <a:r>
              <a:rPr lang="en-US" sz="2400" dirty="0" err="1" smtClean="0"/>
              <a:t>def</a:t>
            </a:r>
            <a:r>
              <a:rPr lang="en-US" sz="2400" dirty="0" smtClean="0"/>
              <a:t> </a:t>
            </a:r>
            <a:r>
              <a:rPr lang="en-US" sz="2400" dirty="0" err="1"/>
              <a:t>funB</a:t>
            </a:r>
            <a:r>
              <a:rPr lang="en-US" sz="2400" dirty="0"/>
              <a:t>():</a:t>
            </a:r>
          </a:p>
          <a:p>
            <a:pPr algn="just"/>
            <a:r>
              <a:rPr lang="en-US" sz="2400" dirty="0"/>
              <a:t>    print("Inside the method B.")</a:t>
            </a:r>
          </a:p>
          <a:p>
            <a:pPr algn="just"/>
            <a:endParaRPr lang="en-US" sz="2400" dirty="0" smtClean="0"/>
          </a:p>
          <a:p>
            <a:pPr algn="just"/>
            <a:r>
              <a:rPr lang="en-US" sz="2400" dirty="0" err="1" smtClean="0"/>
              <a:t>def</a:t>
            </a:r>
            <a:r>
              <a:rPr lang="en-US" sz="2400" dirty="0" smtClean="0"/>
              <a:t> </a:t>
            </a:r>
            <a:r>
              <a:rPr lang="en-US" sz="2400" dirty="0" err="1"/>
              <a:t>funA</a:t>
            </a:r>
            <a:r>
              <a:rPr lang="en-US" sz="2400" dirty="0"/>
              <a:t>():</a:t>
            </a:r>
          </a:p>
          <a:p>
            <a:pPr algn="just"/>
            <a:r>
              <a:rPr lang="en-US" sz="2400" dirty="0"/>
              <a:t>    print("Inside the method A.")</a:t>
            </a:r>
          </a:p>
          <a:p>
            <a:pPr algn="just"/>
            <a:r>
              <a:rPr lang="en-US" sz="2400" dirty="0" smtClean="0"/>
              <a:t>    </a:t>
            </a:r>
            <a:r>
              <a:rPr lang="en-US" sz="2400" dirty="0"/>
              <a:t>return B</a:t>
            </a:r>
          </a:p>
          <a:p>
            <a:pPr algn="just"/>
            <a:endParaRPr lang="en-US" sz="2400" dirty="0" smtClean="0"/>
          </a:p>
          <a:p>
            <a:pPr algn="just"/>
            <a:r>
              <a:rPr lang="en-US" sz="2400" dirty="0" smtClean="0"/>
              <a:t>fun </a:t>
            </a:r>
            <a:r>
              <a:rPr lang="en-US" sz="2400" dirty="0"/>
              <a:t>= A()</a:t>
            </a:r>
          </a:p>
          <a:p>
            <a:pPr algn="just"/>
            <a:r>
              <a:rPr lang="en-US" sz="2400" dirty="0" smtClean="0"/>
              <a:t># </a:t>
            </a:r>
            <a:r>
              <a:rPr lang="en-US" sz="2400" dirty="0"/>
              <a:t>call second method by first method</a:t>
            </a:r>
          </a:p>
          <a:p>
            <a:pPr algn="just"/>
            <a:r>
              <a:rPr lang="en-US" sz="2400" dirty="0"/>
              <a:t>fun()</a:t>
            </a:r>
          </a:p>
        </p:txBody>
      </p:sp>
    </p:spTree>
    <p:extLst>
      <p:ext uri="{BB962C8B-B14F-4D97-AF65-F5344CB8AC3E}">
        <p14:creationId xmlns="" xmlns:p14="http://schemas.microsoft.com/office/powerpoint/2010/main" val="1578109324"/>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Lambda Function</a:t>
            </a:r>
            <a:endParaRPr lang="en-US" dirty="0"/>
          </a:p>
        </p:txBody>
      </p:sp>
      <p:sp>
        <p:nvSpPr>
          <p:cNvPr id="4" name="TextBox 3"/>
          <p:cNvSpPr txBox="1"/>
          <p:nvPr/>
        </p:nvSpPr>
        <p:spPr>
          <a:xfrm>
            <a:off x="228600" y="932557"/>
            <a:ext cx="8763000" cy="5632311"/>
          </a:xfrm>
          <a:prstGeom prst="rect">
            <a:avLst/>
          </a:prstGeom>
          <a:noFill/>
        </p:spPr>
        <p:txBody>
          <a:bodyPr wrap="square" rtlCol="0">
            <a:spAutoFit/>
          </a:bodyPr>
          <a:lstStyle/>
          <a:p>
            <a:pPr algn="just"/>
            <a:r>
              <a:rPr lang="en-US" sz="2400" dirty="0"/>
              <a:t>A Lambda Function in Python programming is an anonymous function or a function having no name. </a:t>
            </a:r>
          </a:p>
          <a:p>
            <a:pPr algn="just"/>
            <a:endParaRPr lang="en-US" sz="2400" dirty="0"/>
          </a:p>
          <a:p>
            <a:pPr algn="just"/>
            <a:r>
              <a:rPr lang="en-US" sz="2400" dirty="0"/>
              <a:t>It is a small and restricted function having no more than one line. Just like a normal function, a Lambda function can have multiple arguments with one expression.</a:t>
            </a:r>
          </a:p>
          <a:p>
            <a:pPr algn="just"/>
            <a:endParaRPr lang="en-US" sz="2400" dirty="0"/>
          </a:p>
          <a:p>
            <a:pPr algn="just"/>
            <a:r>
              <a:rPr lang="en-US" sz="2400" dirty="0"/>
              <a:t>The formal syntax to write a lambda function is as given below:</a:t>
            </a:r>
          </a:p>
          <a:p>
            <a:pPr algn="just"/>
            <a:r>
              <a:rPr lang="en-US" sz="2400" dirty="0"/>
              <a:t>lambda </a:t>
            </a:r>
            <a:r>
              <a:rPr lang="en-US" sz="2400" dirty="0" err="1"/>
              <a:t>p1</a:t>
            </a:r>
            <a:r>
              <a:rPr lang="en-US" sz="2400" dirty="0"/>
              <a:t>, </a:t>
            </a:r>
            <a:r>
              <a:rPr lang="en-US" sz="2400" dirty="0" err="1"/>
              <a:t>p2</a:t>
            </a:r>
            <a:r>
              <a:rPr lang="en-US" sz="2400" dirty="0"/>
              <a:t>: expression</a:t>
            </a:r>
          </a:p>
          <a:p>
            <a:pPr algn="just"/>
            <a:endParaRPr lang="en-US" sz="2400" dirty="0"/>
          </a:p>
          <a:p>
            <a:pPr algn="just"/>
            <a:r>
              <a:rPr lang="en-US" sz="2400" dirty="0"/>
              <a:t>Example 1</a:t>
            </a:r>
          </a:p>
          <a:p>
            <a:pPr algn="just"/>
            <a:r>
              <a:rPr lang="en-US" sz="2400" dirty="0"/>
              <a:t>Now that you know about lambdas let’s try it with an example. So, open your IDLE and type in the following:</a:t>
            </a:r>
          </a:p>
          <a:p>
            <a:pPr algn="just"/>
            <a:r>
              <a:rPr lang="en-US" sz="2400" dirty="0"/>
              <a:t>adder = lambda x, y: x + y</a:t>
            </a:r>
          </a:p>
          <a:p>
            <a:pPr algn="just"/>
            <a:r>
              <a:rPr lang="en-US" sz="2400" dirty="0"/>
              <a:t>print (adder (1, 2))</a:t>
            </a:r>
          </a:p>
        </p:txBody>
      </p:sp>
    </p:spTree>
    <p:extLst>
      <p:ext uri="{BB962C8B-B14F-4D97-AF65-F5344CB8AC3E}">
        <p14:creationId xmlns="" xmlns:p14="http://schemas.microsoft.com/office/powerpoint/2010/main" val="3815014739"/>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Lambda Function</a:t>
            </a:r>
            <a:endParaRPr lang="en-US" dirty="0"/>
          </a:p>
        </p:txBody>
      </p:sp>
      <p:sp>
        <p:nvSpPr>
          <p:cNvPr id="4" name="TextBox 3"/>
          <p:cNvSpPr txBox="1"/>
          <p:nvPr/>
        </p:nvSpPr>
        <p:spPr>
          <a:xfrm>
            <a:off x="228600" y="932557"/>
            <a:ext cx="8763000" cy="5262979"/>
          </a:xfrm>
          <a:prstGeom prst="rect">
            <a:avLst/>
          </a:prstGeom>
          <a:noFill/>
        </p:spPr>
        <p:txBody>
          <a:bodyPr wrap="square" rtlCol="0">
            <a:spAutoFit/>
          </a:bodyPr>
          <a:lstStyle/>
          <a:p>
            <a:pPr algn="just"/>
            <a:r>
              <a:rPr lang="en-US" sz="2400" b="1" dirty="0" smtClean="0"/>
              <a:t>lambdas in filter()</a:t>
            </a:r>
          </a:p>
          <a:p>
            <a:pPr algn="just"/>
            <a:r>
              <a:rPr lang="en-US" sz="2400" dirty="0" smtClean="0"/>
              <a:t>The </a:t>
            </a:r>
            <a:r>
              <a:rPr lang="en-US" sz="2400" dirty="0"/>
              <a:t>filter function is used to select some particular elements from a sequence of elements. The sequence can be any iterator like lists, sets, tuples, etc.</a:t>
            </a:r>
          </a:p>
          <a:p>
            <a:pPr algn="just"/>
            <a:r>
              <a:rPr lang="en-US" sz="2400" dirty="0"/>
              <a:t>The elements which will be selected is based on some pre-defined constraint. It takes 2 parameters:</a:t>
            </a:r>
          </a:p>
          <a:p>
            <a:pPr algn="just"/>
            <a:r>
              <a:rPr lang="en-US" sz="2400" dirty="0"/>
              <a:t>●	A function that defines the filtering constraint</a:t>
            </a:r>
          </a:p>
          <a:p>
            <a:pPr algn="just"/>
            <a:r>
              <a:rPr lang="en-US" sz="2400" dirty="0"/>
              <a:t>●	A sequence (any iterator like lists, tuples, etc.)</a:t>
            </a:r>
          </a:p>
          <a:p>
            <a:pPr algn="just"/>
            <a:r>
              <a:rPr lang="en-US" sz="2400" dirty="0"/>
              <a:t>For example,</a:t>
            </a:r>
          </a:p>
          <a:p>
            <a:pPr algn="just"/>
            <a:r>
              <a:rPr lang="en-US" sz="2400" dirty="0"/>
              <a:t>sequences = [10,2,8,7,5,4,3,11,0, 1]</a:t>
            </a:r>
          </a:p>
          <a:p>
            <a:pPr algn="just"/>
            <a:r>
              <a:rPr lang="en-US" sz="2400" dirty="0" err="1"/>
              <a:t>filtered_result</a:t>
            </a:r>
            <a:r>
              <a:rPr lang="en-US" sz="2400" dirty="0"/>
              <a:t> = filter (lambda x: x &gt; 4, sequences) </a:t>
            </a:r>
          </a:p>
          <a:p>
            <a:pPr algn="just"/>
            <a:r>
              <a:rPr lang="en-US" sz="2400" dirty="0"/>
              <a:t>print(list(</a:t>
            </a:r>
            <a:r>
              <a:rPr lang="en-US" sz="2400" dirty="0" err="1"/>
              <a:t>filtered_result</a:t>
            </a:r>
            <a:r>
              <a:rPr lang="en-US" sz="2400" dirty="0"/>
              <a:t>))</a:t>
            </a:r>
          </a:p>
          <a:p>
            <a:pPr algn="just"/>
            <a:r>
              <a:rPr lang="en-US" sz="2400" dirty="0" smtClean="0"/>
              <a:t>Here’s </a:t>
            </a:r>
            <a:r>
              <a:rPr lang="en-US" sz="2400" dirty="0"/>
              <a:t>the output:</a:t>
            </a:r>
          </a:p>
          <a:p>
            <a:pPr algn="just"/>
            <a:r>
              <a:rPr lang="en-US" sz="2400" dirty="0"/>
              <a:t>[10, 8, 7, 5, 11]</a:t>
            </a:r>
          </a:p>
        </p:txBody>
      </p:sp>
    </p:spTree>
    <p:extLst>
      <p:ext uri="{BB962C8B-B14F-4D97-AF65-F5344CB8AC3E}">
        <p14:creationId xmlns="" xmlns:p14="http://schemas.microsoft.com/office/powerpoint/2010/main" val="3199989926"/>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Lambda Function</a:t>
            </a:r>
            <a:endParaRPr lang="en-US" dirty="0"/>
          </a:p>
        </p:txBody>
      </p:sp>
      <p:sp>
        <p:nvSpPr>
          <p:cNvPr id="4" name="TextBox 3"/>
          <p:cNvSpPr txBox="1"/>
          <p:nvPr/>
        </p:nvSpPr>
        <p:spPr>
          <a:xfrm>
            <a:off x="228600" y="932557"/>
            <a:ext cx="8763000" cy="4893647"/>
          </a:xfrm>
          <a:prstGeom prst="rect">
            <a:avLst/>
          </a:prstGeom>
          <a:noFill/>
        </p:spPr>
        <p:txBody>
          <a:bodyPr wrap="square" rtlCol="0">
            <a:spAutoFit/>
          </a:bodyPr>
          <a:lstStyle/>
          <a:p>
            <a:pPr algn="just"/>
            <a:r>
              <a:rPr lang="en-US" sz="2400" b="1" dirty="0"/>
              <a:t>lambdas in map()</a:t>
            </a:r>
          </a:p>
          <a:p>
            <a:pPr algn="just"/>
            <a:r>
              <a:rPr lang="en-US" sz="2400" dirty="0"/>
              <a:t>the map function is used to apply a particular operation to every element in a sequence. Like filter(), it also takes 2 parameters:</a:t>
            </a:r>
          </a:p>
          <a:p>
            <a:pPr algn="just"/>
            <a:r>
              <a:rPr lang="en-US" sz="2400" dirty="0"/>
              <a:t>1.	A function that defines the op to perform on the elements</a:t>
            </a:r>
          </a:p>
          <a:p>
            <a:pPr algn="just"/>
            <a:r>
              <a:rPr lang="en-US" sz="2400" dirty="0"/>
              <a:t>2.	One or more sequences</a:t>
            </a:r>
          </a:p>
          <a:p>
            <a:pPr algn="just"/>
            <a:r>
              <a:rPr lang="en-US" sz="2400" dirty="0"/>
              <a:t>For example, here is a program that prints the squares of numbers in a given list:</a:t>
            </a:r>
          </a:p>
          <a:p>
            <a:pPr algn="just"/>
            <a:r>
              <a:rPr lang="en-US" sz="2400" dirty="0"/>
              <a:t>sequences = [10,2,8,7,5,4,3,11,0, 1]</a:t>
            </a:r>
          </a:p>
          <a:p>
            <a:pPr algn="just"/>
            <a:r>
              <a:rPr lang="en-US" sz="2400" dirty="0" err="1"/>
              <a:t>filtered_result</a:t>
            </a:r>
            <a:r>
              <a:rPr lang="en-US" sz="2400" dirty="0"/>
              <a:t> = map (lambda x: x*x, sequences) </a:t>
            </a:r>
          </a:p>
          <a:p>
            <a:pPr algn="just"/>
            <a:r>
              <a:rPr lang="en-US" sz="2400" dirty="0"/>
              <a:t>print(list(</a:t>
            </a:r>
            <a:r>
              <a:rPr lang="en-US" sz="2400" dirty="0" err="1"/>
              <a:t>filtered_result</a:t>
            </a:r>
            <a:r>
              <a:rPr lang="en-US" sz="2400" dirty="0"/>
              <a:t>))</a:t>
            </a:r>
          </a:p>
          <a:p>
            <a:pPr algn="just"/>
            <a:endParaRPr lang="en-US" sz="2400" dirty="0"/>
          </a:p>
          <a:p>
            <a:pPr algn="just"/>
            <a:r>
              <a:rPr lang="en-US" sz="2400" dirty="0"/>
              <a:t>Output:</a:t>
            </a:r>
          </a:p>
          <a:p>
            <a:pPr algn="just"/>
            <a:r>
              <a:rPr lang="en-US" sz="2400" dirty="0"/>
              <a:t>[100, 4, 64, 49, 25, 16, 9, 121, 0, 1]</a:t>
            </a:r>
          </a:p>
        </p:txBody>
      </p:sp>
    </p:spTree>
    <p:extLst>
      <p:ext uri="{BB962C8B-B14F-4D97-AF65-F5344CB8AC3E}">
        <p14:creationId xmlns="" xmlns:p14="http://schemas.microsoft.com/office/powerpoint/2010/main" val="1997275837"/>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Lambda Function</a:t>
            </a:r>
            <a:endParaRPr lang="en-US" dirty="0"/>
          </a:p>
        </p:txBody>
      </p:sp>
      <p:sp>
        <p:nvSpPr>
          <p:cNvPr id="4" name="TextBox 3"/>
          <p:cNvSpPr txBox="1"/>
          <p:nvPr/>
        </p:nvSpPr>
        <p:spPr>
          <a:xfrm>
            <a:off x="228600" y="932557"/>
            <a:ext cx="8763000" cy="4154984"/>
          </a:xfrm>
          <a:prstGeom prst="rect">
            <a:avLst/>
          </a:prstGeom>
          <a:noFill/>
        </p:spPr>
        <p:txBody>
          <a:bodyPr wrap="square" rtlCol="0">
            <a:spAutoFit/>
          </a:bodyPr>
          <a:lstStyle/>
          <a:p>
            <a:pPr algn="just"/>
            <a:r>
              <a:rPr lang="en-US" sz="2400" b="1" dirty="0"/>
              <a:t>lambdas in reduce()</a:t>
            </a:r>
          </a:p>
          <a:p>
            <a:pPr algn="just"/>
            <a:r>
              <a:rPr lang="en-US" sz="2400" dirty="0"/>
              <a:t>The reduce function, like map(), is used to apply an operation to every element in a sequence. However, it differs from the map in its working. These are the steps followed by the reduce() function to compute an output:</a:t>
            </a:r>
          </a:p>
          <a:p>
            <a:pPr algn="just"/>
            <a:r>
              <a:rPr lang="en-US" sz="2400" dirty="0"/>
              <a:t>Step 1) Perform the defined operation on the first 2 elements of the sequence.</a:t>
            </a:r>
          </a:p>
          <a:p>
            <a:pPr algn="just"/>
            <a:r>
              <a:rPr lang="en-US" sz="2400" dirty="0"/>
              <a:t>Step 2) Save this result</a:t>
            </a:r>
          </a:p>
          <a:p>
            <a:pPr algn="just"/>
            <a:r>
              <a:rPr lang="en-US" sz="2400" dirty="0"/>
              <a:t>Step 3) Perform the operation with the saved result and the next element in the sequence.</a:t>
            </a:r>
          </a:p>
          <a:p>
            <a:pPr algn="just"/>
            <a:r>
              <a:rPr lang="en-US" sz="2400" dirty="0"/>
              <a:t>Step 4) Repeat until no more elements are </a:t>
            </a:r>
            <a:r>
              <a:rPr lang="en-US" sz="2400" dirty="0" smtClean="0"/>
              <a:t>left</a:t>
            </a:r>
            <a:r>
              <a:rPr lang="en-US" sz="2400" dirty="0"/>
              <a:t>.</a:t>
            </a:r>
          </a:p>
        </p:txBody>
      </p:sp>
    </p:spTree>
    <p:extLst>
      <p:ext uri="{BB962C8B-B14F-4D97-AF65-F5344CB8AC3E}">
        <p14:creationId xmlns="" xmlns:p14="http://schemas.microsoft.com/office/powerpoint/2010/main" val="1876509643"/>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Lambda Function</a:t>
            </a:r>
            <a:endParaRPr lang="en-US" dirty="0"/>
          </a:p>
        </p:txBody>
      </p:sp>
      <p:sp>
        <p:nvSpPr>
          <p:cNvPr id="4" name="TextBox 3"/>
          <p:cNvSpPr txBox="1"/>
          <p:nvPr/>
        </p:nvSpPr>
        <p:spPr>
          <a:xfrm>
            <a:off x="228600" y="932557"/>
            <a:ext cx="8763000" cy="4524315"/>
          </a:xfrm>
          <a:prstGeom prst="rect">
            <a:avLst/>
          </a:prstGeom>
          <a:noFill/>
        </p:spPr>
        <p:txBody>
          <a:bodyPr wrap="square" rtlCol="0">
            <a:spAutoFit/>
          </a:bodyPr>
          <a:lstStyle/>
          <a:p>
            <a:pPr algn="just"/>
            <a:r>
              <a:rPr lang="en-US" sz="2400" dirty="0"/>
              <a:t>It also takes two parameters:</a:t>
            </a:r>
          </a:p>
          <a:p>
            <a:pPr algn="just"/>
            <a:r>
              <a:rPr lang="en-US" sz="2400" dirty="0"/>
              <a:t>1.	A function that defines the operation to be performed</a:t>
            </a:r>
          </a:p>
          <a:p>
            <a:pPr algn="just"/>
            <a:r>
              <a:rPr lang="en-US" sz="2400" dirty="0"/>
              <a:t>2.	A sequence (any iterator like lists, tuples, etc.)</a:t>
            </a:r>
          </a:p>
          <a:p>
            <a:pPr algn="just"/>
            <a:r>
              <a:rPr lang="en-US" sz="2400" dirty="0"/>
              <a:t>For example, here is a program that returns the product of all elements in a list:</a:t>
            </a:r>
          </a:p>
          <a:p>
            <a:pPr algn="just"/>
            <a:r>
              <a:rPr lang="en-US" sz="2400" dirty="0"/>
              <a:t>from </a:t>
            </a:r>
            <a:r>
              <a:rPr lang="en-US" sz="2400" dirty="0" err="1"/>
              <a:t>functools</a:t>
            </a:r>
            <a:r>
              <a:rPr lang="en-US" sz="2400" dirty="0"/>
              <a:t> import reduce</a:t>
            </a:r>
          </a:p>
          <a:p>
            <a:pPr algn="just"/>
            <a:r>
              <a:rPr lang="en-US" sz="2400" dirty="0"/>
              <a:t>sequences = [1,2,3,4,5]</a:t>
            </a:r>
          </a:p>
          <a:p>
            <a:pPr algn="just"/>
            <a:r>
              <a:rPr lang="en-US" sz="2400" dirty="0"/>
              <a:t>product = reduce (lambda x, y: x*y, sequences)</a:t>
            </a:r>
          </a:p>
          <a:p>
            <a:pPr algn="just"/>
            <a:r>
              <a:rPr lang="en-US" sz="2400" dirty="0"/>
              <a:t>print(product)</a:t>
            </a:r>
          </a:p>
          <a:p>
            <a:pPr algn="just"/>
            <a:endParaRPr lang="en-US" sz="2400" dirty="0" smtClean="0"/>
          </a:p>
          <a:p>
            <a:pPr algn="just"/>
            <a:r>
              <a:rPr lang="en-US" sz="2400" dirty="0" smtClean="0"/>
              <a:t>Here </a:t>
            </a:r>
            <a:r>
              <a:rPr lang="en-US" sz="2400" dirty="0"/>
              <a:t>is the output:</a:t>
            </a:r>
          </a:p>
          <a:p>
            <a:pPr algn="just"/>
            <a:r>
              <a:rPr lang="en-US" sz="2400" dirty="0"/>
              <a:t>120</a:t>
            </a:r>
          </a:p>
        </p:txBody>
      </p:sp>
    </p:spTree>
    <p:extLst>
      <p:ext uri="{BB962C8B-B14F-4D97-AF65-F5344CB8AC3E}">
        <p14:creationId xmlns="" xmlns:p14="http://schemas.microsoft.com/office/powerpoint/2010/main" val="1267192969"/>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Lambda Function</a:t>
            </a:r>
            <a:endParaRPr lang="en-US" dirty="0"/>
          </a:p>
        </p:txBody>
      </p:sp>
      <p:sp>
        <p:nvSpPr>
          <p:cNvPr id="4" name="TextBox 3"/>
          <p:cNvSpPr txBox="1"/>
          <p:nvPr/>
        </p:nvSpPr>
        <p:spPr>
          <a:xfrm>
            <a:off x="228600" y="932557"/>
            <a:ext cx="8763000" cy="5632311"/>
          </a:xfrm>
          <a:prstGeom prst="rect">
            <a:avLst/>
          </a:prstGeom>
          <a:noFill/>
        </p:spPr>
        <p:txBody>
          <a:bodyPr wrap="square" rtlCol="0">
            <a:spAutoFit/>
          </a:bodyPr>
          <a:lstStyle/>
          <a:p>
            <a:r>
              <a:rPr lang="en-US" dirty="0"/>
              <a:t>y=1</a:t>
            </a:r>
            <a:endParaRPr lang="en-IN" dirty="0"/>
          </a:p>
          <a:p>
            <a:r>
              <a:rPr lang="en-US" dirty="0"/>
              <a:t>f=lambda x :</a:t>
            </a:r>
            <a:r>
              <a:rPr lang="en-US" dirty="0" err="1"/>
              <a:t>x+y</a:t>
            </a:r>
            <a:endParaRPr lang="en-IN" dirty="0"/>
          </a:p>
          <a:p>
            <a:r>
              <a:rPr lang="en-US" dirty="0" err="1"/>
              <a:t>ans</a:t>
            </a:r>
            <a:r>
              <a:rPr lang="en-US" dirty="0"/>
              <a:t>=f(3)</a:t>
            </a:r>
            <a:endParaRPr lang="en-IN" dirty="0"/>
          </a:p>
          <a:p>
            <a:r>
              <a:rPr lang="en-US" dirty="0"/>
              <a:t>print(</a:t>
            </a:r>
            <a:r>
              <a:rPr lang="en-US" dirty="0" err="1"/>
              <a:t>ans</a:t>
            </a:r>
            <a:r>
              <a:rPr lang="en-US" dirty="0" smtClean="0"/>
              <a:t>)</a:t>
            </a:r>
          </a:p>
          <a:p>
            <a:endParaRPr lang="en-US" dirty="0"/>
          </a:p>
          <a:p>
            <a:r>
              <a:rPr lang="en-US" dirty="0" smtClean="0"/>
              <a:t>Output : 4</a:t>
            </a:r>
          </a:p>
          <a:p>
            <a:r>
              <a:rPr lang="en-US" dirty="0" smtClean="0"/>
              <a:t>--------------------</a:t>
            </a:r>
            <a:endParaRPr lang="en-US" dirty="0"/>
          </a:p>
          <a:p>
            <a:r>
              <a:rPr lang="en-US" dirty="0"/>
              <a:t>f=lambda </a:t>
            </a:r>
            <a:r>
              <a:rPr lang="en-US" dirty="0" err="1"/>
              <a:t>x:x</a:t>
            </a:r>
            <a:r>
              <a:rPr lang="en-US" dirty="0"/>
              <a:t>*x</a:t>
            </a:r>
            <a:endParaRPr lang="en-IN" dirty="0"/>
          </a:p>
          <a:p>
            <a:r>
              <a:rPr lang="en-US" dirty="0" err="1"/>
              <a:t>ans</a:t>
            </a:r>
            <a:r>
              <a:rPr lang="en-US" dirty="0"/>
              <a:t>=f(3)</a:t>
            </a:r>
            <a:endParaRPr lang="en-IN" dirty="0"/>
          </a:p>
          <a:p>
            <a:r>
              <a:rPr lang="en-US" dirty="0"/>
              <a:t>print(</a:t>
            </a:r>
            <a:r>
              <a:rPr lang="en-US" dirty="0" err="1"/>
              <a:t>ans</a:t>
            </a:r>
            <a:r>
              <a:rPr lang="en-US" dirty="0" smtClean="0"/>
              <a:t>)</a:t>
            </a:r>
          </a:p>
          <a:p>
            <a:endParaRPr lang="en-US" dirty="0"/>
          </a:p>
          <a:p>
            <a:r>
              <a:rPr lang="en-US" dirty="0" smtClean="0"/>
              <a:t>Output : 9</a:t>
            </a:r>
          </a:p>
          <a:p>
            <a:r>
              <a:rPr lang="en-US" dirty="0" smtClean="0"/>
              <a:t>---------------</a:t>
            </a:r>
          </a:p>
          <a:p>
            <a:r>
              <a:rPr lang="en-US" dirty="0"/>
              <a:t>a=[1,2,3,4]</a:t>
            </a:r>
            <a:endParaRPr lang="en-IN" dirty="0"/>
          </a:p>
          <a:p>
            <a:r>
              <a:rPr lang="en-US" dirty="0" err="1" smtClean="0"/>
              <a:t>def</a:t>
            </a:r>
            <a:r>
              <a:rPr lang="en-US" dirty="0" smtClean="0"/>
              <a:t> </a:t>
            </a:r>
            <a:r>
              <a:rPr lang="en-US" dirty="0" err="1"/>
              <a:t>sq</a:t>
            </a:r>
            <a:r>
              <a:rPr lang="en-US" dirty="0"/>
              <a:t>(x):</a:t>
            </a:r>
            <a:endParaRPr lang="en-IN" dirty="0"/>
          </a:p>
          <a:p>
            <a:r>
              <a:rPr lang="en-US" dirty="0"/>
              <a:t>    return x*x</a:t>
            </a:r>
            <a:endParaRPr lang="en-IN" dirty="0"/>
          </a:p>
          <a:p>
            <a:r>
              <a:rPr lang="en-US" dirty="0" err="1" smtClean="0"/>
              <a:t>ans</a:t>
            </a:r>
            <a:r>
              <a:rPr lang="en-US" dirty="0" smtClean="0"/>
              <a:t>=list(map(</a:t>
            </a:r>
            <a:r>
              <a:rPr lang="en-US" dirty="0" err="1" smtClean="0"/>
              <a:t>sq,a</a:t>
            </a:r>
            <a:r>
              <a:rPr lang="en-US" dirty="0"/>
              <a:t>))</a:t>
            </a:r>
            <a:endParaRPr lang="en-IN" dirty="0"/>
          </a:p>
          <a:p>
            <a:r>
              <a:rPr lang="en-US" dirty="0" smtClean="0"/>
              <a:t>print(</a:t>
            </a:r>
            <a:r>
              <a:rPr lang="en-US" dirty="0" err="1" smtClean="0"/>
              <a:t>ans</a:t>
            </a:r>
            <a:r>
              <a:rPr lang="en-US" dirty="0"/>
              <a:t>)</a:t>
            </a:r>
            <a:endParaRPr lang="en-IN" dirty="0"/>
          </a:p>
          <a:p>
            <a:endParaRPr lang="en-US" dirty="0" smtClean="0"/>
          </a:p>
          <a:p>
            <a:r>
              <a:rPr lang="en-US" dirty="0" smtClean="0"/>
              <a:t>Output : [1,4,9,16]</a:t>
            </a:r>
            <a:endParaRPr lang="en-IN" dirty="0"/>
          </a:p>
        </p:txBody>
      </p:sp>
    </p:spTree>
    <p:extLst>
      <p:ext uri="{BB962C8B-B14F-4D97-AF65-F5344CB8AC3E}">
        <p14:creationId xmlns="" xmlns:p14="http://schemas.microsoft.com/office/powerpoint/2010/main" val="757516714"/>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Lambda Function</a:t>
            </a:r>
            <a:endParaRPr lang="en-US" dirty="0"/>
          </a:p>
        </p:txBody>
      </p:sp>
      <p:sp>
        <p:nvSpPr>
          <p:cNvPr id="4" name="TextBox 3"/>
          <p:cNvSpPr txBox="1"/>
          <p:nvPr/>
        </p:nvSpPr>
        <p:spPr>
          <a:xfrm>
            <a:off x="228600" y="932557"/>
            <a:ext cx="8763000" cy="3970318"/>
          </a:xfrm>
          <a:prstGeom prst="rect">
            <a:avLst/>
          </a:prstGeom>
          <a:noFill/>
        </p:spPr>
        <p:txBody>
          <a:bodyPr wrap="square" rtlCol="0">
            <a:spAutoFit/>
          </a:bodyPr>
          <a:lstStyle/>
          <a:p>
            <a:r>
              <a:rPr lang="en-US" dirty="0"/>
              <a:t>li=[1,2,3,4]</a:t>
            </a:r>
            <a:endParaRPr lang="en-IN" dirty="0"/>
          </a:p>
          <a:p>
            <a:r>
              <a:rPr lang="en-US" dirty="0"/>
              <a:t> </a:t>
            </a:r>
            <a:endParaRPr lang="en-IN" dirty="0"/>
          </a:p>
          <a:p>
            <a:r>
              <a:rPr lang="en-US" dirty="0" err="1"/>
              <a:t>ans</a:t>
            </a:r>
            <a:r>
              <a:rPr lang="en-US" dirty="0"/>
              <a:t>=list(map(lambda </a:t>
            </a:r>
            <a:r>
              <a:rPr lang="en-US" dirty="0" err="1"/>
              <a:t>x:x</a:t>
            </a:r>
            <a:r>
              <a:rPr lang="en-US" dirty="0"/>
              <a:t>*</a:t>
            </a:r>
            <a:r>
              <a:rPr lang="en-US" dirty="0" err="1"/>
              <a:t>x,li</a:t>
            </a:r>
            <a:r>
              <a:rPr lang="en-US" dirty="0"/>
              <a:t>))</a:t>
            </a:r>
            <a:endParaRPr lang="en-IN" dirty="0"/>
          </a:p>
          <a:p>
            <a:r>
              <a:rPr lang="en-US" dirty="0"/>
              <a:t>print(</a:t>
            </a:r>
            <a:r>
              <a:rPr lang="en-US" dirty="0" err="1"/>
              <a:t>ans</a:t>
            </a:r>
            <a:r>
              <a:rPr lang="en-US" dirty="0" smtClean="0"/>
              <a:t>)</a:t>
            </a:r>
          </a:p>
          <a:p>
            <a:endParaRPr lang="en-US" dirty="0"/>
          </a:p>
          <a:p>
            <a:r>
              <a:rPr lang="en-US" dirty="0" smtClean="0"/>
              <a:t>Output : </a:t>
            </a:r>
            <a:r>
              <a:rPr lang="en-US" dirty="0"/>
              <a:t>[</a:t>
            </a:r>
            <a:r>
              <a:rPr lang="en-US" dirty="0" smtClean="0"/>
              <a:t>1,4,9,16]</a:t>
            </a:r>
          </a:p>
          <a:p>
            <a:r>
              <a:rPr lang="en-US" dirty="0" smtClean="0"/>
              <a:t>----------------------</a:t>
            </a:r>
            <a:endParaRPr lang="en-US" dirty="0"/>
          </a:p>
          <a:p>
            <a:endParaRPr lang="en-US" dirty="0" smtClean="0"/>
          </a:p>
          <a:p>
            <a:r>
              <a:rPr lang="en-US" dirty="0" err="1"/>
              <a:t>num</a:t>
            </a:r>
            <a:r>
              <a:rPr lang="en-US" dirty="0"/>
              <a:t>=[1,2,3,4,5,6,7,8,9]</a:t>
            </a:r>
            <a:endParaRPr lang="en-IN" dirty="0"/>
          </a:p>
          <a:p>
            <a:r>
              <a:rPr lang="en-US" dirty="0"/>
              <a:t> </a:t>
            </a:r>
            <a:endParaRPr lang="en-IN" dirty="0"/>
          </a:p>
          <a:p>
            <a:r>
              <a:rPr lang="en-US" dirty="0" err="1"/>
              <a:t>ans</a:t>
            </a:r>
            <a:r>
              <a:rPr lang="en-US" dirty="0"/>
              <a:t>=list(filter(lambda </a:t>
            </a:r>
            <a:r>
              <a:rPr lang="en-US" dirty="0" err="1"/>
              <a:t>x:x%2</a:t>
            </a:r>
            <a:r>
              <a:rPr lang="en-US" dirty="0"/>
              <a:t>==</a:t>
            </a:r>
            <a:r>
              <a:rPr lang="en-US" dirty="0" err="1"/>
              <a:t>0,num</a:t>
            </a:r>
            <a:r>
              <a:rPr lang="en-US" dirty="0"/>
              <a:t>))</a:t>
            </a:r>
            <a:endParaRPr lang="en-IN" dirty="0"/>
          </a:p>
          <a:p>
            <a:r>
              <a:rPr lang="en-US" dirty="0"/>
              <a:t>print(</a:t>
            </a:r>
            <a:r>
              <a:rPr lang="en-US" dirty="0" err="1"/>
              <a:t>ans</a:t>
            </a:r>
            <a:r>
              <a:rPr lang="en-US" dirty="0"/>
              <a:t>)</a:t>
            </a:r>
            <a:endParaRPr lang="en-IN" dirty="0"/>
          </a:p>
          <a:p>
            <a:endParaRPr lang="en-US" dirty="0" smtClean="0"/>
          </a:p>
          <a:p>
            <a:r>
              <a:rPr lang="en-US" dirty="0" err="1" smtClean="0"/>
              <a:t>Ouput</a:t>
            </a:r>
            <a:r>
              <a:rPr lang="en-US" dirty="0" smtClean="0"/>
              <a:t> : [2,4,6,8]</a:t>
            </a:r>
          </a:p>
        </p:txBody>
      </p:sp>
    </p:spTree>
    <p:extLst>
      <p:ext uri="{BB962C8B-B14F-4D97-AF65-F5344CB8AC3E}">
        <p14:creationId xmlns="" xmlns:p14="http://schemas.microsoft.com/office/powerpoint/2010/main" val="2215337344"/>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Lambda Function</a:t>
            </a:r>
            <a:endParaRPr lang="en-US" dirty="0"/>
          </a:p>
        </p:txBody>
      </p:sp>
      <p:sp>
        <p:nvSpPr>
          <p:cNvPr id="4" name="TextBox 3"/>
          <p:cNvSpPr txBox="1"/>
          <p:nvPr/>
        </p:nvSpPr>
        <p:spPr>
          <a:xfrm>
            <a:off x="228600" y="932557"/>
            <a:ext cx="8763000" cy="5632311"/>
          </a:xfrm>
          <a:prstGeom prst="rect">
            <a:avLst/>
          </a:prstGeom>
          <a:noFill/>
        </p:spPr>
        <p:txBody>
          <a:bodyPr wrap="square" rtlCol="0">
            <a:spAutoFit/>
          </a:bodyPr>
          <a:lstStyle/>
          <a:p>
            <a:r>
              <a:rPr lang="en-US" dirty="0" err="1"/>
              <a:t>ans</a:t>
            </a:r>
            <a:r>
              <a:rPr lang="en-US" dirty="0"/>
              <a:t>=list(filter(lambda </a:t>
            </a:r>
            <a:r>
              <a:rPr lang="en-US" dirty="0" err="1"/>
              <a:t>x:x%2</a:t>
            </a:r>
            <a:r>
              <a:rPr lang="en-US" dirty="0"/>
              <a:t>==</a:t>
            </a:r>
            <a:r>
              <a:rPr lang="en-US" dirty="0" err="1"/>
              <a:t>0,range</a:t>
            </a:r>
            <a:r>
              <a:rPr lang="en-US" dirty="0"/>
              <a:t>(1,11)))</a:t>
            </a:r>
            <a:endParaRPr lang="en-IN" dirty="0"/>
          </a:p>
          <a:p>
            <a:r>
              <a:rPr lang="en-US" dirty="0"/>
              <a:t>print(</a:t>
            </a:r>
            <a:r>
              <a:rPr lang="en-US" dirty="0" err="1"/>
              <a:t>ans</a:t>
            </a:r>
            <a:r>
              <a:rPr lang="en-US" dirty="0" smtClean="0"/>
              <a:t>)</a:t>
            </a:r>
          </a:p>
          <a:p>
            <a:endParaRPr lang="en-US" dirty="0"/>
          </a:p>
          <a:p>
            <a:r>
              <a:rPr lang="en-US" dirty="0" smtClean="0"/>
              <a:t>Output : [2,4,6,8,10]</a:t>
            </a:r>
          </a:p>
          <a:p>
            <a:endParaRPr lang="en-US" dirty="0"/>
          </a:p>
          <a:p>
            <a:r>
              <a:rPr lang="en-US" dirty="0" smtClean="0"/>
              <a:t>-----------------</a:t>
            </a:r>
          </a:p>
          <a:p>
            <a:r>
              <a:rPr lang="en-US" dirty="0" err="1"/>
              <a:t>ans</a:t>
            </a:r>
            <a:r>
              <a:rPr lang="en-US" dirty="0"/>
              <a:t>=list(filter(lambda </a:t>
            </a:r>
            <a:r>
              <a:rPr lang="en-US" dirty="0" err="1"/>
              <a:t>x:x%2</a:t>
            </a:r>
            <a:r>
              <a:rPr lang="en-US" dirty="0"/>
              <a:t>==0,[1,2,3,4,5,6,7,8]))</a:t>
            </a:r>
            <a:endParaRPr lang="en-IN" dirty="0"/>
          </a:p>
          <a:p>
            <a:r>
              <a:rPr lang="en-US" dirty="0"/>
              <a:t>print(</a:t>
            </a:r>
            <a:r>
              <a:rPr lang="en-US" dirty="0" err="1"/>
              <a:t>ans</a:t>
            </a:r>
            <a:r>
              <a:rPr lang="en-US" dirty="0"/>
              <a:t>)</a:t>
            </a:r>
            <a:endParaRPr lang="en-IN" dirty="0"/>
          </a:p>
          <a:p>
            <a:endParaRPr lang="en-US" dirty="0" smtClean="0"/>
          </a:p>
          <a:p>
            <a:r>
              <a:rPr lang="en-US" dirty="0"/>
              <a:t>Output : [</a:t>
            </a:r>
            <a:r>
              <a:rPr lang="en-US" dirty="0" smtClean="0"/>
              <a:t>2,4,6,8]</a:t>
            </a:r>
          </a:p>
          <a:p>
            <a:endParaRPr lang="en-US" dirty="0"/>
          </a:p>
          <a:p>
            <a:r>
              <a:rPr lang="en-US" dirty="0" smtClean="0"/>
              <a:t>------------------------</a:t>
            </a:r>
          </a:p>
          <a:p>
            <a:r>
              <a:rPr lang="en-US" dirty="0"/>
              <a:t>import </a:t>
            </a:r>
            <a:r>
              <a:rPr lang="en-US" dirty="0" err="1"/>
              <a:t>functools</a:t>
            </a:r>
            <a:endParaRPr lang="en-IN" dirty="0"/>
          </a:p>
          <a:p>
            <a:r>
              <a:rPr lang="en-US" dirty="0"/>
              <a:t> </a:t>
            </a:r>
            <a:endParaRPr lang="en-IN" dirty="0"/>
          </a:p>
          <a:p>
            <a:r>
              <a:rPr lang="en-US" dirty="0" err="1"/>
              <a:t>num</a:t>
            </a:r>
            <a:r>
              <a:rPr lang="en-US" dirty="0"/>
              <a:t>=[1,2,3,4]</a:t>
            </a:r>
            <a:endParaRPr lang="en-IN" dirty="0"/>
          </a:p>
          <a:p>
            <a:r>
              <a:rPr lang="en-US" dirty="0"/>
              <a:t> </a:t>
            </a:r>
            <a:endParaRPr lang="en-IN" dirty="0"/>
          </a:p>
          <a:p>
            <a:r>
              <a:rPr lang="en-US" dirty="0" err="1"/>
              <a:t>ans</a:t>
            </a:r>
            <a:r>
              <a:rPr lang="en-US" dirty="0"/>
              <a:t>=</a:t>
            </a:r>
            <a:r>
              <a:rPr lang="en-US" dirty="0" err="1"/>
              <a:t>functools.reduce</a:t>
            </a:r>
            <a:r>
              <a:rPr lang="en-US" dirty="0"/>
              <a:t>(lambda </a:t>
            </a:r>
            <a:r>
              <a:rPr lang="en-US" dirty="0" err="1"/>
              <a:t>x,y:x+y,num</a:t>
            </a:r>
            <a:r>
              <a:rPr lang="en-US" dirty="0"/>
              <a:t>)</a:t>
            </a:r>
            <a:endParaRPr lang="en-IN" dirty="0"/>
          </a:p>
          <a:p>
            <a:r>
              <a:rPr lang="en-US" dirty="0"/>
              <a:t>print(</a:t>
            </a:r>
            <a:r>
              <a:rPr lang="en-US" dirty="0" err="1"/>
              <a:t>ans</a:t>
            </a:r>
            <a:r>
              <a:rPr lang="en-US" dirty="0"/>
              <a:t>)</a:t>
            </a:r>
            <a:endParaRPr lang="en-IN" dirty="0"/>
          </a:p>
          <a:p>
            <a:endParaRPr lang="en-US" dirty="0" smtClean="0"/>
          </a:p>
          <a:p>
            <a:r>
              <a:rPr lang="en-US" dirty="0" smtClean="0"/>
              <a:t>Output : 10</a:t>
            </a:r>
            <a:endParaRPr lang="en-US" dirty="0"/>
          </a:p>
        </p:txBody>
      </p:sp>
    </p:spTree>
    <p:extLst>
      <p:ext uri="{BB962C8B-B14F-4D97-AF65-F5344CB8AC3E}">
        <p14:creationId xmlns="" xmlns:p14="http://schemas.microsoft.com/office/powerpoint/2010/main" val="4265090737"/>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Lambda Function</a:t>
            </a:r>
            <a:endParaRPr lang="en-US" dirty="0"/>
          </a:p>
        </p:txBody>
      </p:sp>
      <p:sp>
        <p:nvSpPr>
          <p:cNvPr id="4" name="TextBox 3"/>
          <p:cNvSpPr txBox="1"/>
          <p:nvPr/>
        </p:nvSpPr>
        <p:spPr>
          <a:xfrm>
            <a:off x="228600" y="932557"/>
            <a:ext cx="8763000" cy="4247317"/>
          </a:xfrm>
          <a:prstGeom prst="rect">
            <a:avLst/>
          </a:prstGeom>
          <a:noFill/>
        </p:spPr>
        <p:txBody>
          <a:bodyPr wrap="square" rtlCol="0">
            <a:spAutoFit/>
          </a:bodyPr>
          <a:lstStyle/>
          <a:p>
            <a:r>
              <a:rPr lang="en-US" dirty="0"/>
              <a:t>import </a:t>
            </a:r>
            <a:r>
              <a:rPr lang="en-US" dirty="0" err="1"/>
              <a:t>functools</a:t>
            </a:r>
            <a:endParaRPr lang="en-IN" dirty="0"/>
          </a:p>
          <a:p>
            <a:r>
              <a:rPr lang="en-US" dirty="0" err="1"/>
              <a:t>num</a:t>
            </a:r>
            <a:r>
              <a:rPr lang="en-US" dirty="0"/>
              <a:t>=[1,2,3,4]</a:t>
            </a:r>
            <a:endParaRPr lang="en-IN" dirty="0"/>
          </a:p>
          <a:p>
            <a:r>
              <a:rPr lang="en-US" dirty="0"/>
              <a:t> </a:t>
            </a:r>
            <a:endParaRPr lang="en-IN" dirty="0"/>
          </a:p>
          <a:p>
            <a:r>
              <a:rPr lang="en-US" dirty="0" err="1"/>
              <a:t>ans</a:t>
            </a:r>
            <a:r>
              <a:rPr lang="en-US" dirty="0"/>
              <a:t>=</a:t>
            </a:r>
            <a:r>
              <a:rPr lang="en-US" dirty="0" err="1"/>
              <a:t>functools.reduce</a:t>
            </a:r>
            <a:r>
              <a:rPr lang="en-US" dirty="0"/>
              <a:t>(lambda </a:t>
            </a:r>
            <a:r>
              <a:rPr lang="en-US" dirty="0" err="1"/>
              <a:t>x,y:x</a:t>
            </a:r>
            <a:r>
              <a:rPr lang="en-US" dirty="0"/>
              <a:t>*</a:t>
            </a:r>
            <a:r>
              <a:rPr lang="en-US" dirty="0" err="1"/>
              <a:t>y,num</a:t>
            </a:r>
            <a:r>
              <a:rPr lang="en-US" dirty="0"/>
              <a:t>)</a:t>
            </a:r>
            <a:endParaRPr lang="en-IN" dirty="0"/>
          </a:p>
          <a:p>
            <a:r>
              <a:rPr lang="en-US" dirty="0"/>
              <a:t>print(</a:t>
            </a:r>
            <a:r>
              <a:rPr lang="en-US" dirty="0" err="1"/>
              <a:t>ans</a:t>
            </a:r>
            <a:r>
              <a:rPr lang="en-US" dirty="0" smtClean="0"/>
              <a:t>)</a:t>
            </a:r>
          </a:p>
          <a:p>
            <a:endParaRPr lang="en-US" dirty="0"/>
          </a:p>
          <a:p>
            <a:r>
              <a:rPr lang="en-US" dirty="0" smtClean="0"/>
              <a:t>Output : 24</a:t>
            </a:r>
          </a:p>
          <a:p>
            <a:endParaRPr lang="en-US" dirty="0"/>
          </a:p>
          <a:p>
            <a:r>
              <a:rPr lang="en-US" dirty="0" smtClean="0"/>
              <a:t>----------------</a:t>
            </a:r>
          </a:p>
          <a:p>
            <a:r>
              <a:rPr lang="en-US" dirty="0"/>
              <a:t>import </a:t>
            </a:r>
            <a:r>
              <a:rPr lang="en-US" dirty="0" err="1"/>
              <a:t>functools</a:t>
            </a:r>
            <a:endParaRPr lang="en-IN" dirty="0"/>
          </a:p>
          <a:p>
            <a:r>
              <a:rPr lang="en-US" dirty="0"/>
              <a:t> </a:t>
            </a:r>
            <a:endParaRPr lang="en-IN" dirty="0"/>
          </a:p>
          <a:p>
            <a:r>
              <a:rPr lang="en-US" dirty="0" err="1"/>
              <a:t>ans</a:t>
            </a:r>
            <a:r>
              <a:rPr lang="en-US" dirty="0"/>
              <a:t>=</a:t>
            </a:r>
            <a:r>
              <a:rPr lang="en-US" dirty="0" err="1"/>
              <a:t>functools.reduce</a:t>
            </a:r>
            <a:r>
              <a:rPr lang="en-US" dirty="0"/>
              <a:t>(lambda </a:t>
            </a:r>
            <a:r>
              <a:rPr lang="en-US" dirty="0" err="1"/>
              <a:t>x,y:x+y</a:t>
            </a:r>
            <a:r>
              <a:rPr lang="en-US" dirty="0"/>
              <a:t>,[1,2,3,4])</a:t>
            </a:r>
            <a:endParaRPr lang="en-IN" dirty="0"/>
          </a:p>
          <a:p>
            <a:r>
              <a:rPr lang="en-US" dirty="0"/>
              <a:t>print(</a:t>
            </a:r>
            <a:r>
              <a:rPr lang="en-US" dirty="0" err="1"/>
              <a:t>ans</a:t>
            </a:r>
            <a:r>
              <a:rPr lang="en-US" dirty="0" smtClean="0"/>
              <a:t>)</a:t>
            </a:r>
          </a:p>
          <a:p>
            <a:endParaRPr lang="en-US" dirty="0"/>
          </a:p>
          <a:p>
            <a:r>
              <a:rPr lang="en-US" dirty="0" smtClean="0"/>
              <a:t>Output : 10</a:t>
            </a:r>
            <a:endParaRPr lang="en-IN" dirty="0"/>
          </a:p>
        </p:txBody>
      </p:sp>
    </p:spTree>
    <p:extLst>
      <p:ext uri="{BB962C8B-B14F-4D97-AF65-F5344CB8AC3E}">
        <p14:creationId xmlns="" xmlns:p14="http://schemas.microsoft.com/office/powerpoint/2010/main" val="1052475918"/>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895600"/>
            <a:ext cx="9144000" cy="1470025"/>
          </a:xfrm>
        </p:spPr>
        <p:txBody>
          <a:bodyPr>
            <a:normAutofit/>
          </a:bodyPr>
          <a:lstStyle/>
          <a:p>
            <a:r>
              <a:rPr lang="en-US" sz="7200" b="1" dirty="0" smtClean="0"/>
              <a:t>Thank You</a:t>
            </a:r>
            <a:endParaRPr lang="en-US" sz="7200" dirty="0"/>
          </a:p>
        </p:txBody>
      </p:sp>
      <p:pic>
        <p:nvPicPr>
          <p:cNvPr id="5" name="Picture 4"/>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514600" y="457200"/>
            <a:ext cx="3686175" cy="103822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4510</TotalTime>
  <Words>7262</Words>
  <Application>Microsoft Office PowerPoint</Application>
  <PresentationFormat>On-screen Show (4:3)</PresentationFormat>
  <Paragraphs>1621</Paragraphs>
  <Slides>159</Slides>
  <Notes>0</Notes>
  <HiddenSlides>0</HiddenSlides>
  <MMClips>0</MMClips>
  <ScaleCrop>false</ScaleCrop>
  <HeadingPairs>
    <vt:vector size="4" baseType="variant">
      <vt:variant>
        <vt:lpstr>Theme</vt:lpstr>
      </vt:variant>
      <vt:variant>
        <vt:i4>1</vt:i4>
      </vt:variant>
      <vt:variant>
        <vt:lpstr>Slide Titles</vt:lpstr>
      </vt:variant>
      <vt:variant>
        <vt:i4>159</vt:i4>
      </vt:variant>
    </vt:vector>
  </HeadingPairs>
  <TitlesOfParts>
    <vt:vector size="160" baseType="lpstr">
      <vt:lpstr>Office Theme</vt:lpstr>
      <vt:lpstr>Marwadi University Faculty of Computer Applications MCA Sem- II</vt:lpstr>
      <vt:lpstr>Introduction to Python</vt:lpstr>
      <vt:lpstr>Slide 3</vt:lpstr>
      <vt:lpstr>History</vt:lpstr>
      <vt:lpstr>Features of Python</vt:lpstr>
      <vt:lpstr>Features of Python</vt:lpstr>
      <vt:lpstr>Features of Python</vt:lpstr>
      <vt:lpstr>Features of Python</vt:lpstr>
      <vt:lpstr>Features of Python</vt:lpstr>
      <vt:lpstr>Features of Python</vt:lpstr>
      <vt:lpstr>Features of Python</vt:lpstr>
      <vt:lpstr>Features of Python</vt:lpstr>
      <vt:lpstr>Features of Python</vt:lpstr>
      <vt:lpstr>Features of Python</vt:lpstr>
      <vt:lpstr>Features of Python</vt:lpstr>
      <vt:lpstr>Features of Python</vt:lpstr>
      <vt:lpstr>Features of Python</vt:lpstr>
      <vt:lpstr>Features of Python</vt:lpstr>
      <vt:lpstr>Basic Input Output</vt:lpstr>
      <vt:lpstr>Basic Input Output</vt:lpstr>
      <vt:lpstr>Variables</vt:lpstr>
      <vt:lpstr>Variables</vt:lpstr>
      <vt:lpstr>Assigning Values to variables</vt:lpstr>
      <vt:lpstr>Assigning Values to variables</vt:lpstr>
      <vt:lpstr>Assigning Values to variables</vt:lpstr>
      <vt:lpstr>Operators</vt:lpstr>
      <vt:lpstr>Data Types</vt:lpstr>
      <vt:lpstr>Data Types</vt:lpstr>
      <vt:lpstr>Data Types</vt:lpstr>
      <vt:lpstr>Data Types</vt:lpstr>
      <vt:lpstr>Data Types</vt:lpstr>
      <vt:lpstr>Data Types</vt:lpstr>
      <vt:lpstr>Data Types</vt:lpstr>
      <vt:lpstr>Data Types</vt:lpstr>
      <vt:lpstr>Data Types</vt:lpstr>
      <vt:lpstr>Data Types</vt:lpstr>
      <vt:lpstr>Data Types</vt:lpstr>
      <vt:lpstr>Data Types</vt:lpstr>
      <vt:lpstr>Data Types</vt:lpstr>
      <vt:lpstr>Data Types</vt:lpstr>
      <vt:lpstr>Data Types</vt:lpstr>
      <vt:lpstr>Data Types</vt:lpstr>
      <vt:lpstr>Data Types</vt:lpstr>
      <vt:lpstr>Comments</vt:lpstr>
      <vt:lpstr>Use of IDLE</vt:lpstr>
      <vt:lpstr>Use of IDLE</vt:lpstr>
      <vt:lpstr>Taking user input with input()</vt:lpstr>
      <vt:lpstr>Taking user input with input()</vt:lpstr>
      <vt:lpstr>Taking user input with input()</vt:lpstr>
      <vt:lpstr>Taking user input with input()</vt:lpstr>
      <vt:lpstr>Taking user input with input()</vt:lpstr>
      <vt:lpstr>Taking user input with input()</vt:lpstr>
      <vt:lpstr>Taking user input with input()</vt:lpstr>
      <vt:lpstr>Condition by If</vt:lpstr>
      <vt:lpstr>Condition by If</vt:lpstr>
      <vt:lpstr>Condition by If - else</vt:lpstr>
      <vt:lpstr>Condition by If - else</vt:lpstr>
      <vt:lpstr>Condition by If - else</vt:lpstr>
      <vt:lpstr>Condition by if-elif-else ladder</vt:lpstr>
      <vt:lpstr>Condition by if-elif-else ladder</vt:lpstr>
      <vt:lpstr>Condition by if-elif-else ladder</vt:lpstr>
      <vt:lpstr>Loops</vt:lpstr>
      <vt:lpstr>Loops</vt:lpstr>
      <vt:lpstr>While Loop</vt:lpstr>
      <vt:lpstr>While Loop</vt:lpstr>
      <vt:lpstr>For Loop</vt:lpstr>
      <vt:lpstr>For Loop</vt:lpstr>
      <vt:lpstr>For Loop</vt:lpstr>
      <vt:lpstr>For Loop</vt:lpstr>
      <vt:lpstr>For Loop</vt:lpstr>
      <vt:lpstr>Range() function</vt:lpstr>
      <vt:lpstr>Range() function</vt:lpstr>
      <vt:lpstr>Range() function</vt:lpstr>
      <vt:lpstr>Nesting of Loops</vt:lpstr>
      <vt:lpstr>Break Statement</vt:lpstr>
      <vt:lpstr>Break Statement</vt:lpstr>
      <vt:lpstr>Continue Statement</vt:lpstr>
      <vt:lpstr>Continue Statement</vt:lpstr>
      <vt:lpstr>Pass Statement</vt:lpstr>
      <vt:lpstr>Python Collections</vt:lpstr>
      <vt:lpstr>List</vt:lpstr>
      <vt:lpstr>List</vt:lpstr>
      <vt:lpstr>List</vt:lpstr>
      <vt:lpstr>List</vt:lpstr>
      <vt:lpstr>Basic List Operations</vt:lpstr>
      <vt:lpstr>Indexing, Slicing and Matrixes</vt:lpstr>
      <vt:lpstr>Built in functions</vt:lpstr>
      <vt:lpstr>Built in functions</vt:lpstr>
      <vt:lpstr>Built in functions</vt:lpstr>
      <vt:lpstr>Built in functions</vt:lpstr>
      <vt:lpstr>Built in functions</vt:lpstr>
      <vt:lpstr>Built in functions</vt:lpstr>
      <vt:lpstr>Built in functions</vt:lpstr>
      <vt:lpstr>Built in functions</vt:lpstr>
      <vt:lpstr>Built in functions</vt:lpstr>
      <vt:lpstr>Built in functions</vt:lpstr>
      <vt:lpstr>Built in functions</vt:lpstr>
      <vt:lpstr>Built in functions</vt:lpstr>
      <vt:lpstr>Built in functions</vt:lpstr>
      <vt:lpstr>Tuple</vt:lpstr>
      <vt:lpstr>Tuple</vt:lpstr>
      <vt:lpstr>Tuple</vt:lpstr>
      <vt:lpstr>Tuple</vt:lpstr>
      <vt:lpstr>Tuple</vt:lpstr>
      <vt:lpstr>Indexing, Slicing and Matrixes</vt:lpstr>
      <vt:lpstr>Dictionary</vt:lpstr>
      <vt:lpstr>Dictionary</vt:lpstr>
      <vt:lpstr>Dictionary</vt:lpstr>
      <vt:lpstr>Dictionary</vt:lpstr>
      <vt:lpstr>Dictionary</vt:lpstr>
      <vt:lpstr>Dictionary</vt:lpstr>
      <vt:lpstr>Built-in functions of Dictionary</vt:lpstr>
      <vt:lpstr>Built-in functions of Dictionary</vt:lpstr>
      <vt:lpstr>Built-in functions of Dictionary</vt:lpstr>
      <vt:lpstr>Built-in functions of Dictionary</vt:lpstr>
      <vt:lpstr>Built-in functions of Dictionary</vt:lpstr>
      <vt:lpstr>Built-in functions of Dictionary</vt:lpstr>
      <vt:lpstr>Built-in functions of Dictionary</vt:lpstr>
      <vt:lpstr>Built-in functions of Dictionary</vt:lpstr>
      <vt:lpstr>Built-in functions of Dictionary</vt:lpstr>
      <vt:lpstr>Functions in Python</vt:lpstr>
      <vt:lpstr>Functions in Python</vt:lpstr>
      <vt:lpstr>Functions in Python</vt:lpstr>
      <vt:lpstr>Functions in Python</vt:lpstr>
      <vt:lpstr>Functions in Python</vt:lpstr>
      <vt:lpstr>Functions in Python</vt:lpstr>
      <vt:lpstr>Functions in Python</vt:lpstr>
      <vt:lpstr>Function Arguments</vt:lpstr>
      <vt:lpstr>Function Arguments</vt:lpstr>
      <vt:lpstr>Function Arguments</vt:lpstr>
      <vt:lpstr>Function Arguments</vt:lpstr>
      <vt:lpstr>Function Arguments</vt:lpstr>
      <vt:lpstr>Function Arguments</vt:lpstr>
      <vt:lpstr>Function Arguments</vt:lpstr>
      <vt:lpstr>Function Arguments</vt:lpstr>
      <vt:lpstr>The Return Statement</vt:lpstr>
      <vt:lpstr>The Return Statement</vt:lpstr>
      <vt:lpstr>Scope of variables</vt:lpstr>
      <vt:lpstr>Scope of variables</vt:lpstr>
      <vt:lpstr>Scope of variables</vt:lpstr>
      <vt:lpstr>Use of Global Keyword</vt:lpstr>
      <vt:lpstr>Use of Global Keyword</vt:lpstr>
      <vt:lpstr>Use of Global Keyword</vt:lpstr>
      <vt:lpstr>Function as First Object Class</vt:lpstr>
      <vt:lpstr>Function as First Object Class</vt:lpstr>
      <vt:lpstr>Function as First Object Class</vt:lpstr>
      <vt:lpstr>Function as First Object Class</vt:lpstr>
      <vt:lpstr>Function as First Object Class</vt:lpstr>
      <vt:lpstr>Function as First Object Class</vt:lpstr>
      <vt:lpstr>Lambda Function</vt:lpstr>
      <vt:lpstr>Lambda Function</vt:lpstr>
      <vt:lpstr>Lambda Function</vt:lpstr>
      <vt:lpstr>Lambda Function</vt:lpstr>
      <vt:lpstr>Lambda Function</vt:lpstr>
      <vt:lpstr>Lambda Function</vt:lpstr>
      <vt:lpstr>Lambda Function</vt:lpstr>
      <vt:lpstr>Lambda Function</vt:lpstr>
      <vt:lpstr>Lambda Function</vt:lpstr>
      <vt:lpstr>Thank You</vt:lpstr>
    </vt:vector>
  </TitlesOfParts>
  <Company>MEFGI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Marwadi Education Foundation’s Group of Institutions Faculty of Computer Applications MCA Sem- IV</dc:title>
  <dc:creator>MEFGI</dc:creator>
  <cp:lastModifiedBy>admin</cp:lastModifiedBy>
  <cp:revision>583</cp:revision>
  <dcterms:created xsi:type="dcterms:W3CDTF">2010-12-23T08:45:33Z</dcterms:created>
  <dcterms:modified xsi:type="dcterms:W3CDTF">2025-01-21T05:32:55Z</dcterms:modified>
</cp:coreProperties>
</file>