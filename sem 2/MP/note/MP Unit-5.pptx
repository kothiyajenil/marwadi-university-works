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80" r:id="rId4"/>
    <p:sldId id="281" r:id="rId5"/>
    <p:sldId id="282" r:id="rId6"/>
    <p:sldId id="293" r:id="rId7"/>
    <p:sldId id="294" r:id="rId8"/>
    <p:sldId id="284" r:id="rId9"/>
    <p:sldId id="283" r:id="rId10"/>
    <p:sldId id="295" r:id="rId11"/>
    <p:sldId id="285" r:id="rId12"/>
    <p:sldId id="286" r:id="rId13"/>
    <p:sldId id="287" r:id="rId14"/>
    <p:sldId id="296" r:id="rId15"/>
    <p:sldId id="291" r:id="rId16"/>
    <p:sldId id="292" r:id="rId17"/>
    <p:sldId id="272" r:id="rId18"/>
    <p:sldId id="278" r:id="rId19"/>
    <p:sldId id="279" r:id="rId20"/>
    <p:sldId id="273" r:id="rId21"/>
    <p:sldId id="274" r:id="rId22"/>
    <p:sldId id="275"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1274527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453599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306325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157E00-EEC5-4E41-8373-CBA82B7D0DA5}" type="datetimeFigureOut">
              <a:rPr lang="en-IN" smtClean="0"/>
              <a:t>11-04-2024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687446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157E00-EEC5-4E41-8373-CBA82B7D0DA5}" type="datetimeFigureOut">
              <a:rPr lang="en-IN" smtClean="0"/>
              <a:t>11-04-2024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019457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157E00-EEC5-4E41-8373-CBA82B7D0DA5}" type="datetimeFigureOut">
              <a:rPr lang="en-IN" smtClean="0"/>
              <a:t>11-04-2024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658483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57E00-EEC5-4E41-8373-CBA82B7D0DA5}" type="datetimeFigureOut">
              <a:rPr lang="en-IN" smtClean="0"/>
              <a:t>11-04-2024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440444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5157E00-EEC5-4E41-8373-CBA82B7D0DA5}" type="datetimeFigureOut">
              <a:rPr lang="en-IN" smtClean="0"/>
              <a:t>11-04-2024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865728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5157E00-EEC5-4E41-8373-CBA82B7D0DA5}" type="datetimeFigureOut">
              <a:rPr lang="en-IN" smtClean="0"/>
              <a:t>11-04-2024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123792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755085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1316415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3127141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812264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931009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0572863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474429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5157E00-EEC5-4E41-8373-CBA82B7D0DA5}" type="datetimeFigureOut">
              <a:rPr lang="en-IN" smtClean="0"/>
              <a:t>11-04-2024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136870F-F40D-482A-82EC-4BCF007CAC4B}" type="slidenum">
              <a:rPr lang="en-IN" smtClean="0"/>
              <a:t>‹#›</a:t>
            </a:fld>
            <a:endParaRPr lang="en-IN"/>
          </a:p>
        </p:txBody>
      </p:sp>
    </p:spTree>
    <p:extLst>
      <p:ext uri="{BB962C8B-B14F-4D97-AF65-F5344CB8AC3E}">
        <p14:creationId xmlns:p14="http://schemas.microsoft.com/office/powerpoint/2010/main" val="7284721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developer.android.com/guide/app-bundle"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support.google.com/googleplay/android-developer/answer/7384423#rese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B599E-B1FA-48EC-835E-3B5BBCD9F52E}"/>
              </a:ext>
            </a:extLst>
          </p:cNvPr>
          <p:cNvSpPr>
            <a:spLocks noGrp="1"/>
          </p:cNvSpPr>
          <p:nvPr>
            <p:ph type="ctrTitle"/>
          </p:nvPr>
        </p:nvSpPr>
        <p:spPr>
          <a:xfrm>
            <a:off x="510987" y="1004698"/>
            <a:ext cx="8763015" cy="1646302"/>
          </a:xfrm>
        </p:spPr>
        <p:txBody>
          <a:bodyPr/>
          <a:lstStyle/>
          <a:p>
            <a:pPr algn="ctr"/>
            <a:r>
              <a:rPr lang="en-IN" dirty="0"/>
              <a:t>Android Application Development</a:t>
            </a:r>
          </a:p>
        </p:txBody>
      </p:sp>
      <p:sp>
        <p:nvSpPr>
          <p:cNvPr id="3" name="Subtitle 2">
            <a:extLst>
              <a:ext uri="{FF2B5EF4-FFF2-40B4-BE49-F238E27FC236}">
                <a16:creationId xmlns:a16="http://schemas.microsoft.com/office/drawing/2014/main" id="{76945EF1-F3EF-41CF-8A4F-4AB61288F959}"/>
              </a:ext>
            </a:extLst>
          </p:cNvPr>
          <p:cNvSpPr>
            <a:spLocks noGrp="1"/>
          </p:cNvSpPr>
          <p:nvPr>
            <p:ph type="subTitle" idx="1"/>
          </p:nvPr>
        </p:nvSpPr>
        <p:spPr>
          <a:xfrm>
            <a:off x="510987" y="2909634"/>
            <a:ext cx="9233420" cy="1527895"/>
          </a:xfrm>
        </p:spPr>
        <p:txBody>
          <a:bodyPr>
            <a:normAutofit/>
          </a:bodyPr>
          <a:lstStyle/>
          <a:p>
            <a:pPr algn="ctr"/>
            <a:r>
              <a:rPr lang="en-IN" sz="2800" dirty="0"/>
              <a:t>Unit – 5</a:t>
            </a:r>
          </a:p>
          <a:p>
            <a:pPr algn="ctr"/>
            <a:r>
              <a:rPr lang="en-GB" sz="2800" b="1" dirty="0"/>
              <a:t>Location Based Services</a:t>
            </a:r>
            <a:r>
              <a:rPr lang="en-GB" sz="2800" dirty="0"/>
              <a:t>,</a:t>
            </a:r>
            <a:br>
              <a:rPr lang="en-GB" sz="2800" dirty="0"/>
            </a:br>
            <a:r>
              <a:rPr lang="en-GB" sz="2800" dirty="0"/>
              <a:t> </a:t>
            </a:r>
            <a:r>
              <a:rPr lang="en-GB" sz="2800" b="1" dirty="0"/>
              <a:t>Hardware Sensor </a:t>
            </a:r>
            <a:r>
              <a:rPr lang="en-GB" sz="2800" dirty="0"/>
              <a:t>and </a:t>
            </a:r>
            <a:r>
              <a:rPr lang="en-GB" sz="2800" b="1" dirty="0"/>
              <a:t>Web Services</a:t>
            </a:r>
            <a:endParaRPr lang="en-IN" sz="2800" b="1" dirty="0"/>
          </a:p>
        </p:txBody>
      </p:sp>
      <p:sp>
        <p:nvSpPr>
          <p:cNvPr id="4" name="Subtitle 2">
            <a:extLst>
              <a:ext uri="{FF2B5EF4-FFF2-40B4-BE49-F238E27FC236}">
                <a16:creationId xmlns:a16="http://schemas.microsoft.com/office/drawing/2014/main" id="{551CE561-54EB-4B27-B479-0742FF5BCE90}"/>
              </a:ext>
            </a:extLst>
          </p:cNvPr>
          <p:cNvSpPr txBox="1">
            <a:spLocks/>
          </p:cNvSpPr>
          <p:nvPr/>
        </p:nvSpPr>
        <p:spPr>
          <a:xfrm>
            <a:off x="981393" y="4540176"/>
            <a:ext cx="7766936" cy="1096899"/>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ctr"/>
            <a:r>
              <a:rPr lang="en-IN" dirty="0"/>
              <a:t>Prof. Hardik Chavda</a:t>
            </a:r>
          </a:p>
          <a:p>
            <a:pPr algn="ctr"/>
            <a:r>
              <a:rPr lang="en-IN" dirty="0"/>
              <a:t>FOCA,MU</a:t>
            </a:r>
          </a:p>
        </p:txBody>
      </p:sp>
      <p:pic>
        <p:nvPicPr>
          <p:cNvPr id="6146" name="Picture 2" descr="Image result for android 2023">
            <a:extLst>
              <a:ext uri="{FF2B5EF4-FFF2-40B4-BE49-F238E27FC236}">
                <a16:creationId xmlns:a16="http://schemas.microsoft.com/office/drawing/2014/main" id="{A728AFAF-26F5-4203-9363-7546A7F5F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365" y="4437529"/>
            <a:ext cx="3641051" cy="2420471"/>
          </a:xfrm>
          <a:prstGeom prst="rect">
            <a:avLst/>
          </a:prstGeom>
          <a:noFill/>
          <a:extLst>
            <a:ext uri="{909E8E84-426E-40DD-AFC4-6F175D3DCCD1}">
              <a14:hiddenFill xmlns:a14="http://schemas.microsoft.com/office/drawing/2010/main">
                <a:solidFill>
                  <a:srgbClr val="FFFFFF"/>
                </a:solidFill>
              </a14:hiddenFill>
            </a:ext>
          </a:extLst>
        </p:spPr>
      </p:pic>
      <p:pic>
        <p:nvPicPr>
          <p:cNvPr id="6" name="Google Shape;64;p2">
            <a:extLst>
              <a:ext uri="{FF2B5EF4-FFF2-40B4-BE49-F238E27FC236}">
                <a16:creationId xmlns:a16="http://schemas.microsoft.com/office/drawing/2014/main" id="{75D8FF5C-E40F-477C-809F-1DF6B0E97719}"/>
              </a:ext>
            </a:extLst>
          </p:cNvPr>
          <p:cNvPicPr preferRelativeResize="0">
            <a:picLocks/>
          </p:cNvPicPr>
          <p:nvPr/>
        </p:nvPicPr>
        <p:blipFill rotWithShape="1">
          <a:blip r:embed="rId3">
            <a:alphaModFix/>
          </a:blip>
          <a:srcRect/>
          <a:stretch/>
        </p:blipFill>
        <p:spPr>
          <a:xfrm>
            <a:off x="981393" y="374589"/>
            <a:ext cx="1495425" cy="371475"/>
          </a:xfrm>
          <a:prstGeom prst="rect">
            <a:avLst/>
          </a:prstGeom>
          <a:noFill/>
          <a:ln>
            <a:noFill/>
          </a:ln>
        </p:spPr>
      </p:pic>
    </p:spTree>
    <p:extLst>
      <p:ext uri="{BB962C8B-B14F-4D97-AF65-F5344CB8AC3E}">
        <p14:creationId xmlns:p14="http://schemas.microsoft.com/office/powerpoint/2010/main" val="234138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Image result for android 2023">
            <a:extLst>
              <a:ext uri="{FF2B5EF4-FFF2-40B4-BE49-F238E27FC236}">
                <a16:creationId xmlns:a16="http://schemas.microsoft.com/office/drawing/2014/main" id="{93FD0D1D-D2EB-4DF6-B17B-A42D08D3E9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3966" y="2881032"/>
            <a:ext cx="3028950" cy="22288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F8B9052-F6C9-49AA-802A-D259E41B4D51}"/>
              </a:ext>
            </a:extLst>
          </p:cNvPr>
          <p:cNvSpPr>
            <a:spLocks noGrp="1"/>
          </p:cNvSpPr>
          <p:nvPr>
            <p:ph type="title"/>
          </p:nvPr>
        </p:nvSpPr>
        <p:spPr>
          <a:xfrm>
            <a:off x="677334" y="268941"/>
            <a:ext cx="8596668" cy="734351"/>
          </a:xfrm>
        </p:spPr>
        <p:txBody>
          <a:bodyPr/>
          <a:lstStyle/>
          <a:p>
            <a:r>
              <a:rPr lang="en-IN" dirty="0"/>
              <a:t>Unit – 5</a:t>
            </a:r>
          </a:p>
        </p:txBody>
      </p:sp>
      <p:sp>
        <p:nvSpPr>
          <p:cNvPr id="3" name="Content Placeholder 2">
            <a:extLst>
              <a:ext uri="{FF2B5EF4-FFF2-40B4-BE49-F238E27FC236}">
                <a16:creationId xmlns:a16="http://schemas.microsoft.com/office/drawing/2014/main" id="{23F599A0-3398-4EDE-B3B5-5AA820129A9E}"/>
              </a:ext>
            </a:extLst>
          </p:cNvPr>
          <p:cNvSpPr>
            <a:spLocks noGrp="1"/>
          </p:cNvSpPr>
          <p:nvPr>
            <p:ph idx="1"/>
          </p:nvPr>
        </p:nvSpPr>
        <p:spPr>
          <a:xfrm>
            <a:off x="677334" y="1003291"/>
            <a:ext cx="9101933" cy="5585767"/>
          </a:xfrm>
        </p:spPr>
        <p:txBody>
          <a:bodyPr>
            <a:normAutofit fontScale="92500" lnSpcReduction="20000"/>
          </a:bodyPr>
          <a:lstStyle/>
          <a:p>
            <a:pPr algn="just"/>
            <a:r>
              <a:rPr lang="en-GB" sz="2400" b="1" dirty="0"/>
              <a:t>Location API fundamentals</a:t>
            </a:r>
          </a:p>
          <a:p>
            <a:pPr lvl="1" algn="just"/>
            <a:r>
              <a:rPr lang="en-GB" sz="2200" dirty="0"/>
              <a:t>Using Location Based Services</a:t>
            </a:r>
          </a:p>
          <a:p>
            <a:pPr lvl="1" algn="just"/>
            <a:r>
              <a:rPr lang="en-GB" sz="2200" dirty="0"/>
              <a:t>Finding Current Location and Listening for Changes in Location</a:t>
            </a:r>
          </a:p>
          <a:p>
            <a:pPr lvl="1" algn="just"/>
            <a:r>
              <a:rPr lang="en-GB" sz="2200" dirty="0"/>
              <a:t>Introduction to Geocoder</a:t>
            </a:r>
          </a:p>
          <a:p>
            <a:pPr lvl="1" algn="just"/>
            <a:r>
              <a:rPr lang="en-GB" sz="2200" dirty="0"/>
              <a:t>Working with Google Maps</a:t>
            </a:r>
          </a:p>
          <a:p>
            <a:pPr algn="just"/>
            <a:r>
              <a:rPr lang="en-GB" sz="2400" b="1" dirty="0"/>
              <a:t>Sensor API</a:t>
            </a:r>
          </a:p>
          <a:p>
            <a:pPr lvl="1" algn="just"/>
            <a:r>
              <a:rPr lang="en-GB" sz="2200" dirty="0"/>
              <a:t>Types of Sensor</a:t>
            </a:r>
          </a:p>
          <a:p>
            <a:pPr lvl="1" algn="just"/>
            <a:r>
              <a:rPr lang="en-GB" sz="2200" dirty="0"/>
              <a:t>Sensor class</a:t>
            </a:r>
          </a:p>
          <a:p>
            <a:pPr lvl="1" algn="just"/>
            <a:r>
              <a:rPr lang="en-GB" sz="2200" dirty="0" err="1"/>
              <a:t>SensorManager</a:t>
            </a:r>
            <a:r>
              <a:rPr lang="en-GB" sz="2200" dirty="0"/>
              <a:t> class</a:t>
            </a:r>
          </a:p>
          <a:p>
            <a:pPr lvl="1" algn="just"/>
            <a:r>
              <a:rPr lang="en-GB" sz="2200" dirty="0" err="1"/>
              <a:t>SensorEvent</a:t>
            </a:r>
            <a:r>
              <a:rPr lang="en-GB" sz="2200" dirty="0"/>
              <a:t> class</a:t>
            </a:r>
          </a:p>
          <a:p>
            <a:pPr lvl="1" algn="just"/>
            <a:r>
              <a:rPr lang="en-GB" sz="2200" dirty="0" err="1"/>
              <a:t>SensorEventListener</a:t>
            </a:r>
            <a:r>
              <a:rPr lang="en-GB" sz="2200" dirty="0"/>
              <a:t> Interface</a:t>
            </a:r>
          </a:p>
          <a:p>
            <a:pPr algn="just"/>
            <a:r>
              <a:rPr lang="en-GB" sz="2400" b="1" dirty="0"/>
              <a:t>Introduction to JSON Parsing</a:t>
            </a:r>
          </a:p>
          <a:p>
            <a:pPr algn="just"/>
            <a:r>
              <a:rPr lang="en-GB" sz="2400" b="1" dirty="0"/>
              <a:t>Introduction to Monetization of Android App</a:t>
            </a:r>
          </a:p>
          <a:p>
            <a:pPr algn="just"/>
            <a:r>
              <a:rPr lang="en-GB" sz="2400" b="1" dirty="0"/>
              <a:t>Signing and Publishing Android App</a:t>
            </a:r>
          </a:p>
          <a:p>
            <a:pPr algn="just"/>
            <a:endParaRPr lang="en-IN" sz="2400" dirty="0">
              <a:solidFill>
                <a:schemeClr val="tx1"/>
              </a:solidFill>
            </a:endParaRPr>
          </a:p>
        </p:txBody>
      </p:sp>
    </p:spTree>
    <p:extLst>
      <p:ext uri="{BB962C8B-B14F-4D97-AF65-F5344CB8AC3E}">
        <p14:creationId xmlns:p14="http://schemas.microsoft.com/office/powerpoint/2010/main" val="2160158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E8DA6-C92A-4699-8171-A0204C5C0480}"/>
              </a:ext>
            </a:extLst>
          </p:cNvPr>
          <p:cNvSpPr>
            <a:spLocks noGrp="1"/>
          </p:cNvSpPr>
          <p:nvPr>
            <p:ph type="title"/>
          </p:nvPr>
        </p:nvSpPr>
        <p:spPr/>
        <p:txBody>
          <a:bodyPr/>
          <a:lstStyle/>
          <a:p>
            <a:r>
              <a:rPr lang="en-GB" sz="3600" dirty="0"/>
              <a:t>Location API fundamentals</a:t>
            </a:r>
            <a:br>
              <a:rPr lang="en-GB" sz="3600" dirty="0"/>
            </a:br>
            <a:endParaRPr lang="en-IN" dirty="0"/>
          </a:p>
        </p:txBody>
      </p:sp>
      <p:pic>
        <p:nvPicPr>
          <p:cNvPr id="1028" name="Picture 4">
            <a:extLst>
              <a:ext uri="{FF2B5EF4-FFF2-40B4-BE49-F238E27FC236}">
                <a16:creationId xmlns:a16="http://schemas.microsoft.com/office/drawing/2014/main" id="{055BF95E-DBA3-4D88-909D-20D93552D19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455" t="5896" r="7038" b="5276"/>
          <a:stretch/>
        </p:blipFill>
        <p:spPr bwMode="auto">
          <a:xfrm>
            <a:off x="6824133" y="1930400"/>
            <a:ext cx="5367867" cy="3316635"/>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7E80DF85-B7C5-4C2F-B1DD-19C127C96075}"/>
              </a:ext>
            </a:extLst>
          </p:cNvPr>
          <p:cNvSpPr>
            <a:spLocks noGrp="1"/>
          </p:cNvSpPr>
          <p:nvPr>
            <p:ph idx="1"/>
          </p:nvPr>
        </p:nvSpPr>
        <p:spPr>
          <a:xfrm>
            <a:off x="634998" y="1549400"/>
            <a:ext cx="5943601" cy="5138271"/>
          </a:xfrm>
        </p:spPr>
        <p:txBody>
          <a:bodyPr>
            <a:normAutofit fontScale="92500" lnSpcReduction="20000"/>
          </a:bodyPr>
          <a:lstStyle/>
          <a:p>
            <a:pPr algn="just"/>
            <a:r>
              <a:rPr lang="en-GB" sz="2400" b="1" dirty="0"/>
              <a:t>GPS Module </a:t>
            </a:r>
            <a:r>
              <a:rPr lang="en-GB" sz="2400" dirty="0"/>
              <a:t>— The dedicated module for location, it uses satellite signals to determine the location so it can only be used outdoor. it is very accurate, but also consumes a lot of power.</a:t>
            </a:r>
          </a:p>
          <a:p>
            <a:pPr algn="just"/>
            <a:r>
              <a:rPr lang="en-GB" sz="2400" b="1" dirty="0" err="1"/>
              <a:t>WiFi</a:t>
            </a:r>
            <a:r>
              <a:rPr lang="en-GB" sz="2400" b="1" dirty="0"/>
              <a:t> Module </a:t>
            </a:r>
            <a:r>
              <a:rPr lang="en-GB" sz="2400" dirty="0"/>
              <a:t>— We can use </a:t>
            </a:r>
            <a:r>
              <a:rPr lang="en-GB" sz="2400" dirty="0" err="1"/>
              <a:t>WiFi</a:t>
            </a:r>
            <a:r>
              <a:rPr lang="en-GB" sz="2400" dirty="0"/>
              <a:t>-RTT (Round-trip-time) API, which is available in Android 9 and above, to measure the distance to nearby </a:t>
            </a:r>
            <a:r>
              <a:rPr lang="en-GB" sz="2400" dirty="0" err="1"/>
              <a:t>WiFi</a:t>
            </a:r>
            <a:r>
              <a:rPr lang="en-GB" sz="2400" dirty="0"/>
              <a:t> access points. Then we can use these distances to triangulate the device location with an accuracy of 1–2 meters. It does not consume too much battery as GPS Module does.</a:t>
            </a:r>
          </a:p>
          <a:p>
            <a:pPr algn="just"/>
            <a:r>
              <a:rPr lang="en-GB" sz="2400" b="1" dirty="0"/>
              <a:t>Sensors</a:t>
            </a:r>
            <a:r>
              <a:rPr lang="en-GB" sz="2400" dirty="0"/>
              <a:t> — Most of the Android phones nowadays are equipped with Sensors that track the device movement, and it also bridges the gap which we will discuss later.</a:t>
            </a:r>
            <a:endParaRPr lang="en-IN" sz="2400" dirty="0"/>
          </a:p>
        </p:txBody>
      </p:sp>
    </p:spTree>
    <p:extLst>
      <p:ext uri="{BB962C8B-B14F-4D97-AF65-F5344CB8AC3E}">
        <p14:creationId xmlns:p14="http://schemas.microsoft.com/office/powerpoint/2010/main" val="3425877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9E787-2632-46D5-9081-1E12E23E71D7}"/>
              </a:ext>
            </a:extLst>
          </p:cNvPr>
          <p:cNvSpPr>
            <a:spLocks noGrp="1"/>
          </p:cNvSpPr>
          <p:nvPr>
            <p:ph type="title"/>
          </p:nvPr>
        </p:nvSpPr>
        <p:spPr>
          <a:xfrm>
            <a:off x="677334" y="296333"/>
            <a:ext cx="8596668" cy="702733"/>
          </a:xfrm>
        </p:spPr>
        <p:txBody>
          <a:bodyPr>
            <a:normAutofit/>
          </a:bodyPr>
          <a:lstStyle/>
          <a:p>
            <a:r>
              <a:rPr lang="en-GB" sz="3600" dirty="0"/>
              <a:t>Using Location Based Services</a:t>
            </a:r>
            <a:endParaRPr lang="en-IN" dirty="0"/>
          </a:p>
        </p:txBody>
      </p:sp>
      <p:sp>
        <p:nvSpPr>
          <p:cNvPr id="3" name="Content Placeholder 2">
            <a:extLst>
              <a:ext uri="{FF2B5EF4-FFF2-40B4-BE49-F238E27FC236}">
                <a16:creationId xmlns:a16="http://schemas.microsoft.com/office/drawing/2014/main" id="{1D4E2D2F-3EB1-44B5-B96C-92CE3512E6D0}"/>
              </a:ext>
            </a:extLst>
          </p:cNvPr>
          <p:cNvSpPr>
            <a:spLocks noGrp="1"/>
          </p:cNvSpPr>
          <p:nvPr>
            <p:ph idx="1"/>
          </p:nvPr>
        </p:nvSpPr>
        <p:spPr>
          <a:xfrm>
            <a:off x="677333" y="999065"/>
            <a:ext cx="9345207" cy="3382775"/>
          </a:xfrm>
        </p:spPr>
        <p:txBody>
          <a:bodyPr>
            <a:normAutofit lnSpcReduction="10000"/>
          </a:bodyPr>
          <a:lstStyle/>
          <a:p>
            <a:pPr algn="just"/>
            <a:r>
              <a:rPr lang="en-GB" sz="2400" b="1" u="sng" dirty="0"/>
              <a:t>Fused Location Provider API:</a:t>
            </a:r>
          </a:p>
          <a:p>
            <a:pPr algn="just"/>
            <a:r>
              <a:rPr lang="en-GB" sz="2400" b="1" dirty="0"/>
              <a:t>I</a:t>
            </a:r>
            <a:r>
              <a:rPr lang="en-GB" sz="2400" dirty="0"/>
              <a:t>t intelligently combines different signals to compute the location information that your app needs. So that you do not need to worry about how location is calculated, instead focus on how to use location in your app.</a:t>
            </a:r>
          </a:p>
          <a:p>
            <a:pPr algn="just"/>
            <a:r>
              <a:rPr lang="en-GB" sz="2400" b="1" i="0" dirty="0">
                <a:solidFill>
                  <a:srgbClr val="242424"/>
                </a:solidFill>
                <a:effectLst/>
                <a:latin typeface="source-serif-pro"/>
              </a:rPr>
              <a:t>Fused Location Provider </a:t>
            </a:r>
            <a:r>
              <a:rPr lang="en-GB" sz="2400" b="0" i="0" dirty="0">
                <a:solidFill>
                  <a:srgbClr val="242424"/>
                </a:solidFill>
                <a:effectLst/>
                <a:latin typeface="source-serif-pro"/>
              </a:rPr>
              <a:t>is part of the Google Play Services, which means it is managed and automatically updated by Google. When there is a better algorithm available, your app will immediately receive it even without knowing.</a:t>
            </a:r>
          </a:p>
        </p:txBody>
      </p:sp>
      <p:pic>
        <p:nvPicPr>
          <p:cNvPr id="4" name="Picture 2">
            <a:extLst>
              <a:ext uri="{FF2B5EF4-FFF2-40B4-BE49-F238E27FC236}">
                <a16:creationId xmlns:a16="http://schemas.microsoft.com/office/drawing/2014/main" id="{8E040CDD-4C4C-4DB4-A57C-77FAF6B39D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8380" y="4028475"/>
            <a:ext cx="6877319" cy="282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686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37F6F-582C-4B9E-854A-39A5F588C44B}"/>
              </a:ext>
            </a:extLst>
          </p:cNvPr>
          <p:cNvSpPr>
            <a:spLocks noGrp="1"/>
          </p:cNvSpPr>
          <p:nvPr>
            <p:ph type="title"/>
          </p:nvPr>
        </p:nvSpPr>
        <p:spPr>
          <a:xfrm>
            <a:off x="677334" y="355600"/>
            <a:ext cx="8596668" cy="1320800"/>
          </a:xfrm>
        </p:spPr>
        <p:txBody>
          <a:bodyPr>
            <a:normAutofit fontScale="90000"/>
          </a:bodyPr>
          <a:lstStyle/>
          <a:p>
            <a:r>
              <a:rPr lang="en-GB" sz="3600" dirty="0"/>
              <a:t>Finding Current Location and Listening for Changes in Location</a:t>
            </a:r>
            <a:br>
              <a:rPr lang="en-GB" sz="3600" dirty="0"/>
            </a:br>
            <a:endParaRPr lang="en-IN" dirty="0"/>
          </a:p>
        </p:txBody>
      </p:sp>
      <p:sp>
        <p:nvSpPr>
          <p:cNvPr id="3" name="Content Placeholder 2">
            <a:extLst>
              <a:ext uri="{FF2B5EF4-FFF2-40B4-BE49-F238E27FC236}">
                <a16:creationId xmlns:a16="http://schemas.microsoft.com/office/drawing/2014/main" id="{B62AB70F-F070-4CCD-A927-4D7D2557DB9C}"/>
              </a:ext>
            </a:extLst>
          </p:cNvPr>
          <p:cNvSpPr>
            <a:spLocks noGrp="1"/>
          </p:cNvSpPr>
          <p:nvPr>
            <p:ph idx="1"/>
          </p:nvPr>
        </p:nvSpPr>
        <p:spPr>
          <a:xfrm>
            <a:off x="677334" y="1930400"/>
            <a:ext cx="8596668" cy="4362823"/>
          </a:xfrm>
        </p:spPr>
        <p:txBody>
          <a:bodyPr>
            <a:normAutofit fontScale="92500"/>
          </a:bodyPr>
          <a:lstStyle/>
          <a:p>
            <a:pPr algn="just"/>
            <a:r>
              <a:rPr lang="en-GB" sz="2400" b="0" i="0" dirty="0">
                <a:solidFill>
                  <a:srgbClr val="242424"/>
                </a:solidFill>
                <a:effectLst/>
                <a:latin typeface="source-serif-pro"/>
              </a:rPr>
              <a:t>Location Access has become more restricted in each iteration of the Android version, especially with Background Location Access. </a:t>
            </a:r>
          </a:p>
          <a:p>
            <a:pPr algn="just"/>
            <a:r>
              <a:rPr lang="en-GB" sz="2400" b="1" i="0" dirty="0">
                <a:solidFill>
                  <a:srgbClr val="242424"/>
                </a:solidFill>
                <a:effectLst/>
                <a:latin typeface="source-serif-pro"/>
              </a:rPr>
              <a:t>In Android 9</a:t>
            </a:r>
            <a:r>
              <a:rPr lang="en-GB" sz="2400" b="0" i="0" dirty="0">
                <a:solidFill>
                  <a:srgbClr val="242424"/>
                </a:solidFill>
                <a:effectLst/>
                <a:latin typeface="source-serif-pro"/>
              </a:rPr>
              <a:t>, there is basically no restriction. Once the user has given consent to Location Access, the app can obtain the device location in the background without user’s knowledge. </a:t>
            </a:r>
          </a:p>
          <a:p>
            <a:pPr algn="just"/>
            <a:r>
              <a:rPr lang="en-GB" sz="2400" b="1" i="0" dirty="0">
                <a:solidFill>
                  <a:srgbClr val="242424"/>
                </a:solidFill>
                <a:effectLst/>
                <a:latin typeface="source-serif-pro"/>
              </a:rPr>
              <a:t>Android 10 </a:t>
            </a:r>
            <a:r>
              <a:rPr lang="en-GB" sz="2400" b="0" i="0" dirty="0">
                <a:solidFill>
                  <a:srgbClr val="242424"/>
                </a:solidFill>
                <a:effectLst/>
                <a:latin typeface="source-serif-pro"/>
              </a:rPr>
              <a:t>introduces more permission declarations, and also enforces the app to follow the best practise to progressively obtain the Background Location Access. </a:t>
            </a:r>
          </a:p>
          <a:p>
            <a:pPr algn="just"/>
            <a:r>
              <a:rPr lang="en-GB" sz="2400" b="1" i="0" dirty="0">
                <a:solidFill>
                  <a:srgbClr val="242424"/>
                </a:solidFill>
                <a:effectLst/>
                <a:latin typeface="source-serif-pro"/>
              </a:rPr>
              <a:t>Android 11 </a:t>
            </a:r>
            <a:r>
              <a:rPr lang="en-GB" sz="2400" b="0" i="0" dirty="0">
                <a:solidFill>
                  <a:srgbClr val="242424"/>
                </a:solidFill>
                <a:effectLst/>
                <a:latin typeface="source-serif-pro"/>
              </a:rPr>
              <a:t>takes a further step by disallowing the in-app Background Location Access, the user has to manually change the Location Permission in order to grant Background Location Access to the app.</a:t>
            </a:r>
          </a:p>
        </p:txBody>
      </p:sp>
    </p:spTree>
    <p:extLst>
      <p:ext uri="{BB962C8B-B14F-4D97-AF65-F5344CB8AC3E}">
        <p14:creationId xmlns:p14="http://schemas.microsoft.com/office/powerpoint/2010/main" val="296099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14A42-05C6-4283-B44F-36CFE42CE707}"/>
              </a:ext>
            </a:extLst>
          </p:cNvPr>
          <p:cNvSpPr>
            <a:spLocks noGrp="1"/>
          </p:cNvSpPr>
          <p:nvPr>
            <p:ph type="title"/>
          </p:nvPr>
        </p:nvSpPr>
        <p:spPr>
          <a:xfrm>
            <a:off x="677334" y="262466"/>
            <a:ext cx="8596668" cy="762001"/>
          </a:xfrm>
        </p:spPr>
        <p:txBody>
          <a:bodyPr/>
          <a:lstStyle/>
          <a:p>
            <a:r>
              <a:rPr lang="en-IN" dirty="0"/>
              <a:t>Android 9 for Location</a:t>
            </a:r>
          </a:p>
        </p:txBody>
      </p:sp>
      <p:sp>
        <p:nvSpPr>
          <p:cNvPr id="3" name="Content Placeholder 2">
            <a:extLst>
              <a:ext uri="{FF2B5EF4-FFF2-40B4-BE49-F238E27FC236}">
                <a16:creationId xmlns:a16="http://schemas.microsoft.com/office/drawing/2014/main" id="{51639D9E-BFD3-4FB7-A077-EFC87022F50D}"/>
              </a:ext>
            </a:extLst>
          </p:cNvPr>
          <p:cNvSpPr>
            <a:spLocks noGrp="1"/>
          </p:cNvSpPr>
          <p:nvPr>
            <p:ph idx="1"/>
          </p:nvPr>
        </p:nvSpPr>
        <p:spPr>
          <a:xfrm>
            <a:off x="677334" y="1138766"/>
            <a:ext cx="10250642" cy="4643469"/>
          </a:xfrm>
        </p:spPr>
        <p:txBody>
          <a:bodyPr>
            <a:normAutofit/>
          </a:bodyPr>
          <a:lstStyle/>
          <a:p>
            <a:r>
              <a:rPr lang="en-GB" sz="2400" b="1" dirty="0"/>
              <a:t>Permissions</a:t>
            </a:r>
          </a:p>
          <a:p>
            <a:pPr lvl="1"/>
            <a:r>
              <a:rPr lang="en-GB" sz="2000" dirty="0"/>
              <a:t>Declare the Location Permission(s) in the Android Manifest file, use </a:t>
            </a:r>
            <a:r>
              <a:rPr lang="en-GB" sz="2000" b="1" dirty="0"/>
              <a:t>ACCESS_FINE_LOCATION </a:t>
            </a:r>
            <a:r>
              <a:rPr lang="en-GB" sz="2000" dirty="0"/>
              <a:t>if your app needs a precise location or use </a:t>
            </a:r>
            <a:r>
              <a:rPr lang="en-GB" sz="2000" b="1" dirty="0"/>
              <a:t>ACCESS_COARSE_LOCATION</a:t>
            </a:r>
            <a:r>
              <a:rPr lang="en-GB" sz="2000" dirty="0"/>
              <a:t> if your app just needs an approximate location.</a:t>
            </a:r>
          </a:p>
          <a:p>
            <a:pPr lvl="1"/>
            <a:r>
              <a:rPr lang="en-IN" sz="2000" dirty="0"/>
              <a:t>&lt;!-- Specify the permissions that you are using --&gt;</a:t>
            </a:r>
          </a:p>
          <a:p>
            <a:pPr marL="457200" lvl="1" indent="0">
              <a:buNone/>
            </a:pPr>
            <a:r>
              <a:rPr lang="en-IN" sz="2000" dirty="0"/>
              <a:t>&lt;uses-permission </a:t>
            </a:r>
            <a:r>
              <a:rPr lang="en-IN" sz="2000" dirty="0" err="1"/>
              <a:t>android:name</a:t>
            </a:r>
            <a:r>
              <a:rPr lang="en-IN" sz="2000" dirty="0"/>
              <a:t>="</a:t>
            </a:r>
            <a:r>
              <a:rPr lang="en-IN" sz="2000" dirty="0" err="1"/>
              <a:t>android.permission.ACCESS_FINE_LOCATION</a:t>
            </a:r>
            <a:r>
              <a:rPr lang="en-IN" sz="2000" dirty="0"/>
              <a:t>"/&gt;</a:t>
            </a:r>
          </a:p>
          <a:p>
            <a:pPr marL="457200" lvl="1" indent="0">
              <a:buNone/>
            </a:pPr>
            <a:r>
              <a:rPr lang="en-IN" sz="2000" dirty="0"/>
              <a:t>&lt;uses-permission </a:t>
            </a:r>
            <a:r>
              <a:rPr lang="en-IN" sz="2000" dirty="0" err="1"/>
              <a:t>android:name</a:t>
            </a:r>
            <a:r>
              <a:rPr lang="en-IN" sz="2000" dirty="0"/>
              <a:t>="</a:t>
            </a:r>
            <a:r>
              <a:rPr lang="en-IN" sz="2000" dirty="0" err="1"/>
              <a:t>android.permission.ACCESS_COARSE_LOCATION</a:t>
            </a:r>
            <a:r>
              <a:rPr lang="en-IN" sz="2000" dirty="0"/>
              <a:t>"/&gt;</a:t>
            </a:r>
          </a:p>
          <a:p>
            <a:r>
              <a:rPr lang="en-GB" sz="2400" b="1" dirty="0"/>
              <a:t>Foreground Location Access</a:t>
            </a:r>
          </a:p>
          <a:p>
            <a:pPr lvl="1"/>
            <a:r>
              <a:rPr lang="en-GB" sz="2000" dirty="0"/>
              <a:t>To get the Foreground Location Access, all you need to do is to call the </a:t>
            </a:r>
            <a:r>
              <a:rPr lang="en-GB" sz="2000" dirty="0" err="1"/>
              <a:t>requestPermissions</a:t>
            </a:r>
            <a:r>
              <a:rPr lang="en-GB" sz="2000" dirty="0"/>
              <a:t> API with an array of the necessary Location Permission String(s) (i.e., ACCESS_FINE_LOCATION and/or use ACCESS_COARSE_LOCATION).</a:t>
            </a:r>
          </a:p>
          <a:p>
            <a:endParaRPr lang="en-IN" sz="2000" dirty="0"/>
          </a:p>
        </p:txBody>
      </p:sp>
    </p:spTree>
    <p:extLst>
      <p:ext uri="{BB962C8B-B14F-4D97-AF65-F5344CB8AC3E}">
        <p14:creationId xmlns:p14="http://schemas.microsoft.com/office/powerpoint/2010/main" val="3397478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77D53E-F6B9-41E5-915E-61CC138AD1CC}"/>
              </a:ext>
            </a:extLst>
          </p:cNvPr>
          <p:cNvSpPr>
            <a:spLocks noGrp="1"/>
          </p:cNvSpPr>
          <p:nvPr>
            <p:ph idx="1"/>
          </p:nvPr>
        </p:nvSpPr>
        <p:spPr>
          <a:xfrm>
            <a:off x="397934" y="272522"/>
            <a:ext cx="9762066" cy="2555345"/>
          </a:xfrm>
        </p:spPr>
        <p:txBody>
          <a:bodyPr>
            <a:normAutofit fontScale="92500" lnSpcReduction="20000"/>
          </a:bodyPr>
          <a:lstStyle/>
          <a:p>
            <a:r>
              <a:rPr lang="en-IN" b="1" dirty="0"/>
              <a:t>// Request permission</a:t>
            </a:r>
          </a:p>
          <a:p>
            <a:pPr marL="0" indent="0">
              <a:buNone/>
            </a:pPr>
            <a:r>
              <a:rPr lang="en-IN" dirty="0" err="1"/>
              <a:t>ActivityCompat.requestPermissions</a:t>
            </a:r>
            <a:r>
              <a:rPr lang="en-IN" dirty="0"/>
              <a:t>(</a:t>
            </a:r>
          </a:p>
          <a:p>
            <a:pPr marL="0" indent="0">
              <a:buNone/>
            </a:pPr>
            <a:r>
              <a:rPr lang="en-IN" dirty="0"/>
              <a:t>   </a:t>
            </a:r>
            <a:r>
              <a:rPr lang="en-IN" dirty="0" err="1"/>
              <a:t>this@MainActivity</a:t>
            </a:r>
            <a:r>
              <a:rPr lang="en-IN" dirty="0"/>
              <a:t>,</a:t>
            </a:r>
          </a:p>
          <a:p>
            <a:pPr marL="0" indent="0">
              <a:buNone/>
            </a:pPr>
            <a:r>
              <a:rPr lang="en-IN" dirty="0"/>
              <a:t>   </a:t>
            </a:r>
            <a:r>
              <a:rPr lang="en-IN" dirty="0" err="1"/>
              <a:t>arrayOf</a:t>
            </a:r>
            <a:r>
              <a:rPr lang="en-IN" dirty="0"/>
              <a:t>(</a:t>
            </a:r>
            <a:r>
              <a:rPr lang="en-IN" dirty="0" err="1"/>
              <a:t>Manifest.permission.ACCESS_FINE_LOCATION</a:t>
            </a:r>
            <a:r>
              <a:rPr lang="en-IN" dirty="0"/>
              <a:t>),</a:t>
            </a:r>
          </a:p>
          <a:p>
            <a:pPr marL="0" indent="0">
              <a:buNone/>
            </a:pPr>
            <a:r>
              <a:rPr lang="en-IN" dirty="0"/>
              <a:t>   REQUEST_FOREGROUND_ONLY_PERMISSIONS_REQUEST_CODE</a:t>
            </a:r>
          </a:p>
          <a:p>
            <a:pPr marL="0" indent="0">
              <a:buNone/>
            </a:pPr>
            <a:r>
              <a:rPr lang="en-IN" dirty="0"/>
              <a:t>)</a:t>
            </a:r>
          </a:p>
          <a:p>
            <a:pPr marL="0" indent="0">
              <a:buNone/>
            </a:pPr>
            <a:r>
              <a:rPr lang="en-GB" b="0" i="0" dirty="0">
                <a:solidFill>
                  <a:srgbClr val="242424"/>
                </a:solidFill>
                <a:effectLst/>
                <a:latin typeface="source-serif-pro"/>
              </a:rPr>
              <a:t>The user will be prompted with a permission dialog (</a:t>
            </a:r>
            <a:r>
              <a:rPr lang="en-GB" b="1" i="0" dirty="0">
                <a:solidFill>
                  <a:srgbClr val="242424"/>
                </a:solidFill>
                <a:effectLst/>
                <a:latin typeface="source-serif-pro"/>
              </a:rPr>
              <a:t>Screen 1</a:t>
            </a:r>
            <a:r>
              <a:rPr lang="en-GB" b="0" i="0" dirty="0">
                <a:solidFill>
                  <a:srgbClr val="242424"/>
                </a:solidFill>
                <a:effectLst/>
                <a:latin typeface="source-serif-pro"/>
              </a:rPr>
              <a:t>), and upon user confirmation, Foreground Location Access is granted to your app (</a:t>
            </a:r>
            <a:r>
              <a:rPr lang="en-GB" b="1" i="0" dirty="0">
                <a:solidFill>
                  <a:srgbClr val="242424"/>
                </a:solidFill>
                <a:effectLst/>
                <a:latin typeface="source-serif-pro"/>
              </a:rPr>
              <a:t>Screen 2</a:t>
            </a:r>
            <a:r>
              <a:rPr lang="en-GB" b="0" i="0" dirty="0">
                <a:solidFill>
                  <a:srgbClr val="242424"/>
                </a:solidFill>
                <a:effectLst/>
                <a:latin typeface="source-serif-pro"/>
              </a:rPr>
              <a:t>).</a:t>
            </a:r>
            <a:endParaRPr lang="en-IN" dirty="0"/>
          </a:p>
        </p:txBody>
      </p:sp>
      <p:pic>
        <p:nvPicPr>
          <p:cNvPr id="4098" name="Picture 2">
            <a:extLst>
              <a:ext uri="{FF2B5EF4-FFF2-40B4-BE49-F238E27FC236}">
                <a16:creationId xmlns:a16="http://schemas.microsoft.com/office/drawing/2014/main" id="{DA4366BC-CBF8-45BA-AE33-E50386E474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2737086"/>
            <a:ext cx="10354051" cy="4120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3228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FC03A-4234-49D8-AD83-E003E9C3CB1C}"/>
              </a:ext>
            </a:extLst>
          </p:cNvPr>
          <p:cNvSpPr>
            <a:spLocks noGrp="1"/>
          </p:cNvSpPr>
          <p:nvPr>
            <p:ph type="title"/>
          </p:nvPr>
        </p:nvSpPr>
        <p:spPr/>
        <p:txBody>
          <a:bodyPr/>
          <a:lstStyle/>
          <a:p>
            <a:r>
              <a:rPr lang="en-GB" sz="3600" dirty="0"/>
              <a:t>Working with Google Maps</a:t>
            </a:r>
            <a:br>
              <a:rPr lang="en-GB" sz="3600" dirty="0"/>
            </a:br>
            <a:endParaRPr lang="en-IN" dirty="0"/>
          </a:p>
        </p:txBody>
      </p:sp>
      <p:sp>
        <p:nvSpPr>
          <p:cNvPr id="3" name="Content Placeholder 2">
            <a:extLst>
              <a:ext uri="{FF2B5EF4-FFF2-40B4-BE49-F238E27FC236}">
                <a16:creationId xmlns:a16="http://schemas.microsoft.com/office/drawing/2014/main" id="{DA6AAD68-BD44-4E39-9B05-412B045F7EBF}"/>
              </a:ext>
            </a:extLst>
          </p:cNvPr>
          <p:cNvSpPr>
            <a:spLocks noGrp="1"/>
          </p:cNvSpPr>
          <p:nvPr>
            <p:ph idx="1"/>
          </p:nvPr>
        </p:nvSpPr>
        <p:spPr>
          <a:xfrm>
            <a:off x="677334" y="1490134"/>
            <a:ext cx="9434854" cy="2997200"/>
          </a:xfrm>
        </p:spPr>
        <p:txBody>
          <a:bodyPr>
            <a:normAutofit/>
          </a:bodyPr>
          <a:lstStyle/>
          <a:p>
            <a:r>
              <a:rPr lang="en-GB" sz="2000" dirty="0"/>
              <a:t>With the Maps SDK for Android, add maps to your Android app including Wear OS apps using Google Maps data, map displays, and map gesture responses. You can also provide additional information for map locations and support user interaction by adding markers, polygons, and overlays to your map.</a:t>
            </a:r>
          </a:p>
          <a:p>
            <a:r>
              <a:rPr lang="en-GB" sz="2000" dirty="0"/>
              <a:t>The SDK supports both the Kotlin and Java programming languages and provides additional libraries and extensions for advanced features and programming techniques.</a:t>
            </a:r>
          </a:p>
          <a:p>
            <a:r>
              <a:rPr lang="en-GB" sz="2000" b="1" i="1" dirty="0"/>
              <a:t>NOTE: Due to continues changes in Maps SDK Version we will learn this in lab only.</a:t>
            </a:r>
            <a:endParaRPr lang="en-IN" sz="2000" b="1" i="1" dirty="0"/>
          </a:p>
        </p:txBody>
      </p:sp>
      <p:pic>
        <p:nvPicPr>
          <p:cNvPr id="5122" name="Picture 2" descr="Image result for google maps android studio">
            <a:extLst>
              <a:ext uri="{FF2B5EF4-FFF2-40B4-BE49-F238E27FC236}">
                <a16:creationId xmlns:a16="http://schemas.microsoft.com/office/drawing/2014/main" id="{372185D5-1C46-4FEE-BD3C-04BD3898A8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9152" y="4514850"/>
            <a:ext cx="1895475" cy="17335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Image result for Google Maps">
            <a:extLst>
              <a:ext uri="{FF2B5EF4-FFF2-40B4-BE49-F238E27FC236}">
                <a16:creationId xmlns:a16="http://schemas.microsoft.com/office/drawing/2014/main" id="{6F7DAA46-F33A-4282-988C-99BB42455DA7}"/>
              </a:ext>
            </a:extLst>
          </p:cNvPr>
          <p:cNvPicPr/>
          <p:nvPr/>
        </p:nvPicPr>
        <p:blipFill>
          <a:blip r:embed="rId3"/>
          <a:srcRect/>
          <a:stretch>
            <a:fillRect/>
          </a:stretch>
        </p:blipFill>
        <p:spPr bwMode="auto">
          <a:xfrm>
            <a:off x="6096000" y="4384944"/>
            <a:ext cx="2636520" cy="1732915"/>
          </a:xfrm>
          <a:prstGeom prst="rect">
            <a:avLst/>
          </a:prstGeom>
          <a:noFill/>
          <a:ln w="9525">
            <a:noFill/>
            <a:miter lim="800000"/>
            <a:headEnd/>
            <a:tailEnd/>
          </a:ln>
        </p:spPr>
      </p:pic>
    </p:spTree>
    <p:extLst>
      <p:ext uri="{BB962C8B-B14F-4D97-AF65-F5344CB8AC3E}">
        <p14:creationId xmlns:p14="http://schemas.microsoft.com/office/powerpoint/2010/main" val="4060265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D1765-A1AF-4F60-B412-23685A8C4A9B}"/>
              </a:ext>
            </a:extLst>
          </p:cNvPr>
          <p:cNvSpPr>
            <a:spLocks noGrp="1"/>
          </p:cNvSpPr>
          <p:nvPr>
            <p:ph type="title"/>
          </p:nvPr>
        </p:nvSpPr>
        <p:spPr>
          <a:xfrm>
            <a:off x="677334" y="609600"/>
            <a:ext cx="8596668" cy="795867"/>
          </a:xfrm>
        </p:spPr>
        <p:txBody>
          <a:bodyPr>
            <a:normAutofit fontScale="90000"/>
          </a:bodyPr>
          <a:lstStyle/>
          <a:p>
            <a:r>
              <a:rPr lang="en-GB" sz="3600" dirty="0"/>
              <a:t>Introduction to Geocoder</a:t>
            </a:r>
            <a:br>
              <a:rPr lang="en-GB" sz="3600" dirty="0"/>
            </a:br>
            <a:endParaRPr lang="en-IN" dirty="0"/>
          </a:p>
        </p:txBody>
      </p:sp>
      <p:sp>
        <p:nvSpPr>
          <p:cNvPr id="3" name="Content Placeholder 2">
            <a:extLst>
              <a:ext uri="{FF2B5EF4-FFF2-40B4-BE49-F238E27FC236}">
                <a16:creationId xmlns:a16="http://schemas.microsoft.com/office/drawing/2014/main" id="{82A04E69-4449-40D4-AEE5-0ABFACC6C724}"/>
              </a:ext>
            </a:extLst>
          </p:cNvPr>
          <p:cNvSpPr>
            <a:spLocks noGrp="1"/>
          </p:cNvSpPr>
          <p:nvPr>
            <p:ph idx="1"/>
          </p:nvPr>
        </p:nvSpPr>
        <p:spPr>
          <a:xfrm>
            <a:off x="677334" y="1574801"/>
            <a:ext cx="8839199" cy="5014258"/>
          </a:xfrm>
        </p:spPr>
        <p:txBody>
          <a:bodyPr>
            <a:normAutofit fontScale="92500" lnSpcReduction="10000"/>
          </a:bodyPr>
          <a:lstStyle/>
          <a:p>
            <a:pPr algn="just"/>
            <a:r>
              <a:rPr lang="en-GB" sz="2400" dirty="0"/>
              <a:t>A class for handling geocoding and reverse geocoding. Geocoding is the process of transforming a street address or other description of a location into a </a:t>
            </a:r>
            <a:r>
              <a:rPr lang="en-GB" sz="2400" b="1" dirty="0"/>
              <a:t>(latitude, longitude) </a:t>
            </a:r>
            <a:r>
              <a:rPr lang="en-GB" sz="2400" dirty="0"/>
              <a:t>coordinate. </a:t>
            </a:r>
          </a:p>
          <a:p>
            <a:pPr algn="just"/>
            <a:r>
              <a:rPr lang="en-GB" sz="2400" dirty="0"/>
              <a:t>Reverse geocoding is the process of transforming a (latitude, longitude) coordinate into a (partial) address. The amount of detail in a reverse geocoded location description may vary, for example one might contain the full street address of the closest building, while another might contain only a city name and postal code.</a:t>
            </a:r>
          </a:p>
          <a:p>
            <a:pPr algn="just"/>
            <a:r>
              <a:rPr lang="en-GB" sz="2400" dirty="0"/>
              <a:t>Use the </a:t>
            </a:r>
            <a:r>
              <a:rPr lang="en-GB" sz="2400" b="1" dirty="0" err="1"/>
              <a:t>isPresent</a:t>
            </a:r>
            <a:r>
              <a:rPr lang="en-GB" sz="2400" b="1" dirty="0"/>
              <a:t>() </a:t>
            </a:r>
            <a:r>
              <a:rPr lang="en-GB" sz="2400" dirty="0"/>
              <a:t>method to determine whether a Geocoder implementation exists on the current device. If no implementation is present, any attempt to geocode will result in an error.</a:t>
            </a:r>
          </a:p>
          <a:p>
            <a:pPr algn="just"/>
            <a:r>
              <a:rPr lang="en-GB" sz="2400" dirty="0"/>
              <a:t>Geocoder implementations are only required to make a best effort to return results in the chosen locale. Note that geocoder implementations may return results in other locales if they have no information available for the chosen locale.</a:t>
            </a:r>
            <a:endParaRPr lang="en-IN" sz="2400" dirty="0"/>
          </a:p>
        </p:txBody>
      </p:sp>
    </p:spTree>
    <p:extLst>
      <p:ext uri="{BB962C8B-B14F-4D97-AF65-F5344CB8AC3E}">
        <p14:creationId xmlns:p14="http://schemas.microsoft.com/office/powerpoint/2010/main" val="2793297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03BB8CF-44A2-46F6-8B06-9EFB679FA09F}"/>
              </a:ext>
            </a:extLst>
          </p:cNvPr>
          <p:cNvGraphicFramePr>
            <a:graphicFrameLocks noGrp="1"/>
          </p:cNvGraphicFramePr>
          <p:nvPr>
            <p:ph idx="1"/>
            <p:extLst>
              <p:ext uri="{D42A27DB-BD31-4B8C-83A1-F6EECF244321}">
                <p14:modId xmlns:p14="http://schemas.microsoft.com/office/powerpoint/2010/main" val="3393862549"/>
              </p:ext>
            </p:extLst>
          </p:nvPr>
        </p:nvGraphicFramePr>
        <p:xfrm>
          <a:off x="439271" y="312749"/>
          <a:ext cx="9699812" cy="6034262"/>
        </p:xfrm>
        <a:graphic>
          <a:graphicData uri="http://schemas.openxmlformats.org/drawingml/2006/table">
            <a:tbl>
              <a:tblPr firstRow="1" firstCol="1" bandRow="1">
                <a:tableStyleId>{5C22544A-7EE6-4342-B048-85BDC9FD1C3A}</a:tableStyleId>
              </a:tblPr>
              <a:tblGrid>
                <a:gridCol w="1862706">
                  <a:extLst>
                    <a:ext uri="{9D8B030D-6E8A-4147-A177-3AD203B41FA5}">
                      <a16:colId xmlns:a16="http://schemas.microsoft.com/office/drawing/2014/main" val="2932101311"/>
                    </a:ext>
                  </a:extLst>
                </a:gridCol>
                <a:gridCol w="7837106">
                  <a:extLst>
                    <a:ext uri="{9D8B030D-6E8A-4147-A177-3AD203B41FA5}">
                      <a16:colId xmlns:a16="http://schemas.microsoft.com/office/drawing/2014/main" val="1186831987"/>
                    </a:ext>
                  </a:extLst>
                </a:gridCol>
              </a:tblGrid>
              <a:tr h="431251">
                <a:tc gridSpan="2">
                  <a:txBody>
                    <a:bodyPr/>
                    <a:lstStyle/>
                    <a:p>
                      <a:pPr>
                        <a:lnSpc>
                          <a:spcPct val="115000"/>
                        </a:lnSpc>
                        <a:spcBef>
                          <a:spcPts val="1000"/>
                        </a:spcBef>
                      </a:pPr>
                      <a:r>
                        <a:rPr lang="en-US" sz="2400" dirty="0">
                          <a:effectLst/>
                        </a:rPr>
                        <a:t>Public methods</a:t>
                      </a:r>
                      <a:endParaRPr lang="en-IN" sz="2400" b="1" dirty="0">
                        <a:solidFill>
                          <a:srgbClr val="4F81BD"/>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tc>
                <a:tc hMerge="1">
                  <a:txBody>
                    <a:bodyPr/>
                    <a:lstStyle/>
                    <a:p>
                      <a:endParaRPr lang="en-IN"/>
                    </a:p>
                  </a:txBody>
                  <a:tcPr/>
                </a:tc>
                <a:extLst>
                  <a:ext uri="{0D108BD9-81ED-4DB2-BD59-A6C34878D82A}">
                    <a16:rowId xmlns:a16="http://schemas.microsoft.com/office/drawing/2014/main" val="2377922838"/>
                  </a:ext>
                </a:extLst>
              </a:tr>
              <a:tr h="1079545">
                <a:tc>
                  <a:txBody>
                    <a:bodyPr/>
                    <a:lstStyle/>
                    <a:p>
                      <a:pPr>
                        <a:lnSpc>
                          <a:spcPct val="115000"/>
                        </a:lnSpc>
                        <a:spcAft>
                          <a:spcPts val="1000"/>
                        </a:spcAft>
                      </a:pPr>
                      <a:r>
                        <a:rPr lang="en-US" sz="1800">
                          <a:effectLst/>
                        </a:rPr>
                        <a:t>List&lt;Address&gt;</a:t>
                      </a:r>
                      <a:endParaRPr lang="en-IN" sz="24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nSpc>
                          <a:spcPct val="115000"/>
                        </a:lnSpc>
                        <a:spcAft>
                          <a:spcPts val="1000"/>
                        </a:spcAft>
                      </a:pPr>
                      <a:r>
                        <a:rPr lang="en-US" sz="1800" b="1" dirty="0" err="1">
                          <a:effectLst/>
                        </a:rPr>
                        <a:t>getFromLocation</a:t>
                      </a:r>
                      <a:r>
                        <a:rPr lang="en-US" sz="1800" b="1" dirty="0">
                          <a:effectLst/>
                        </a:rPr>
                        <a:t>(double latitude, double longitude, int </a:t>
                      </a:r>
                      <a:r>
                        <a:rPr lang="en-US" sz="1800" b="1" dirty="0" err="1">
                          <a:effectLst/>
                        </a:rPr>
                        <a:t>maxResults</a:t>
                      </a:r>
                      <a:r>
                        <a:rPr lang="en-US" sz="1800" b="1" dirty="0">
                          <a:effectLst/>
                        </a:rPr>
                        <a:t>)</a:t>
                      </a:r>
                      <a:endParaRPr lang="en-IN" sz="2400" b="1" dirty="0">
                        <a:effectLst/>
                      </a:endParaRPr>
                    </a:p>
                    <a:p>
                      <a:r>
                        <a:rPr lang="en-US" sz="1800" dirty="0">
                          <a:effectLst/>
                        </a:rPr>
                        <a:t>Returns an array of Addresses that are known to describe the area immediately surrounding the given latitude and longitude.</a:t>
                      </a:r>
                      <a:endParaRPr lang="en-IN"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tc>
                <a:extLst>
                  <a:ext uri="{0D108BD9-81ED-4DB2-BD59-A6C34878D82A}">
                    <a16:rowId xmlns:a16="http://schemas.microsoft.com/office/drawing/2014/main" val="2164467082"/>
                  </a:ext>
                </a:extLst>
              </a:tr>
              <a:tr h="2065578">
                <a:tc>
                  <a:txBody>
                    <a:bodyPr/>
                    <a:lstStyle/>
                    <a:p>
                      <a:pPr>
                        <a:lnSpc>
                          <a:spcPct val="115000"/>
                        </a:lnSpc>
                        <a:spcAft>
                          <a:spcPts val="1000"/>
                        </a:spcAft>
                      </a:pPr>
                      <a:r>
                        <a:rPr lang="en-US" sz="1800">
                          <a:effectLst/>
                        </a:rPr>
                        <a:t>List&lt;Address&gt;</a:t>
                      </a:r>
                      <a:endParaRPr lang="en-IN" sz="24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nSpc>
                          <a:spcPct val="115000"/>
                        </a:lnSpc>
                        <a:spcAft>
                          <a:spcPts val="1000"/>
                        </a:spcAft>
                      </a:pPr>
                      <a:r>
                        <a:rPr lang="en-US" sz="1800" b="1" dirty="0" err="1">
                          <a:effectLst/>
                        </a:rPr>
                        <a:t>getFromLocationName</a:t>
                      </a:r>
                      <a:r>
                        <a:rPr lang="en-US" sz="1800" b="1" dirty="0">
                          <a:effectLst/>
                        </a:rPr>
                        <a:t>(String </a:t>
                      </a:r>
                      <a:r>
                        <a:rPr lang="en-US" sz="1800" b="1" dirty="0" err="1">
                          <a:effectLst/>
                        </a:rPr>
                        <a:t>locationName</a:t>
                      </a:r>
                      <a:r>
                        <a:rPr lang="en-US" sz="1800" b="1" dirty="0">
                          <a:effectLst/>
                        </a:rPr>
                        <a:t>, int </a:t>
                      </a:r>
                      <a:r>
                        <a:rPr lang="en-US" sz="1800" b="1" dirty="0" err="1">
                          <a:effectLst/>
                        </a:rPr>
                        <a:t>maxResults</a:t>
                      </a:r>
                      <a:r>
                        <a:rPr lang="en-US" sz="1800" b="1" dirty="0">
                          <a:effectLst/>
                        </a:rPr>
                        <a:t>, double </a:t>
                      </a:r>
                      <a:r>
                        <a:rPr lang="en-US" sz="1800" b="1" dirty="0" err="1">
                          <a:effectLst/>
                        </a:rPr>
                        <a:t>lowerLeftLatitude</a:t>
                      </a:r>
                      <a:r>
                        <a:rPr lang="en-US" sz="1800" b="1" dirty="0">
                          <a:effectLst/>
                        </a:rPr>
                        <a:t>, double </a:t>
                      </a:r>
                      <a:r>
                        <a:rPr lang="en-US" sz="1800" b="1" dirty="0" err="1">
                          <a:effectLst/>
                        </a:rPr>
                        <a:t>lowerLeftLongitude</a:t>
                      </a:r>
                      <a:r>
                        <a:rPr lang="en-US" sz="1800" b="1" dirty="0">
                          <a:effectLst/>
                        </a:rPr>
                        <a:t>, double </a:t>
                      </a:r>
                      <a:r>
                        <a:rPr lang="en-US" sz="1800" b="1" dirty="0" err="1">
                          <a:effectLst/>
                        </a:rPr>
                        <a:t>upperRightLatitude</a:t>
                      </a:r>
                      <a:r>
                        <a:rPr lang="en-US" sz="1800" b="1" dirty="0">
                          <a:effectLst/>
                        </a:rPr>
                        <a:t>, double </a:t>
                      </a:r>
                      <a:r>
                        <a:rPr lang="en-US" sz="1800" b="1" dirty="0" err="1">
                          <a:effectLst/>
                        </a:rPr>
                        <a:t>upperRightLongitude</a:t>
                      </a:r>
                      <a:r>
                        <a:rPr lang="en-US" sz="1800" b="1" dirty="0">
                          <a:effectLst/>
                        </a:rPr>
                        <a:t>)</a:t>
                      </a:r>
                      <a:endParaRPr lang="en-IN" sz="2400" b="1" dirty="0">
                        <a:effectLst/>
                      </a:endParaRPr>
                    </a:p>
                    <a:p>
                      <a:r>
                        <a:rPr lang="en-US" sz="1800" dirty="0">
                          <a:effectLst/>
                        </a:rPr>
                        <a:t>Returns an array of Addresses that are known to describe the named location, which may be a place name such as "Dalvik, Iceland", an address such as "1600 Amphitheatre Parkway, Mountain View, CA", an airport code such as "SFO", etc..</a:t>
                      </a:r>
                      <a:endParaRPr lang="en-IN"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tc>
                <a:extLst>
                  <a:ext uri="{0D108BD9-81ED-4DB2-BD59-A6C34878D82A}">
                    <a16:rowId xmlns:a16="http://schemas.microsoft.com/office/drawing/2014/main" val="2979546968"/>
                  </a:ext>
                </a:extLst>
              </a:tr>
              <a:tr h="1378343">
                <a:tc>
                  <a:txBody>
                    <a:bodyPr/>
                    <a:lstStyle/>
                    <a:p>
                      <a:pPr>
                        <a:lnSpc>
                          <a:spcPct val="115000"/>
                        </a:lnSpc>
                        <a:spcAft>
                          <a:spcPts val="1000"/>
                        </a:spcAft>
                      </a:pPr>
                      <a:r>
                        <a:rPr lang="en-US" sz="1800">
                          <a:effectLst/>
                        </a:rPr>
                        <a:t>List&lt;Address&gt;</a:t>
                      </a:r>
                      <a:endParaRPr lang="en-IN" sz="24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nSpc>
                          <a:spcPct val="115000"/>
                        </a:lnSpc>
                        <a:spcAft>
                          <a:spcPts val="1000"/>
                        </a:spcAft>
                      </a:pPr>
                      <a:r>
                        <a:rPr lang="en-US" sz="1800" b="1" dirty="0" err="1">
                          <a:effectLst/>
                        </a:rPr>
                        <a:t>getFromLocationName</a:t>
                      </a:r>
                      <a:r>
                        <a:rPr lang="en-US" sz="1800" b="1" dirty="0">
                          <a:effectLst/>
                        </a:rPr>
                        <a:t>(String </a:t>
                      </a:r>
                      <a:r>
                        <a:rPr lang="en-US" sz="1800" b="1" dirty="0" err="1">
                          <a:effectLst/>
                        </a:rPr>
                        <a:t>locationName</a:t>
                      </a:r>
                      <a:r>
                        <a:rPr lang="en-US" sz="1800" b="1" dirty="0">
                          <a:effectLst/>
                        </a:rPr>
                        <a:t>, int </a:t>
                      </a:r>
                      <a:r>
                        <a:rPr lang="en-US" sz="1800" b="1" dirty="0" err="1">
                          <a:effectLst/>
                        </a:rPr>
                        <a:t>maxResults</a:t>
                      </a:r>
                      <a:r>
                        <a:rPr lang="en-US" sz="1800" b="1" dirty="0">
                          <a:effectLst/>
                        </a:rPr>
                        <a:t>)</a:t>
                      </a:r>
                      <a:endParaRPr lang="en-IN" sz="2400" b="1" dirty="0">
                        <a:effectLst/>
                      </a:endParaRPr>
                    </a:p>
                    <a:p>
                      <a:r>
                        <a:rPr lang="en-US" sz="1800" dirty="0">
                          <a:effectLst/>
                        </a:rPr>
                        <a:t>Returns an array of Addresses that are known to describe the named location, which may be a place name such as "Dalvik, Iceland", an address such as "1600 Amphitheatre Parkway, Mountain View, CA", an airport code such as "SFO", etc..</a:t>
                      </a:r>
                      <a:endParaRPr lang="en-IN"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tc>
                <a:extLst>
                  <a:ext uri="{0D108BD9-81ED-4DB2-BD59-A6C34878D82A}">
                    <a16:rowId xmlns:a16="http://schemas.microsoft.com/office/drawing/2014/main" val="1415589524"/>
                  </a:ext>
                </a:extLst>
              </a:tr>
              <a:tr h="1079545">
                <a:tc>
                  <a:txBody>
                    <a:bodyPr/>
                    <a:lstStyle/>
                    <a:p>
                      <a:pPr>
                        <a:lnSpc>
                          <a:spcPct val="115000"/>
                        </a:lnSpc>
                        <a:spcAft>
                          <a:spcPts val="1000"/>
                        </a:spcAft>
                      </a:pPr>
                      <a:r>
                        <a:rPr lang="en-US" sz="1800">
                          <a:effectLst/>
                        </a:rPr>
                        <a:t>static boolean</a:t>
                      </a:r>
                      <a:endParaRPr lang="en-IN" sz="24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nSpc>
                          <a:spcPct val="115000"/>
                        </a:lnSpc>
                        <a:spcAft>
                          <a:spcPts val="1000"/>
                        </a:spcAft>
                      </a:pPr>
                      <a:r>
                        <a:rPr lang="en-US" sz="1800" b="1" dirty="0" err="1">
                          <a:effectLst/>
                        </a:rPr>
                        <a:t>isPresent</a:t>
                      </a:r>
                      <a:r>
                        <a:rPr lang="en-US" sz="1800" b="1" dirty="0">
                          <a:effectLst/>
                        </a:rPr>
                        <a:t>()</a:t>
                      </a:r>
                      <a:endParaRPr lang="en-IN" sz="2400" b="1" dirty="0">
                        <a:effectLst/>
                      </a:endParaRPr>
                    </a:p>
                    <a:p>
                      <a:r>
                        <a:rPr lang="en-US" sz="1800" dirty="0">
                          <a:effectLst/>
                        </a:rPr>
                        <a:t>Returns true if the Geocoder methods </a:t>
                      </a:r>
                      <a:r>
                        <a:rPr lang="en-US" sz="1800" dirty="0" err="1">
                          <a:effectLst/>
                        </a:rPr>
                        <a:t>getFromLocation</a:t>
                      </a:r>
                      <a:r>
                        <a:rPr lang="en-US" sz="1800" dirty="0">
                          <a:effectLst/>
                        </a:rPr>
                        <a:t> and </a:t>
                      </a:r>
                      <a:r>
                        <a:rPr lang="en-US" sz="1800" dirty="0" err="1">
                          <a:effectLst/>
                        </a:rPr>
                        <a:t>getFromLocationName</a:t>
                      </a:r>
                      <a:r>
                        <a:rPr lang="en-US" sz="1800" dirty="0">
                          <a:effectLst/>
                        </a:rPr>
                        <a:t> are implemented.</a:t>
                      </a:r>
                      <a:endParaRPr lang="en-IN"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tc>
                <a:extLst>
                  <a:ext uri="{0D108BD9-81ED-4DB2-BD59-A6C34878D82A}">
                    <a16:rowId xmlns:a16="http://schemas.microsoft.com/office/drawing/2014/main" val="2777647001"/>
                  </a:ext>
                </a:extLst>
              </a:tr>
            </a:tbl>
          </a:graphicData>
        </a:graphic>
      </p:graphicFrame>
    </p:spTree>
    <p:extLst>
      <p:ext uri="{BB962C8B-B14F-4D97-AF65-F5344CB8AC3E}">
        <p14:creationId xmlns:p14="http://schemas.microsoft.com/office/powerpoint/2010/main" val="1547533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776A0-2628-44E5-B7D8-63A0FB28E060}"/>
              </a:ext>
            </a:extLst>
          </p:cNvPr>
          <p:cNvSpPr>
            <a:spLocks noGrp="1"/>
          </p:cNvSpPr>
          <p:nvPr>
            <p:ph type="title"/>
          </p:nvPr>
        </p:nvSpPr>
        <p:spPr/>
        <p:txBody>
          <a:bodyPr/>
          <a:lstStyle/>
          <a:p>
            <a:r>
              <a:rPr lang="en-GB" sz="3600" dirty="0"/>
              <a:t>Sensor API</a:t>
            </a:r>
            <a:br>
              <a:rPr lang="en-GB" sz="3600" dirty="0"/>
            </a:br>
            <a:endParaRPr lang="en-IN" dirty="0"/>
          </a:p>
        </p:txBody>
      </p:sp>
      <p:sp>
        <p:nvSpPr>
          <p:cNvPr id="3" name="Content Placeholder 2">
            <a:extLst>
              <a:ext uri="{FF2B5EF4-FFF2-40B4-BE49-F238E27FC236}">
                <a16:creationId xmlns:a16="http://schemas.microsoft.com/office/drawing/2014/main" id="{92538650-D9F4-4EE7-89BD-553979100EF4}"/>
              </a:ext>
            </a:extLst>
          </p:cNvPr>
          <p:cNvSpPr>
            <a:spLocks noGrp="1"/>
          </p:cNvSpPr>
          <p:nvPr>
            <p:ph idx="1"/>
          </p:nvPr>
        </p:nvSpPr>
        <p:spPr>
          <a:xfrm>
            <a:off x="677334" y="1479176"/>
            <a:ext cx="8278408" cy="4867835"/>
          </a:xfrm>
        </p:spPr>
        <p:txBody>
          <a:bodyPr>
            <a:normAutofit fontScale="92500"/>
          </a:bodyPr>
          <a:lstStyle/>
          <a:p>
            <a:pPr algn="just"/>
            <a:r>
              <a:rPr lang="en-US"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Most Android-powered devices have built-in sensors that measure motion, orientation, and various environmental conditions. </a:t>
            </a:r>
            <a:endParaRPr lang="en-US" sz="2400" dirty="0">
              <a:solidFill>
                <a:srgbClr val="000000"/>
              </a:solidFill>
              <a:latin typeface="Calibri" panose="020F0502020204030204" pitchFamily="34" charset="0"/>
              <a:ea typeface="Times New Roman" panose="02020603050405020304" pitchFamily="18" charset="0"/>
              <a:cs typeface="Calibri" panose="020F0502020204030204" pitchFamily="34" charset="0"/>
            </a:endParaRPr>
          </a:p>
          <a:p>
            <a:pPr algn="just"/>
            <a:r>
              <a:rPr lang="en-US"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These sensors are capable of providing raw data with high precision and accuracy, and are useful if you want to monitor three-dimensional device movement or positioning, or you want to monitor changes in the ambient environment near a device. </a:t>
            </a:r>
          </a:p>
          <a:p>
            <a:pPr algn="just"/>
            <a:r>
              <a:rPr lang="en-US" sz="24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 example, </a:t>
            </a:r>
            <a:r>
              <a:rPr lang="en-US"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 game might track readings from a device's gravity sensor to infer complex user gestures and motions, such as tilt, shake, rotation, or swing. </a:t>
            </a:r>
          </a:p>
          <a:p>
            <a:pPr algn="just"/>
            <a:r>
              <a:rPr lang="en-US"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Likewise, a weather application might use a device's temperature sensor and humidity sensor to calculate and report the dewpoint, or a travel application might use the geomagnetic field sensor and accelerometer to report a compass bearing.</a:t>
            </a:r>
            <a:endParaRPr lang="en-IN" sz="2400" dirty="0">
              <a:effectLst/>
              <a:latin typeface="Calibri" panose="020F0502020204030204" pitchFamily="34" charset="0"/>
              <a:ea typeface="Calibri" panose="020F0502020204030204" pitchFamily="34" charset="0"/>
              <a:cs typeface="Shruti" panose="020B0502040204020203" pitchFamily="34" charset="0"/>
            </a:endParaRPr>
          </a:p>
        </p:txBody>
      </p:sp>
      <p:pic>
        <p:nvPicPr>
          <p:cNvPr id="4" name="Picture 3">
            <a:extLst>
              <a:ext uri="{FF2B5EF4-FFF2-40B4-BE49-F238E27FC236}">
                <a16:creationId xmlns:a16="http://schemas.microsoft.com/office/drawing/2014/main" id="{AB26F422-81F3-4662-96F7-37091FCEC801}"/>
              </a:ext>
            </a:extLst>
          </p:cNvPr>
          <p:cNvPicPr/>
          <p:nvPr/>
        </p:nvPicPr>
        <p:blipFill>
          <a:blip r:embed="rId2"/>
          <a:srcRect/>
          <a:stretch>
            <a:fillRect/>
          </a:stretch>
        </p:blipFill>
        <p:spPr bwMode="auto">
          <a:xfrm>
            <a:off x="8955742" y="1646815"/>
            <a:ext cx="3236258" cy="3732009"/>
          </a:xfrm>
          <a:prstGeom prst="rect">
            <a:avLst/>
          </a:prstGeom>
          <a:noFill/>
          <a:ln w="9525">
            <a:noFill/>
            <a:miter lim="800000"/>
            <a:headEnd/>
            <a:tailEnd/>
          </a:ln>
        </p:spPr>
      </p:pic>
    </p:spTree>
    <p:extLst>
      <p:ext uri="{BB962C8B-B14F-4D97-AF65-F5344CB8AC3E}">
        <p14:creationId xmlns:p14="http://schemas.microsoft.com/office/powerpoint/2010/main" val="2510422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1B259-5BB0-4C25-A036-B3CA47C3A4C0}"/>
              </a:ext>
            </a:extLst>
          </p:cNvPr>
          <p:cNvSpPr>
            <a:spLocks noGrp="1"/>
          </p:cNvSpPr>
          <p:nvPr>
            <p:ph type="title"/>
          </p:nvPr>
        </p:nvSpPr>
        <p:spPr>
          <a:xfrm>
            <a:off x="677334" y="161365"/>
            <a:ext cx="8596668" cy="797859"/>
          </a:xfrm>
        </p:spPr>
        <p:txBody>
          <a:bodyPr>
            <a:normAutofit/>
          </a:bodyPr>
          <a:lstStyle/>
          <a:p>
            <a:r>
              <a:rPr lang="en-GB" sz="3600" dirty="0"/>
              <a:t>Types of Sensor</a:t>
            </a:r>
            <a:endParaRPr lang="en-IN" dirty="0"/>
          </a:p>
        </p:txBody>
      </p:sp>
      <p:sp>
        <p:nvSpPr>
          <p:cNvPr id="3" name="Content Placeholder 2">
            <a:extLst>
              <a:ext uri="{FF2B5EF4-FFF2-40B4-BE49-F238E27FC236}">
                <a16:creationId xmlns:a16="http://schemas.microsoft.com/office/drawing/2014/main" id="{196B5D93-F65B-4FAB-B8FD-8301AF455B75}"/>
              </a:ext>
            </a:extLst>
          </p:cNvPr>
          <p:cNvSpPr>
            <a:spLocks noGrp="1"/>
          </p:cNvSpPr>
          <p:nvPr>
            <p:ph idx="1"/>
          </p:nvPr>
        </p:nvSpPr>
        <p:spPr>
          <a:xfrm>
            <a:off x="677334" y="959224"/>
            <a:ext cx="6270313" cy="5898776"/>
          </a:xfrm>
        </p:spPr>
        <p:txBody>
          <a:bodyPr>
            <a:normAutofit/>
          </a:bodyPr>
          <a:lstStyle/>
          <a:p>
            <a:pPr algn="just"/>
            <a:r>
              <a:rPr lang="en-GB" sz="2400" b="1" dirty="0"/>
              <a:t>Motion sensors</a:t>
            </a:r>
          </a:p>
          <a:p>
            <a:pPr lvl="1" algn="just"/>
            <a:r>
              <a:rPr lang="en-GB" sz="2000" dirty="0"/>
              <a:t>These sensors measure acceleration forces and rotational forces along three axes. This category includes accelerometers, gravity sensors, gyroscopes, and rotational vector sensors.</a:t>
            </a:r>
          </a:p>
          <a:p>
            <a:pPr algn="just"/>
            <a:r>
              <a:rPr lang="en-GB" sz="2400" b="1" dirty="0"/>
              <a:t>Environmental sensors</a:t>
            </a:r>
          </a:p>
          <a:p>
            <a:pPr lvl="1" algn="just"/>
            <a:r>
              <a:rPr lang="en-GB" sz="2000" dirty="0"/>
              <a:t>These sensors measure various environmental parameters, such as ambient air temperature and pressure, illumination, and humidity. This category includes barometers, photometers, and thermometers.</a:t>
            </a:r>
          </a:p>
          <a:p>
            <a:pPr algn="just"/>
            <a:r>
              <a:rPr lang="en-GB" sz="2400" b="1" dirty="0"/>
              <a:t>Position sensors</a:t>
            </a:r>
          </a:p>
          <a:p>
            <a:pPr lvl="1" algn="just"/>
            <a:r>
              <a:rPr lang="en-GB" sz="2000" dirty="0"/>
              <a:t>These sensors measure the physical position of a device. This category includes orientation sensors and magnetometers.</a:t>
            </a:r>
          </a:p>
        </p:txBody>
      </p:sp>
      <p:pic>
        <p:nvPicPr>
          <p:cNvPr id="4" name="Picture 2" descr="Android Sensor - Tutorial ~ Tech Share">
            <a:extLst>
              <a:ext uri="{FF2B5EF4-FFF2-40B4-BE49-F238E27FC236}">
                <a16:creationId xmlns:a16="http://schemas.microsoft.com/office/drawing/2014/main" id="{544ACCB5-3EB0-4704-86B7-0F577D6535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4700" y="0"/>
            <a:ext cx="50673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8970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D8BAB-7109-4E53-84FD-3518A240C7EC}"/>
              </a:ext>
            </a:extLst>
          </p:cNvPr>
          <p:cNvSpPr>
            <a:spLocks noGrp="1"/>
          </p:cNvSpPr>
          <p:nvPr>
            <p:ph type="title"/>
          </p:nvPr>
        </p:nvSpPr>
        <p:spPr>
          <a:xfrm>
            <a:off x="677334" y="367553"/>
            <a:ext cx="8596668" cy="762000"/>
          </a:xfrm>
        </p:spPr>
        <p:txBody>
          <a:bodyPr>
            <a:normAutofit/>
          </a:bodyPr>
          <a:lstStyle/>
          <a:p>
            <a:r>
              <a:rPr lang="en-GB" sz="3600" dirty="0"/>
              <a:t>Sensor Framework</a:t>
            </a:r>
            <a:endParaRPr lang="en-IN" dirty="0"/>
          </a:p>
        </p:txBody>
      </p:sp>
      <p:sp>
        <p:nvSpPr>
          <p:cNvPr id="3" name="Content Placeholder 2">
            <a:extLst>
              <a:ext uri="{FF2B5EF4-FFF2-40B4-BE49-F238E27FC236}">
                <a16:creationId xmlns:a16="http://schemas.microsoft.com/office/drawing/2014/main" id="{D7AD0118-4386-4A3D-8EA8-097E6C5AAA54}"/>
              </a:ext>
            </a:extLst>
          </p:cNvPr>
          <p:cNvSpPr>
            <a:spLocks noGrp="1"/>
          </p:cNvSpPr>
          <p:nvPr>
            <p:ph idx="1"/>
          </p:nvPr>
        </p:nvSpPr>
        <p:spPr>
          <a:xfrm>
            <a:off x="677333" y="1030941"/>
            <a:ext cx="9775514" cy="5576047"/>
          </a:xfrm>
        </p:spPr>
        <p:txBody>
          <a:bodyPr>
            <a:normAutofit fontScale="92500"/>
          </a:bodyPr>
          <a:lstStyle/>
          <a:p>
            <a:pPr algn="just"/>
            <a:r>
              <a:rPr lang="en-GB" sz="2400" b="1" dirty="0" err="1"/>
              <a:t>SensorManager</a:t>
            </a:r>
            <a:r>
              <a:rPr lang="en-GB" sz="2400" b="1" dirty="0"/>
              <a:t> : </a:t>
            </a:r>
            <a:r>
              <a:rPr lang="en-GB" sz="2400" dirty="0"/>
              <a:t>You can use this class to create an instance of the sensor service. This class provides various methods for accessing and listing sensors, registering and unregistering sensor event listeners, and ac-quiring orientation information. This class also provides several sensor constants that are used to re-port sensor accuracy, set data acquisition rates, and calibrate sensors.</a:t>
            </a:r>
          </a:p>
          <a:p>
            <a:pPr algn="just"/>
            <a:r>
              <a:rPr lang="en-GB" sz="2400" b="1" dirty="0"/>
              <a:t>Sensor: </a:t>
            </a:r>
            <a:r>
              <a:rPr lang="en-GB" sz="2400" dirty="0"/>
              <a:t>You can use this class to create an instance of a specific sensor. This class provides various methods that let you determine a sensor's capabilities.</a:t>
            </a:r>
          </a:p>
          <a:p>
            <a:pPr algn="just"/>
            <a:r>
              <a:rPr lang="en-GB" sz="2400" b="1" dirty="0" err="1"/>
              <a:t>SensorEvent</a:t>
            </a:r>
            <a:r>
              <a:rPr lang="en-GB" sz="2400" b="1" dirty="0"/>
              <a:t>: </a:t>
            </a:r>
            <a:r>
              <a:rPr lang="en-GB" sz="2400" dirty="0"/>
              <a:t>The system uses this class to create a sensor event object, which provides information about a sensor event. A sensor event object includes the following information: the raw sensor data, the type of sensor that generated the event, the accuracy of the data, and the timestamp for the event.</a:t>
            </a:r>
          </a:p>
          <a:p>
            <a:pPr algn="just"/>
            <a:r>
              <a:rPr lang="en-GB" sz="2400" b="1" dirty="0" err="1"/>
              <a:t>SensorEventListener</a:t>
            </a:r>
            <a:r>
              <a:rPr lang="en-GB" sz="2400" b="1" dirty="0"/>
              <a:t> : </a:t>
            </a:r>
            <a:r>
              <a:rPr lang="en-GB" sz="2400" dirty="0"/>
              <a:t>You can use this interface to create two </a:t>
            </a:r>
            <a:r>
              <a:rPr lang="en-GB" sz="2400" dirty="0" err="1"/>
              <a:t>callback</a:t>
            </a:r>
            <a:r>
              <a:rPr lang="en-GB" sz="2400" dirty="0"/>
              <a:t> methods that receive notifications (sensor events) when sensor values change or when sensor accuracy changes.</a:t>
            </a:r>
          </a:p>
        </p:txBody>
      </p:sp>
    </p:spTree>
    <p:extLst>
      <p:ext uri="{BB962C8B-B14F-4D97-AF65-F5344CB8AC3E}">
        <p14:creationId xmlns:p14="http://schemas.microsoft.com/office/powerpoint/2010/main" val="2270602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B6E8D-0739-435D-BA5E-D4D43E120AF2}"/>
              </a:ext>
            </a:extLst>
          </p:cNvPr>
          <p:cNvSpPr>
            <a:spLocks noGrp="1"/>
          </p:cNvSpPr>
          <p:nvPr>
            <p:ph type="title"/>
          </p:nvPr>
        </p:nvSpPr>
        <p:spPr>
          <a:xfrm>
            <a:off x="677334" y="609600"/>
            <a:ext cx="8596668" cy="779929"/>
          </a:xfrm>
        </p:spPr>
        <p:txBody>
          <a:bodyPr/>
          <a:lstStyle/>
          <a:p>
            <a:r>
              <a:rPr lang="en-IN" dirty="0"/>
              <a:t>Sensor availability by platform.</a:t>
            </a:r>
          </a:p>
        </p:txBody>
      </p:sp>
      <p:graphicFrame>
        <p:nvGraphicFramePr>
          <p:cNvPr id="4" name="Content Placeholder 3">
            <a:extLst>
              <a:ext uri="{FF2B5EF4-FFF2-40B4-BE49-F238E27FC236}">
                <a16:creationId xmlns:a16="http://schemas.microsoft.com/office/drawing/2014/main" id="{2C8A0F4D-6B6C-41A3-A753-B094C7BAE1D9}"/>
              </a:ext>
            </a:extLst>
          </p:cNvPr>
          <p:cNvGraphicFramePr>
            <a:graphicFrameLocks noGrp="1"/>
          </p:cNvGraphicFramePr>
          <p:nvPr>
            <p:ph idx="1"/>
            <p:extLst>
              <p:ext uri="{D42A27DB-BD31-4B8C-83A1-F6EECF244321}">
                <p14:modId xmlns:p14="http://schemas.microsoft.com/office/powerpoint/2010/main" val="61810547"/>
              </p:ext>
            </p:extLst>
          </p:nvPr>
        </p:nvGraphicFramePr>
        <p:xfrm>
          <a:off x="275689" y="1389529"/>
          <a:ext cx="8998313" cy="5357906"/>
        </p:xfrm>
        <a:graphic>
          <a:graphicData uri="http://schemas.openxmlformats.org/drawingml/2006/table">
            <a:tbl>
              <a:tblPr firstRow="1" firstCol="1" bandRow="1">
                <a:tableStyleId>{5C22544A-7EE6-4342-B048-85BDC9FD1C3A}</a:tableStyleId>
              </a:tblPr>
              <a:tblGrid>
                <a:gridCol w="3128683">
                  <a:extLst>
                    <a:ext uri="{9D8B030D-6E8A-4147-A177-3AD203B41FA5}">
                      <a16:colId xmlns:a16="http://schemas.microsoft.com/office/drawing/2014/main" val="1113224799"/>
                    </a:ext>
                  </a:extLst>
                </a:gridCol>
                <a:gridCol w="1381760">
                  <a:extLst>
                    <a:ext uri="{9D8B030D-6E8A-4147-A177-3AD203B41FA5}">
                      <a16:colId xmlns:a16="http://schemas.microsoft.com/office/drawing/2014/main" val="1459022186"/>
                    </a:ext>
                  </a:extLst>
                </a:gridCol>
                <a:gridCol w="1381760">
                  <a:extLst>
                    <a:ext uri="{9D8B030D-6E8A-4147-A177-3AD203B41FA5}">
                      <a16:colId xmlns:a16="http://schemas.microsoft.com/office/drawing/2014/main" val="2270803580"/>
                    </a:ext>
                  </a:extLst>
                </a:gridCol>
                <a:gridCol w="1381760">
                  <a:extLst>
                    <a:ext uri="{9D8B030D-6E8A-4147-A177-3AD203B41FA5}">
                      <a16:colId xmlns:a16="http://schemas.microsoft.com/office/drawing/2014/main" val="1454444804"/>
                    </a:ext>
                  </a:extLst>
                </a:gridCol>
                <a:gridCol w="1724350">
                  <a:extLst>
                    <a:ext uri="{9D8B030D-6E8A-4147-A177-3AD203B41FA5}">
                      <a16:colId xmlns:a16="http://schemas.microsoft.com/office/drawing/2014/main" val="3401386262"/>
                    </a:ext>
                  </a:extLst>
                </a:gridCol>
              </a:tblGrid>
              <a:tr h="572195">
                <a:tc>
                  <a:txBody>
                    <a:bodyPr/>
                    <a:lstStyle/>
                    <a:p>
                      <a:pPr>
                        <a:lnSpc>
                          <a:spcPct val="115000"/>
                        </a:lnSpc>
                        <a:spcAft>
                          <a:spcPts val="1000"/>
                        </a:spcAft>
                      </a:pPr>
                      <a:r>
                        <a:rPr lang="en-US" sz="1600" b="1" dirty="0">
                          <a:effectLst/>
                        </a:rPr>
                        <a:t>Sensor</a:t>
                      </a:r>
                      <a:endParaRPr lang="en-IN" sz="2400" b="1"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600" b="1" dirty="0">
                          <a:effectLst/>
                        </a:rPr>
                        <a:t>Android 4.0 </a:t>
                      </a:r>
                      <a:br>
                        <a:rPr lang="en-US" sz="1600" b="1" dirty="0">
                          <a:effectLst/>
                        </a:rPr>
                      </a:br>
                      <a:r>
                        <a:rPr lang="en-US" sz="1600" b="1" dirty="0">
                          <a:effectLst/>
                        </a:rPr>
                        <a:t>(API 14)</a:t>
                      </a:r>
                      <a:endParaRPr lang="en-IN" sz="2400" b="1"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600" b="1" dirty="0">
                          <a:effectLst/>
                        </a:rPr>
                        <a:t>Android 2.3 </a:t>
                      </a:r>
                      <a:br>
                        <a:rPr lang="en-US" sz="1600" b="1" dirty="0">
                          <a:effectLst/>
                        </a:rPr>
                      </a:br>
                      <a:r>
                        <a:rPr lang="en-US" sz="1600" b="1" dirty="0">
                          <a:effectLst/>
                        </a:rPr>
                        <a:t>(API 9)</a:t>
                      </a:r>
                      <a:endParaRPr lang="en-IN" sz="2400" b="1"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600" b="1" dirty="0">
                          <a:effectLst/>
                        </a:rPr>
                        <a:t>Android 2.2 </a:t>
                      </a:r>
                      <a:br>
                        <a:rPr lang="en-US" sz="1600" b="1" dirty="0">
                          <a:effectLst/>
                        </a:rPr>
                      </a:br>
                      <a:r>
                        <a:rPr lang="en-US" sz="1600" b="1" dirty="0">
                          <a:effectLst/>
                        </a:rPr>
                        <a:t>(API 8)</a:t>
                      </a:r>
                      <a:endParaRPr lang="en-IN" sz="2400" b="1"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600" b="1" dirty="0">
                          <a:effectLst/>
                        </a:rPr>
                        <a:t>Android 1.5 </a:t>
                      </a:r>
                      <a:br>
                        <a:rPr lang="en-US" sz="1600" b="1" dirty="0">
                          <a:effectLst/>
                        </a:rPr>
                      </a:br>
                      <a:r>
                        <a:rPr lang="en-US" sz="1600" b="1" dirty="0">
                          <a:effectLst/>
                        </a:rPr>
                        <a:t>(API 3)</a:t>
                      </a:r>
                      <a:endParaRPr lang="en-IN" sz="2400" b="1"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989301340"/>
                  </a:ext>
                </a:extLst>
              </a:tr>
              <a:tr h="316161">
                <a:tc>
                  <a:txBody>
                    <a:bodyPr/>
                    <a:lstStyle/>
                    <a:p>
                      <a:pPr>
                        <a:lnSpc>
                          <a:spcPct val="115000"/>
                        </a:lnSpc>
                        <a:spcAft>
                          <a:spcPts val="1000"/>
                        </a:spcAft>
                      </a:pPr>
                      <a:r>
                        <a:rPr lang="en-US" sz="1600">
                          <a:effectLst/>
                        </a:rPr>
                        <a:t>TYPE_ACCELEROMETER</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2894406752"/>
                  </a:ext>
                </a:extLst>
              </a:tr>
              <a:tr h="653970">
                <a:tc>
                  <a:txBody>
                    <a:bodyPr/>
                    <a:lstStyle/>
                    <a:p>
                      <a:pPr>
                        <a:lnSpc>
                          <a:spcPct val="115000"/>
                        </a:lnSpc>
                        <a:spcAft>
                          <a:spcPts val="1000"/>
                        </a:spcAft>
                      </a:pPr>
                      <a:r>
                        <a:rPr lang="en-US" sz="1600" dirty="0">
                          <a:effectLst/>
                        </a:rPr>
                        <a:t>TYPE_AMBIENT_TEMPERATURE</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dirty="0">
                          <a:effectLst/>
                        </a:rPr>
                        <a:t>n/a</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n/a</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dirty="0">
                          <a:effectLst/>
                        </a:rPr>
                        <a:t>n/a</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733708386"/>
                  </a:ext>
                </a:extLst>
              </a:tr>
              <a:tr h="316161">
                <a:tc>
                  <a:txBody>
                    <a:bodyPr/>
                    <a:lstStyle/>
                    <a:p>
                      <a:pPr>
                        <a:lnSpc>
                          <a:spcPct val="115000"/>
                        </a:lnSpc>
                        <a:spcAft>
                          <a:spcPts val="1000"/>
                        </a:spcAft>
                      </a:pPr>
                      <a:r>
                        <a:rPr lang="en-US" sz="1600">
                          <a:effectLst/>
                        </a:rPr>
                        <a:t>TYPE_GRAVITY</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dirty="0">
                          <a:effectLst/>
                        </a:rPr>
                        <a:t>Yes</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n/a</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n/a</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4115269660"/>
                  </a:ext>
                </a:extLst>
              </a:tr>
              <a:tr h="316161">
                <a:tc>
                  <a:txBody>
                    <a:bodyPr/>
                    <a:lstStyle/>
                    <a:p>
                      <a:pPr>
                        <a:lnSpc>
                          <a:spcPct val="115000"/>
                        </a:lnSpc>
                        <a:spcAft>
                          <a:spcPts val="1000"/>
                        </a:spcAft>
                      </a:pPr>
                      <a:r>
                        <a:rPr lang="en-US" sz="1600">
                          <a:effectLst/>
                        </a:rPr>
                        <a:t>TYPE_GYROSCOPE</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dirty="0">
                          <a:effectLst/>
                        </a:rPr>
                        <a:t>n/a</a:t>
                      </a:r>
                      <a:r>
                        <a:rPr lang="en-US" sz="1100" baseline="30000" dirty="0">
                          <a:effectLst/>
                        </a:rPr>
                        <a:t>1</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dirty="0">
                          <a:effectLst/>
                        </a:rPr>
                        <a:t>n/a</a:t>
                      </a:r>
                      <a:r>
                        <a:rPr lang="en-US" sz="1100" baseline="30000" dirty="0">
                          <a:effectLst/>
                        </a:rPr>
                        <a:t>1</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1464326143"/>
                  </a:ext>
                </a:extLst>
              </a:tr>
              <a:tr h="316161">
                <a:tc>
                  <a:txBody>
                    <a:bodyPr/>
                    <a:lstStyle/>
                    <a:p>
                      <a:pPr>
                        <a:lnSpc>
                          <a:spcPct val="115000"/>
                        </a:lnSpc>
                        <a:spcAft>
                          <a:spcPts val="1000"/>
                        </a:spcAft>
                      </a:pPr>
                      <a:r>
                        <a:rPr lang="en-US" sz="1600">
                          <a:effectLst/>
                        </a:rPr>
                        <a:t>TYPE_LIGHT</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3227052718"/>
                  </a:ext>
                </a:extLst>
              </a:tr>
              <a:tr h="653970">
                <a:tc>
                  <a:txBody>
                    <a:bodyPr/>
                    <a:lstStyle/>
                    <a:p>
                      <a:pPr>
                        <a:lnSpc>
                          <a:spcPct val="115000"/>
                        </a:lnSpc>
                        <a:spcAft>
                          <a:spcPts val="1000"/>
                        </a:spcAft>
                      </a:pPr>
                      <a:r>
                        <a:rPr lang="en-US" sz="1600">
                          <a:effectLst/>
                        </a:rPr>
                        <a:t>TYPE_LINEAR_ACCELERATION</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dirty="0">
                          <a:effectLst/>
                        </a:rPr>
                        <a:t>n/a</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n/a</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711946905"/>
                  </a:ext>
                </a:extLst>
              </a:tr>
              <a:tr h="316161">
                <a:tc>
                  <a:txBody>
                    <a:bodyPr/>
                    <a:lstStyle/>
                    <a:p>
                      <a:pPr>
                        <a:lnSpc>
                          <a:spcPct val="115000"/>
                        </a:lnSpc>
                        <a:spcAft>
                          <a:spcPts val="1000"/>
                        </a:spcAft>
                      </a:pPr>
                      <a:r>
                        <a:rPr lang="en-US" sz="1600">
                          <a:effectLst/>
                        </a:rPr>
                        <a:t>TYPE_MAGNETIC_FIELD</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4240168221"/>
                  </a:ext>
                </a:extLst>
              </a:tr>
              <a:tr h="316161">
                <a:tc>
                  <a:txBody>
                    <a:bodyPr/>
                    <a:lstStyle/>
                    <a:p>
                      <a:pPr>
                        <a:lnSpc>
                          <a:spcPct val="115000"/>
                        </a:lnSpc>
                        <a:spcAft>
                          <a:spcPts val="1000"/>
                        </a:spcAft>
                      </a:pPr>
                      <a:r>
                        <a:rPr lang="en-US" sz="1600">
                          <a:effectLst/>
                        </a:rPr>
                        <a:t>TYPE_ORIENTATION</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r>
                        <a:rPr lang="en-US" sz="1100" baseline="30000">
                          <a:effectLst/>
                        </a:rPr>
                        <a:t>2</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r>
                        <a:rPr lang="en-US" sz="1100" baseline="30000">
                          <a:effectLst/>
                        </a:rPr>
                        <a:t>2</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r>
                        <a:rPr lang="en-US" sz="1100" baseline="30000">
                          <a:effectLst/>
                        </a:rPr>
                        <a:t>2</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2379240190"/>
                  </a:ext>
                </a:extLst>
              </a:tr>
              <a:tr h="316161">
                <a:tc>
                  <a:txBody>
                    <a:bodyPr/>
                    <a:lstStyle/>
                    <a:p>
                      <a:pPr>
                        <a:lnSpc>
                          <a:spcPct val="115000"/>
                        </a:lnSpc>
                        <a:spcAft>
                          <a:spcPts val="1000"/>
                        </a:spcAft>
                      </a:pPr>
                      <a:r>
                        <a:rPr lang="en-US" sz="1600">
                          <a:effectLst/>
                        </a:rPr>
                        <a:t>TYPE_PRESSURE</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n/a</a:t>
                      </a:r>
                      <a:r>
                        <a:rPr lang="en-US" sz="1100" baseline="30000">
                          <a:effectLst/>
                        </a:rPr>
                        <a:t>1</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n/a</a:t>
                      </a:r>
                      <a:r>
                        <a:rPr lang="en-US" sz="1100" baseline="30000">
                          <a:effectLst/>
                        </a:rPr>
                        <a:t>1</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2343119642"/>
                  </a:ext>
                </a:extLst>
              </a:tr>
              <a:tr h="316161">
                <a:tc>
                  <a:txBody>
                    <a:bodyPr/>
                    <a:lstStyle/>
                    <a:p>
                      <a:pPr>
                        <a:lnSpc>
                          <a:spcPct val="115000"/>
                        </a:lnSpc>
                        <a:spcAft>
                          <a:spcPts val="1000"/>
                        </a:spcAft>
                      </a:pPr>
                      <a:r>
                        <a:rPr lang="en-US" sz="1600">
                          <a:effectLst/>
                        </a:rPr>
                        <a:t>TYPE_PROXIMITY</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2978934396"/>
                  </a:ext>
                </a:extLst>
              </a:tr>
              <a:tr h="316161">
                <a:tc>
                  <a:txBody>
                    <a:bodyPr/>
                    <a:lstStyle/>
                    <a:p>
                      <a:pPr>
                        <a:lnSpc>
                          <a:spcPct val="115000"/>
                        </a:lnSpc>
                        <a:spcAft>
                          <a:spcPts val="1000"/>
                        </a:spcAft>
                      </a:pPr>
                      <a:r>
                        <a:rPr lang="en-US" sz="1600">
                          <a:effectLst/>
                        </a:rPr>
                        <a:t>TYPE_RELATIVE_HUMIDITY</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n/a</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n/a</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n/a</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1305150144"/>
                  </a:ext>
                </a:extLst>
              </a:tr>
              <a:tr h="316161">
                <a:tc>
                  <a:txBody>
                    <a:bodyPr/>
                    <a:lstStyle/>
                    <a:p>
                      <a:pPr>
                        <a:lnSpc>
                          <a:spcPct val="115000"/>
                        </a:lnSpc>
                        <a:spcAft>
                          <a:spcPts val="1000"/>
                        </a:spcAft>
                      </a:pPr>
                      <a:r>
                        <a:rPr lang="en-US" sz="1600">
                          <a:effectLst/>
                        </a:rPr>
                        <a:t>TYPE_ROTATION_VECTOR</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n/a</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n/a</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2828989529"/>
                  </a:ext>
                </a:extLst>
              </a:tr>
              <a:tr h="316161">
                <a:tc>
                  <a:txBody>
                    <a:bodyPr/>
                    <a:lstStyle/>
                    <a:p>
                      <a:pPr>
                        <a:lnSpc>
                          <a:spcPct val="115000"/>
                        </a:lnSpc>
                        <a:spcAft>
                          <a:spcPts val="1000"/>
                        </a:spcAft>
                      </a:pPr>
                      <a:r>
                        <a:rPr lang="en-US" sz="1600">
                          <a:effectLst/>
                        </a:rPr>
                        <a:t>TYPE_TEMPERATURE</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r>
                        <a:rPr lang="en-US" sz="1100" baseline="30000">
                          <a:effectLst/>
                        </a:rPr>
                        <a:t>2</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a:effectLst/>
                        </a:rPr>
                        <a:t>Yes</a:t>
                      </a:r>
                      <a:endParaRPr lang="en-IN" sz="20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400" dirty="0">
                          <a:effectLst/>
                        </a:rPr>
                        <a:t>Yes</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3868710571"/>
                  </a:ext>
                </a:extLst>
              </a:tr>
            </a:tbl>
          </a:graphicData>
        </a:graphic>
      </p:graphicFrame>
    </p:spTree>
    <p:extLst>
      <p:ext uri="{BB962C8B-B14F-4D97-AF65-F5344CB8AC3E}">
        <p14:creationId xmlns:p14="http://schemas.microsoft.com/office/powerpoint/2010/main" val="1456061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D3A66-8295-4FA9-A26E-2DF25ADD37DC}"/>
              </a:ext>
            </a:extLst>
          </p:cNvPr>
          <p:cNvSpPr>
            <a:spLocks noGrp="1"/>
          </p:cNvSpPr>
          <p:nvPr>
            <p:ph type="title"/>
          </p:nvPr>
        </p:nvSpPr>
        <p:spPr>
          <a:xfrm>
            <a:off x="677333" y="216694"/>
            <a:ext cx="8596668" cy="796318"/>
          </a:xfrm>
        </p:spPr>
        <p:txBody>
          <a:bodyPr>
            <a:normAutofit/>
          </a:bodyPr>
          <a:lstStyle/>
          <a:p>
            <a:r>
              <a:rPr lang="en-GB" sz="3600" dirty="0"/>
              <a:t>Introduction to JSON Parsing</a:t>
            </a:r>
            <a:endParaRPr lang="en-IN" dirty="0"/>
          </a:p>
        </p:txBody>
      </p:sp>
      <p:sp>
        <p:nvSpPr>
          <p:cNvPr id="3" name="Content Placeholder 2">
            <a:extLst>
              <a:ext uri="{FF2B5EF4-FFF2-40B4-BE49-F238E27FC236}">
                <a16:creationId xmlns:a16="http://schemas.microsoft.com/office/drawing/2014/main" id="{125C10CF-0973-47C2-BA04-533CD5C23D03}"/>
              </a:ext>
            </a:extLst>
          </p:cNvPr>
          <p:cNvSpPr>
            <a:spLocks noGrp="1"/>
          </p:cNvSpPr>
          <p:nvPr>
            <p:ph idx="1"/>
          </p:nvPr>
        </p:nvSpPr>
        <p:spPr>
          <a:xfrm>
            <a:off x="677333" y="878541"/>
            <a:ext cx="9219701" cy="2783493"/>
          </a:xfrm>
        </p:spPr>
        <p:txBody>
          <a:bodyPr>
            <a:normAutofit/>
          </a:bodyPr>
          <a:lstStyle/>
          <a:p>
            <a:pPr algn="just"/>
            <a:r>
              <a:rPr lang="en-GB" sz="2400" dirty="0"/>
              <a:t>Problem JSON stands for JavaScript Object Notation and is a simpler format than XML for data interchange.</a:t>
            </a:r>
          </a:p>
          <a:p>
            <a:pPr algn="just"/>
            <a:r>
              <a:rPr lang="en-GB" sz="2400" dirty="0"/>
              <a:t>Many websites provide data in JSON, and many applications need to parse JSON and provide that data in the application.</a:t>
            </a:r>
          </a:p>
          <a:p>
            <a:pPr algn="just"/>
            <a:r>
              <a:rPr lang="en-GB" sz="2400" dirty="0"/>
              <a:t>Using built-in classes such as </a:t>
            </a:r>
            <a:r>
              <a:rPr lang="en-GB" sz="2400" b="1" dirty="0" err="1"/>
              <a:t>JSONObject</a:t>
            </a:r>
            <a:r>
              <a:rPr lang="en-GB" sz="2400" dirty="0"/>
              <a:t>, </a:t>
            </a:r>
            <a:r>
              <a:rPr lang="en-GB" sz="2400" b="1" dirty="0" err="1"/>
              <a:t>JSONArray</a:t>
            </a:r>
            <a:r>
              <a:rPr lang="en-GB" sz="2400" dirty="0"/>
              <a:t> simplifies the process of parsing </a:t>
            </a:r>
            <a:r>
              <a:rPr lang="en-GB" sz="2400" b="1" dirty="0"/>
              <a:t>JSON</a:t>
            </a:r>
            <a:r>
              <a:rPr lang="en-GB" sz="2400" dirty="0"/>
              <a:t> and retrieving the data values contained in it.</a:t>
            </a:r>
            <a:endParaRPr lang="en-IN" sz="2400" dirty="0"/>
          </a:p>
        </p:txBody>
      </p:sp>
      <p:pic>
        <p:nvPicPr>
          <p:cNvPr id="6" name="Picture 5" descr="JSON,JSON in android,JSON in android application, what is JSON,JSON Syntax,how to use JSON in android, JSONObject,JSONObject in android,JSONObject in androd application, JSONArray,JSONArray in android,JSONArray in android application, how to use JSONObject in android,how to use JSONObject in android application, how to use JSONArray in android,How to use JSONArray in android application, Name/value pairs in android,JSON Parser,JSON parser in android, JSON parser in android application,how to parse data using json in android,how to use JSON parser in android application,TextView in android application, how to display data from JSON parser in textview,android json,android json parser,android json parser tutorial,json parser tutorial,">
            <a:extLst>
              <a:ext uri="{FF2B5EF4-FFF2-40B4-BE49-F238E27FC236}">
                <a16:creationId xmlns:a16="http://schemas.microsoft.com/office/drawing/2014/main" id="{AF0243BE-8DB3-45B3-A37F-2765CBFE7230}"/>
              </a:ext>
            </a:extLst>
          </p:cNvPr>
          <p:cNvPicPr/>
          <p:nvPr/>
        </p:nvPicPr>
        <p:blipFill>
          <a:blip r:embed="rId2"/>
          <a:srcRect/>
          <a:stretch>
            <a:fillRect/>
          </a:stretch>
        </p:blipFill>
        <p:spPr bwMode="auto">
          <a:xfrm>
            <a:off x="453216" y="3736564"/>
            <a:ext cx="6013357" cy="2995930"/>
          </a:xfrm>
          <a:prstGeom prst="rect">
            <a:avLst/>
          </a:prstGeom>
          <a:noFill/>
          <a:ln w="9525">
            <a:noFill/>
            <a:miter lim="800000"/>
            <a:headEnd/>
            <a:tailEnd/>
          </a:ln>
        </p:spPr>
      </p:pic>
      <p:pic>
        <p:nvPicPr>
          <p:cNvPr id="7" name="Picture 6" descr="Related image">
            <a:extLst>
              <a:ext uri="{FF2B5EF4-FFF2-40B4-BE49-F238E27FC236}">
                <a16:creationId xmlns:a16="http://schemas.microsoft.com/office/drawing/2014/main" id="{F5A8CC1D-DD21-410C-9F90-8E3973C257EE}"/>
              </a:ext>
            </a:extLst>
          </p:cNvPr>
          <p:cNvPicPr/>
          <p:nvPr/>
        </p:nvPicPr>
        <p:blipFill>
          <a:blip r:embed="rId3"/>
          <a:srcRect l="6545" t="871" r="1091" b="10450"/>
          <a:stretch>
            <a:fillRect/>
          </a:stretch>
        </p:blipFill>
        <p:spPr bwMode="auto">
          <a:xfrm>
            <a:off x="6690691" y="3736564"/>
            <a:ext cx="5501309" cy="3121436"/>
          </a:xfrm>
          <a:prstGeom prst="rect">
            <a:avLst/>
          </a:prstGeom>
          <a:noFill/>
          <a:ln w="9525">
            <a:noFill/>
            <a:miter lim="800000"/>
            <a:headEnd/>
            <a:tailEnd/>
          </a:ln>
        </p:spPr>
      </p:pic>
    </p:spTree>
    <p:extLst>
      <p:ext uri="{BB962C8B-B14F-4D97-AF65-F5344CB8AC3E}">
        <p14:creationId xmlns:p14="http://schemas.microsoft.com/office/powerpoint/2010/main" val="2473672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257597-4D45-4B41-8E2D-EF48FE096B75}"/>
              </a:ext>
            </a:extLst>
          </p:cNvPr>
          <p:cNvSpPr>
            <a:spLocks noGrp="1"/>
          </p:cNvSpPr>
          <p:nvPr>
            <p:ph idx="1"/>
          </p:nvPr>
        </p:nvSpPr>
        <p:spPr>
          <a:xfrm>
            <a:off x="0" y="295930"/>
            <a:ext cx="9699812" cy="4305214"/>
          </a:xfrm>
        </p:spPr>
        <p:txBody>
          <a:bodyPr>
            <a:normAutofit fontScale="92500" lnSpcReduction="20000"/>
          </a:bodyPr>
          <a:lstStyle/>
          <a:p>
            <a:pPr indent="457200" algn="just"/>
            <a:r>
              <a:rPr lang="en-US" sz="2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 a real application you would likely obtain the JSON data from some web service. In such method we make use of a </a:t>
            </a:r>
            <a:r>
              <a:rPr lang="en-US" sz="24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JSONObject</a:t>
            </a:r>
            <a:r>
              <a:rPr lang="en-US" sz="2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class object to put in values and then to return the corresponding string </a:t>
            </a:r>
            <a:r>
              <a:rPr lang="en-US" sz="2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(using the </a:t>
            </a:r>
            <a:r>
              <a:rPr lang="en-US" sz="2400" i="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toString</a:t>
            </a:r>
            <a:r>
              <a:rPr lang="en-US" sz="2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method).</a:t>
            </a:r>
            <a:r>
              <a:rPr lang="en-US" sz="2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pPr indent="457200" algn="just"/>
            <a:r>
              <a:rPr lang="en-US" sz="2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Creating an object of type </a:t>
            </a:r>
            <a:r>
              <a:rPr lang="en-US" sz="24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JSONObject</a:t>
            </a:r>
            <a:r>
              <a:rPr lang="en-US" sz="2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can throw a </a:t>
            </a:r>
            <a:r>
              <a:rPr lang="en-US" sz="24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JSONException</a:t>
            </a:r>
            <a:r>
              <a:rPr lang="en-US" sz="2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so we enclose the code in a try-catch block</a:t>
            </a:r>
            <a:endParaRPr lang="en-IN" sz="2400" dirty="0">
              <a:effectLst/>
              <a:latin typeface="Calibri" panose="020F0502020204030204" pitchFamily="34" charset="0"/>
              <a:ea typeface="Calibri" panose="020F0502020204030204" pitchFamily="34" charset="0"/>
              <a:cs typeface="Calibri" panose="020F0502020204030204" pitchFamily="34" charset="0"/>
            </a:endParaRPr>
          </a:p>
          <a:p>
            <a:pPr indent="457200" algn="just">
              <a:lnSpc>
                <a:spcPct val="115000"/>
              </a:lnSpc>
              <a:spcAft>
                <a:spcPts val="1000"/>
              </a:spcAft>
            </a:pPr>
            <a:r>
              <a:rPr lang="en-US" sz="2400" dirty="0">
                <a:effectLst/>
                <a:latin typeface="Calibri" panose="020F0502020204030204" pitchFamily="34" charset="0"/>
                <a:ea typeface="Calibri" panose="020F0502020204030204" pitchFamily="34" charset="0"/>
                <a:cs typeface="Calibri" panose="020F0502020204030204" pitchFamily="34" charset="0"/>
              </a:rPr>
              <a:t>We need to instantiate an object of class </a:t>
            </a:r>
            <a:r>
              <a:rPr lang="en-US" sz="2400" b="1" dirty="0" err="1">
                <a:effectLst/>
                <a:latin typeface="Calibri" panose="020F0502020204030204" pitchFamily="34" charset="0"/>
                <a:ea typeface="Calibri" panose="020F0502020204030204" pitchFamily="34" charset="0"/>
                <a:cs typeface="Calibri" panose="020F0502020204030204" pitchFamily="34" charset="0"/>
              </a:rPr>
              <a:t>JSONObject</a:t>
            </a:r>
            <a:r>
              <a:rPr lang="en-US" sz="2400" dirty="0">
                <a:effectLst/>
                <a:latin typeface="Calibri" panose="020F0502020204030204" pitchFamily="34" charset="0"/>
                <a:ea typeface="Calibri" panose="020F0502020204030204" pitchFamily="34" charset="0"/>
                <a:cs typeface="Calibri" panose="020F0502020204030204" pitchFamily="34" charset="0"/>
              </a:rPr>
              <a:t> that takes the JSON string as an argument. In this case, the JSON string is being obtained from the </a:t>
            </a:r>
            <a:r>
              <a:rPr lang="en-US" sz="2400" b="1" dirty="0" err="1">
                <a:effectLst/>
                <a:latin typeface="Calibri" panose="020F0502020204030204" pitchFamily="34" charset="0"/>
                <a:ea typeface="Calibri" panose="020F0502020204030204" pitchFamily="34" charset="0"/>
                <a:cs typeface="Calibri" panose="020F0502020204030204" pitchFamily="34" charset="0"/>
              </a:rPr>
              <a:t>getJsonString</a:t>
            </a:r>
            <a:r>
              <a:rPr lang="en-US" sz="2400" dirty="0">
                <a:effectLst/>
                <a:latin typeface="Calibri" panose="020F0502020204030204" pitchFamily="34" charset="0"/>
                <a:ea typeface="Calibri" panose="020F0502020204030204" pitchFamily="34" charset="0"/>
                <a:cs typeface="Calibri" panose="020F0502020204030204" pitchFamily="34" charset="0"/>
              </a:rPr>
              <a:t> method. From the </a:t>
            </a:r>
            <a:r>
              <a:rPr lang="en-US" sz="2400" b="1" dirty="0" err="1">
                <a:effectLst/>
                <a:latin typeface="Calibri" panose="020F0502020204030204" pitchFamily="34" charset="0"/>
                <a:ea typeface="Calibri" panose="020F0502020204030204" pitchFamily="34" charset="0"/>
                <a:cs typeface="Calibri" panose="020F0502020204030204" pitchFamily="34" charset="0"/>
              </a:rPr>
              <a:t>JSONObject</a:t>
            </a:r>
            <a:r>
              <a:rPr lang="en-US" sz="2400" dirty="0">
                <a:effectLst/>
                <a:latin typeface="Calibri" panose="020F0502020204030204" pitchFamily="34" charset="0"/>
                <a:ea typeface="Calibri" panose="020F0502020204030204" pitchFamily="34" charset="0"/>
                <a:cs typeface="Calibri" panose="020F0502020204030204" pitchFamily="34" charset="0"/>
              </a:rPr>
              <a:t> we extract the information and print it in any container.</a:t>
            </a:r>
            <a:endParaRPr lang="en-IN" sz="2400" dirty="0">
              <a:effectLst/>
              <a:latin typeface="Calibri" panose="020F0502020204030204" pitchFamily="34" charset="0"/>
              <a:ea typeface="Calibri" panose="020F0502020204030204" pitchFamily="34" charset="0"/>
              <a:cs typeface="Calibri" panose="020F0502020204030204" pitchFamily="34" charset="0"/>
            </a:endParaRPr>
          </a:p>
          <a:p>
            <a:pPr indent="457200" algn="just">
              <a:lnSpc>
                <a:spcPct val="115000"/>
              </a:lnSpc>
              <a:spcAft>
                <a:spcPts val="1000"/>
              </a:spcAft>
            </a:pPr>
            <a:r>
              <a:rPr lang="en-US" sz="2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Android provides four different classes to manipulate JSON data. These classes are </a:t>
            </a:r>
            <a:r>
              <a:rPr lang="en-US" sz="26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JSONArray</a:t>
            </a:r>
            <a:r>
              <a:rPr lang="en-US" sz="2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26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JSONObject</a:t>
            </a:r>
            <a:r>
              <a:rPr lang="en-US" sz="2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26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JSONStringer</a:t>
            </a:r>
            <a:r>
              <a:rPr lang="en-US" sz="2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and </a:t>
            </a:r>
            <a:r>
              <a:rPr lang="en-US" sz="26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JSONTokenizer</a:t>
            </a:r>
            <a:r>
              <a:rPr lang="en-US" sz="2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en-IN" sz="2600" dirty="0">
              <a:effectLst/>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5" name="Table 4">
            <a:extLst>
              <a:ext uri="{FF2B5EF4-FFF2-40B4-BE49-F238E27FC236}">
                <a16:creationId xmlns:a16="http://schemas.microsoft.com/office/drawing/2014/main" id="{82C0712D-220A-4EAA-8585-921A07C0D7E1}"/>
              </a:ext>
            </a:extLst>
          </p:cNvPr>
          <p:cNvGraphicFramePr>
            <a:graphicFrameLocks noGrp="1"/>
          </p:cNvGraphicFramePr>
          <p:nvPr>
            <p:extLst>
              <p:ext uri="{D42A27DB-BD31-4B8C-83A1-F6EECF244321}">
                <p14:modId xmlns:p14="http://schemas.microsoft.com/office/powerpoint/2010/main" val="2463324586"/>
              </p:ext>
            </p:extLst>
          </p:nvPr>
        </p:nvGraphicFramePr>
        <p:xfrm>
          <a:off x="0" y="4601144"/>
          <a:ext cx="11640172" cy="1913700"/>
        </p:xfrm>
        <a:graphic>
          <a:graphicData uri="http://schemas.openxmlformats.org/drawingml/2006/table">
            <a:tbl>
              <a:tblPr firstRow="1" firstCol="1" bandRow="1">
                <a:tableStyleId>{5C22544A-7EE6-4342-B048-85BDC9FD1C3A}</a:tableStyleId>
              </a:tblPr>
              <a:tblGrid>
                <a:gridCol w="1341248">
                  <a:extLst>
                    <a:ext uri="{9D8B030D-6E8A-4147-A177-3AD203B41FA5}">
                      <a16:colId xmlns:a16="http://schemas.microsoft.com/office/drawing/2014/main" val="2487940696"/>
                    </a:ext>
                  </a:extLst>
                </a:gridCol>
                <a:gridCol w="10298924">
                  <a:extLst>
                    <a:ext uri="{9D8B030D-6E8A-4147-A177-3AD203B41FA5}">
                      <a16:colId xmlns:a16="http://schemas.microsoft.com/office/drawing/2014/main" val="2703448135"/>
                    </a:ext>
                  </a:extLst>
                </a:gridCol>
              </a:tblGrid>
              <a:tr h="0">
                <a:tc>
                  <a:txBody>
                    <a:bodyPr/>
                    <a:lstStyle/>
                    <a:p>
                      <a:pPr algn="ctr">
                        <a:lnSpc>
                          <a:spcPct val="115000"/>
                        </a:lnSpc>
                        <a:spcAft>
                          <a:spcPts val="1000"/>
                        </a:spcAft>
                      </a:pPr>
                      <a:endParaRPr lang="en-IN" sz="36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2000" dirty="0">
                          <a:effectLst/>
                        </a:rPr>
                        <a:t>Component &amp; description</a:t>
                      </a:r>
                      <a:endParaRPr lang="en-IN" sz="36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4082190716"/>
                  </a:ext>
                </a:extLst>
              </a:tr>
              <a:tr h="226122">
                <a:tc>
                  <a:txBody>
                    <a:bodyPr/>
                    <a:lstStyle/>
                    <a:p>
                      <a:pPr algn="l">
                        <a:lnSpc>
                          <a:spcPct val="115000"/>
                        </a:lnSpc>
                        <a:spcAft>
                          <a:spcPts val="1000"/>
                        </a:spcAft>
                      </a:pPr>
                      <a:r>
                        <a:rPr lang="en-US" sz="2000" b="1" dirty="0">
                          <a:effectLst/>
                        </a:rPr>
                        <a:t>Array([) </a:t>
                      </a:r>
                      <a:endParaRPr lang="en-IN" sz="36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marL="30480" marR="30480" algn="just">
                        <a:lnSpc>
                          <a:spcPct val="115000"/>
                        </a:lnSpc>
                        <a:spcAft>
                          <a:spcPts val="1000"/>
                        </a:spcAft>
                      </a:pPr>
                      <a:r>
                        <a:rPr lang="en-US" sz="2000" dirty="0">
                          <a:effectLst/>
                        </a:rPr>
                        <a:t>In a JSON file , square bracket ([) represents a JSON array</a:t>
                      </a:r>
                      <a:endParaRPr lang="en-IN" sz="36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2030644554"/>
                  </a:ext>
                </a:extLst>
              </a:tr>
              <a:tr h="56353">
                <a:tc>
                  <a:txBody>
                    <a:bodyPr/>
                    <a:lstStyle/>
                    <a:p>
                      <a:pPr algn="l">
                        <a:lnSpc>
                          <a:spcPct val="115000"/>
                        </a:lnSpc>
                        <a:spcAft>
                          <a:spcPts val="1000"/>
                        </a:spcAft>
                      </a:pPr>
                      <a:r>
                        <a:rPr lang="en-US" sz="2000" b="1" dirty="0">
                          <a:effectLst/>
                        </a:rPr>
                        <a:t>Objects({) </a:t>
                      </a:r>
                      <a:endParaRPr lang="en-IN" sz="36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marL="30480" marR="30480" algn="just">
                        <a:lnSpc>
                          <a:spcPct val="115000"/>
                        </a:lnSpc>
                        <a:spcAft>
                          <a:spcPts val="1000"/>
                        </a:spcAft>
                      </a:pPr>
                      <a:r>
                        <a:rPr lang="en-US" sz="2000" dirty="0">
                          <a:effectLst/>
                        </a:rPr>
                        <a:t>In a JSON file, curly bracket ({) represents a JSON object</a:t>
                      </a:r>
                      <a:endParaRPr lang="en-IN" sz="36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120955558"/>
                  </a:ext>
                </a:extLst>
              </a:tr>
              <a:tr h="92772">
                <a:tc>
                  <a:txBody>
                    <a:bodyPr/>
                    <a:lstStyle/>
                    <a:p>
                      <a:pPr algn="l">
                        <a:lnSpc>
                          <a:spcPct val="115000"/>
                        </a:lnSpc>
                        <a:spcAft>
                          <a:spcPts val="1000"/>
                        </a:spcAft>
                      </a:pPr>
                      <a:r>
                        <a:rPr lang="en-US" sz="2000" b="1" dirty="0">
                          <a:effectLst/>
                        </a:rPr>
                        <a:t>Key</a:t>
                      </a:r>
                      <a:endParaRPr lang="en-IN" sz="36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marL="30480" marR="30480" algn="just">
                        <a:lnSpc>
                          <a:spcPct val="115000"/>
                        </a:lnSpc>
                        <a:spcAft>
                          <a:spcPts val="1000"/>
                        </a:spcAft>
                      </a:pPr>
                      <a:r>
                        <a:rPr lang="en-US" sz="2000" dirty="0">
                          <a:effectLst/>
                        </a:rPr>
                        <a:t>A JSON object contains a key that is just a string. Pairs of key/value make up a JSON object</a:t>
                      </a:r>
                      <a:endParaRPr lang="en-IN" sz="36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1993967996"/>
                  </a:ext>
                </a:extLst>
              </a:tr>
              <a:tr h="245138">
                <a:tc>
                  <a:txBody>
                    <a:bodyPr/>
                    <a:lstStyle/>
                    <a:p>
                      <a:pPr algn="l">
                        <a:lnSpc>
                          <a:spcPct val="115000"/>
                        </a:lnSpc>
                        <a:spcAft>
                          <a:spcPts val="1000"/>
                        </a:spcAft>
                      </a:pPr>
                      <a:r>
                        <a:rPr lang="en-US" sz="2000" dirty="0">
                          <a:effectLst/>
                        </a:rPr>
                        <a:t>Value </a:t>
                      </a:r>
                      <a:endParaRPr lang="en-IN" sz="36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marL="30480" marR="30480" algn="just">
                        <a:lnSpc>
                          <a:spcPct val="115000"/>
                        </a:lnSpc>
                        <a:spcAft>
                          <a:spcPts val="1000"/>
                        </a:spcAft>
                      </a:pPr>
                      <a:r>
                        <a:rPr lang="en-US" sz="2000" dirty="0">
                          <a:effectLst/>
                        </a:rPr>
                        <a:t>Each key has a value that could be string , integer or double </a:t>
                      </a:r>
                      <a:r>
                        <a:rPr lang="en-US" sz="2000" dirty="0" err="1">
                          <a:effectLst/>
                        </a:rPr>
                        <a:t>e.t.c</a:t>
                      </a:r>
                      <a:endParaRPr lang="en-IN" sz="36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4195670372"/>
                  </a:ext>
                </a:extLst>
              </a:tr>
            </a:tbl>
          </a:graphicData>
        </a:graphic>
      </p:graphicFrame>
    </p:spTree>
    <p:extLst>
      <p:ext uri="{BB962C8B-B14F-4D97-AF65-F5344CB8AC3E}">
        <p14:creationId xmlns:p14="http://schemas.microsoft.com/office/powerpoint/2010/main" val="1295630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EB588-BB8F-465C-A03A-49FD8812386A}"/>
              </a:ext>
            </a:extLst>
          </p:cNvPr>
          <p:cNvSpPr>
            <a:spLocks noGrp="1"/>
          </p:cNvSpPr>
          <p:nvPr>
            <p:ph type="title"/>
          </p:nvPr>
        </p:nvSpPr>
        <p:spPr>
          <a:xfrm>
            <a:off x="411117" y="283882"/>
            <a:ext cx="9126422" cy="1320800"/>
          </a:xfrm>
        </p:spPr>
        <p:txBody>
          <a:bodyPr>
            <a:normAutofit/>
          </a:bodyPr>
          <a:lstStyle/>
          <a:p>
            <a:r>
              <a:rPr lang="en-GB" sz="3600" dirty="0"/>
              <a:t>Introduction to Monetization of Android App</a:t>
            </a:r>
            <a:endParaRPr lang="en-IN" dirty="0"/>
          </a:p>
        </p:txBody>
      </p:sp>
      <p:sp>
        <p:nvSpPr>
          <p:cNvPr id="3" name="Content Placeholder 2">
            <a:extLst>
              <a:ext uri="{FF2B5EF4-FFF2-40B4-BE49-F238E27FC236}">
                <a16:creationId xmlns:a16="http://schemas.microsoft.com/office/drawing/2014/main" id="{46AB8461-78EE-4503-8150-E42F0ED18A57}"/>
              </a:ext>
            </a:extLst>
          </p:cNvPr>
          <p:cNvSpPr>
            <a:spLocks noGrp="1"/>
          </p:cNvSpPr>
          <p:nvPr>
            <p:ph idx="1"/>
          </p:nvPr>
        </p:nvSpPr>
        <p:spPr>
          <a:xfrm>
            <a:off x="411117" y="1571813"/>
            <a:ext cx="9775513" cy="5002305"/>
          </a:xfrm>
        </p:spPr>
        <p:txBody>
          <a:bodyPr>
            <a:noAutofit/>
          </a:bodyPr>
          <a:lstStyle/>
          <a:p>
            <a:pPr algn="just"/>
            <a:r>
              <a:rPr lang="en-GB" sz="2800" b="0" i="0" dirty="0">
                <a:solidFill>
                  <a:srgbClr val="514B5F"/>
                </a:solidFill>
                <a:effectLst/>
                <a:latin typeface="Gilroy"/>
              </a:rPr>
              <a:t>Mobile apps were downloaded </a:t>
            </a:r>
            <a:r>
              <a:rPr lang="en-GB" sz="2800" b="1" i="0" dirty="0">
                <a:solidFill>
                  <a:srgbClr val="514B5F"/>
                </a:solidFill>
                <a:effectLst/>
                <a:latin typeface="Gilroy"/>
              </a:rPr>
              <a:t>230 billion times in 2021 </a:t>
            </a:r>
            <a:r>
              <a:rPr lang="en-GB" sz="2800" b="0" i="0" dirty="0">
                <a:solidFill>
                  <a:srgbClr val="514B5F"/>
                </a:solidFill>
                <a:effectLst/>
                <a:latin typeface="Gilroy"/>
              </a:rPr>
              <a:t>– about </a:t>
            </a:r>
            <a:r>
              <a:rPr lang="en-GB" sz="2800" b="1" i="0" dirty="0">
                <a:solidFill>
                  <a:srgbClr val="514B5F"/>
                </a:solidFill>
                <a:effectLst/>
                <a:latin typeface="Gilroy"/>
              </a:rPr>
              <a:t>95% free </a:t>
            </a:r>
            <a:r>
              <a:rPr lang="en-GB" sz="2800" b="0" i="0" dirty="0">
                <a:solidFill>
                  <a:srgbClr val="514B5F"/>
                </a:solidFill>
                <a:effectLst/>
                <a:latin typeface="Gilroy"/>
              </a:rPr>
              <a:t>to install. Yet the </a:t>
            </a:r>
            <a:r>
              <a:rPr lang="en-GB" sz="2800" b="1" i="0" dirty="0">
                <a:solidFill>
                  <a:srgbClr val="514B5F"/>
                </a:solidFill>
                <a:effectLst/>
                <a:latin typeface="Gilroy"/>
              </a:rPr>
              <a:t>entire industry generated a whopping $400 billion </a:t>
            </a:r>
            <a:r>
              <a:rPr lang="en-GB" sz="2800" b="0" i="0" dirty="0">
                <a:solidFill>
                  <a:srgbClr val="514B5F"/>
                </a:solidFill>
                <a:effectLst/>
                <a:latin typeface="Gilroy"/>
              </a:rPr>
              <a:t>in that year, according to Statista. </a:t>
            </a:r>
          </a:p>
          <a:p>
            <a:pPr algn="just"/>
            <a:r>
              <a:rPr lang="en-GB" sz="2800" b="0" i="0" dirty="0">
                <a:solidFill>
                  <a:srgbClr val="514B5F"/>
                </a:solidFill>
                <a:effectLst/>
                <a:latin typeface="Gilroy"/>
              </a:rPr>
              <a:t>To make sense of these numbers, we have to dig into how apps make money. </a:t>
            </a:r>
          </a:p>
          <a:p>
            <a:pPr algn="just"/>
            <a:r>
              <a:rPr lang="en-GB" sz="2800" b="1" i="0" dirty="0">
                <a:solidFill>
                  <a:srgbClr val="514B5F"/>
                </a:solidFill>
                <a:effectLst/>
                <a:latin typeface="Gilroy"/>
              </a:rPr>
              <a:t>App monetization is the process of generating revenue from app users. </a:t>
            </a:r>
          </a:p>
          <a:p>
            <a:pPr algn="just"/>
            <a:r>
              <a:rPr lang="en-GB" sz="2800" b="0" i="0" dirty="0">
                <a:solidFill>
                  <a:srgbClr val="514B5F"/>
                </a:solidFill>
                <a:effectLst/>
                <a:latin typeface="Gilroy"/>
              </a:rPr>
              <a:t>This often includes multiple </a:t>
            </a:r>
            <a:r>
              <a:rPr lang="en-GB" sz="2800" b="1" i="0" dirty="0">
                <a:solidFill>
                  <a:srgbClr val="514B5F"/>
                </a:solidFill>
                <a:effectLst/>
                <a:latin typeface="Gilroy"/>
              </a:rPr>
              <a:t>strategies</a:t>
            </a:r>
            <a:r>
              <a:rPr lang="en-GB" sz="2800" b="0" i="0" dirty="0">
                <a:solidFill>
                  <a:srgbClr val="514B5F"/>
                </a:solidFill>
                <a:effectLst/>
                <a:latin typeface="Gilroy"/>
              </a:rPr>
              <a:t> ranging from </a:t>
            </a:r>
            <a:r>
              <a:rPr lang="en-GB" sz="2800" b="1" i="0" dirty="0">
                <a:solidFill>
                  <a:srgbClr val="514B5F"/>
                </a:solidFill>
                <a:effectLst/>
                <a:latin typeface="Gilroy"/>
              </a:rPr>
              <a:t>showing banner ads </a:t>
            </a:r>
            <a:r>
              <a:rPr lang="en-GB" sz="2800" b="0" i="0" dirty="0">
                <a:solidFill>
                  <a:srgbClr val="514B5F"/>
                </a:solidFill>
                <a:effectLst/>
                <a:latin typeface="Gilroy"/>
              </a:rPr>
              <a:t>on the bottom of your app, to </a:t>
            </a:r>
            <a:r>
              <a:rPr lang="en-GB" sz="2800" b="1" i="0" dirty="0">
                <a:solidFill>
                  <a:srgbClr val="514B5F"/>
                </a:solidFill>
                <a:effectLst/>
                <a:latin typeface="Gilroy"/>
              </a:rPr>
              <a:t>leveraging rewarded video ads</a:t>
            </a:r>
            <a:r>
              <a:rPr lang="en-GB" sz="2800" b="0" i="0" dirty="0">
                <a:solidFill>
                  <a:srgbClr val="514B5F"/>
                </a:solidFill>
                <a:effectLst/>
                <a:latin typeface="Gilroy"/>
              </a:rPr>
              <a:t>, and applying </a:t>
            </a:r>
            <a:r>
              <a:rPr lang="en-GB" sz="2800" b="1" i="0" dirty="0">
                <a:solidFill>
                  <a:srgbClr val="514B5F"/>
                </a:solidFill>
                <a:effectLst/>
                <a:latin typeface="Gilroy"/>
              </a:rPr>
              <a:t>integrated advertising methods.</a:t>
            </a:r>
            <a:endParaRPr lang="en-GB" sz="2800" b="0" i="0" dirty="0">
              <a:solidFill>
                <a:srgbClr val="514B5F"/>
              </a:solidFill>
              <a:effectLst/>
              <a:latin typeface="Gilroy"/>
            </a:endParaRPr>
          </a:p>
          <a:p>
            <a:pPr marL="0" indent="0" algn="just">
              <a:buNone/>
            </a:pPr>
            <a:endParaRPr lang="en-IN" sz="2400" dirty="0"/>
          </a:p>
        </p:txBody>
      </p:sp>
    </p:spTree>
    <p:extLst>
      <p:ext uri="{BB962C8B-B14F-4D97-AF65-F5344CB8AC3E}">
        <p14:creationId xmlns:p14="http://schemas.microsoft.com/office/powerpoint/2010/main" val="1011352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F3FC2-2C42-4B93-A00C-34628692C02C}"/>
              </a:ext>
            </a:extLst>
          </p:cNvPr>
          <p:cNvSpPr>
            <a:spLocks noGrp="1"/>
          </p:cNvSpPr>
          <p:nvPr>
            <p:ph type="title"/>
          </p:nvPr>
        </p:nvSpPr>
        <p:spPr>
          <a:xfrm>
            <a:off x="149892" y="206188"/>
            <a:ext cx="8596668" cy="815788"/>
          </a:xfrm>
        </p:spPr>
        <p:txBody>
          <a:bodyPr/>
          <a:lstStyle/>
          <a:p>
            <a:r>
              <a:rPr lang="en-IN" dirty="0"/>
              <a:t>Models for Monetization</a:t>
            </a:r>
          </a:p>
        </p:txBody>
      </p:sp>
      <p:sp>
        <p:nvSpPr>
          <p:cNvPr id="3" name="Content Placeholder 2">
            <a:extLst>
              <a:ext uri="{FF2B5EF4-FFF2-40B4-BE49-F238E27FC236}">
                <a16:creationId xmlns:a16="http://schemas.microsoft.com/office/drawing/2014/main" id="{035A39FC-C730-4F3B-9963-7B4B4CA7808B}"/>
              </a:ext>
            </a:extLst>
          </p:cNvPr>
          <p:cNvSpPr>
            <a:spLocks noGrp="1"/>
          </p:cNvSpPr>
          <p:nvPr>
            <p:ph idx="1"/>
          </p:nvPr>
        </p:nvSpPr>
        <p:spPr>
          <a:xfrm>
            <a:off x="349623" y="1021976"/>
            <a:ext cx="10669476" cy="5836023"/>
          </a:xfrm>
        </p:spPr>
        <p:txBody>
          <a:bodyPr>
            <a:normAutofit/>
          </a:bodyPr>
          <a:lstStyle/>
          <a:p>
            <a:pPr algn="just"/>
            <a:r>
              <a:rPr lang="en-IN" sz="3200" b="1" i="0" dirty="0">
                <a:solidFill>
                  <a:srgbClr val="220D4E"/>
                </a:solidFill>
                <a:effectLst/>
                <a:latin typeface="Gilroy"/>
              </a:rPr>
              <a:t>In-app purchases (IAP)</a:t>
            </a:r>
          </a:p>
          <a:p>
            <a:pPr lvl="1" algn="just"/>
            <a:r>
              <a:rPr lang="en-GB" sz="2800" b="0" i="0" dirty="0">
                <a:solidFill>
                  <a:srgbClr val="514B5F"/>
                </a:solidFill>
                <a:effectLst/>
                <a:latin typeface="Gilroy"/>
              </a:rPr>
              <a:t>The </a:t>
            </a:r>
            <a:r>
              <a:rPr lang="en-GB" sz="2800" b="0" i="0" u="sng" dirty="0">
                <a:solidFill>
                  <a:srgbClr val="514B5F"/>
                </a:solidFill>
                <a:effectLst/>
                <a:latin typeface="Gilroy"/>
              </a:rPr>
              <a:t>in-app purchase monetization model</a:t>
            </a:r>
            <a:r>
              <a:rPr lang="en-GB" sz="2800" b="0" i="0" dirty="0">
                <a:solidFill>
                  <a:srgbClr val="514B5F"/>
                </a:solidFill>
                <a:effectLst/>
                <a:latin typeface="Gilroy"/>
              </a:rPr>
              <a:t> focuses on selling a variety of virtual goods, services, and bonuses within the app.</a:t>
            </a:r>
          </a:p>
          <a:p>
            <a:pPr lvl="1" algn="just"/>
            <a:r>
              <a:rPr lang="en-GB" sz="2800" b="0" i="0" dirty="0">
                <a:solidFill>
                  <a:srgbClr val="514B5F"/>
                </a:solidFill>
                <a:effectLst/>
                <a:latin typeface="Gilroy"/>
              </a:rPr>
              <a:t>In-app purchase revenue can be divided into two:</a:t>
            </a:r>
          </a:p>
          <a:p>
            <a:pPr lvl="2" algn="just"/>
            <a:r>
              <a:rPr lang="en-IN" sz="2400" b="1" i="0" dirty="0">
                <a:solidFill>
                  <a:srgbClr val="514B5F"/>
                </a:solidFill>
                <a:effectLst/>
                <a:latin typeface="Gilroy"/>
              </a:rPr>
              <a:t>In-store revenue</a:t>
            </a:r>
          </a:p>
          <a:p>
            <a:pPr lvl="2" algn="just"/>
            <a:r>
              <a:rPr lang="en-IN" sz="2400" b="1" i="0" dirty="0">
                <a:solidFill>
                  <a:srgbClr val="514B5F"/>
                </a:solidFill>
                <a:effectLst/>
                <a:latin typeface="Gilroy"/>
              </a:rPr>
              <a:t>Out-of-store revenue</a:t>
            </a:r>
          </a:p>
          <a:p>
            <a:pPr algn="just"/>
            <a:r>
              <a:rPr lang="en-IN" sz="3200" b="1" i="0" dirty="0">
                <a:solidFill>
                  <a:srgbClr val="220D4E"/>
                </a:solidFill>
                <a:effectLst/>
                <a:latin typeface="Gilroy"/>
              </a:rPr>
              <a:t>Subscription and freemium models</a:t>
            </a:r>
          </a:p>
          <a:p>
            <a:pPr lvl="1" algn="just"/>
            <a:r>
              <a:rPr lang="en-GB" sz="2800" b="0" i="0" dirty="0">
                <a:solidFill>
                  <a:srgbClr val="514B5F"/>
                </a:solidFill>
                <a:effectLst/>
                <a:latin typeface="Gilroy"/>
              </a:rPr>
              <a:t>A subscription model relies on an app being free to download and charges a recurring fee to use over time.</a:t>
            </a:r>
            <a:endParaRPr lang="en-IN" sz="2800" b="1" i="0" dirty="0">
              <a:solidFill>
                <a:srgbClr val="220D4E"/>
              </a:solidFill>
              <a:effectLst/>
              <a:latin typeface="Gilroy"/>
            </a:endParaRPr>
          </a:p>
        </p:txBody>
      </p:sp>
    </p:spTree>
    <p:extLst>
      <p:ext uri="{BB962C8B-B14F-4D97-AF65-F5344CB8AC3E}">
        <p14:creationId xmlns:p14="http://schemas.microsoft.com/office/powerpoint/2010/main" val="3024977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D01101-3D51-4820-9315-2D2396240363}"/>
              </a:ext>
            </a:extLst>
          </p:cNvPr>
          <p:cNvSpPr>
            <a:spLocks noGrp="1"/>
          </p:cNvSpPr>
          <p:nvPr>
            <p:ph idx="1"/>
          </p:nvPr>
        </p:nvSpPr>
        <p:spPr>
          <a:xfrm>
            <a:off x="677334" y="648183"/>
            <a:ext cx="8596668" cy="5393180"/>
          </a:xfrm>
        </p:spPr>
        <p:txBody>
          <a:bodyPr/>
          <a:lstStyle/>
          <a:p>
            <a:pPr algn="just"/>
            <a:r>
              <a:rPr lang="en-IN" sz="3200" b="1" i="0" dirty="0">
                <a:solidFill>
                  <a:srgbClr val="220D4E"/>
                </a:solidFill>
                <a:effectLst/>
                <a:latin typeface="Gilroy"/>
              </a:rPr>
              <a:t>In-app advertising (IAA)</a:t>
            </a:r>
          </a:p>
          <a:p>
            <a:pPr lvl="1" algn="just"/>
            <a:r>
              <a:rPr lang="en-GB" sz="2800" b="0" i="0" u="sng" dirty="0">
                <a:solidFill>
                  <a:srgbClr val="514B5F"/>
                </a:solidFill>
                <a:effectLst/>
                <a:latin typeface="Gilroy"/>
              </a:rPr>
              <a:t>In-app advertising</a:t>
            </a:r>
            <a:r>
              <a:rPr lang="en-GB" sz="2800" b="0" i="0" dirty="0">
                <a:solidFill>
                  <a:srgbClr val="514B5F"/>
                </a:solidFill>
                <a:effectLst/>
                <a:latin typeface="Gilroy"/>
              </a:rPr>
              <a:t>, or IAA for short, is a monetization strategy that leverages an app’s real estate, mainly in gaming, to show ads to their users. In short, advertising space is sold to ad buyers to display ads. </a:t>
            </a:r>
          </a:p>
          <a:p>
            <a:pPr lvl="2" algn="just"/>
            <a:r>
              <a:rPr lang="en-IN" sz="2400" b="1" i="0" dirty="0">
                <a:solidFill>
                  <a:srgbClr val="220D4E"/>
                </a:solidFill>
                <a:effectLst/>
                <a:latin typeface="Gilroy"/>
              </a:rPr>
              <a:t>Banner Ads, Video Ads, Rewarded video ads ,Interstitial ads, Native Ads. Playable Ads, </a:t>
            </a:r>
            <a:r>
              <a:rPr lang="en-IN" sz="2400" b="1" i="0" dirty="0" err="1">
                <a:solidFill>
                  <a:srgbClr val="220D4E"/>
                </a:solidFill>
                <a:effectLst/>
                <a:latin typeface="Gilroy"/>
              </a:rPr>
              <a:t>Offerwall</a:t>
            </a:r>
            <a:r>
              <a:rPr lang="en-IN" sz="2400" b="1" i="0" dirty="0">
                <a:solidFill>
                  <a:srgbClr val="220D4E"/>
                </a:solidFill>
                <a:effectLst/>
                <a:latin typeface="Gilroy"/>
              </a:rPr>
              <a:t> Ads</a:t>
            </a:r>
          </a:p>
          <a:p>
            <a:pPr algn="just"/>
            <a:r>
              <a:rPr lang="en-GB" sz="3200" b="1" i="0" dirty="0">
                <a:solidFill>
                  <a:srgbClr val="220D4E"/>
                </a:solidFill>
                <a:effectLst/>
                <a:latin typeface="Gilroy"/>
              </a:rPr>
              <a:t>Paid Download or Pay Per Download (PPD)</a:t>
            </a:r>
          </a:p>
          <a:p>
            <a:pPr lvl="1" algn="just"/>
            <a:r>
              <a:rPr lang="en-GB" sz="2800" b="0" i="0" dirty="0">
                <a:solidFill>
                  <a:srgbClr val="514B5F"/>
                </a:solidFill>
                <a:effectLst/>
                <a:latin typeface="Gilroy"/>
              </a:rPr>
              <a:t>One of the oldest monetization strategies is to charge a one-time fee to download your app.</a:t>
            </a:r>
            <a:endParaRPr lang="en-IN" sz="2800" b="1" i="0" dirty="0">
              <a:solidFill>
                <a:srgbClr val="220D4E"/>
              </a:solidFill>
              <a:effectLst/>
              <a:latin typeface="Gilroy"/>
            </a:endParaRPr>
          </a:p>
          <a:p>
            <a:pPr algn="just"/>
            <a:endParaRPr lang="en-IN" dirty="0"/>
          </a:p>
        </p:txBody>
      </p:sp>
    </p:spTree>
    <p:extLst>
      <p:ext uri="{BB962C8B-B14F-4D97-AF65-F5344CB8AC3E}">
        <p14:creationId xmlns:p14="http://schemas.microsoft.com/office/powerpoint/2010/main" val="638109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5CDE7-382B-4873-9839-A18EC17ABD77}"/>
              </a:ext>
            </a:extLst>
          </p:cNvPr>
          <p:cNvSpPr>
            <a:spLocks noGrp="1"/>
          </p:cNvSpPr>
          <p:nvPr>
            <p:ph type="title"/>
          </p:nvPr>
        </p:nvSpPr>
        <p:spPr>
          <a:xfrm>
            <a:off x="532955" y="175647"/>
            <a:ext cx="8596668" cy="1320800"/>
          </a:xfrm>
        </p:spPr>
        <p:txBody>
          <a:bodyPr/>
          <a:lstStyle/>
          <a:p>
            <a:r>
              <a:rPr lang="en-GB" sz="3600" dirty="0"/>
              <a:t>Signing and Publishing Android App</a:t>
            </a:r>
            <a:endParaRPr lang="en-IN" dirty="0"/>
          </a:p>
        </p:txBody>
      </p:sp>
      <p:sp>
        <p:nvSpPr>
          <p:cNvPr id="3" name="Content Placeholder 2">
            <a:extLst>
              <a:ext uri="{FF2B5EF4-FFF2-40B4-BE49-F238E27FC236}">
                <a16:creationId xmlns:a16="http://schemas.microsoft.com/office/drawing/2014/main" id="{F103269A-960C-4977-907C-86BB484DD65C}"/>
              </a:ext>
            </a:extLst>
          </p:cNvPr>
          <p:cNvSpPr>
            <a:spLocks noGrp="1"/>
          </p:cNvSpPr>
          <p:nvPr>
            <p:ph idx="1"/>
          </p:nvPr>
        </p:nvSpPr>
        <p:spPr>
          <a:xfrm>
            <a:off x="407825" y="1496447"/>
            <a:ext cx="9669826" cy="4962105"/>
          </a:xfrm>
        </p:spPr>
        <p:txBody>
          <a:bodyPr>
            <a:normAutofit lnSpcReduction="10000"/>
          </a:bodyPr>
          <a:lstStyle/>
          <a:p>
            <a:pPr algn="just"/>
            <a:r>
              <a:rPr lang="en-GB" sz="2800" b="0" i="0" dirty="0">
                <a:solidFill>
                  <a:srgbClr val="202124"/>
                </a:solidFill>
                <a:effectLst/>
                <a:latin typeface="Google Sans Text"/>
              </a:rPr>
              <a:t>Android requires that all APKs be digitally signed with a certificate before they are installed on a device or updated. </a:t>
            </a:r>
          </a:p>
          <a:p>
            <a:pPr algn="just"/>
            <a:r>
              <a:rPr lang="en-GB" sz="2800" b="0" i="0" dirty="0">
                <a:solidFill>
                  <a:srgbClr val="202124"/>
                </a:solidFill>
                <a:effectLst/>
                <a:latin typeface="Google Sans Text"/>
              </a:rPr>
              <a:t>When releasing using </a:t>
            </a:r>
            <a:r>
              <a:rPr lang="en-GB" sz="2800" b="0" i="0" dirty="0">
                <a:solidFill>
                  <a:srgbClr val="202124"/>
                </a:solidFill>
                <a:effectLst/>
                <a:latin typeface="Google Sans Text"/>
                <a:hlinkClick r:id="rId2"/>
              </a:rPr>
              <a:t>Android App Bundles</a:t>
            </a:r>
            <a:r>
              <a:rPr lang="en-GB" sz="2800" b="0" i="0" dirty="0">
                <a:solidFill>
                  <a:srgbClr val="202124"/>
                </a:solidFill>
                <a:effectLst/>
                <a:latin typeface="Google Sans Text"/>
              </a:rPr>
              <a:t>, you need to sign your app bundle with an upload key before uploading it to the Play Console, and Play App Signing takes care of the rest. </a:t>
            </a:r>
          </a:p>
          <a:p>
            <a:pPr algn="just"/>
            <a:r>
              <a:rPr lang="en-GB" sz="2800" b="0" i="0" dirty="0">
                <a:solidFill>
                  <a:srgbClr val="202124"/>
                </a:solidFill>
                <a:effectLst/>
                <a:latin typeface="Google Sans Text"/>
              </a:rPr>
              <a:t>For apps distributing using APKs on the Play Store or on other stores, you must manually sign your APKs for upload.</a:t>
            </a:r>
          </a:p>
          <a:p>
            <a:pPr algn="just"/>
            <a:r>
              <a:rPr lang="en-GB" sz="2800" b="0" i="0" dirty="0">
                <a:solidFill>
                  <a:srgbClr val="202124"/>
                </a:solidFill>
                <a:effectLst/>
                <a:latin typeface="Google Sans Text"/>
              </a:rPr>
              <a:t>This page guides you through some important concepts related to app signing and security, how to sign your app for release to Google Play using Android Studio, and how to configure Play App Signing.</a:t>
            </a:r>
          </a:p>
        </p:txBody>
      </p:sp>
    </p:spTree>
    <p:extLst>
      <p:ext uri="{BB962C8B-B14F-4D97-AF65-F5344CB8AC3E}">
        <p14:creationId xmlns:p14="http://schemas.microsoft.com/office/powerpoint/2010/main" val="3757111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181B9-6E7B-4E34-8A48-F62BE92B1A1E}"/>
              </a:ext>
            </a:extLst>
          </p:cNvPr>
          <p:cNvSpPr>
            <a:spLocks noGrp="1"/>
          </p:cNvSpPr>
          <p:nvPr>
            <p:ph type="title"/>
          </p:nvPr>
        </p:nvSpPr>
        <p:spPr>
          <a:xfrm>
            <a:off x="677333" y="340093"/>
            <a:ext cx="8596668" cy="757187"/>
          </a:xfrm>
        </p:spPr>
        <p:txBody>
          <a:bodyPr/>
          <a:lstStyle/>
          <a:p>
            <a:r>
              <a:rPr lang="en-IN" dirty="0"/>
              <a:t>Play App Signing</a:t>
            </a:r>
          </a:p>
        </p:txBody>
      </p:sp>
      <p:sp>
        <p:nvSpPr>
          <p:cNvPr id="3" name="Content Placeholder 2">
            <a:extLst>
              <a:ext uri="{FF2B5EF4-FFF2-40B4-BE49-F238E27FC236}">
                <a16:creationId xmlns:a16="http://schemas.microsoft.com/office/drawing/2014/main" id="{9DE4069E-D270-4D1D-9C7C-F5C0C334AA40}"/>
              </a:ext>
            </a:extLst>
          </p:cNvPr>
          <p:cNvSpPr>
            <a:spLocks noGrp="1"/>
          </p:cNvSpPr>
          <p:nvPr>
            <p:ph idx="1"/>
          </p:nvPr>
        </p:nvSpPr>
        <p:spPr>
          <a:xfrm>
            <a:off x="677333" y="1289785"/>
            <a:ext cx="10006709" cy="5380521"/>
          </a:xfrm>
        </p:spPr>
        <p:txBody>
          <a:bodyPr>
            <a:normAutofit lnSpcReduction="10000"/>
          </a:bodyPr>
          <a:lstStyle/>
          <a:p>
            <a:pPr algn="l"/>
            <a:r>
              <a:rPr lang="en-GB" sz="2400" b="0" i="0" dirty="0">
                <a:solidFill>
                  <a:srgbClr val="202124"/>
                </a:solidFill>
                <a:effectLst/>
                <a:latin typeface="Google Sans Text"/>
              </a:rPr>
              <a:t>With Play App Signing, Google manages and protects your app's signing key for you and uses it to sign your APKs for distribution. </a:t>
            </a:r>
          </a:p>
          <a:p>
            <a:pPr algn="l"/>
            <a:r>
              <a:rPr lang="en-GB" sz="2400" b="0" i="0" dirty="0">
                <a:solidFill>
                  <a:srgbClr val="202124"/>
                </a:solidFill>
                <a:effectLst/>
                <a:latin typeface="Google Sans Text"/>
              </a:rPr>
              <a:t>And, because app bundles defer building and signing APKs to the Google Play Store, </a:t>
            </a:r>
            <a:r>
              <a:rPr lang="en-GB" sz="2400" b="1" i="0" dirty="0">
                <a:solidFill>
                  <a:srgbClr val="202124"/>
                </a:solidFill>
                <a:effectLst/>
                <a:latin typeface="Google Sans Text"/>
              </a:rPr>
              <a:t>you need to configure Play App Signing before you upload </a:t>
            </a:r>
            <a:r>
              <a:rPr lang="en-GB" sz="2400" b="0" i="0" dirty="0">
                <a:solidFill>
                  <a:srgbClr val="202124"/>
                </a:solidFill>
                <a:effectLst/>
                <a:latin typeface="Google Sans Text"/>
              </a:rPr>
              <a:t>your app bundle. </a:t>
            </a:r>
          </a:p>
          <a:p>
            <a:pPr algn="l"/>
            <a:r>
              <a:rPr lang="en-GB" sz="2400" b="0" i="0" dirty="0">
                <a:solidFill>
                  <a:srgbClr val="202124"/>
                </a:solidFill>
                <a:effectLst/>
                <a:latin typeface="Google Sans Text"/>
              </a:rPr>
              <a:t>Doing so lets you benefit from the following:</a:t>
            </a:r>
          </a:p>
          <a:p>
            <a:pPr lvl="1"/>
            <a:r>
              <a:rPr lang="en-GB" sz="2400" b="0" i="0" dirty="0">
                <a:solidFill>
                  <a:srgbClr val="202124"/>
                </a:solidFill>
                <a:effectLst/>
                <a:latin typeface="Google Sans Text"/>
              </a:rPr>
              <a:t>Use the Android App Bundle and support Google Play’s advanced delivery modes. </a:t>
            </a:r>
          </a:p>
          <a:p>
            <a:pPr lvl="1"/>
            <a:r>
              <a:rPr lang="en-GB" sz="2400" b="0" i="0" dirty="0">
                <a:solidFill>
                  <a:srgbClr val="202124"/>
                </a:solidFill>
                <a:effectLst/>
                <a:latin typeface="Google Sans Text"/>
              </a:rPr>
              <a:t>Increase the security of your signing key, and make it possible to use a separate upload key to sign the app bundle you upload to Google Play.</a:t>
            </a:r>
          </a:p>
          <a:p>
            <a:pPr lvl="1"/>
            <a:r>
              <a:rPr lang="en-GB" sz="2400" b="0" i="0" dirty="0">
                <a:solidFill>
                  <a:srgbClr val="202124"/>
                </a:solidFill>
                <a:effectLst/>
                <a:latin typeface="Google Sans Text"/>
              </a:rPr>
              <a:t>Key upgrade lets you change your app signing key in case your existing one is compromised or if you need to migrate to a cryptographically stronger key</a:t>
            </a:r>
          </a:p>
          <a:p>
            <a:endParaRPr lang="en-IN" dirty="0"/>
          </a:p>
        </p:txBody>
      </p:sp>
    </p:spTree>
    <p:extLst>
      <p:ext uri="{BB962C8B-B14F-4D97-AF65-F5344CB8AC3E}">
        <p14:creationId xmlns:p14="http://schemas.microsoft.com/office/powerpoint/2010/main" val="3364050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53B6C8-B33A-4FF7-8DBD-3C2BCD19915C}"/>
              </a:ext>
            </a:extLst>
          </p:cNvPr>
          <p:cNvSpPr>
            <a:spLocks noGrp="1"/>
          </p:cNvSpPr>
          <p:nvPr>
            <p:ph idx="1"/>
          </p:nvPr>
        </p:nvSpPr>
        <p:spPr>
          <a:xfrm>
            <a:off x="677334" y="462014"/>
            <a:ext cx="9689074" cy="3628724"/>
          </a:xfrm>
        </p:spPr>
        <p:txBody>
          <a:bodyPr>
            <a:normAutofit/>
          </a:bodyPr>
          <a:lstStyle/>
          <a:p>
            <a:r>
              <a:rPr lang="en-GB" sz="2400" b="0" i="0" dirty="0">
                <a:solidFill>
                  <a:srgbClr val="202124"/>
                </a:solidFill>
                <a:effectLst/>
                <a:latin typeface="Google Sans Text"/>
              </a:rPr>
              <a:t>Play App Signing uses </a:t>
            </a:r>
            <a:r>
              <a:rPr lang="en-GB" sz="2400" b="1" i="0" dirty="0">
                <a:solidFill>
                  <a:srgbClr val="202124"/>
                </a:solidFill>
                <a:effectLst/>
                <a:latin typeface="Google Sans Text"/>
              </a:rPr>
              <a:t>two keys</a:t>
            </a:r>
            <a:r>
              <a:rPr lang="en-GB" sz="2400" b="0" i="0" dirty="0">
                <a:solidFill>
                  <a:srgbClr val="202124"/>
                </a:solidFill>
                <a:effectLst/>
                <a:latin typeface="Google Sans Text"/>
              </a:rPr>
              <a:t>: </a:t>
            </a:r>
            <a:r>
              <a:rPr lang="en-GB" sz="2400" b="1" i="0" dirty="0">
                <a:solidFill>
                  <a:srgbClr val="202124"/>
                </a:solidFill>
                <a:effectLst/>
                <a:latin typeface="Google Sans Text"/>
              </a:rPr>
              <a:t>the </a:t>
            </a:r>
            <a:r>
              <a:rPr lang="en-GB" sz="2400" b="1" i="1" dirty="0">
                <a:solidFill>
                  <a:srgbClr val="202124"/>
                </a:solidFill>
                <a:effectLst/>
                <a:latin typeface="Google Sans Text"/>
              </a:rPr>
              <a:t>app signing key</a:t>
            </a:r>
            <a:r>
              <a:rPr lang="en-GB" sz="2400" b="1" i="0" dirty="0">
                <a:solidFill>
                  <a:srgbClr val="202124"/>
                </a:solidFill>
                <a:effectLst/>
                <a:latin typeface="Google Sans Text"/>
              </a:rPr>
              <a:t> </a:t>
            </a:r>
            <a:r>
              <a:rPr lang="en-GB" sz="2400" b="0" i="0" dirty="0">
                <a:solidFill>
                  <a:srgbClr val="202124"/>
                </a:solidFill>
                <a:effectLst/>
                <a:latin typeface="Google Sans Text"/>
              </a:rPr>
              <a:t>and the </a:t>
            </a:r>
            <a:r>
              <a:rPr lang="en-GB" sz="2400" b="1" i="1" dirty="0">
                <a:solidFill>
                  <a:srgbClr val="202124"/>
                </a:solidFill>
                <a:effectLst/>
                <a:latin typeface="Google Sans Text"/>
              </a:rPr>
              <a:t>upload key</a:t>
            </a:r>
            <a:r>
              <a:rPr lang="en-GB" sz="2400" b="0" i="0" dirty="0">
                <a:solidFill>
                  <a:srgbClr val="202124"/>
                </a:solidFill>
                <a:effectLst/>
                <a:latin typeface="Google Sans Text"/>
              </a:rPr>
              <a:t>,</a:t>
            </a:r>
          </a:p>
          <a:p>
            <a:r>
              <a:rPr lang="en-GB" sz="2400" b="0" i="0" dirty="0">
                <a:solidFill>
                  <a:srgbClr val="202124"/>
                </a:solidFill>
                <a:effectLst/>
                <a:latin typeface="Google Sans Text"/>
              </a:rPr>
              <a:t>You keep the </a:t>
            </a:r>
            <a:r>
              <a:rPr lang="en-GB" sz="2400" b="1" i="0" dirty="0">
                <a:solidFill>
                  <a:srgbClr val="202124"/>
                </a:solidFill>
                <a:effectLst/>
                <a:latin typeface="Google Sans Text"/>
              </a:rPr>
              <a:t>upload key </a:t>
            </a:r>
            <a:r>
              <a:rPr lang="en-GB" sz="2400" b="0" i="0" dirty="0">
                <a:solidFill>
                  <a:srgbClr val="202124"/>
                </a:solidFill>
                <a:effectLst/>
                <a:latin typeface="Google Sans Text"/>
              </a:rPr>
              <a:t>and use it to sign your app for upload to the Google Play Store. </a:t>
            </a:r>
          </a:p>
          <a:p>
            <a:r>
              <a:rPr lang="en-GB" sz="2400" b="1" i="0" dirty="0">
                <a:solidFill>
                  <a:srgbClr val="202124"/>
                </a:solidFill>
                <a:effectLst/>
                <a:latin typeface="Google Sans Text"/>
              </a:rPr>
              <a:t>Google uses the upload certificate to verify </a:t>
            </a:r>
            <a:r>
              <a:rPr lang="en-GB" sz="2400" b="0" i="0" dirty="0">
                <a:solidFill>
                  <a:srgbClr val="202124"/>
                </a:solidFill>
                <a:effectLst/>
                <a:latin typeface="Google Sans Text"/>
              </a:rPr>
              <a:t>your identity, and signs your APK(s) with your app </a:t>
            </a:r>
            <a:r>
              <a:rPr lang="en-GB" sz="2400" b="1" i="0" dirty="0">
                <a:solidFill>
                  <a:srgbClr val="202124"/>
                </a:solidFill>
                <a:effectLst/>
                <a:latin typeface="Google Sans Text"/>
              </a:rPr>
              <a:t>signing key </a:t>
            </a:r>
            <a:r>
              <a:rPr lang="en-GB" sz="2400" b="0" i="0" dirty="0">
                <a:solidFill>
                  <a:srgbClr val="202124"/>
                </a:solidFill>
                <a:effectLst/>
                <a:latin typeface="Google Sans Text"/>
              </a:rPr>
              <a:t>for distribution as shown in figure </a:t>
            </a:r>
          </a:p>
          <a:p>
            <a:r>
              <a:rPr lang="en-GB" sz="2400" b="0" i="0" dirty="0">
                <a:solidFill>
                  <a:srgbClr val="202124"/>
                </a:solidFill>
                <a:effectLst/>
                <a:latin typeface="Google Sans Text"/>
              </a:rPr>
              <a:t>1. By using a separate upload key you can </a:t>
            </a:r>
            <a:r>
              <a:rPr lang="en-GB" sz="2400" b="0" i="0" dirty="0">
                <a:effectLst/>
                <a:latin typeface="Google Sans Text"/>
                <a:hlinkClick r:id="rId2"/>
              </a:rPr>
              <a:t>request an upload key reset</a:t>
            </a:r>
            <a:r>
              <a:rPr lang="en-GB" sz="2400" b="0" i="0" dirty="0">
                <a:solidFill>
                  <a:srgbClr val="202124"/>
                </a:solidFill>
                <a:effectLst/>
                <a:latin typeface="Google Sans Text"/>
              </a:rPr>
              <a:t> if your key is ever lost or compromised.</a:t>
            </a:r>
            <a:endParaRPr lang="en-IN" sz="2400" dirty="0"/>
          </a:p>
        </p:txBody>
      </p:sp>
      <p:pic>
        <p:nvPicPr>
          <p:cNvPr id="4" name="Picture 4">
            <a:extLst>
              <a:ext uri="{FF2B5EF4-FFF2-40B4-BE49-F238E27FC236}">
                <a16:creationId xmlns:a16="http://schemas.microsoft.com/office/drawing/2014/main" id="{51930280-BC1A-41AE-8F20-90F72F2607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67" y="3901627"/>
            <a:ext cx="12217733" cy="2696492"/>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56057113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4327</TotalTime>
  <Words>2540</Words>
  <Application>Microsoft Office PowerPoint</Application>
  <PresentationFormat>Widescreen</PresentationFormat>
  <Paragraphs>209</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Gilroy</vt:lpstr>
      <vt:lpstr>Google Sans Text</vt:lpstr>
      <vt:lpstr>source-serif-pro</vt:lpstr>
      <vt:lpstr>Wingdings 3</vt:lpstr>
      <vt:lpstr>Facet</vt:lpstr>
      <vt:lpstr>Android Application Development</vt:lpstr>
      <vt:lpstr>Unit – 5</vt:lpstr>
      <vt:lpstr>Location API fundamentals </vt:lpstr>
      <vt:lpstr>Using Location Based Services</vt:lpstr>
      <vt:lpstr>Finding Current Location and Listening for Changes in Location </vt:lpstr>
      <vt:lpstr>Android 9 for Location</vt:lpstr>
      <vt:lpstr>PowerPoint Presentation</vt:lpstr>
      <vt:lpstr>Working with Google Maps </vt:lpstr>
      <vt:lpstr>Introduction to Geocoder </vt:lpstr>
      <vt:lpstr>PowerPoint Presentation</vt:lpstr>
      <vt:lpstr>Sensor API </vt:lpstr>
      <vt:lpstr>Types of Sensor</vt:lpstr>
      <vt:lpstr>Sensor Framework</vt:lpstr>
      <vt:lpstr>Sensor availability by platform.</vt:lpstr>
      <vt:lpstr>Introduction to JSON Parsing</vt:lpstr>
      <vt:lpstr>PowerPoint Presentation</vt:lpstr>
      <vt:lpstr>Introduction to Monetization of Android App</vt:lpstr>
      <vt:lpstr>Models for Monetization</vt:lpstr>
      <vt:lpstr>PowerPoint Presentation</vt:lpstr>
      <vt:lpstr>Signing and Publishing Android App</vt:lpstr>
      <vt:lpstr>Play App Signing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Android Application Development</dc:title>
  <dc:creator>Hardik Chavda</dc:creator>
  <cp:lastModifiedBy>Hardik Chavda</cp:lastModifiedBy>
  <cp:revision>182</cp:revision>
  <dcterms:created xsi:type="dcterms:W3CDTF">2023-07-09T05:09:38Z</dcterms:created>
  <dcterms:modified xsi:type="dcterms:W3CDTF">2024-04-11T14:22:00Z</dcterms:modified>
</cp:coreProperties>
</file>