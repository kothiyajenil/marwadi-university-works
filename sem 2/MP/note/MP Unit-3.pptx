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3" r:id="rId24"/>
    <p:sldId id="284" r:id="rId25"/>
    <p:sldId id="285" r:id="rId26"/>
    <p:sldId id="286" r:id="rId27"/>
    <p:sldId id="278" r:id="rId28"/>
    <p:sldId id="279" r:id="rId29"/>
    <p:sldId id="280" r:id="rId30"/>
    <p:sldId id="281" r:id="rId31"/>
    <p:sldId id="282" r:id="rId32"/>
    <p:sldId id="287" r:id="rId33"/>
    <p:sldId id="288" r:id="rId34"/>
    <p:sldId id="293" r:id="rId35"/>
    <p:sldId id="294" r:id="rId36"/>
    <p:sldId id="295" r:id="rId37"/>
    <p:sldId id="296" r:id="rId38"/>
    <p:sldId id="289" r:id="rId39"/>
    <p:sldId id="298" r:id="rId40"/>
    <p:sldId id="290" r:id="rId41"/>
    <p:sldId id="292"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7452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5359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306325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157E00-EEC5-4E41-8373-CBA82B7D0DA5}"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68744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157E00-EEC5-4E41-8373-CBA82B7D0DA5}" type="datetimeFigureOut">
              <a:rPr lang="en-IN" smtClean="0"/>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1945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157E00-EEC5-4E41-8373-CBA82B7D0DA5}" type="datetimeFigureOut">
              <a:rPr lang="en-IN" smtClean="0"/>
              <a:t>04-04-2024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65848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57E00-EEC5-4E41-8373-CBA82B7D0DA5}" type="datetimeFigureOut">
              <a:rPr lang="en-IN" smtClean="0"/>
              <a:t>04-04-2024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4044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86572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379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75508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1641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312714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1226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93100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57286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7442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157E00-EEC5-4E41-8373-CBA82B7D0DA5}" type="datetimeFigureOut">
              <a:rPr lang="en-IN" smtClean="0"/>
              <a:t>04-04-2024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36870F-F40D-482A-82EC-4BCF007CAC4B}" type="slidenum">
              <a:rPr lang="en-IN" smtClean="0"/>
              <a:t>‹#›</a:t>
            </a:fld>
            <a:endParaRPr lang="en-IN"/>
          </a:p>
        </p:txBody>
      </p:sp>
    </p:spTree>
    <p:extLst>
      <p:ext uri="{BB962C8B-B14F-4D97-AF65-F5344CB8AC3E}">
        <p14:creationId xmlns:p14="http://schemas.microsoft.com/office/powerpoint/2010/main" val="7284721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599E-B1FA-48EC-835E-3B5BBCD9F52E}"/>
              </a:ext>
            </a:extLst>
          </p:cNvPr>
          <p:cNvSpPr>
            <a:spLocks noGrp="1"/>
          </p:cNvSpPr>
          <p:nvPr>
            <p:ph type="ctrTitle"/>
          </p:nvPr>
        </p:nvSpPr>
        <p:spPr>
          <a:xfrm>
            <a:off x="510987" y="1004698"/>
            <a:ext cx="8763015" cy="1646302"/>
          </a:xfrm>
        </p:spPr>
        <p:txBody>
          <a:bodyPr/>
          <a:lstStyle/>
          <a:p>
            <a:pPr algn="ctr"/>
            <a:r>
              <a:rPr lang="en-IN" dirty="0"/>
              <a:t>Android Application Development</a:t>
            </a:r>
          </a:p>
        </p:txBody>
      </p:sp>
      <p:sp>
        <p:nvSpPr>
          <p:cNvPr id="3" name="Subtitle 2">
            <a:extLst>
              <a:ext uri="{FF2B5EF4-FFF2-40B4-BE49-F238E27FC236}">
                <a16:creationId xmlns:a16="http://schemas.microsoft.com/office/drawing/2014/main" id="{76945EF1-F3EF-41CF-8A4F-4AB61288F959}"/>
              </a:ext>
            </a:extLst>
          </p:cNvPr>
          <p:cNvSpPr>
            <a:spLocks noGrp="1"/>
          </p:cNvSpPr>
          <p:nvPr>
            <p:ph type="subTitle" idx="1"/>
          </p:nvPr>
        </p:nvSpPr>
        <p:spPr>
          <a:xfrm>
            <a:off x="981393" y="3048371"/>
            <a:ext cx="7766936" cy="1096899"/>
          </a:xfrm>
        </p:spPr>
        <p:txBody>
          <a:bodyPr>
            <a:normAutofit/>
          </a:bodyPr>
          <a:lstStyle/>
          <a:p>
            <a:pPr algn="ctr"/>
            <a:r>
              <a:rPr lang="en-IN" sz="2800" dirty="0"/>
              <a:t>Unit – 3</a:t>
            </a:r>
          </a:p>
          <a:p>
            <a:pPr algn="ctr"/>
            <a:r>
              <a:rPr lang="en-IN" sz="2800" dirty="0"/>
              <a:t>Android UI Design Essentials</a:t>
            </a:r>
          </a:p>
        </p:txBody>
      </p:sp>
      <p:sp>
        <p:nvSpPr>
          <p:cNvPr id="4" name="Subtitle 2">
            <a:extLst>
              <a:ext uri="{FF2B5EF4-FFF2-40B4-BE49-F238E27FC236}">
                <a16:creationId xmlns:a16="http://schemas.microsoft.com/office/drawing/2014/main" id="{551CE561-54EB-4B27-B479-0742FF5BCE90}"/>
              </a:ext>
            </a:extLst>
          </p:cNvPr>
          <p:cNvSpPr txBox="1">
            <a:spLocks/>
          </p:cNvSpPr>
          <p:nvPr/>
        </p:nvSpPr>
        <p:spPr>
          <a:xfrm>
            <a:off x="981393" y="4540176"/>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r>
              <a:rPr lang="en-IN" dirty="0"/>
              <a:t>Prof. Hardik Chavda</a:t>
            </a:r>
          </a:p>
          <a:p>
            <a:pPr algn="ctr"/>
            <a:r>
              <a:rPr lang="en-IN" dirty="0"/>
              <a:t>FOCA,MU</a:t>
            </a:r>
          </a:p>
        </p:txBody>
      </p:sp>
      <p:pic>
        <p:nvPicPr>
          <p:cNvPr id="6146" name="Picture 2" descr="Image result for android 2023">
            <a:extLst>
              <a:ext uri="{FF2B5EF4-FFF2-40B4-BE49-F238E27FC236}">
                <a16:creationId xmlns:a16="http://schemas.microsoft.com/office/drawing/2014/main" id="{A728AFAF-26F5-4203-9363-7546A7F5F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65" y="4437529"/>
            <a:ext cx="3641051" cy="2420471"/>
          </a:xfrm>
          <a:prstGeom prst="rect">
            <a:avLst/>
          </a:prstGeom>
          <a:noFill/>
          <a:extLst>
            <a:ext uri="{909E8E84-426E-40DD-AFC4-6F175D3DCCD1}">
              <a14:hiddenFill xmlns:a14="http://schemas.microsoft.com/office/drawing/2010/main">
                <a:solidFill>
                  <a:srgbClr val="FFFFFF"/>
                </a:solidFill>
              </a14:hiddenFill>
            </a:ext>
          </a:extLst>
        </p:spPr>
      </p:pic>
      <p:pic>
        <p:nvPicPr>
          <p:cNvPr id="6" name="Google Shape;64;p2">
            <a:extLst>
              <a:ext uri="{FF2B5EF4-FFF2-40B4-BE49-F238E27FC236}">
                <a16:creationId xmlns:a16="http://schemas.microsoft.com/office/drawing/2014/main" id="{75D8FF5C-E40F-477C-809F-1DF6B0E97719}"/>
              </a:ext>
            </a:extLst>
          </p:cNvPr>
          <p:cNvPicPr preferRelativeResize="0">
            <a:picLocks/>
          </p:cNvPicPr>
          <p:nvPr/>
        </p:nvPicPr>
        <p:blipFill rotWithShape="1">
          <a:blip r:embed="rId3">
            <a:alphaModFix/>
          </a:blip>
          <a:srcRect/>
          <a:stretch/>
        </p:blipFill>
        <p:spPr>
          <a:xfrm>
            <a:off x="981393" y="374589"/>
            <a:ext cx="1495425" cy="371475"/>
          </a:xfrm>
          <a:prstGeom prst="rect">
            <a:avLst/>
          </a:prstGeom>
          <a:noFill/>
          <a:ln>
            <a:noFill/>
          </a:ln>
        </p:spPr>
      </p:pic>
    </p:spTree>
    <p:extLst>
      <p:ext uri="{BB962C8B-B14F-4D97-AF65-F5344CB8AC3E}">
        <p14:creationId xmlns:p14="http://schemas.microsoft.com/office/powerpoint/2010/main" val="23413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android 2023">
            <a:extLst>
              <a:ext uri="{FF2B5EF4-FFF2-40B4-BE49-F238E27FC236}">
                <a16:creationId xmlns:a16="http://schemas.microsoft.com/office/drawing/2014/main" id="{93FD0D1D-D2EB-4DF6-B17B-A42D08D3E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0716" y="2063563"/>
            <a:ext cx="3028950" cy="22288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F8B9052-F6C9-49AA-802A-D259E41B4D51}"/>
              </a:ext>
            </a:extLst>
          </p:cNvPr>
          <p:cNvSpPr>
            <a:spLocks noGrp="1"/>
          </p:cNvSpPr>
          <p:nvPr>
            <p:ph type="title"/>
          </p:nvPr>
        </p:nvSpPr>
        <p:spPr>
          <a:xfrm>
            <a:off x="677334" y="197223"/>
            <a:ext cx="8596668" cy="734351"/>
          </a:xfrm>
        </p:spPr>
        <p:txBody>
          <a:bodyPr/>
          <a:lstStyle/>
          <a:p>
            <a:r>
              <a:rPr lang="en-IN" dirty="0"/>
              <a:t>Unit – 3</a:t>
            </a:r>
          </a:p>
        </p:txBody>
      </p:sp>
      <p:sp>
        <p:nvSpPr>
          <p:cNvPr id="3" name="Content Placeholder 2">
            <a:extLst>
              <a:ext uri="{FF2B5EF4-FFF2-40B4-BE49-F238E27FC236}">
                <a16:creationId xmlns:a16="http://schemas.microsoft.com/office/drawing/2014/main" id="{23F599A0-3398-4EDE-B3B5-5AA820129A9E}"/>
              </a:ext>
            </a:extLst>
          </p:cNvPr>
          <p:cNvSpPr>
            <a:spLocks noGrp="1"/>
          </p:cNvSpPr>
          <p:nvPr>
            <p:ph idx="1"/>
          </p:nvPr>
        </p:nvSpPr>
        <p:spPr>
          <a:xfrm>
            <a:off x="677334" y="931575"/>
            <a:ext cx="6368925" cy="5648520"/>
          </a:xfrm>
        </p:spPr>
        <p:txBody>
          <a:bodyPr>
            <a:normAutofit fontScale="92500" lnSpcReduction="20000"/>
          </a:bodyPr>
          <a:lstStyle/>
          <a:p>
            <a:pPr algn="just"/>
            <a:r>
              <a:rPr lang="en-GB" sz="2400" dirty="0"/>
              <a:t>Animation (</a:t>
            </a:r>
            <a:r>
              <a:rPr lang="en-GB" sz="2400" b="1" dirty="0"/>
              <a:t>Frame-by-Frame</a:t>
            </a:r>
            <a:r>
              <a:rPr lang="en-GB" sz="2400" dirty="0"/>
              <a:t>, </a:t>
            </a:r>
            <a:r>
              <a:rPr lang="en-GB" sz="2400" b="1" dirty="0"/>
              <a:t>Tween</a:t>
            </a:r>
            <a:r>
              <a:rPr lang="en-GB" sz="2400" dirty="0"/>
              <a:t>) </a:t>
            </a:r>
          </a:p>
          <a:p>
            <a:pPr algn="just"/>
            <a:r>
              <a:rPr lang="en-GB" sz="2400" b="1" dirty="0"/>
              <a:t>Menu</a:t>
            </a:r>
            <a:r>
              <a:rPr lang="en-GB" sz="2400" dirty="0"/>
              <a:t> (Options, Context) </a:t>
            </a:r>
          </a:p>
          <a:p>
            <a:pPr algn="just"/>
            <a:r>
              <a:rPr lang="en-GB" sz="2400" dirty="0"/>
              <a:t>Introduction to </a:t>
            </a:r>
            <a:r>
              <a:rPr lang="en-GB" sz="2400" b="1" dirty="0"/>
              <a:t>Action Bar </a:t>
            </a:r>
          </a:p>
          <a:p>
            <a:pPr algn="just"/>
            <a:r>
              <a:rPr lang="en-GB" sz="2400" dirty="0"/>
              <a:t>Working with </a:t>
            </a:r>
            <a:r>
              <a:rPr lang="en-GB" sz="2400" b="1" dirty="0"/>
              <a:t>Alarm</a:t>
            </a:r>
            <a:r>
              <a:rPr lang="en-GB" sz="2400" dirty="0"/>
              <a:t> </a:t>
            </a:r>
          </a:p>
          <a:p>
            <a:pPr algn="just"/>
            <a:r>
              <a:rPr lang="en-GB" sz="2400" dirty="0"/>
              <a:t>Working with </a:t>
            </a:r>
            <a:r>
              <a:rPr lang="en-GB" sz="2400" b="1" dirty="0"/>
              <a:t>Telephony</a:t>
            </a:r>
            <a:r>
              <a:rPr lang="en-GB" sz="2400" dirty="0"/>
              <a:t> </a:t>
            </a:r>
            <a:r>
              <a:rPr lang="en-GB" sz="2400" b="1" dirty="0"/>
              <a:t>API</a:t>
            </a:r>
            <a:r>
              <a:rPr lang="en-GB" sz="2400" dirty="0"/>
              <a:t> </a:t>
            </a:r>
          </a:p>
          <a:p>
            <a:pPr lvl="1" algn="just"/>
            <a:r>
              <a:rPr lang="en-GB" sz="2200" dirty="0"/>
              <a:t>Send </a:t>
            </a:r>
            <a:r>
              <a:rPr lang="en-GB" sz="2200" b="1" dirty="0"/>
              <a:t>SMS</a:t>
            </a:r>
          </a:p>
          <a:p>
            <a:pPr algn="just"/>
            <a:r>
              <a:rPr lang="en-GB" sz="2400" dirty="0"/>
              <a:t>Working with </a:t>
            </a:r>
            <a:r>
              <a:rPr lang="en-GB" sz="2400" b="1" dirty="0" err="1"/>
              <a:t>AsyncTask</a:t>
            </a:r>
            <a:r>
              <a:rPr lang="en-GB" sz="2400" dirty="0"/>
              <a:t> </a:t>
            </a:r>
          </a:p>
          <a:p>
            <a:pPr algn="just"/>
            <a:r>
              <a:rPr lang="en-GB" sz="2400" dirty="0"/>
              <a:t>Working with </a:t>
            </a:r>
            <a:r>
              <a:rPr lang="en-GB" sz="2400" b="1" dirty="0" err="1"/>
              <a:t>VideoView</a:t>
            </a:r>
            <a:r>
              <a:rPr lang="en-GB" sz="2400" dirty="0"/>
              <a:t> </a:t>
            </a:r>
          </a:p>
          <a:p>
            <a:pPr algn="just"/>
            <a:r>
              <a:rPr lang="en-GB" sz="2400" dirty="0"/>
              <a:t>Introduction to </a:t>
            </a:r>
            <a:r>
              <a:rPr lang="en-GB" sz="2400" b="1" dirty="0"/>
              <a:t>styles</a:t>
            </a:r>
            <a:r>
              <a:rPr lang="en-GB" sz="2400" dirty="0"/>
              <a:t> and </a:t>
            </a:r>
            <a:r>
              <a:rPr lang="en-GB" sz="2400" b="1" dirty="0"/>
              <a:t>themes</a:t>
            </a:r>
            <a:r>
              <a:rPr lang="en-GB" sz="2400" dirty="0"/>
              <a:t> </a:t>
            </a:r>
          </a:p>
          <a:p>
            <a:pPr algn="just"/>
            <a:r>
              <a:rPr lang="en-GB" sz="2400" dirty="0">
                <a:solidFill>
                  <a:schemeClr val="tx1"/>
                </a:solidFill>
              </a:rPr>
              <a:t>Working with </a:t>
            </a:r>
            <a:r>
              <a:rPr lang="en-GB" sz="2400" b="1" dirty="0">
                <a:solidFill>
                  <a:schemeClr val="tx1"/>
                </a:solidFill>
              </a:rPr>
              <a:t>Camera</a:t>
            </a:r>
          </a:p>
          <a:p>
            <a:pPr algn="just"/>
            <a:r>
              <a:rPr lang="en-GB" sz="2400" dirty="0">
                <a:solidFill>
                  <a:schemeClr val="tx1"/>
                </a:solidFill>
              </a:rPr>
              <a:t>Working with </a:t>
            </a:r>
            <a:r>
              <a:rPr lang="en-GB" sz="2400" b="1" dirty="0">
                <a:solidFill>
                  <a:schemeClr val="tx1"/>
                </a:solidFill>
              </a:rPr>
              <a:t>Service</a:t>
            </a:r>
          </a:p>
          <a:p>
            <a:pPr algn="just"/>
            <a:r>
              <a:rPr lang="en-GB" sz="2400" b="1" dirty="0">
                <a:solidFill>
                  <a:schemeClr val="tx1"/>
                </a:solidFill>
              </a:rPr>
              <a:t>Service Life-Cycle</a:t>
            </a:r>
          </a:p>
          <a:p>
            <a:pPr algn="just"/>
            <a:r>
              <a:rPr lang="en-GB" sz="2400" dirty="0">
                <a:solidFill>
                  <a:schemeClr val="tx1"/>
                </a:solidFill>
              </a:rPr>
              <a:t>Types of </a:t>
            </a:r>
            <a:r>
              <a:rPr lang="en-GB" sz="2400" b="1" dirty="0">
                <a:solidFill>
                  <a:schemeClr val="tx1"/>
                </a:solidFill>
              </a:rPr>
              <a:t>Service</a:t>
            </a:r>
          </a:p>
          <a:p>
            <a:pPr algn="just"/>
            <a:r>
              <a:rPr lang="en-GB" sz="2400" dirty="0">
                <a:solidFill>
                  <a:schemeClr val="tx1"/>
                </a:solidFill>
              </a:rPr>
              <a:t>Working with </a:t>
            </a:r>
            <a:r>
              <a:rPr lang="en-GB" sz="2400" b="1" dirty="0" err="1">
                <a:solidFill>
                  <a:schemeClr val="tx1"/>
                </a:solidFill>
              </a:rPr>
              <a:t>AudioManager</a:t>
            </a:r>
            <a:endParaRPr lang="en-IN" sz="2400" b="1" dirty="0">
              <a:solidFill>
                <a:schemeClr val="tx1"/>
              </a:solidFill>
            </a:endParaRPr>
          </a:p>
        </p:txBody>
      </p:sp>
    </p:spTree>
    <p:extLst>
      <p:ext uri="{BB962C8B-B14F-4D97-AF65-F5344CB8AC3E}">
        <p14:creationId xmlns:p14="http://schemas.microsoft.com/office/powerpoint/2010/main" val="216015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6573C-D901-4F2D-8624-221188E77ACB}"/>
              </a:ext>
            </a:extLst>
          </p:cNvPr>
          <p:cNvSpPr>
            <a:spLocks noGrp="1"/>
          </p:cNvSpPr>
          <p:nvPr>
            <p:ph type="title"/>
          </p:nvPr>
        </p:nvSpPr>
        <p:spPr>
          <a:xfrm>
            <a:off x="345640" y="68729"/>
            <a:ext cx="8596668" cy="872565"/>
          </a:xfrm>
        </p:spPr>
        <p:txBody>
          <a:bodyPr/>
          <a:lstStyle/>
          <a:p>
            <a:r>
              <a:rPr lang="en-IN" dirty="0"/>
              <a:t>Animation in android</a:t>
            </a:r>
          </a:p>
        </p:txBody>
      </p:sp>
      <p:sp>
        <p:nvSpPr>
          <p:cNvPr id="3" name="Content Placeholder 2">
            <a:extLst>
              <a:ext uri="{FF2B5EF4-FFF2-40B4-BE49-F238E27FC236}">
                <a16:creationId xmlns:a16="http://schemas.microsoft.com/office/drawing/2014/main" id="{AD374C4D-3D27-4E76-BEFF-F495317C022D}"/>
              </a:ext>
            </a:extLst>
          </p:cNvPr>
          <p:cNvSpPr>
            <a:spLocks noGrp="1"/>
          </p:cNvSpPr>
          <p:nvPr>
            <p:ph idx="1"/>
          </p:nvPr>
        </p:nvSpPr>
        <p:spPr>
          <a:xfrm>
            <a:off x="345640" y="941294"/>
            <a:ext cx="10035489" cy="5847977"/>
          </a:xfrm>
        </p:spPr>
        <p:txBody>
          <a:bodyPr>
            <a:normAutofit/>
          </a:bodyPr>
          <a:lstStyle/>
          <a:p>
            <a:r>
              <a:rPr lang="en-GB" sz="2000" dirty="0"/>
              <a:t>Android supports two type </a:t>
            </a:r>
            <a:r>
              <a:rPr lang="en-GB" sz="2000" dirty="0" err="1"/>
              <a:t>os</a:t>
            </a:r>
            <a:r>
              <a:rPr lang="en-GB" sz="2000" dirty="0"/>
              <a:t> animations. </a:t>
            </a:r>
            <a:r>
              <a:rPr lang="en-GB" sz="2000" b="1" dirty="0" err="1"/>
              <a:t>Tweened</a:t>
            </a:r>
            <a:r>
              <a:rPr lang="en-GB" sz="2000" b="1" dirty="0"/>
              <a:t> </a:t>
            </a:r>
            <a:r>
              <a:rPr lang="en-GB" sz="2000" dirty="0"/>
              <a:t>animations can be used to rotate, move, stretch, and fade a View; or you can create </a:t>
            </a:r>
            <a:r>
              <a:rPr lang="en-GB" sz="2000" b="1" dirty="0"/>
              <a:t>frame-by-fram</a:t>
            </a:r>
            <a:r>
              <a:rPr lang="en-GB" sz="2000" dirty="0"/>
              <a:t>e animations to display a sequence of Drawable images.</a:t>
            </a:r>
          </a:p>
          <a:p>
            <a:r>
              <a:rPr lang="en-GB" sz="2000" b="1" dirty="0" err="1"/>
              <a:t>Tweened</a:t>
            </a:r>
            <a:r>
              <a:rPr lang="en-GB" sz="2000" b="1" dirty="0"/>
              <a:t> Animations:</a:t>
            </a:r>
          </a:p>
          <a:p>
            <a:pPr lvl="1"/>
            <a:r>
              <a:rPr lang="en-GB" sz="1800" dirty="0"/>
              <a:t>Each </a:t>
            </a:r>
            <a:r>
              <a:rPr lang="en-GB" sz="1800" dirty="0" err="1"/>
              <a:t>tweened</a:t>
            </a:r>
            <a:r>
              <a:rPr lang="en-GB" sz="1800" dirty="0"/>
              <a:t> animation is stored in a separate XML file in the project's res/</a:t>
            </a:r>
            <a:r>
              <a:rPr lang="en-GB" sz="1800" dirty="0" err="1"/>
              <a:t>anim</a:t>
            </a:r>
            <a:r>
              <a:rPr lang="en-GB" sz="1800" dirty="0"/>
              <a:t> folder. </a:t>
            </a:r>
          </a:p>
          <a:p>
            <a:pPr lvl="1"/>
            <a:r>
              <a:rPr lang="en-GB" sz="1800" dirty="0"/>
              <a:t>As with layout and drawable resources, the animation's file name is used as its resource identifier. </a:t>
            </a:r>
          </a:p>
          <a:p>
            <a:pPr lvl="1"/>
            <a:r>
              <a:rPr lang="en-GB" sz="1800" dirty="0"/>
              <a:t>An animation can be defined for changes in </a:t>
            </a:r>
            <a:r>
              <a:rPr lang="en-GB" sz="1800" b="1" dirty="0"/>
              <a:t>Alpha</a:t>
            </a:r>
            <a:r>
              <a:rPr lang="en-GB" sz="1800" dirty="0"/>
              <a:t>, </a:t>
            </a:r>
            <a:r>
              <a:rPr lang="en-GB" sz="1800" b="1" dirty="0"/>
              <a:t>Scale</a:t>
            </a:r>
            <a:r>
              <a:rPr lang="en-GB" sz="1800" dirty="0"/>
              <a:t>, </a:t>
            </a:r>
            <a:r>
              <a:rPr lang="en-GB" sz="1800" b="1" dirty="0"/>
              <a:t>Translate</a:t>
            </a:r>
            <a:r>
              <a:rPr lang="en-GB" sz="1800" dirty="0"/>
              <a:t>, </a:t>
            </a:r>
            <a:r>
              <a:rPr lang="en-GB" sz="1800" b="1" dirty="0"/>
              <a:t>Rotate</a:t>
            </a:r>
            <a:r>
              <a:rPr lang="en-GB" sz="1800" dirty="0"/>
              <a:t>.</a:t>
            </a:r>
          </a:p>
          <a:p>
            <a:pPr lvl="1"/>
            <a:endParaRPr lang="en-GB" sz="1800" dirty="0"/>
          </a:p>
          <a:p>
            <a:r>
              <a:rPr lang="en-GB" sz="2000" b="1" dirty="0"/>
              <a:t>Frame-by-Frame Animations:</a:t>
            </a:r>
          </a:p>
          <a:p>
            <a:pPr lvl="1"/>
            <a:r>
              <a:rPr lang="en-GB" sz="1800" dirty="0"/>
              <a:t>Frame-by-Frame animations let you create a sequence of Drawable, each of which will be displayed for a specific duration, on the background of a View. </a:t>
            </a:r>
          </a:p>
          <a:p>
            <a:pPr lvl="1"/>
            <a:r>
              <a:rPr lang="en-GB" sz="1800" dirty="0"/>
              <a:t>Because frame-by-frame animations represents animated Drawable they are stored under res/drawable folder, rather than with the </a:t>
            </a:r>
            <a:r>
              <a:rPr lang="en-GB" sz="1800" dirty="0" err="1"/>
              <a:t>tweened</a:t>
            </a:r>
            <a:r>
              <a:rPr lang="en-GB" sz="1800" dirty="0"/>
              <a:t> animations, and use their file name as their Resource IDs</a:t>
            </a:r>
            <a:endParaRPr lang="en-IN" sz="1800" dirty="0"/>
          </a:p>
        </p:txBody>
      </p:sp>
    </p:spTree>
    <p:extLst>
      <p:ext uri="{BB962C8B-B14F-4D97-AF65-F5344CB8AC3E}">
        <p14:creationId xmlns:p14="http://schemas.microsoft.com/office/powerpoint/2010/main" val="2016930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6E8161-F12C-46DE-9AA6-20BAA1CBCA97}"/>
              </a:ext>
            </a:extLst>
          </p:cNvPr>
          <p:cNvPicPr>
            <a:picLocks noChangeAspect="1"/>
          </p:cNvPicPr>
          <p:nvPr/>
        </p:nvPicPr>
        <p:blipFill>
          <a:blip r:embed="rId2"/>
          <a:stretch>
            <a:fillRect/>
          </a:stretch>
        </p:blipFill>
        <p:spPr>
          <a:xfrm>
            <a:off x="322730" y="1463389"/>
            <a:ext cx="4748023" cy="3931221"/>
          </a:xfrm>
          <a:prstGeom prst="rect">
            <a:avLst/>
          </a:prstGeom>
        </p:spPr>
      </p:pic>
      <p:pic>
        <p:nvPicPr>
          <p:cNvPr id="5" name="Picture 4">
            <a:extLst>
              <a:ext uri="{FF2B5EF4-FFF2-40B4-BE49-F238E27FC236}">
                <a16:creationId xmlns:a16="http://schemas.microsoft.com/office/drawing/2014/main" id="{023A15BC-7DD4-48FC-83A9-3DEA7AF47F08}"/>
              </a:ext>
            </a:extLst>
          </p:cNvPr>
          <p:cNvPicPr>
            <a:picLocks noChangeAspect="1"/>
          </p:cNvPicPr>
          <p:nvPr/>
        </p:nvPicPr>
        <p:blipFill>
          <a:blip r:embed="rId3"/>
          <a:stretch>
            <a:fillRect/>
          </a:stretch>
        </p:blipFill>
        <p:spPr>
          <a:xfrm>
            <a:off x="5480779" y="762000"/>
            <a:ext cx="6711221" cy="5334000"/>
          </a:xfrm>
          <a:prstGeom prst="rect">
            <a:avLst/>
          </a:prstGeom>
        </p:spPr>
      </p:pic>
    </p:spTree>
    <p:extLst>
      <p:ext uri="{BB962C8B-B14F-4D97-AF65-F5344CB8AC3E}">
        <p14:creationId xmlns:p14="http://schemas.microsoft.com/office/powerpoint/2010/main" val="102185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05A0A-B9F2-406D-AD81-436DF99841F4}"/>
              </a:ext>
            </a:extLst>
          </p:cNvPr>
          <p:cNvSpPr>
            <a:spLocks noGrp="1"/>
          </p:cNvSpPr>
          <p:nvPr>
            <p:ph type="title"/>
          </p:nvPr>
        </p:nvSpPr>
        <p:spPr>
          <a:xfrm>
            <a:off x="426323" y="268941"/>
            <a:ext cx="8596668" cy="1320800"/>
          </a:xfrm>
        </p:spPr>
        <p:txBody>
          <a:bodyPr/>
          <a:lstStyle/>
          <a:p>
            <a:r>
              <a:rPr lang="en-IN" dirty="0"/>
              <a:t>Tween Animation</a:t>
            </a:r>
          </a:p>
        </p:txBody>
      </p:sp>
      <p:sp>
        <p:nvSpPr>
          <p:cNvPr id="3" name="Content Placeholder 2">
            <a:extLst>
              <a:ext uri="{FF2B5EF4-FFF2-40B4-BE49-F238E27FC236}">
                <a16:creationId xmlns:a16="http://schemas.microsoft.com/office/drawing/2014/main" id="{EC1E2CCF-4A8D-4AFF-B385-35F2D5798AB8}"/>
              </a:ext>
            </a:extLst>
          </p:cNvPr>
          <p:cNvSpPr>
            <a:spLocks noGrp="1"/>
          </p:cNvSpPr>
          <p:nvPr>
            <p:ph idx="1"/>
          </p:nvPr>
        </p:nvSpPr>
        <p:spPr>
          <a:xfrm>
            <a:off x="426323" y="1102658"/>
            <a:ext cx="9847231" cy="5271247"/>
          </a:xfrm>
        </p:spPr>
        <p:txBody>
          <a:bodyPr>
            <a:normAutofit/>
          </a:bodyPr>
          <a:lstStyle/>
          <a:p>
            <a:r>
              <a:rPr lang="en-GB" sz="2000" dirty="0"/>
              <a:t>Tween Animation takes some parameters such as </a:t>
            </a:r>
          </a:p>
          <a:p>
            <a:pPr lvl="1"/>
            <a:r>
              <a:rPr lang="en-GB" sz="1800" dirty="0"/>
              <a:t>start value , </a:t>
            </a:r>
          </a:p>
          <a:p>
            <a:pPr lvl="1"/>
            <a:r>
              <a:rPr lang="en-GB" sz="1800" dirty="0"/>
              <a:t>end value, </a:t>
            </a:r>
          </a:p>
          <a:p>
            <a:pPr lvl="1"/>
            <a:r>
              <a:rPr lang="en-GB" sz="1800" dirty="0"/>
              <a:t>size , </a:t>
            </a:r>
          </a:p>
          <a:p>
            <a:pPr lvl="1"/>
            <a:r>
              <a:rPr lang="en-GB" sz="1800" dirty="0"/>
              <a:t>time duration , </a:t>
            </a:r>
          </a:p>
          <a:p>
            <a:pPr lvl="1"/>
            <a:r>
              <a:rPr lang="en-GB" sz="1800" dirty="0"/>
              <a:t>rotation angle etc. and perform the required animation on that object. </a:t>
            </a:r>
          </a:p>
          <a:p>
            <a:r>
              <a:rPr lang="en-GB" sz="2000" dirty="0"/>
              <a:t>It can be applied to any type of object. Android has provided us a class called Animation. </a:t>
            </a:r>
          </a:p>
          <a:p>
            <a:r>
              <a:rPr lang="en-GB" sz="2000" dirty="0"/>
              <a:t>In order to perform animation in android , we are going to call a static function </a:t>
            </a:r>
            <a:r>
              <a:rPr lang="en-GB" sz="2000" dirty="0" err="1"/>
              <a:t>loadAnimation</a:t>
            </a:r>
            <a:r>
              <a:rPr lang="en-GB" sz="2000" dirty="0"/>
              <a:t>() of the class </a:t>
            </a:r>
            <a:r>
              <a:rPr lang="en-GB" sz="2000" dirty="0" err="1"/>
              <a:t>AnimationUtils</a:t>
            </a:r>
            <a:r>
              <a:rPr lang="en-GB" sz="2000" dirty="0"/>
              <a:t>. </a:t>
            </a:r>
          </a:p>
          <a:p>
            <a:r>
              <a:rPr lang="en-GB" sz="2000" b="1" dirty="0"/>
              <a:t>Example</a:t>
            </a:r>
          </a:p>
          <a:p>
            <a:pPr lvl="1"/>
            <a:r>
              <a:rPr lang="en-GB" sz="1800" dirty="0"/>
              <a:t>Animation animation = </a:t>
            </a:r>
            <a:r>
              <a:rPr lang="en-GB" sz="1800" dirty="0" err="1"/>
              <a:t>AnimationUtils.loadAnimation</a:t>
            </a:r>
            <a:r>
              <a:rPr lang="en-GB" sz="1800" dirty="0"/>
              <a:t>(this, </a:t>
            </a:r>
            <a:r>
              <a:rPr lang="en-GB" sz="1800" dirty="0" err="1"/>
              <a:t>R.anim.myanimation</a:t>
            </a:r>
            <a:r>
              <a:rPr lang="en-GB" sz="1800" dirty="0"/>
              <a:t>);</a:t>
            </a:r>
            <a:endParaRPr lang="en-IN" sz="1800" dirty="0"/>
          </a:p>
        </p:txBody>
      </p:sp>
    </p:spTree>
    <p:extLst>
      <p:ext uri="{BB962C8B-B14F-4D97-AF65-F5344CB8AC3E}">
        <p14:creationId xmlns:p14="http://schemas.microsoft.com/office/powerpoint/2010/main" val="60288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B688E-5406-4598-9282-8D35FD0F70AA}"/>
              </a:ext>
            </a:extLst>
          </p:cNvPr>
          <p:cNvSpPr>
            <a:spLocks noGrp="1"/>
          </p:cNvSpPr>
          <p:nvPr>
            <p:ph type="title"/>
          </p:nvPr>
        </p:nvSpPr>
        <p:spPr>
          <a:xfrm>
            <a:off x="255993" y="161365"/>
            <a:ext cx="8596668" cy="681318"/>
          </a:xfrm>
        </p:spPr>
        <p:txBody>
          <a:bodyPr/>
          <a:lstStyle/>
          <a:p>
            <a:r>
              <a:rPr lang="en-IN" dirty="0"/>
              <a:t>Alpha Animation (Transparency)</a:t>
            </a:r>
          </a:p>
        </p:txBody>
      </p:sp>
      <p:sp>
        <p:nvSpPr>
          <p:cNvPr id="3" name="Content Placeholder 2">
            <a:extLst>
              <a:ext uri="{FF2B5EF4-FFF2-40B4-BE49-F238E27FC236}">
                <a16:creationId xmlns:a16="http://schemas.microsoft.com/office/drawing/2014/main" id="{94B9901C-FFA8-4636-BAC6-4A4EBA9C13DA}"/>
              </a:ext>
            </a:extLst>
          </p:cNvPr>
          <p:cNvSpPr>
            <a:spLocks noGrp="1"/>
          </p:cNvSpPr>
          <p:nvPr>
            <p:ph idx="1"/>
          </p:nvPr>
        </p:nvSpPr>
        <p:spPr>
          <a:xfrm>
            <a:off x="255993" y="842683"/>
            <a:ext cx="10053420" cy="5853952"/>
          </a:xfrm>
        </p:spPr>
        <p:txBody>
          <a:bodyPr>
            <a:normAutofit fontScale="92500" lnSpcReduction="10000"/>
          </a:bodyPr>
          <a:lstStyle/>
          <a:p>
            <a:pPr marL="0" indent="0">
              <a:buNone/>
            </a:pPr>
            <a:r>
              <a:rPr lang="en-GB" dirty="0"/>
              <a:t>&lt;?xml version="1.0" encoding="utf-8"?&gt;</a:t>
            </a:r>
          </a:p>
          <a:p>
            <a:pPr marL="0" indent="0">
              <a:buNone/>
            </a:pPr>
            <a:r>
              <a:rPr lang="en-GB" dirty="0"/>
              <a:t>&lt;set </a:t>
            </a:r>
            <a:r>
              <a:rPr lang="en-GB" dirty="0" err="1"/>
              <a:t>xmlns:android</a:t>
            </a:r>
            <a:r>
              <a:rPr lang="en-GB" dirty="0"/>
              <a:t>="http://schemas.android.com/</a:t>
            </a:r>
            <a:r>
              <a:rPr lang="en-GB" dirty="0" err="1"/>
              <a:t>apk</a:t>
            </a:r>
            <a:r>
              <a:rPr lang="en-GB" dirty="0"/>
              <a:t>/res/android"</a:t>
            </a:r>
          </a:p>
          <a:p>
            <a:pPr marL="0" indent="0">
              <a:buNone/>
            </a:pPr>
            <a:r>
              <a:rPr lang="en-GB" dirty="0"/>
              <a:t>    </a:t>
            </a:r>
            <a:r>
              <a:rPr lang="en-GB" dirty="0" err="1"/>
              <a:t>android:duration</a:t>
            </a:r>
            <a:r>
              <a:rPr lang="en-GB" dirty="0"/>
              <a:t>="3000"</a:t>
            </a:r>
          </a:p>
          <a:p>
            <a:pPr marL="0" indent="0">
              <a:buNone/>
            </a:pPr>
            <a:r>
              <a:rPr lang="en-GB" dirty="0"/>
              <a:t>    </a:t>
            </a:r>
            <a:r>
              <a:rPr lang="en-GB" dirty="0" err="1"/>
              <a:t>android:fillAfter</a:t>
            </a:r>
            <a:r>
              <a:rPr lang="en-GB" dirty="0"/>
              <a:t>="true"&gt;</a:t>
            </a:r>
          </a:p>
          <a:p>
            <a:pPr marL="0" indent="0">
              <a:buNone/>
            </a:pPr>
            <a:r>
              <a:rPr lang="en-GB" dirty="0"/>
              <a:t>    &lt;alpha</a:t>
            </a:r>
          </a:p>
          <a:p>
            <a:pPr marL="0" indent="0">
              <a:buNone/>
            </a:pPr>
            <a:r>
              <a:rPr lang="en-GB" dirty="0"/>
              <a:t>        </a:t>
            </a:r>
            <a:r>
              <a:rPr lang="en-GB" dirty="0" err="1"/>
              <a:t>android:fromAlpha</a:t>
            </a:r>
            <a:r>
              <a:rPr lang="en-GB" dirty="0"/>
              <a:t>="100"</a:t>
            </a:r>
          </a:p>
          <a:p>
            <a:pPr marL="0" indent="0">
              <a:buNone/>
            </a:pPr>
            <a:r>
              <a:rPr lang="en-GB" dirty="0"/>
              <a:t>        </a:t>
            </a:r>
            <a:r>
              <a:rPr lang="en-GB" dirty="0" err="1"/>
              <a:t>android:toAlpha</a:t>
            </a:r>
            <a:r>
              <a:rPr lang="en-GB" dirty="0"/>
              <a:t>="0" /&gt;</a:t>
            </a:r>
          </a:p>
          <a:p>
            <a:pPr marL="0" indent="0">
              <a:buNone/>
            </a:pPr>
            <a:br>
              <a:rPr lang="en-GB" dirty="0"/>
            </a:br>
            <a:r>
              <a:rPr lang="en-GB" dirty="0"/>
              <a:t>&lt;/set&gt;</a:t>
            </a:r>
          </a:p>
          <a:p>
            <a:pPr marL="0" indent="0">
              <a:buNone/>
            </a:pPr>
            <a:r>
              <a:rPr lang="en-IN" dirty="0" err="1"/>
              <a:t>b_alpha.setOnClickListener</a:t>
            </a:r>
            <a:r>
              <a:rPr lang="en-IN" dirty="0"/>
              <a:t>(new </a:t>
            </a:r>
            <a:r>
              <a:rPr lang="en-IN" dirty="0" err="1"/>
              <a:t>View.OnClickListener</a:t>
            </a:r>
            <a:r>
              <a:rPr lang="en-IN" dirty="0"/>
              <a:t>() {</a:t>
            </a:r>
          </a:p>
          <a:p>
            <a:pPr marL="0" indent="0">
              <a:buNone/>
            </a:pPr>
            <a:r>
              <a:rPr lang="en-IN" dirty="0"/>
              <a:t>            @Override</a:t>
            </a:r>
          </a:p>
          <a:p>
            <a:pPr marL="0" indent="0">
              <a:buNone/>
            </a:pPr>
            <a:r>
              <a:rPr lang="en-IN" dirty="0"/>
              <a:t>            public void </a:t>
            </a:r>
            <a:r>
              <a:rPr lang="en-IN" dirty="0" err="1"/>
              <a:t>onClick</a:t>
            </a:r>
            <a:r>
              <a:rPr lang="en-IN" dirty="0"/>
              <a:t>(View v) {</a:t>
            </a:r>
          </a:p>
          <a:p>
            <a:pPr marL="0" indent="0">
              <a:buNone/>
            </a:pPr>
            <a:r>
              <a:rPr lang="en-IN" dirty="0"/>
              <a:t>                Animation </a:t>
            </a:r>
            <a:r>
              <a:rPr lang="en-IN" dirty="0" err="1"/>
              <a:t>animation</a:t>
            </a:r>
            <a:r>
              <a:rPr lang="en-IN" dirty="0"/>
              <a:t> = </a:t>
            </a:r>
            <a:r>
              <a:rPr lang="en-IN" dirty="0" err="1"/>
              <a:t>AnimationUtils.loadAnimation</a:t>
            </a:r>
            <a:r>
              <a:rPr lang="en-IN" dirty="0"/>
              <a:t>(</a:t>
            </a:r>
            <a:r>
              <a:rPr lang="en-IN" dirty="0" err="1"/>
              <a:t>MainActivity.this</a:t>
            </a:r>
            <a:r>
              <a:rPr lang="en-IN" dirty="0"/>
              <a:t>, </a:t>
            </a:r>
            <a:r>
              <a:rPr lang="en-IN" dirty="0" err="1"/>
              <a:t>R.anim.alpha</a:t>
            </a:r>
            <a:r>
              <a:rPr lang="en-IN" dirty="0"/>
              <a:t>);</a:t>
            </a:r>
          </a:p>
          <a:p>
            <a:pPr marL="0" indent="0">
              <a:buNone/>
            </a:pPr>
            <a:r>
              <a:rPr lang="en-IN" dirty="0"/>
              <a:t>                </a:t>
            </a:r>
            <a:r>
              <a:rPr lang="en-IN" dirty="0" err="1"/>
              <a:t>txt.startAnimation</a:t>
            </a:r>
            <a:r>
              <a:rPr lang="en-IN" dirty="0"/>
              <a:t>(animation);</a:t>
            </a:r>
            <a:br>
              <a:rPr lang="en-IN" dirty="0"/>
            </a:br>
            <a:r>
              <a:rPr lang="en-IN" dirty="0"/>
              <a:t>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105676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7BAE0-32DA-4288-9D55-B86C9FA1FF79}"/>
              </a:ext>
            </a:extLst>
          </p:cNvPr>
          <p:cNvSpPr>
            <a:spLocks noGrp="1"/>
          </p:cNvSpPr>
          <p:nvPr>
            <p:ph type="title"/>
          </p:nvPr>
        </p:nvSpPr>
        <p:spPr>
          <a:xfrm>
            <a:off x="211170" y="156238"/>
            <a:ext cx="8596668" cy="794021"/>
          </a:xfrm>
        </p:spPr>
        <p:txBody>
          <a:bodyPr/>
          <a:lstStyle/>
          <a:p>
            <a:r>
              <a:rPr lang="en-IN" dirty="0"/>
              <a:t>Rotate (for rotation)</a:t>
            </a:r>
          </a:p>
        </p:txBody>
      </p:sp>
      <p:sp>
        <p:nvSpPr>
          <p:cNvPr id="3" name="Content Placeholder 2">
            <a:extLst>
              <a:ext uri="{FF2B5EF4-FFF2-40B4-BE49-F238E27FC236}">
                <a16:creationId xmlns:a16="http://schemas.microsoft.com/office/drawing/2014/main" id="{64F61D14-E908-4E99-9D63-39BD8A540266}"/>
              </a:ext>
            </a:extLst>
          </p:cNvPr>
          <p:cNvSpPr>
            <a:spLocks noGrp="1"/>
          </p:cNvSpPr>
          <p:nvPr>
            <p:ph idx="1"/>
          </p:nvPr>
        </p:nvSpPr>
        <p:spPr>
          <a:xfrm>
            <a:off x="309781" y="950259"/>
            <a:ext cx="9739654" cy="5907741"/>
          </a:xfrm>
        </p:spPr>
        <p:txBody>
          <a:bodyPr>
            <a:normAutofit fontScale="85000" lnSpcReduction="20000"/>
          </a:bodyPr>
          <a:lstStyle/>
          <a:p>
            <a:pPr marL="0" indent="0">
              <a:buNone/>
            </a:pPr>
            <a:r>
              <a:rPr lang="en-IN" dirty="0"/>
              <a:t>&lt;?xml version="1.0" encoding="utf-8"?&gt;</a:t>
            </a:r>
          </a:p>
          <a:p>
            <a:pPr marL="0" indent="0">
              <a:buNone/>
            </a:pPr>
            <a:r>
              <a:rPr lang="en-IN" dirty="0"/>
              <a:t>&lt;set </a:t>
            </a:r>
            <a:r>
              <a:rPr lang="en-IN" dirty="0" err="1"/>
              <a:t>xmlns:android</a:t>
            </a:r>
            <a:r>
              <a:rPr lang="en-IN" dirty="0"/>
              <a:t>="http://schemas.android.com/</a:t>
            </a:r>
            <a:r>
              <a:rPr lang="en-IN" dirty="0" err="1"/>
              <a:t>apk</a:t>
            </a:r>
            <a:r>
              <a:rPr lang="en-IN" dirty="0"/>
              <a:t>/res/android"</a:t>
            </a:r>
          </a:p>
          <a:p>
            <a:pPr marL="0" indent="0">
              <a:buNone/>
            </a:pPr>
            <a:r>
              <a:rPr lang="en-IN" dirty="0"/>
              <a:t>    </a:t>
            </a:r>
            <a:r>
              <a:rPr lang="en-IN" dirty="0" err="1"/>
              <a:t>android:duration</a:t>
            </a:r>
            <a:r>
              <a:rPr lang="en-IN" dirty="0"/>
              <a:t>="3000"</a:t>
            </a:r>
          </a:p>
          <a:p>
            <a:pPr marL="0" indent="0">
              <a:buNone/>
            </a:pPr>
            <a:r>
              <a:rPr lang="en-IN" dirty="0"/>
              <a:t>    </a:t>
            </a:r>
            <a:r>
              <a:rPr lang="en-IN" dirty="0" err="1"/>
              <a:t>android:fillAfter</a:t>
            </a:r>
            <a:r>
              <a:rPr lang="en-IN" dirty="0"/>
              <a:t>="true"&gt;</a:t>
            </a:r>
          </a:p>
          <a:p>
            <a:pPr marL="0" indent="0">
              <a:buNone/>
            </a:pPr>
            <a:br>
              <a:rPr lang="en-IN" dirty="0"/>
            </a:br>
            <a:r>
              <a:rPr lang="en-IN" dirty="0"/>
              <a:t>    &lt;rotate</a:t>
            </a:r>
          </a:p>
          <a:p>
            <a:pPr marL="0" indent="0">
              <a:buNone/>
            </a:pPr>
            <a:r>
              <a:rPr lang="en-IN" dirty="0"/>
              <a:t>        </a:t>
            </a:r>
            <a:r>
              <a:rPr lang="en-IN" dirty="0" err="1"/>
              <a:t>android:fromDegrees</a:t>
            </a:r>
            <a:r>
              <a:rPr lang="en-IN" dirty="0"/>
              <a:t>="0"</a:t>
            </a:r>
          </a:p>
          <a:p>
            <a:pPr marL="0" indent="0">
              <a:buNone/>
            </a:pPr>
            <a:r>
              <a:rPr lang="en-IN" dirty="0"/>
              <a:t>        </a:t>
            </a:r>
            <a:r>
              <a:rPr lang="en-IN" dirty="0" err="1"/>
              <a:t>android:pivotX</a:t>
            </a:r>
            <a:r>
              <a:rPr lang="en-IN" dirty="0"/>
              <a:t>="50%"</a:t>
            </a:r>
          </a:p>
          <a:p>
            <a:pPr marL="0" indent="0">
              <a:buNone/>
            </a:pPr>
            <a:r>
              <a:rPr lang="en-IN" dirty="0"/>
              <a:t>        </a:t>
            </a:r>
            <a:r>
              <a:rPr lang="en-IN" dirty="0" err="1"/>
              <a:t>android:pivotY</a:t>
            </a:r>
            <a:r>
              <a:rPr lang="en-IN" dirty="0"/>
              <a:t>="50%"</a:t>
            </a:r>
          </a:p>
          <a:p>
            <a:pPr marL="0" indent="0">
              <a:buNone/>
            </a:pPr>
            <a:r>
              <a:rPr lang="en-IN" dirty="0"/>
              <a:t>        </a:t>
            </a:r>
            <a:r>
              <a:rPr lang="en-IN" dirty="0" err="1"/>
              <a:t>android:toDegrees</a:t>
            </a:r>
            <a:r>
              <a:rPr lang="en-IN" dirty="0"/>
              <a:t>="360" /&gt;</a:t>
            </a:r>
          </a:p>
          <a:p>
            <a:pPr marL="0" indent="0">
              <a:buNone/>
            </a:pPr>
            <a:br>
              <a:rPr lang="en-IN" dirty="0"/>
            </a:br>
            <a:r>
              <a:rPr lang="en-IN" dirty="0"/>
              <a:t>&lt;/set&gt;</a:t>
            </a:r>
          </a:p>
          <a:p>
            <a:pPr marL="0" indent="0">
              <a:buNone/>
            </a:pPr>
            <a:r>
              <a:rPr lang="en-IN" dirty="0"/>
              <a:t> </a:t>
            </a:r>
            <a:r>
              <a:rPr lang="en-IN" dirty="0" err="1"/>
              <a:t>b_rotate.setOnClickListener</a:t>
            </a:r>
            <a:r>
              <a:rPr lang="en-IN" dirty="0"/>
              <a:t>(new </a:t>
            </a:r>
            <a:r>
              <a:rPr lang="en-IN" dirty="0" err="1"/>
              <a:t>View.OnClickListener</a:t>
            </a:r>
            <a:r>
              <a:rPr lang="en-IN" dirty="0"/>
              <a:t>() {</a:t>
            </a:r>
          </a:p>
          <a:p>
            <a:pPr marL="0" indent="0">
              <a:buNone/>
            </a:pPr>
            <a:r>
              <a:rPr lang="en-IN" dirty="0"/>
              <a:t>            @Override</a:t>
            </a:r>
          </a:p>
          <a:p>
            <a:pPr marL="0" indent="0">
              <a:buNone/>
            </a:pPr>
            <a:r>
              <a:rPr lang="en-IN" dirty="0"/>
              <a:t>            public void </a:t>
            </a:r>
            <a:r>
              <a:rPr lang="en-IN" dirty="0" err="1"/>
              <a:t>onClick</a:t>
            </a:r>
            <a:r>
              <a:rPr lang="en-IN" dirty="0"/>
              <a:t>(View v) {</a:t>
            </a:r>
          </a:p>
          <a:p>
            <a:pPr marL="0" indent="0">
              <a:buNone/>
            </a:pPr>
            <a:r>
              <a:rPr lang="en-IN" dirty="0"/>
              <a:t>                Animation </a:t>
            </a:r>
            <a:r>
              <a:rPr lang="en-IN" dirty="0" err="1"/>
              <a:t>animation</a:t>
            </a:r>
            <a:r>
              <a:rPr lang="en-IN" dirty="0"/>
              <a:t> = </a:t>
            </a:r>
            <a:r>
              <a:rPr lang="en-IN" dirty="0" err="1"/>
              <a:t>AnimationUtils.loadAnimation</a:t>
            </a:r>
            <a:r>
              <a:rPr lang="en-IN" dirty="0"/>
              <a:t>(</a:t>
            </a:r>
            <a:r>
              <a:rPr lang="en-IN" dirty="0" err="1"/>
              <a:t>MainActivity.this</a:t>
            </a:r>
            <a:r>
              <a:rPr lang="en-IN" dirty="0"/>
              <a:t>, </a:t>
            </a:r>
            <a:r>
              <a:rPr lang="en-IN" dirty="0" err="1"/>
              <a:t>R.anim.rotate</a:t>
            </a:r>
            <a:r>
              <a:rPr lang="en-IN" dirty="0"/>
              <a:t>);</a:t>
            </a:r>
          </a:p>
          <a:p>
            <a:pPr marL="0" indent="0">
              <a:buNone/>
            </a:pPr>
            <a:r>
              <a:rPr lang="en-IN" dirty="0"/>
              <a:t>                </a:t>
            </a:r>
            <a:r>
              <a:rPr lang="en-IN" dirty="0" err="1"/>
              <a:t>txt.startAnimation</a:t>
            </a:r>
            <a:r>
              <a:rPr lang="en-IN" dirty="0"/>
              <a:t>(animation);</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825510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DD58-D273-4E06-833C-142C35AEC231}"/>
              </a:ext>
            </a:extLst>
          </p:cNvPr>
          <p:cNvSpPr>
            <a:spLocks noGrp="1"/>
          </p:cNvSpPr>
          <p:nvPr>
            <p:ph type="title"/>
          </p:nvPr>
        </p:nvSpPr>
        <p:spPr>
          <a:xfrm>
            <a:off x="193240" y="134470"/>
            <a:ext cx="8596668" cy="708212"/>
          </a:xfrm>
        </p:spPr>
        <p:txBody>
          <a:bodyPr/>
          <a:lstStyle/>
          <a:p>
            <a:r>
              <a:rPr lang="en-IN" dirty="0"/>
              <a:t>Scale (for Size)</a:t>
            </a:r>
          </a:p>
        </p:txBody>
      </p:sp>
      <p:sp>
        <p:nvSpPr>
          <p:cNvPr id="3" name="Content Placeholder 2">
            <a:extLst>
              <a:ext uri="{FF2B5EF4-FFF2-40B4-BE49-F238E27FC236}">
                <a16:creationId xmlns:a16="http://schemas.microsoft.com/office/drawing/2014/main" id="{95765E5D-0C6E-40FD-A5E3-8951C845B7EE}"/>
              </a:ext>
            </a:extLst>
          </p:cNvPr>
          <p:cNvSpPr>
            <a:spLocks noGrp="1"/>
          </p:cNvSpPr>
          <p:nvPr>
            <p:ph idx="1"/>
          </p:nvPr>
        </p:nvSpPr>
        <p:spPr>
          <a:xfrm>
            <a:off x="193239" y="842682"/>
            <a:ext cx="9443819" cy="6015318"/>
          </a:xfrm>
        </p:spPr>
        <p:txBody>
          <a:bodyPr>
            <a:normAutofit fontScale="85000" lnSpcReduction="20000"/>
          </a:bodyPr>
          <a:lstStyle/>
          <a:p>
            <a:pPr marL="0" indent="0">
              <a:buNone/>
            </a:pPr>
            <a:r>
              <a:rPr lang="en-IN" dirty="0"/>
              <a:t>&lt;?xml version="1.0" encoding="utf-8"?&gt;</a:t>
            </a:r>
          </a:p>
          <a:p>
            <a:pPr marL="0" indent="0">
              <a:buNone/>
            </a:pPr>
            <a:r>
              <a:rPr lang="en-IN" dirty="0"/>
              <a:t>&lt;set </a:t>
            </a:r>
            <a:r>
              <a:rPr lang="en-IN" dirty="0" err="1"/>
              <a:t>xmlns:android</a:t>
            </a:r>
            <a:r>
              <a:rPr lang="en-IN" dirty="0"/>
              <a:t>="http://schemas.android.com/</a:t>
            </a:r>
            <a:r>
              <a:rPr lang="en-IN" dirty="0" err="1"/>
              <a:t>apk</a:t>
            </a:r>
            <a:r>
              <a:rPr lang="en-IN" dirty="0"/>
              <a:t>/res/android"</a:t>
            </a:r>
          </a:p>
          <a:p>
            <a:pPr marL="0" indent="0">
              <a:buNone/>
            </a:pPr>
            <a:r>
              <a:rPr lang="en-IN" dirty="0"/>
              <a:t>    </a:t>
            </a:r>
            <a:r>
              <a:rPr lang="en-IN" dirty="0" err="1"/>
              <a:t>android:duration</a:t>
            </a:r>
            <a:r>
              <a:rPr lang="en-IN" dirty="0"/>
              <a:t>="3000"</a:t>
            </a:r>
          </a:p>
          <a:p>
            <a:pPr marL="0" indent="0">
              <a:buNone/>
            </a:pPr>
            <a:r>
              <a:rPr lang="en-IN" dirty="0"/>
              <a:t>    </a:t>
            </a:r>
            <a:r>
              <a:rPr lang="en-IN" dirty="0" err="1"/>
              <a:t>android:fillAfter</a:t>
            </a:r>
            <a:r>
              <a:rPr lang="en-IN" dirty="0"/>
              <a:t>="true"&gt;</a:t>
            </a:r>
            <a:br>
              <a:rPr lang="en-IN" dirty="0"/>
            </a:br>
            <a:r>
              <a:rPr lang="en-IN" dirty="0"/>
              <a:t>    &lt;scale</a:t>
            </a:r>
          </a:p>
          <a:p>
            <a:pPr marL="0" indent="0">
              <a:buNone/>
            </a:pPr>
            <a:r>
              <a:rPr lang="en-IN" dirty="0"/>
              <a:t>        </a:t>
            </a:r>
            <a:r>
              <a:rPr lang="en-IN" dirty="0" err="1"/>
              <a:t>android:fromXScale</a:t>
            </a:r>
            <a:r>
              <a:rPr lang="en-IN" dirty="0"/>
              <a:t>="1"</a:t>
            </a:r>
          </a:p>
          <a:p>
            <a:pPr marL="0" indent="0">
              <a:buNone/>
            </a:pPr>
            <a:r>
              <a:rPr lang="en-IN" dirty="0"/>
              <a:t>        </a:t>
            </a:r>
            <a:r>
              <a:rPr lang="en-IN" dirty="0" err="1"/>
              <a:t>android:fromYScale</a:t>
            </a:r>
            <a:r>
              <a:rPr lang="en-IN" dirty="0"/>
              <a:t>="1"</a:t>
            </a:r>
          </a:p>
          <a:p>
            <a:pPr marL="0" indent="0">
              <a:buNone/>
            </a:pPr>
            <a:r>
              <a:rPr lang="en-IN" dirty="0"/>
              <a:t>        </a:t>
            </a:r>
            <a:r>
              <a:rPr lang="en-IN" dirty="0" err="1"/>
              <a:t>android:pivotX</a:t>
            </a:r>
            <a:r>
              <a:rPr lang="en-IN" dirty="0"/>
              <a:t>="50%"</a:t>
            </a:r>
          </a:p>
          <a:p>
            <a:pPr marL="0" indent="0">
              <a:buNone/>
            </a:pPr>
            <a:r>
              <a:rPr lang="en-IN" dirty="0"/>
              <a:t>        </a:t>
            </a:r>
            <a:r>
              <a:rPr lang="en-IN" dirty="0" err="1"/>
              <a:t>android:pivotY</a:t>
            </a:r>
            <a:r>
              <a:rPr lang="en-IN" dirty="0"/>
              <a:t>="50%"</a:t>
            </a:r>
          </a:p>
          <a:p>
            <a:pPr marL="0" indent="0">
              <a:buNone/>
            </a:pPr>
            <a:r>
              <a:rPr lang="en-IN" dirty="0"/>
              <a:t>        </a:t>
            </a:r>
            <a:r>
              <a:rPr lang="en-IN" dirty="0" err="1"/>
              <a:t>android:toXScale</a:t>
            </a:r>
            <a:r>
              <a:rPr lang="en-IN" dirty="0"/>
              <a:t>="0"</a:t>
            </a:r>
          </a:p>
          <a:p>
            <a:pPr marL="0" indent="0">
              <a:buNone/>
            </a:pPr>
            <a:r>
              <a:rPr lang="en-IN" dirty="0"/>
              <a:t>        </a:t>
            </a:r>
            <a:r>
              <a:rPr lang="en-IN" dirty="0" err="1"/>
              <a:t>android:toYScale</a:t>
            </a:r>
            <a:r>
              <a:rPr lang="en-IN" dirty="0"/>
              <a:t>="0" /&gt;</a:t>
            </a:r>
            <a:br>
              <a:rPr lang="en-IN" dirty="0"/>
            </a:br>
            <a:r>
              <a:rPr lang="en-IN" dirty="0"/>
              <a:t>&lt;/set&gt;</a:t>
            </a:r>
          </a:p>
          <a:p>
            <a:pPr marL="0" indent="0">
              <a:buNone/>
            </a:pPr>
            <a:r>
              <a:rPr lang="en-IN" dirty="0"/>
              <a:t>   </a:t>
            </a:r>
            <a:r>
              <a:rPr lang="en-IN" dirty="0" err="1"/>
              <a:t>b_scale.setOnClickListener</a:t>
            </a:r>
            <a:r>
              <a:rPr lang="en-IN" dirty="0"/>
              <a:t>(new </a:t>
            </a:r>
            <a:r>
              <a:rPr lang="en-IN" dirty="0" err="1"/>
              <a:t>View.OnClickListener</a:t>
            </a:r>
            <a:r>
              <a:rPr lang="en-IN" dirty="0"/>
              <a:t>() {</a:t>
            </a:r>
          </a:p>
          <a:p>
            <a:pPr marL="0" indent="0">
              <a:buNone/>
            </a:pPr>
            <a:r>
              <a:rPr lang="en-IN" dirty="0"/>
              <a:t>            @Override</a:t>
            </a:r>
          </a:p>
          <a:p>
            <a:pPr marL="0" indent="0">
              <a:buNone/>
            </a:pPr>
            <a:r>
              <a:rPr lang="en-IN" dirty="0"/>
              <a:t>            public void </a:t>
            </a:r>
            <a:r>
              <a:rPr lang="en-IN" dirty="0" err="1"/>
              <a:t>onClick</a:t>
            </a:r>
            <a:r>
              <a:rPr lang="en-IN" dirty="0"/>
              <a:t>(View v) {</a:t>
            </a:r>
          </a:p>
          <a:p>
            <a:pPr marL="0" indent="0">
              <a:buNone/>
            </a:pPr>
            <a:r>
              <a:rPr lang="en-IN" dirty="0"/>
              <a:t>                Animation </a:t>
            </a:r>
            <a:r>
              <a:rPr lang="en-IN" dirty="0" err="1"/>
              <a:t>animation</a:t>
            </a:r>
            <a:r>
              <a:rPr lang="en-IN" dirty="0"/>
              <a:t> = </a:t>
            </a:r>
            <a:r>
              <a:rPr lang="en-IN" dirty="0" err="1"/>
              <a:t>AnimationUtils.loadAnimation</a:t>
            </a:r>
            <a:r>
              <a:rPr lang="en-IN" dirty="0"/>
              <a:t>(</a:t>
            </a:r>
            <a:r>
              <a:rPr lang="en-IN" dirty="0" err="1"/>
              <a:t>MainActivity.this</a:t>
            </a:r>
            <a:r>
              <a:rPr lang="en-IN" dirty="0"/>
              <a:t>, </a:t>
            </a:r>
            <a:r>
              <a:rPr lang="en-IN" dirty="0" err="1"/>
              <a:t>R.anim.scale</a:t>
            </a:r>
            <a:r>
              <a:rPr lang="en-IN" dirty="0"/>
              <a:t>);</a:t>
            </a:r>
          </a:p>
          <a:p>
            <a:pPr marL="0" indent="0">
              <a:buNone/>
            </a:pPr>
            <a:r>
              <a:rPr lang="en-IN" dirty="0"/>
              <a:t>                </a:t>
            </a:r>
            <a:r>
              <a:rPr lang="en-IN" dirty="0" err="1"/>
              <a:t>txt.startAnimation</a:t>
            </a:r>
            <a:r>
              <a:rPr lang="en-IN" dirty="0"/>
              <a:t>(animation);</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4022383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9F8AC-E165-40E5-A21A-EE9BFDD912B7}"/>
              </a:ext>
            </a:extLst>
          </p:cNvPr>
          <p:cNvSpPr>
            <a:spLocks noGrp="1"/>
          </p:cNvSpPr>
          <p:nvPr>
            <p:ph type="title"/>
          </p:nvPr>
        </p:nvSpPr>
        <p:spPr>
          <a:xfrm>
            <a:off x="85663" y="71717"/>
            <a:ext cx="8596668" cy="744921"/>
          </a:xfrm>
        </p:spPr>
        <p:txBody>
          <a:bodyPr/>
          <a:lstStyle/>
          <a:p>
            <a:r>
              <a:rPr lang="en-IN" dirty="0"/>
              <a:t>Translate (for Moving)</a:t>
            </a:r>
          </a:p>
        </p:txBody>
      </p:sp>
      <p:sp>
        <p:nvSpPr>
          <p:cNvPr id="3" name="Content Placeholder 2">
            <a:extLst>
              <a:ext uri="{FF2B5EF4-FFF2-40B4-BE49-F238E27FC236}">
                <a16:creationId xmlns:a16="http://schemas.microsoft.com/office/drawing/2014/main" id="{F84B487C-136A-4C4D-A4DD-A9DB8EBEAB9B}"/>
              </a:ext>
            </a:extLst>
          </p:cNvPr>
          <p:cNvSpPr>
            <a:spLocks noGrp="1"/>
          </p:cNvSpPr>
          <p:nvPr>
            <p:ph idx="1"/>
          </p:nvPr>
        </p:nvSpPr>
        <p:spPr>
          <a:xfrm>
            <a:off x="215152" y="816638"/>
            <a:ext cx="10228730" cy="6104115"/>
          </a:xfrm>
        </p:spPr>
        <p:txBody>
          <a:bodyPr>
            <a:normAutofit fontScale="92500" lnSpcReduction="20000"/>
          </a:bodyPr>
          <a:lstStyle/>
          <a:p>
            <a:pPr marL="0" indent="0">
              <a:buNone/>
            </a:pPr>
            <a:r>
              <a:rPr lang="en-IN" dirty="0"/>
              <a:t>&lt;?xml version="1.0" encoding="utf-8"?&gt;</a:t>
            </a:r>
          </a:p>
          <a:p>
            <a:pPr marL="0" indent="0">
              <a:buNone/>
            </a:pPr>
            <a:r>
              <a:rPr lang="en-IN" dirty="0"/>
              <a:t>&lt;set </a:t>
            </a:r>
            <a:r>
              <a:rPr lang="en-IN" dirty="0" err="1"/>
              <a:t>xmlns:android</a:t>
            </a:r>
            <a:r>
              <a:rPr lang="en-IN" dirty="0"/>
              <a:t>="http://schemas.android.com/</a:t>
            </a:r>
            <a:r>
              <a:rPr lang="en-IN" dirty="0" err="1"/>
              <a:t>apk</a:t>
            </a:r>
            <a:r>
              <a:rPr lang="en-IN" dirty="0"/>
              <a:t>/res/android"</a:t>
            </a:r>
          </a:p>
          <a:p>
            <a:pPr marL="0" indent="0">
              <a:buNone/>
            </a:pPr>
            <a:r>
              <a:rPr lang="en-IN" dirty="0"/>
              <a:t>    </a:t>
            </a:r>
            <a:r>
              <a:rPr lang="en-IN" dirty="0" err="1"/>
              <a:t>android:duration</a:t>
            </a:r>
            <a:r>
              <a:rPr lang="en-IN" dirty="0"/>
              <a:t>="3000"</a:t>
            </a:r>
          </a:p>
          <a:p>
            <a:pPr marL="0" indent="0">
              <a:buNone/>
            </a:pPr>
            <a:r>
              <a:rPr lang="en-IN" dirty="0"/>
              <a:t>    </a:t>
            </a:r>
            <a:r>
              <a:rPr lang="en-IN" dirty="0" err="1"/>
              <a:t>android:fillAfter</a:t>
            </a:r>
            <a:r>
              <a:rPr lang="en-IN" dirty="0"/>
              <a:t>="true"&gt;</a:t>
            </a:r>
          </a:p>
          <a:p>
            <a:pPr marL="0" indent="0">
              <a:buNone/>
            </a:pPr>
            <a:br>
              <a:rPr lang="en-IN" dirty="0"/>
            </a:br>
            <a:r>
              <a:rPr lang="en-IN" dirty="0"/>
              <a:t>    &lt;translate</a:t>
            </a:r>
          </a:p>
          <a:p>
            <a:pPr marL="0" indent="0">
              <a:buNone/>
            </a:pPr>
            <a:r>
              <a:rPr lang="en-IN" dirty="0"/>
              <a:t>        </a:t>
            </a:r>
            <a:r>
              <a:rPr lang="en-IN" dirty="0" err="1"/>
              <a:t>android:fromXDelta</a:t>
            </a:r>
            <a:r>
              <a:rPr lang="en-IN" dirty="0"/>
              <a:t>="0"</a:t>
            </a:r>
          </a:p>
          <a:p>
            <a:pPr marL="0" indent="0">
              <a:buNone/>
            </a:pPr>
            <a:r>
              <a:rPr lang="en-IN" dirty="0"/>
              <a:t>        </a:t>
            </a:r>
            <a:r>
              <a:rPr lang="en-IN" dirty="0" err="1"/>
              <a:t>android:fromYDelta</a:t>
            </a:r>
            <a:r>
              <a:rPr lang="en-IN" dirty="0"/>
              <a:t>="0"</a:t>
            </a:r>
          </a:p>
          <a:p>
            <a:pPr marL="0" indent="0">
              <a:buNone/>
            </a:pPr>
            <a:r>
              <a:rPr lang="en-IN" dirty="0"/>
              <a:t>        </a:t>
            </a:r>
            <a:r>
              <a:rPr lang="en-IN" dirty="0" err="1"/>
              <a:t>android:toXDelta</a:t>
            </a:r>
            <a:r>
              <a:rPr lang="en-IN" dirty="0"/>
              <a:t>="-100"</a:t>
            </a:r>
          </a:p>
          <a:p>
            <a:pPr marL="0" indent="0">
              <a:buNone/>
            </a:pPr>
            <a:r>
              <a:rPr lang="en-IN" dirty="0"/>
              <a:t>        </a:t>
            </a:r>
            <a:r>
              <a:rPr lang="en-IN" dirty="0" err="1"/>
              <a:t>android:toYDelta</a:t>
            </a:r>
            <a:r>
              <a:rPr lang="en-IN" dirty="0"/>
              <a:t>="-200" /&gt;</a:t>
            </a:r>
            <a:br>
              <a:rPr lang="en-IN" dirty="0"/>
            </a:br>
            <a:r>
              <a:rPr lang="en-IN" dirty="0"/>
              <a:t>&lt;/set&gt;</a:t>
            </a:r>
          </a:p>
          <a:p>
            <a:pPr marL="0" indent="0">
              <a:buNone/>
            </a:pPr>
            <a:endParaRPr lang="en-IN" dirty="0"/>
          </a:p>
          <a:p>
            <a:pPr marL="0" indent="0">
              <a:buNone/>
            </a:pPr>
            <a:r>
              <a:rPr lang="en-IN" dirty="0" err="1"/>
              <a:t>b_translate.setOnClickListener</a:t>
            </a:r>
            <a:r>
              <a:rPr lang="en-IN" dirty="0"/>
              <a:t>(new </a:t>
            </a:r>
            <a:r>
              <a:rPr lang="en-IN" dirty="0" err="1"/>
              <a:t>View.OnClickListener</a:t>
            </a:r>
            <a:r>
              <a:rPr lang="en-IN" dirty="0"/>
              <a:t>() {</a:t>
            </a:r>
          </a:p>
          <a:p>
            <a:pPr marL="0" indent="0">
              <a:buNone/>
            </a:pPr>
            <a:r>
              <a:rPr lang="en-IN" dirty="0"/>
              <a:t>            @Override</a:t>
            </a:r>
          </a:p>
          <a:p>
            <a:pPr marL="0" indent="0">
              <a:buNone/>
            </a:pPr>
            <a:r>
              <a:rPr lang="en-IN" dirty="0"/>
              <a:t>            public void </a:t>
            </a:r>
            <a:r>
              <a:rPr lang="en-IN" dirty="0" err="1"/>
              <a:t>onClick</a:t>
            </a:r>
            <a:r>
              <a:rPr lang="en-IN" dirty="0"/>
              <a:t>(View v) {</a:t>
            </a:r>
          </a:p>
          <a:p>
            <a:pPr marL="0" indent="0">
              <a:buNone/>
            </a:pPr>
            <a:r>
              <a:rPr lang="en-IN" dirty="0"/>
              <a:t>                Animation </a:t>
            </a:r>
            <a:r>
              <a:rPr lang="en-IN" dirty="0" err="1"/>
              <a:t>animation</a:t>
            </a:r>
            <a:r>
              <a:rPr lang="en-IN" dirty="0"/>
              <a:t> = </a:t>
            </a:r>
            <a:r>
              <a:rPr lang="en-IN" dirty="0" err="1"/>
              <a:t>AnimationUtils.loadAnimation</a:t>
            </a:r>
            <a:r>
              <a:rPr lang="en-IN" dirty="0"/>
              <a:t>(</a:t>
            </a:r>
            <a:r>
              <a:rPr lang="en-IN" dirty="0" err="1"/>
              <a:t>MainActivity.this</a:t>
            </a:r>
            <a:r>
              <a:rPr lang="en-IN" dirty="0"/>
              <a:t>, </a:t>
            </a:r>
            <a:r>
              <a:rPr lang="en-IN" dirty="0" err="1"/>
              <a:t>R.anim.trans</a:t>
            </a:r>
            <a:r>
              <a:rPr lang="en-IN" dirty="0"/>
              <a:t>);</a:t>
            </a:r>
          </a:p>
          <a:p>
            <a:pPr marL="0" indent="0">
              <a:buNone/>
            </a:pPr>
            <a:r>
              <a:rPr lang="en-IN" dirty="0"/>
              <a:t>                </a:t>
            </a:r>
            <a:r>
              <a:rPr lang="en-IN" dirty="0" err="1"/>
              <a:t>txt.startAnimation</a:t>
            </a:r>
            <a:r>
              <a:rPr lang="en-IN" dirty="0"/>
              <a:t>(animation);</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821740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87FEF-E394-46F3-B463-829D3DB2C2B1}"/>
              </a:ext>
            </a:extLst>
          </p:cNvPr>
          <p:cNvSpPr>
            <a:spLocks noGrp="1"/>
          </p:cNvSpPr>
          <p:nvPr>
            <p:ph type="title"/>
          </p:nvPr>
        </p:nvSpPr>
        <p:spPr>
          <a:xfrm>
            <a:off x="184275" y="156238"/>
            <a:ext cx="8596668" cy="794021"/>
          </a:xfrm>
        </p:spPr>
        <p:txBody>
          <a:bodyPr/>
          <a:lstStyle/>
          <a:p>
            <a:r>
              <a:rPr lang="en-IN" dirty="0"/>
              <a:t>Frame By Frame Animation</a:t>
            </a:r>
          </a:p>
        </p:txBody>
      </p:sp>
      <p:sp>
        <p:nvSpPr>
          <p:cNvPr id="3" name="Content Placeholder 2">
            <a:extLst>
              <a:ext uri="{FF2B5EF4-FFF2-40B4-BE49-F238E27FC236}">
                <a16:creationId xmlns:a16="http://schemas.microsoft.com/office/drawing/2014/main" id="{5DE577F2-012B-4986-9B7F-6915BE6225FE}"/>
              </a:ext>
            </a:extLst>
          </p:cNvPr>
          <p:cNvSpPr>
            <a:spLocks noGrp="1"/>
          </p:cNvSpPr>
          <p:nvPr>
            <p:ph idx="1"/>
          </p:nvPr>
        </p:nvSpPr>
        <p:spPr>
          <a:xfrm>
            <a:off x="184275" y="950260"/>
            <a:ext cx="10725772" cy="5647764"/>
          </a:xfrm>
        </p:spPr>
        <p:txBody>
          <a:bodyPr>
            <a:normAutofit fontScale="92500" lnSpcReduction="20000"/>
          </a:bodyPr>
          <a:lstStyle/>
          <a:p>
            <a:r>
              <a:rPr lang="en-GB" sz="2400" dirty="0"/>
              <a:t>An object used to create frame-by-frame animations, defined by a series of Drawable objects, which can be used as a View object’s background.</a:t>
            </a:r>
          </a:p>
          <a:p>
            <a:r>
              <a:rPr lang="en-GB" sz="2400" dirty="0"/>
              <a:t>The simplest way to create a frame-by-frame animation is to define the animation in an XML file, placed in the res/drawable/ folder,</a:t>
            </a:r>
          </a:p>
          <a:p>
            <a:r>
              <a:rPr lang="en-GB" sz="2400" dirty="0"/>
              <a:t>Set it as the background to a View object. Then, call start() to run the animation.</a:t>
            </a:r>
          </a:p>
          <a:p>
            <a:r>
              <a:rPr lang="en-GB" sz="2400" dirty="0"/>
              <a:t>An Animation Drawable defined in XML consists of a single </a:t>
            </a:r>
            <a:r>
              <a:rPr lang="en-GB" sz="2400" b="1" dirty="0"/>
              <a:t>&lt;animation-list&gt; </a:t>
            </a:r>
            <a:r>
              <a:rPr lang="en-GB" sz="2400" dirty="0"/>
              <a:t>element and a series of nested </a:t>
            </a:r>
            <a:r>
              <a:rPr lang="en-GB" sz="2400" b="1" dirty="0"/>
              <a:t>&lt;item&gt; </a:t>
            </a:r>
            <a:r>
              <a:rPr lang="en-GB" sz="2400" dirty="0"/>
              <a:t>tags.</a:t>
            </a:r>
          </a:p>
          <a:p>
            <a:r>
              <a:rPr lang="en-GB" sz="2400" dirty="0"/>
              <a:t>Each item defines a frame of the animation.</a:t>
            </a:r>
          </a:p>
          <a:p>
            <a:endParaRPr lang="en-GB" sz="2400" dirty="0"/>
          </a:p>
          <a:p>
            <a:r>
              <a:rPr lang="en-GB" sz="2400" dirty="0"/>
              <a:t>XML attributes</a:t>
            </a:r>
          </a:p>
          <a:p>
            <a:pPr lvl="1"/>
            <a:r>
              <a:rPr lang="en-GB" sz="2200" b="1" dirty="0" err="1"/>
              <a:t>android</a:t>
            </a:r>
            <a:r>
              <a:rPr lang="en-GB" sz="2200" dirty="0" err="1"/>
              <a:t>:</a:t>
            </a:r>
            <a:r>
              <a:rPr lang="en-GB" sz="2200" b="1" dirty="0" err="1"/>
              <a:t>drawableReference</a:t>
            </a:r>
            <a:r>
              <a:rPr lang="en-GB" sz="2200" dirty="0"/>
              <a:t> to a drawable resource to use for the frame.</a:t>
            </a:r>
          </a:p>
          <a:p>
            <a:pPr lvl="1"/>
            <a:r>
              <a:rPr lang="en-GB" sz="2200" b="1" dirty="0" err="1"/>
              <a:t>android</a:t>
            </a:r>
            <a:r>
              <a:rPr lang="en-GB" sz="2200" dirty="0" err="1"/>
              <a:t>:</a:t>
            </a:r>
            <a:r>
              <a:rPr lang="en-GB" sz="2200" b="1" dirty="0" err="1"/>
              <a:t>duration</a:t>
            </a:r>
            <a:r>
              <a:rPr lang="en-GB" sz="2200" dirty="0"/>
              <a:t> Amount of time (in milliseconds) to display this frame.</a:t>
            </a:r>
          </a:p>
          <a:p>
            <a:pPr lvl="1"/>
            <a:r>
              <a:rPr lang="en-GB" sz="2400" b="1" dirty="0" err="1"/>
              <a:t>android</a:t>
            </a:r>
            <a:r>
              <a:rPr lang="en-GB" sz="2400" dirty="0" err="1"/>
              <a:t>:</a:t>
            </a:r>
            <a:r>
              <a:rPr lang="en-GB" sz="2400" b="1" dirty="0" err="1"/>
              <a:t>oneshot</a:t>
            </a:r>
            <a:r>
              <a:rPr lang="en-GB" sz="2400" dirty="0"/>
              <a:t> If true, the animation will only run a single time and then stop.</a:t>
            </a:r>
          </a:p>
          <a:p>
            <a:endParaRPr lang="en-GB" sz="2400" dirty="0"/>
          </a:p>
          <a:p>
            <a:endParaRPr lang="en-GB" dirty="0"/>
          </a:p>
          <a:p>
            <a:endParaRPr lang="en-IN" dirty="0"/>
          </a:p>
        </p:txBody>
      </p:sp>
    </p:spTree>
    <p:extLst>
      <p:ext uri="{BB962C8B-B14F-4D97-AF65-F5344CB8AC3E}">
        <p14:creationId xmlns:p14="http://schemas.microsoft.com/office/powerpoint/2010/main" val="1592012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B241EC-E2AC-4541-9E47-3EF2F8ABBC24}"/>
              </a:ext>
            </a:extLst>
          </p:cNvPr>
          <p:cNvSpPr>
            <a:spLocks noGrp="1"/>
          </p:cNvSpPr>
          <p:nvPr>
            <p:ph idx="1"/>
          </p:nvPr>
        </p:nvSpPr>
        <p:spPr>
          <a:xfrm>
            <a:off x="313765" y="358588"/>
            <a:ext cx="9959788" cy="6499411"/>
          </a:xfrm>
        </p:spPr>
        <p:txBody>
          <a:bodyPr>
            <a:normAutofit fontScale="85000" lnSpcReduction="20000"/>
          </a:bodyPr>
          <a:lstStyle/>
          <a:p>
            <a:r>
              <a:rPr lang="en-GB" b="1" dirty="0"/>
              <a:t>Example</a:t>
            </a:r>
          </a:p>
          <a:p>
            <a:pPr marL="0" indent="0">
              <a:lnSpc>
                <a:spcPct val="110000"/>
              </a:lnSpc>
              <a:buNone/>
            </a:pPr>
            <a:r>
              <a:rPr lang="en-IN" dirty="0"/>
              <a:t>&lt;?xml version="1.0" encoding="utf-8"?&gt;</a:t>
            </a:r>
          </a:p>
          <a:p>
            <a:pPr marL="0" indent="0">
              <a:lnSpc>
                <a:spcPct val="110000"/>
              </a:lnSpc>
              <a:buNone/>
            </a:pPr>
            <a:r>
              <a:rPr lang="en-IN" dirty="0"/>
              <a:t>&lt;animation-list </a:t>
            </a:r>
            <a:r>
              <a:rPr lang="en-IN" dirty="0" err="1"/>
              <a:t>xmlns:android</a:t>
            </a:r>
            <a:r>
              <a:rPr lang="en-IN" dirty="0"/>
              <a:t>="http://schemas.android.com/</a:t>
            </a:r>
            <a:r>
              <a:rPr lang="en-IN" dirty="0" err="1"/>
              <a:t>apk</a:t>
            </a:r>
            <a:r>
              <a:rPr lang="en-IN" dirty="0"/>
              <a:t>/res/android"</a:t>
            </a:r>
          </a:p>
          <a:p>
            <a:pPr marL="0" indent="0">
              <a:lnSpc>
                <a:spcPct val="110000"/>
              </a:lnSpc>
              <a:buNone/>
            </a:pPr>
            <a:r>
              <a:rPr lang="en-IN" dirty="0"/>
              <a:t>    </a:t>
            </a:r>
            <a:r>
              <a:rPr lang="en-IN" dirty="0" err="1"/>
              <a:t>android:oneshot</a:t>
            </a:r>
            <a:r>
              <a:rPr lang="en-IN" dirty="0"/>
              <a:t>="false"&gt;</a:t>
            </a:r>
          </a:p>
          <a:p>
            <a:pPr marL="0" indent="0">
              <a:lnSpc>
                <a:spcPct val="110000"/>
              </a:lnSpc>
              <a:buNone/>
            </a:pPr>
            <a:br>
              <a:rPr lang="en-IN" dirty="0"/>
            </a:br>
            <a:r>
              <a:rPr lang="en-IN" dirty="0"/>
              <a:t>    &lt;item </a:t>
            </a:r>
            <a:r>
              <a:rPr lang="en-IN" dirty="0" err="1"/>
              <a:t>android:drawable</a:t>
            </a:r>
            <a:r>
              <a:rPr lang="en-IN" dirty="0"/>
              <a:t>="@drawable/cb1" </a:t>
            </a:r>
            <a:r>
              <a:rPr lang="en-IN" dirty="0" err="1"/>
              <a:t>android:duration</a:t>
            </a:r>
            <a:r>
              <a:rPr lang="en-IN" dirty="0"/>
              <a:t>="60"/&gt;</a:t>
            </a:r>
          </a:p>
          <a:p>
            <a:pPr marL="0" indent="0">
              <a:lnSpc>
                <a:spcPct val="110000"/>
              </a:lnSpc>
              <a:buNone/>
            </a:pPr>
            <a:r>
              <a:rPr lang="en-IN" dirty="0"/>
              <a:t>   						.</a:t>
            </a:r>
          </a:p>
          <a:p>
            <a:pPr marL="0" indent="0">
              <a:lnSpc>
                <a:spcPct val="110000"/>
              </a:lnSpc>
              <a:buNone/>
            </a:pPr>
            <a:r>
              <a:rPr lang="en-IN" dirty="0"/>
              <a:t>						.</a:t>
            </a:r>
          </a:p>
          <a:p>
            <a:pPr marL="0" indent="0">
              <a:lnSpc>
                <a:spcPct val="110000"/>
              </a:lnSpc>
              <a:buNone/>
            </a:pPr>
            <a:r>
              <a:rPr lang="en-IN" dirty="0"/>
              <a:t>    &lt;item </a:t>
            </a:r>
            <a:r>
              <a:rPr lang="en-IN" dirty="0" err="1"/>
              <a:t>android:drawable</a:t>
            </a:r>
            <a:r>
              <a:rPr lang="en-IN" dirty="0"/>
              <a:t>="@drawable/cb60" </a:t>
            </a:r>
            <a:r>
              <a:rPr lang="en-IN" dirty="0" err="1"/>
              <a:t>android:duration</a:t>
            </a:r>
            <a:r>
              <a:rPr lang="en-IN" dirty="0"/>
              <a:t>="60"/&gt;</a:t>
            </a:r>
          </a:p>
          <a:p>
            <a:pPr marL="0" indent="0">
              <a:lnSpc>
                <a:spcPct val="110000"/>
              </a:lnSpc>
              <a:buNone/>
            </a:pPr>
            <a:r>
              <a:rPr lang="en-IN" dirty="0"/>
              <a:t>&lt;/animation-list&gt;</a:t>
            </a:r>
          </a:p>
          <a:p>
            <a:pPr marL="0" indent="0">
              <a:lnSpc>
                <a:spcPct val="120000"/>
              </a:lnSpc>
              <a:buNone/>
            </a:pPr>
            <a:r>
              <a:rPr lang="en-IN" dirty="0" err="1"/>
              <a:t>b_frame.setOnClickListener</a:t>
            </a:r>
            <a:r>
              <a:rPr lang="en-IN" dirty="0"/>
              <a:t>(new </a:t>
            </a:r>
            <a:r>
              <a:rPr lang="en-IN" dirty="0" err="1"/>
              <a:t>View.OnClickListener</a:t>
            </a:r>
            <a:r>
              <a:rPr lang="en-IN" dirty="0"/>
              <a:t>() {</a:t>
            </a:r>
          </a:p>
          <a:p>
            <a:pPr marL="0" indent="0">
              <a:lnSpc>
                <a:spcPct val="120000"/>
              </a:lnSpc>
              <a:buNone/>
            </a:pPr>
            <a:r>
              <a:rPr lang="en-IN" dirty="0"/>
              <a:t>            @Override</a:t>
            </a:r>
          </a:p>
          <a:p>
            <a:pPr marL="0" indent="0">
              <a:lnSpc>
                <a:spcPct val="120000"/>
              </a:lnSpc>
              <a:buNone/>
            </a:pPr>
            <a:r>
              <a:rPr lang="en-IN" dirty="0"/>
              <a:t>            public void </a:t>
            </a:r>
            <a:r>
              <a:rPr lang="en-IN" dirty="0" err="1"/>
              <a:t>onClick</a:t>
            </a:r>
            <a:r>
              <a:rPr lang="en-IN" dirty="0"/>
              <a:t>(View v) {</a:t>
            </a:r>
          </a:p>
          <a:p>
            <a:pPr marL="0" indent="0">
              <a:lnSpc>
                <a:spcPct val="120000"/>
              </a:lnSpc>
              <a:buNone/>
            </a:pPr>
            <a:r>
              <a:rPr lang="en-IN" dirty="0"/>
              <a:t>                </a:t>
            </a:r>
            <a:r>
              <a:rPr lang="en-IN" dirty="0" err="1"/>
              <a:t>img.setImageResource</a:t>
            </a:r>
            <a:r>
              <a:rPr lang="en-IN" dirty="0"/>
              <a:t>(0);</a:t>
            </a:r>
          </a:p>
          <a:p>
            <a:pPr marL="0" indent="0">
              <a:lnSpc>
                <a:spcPct val="120000"/>
              </a:lnSpc>
              <a:buNone/>
            </a:pPr>
            <a:r>
              <a:rPr lang="en-IN" dirty="0"/>
              <a:t>                </a:t>
            </a:r>
            <a:r>
              <a:rPr lang="en-IN" dirty="0" err="1"/>
              <a:t>img.setBackgroundResource</a:t>
            </a:r>
            <a:r>
              <a:rPr lang="en-IN" dirty="0"/>
              <a:t>(</a:t>
            </a:r>
            <a:r>
              <a:rPr lang="en-IN" dirty="0" err="1"/>
              <a:t>R.drawable.animation</a:t>
            </a:r>
            <a:r>
              <a:rPr lang="en-IN" dirty="0"/>
              <a:t>);</a:t>
            </a:r>
          </a:p>
          <a:p>
            <a:pPr marL="0" indent="0">
              <a:lnSpc>
                <a:spcPct val="120000"/>
              </a:lnSpc>
              <a:buNone/>
            </a:pPr>
            <a:r>
              <a:rPr lang="en-IN" dirty="0"/>
              <a:t>                </a:t>
            </a:r>
            <a:r>
              <a:rPr lang="en-IN" dirty="0" err="1"/>
              <a:t>AnimationDrawable</a:t>
            </a:r>
            <a:r>
              <a:rPr lang="en-IN" dirty="0"/>
              <a:t> </a:t>
            </a:r>
            <a:r>
              <a:rPr lang="en-IN" dirty="0" err="1"/>
              <a:t>anim</a:t>
            </a:r>
            <a:r>
              <a:rPr lang="en-IN" dirty="0"/>
              <a:t> = (</a:t>
            </a:r>
            <a:r>
              <a:rPr lang="en-IN" dirty="0" err="1"/>
              <a:t>AnimationDrawable</a:t>
            </a:r>
            <a:r>
              <a:rPr lang="en-IN" dirty="0"/>
              <a:t>) </a:t>
            </a:r>
            <a:r>
              <a:rPr lang="en-IN" dirty="0" err="1"/>
              <a:t>img.getBackground</a:t>
            </a:r>
            <a:r>
              <a:rPr lang="en-IN" dirty="0"/>
              <a:t>();</a:t>
            </a:r>
          </a:p>
          <a:p>
            <a:pPr marL="0" indent="0">
              <a:lnSpc>
                <a:spcPct val="120000"/>
              </a:lnSpc>
              <a:buNone/>
            </a:pPr>
            <a:r>
              <a:rPr lang="en-IN" dirty="0"/>
              <a:t>                </a:t>
            </a:r>
            <a:r>
              <a:rPr lang="en-IN" dirty="0" err="1"/>
              <a:t>anim.start</a:t>
            </a:r>
            <a:r>
              <a:rPr lang="en-IN" dirty="0"/>
              <a:t>();</a:t>
            </a:r>
          </a:p>
          <a:p>
            <a:pPr marL="0" indent="0">
              <a:lnSpc>
                <a:spcPct val="120000"/>
              </a:lnSpc>
              <a:buNone/>
            </a:pPr>
            <a:r>
              <a:rPr lang="en-IN" dirty="0"/>
              <a:t>            }</a:t>
            </a:r>
          </a:p>
          <a:p>
            <a:pPr marL="0" indent="0">
              <a:lnSpc>
                <a:spcPct val="120000"/>
              </a:lnSpc>
              <a:buNone/>
            </a:pPr>
            <a:r>
              <a:rPr lang="en-IN" dirty="0"/>
              <a:t>});</a:t>
            </a:r>
          </a:p>
        </p:txBody>
      </p:sp>
    </p:spTree>
    <p:extLst>
      <p:ext uri="{BB962C8B-B14F-4D97-AF65-F5344CB8AC3E}">
        <p14:creationId xmlns:p14="http://schemas.microsoft.com/office/powerpoint/2010/main" val="545646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54E9-F5F9-40AC-91BE-515BAFBCFEA4}"/>
              </a:ext>
            </a:extLst>
          </p:cNvPr>
          <p:cNvSpPr>
            <a:spLocks noGrp="1"/>
          </p:cNvSpPr>
          <p:nvPr>
            <p:ph type="title"/>
          </p:nvPr>
        </p:nvSpPr>
        <p:spPr>
          <a:xfrm>
            <a:off x="238064" y="233083"/>
            <a:ext cx="8596668" cy="797858"/>
          </a:xfrm>
        </p:spPr>
        <p:txBody>
          <a:bodyPr/>
          <a:lstStyle/>
          <a:p>
            <a:r>
              <a:rPr lang="en-IN" dirty="0"/>
              <a:t>Menu (Options, Context) </a:t>
            </a:r>
          </a:p>
        </p:txBody>
      </p:sp>
      <p:sp>
        <p:nvSpPr>
          <p:cNvPr id="3" name="Content Placeholder 2">
            <a:extLst>
              <a:ext uri="{FF2B5EF4-FFF2-40B4-BE49-F238E27FC236}">
                <a16:creationId xmlns:a16="http://schemas.microsoft.com/office/drawing/2014/main" id="{AEF4A6F6-C607-4DAD-B47C-F67A718BAFA4}"/>
              </a:ext>
            </a:extLst>
          </p:cNvPr>
          <p:cNvSpPr>
            <a:spLocks noGrp="1"/>
          </p:cNvSpPr>
          <p:nvPr>
            <p:ph idx="1"/>
          </p:nvPr>
        </p:nvSpPr>
        <p:spPr>
          <a:xfrm>
            <a:off x="238064" y="1030941"/>
            <a:ext cx="8596668" cy="4759409"/>
          </a:xfrm>
        </p:spPr>
        <p:txBody>
          <a:bodyPr/>
          <a:lstStyle/>
          <a:p>
            <a:r>
              <a:rPr lang="en-GB" dirty="0"/>
              <a:t>Menus are a common user interface component in many types of applications. To provide a familiar and consistent user experience, provides different ways of options.</a:t>
            </a:r>
          </a:p>
          <a:p>
            <a:r>
              <a:rPr lang="en-GB" dirty="0"/>
              <a:t>Two different type of menus can be created in Android.</a:t>
            </a:r>
          </a:p>
          <a:p>
            <a:pPr lvl="1"/>
            <a:r>
              <a:rPr lang="en-IN" dirty="0"/>
              <a:t>Option Menu</a:t>
            </a:r>
          </a:p>
          <a:p>
            <a:pPr lvl="1"/>
            <a:r>
              <a:rPr lang="en-IN" dirty="0"/>
              <a:t>Context Menu</a:t>
            </a:r>
          </a:p>
        </p:txBody>
      </p:sp>
      <p:pic>
        <p:nvPicPr>
          <p:cNvPr id="4" name="Picture 3">
            <a:extLst>
              <a:ext uri="{FF2B5EF4-FFF2-40B4-BE49-F238E27FC236}">
                <a16:creationId xmlns:a16="http://schemas.microsoft.com/office/drawing/2014/main" id="{7A018D05-C0C6-4587-9D3B-4AA9EFE27558}"/>
              </a:ext>
            </a:extLst>
          </p:cNvPr>
          <p:cNvPicPr>
            <a:picLocks noChangeAspect="1"/>
          </p:cNvPicPr>
          <p:nvPr/>
        </p:nvPicPr>
        <p:blipFill>
          <a:blip r:embed="rId2"/>
          <a:stretch>
            <a:fillRect/>
          </a:stretch>
        </p:blipFill>
        <p:spPr>
          <a:xfrm>
            <a:off x="602472" y="3540861"/>
            <a:ext cx="4138019" cy="2286198"/>
          </a:xfrm>
          <a:prstGeom prst="rect">
            <a:avLst/>
          </a:prstGeom>
        </p:spPr>
      </p:pic>
      <p:pic>
        <p:nvPicPr>
          <p:cNvPr id="5" name="Picture 4">
            <a:extLst>
              <a:ext uri="{FF2B5EF4-FFF2-40B4-BE49-F238E27FC236}">
                <a16:creationId xmlns:a16="http://schemas.microsoft.com/office/drawing/2014/main" id="{A26410A0-E204-4352-B7DB-53FBD36CA599}"/>
              </a:ext>
            </a:extLst>
          </p:cNvPr>
          <p:cNvPicPr>
            <a:picLocks noChangeAspect="1"/>
          </p:cNvPicPr>
          <p:nvPr/>
        </p:nvPicPr>
        <p:blipFill>
          <a:blip r:embed="rId3"/>
          <a:stretch>
            <a:fillRect/>
          </a:stretch>
        </p:blipFill>
        <p:spPr>
          <a:xfrm>
            <a:off x="5131091" y="3500519"/>
            <a:ext cx="4025695" cy="2286197"/>
          </a:xfrm>
          <a:prstGeom prst="rect">
            <a:avLst/>
          </a:prstGeom>
        </p:spPr>
      </p:pic>
    </p:spTree>
    <p:extLst>
      <p:ext uri="{BB962C8B-B14F-4D97-AF65-F5344CB8AC3E}">
        <p14:creationId xmlns:p14="http://schemas.microsoft.com/office/powerpoint/2010/main" val="302128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FA923-FD2B-4A14-932A-C1E78B816050}"/>
              </a:ext>
            </a:extLst>
          </p:cNvPr>
          <p:cNvSpPr>
            <a:spLocks noGrp="1"/>
          </p:cNvSpPr>
          <p:nvPr>
            <p:ph type="title"/>
          </p:nvPr>
        </p:nvSpPr>
        <p:spPr>
          <a:xfrm>
            <a:off x="229099" y="156237"/>
            <a:ext cx="8596668" cy="660400"/>
          </a:xfrm>
        </p:spPr>
        <p:txBody>
          <a:bodyPr/>
          <a:lstStyle/>
          <a:p>
            <a:r>
              <a:rPr lang="en-IN" dirty="0"/>
              <a:t>Context Menu</a:t>
            </a:r>
          </a:p>
        </p:txBody>
      </p:sp>
      <p:sp>
        <p:nvSpPr>
          <p:cNvPr id="3" name="Content Placeholder 2">
            <a:extLst>
              <a:ext uri="{FF2B5EF4-FFF2-40B4-BE49-F238E27FC236}">
                <a16:creationId xmlns:a16="http://schemas.microsoft.com/office/drawing/2014/main" id="{0B1E0DC8-8704-41D6-A013-192380A87030}"/>
              </a:ext>
            </a:extLst>
          </p:cNvPr>
          <p:cNvSpPr>
            <a:spLocks noGrp="1"/>
          </p:cNvSpPr>
          <p:nvPr>
            <p:ph idx="1"/>
          </p:nvPr>
        </p:nvSpPr>
        <p:spPr>
          <a:xfrm>
            <a:off x="229099" y="890495"/>
            <a:ext cx="9838266" cy="4490468"/>
          </a:xfrm>
        </p:spPr>
        <p:txBody>
          <a:bodyPr/>
          <a:lstStyle/>
          <a:p>
            <a:r>
              <a:rPr lang="en-GB" sz="2400" dirty="0"/>
              <a:t>Context Menu-displays information about a specific View in an Activity.</a:t>
            </a:r>
          </a:p>
          <a:p>
            <a:r>
              <a:rPr lang="en-GB" sz="2400" dirty="0"/>
              <a:t>In Android, the context menu is activated by pressing and holding for a period of time.</a:t>
            </a:r>
          </a:p>
          <a:p>
            <a:r>
              <a:rPr lang="en-GB" sz="2400" dirty="0"/>
              <a:t>Context Menu needs to override the </a:t>
            </a:r>
            <a:r>
              <a:rPr lang="en-GB" sz="2400" dirty="0" err="1"/>
              <a:t>onCreateContextMenu</a:t>
            </a:r>
            <a:r>
              <a:rPr lang="en-GB" sz="2400" dirty="0"/>
              <a:t>() and </a:t>
            </a:r>
            <a:r>
              <a:rPr lang="en-GB" sz="2400" dirty="0" err="1"/>
              <a:t>onContextItemSelected</a:t>
            </a:r>
            <a:r>
              <a:rPr lang="en-GB" sz="2400" dirty="0"/>
              <a:t>() methods.</a:t>
            </a:r>
          </a:p>
          <a:p>
            <a:r>
              <a:rPr lang="en-GB" sz="2400" dirty="0"/>
              <a:t>When the </a:t>
            </a:r>
            <a:r>
              <a:rPr lang="en-GB" sz="2400" dirty="0" err="1"/>
              <a:t>ContextMenu</a:t>
            </a:r>
            <a:r>
              <a:rPr lang="en-GB" sz="2400" dirty="0"/>
              <a:t> is created, </a:t>
            </a:r>
            <a:r>
              <a:rPr lang="en-GB" sz="2400" dirty="0" err="1"/>
              <a:t>onCreateContextMenu</a:t>
            </a:r>
            <a:r>
              <a:rPr lang="en-GB" sz="2400" dirty="0"/>
              <a:t>() is called, and </a:t>
            </a:r>
            <a:r>
              <a:rPr lang="en-GB" sz="2400" dirty="0" err="1"/>
              <a:t>onContextItemSelected</a:t>
            </a:r>
            <a:r>
              <a:rPr lang="en-GB" sz="2400" dirty="0"/>
              <a:t>() is called when the option is selected.</a:t>
            </a:r>
          </a:p>
          <a:p>
            <a:endParaRPr lang="en-IN" dirty="0"/>
          </a:p>
        </p:txBody>
      </p:sp>
    </p:spTree>
    <p:extLst>
      <p:ext uri="{BB962C8B-B14F-4D97-AF65-F5344CB8AC3E}">
        <p14:creationId xmlns:p14="http://schemas.microsoft.com/office/powerpoint/2010/main" val="4285994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307205-F44A-406F-ABF1-1F929DC6C947}"/>
              </a:ext>
            </a:extLst>
          </p:cNvPr>
          <p:cNvSpPr>
            <a:spLocks noGrp="1"/>
          </p:cNvSpPr>
          <p:nvPr>
            <p:ph idx="1"/>
          </p:nvPr>
        </p:nvSpPr>
        <p:spPr>
          <a:xfrm>
            <a:off x="0" y="215154"/>
            <a:ext cx="8596668" cy="528918"/>
          </a:xfrm>
        </p:spPr>
        <p:txBody>
          <a:bodyPr/>
          <a:lstStyle/>
          <a:p>
            <a:r>
              <a:rPr lang="en-GB" dirty="0"/>
              <a:t>First create xml resource file of menu items as per below </a:t>
            </a:r>
            <a:endParaRPr lang="en-IN" dirty="0"/>
          </a:p>
        </p:txBody>
      </p:sp>
      <p:pic>
        <p:nvPicPr>
          <p:cNvPr id="5" name="Picture 4">
            <a:extLst>
              <a:ext uri="{FF2B5EF4-FFF2-40B4-BE49-F238E27FC236}">
                <a16:creationId xmlns:a16="http://schemas.microsoft.com/office/drawing/2014/main" id="{A5272713-2151-497F-BA55-F14E79CAF20C}"/>
              </a:ext>
            </a:extLst>
          </p:cNvPr>
          <p:cNvPicPr>
            <a:picLocks noChangeAspect="1"/>
          </p:cNvPicPr>
          <p:nvPr/>
        </p:nvPicPr>
        <p:blipFill>
          <a:blip r:embed="rId2"/>
          <a:stretch>
            <a:fillRect/>
          </a:stretch>
        </p:blipFill>
        <p:spPr>
          <a:xfrm>
            <a:off x="0" y="1237130"/>
            <a:ext cx="12192000" cy="5587153"/>
          </a:xfrm>
          <a:prstGeom prst="rect">
            <a:avLst/>
          </a:prstGeom>
        </p:spPr>
      </p:pic>
    </p:spTree>
    <p:extLst>
      <p:ext uri="{BB962C8B-B14F-4D97-AF65-F5344CB8AC3E}">
        <p14:creationId xmlns:p14="http://schemas.microsoft.com/office/powerpoint/2010/main" val="161597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0DCCE6-87D9-43EB-8179-0EC702C93E78}"/>
              </a:ext>
            </a:extLst>
          </p:cNvPr>
          <p:cNvSpPr>
            <a:spLocks noGrp="1"/>
          </p:cNvSpPr>
          <p:nvPr>
            <p:ph idx="1"/>
          </p:nvPr>
        </p:nvSpPr>
        <p:spPr>
          <a:xfrm>
            <a:off x="0" y="409716"/>
            <a:ext cx="8596668" cy="394353"/>
          </a:xfrm>
        </p:spPr>
        <p:txBody>
          <a:bodyPr/>
          <a:lstStyle/>
          <a:p>
            <a:r>
              <a:rPr lang="en-IN" dirty="0"/>
              <a:t>Create </a:t>
            </a:r>
            <a:r>
              <a:rPr lang="en-IN" dirty="0" err="1"/>
              <a:t>onCreateContextMenu</a:t>
            </a:r>
            <a:r>
              <a:rPr lang="en-IN" dirty="0"/>
              <a:t>( ) method</a:t>
            </a:r>
          </a:p>
        </p:txBody>
      </p:sp>
      <p:pic>
        <p:nvPicPr>
          <p:cNvPr id="4" name="Picture 3">
            <a:extLst>
              <a:ext uri="{FF2B5EF4-FFF2-40B4-BE49-F238E27FC236}">
                <a16:creationId xmlns:a16="http://schemas.microsoft.com/office/drawing/2014/main" id="{20231F3E-8D8E-45E4-8689-C27F4CD1654A}"/>
              </a:ext>
            </a:extLst>
          </p:cNvPr>
          <p:cNvPicPr>
            <a:picLocks noChangeAspect="1"/>
          </p:cNvPicPr>
          <p:nvPr/>
        </p:nvPicPr>
        <p:blipFill>
          <a:blip r:embed="rId2"/>
          <a:stretch>
            <a:fillRect/>
          </a:stretch>
        </p:blipFill>
        <p:spPr>
          <a:xfrm>
            <a:off x="0" y="1052328"/>
            <a:ext cx="12147397" cy="2431532"/>
          </a:xfrm>
          <a:prstGeom prst="rect">
            <a:avLst/>
          </a:prstGeom>
        </p:spPr>
      </p:pic>
      <p:sp>
        <p:nvSpPr>
          <p:cNvPr id="5" name="Content Placeholder 2">
            <a:extLst>
              <a:ext uri="{FF2B5EF4-FFF2-40B4-BE49-F238E27FC236}">
                <a16:creationId xmlns:a16="http://schemas.microsoft.com/office/drawing/2014/main" id="{3CE01FA4-9C37-4D4D-A998-DCCC549E1779}"/>
              </a:ext>
            </a:extLst>
          </p:cNvPr>
          <p:cNvSpPr txBox="1">
            <a:spLocks/>
          </p:cNvSpPr>
          <p:nvPr/>
        </p:nvSpPr>
        <p:spPr>
          <a:xfrm>
            <a:off x="0" y="3980377"/>
            <a:ext cx="8596668" cy="13267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 </a:t>
            </a:r>
            <a:r>
              <a:rPr lang="en-GB" dirty="0" err="1"/>
              <a:t>MenuInflater</a:t>
            </a:r>
            <a:r>
              <a:rPr lang="en-GB" dirty="0"/>
              <a:t> is an object that is able to create Menu from xml resources. </a:t>
            </a:r>
          </a:p>
          <a:p>
            <a:r>
              <a:rPr lang="en-GB" dirty="0"/>
              <a:t>A </a:t>
            </a:r>
            <a:r>
              <a:rPr lang="en-GB" dirty="0" err="1"/>
              <a:t>MenuInflater</a:t>
            </a:r>
            <a:r>
              <a:rPr lang="en-GB" dirty="0"/>
              <a:t> can "inflate" menu resources, converting the XML representation into a tree of Menu and </a:t>
            </a:r>
            <a:r>
              <a:rPr lang="en-GB" dirty="0" err="1"/>
              <a:t>MenuItem</a:t>
            </a:r>
            <a:r>
              <a:rPr lang="en-GB" dirty="0"/>
              <a:t> objects</a:t>
            </a:r>
            <a:endParaRPr lang="en-IN" dirty="0"/>
          </a:p>
        </p:txBody>
      </p:sp>
    </p:spTree>
    <p:extLst>
      <p:ext uri="{BB962C8B-B14F-4D97-AF65-F5344CB8AC3E}">
        <p14:creationId xmlns:p14="http://schemas.microsoft.com/office/powerpoint/2010/main" val="1282360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47EAA-743D-4BF5-B7D9-FF7B8A05117A}"/>
              </a:ext>
            </a:extLst>
          </p:cNvPr>
          <p:cNvSpPr>
            <a:spLocks noGrp="1"/>
          </p:cNvSpPr>
          <p:nvPr>
            <p:ph idx="1"/>
          </p:nvPr>
        </p:nvSpPr>
        <p:spPr>
          <a:xfrm>
            <a:off x="0" y="502119"/>
            <a:ext cx="8596668" cy="600540"/>
          </a:xfrm>
        </p:spPr>
        <p:txBody>
          <a:bodyPr/>
          <a:lstStyle/>
          <a:p>
            <a:r>
              <a:rPr lang="en-GB" dirty="0" err="1"/>
              <a:t>onContextItemSelected</a:t>
            </a:r>
            <a:r>
              <a:rPr lang="en-GB" dirty="0"/>
              <a:t> ( ) method : It returns the selected item. </a:t>
            </a:r>
            <a:endParaRPr lang="en-IN" dirty="0"/>
          </a:p>
        </p:txBody>
      </p:sp>
      <p:pic>
        <p:nvPicPr>
          <p:cNvPr id="4" name="Picture 3">
            <a:extLst>
              <a:ext uri="{FF2B5EF4-FFF2-40B4-BE49-F238E27FC236}">
                <a16:creationId xmlns:a16="http://schemas.microsoft.com/office/drawing/2014/main" id="{12BB5D1C-D3D1-421C-8CD3-5773D5015F3A}"/>
              </a:ext>
            </a:extLst>
          </p:cNvPr>
          <p:cNvPicPr>
            <a:picLocks noChangeAspect="1"/>
          </p:cNvPicPr>
          <p:nvPr/>
        </p:nvPicPr>
        <p:blipFill>
          <a:blip r:embed="rId2"/>
          <a:stretch>
            <a:fillRect/>
          </a:stretch>
        </p:blipFill>
        <p:spPr>
          <a:xfrm>
            <a:off x="430707" y="1102658"/>
            <a:ext cx="7181056" cy="5755341"/>
          </a:xfrm>
          <a:prstGeom prst="rect">
            <a:avLst/>
          </a:prstGeom>
        </p:spPr>
      </p:pic>
    </p:spTree>
    <p:extLst>
      <p:ext uri="{BB962C8B-B14F-4D97-AF65-F5344CB8AC3E}">
        <p14:creationId xmlns:p14="http://schemas.microsoft.com/office/powerpoint/2010/main" val="126318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C8FC41-22D5-4F70-9766-06001E898B2B}"/>
              </a:ext>
            </a:extLst>
          </p:cNvPr>
          <p:cNvSpPr>
            <a:spLocks noGrp="1"/>
          </p:cNvSpPr>
          <p:nvPr>
            <p:ph idx="1"/>
          </p:nvPr>
        </p:nvSpPr>
        <p:spPr>
          <a:xfrm>
            <a:off x="202204" y="358683"/>
            <a:ext cx="8596668" cy="1263929"/>
          </a:xfrm>
        </p:spPr>
        <p:txBody>
          <a:bodyPr/>
          <a:lstStyle/>
          <a:p>
            <a:r>
              <a:rPr lang="en-GB" dirty="0"/>
              <a:t>In Activity class, there is method called </a:t>
            </a:r>
            <a:r>
              <a:rPr lang="en-GB" dirty="0" err="1"/>
              <a:t>registerForContextMenu</a:t>
            </a:r>
            <a:r>
              <a:rPr lang="en-GB" dirty="0"/>
              <a:t>(View view).</a:t>
            </a:r>
          </a:p>
          <a:p>
            <a:r>
              <a:rPr lang="en-GB" dirty="0"/>
              <a:t>This method is used to registers a context menu to be shown for the given view (multiple views can show the context menu).</a:t>
            </a:r>
            <a:endParaRPr lang="en-IN" dirty="0"/>
          </a:p>
        </p:txBody>
      </p:sp>
      <p:pic>
        <p:nvPicPr>
          <p:cNvPr id="4" name="Picture 3">
            <a:extLst>
              <a:ext uri="{FF2B5EF4-FFF2-40B4-BE49-F238E27FC236}">
                <a16:creationId xmlns:a16="http://schemas.microsoft.com/office/drawing/2014/main" id="{B67EF244-F75A-499B-BE31-A8737F7F3047}"/>
              </a:ext>
            </a:extLst>
          </p:cNvPr>
          <p:cNvPicPr>
            <a:picLocks noChangeAspect="1"/>
          </p:cNvPicPr>
          <p:nvPr/>
        </p:nvPicPr>
        <p:blipFill>
          <a:blip r:embed="rId2"/>
          <a:stretch>
            <a:fillRect/>
          </a:stretch>
        </p:blipFill>
        <p:spPr>
          <a:xfrm>
            <a:off x="202204" y="1622612"/>
            <a:ext cx="7976365" cy="2662517"/>
          </a:xfrm>
          <a:prstGeom prst="rect">
            <a:avLst/>
          </a:prstGeom>
        </p:spPr>
      </p:pic>
    </p:spTree>
    <p:extLst>
      <p:ext uri="{BB962C8B-B14F-4D97-AF65-F5344CB8AC3E}">
        <p14:creationId xmlns:p14="http://schemas.microsoft.com/office/powerpoint/2010/main" val="3728624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9F36-5010-43EE-893B-6F472FC64301}"/>
              </a:ext>
            </a:extLst>
          </p:cNvPr>
          <p:cNvSpPr>
            <a:spLocks noGrp="1"/>
          </p:cNvSpPr>
          <p:nvPr>
            <p:ph type="title"/>
          </p:nvPr>
        </p:nvSpPr>
        <p:spPr>
          <a:xfrm>
            <a:off x="587687" y="143435"/>
            <a:ext cx="8596668" cy="914400"/>
          </a:xfrm>
        </p:spPr>
        <p:txBody>
          <a:bodyPr/>
          <a:lstStyle/>
          <a:p>
            <a:r>
              <a:rPr lang="en-IN" dirty="0"/>
              <a:t>Options Menu</a:t>
            </a:r>
          </a:p>
        </p:txBody>
      </p:sp>
      <p:sp>
        <p:nvSpPr>
          <p:cNvPr id="3" name="Content Placeholder 2">
            <a:extLst>
              <a:ext uri="{FF2B5EF4-FFF2-40B4-BE49-F238E27FC236}">
                <a16:creationId xmlns:a16="http://schemas.microsoft.com/office/drawing/2014/main" id="{666EE931-47A2-43E7-91C5-98015126B78E}"/>
              </a:ext>
            </a:extLst>
          </p:cNvPr>
          <p:cNvSpPr>
            <a:spLocks noGrp="1"/>
          </p:cNvSpPr>
          <p:nvPr>
            <p:ph idx="1"/>
          </p:nvPr>
        </p:nvSpPr>
        <p:spPr>
          <a:xfrm>
            <a:off x="587687" y="857779"/>
            <a:ext cx="10031552" cy="5794033"/>
          </a:xfrm>
        </p:spPr>
        <p:txBody>
          <a:bodyPr>
            <a:normAutofit/>
          </a:bodyPr>
          <a:lstStyle/>
          <a:p>
            <a:r>
              <a:rPr lang="en-GB" dirty="0"/>
              <a:t>Options Menu-Display the information of the current Activity. In Android, activate the options menu by pressing the MENU button.</a:t>
            </a:r>
          </a:p>
          <a:p>
            <a:r>
              <a:rPr lang="en-GB" dirty="0"/>
              <a:t>Options Menu needs to rewrite two methods-</a:t>
            </a:r>
            <a:r>
              <a:rPr lang="en-GB" dirty="0" err="1"/>
              <a:t>onCreateOptionsMenu</a:t>
            </a:r>
            <a:r>
              <a:rPr lang="en-GB" dirty="0"/>
              <a:t>() and </a:t>
            </a:r>
            <a:r>
              <a:rPr lang="en-GB" dirty="0" err="1"/>
              <a:t>onOptionsItemSelected</a:t>
            </a:r>
            <a:r>
              <a:rPr lang="en-GB" dirty="0"/>
              <a:t>(). </a:t>
            </a:r>
          </a:p>
          <a:p>
            <a:r>
              <a:rPr lang="en-GB" dirty="0"/>
              <a:t>The </a:t>
            </a:r>
            <a:r>
              <a:rPr lang="en-GB" dirty="0" err="1"/>
              <a:t>onCreateOptionsMenu</a:t>
            </a:r>
            <a:r>
              <a:rPr lang="en-GB" dirty="0"/>
              <a:t>() method is called when the MENU button is pressed. When a menu item is selected, the </a:t>
            </a:r>
            <a:r>
              <a:rPr lang="en-GB" dirty="0" err="1"/>
              <a:t>onOptionsItemSelected</a:t>
            </a:r>
            <a:r>
              <a:rPr lang="en-GB" dirty="0"/>
              <a:t>() method will be called.</a:t>
            </a:r>
          </a:p>
          <a:p>
            <a:r>
              <a:rPr lang="en-IN" b="1" dirty="0" err="1"/>
              <a:t>onCreateOptionsMenu</a:t>
            </a:r>
            <a:r>
              <a:rPr lang="en-IN" b="1" dirty="0"/>
              <a:t> ( ) method</a:t>
            </a:r>
          </a:p>
          <a:p>
            <a:endParaRPr lang="en-IN" b="1" dirty="0"/>
          </a:p>
          <a:p>
            <a:endParaRPr lang="en-IN" b="1" dirty="0"/>
          </a:p>
          <a:p>
            <a:endParaRPr lang="en-IN" b="1" dirty="0"/>
          </a:p>
          <a:p>
            <a:endParaRPr lang="en-IN" b="1" dirty="0"/>
          </a:p>
          <a:p>
            <a:endParaRPr lang="en-GB" dirty="0"/>
          </a:p>
          <a:p>
            <a:r>
              <a:rPr lang="en-GB" dirty="0"/>
              <a:t>A </a:t>
            </a:r>
            <a:r>
              <a:rPr lang="en-GB" b="1" dirty="0" err="1"/>
              <a:t>MenuInflater</a:t>
            </a:r>
            <a:r>
              <a:rPr lang="en-GB" dirty="0"/>
              <a:t> is an object that is able to create Menu from xml resources. </a:t>
            </a:r>
          </a:p>
          <a:p>
            <a:r>
              <a:rPr lang="en-GB" dirty="0"/>
              <a:t>A </a:t>
            </a:r>
            <a:r>
              <a:rPr lang="en-GB" b="1" dirty="0" err="1"/>
              <a:t>MenuInflater</a:t>
            </a:r>
            <a:r>
              <a:rPr lang="en-GB" dirty="0"/>
              <a:t> can "inflate" menu resources, converting the XML representation into a tree of Menu and </a:t>
            </a:r>
            <a:r>
              <a:rPr lang="en-GB" b="1" dirty="0" err="1"/>
              <a:t>MenuItem</a:t>
            </a:r>
            <a:r>
              <a:rPr lang="en-GB" dirty="0"/>
              <a:t> objects. </a:t>
            </a:r>
            <a:endParaRPr lang="en-GB" b="1" dirty="0"/>
          </a:p>
        </p:txBody>
      </p:sp>
      <p:pic>
        <p:nvPicPr>
          <p:cNvPr id="6" name="Picture 5">
            <a:extLst>
              <a:ext uri="{FF2B5EF4-FFF2-40B4-BE49-F238E27FC236}">
                <a16:creationId xmlns:a16="http://schemas.microsoft.com/office/drawing/2014/main" id="{75120FFF-C1BC-4383-8DF7-318345032BD3}"/>
              </a:ext>
            </a:extLst>
          </p:cNvPr>
          <p:cNvPicPr>
            <a:picLocks noChangeAspect="1"/>
          </p:cNvPicPr>
          <p:nvPr/>
        </p:nvPicPr>
        <p:blipFill>
          <a:blip r:embed="rId2"/>
          <a:stretch>
            <a:fillRect/>
          </a:stretch>
        </p:blipFill>
        <p:spPr>
          <a:xfrm>
            <a:off x="2205317" y="3300661"/>
            <a:ext cx="6042212" cy="1943692"/>
          </a:xfrm>
          <a:prstGeom prst="rect">
            <a:avLst/>
          </a:prstGeom>
        </p:spPr>
      </p:pic>
    </p:spTree>
    <p:extLst>
      <p:ext uri="{BB962C8B-B14F-4D97-AF65-F5344CB8AC3E}">
        <p14:creationId xmlns:p14="http://schemas.microsoft.com/office/powerpoint/2010/main" val="198979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317413-27FF-4AB6-B9BE-8EEEC61675E3}"/>
              </a:ext>
            </a:extLst>
          </p:cNvPr>
          <p:cNvPicPr>
            <a:picLocks noChangeAspect="1"/>
          </p:cNvPicPr>
          <p:nvPr/>
        </p:nvPicPr>
        <p:blipFill>
          <a:blip r:embed="rId2"/>
          <a:stretch>
            <a:fillRect/>
          </a:stretch>
        </p:blipFill>
        <p:spPr>
          <a:xfrm>
            <a:off x="727220" y="541030"/>
            <a:ext cx="7618921" cy="5775940"/>
          </a:xfrm>
          <a:prstGeom prst="rect">
            <a:avLst/>
          </a:prstGeom>
        </p:spPr>
      </p:pic>
    </p:spTree>
    <p:extLst>
      <p:ext uri="{BB962C8B-B14F-4D97-AF65-F5344CB8AC3E}">
        <p14:creationId xmlns:p14="http://schemas.microsoft.com/office/powerpoint/2010/main" val="3127188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5EF5-643A-4951-AD68-C34F4E6890B7}"/>
              </a:ext>
            </a:extLst>
          </p:cNvPr>
          <p:cNvSpPr>
            <a:spLocks noGrp="1"/>
          </p:cNvSpPr>
          <p:nvPr>
            <p:ph type="title"/>
          </p:nvPr>
        </p:nvSpPr>
        <p:spPr>
          <a:xfrm>
            <a:off x="157381" y="156237"/>
            <a:ext cx="8596668" cy="802987"/>
          </a:xfrm>
        </p:spPr>
        <p:txBody>
          <a:bodyPr/>
          <a:lstStyle/>
          <a:p>
            <a:r>
              <a:rPr lang="en-IN" dirty="0"/>
              <a:t>Action Bar</a:t>
            </a:r>
          </a:p>
        </p:txBody>
      </p:sp>
      <p:sp>
        <p:nvSpPr>
          <p:cNvPr id="3" name="Content Placeholder 2">
            <a:extLst>
              <a:ext uri="{FF2B5EF4-FFF2-40B4-BE49-F238E27FC236}">
                <a16:creationId xmlns:a16="http://schemas.microsoft.com/office/drawing/2014/main" id="{DB971FD3-A2BF-41DF-9825-310C02B32697}"/>
              </a:ext>
            </a:extLst>
          </p:cNvPr>
          <p:cNvSpPr>
            <a:spLocks noGrp="1"/>
          </p:cNvSpPr>
          <p:nvPr>
            <p:ph idx="1"/>
          </p:nvPr>
        </p:nvSpPr>
        <p:spPr>
          <a:xfrm>
            <a:off x="157380" y="959224"/>
            <a:ext cx="9820337" cy="5898776"/>
          </a:xfrm>
        </p:spPr>
        <p:txBody>
          <a:bodyPr>
            <a:normAutofit/>
          </a:bodyPr>
          <a:lstStyle/>
          <a:p>
            <a:r>
              <a:rPr lang="en-GB" dirty="0"/>
              <a:t>Android </a:t>
            </a:r>
            <a:r>
              <a:rPr lang="en-GB" dirty="0" err="1"/>
              <a:t>ActionBar</a:t>
            </a:r>
            <a:r>
              <a:rPr lang="en-GB" dirty="0"/>
              <a:t> is a menu bar that runs across the top of the activity screen in android.</a:t>
            </a:r>
          </a:p>
          <a:p>
            <a:r>
              <a:rPr lang="en-GB" dirty="0"/>
              <a:t>Android </a:t>
            </a:r>
            <a:r>
              <a:rPr lang="en-GB" dirty="0" err="1"/>
              <a:t>ActionBar</a:t>
            </a:r>
            <a:r>
              <a:rPr lang="en-GB" dirty="0"/>
              <a:t> can contain menu items which become visible when the user clicks the “menu” button.</a:t>
            </a:r>
          </a:p>
          <a:p>
            <a:r>
              <a:rPr lang="en-GB" dirty="0"/>
              <a:t>In general an </a:t>
            </a:r>
            <a:r>
              <a:rPr lang="en-GB" dirty="0" err="1"/>
              <a:t>ActionBar</a:t>
            </a:r>
            <a:r>
              <a:rPr lang="en-GB" dirty="0"/>
              <a:t> consists of the following four components:</a:t>
            </a:r>
          </a:p>
          <a:p>
            <a:pPr lvl="1"/>
            <a:r>
              <a:rPr lang="en-GB" sz="1800" dirty="0"/>
              <a:t>App Icon</a:t>
            </a:r>
          </a:p>
          <a:p>
            <a:pPr lvl="1"/>
            <a:r>
              <a:rPr lang="en-GB" sz="1800" dirty="0"/>
              <a:t>View Control</a:t>
            </a:r>
          </a:p>
          <a:p>
            <a:pPr lvl="1"/>
            <a:r>
              <a:rPr lang="en-GB" sz="1800" dirty="0"/>
              <a:t>Action Buttons</a:t>
            </a:r>
          </a:p>
          <a:p>
            <a:pPr lvl="1"/>
            <a:r>
              <a:rPr lang="en-GB" sz="1800" dirty="0"/>
              <a:t>Action Overflow</a:t>
            </a:r>
          </a:p>
          <a:p>
            <a:pPr marL="457200" lvl="1" indent="0">
              <a:buNone/>
            </a:pPr>
            <a:endParaRPr lang="en-GB" dirty="0"/>
          </a:p>
          <a:p>
            <a:r>
              <a:rPr lang="en-GB" b="1" dirty="0"/>
              <a:t>App Icon</a:t>
            </a:r>
            <a:r>
              <a:rPr lang="en-GB" dirty="0"/>
              <a:t>: App branding logo or icon will be displayed here </a:t>
            </a:r>
          </a:p>
          <a:p>
            <a:r>
              <a:rPr lang="en-GB" b="1" dirty="0"/>
              <a:t>View Control</a:t>
            </a:r>
            <a:r>
              <a:rPr lang="en-GB" dirty="0"/>
              <a:t>: A dedicated space to display Application title. Also provides option to switch between views by adding spinner or tabbed navigation </a:t>
            </a:r>
          </a:p>
          <a:p>
            <a:r>
              <a:rPr lang="en-GB" b="1" dirty="0"/>
              <a:t>Action Buttons</a:t>
            </a:r>
            <a:r>
              <a:rPr lang="en-GB" dirty="0"/>
              <a:t>: Some important actions of the app can be added here Action</a:t>
            </a:r>
          </a:p>
          <a:p>
            <a:r>
              <a:rPr lang="en-GB" b="1" dirty="0"/>
              <a:t>Overflow</a:t>
            </a:r>
            <a:r>
              <a:rPr lang="en-GB" dirty="0"/>
              <a:t>: All unimportant action will be shown as a menu </a:t>
            </a:r>
            <a:endParaRPr lang="en-IN" dirty="0"/>
          </a:p>
        </p:txBody>
      </p:sp>
    </p:spTree>
    <p:extLst>
      <p:ext uri="{BB962C8B-B14F-4D97-AF65-F5344CB8AC3E}">
        <p14:creationId xmlns:p14="http://schemas.microsoft.com/office/powerpoint/2010/main" val="3557782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845A5C-A2B5-4A38-A3B2-15223C52218A}"/>
              </a:ext>
            </a:extLst>
          </p:cNvPr>
          <p:cNvPicPr>
            <a:picLocks noChangeAspect="1"/>
          </p:cNvPicPr>
          <p:nvPr/>
        </p:nvPicPr>
        <p:blipFill>
          <a:blip r:embed="rId2"/>
          <a:stretch>
            <a:fillRect/>
          </a:stretch>
        </p:blipFill>
        <p:spPr>
          <a:xfrm>
            <a:off x="0" y="292028"/>
            <a:ext cx="11156256" cy="6565972"/>
          </a:xfrm>
          <a:prstGeom prst="rect">
            <a:avLst/>
          </a:prstGeom>
        </p:spPr>
      </p:pic>
    </p:spTree>
    <p:extLst>
      <p:ext uri="{BB962C8B-B14F-4D97-AF65-F5344CB8AC3E}">
        <p14:creationId xmlns:p14="http://schemas.microsoft.com/office/powerpoint/2010/main" val="93230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41230-C88C-4017-ADFD-F5D8C851A05D}"/>
              </a:ext>
            </a:extLst>
          </p:cNvPr>
          <p:cNvSpPr>
            <a:spLocks noGrp="1"/>
          </p:cNvSpPr>
          <p:nvPr>
            <p:ph type="title"/>
          </p:nvPr>
        </p:nvSpPr>
        <p:spPr>
          <a:xfrm>
            <a:off x="255993" y="156238"/>
            <a:ext cx="8596668" cy="1320800"/>
          </a:xfrm>
        </p:spPr>
        <p:txBody>
          <a:bodyPr/>
          <a:lstStyle/>
          <a:p>
            <a:r>
              <a:rPr lang="en-IN" dirty="0"/>
              <a:t>Introduction of </a:t>
            </a:r>
            <a:r>
              <a:rPr lang="en-IN" dirty="0" err="1"/>
              <a:t>AlarmManager</a:t>
            </a:r>
            <a:endParaRPr lang="en-IN" dirty="0"/>
          </a:p>
        </p:txBody>
      </p:sp>
      <p:sp>
        <p:nvSpPr>
          <p:cNvPr id="3" name="Content Placeholder 2">
            <a:extLst>
              <a:ext uri="{FF2B5EF4-FFF2-40B4-BE49-F238E27FC236}">
                <a16:creationId xmlns:a16="http://schemas.microsoft.com/office/drawing/2014/main" id="{F6056E3F-AB37-4AFB-BCDB-73705C9E7A55}"/>
              </a:ext>
            </a:extLst>
          </p:cNvPr>
          <p:cNvSpPr>
            <a:spLocks noGrp="1"/>
          </p:cNvSpPr>
          <p:nvPr>
            <p:ph idx="1"/>
          </p:nvPr>
        </p:nvSpPr>
        <p:spPr>
          <a:xfrm>
            <a:off x="255992" y="986213"/>
            <a:ext cx="10564408" cy="5871787"/>
          </a:xfrm>
        </p:spPr>
        <p:txBody>
          <a:bodyPr>
            <a:normAutofit/>
          </a:bodyPr>
          <a:lstStyle/>
          <a:p>
            <a:pPr algn="just"/>
            <a:r>
              <a:rPr lang="en-GB" dirty="0"/>
              <a:t>Android </a:t>
            </a:r>
            <a:r>
              <a:rPr lang="en-GB" dirty="0" err="1"/>
              <a:t>AlarmManager</a:t>
            </a:r>
            <a:r>
              <a:rPr lang="en-GB" dirty="0"/>
              <a:t> allows you to access system alarm.</a:t>
            </a:r>
          </a:p>
          <a:p>
            <a:pPr algn="just"/>
            <a:r>
              <a:rPr lang="en-GB" dirty="0"/>
              <a:t>By the help of Android </a:t>
            </a:r>
            <a:r>
              <a:rPr lang="en-GB" dirty="0" err="1"/>
              <a:t>AlarmManager</a:t>
            </a:r>
            <a:r>
              <a:rPr lang="en-GB" dirty="0"/>
              <a:t> in android, you can schedule your application to run at a specific time in the future. It works whether your phone is running or not.</a:t>
            </a:r>
          </a:p>
          <a:p>
            <a:pPr algn="just"/>
            <a:r>
              <a:rPr lang="en-GB" dirty="0"/>
              <a:t>The Android </a:t>
            </a:r>
            <a:r>
              <a:rPr lang="en-GB" dirty="0" err="1"/>
              <a:t>AlarmManager</a:t>
            </a:r>
            <a:r>
              <a:rPr lang="en-GB" dirty="0"/>
              <a:t> holds a CPU wake lock that provides guarantee not to sleep the phone until broadcast is handled.</a:t>
            </a:r>
          </a:p>
          <a:p>
            <a:pPr algn="just"/>
            <a:r>
              <a:rPr lang="en-GB" b="1" dirty="0" err="1"/>
              <a:t>AlarmManager</a:t>
            </a:r>
            <a:r>
              <a:rPr lang="en-GB" b="1" dirty="0"/>
              <a:t> </a:t>
            </a:r>
            <a:r>
              <a:rPr lang="en-GB" dirty="0"/>
              <a:t>is a bridge between application and Android system alarm service. It can send a broadcast to your app (which can be completely terminated by user) at a scheduled time and your app can then perform any task accordingly. </a:t>
            </a:r>
          </a:p>
          <a:p>
            <a:pPr algn="just"/>
            <a:r>
              <a:rPr lang="en-GB" b="1" dirty="0" err="1"/>
              <a:t>getSystemService</a:t>
            </a:r>
            <a:r>
              <a:rPr lang="en-GB" b="1" dirty="0"/>
              <a:t>() </a:t>
            </a:r>
            <a:r>
              <a:rPr lang="en-GB" dirty="0"/>
              <a:t>method is used when we want to access one of few Android system-level services. To name only few of managers that we can get: </a:t>
            </a:r>
            <a:r>
              <a:rPr lang="en-GB" b="1" dirty="0" err="1"/>
              <a:t>LocationManager</a:t>
            </a:r>
            <a:r>
              <a:rPr lang="en-GB" dirty="0"/>
              <a:t> – access GPS device information. </a:t>
            </a:r>
            <a:r>
              <a:rPr lang="en-GB" b="1" dirty="0" err="1"/>
              <a:t>NotificationManager</a:t>
            </a:r>
            <a:r>
              <a:rPr lang="en-GB" dirty="0"/>
              <a:t> – manage (create, cancel) notifications. </a:t>
            </a:r>
          </a:p>
          <a:p>
            <a:pPr algn="just"/>
            <a:r>
              <a:rPr lang="en-GB" b="1" dirty="0" err="1"/>
              <a:t>PendingIntent</a:t>
            </a:r>
            <a:r>
              <a:rPr lang="en-GB" dirty="0"/>
              <a:t> lets us pass a future Intent to another application and allow that application to execute that Intent as if it had the same permissions as our application.</a:t>
            </a:r>
          </a:p>
          <a:p>
            <a:pPr algn="just"/>
            <a:r>
              <a:rPr lang="en-GB" b="1" dirty="0"/>
              <a:t>A broadcast receiver </a:t>
            </a:r>
            <a:r>
              <a:rPr lang="en-GB" dirty="0"/>
              <a:t>(</a:t>
            </a:r>
            <a:r>
              <a:rPr lang="en-GB" b="1" dirty="0"/>
              <a:t>receiver</a:t>
            </a:r>
            <a:r>
              <a:rPr lang="en-GB" dirty="0"/>
              <a:t>) is an Android component which allows you to register for system or application events. All registered receivers for an event are notified by the Android runtime once this event happens. </a:t>
            </a:r>
            <a:endParaRPr lang="en-IN" dirty="0"/>
          </a:p>
        </p:txBody>
      </p:sp>
    </p:spTree>
    <p:extLst>
      <p:ext uri="{BB962C8B-B14F-4D97-AF65-F5344CB8AC3E}">
        <p14:creationId xmlns:p14="http://schemas.microsoft.com/office/powerpoint/2010/main" val="1975886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42293-CF87-449D-8E17-DE257E6B7238}"/>
              </a:ext>
            </a:extLst>
          </p:cNvPr>
          <p:cNvSpPr>
            <a:spLocks noGrp="1"/>
          </p:cNvSpPr>
          <p:nvPr>
            <p:ph type="title"/>
          </p:nvPr>
        </p:nvSpPr>
        <p:spPr/>
        <p:txBody>
          <a:bodyPr/>
          <a:lstStyle/>
          <a:p>
            <a:r>
              <a:rPr lang="en-GB" sz="3600" b="1" dirty="0"/>
              <a:t>Telephony</a:t>
            </a:r>
            <a:r>
              <a:rPr lang="en-GB" sz="3600" dirty="0"/>
              <a:t> API</a:t>
            </a:r>
            <a:endParaRPr lang="en-IN" dirty="0"/>
          </a:p>
        </p:txBody>
      </p:sp>
      <p:sp>
        <p:nvSpPr>
          <p:cNvPr id="3" name="Content Placeholder 2">
            <a:extLst>
              <a:ext uri="{FF2B5EF4-FFF2-40B4-BE49-F238E27FC236}">
                <a16:creationId xmlns:a16="http://schemas.microsoft.com/office/drawing/2014/main" id="{10BED9D2-0687-4B54-AC67-B2B4CB6C4C28}"/>
              </a:ext>
            </a:extLst>
          </p:cNvPr>
          <p:cNvSpPr>
            <a:spLocks noGrp="1"/>
          </p:cNvSpPr>
          <p:nvPr>
            <p:ph idx="1"/>
          </p:nvPr>
        </p:nvSpPr>
        <p:spPr>
          <a:xfrm>
            <a:off x="677333" y="1434353"/>
            <a:ext cx="9363137" cy="5056094"/>
          </a:xfrm>
        </p:spPr>
        <p:txBody>
          <a:bodyPr>
            <a:normAutofit fontScale="92500"/>
          </a:bodyPr>
          <a:lstStyle/>
          <a:p>
            <a:pPr algn="just"/>
            <a:r>
              <a:rPr lang="en-GB" sz="2400" b="0" i="0" dirty="0">
                <a:solidFill>
                  <a:srgbClr val="444444"/>
                </a:solidFill>
                <a:effectLst/>
                <a:latin typeface="Georgia" panose="02040502050405020303" pitchFamily="18" charset="0"/>
              </a:rPr>
              <a:t>Android Telephony is a package provided by Android to operate and get information about the </a:t>
            </a:r>
            <a:r>
              <a:rPr lang="en-GB" sz="2400" b="1" i="0" dirty="0">
                <a:solidFill>
                  <a:srgbClr val="444444"/>
                </a:solidFill>
                <a:effectLst/>
                <a:latin typeface="Georgia" panose="02040502050405020303" pitchFamily="18" charset="0"/>
              </a:rPr>
              <a:t>network interfaces </a:t>
            </a:r>
            <a:r>
              <a:rPr lang="en-GB" sz="2400" b="0" i="0" dirty="0">
                <a:solidFill>
                  <a:srgbClr val="444444"/>
                </a:solidFill>
                <a:effectLst/>
                <a:latin typeface="Georgia" panose="02040502050405020303" pitchFamily="18" charset="0"/>
              </a:rPr>
              <a:t>and device details. It has several interfaces and classes that are used to provide various functionalities.</a:t>
            </a:r>
          </a:p>
          <a:p>
            <a:pPr algn="just"/>
            <a:r>
              <a:rPr lang="en-GB" sz="2400" b="0" i="0" dirty="0">
                <a:solidFill>
                  <a:srgbClr val="444444"/>
                </a:solidFill>
                <a:effectLst/>
                <a:latin typeface="Georgia" panose="02040502050405020303" pitchFamily="18" charset="0"/>
              </a:rPr>
              <a:t>Android Telephony Manager is one such class that is present in the </a:t>
            </a:r>
            <a:r>
              <a:rPr lang="en-GB" sz="2400" b="1" i="0" dirty="0" err="1">
                <a:solidFill>
                  <a:srgbClr val="444444"/>
                </a:solidFill>
                <a:effectLst/>
                <a:latin typeface="Georgia" panose="02040502050405020303" pitchFamily="18" charset="0"/>
              </a:rPr>
              <a:t>android.telephony</a:t>
            </a:r>
            <a:r>
              <a:rPr lang="en-GB" sz="2400" b="0" i="0" dirty="0">
                <a:solidFill>
                  <a:srgbClr val="444444"/>
                </a:solidFill>
                <a:effectLst/>
                <a:latin typeface="Georgia" panose="02040502050405020303" pitchFamily="18" charset="0"/>
              </a:rPr>
              <a:t> package. It provides you with several methods to get the network or telephony information and know its current state.</a:t>
            </a:r>
            <a:endParaRPr lang="en-GB" sz="2400" dirty="0">
              <a:solidFill>
                <a:srgbClr val="444444"/>
              </a:solidFill>
              <a:latin typeface="Georgia" panose="02040502050405020303" pitchFamily="18" charset="0"/>
            </a:endParaRPr>
          </a:p>
          <a:p>
            <a:pPr algn="just"/>
            <a:r>
              <a:rPr lang="en-GB" sz="2400" b="0" i="0" dirty="0">
                <a:solidFill>
                  <a:srgbClr val="444444"/>
                </a:solidFill>
                <a:effectLst/>
                <a:latin typeface="Georgia" panose="02040502050405020303" pitchFamily="18" charset="0"/>
              </a:rPr>
              <a:t>To access the Telephony Manager in your programming, you can simply import the </a:t>
            </a:r>
            <a:r>
              <a:rPr lang="en-GB" sz="2400" b="1" i="0" dirty="0" err="1">
                <a:solidFill>
                  <a:srgbClr val="444444"/>
                </a:solidFill>
                <a:effectLst/>
                <a:latin typeface="Georgia" panose="02040502050405020303" pitchFamily="18" charset="0"/>
              </a:rPr>
              <a:t>android.telphony.TelephonyManager</a:t>
            </a:r>
            <a:r>
              <a:rPr lang="en-GB" sz="2400" b="0" i="0" dirty="0">
                <a:solidFill>
                  <a:srgbClr val="444444"/>
                </a:solidFill>
                <a:effectLst/>
                <a:latin typeface="Georgia" panose="02040502050405020303" pitchFamily="18" charset="0"/>
              </a:rPr>
              <a:t> class.</a:t>
            </a:r>
          </a:p>
          <a:p>
            <a:pPr algn="just"/>
            <a:r>
              <a:rPr lang="en-GB" sz="2400" b="0" i="0" dirty="0">
                <a:solidFill>
                  <a:srgbClr val="444444"/>
                </a:solidFill>
                <a:effectLst/>
                <a:latin typeface="Georgia" panose="02040502050405020303" pitchFamily="18" charset="0"/>
              </a:rPr>
              <a:t>After that, you need to use the </a:t>
            </a:r>
            <a:r>
              <a:rPr lang="en-GB" sz="2400" b="1" i="0" dirty="0" err="1">
                <a:solidFill>
                  <a:srgbClr val="444444"/>
                </a:solidFill>
                <a:effectLst/>
                <a:latin typeface="Georgia" panose="02040502050405020303" pitchFamily="18" charset="0"/>
              </a:rPr>
              <a:t>getSystemService</a:t>
            </a:r>
            <a:r>
              <a:rPr lang="en-GB" sz="2400" b="1" i="0" dirty="0">
                <a:solidFill>
                  <a:srgbClr val="444444"/>
                </a:solidFill>
                <a:effectLst/>
                <a:latin typeface="Georgia" panose="02040502050405020303" pitchFamily="18" charset="0"/>
              </a:rPr>
              <a:t>()</a:t>
            </a:r>
            <a:r>
              <a:rPr lang="en-GB" sz="2400" b="0" i="0" dirty="0">
                <a:solidFill>
                  <a:srgbClr val="444444"/>
                </a:solidFill>
                <a:effectLst/>
                <a:latin typeface="Georgia" panose="02040502050405020303" pitchFamily="18" charset="0"/>
              </a:rPr>
              <a:t> to create the </a:t>
            </a:r>
            <a:r>
              <a:rPr lang="en-GB" sz="2400" b="1" i="0" dirty="0" err="1">
                <a:solidFill>
                  <a:srgbClr val="444444"/>
                </a:solidFill>
                <a:effectLst/>
                <a:latin typeface="Georgia" panose="02040502050405020303" pitchFamily="18" charset="0"/>
              </a:rPr>
              <a:t>TelephonyManager</a:t>
            </a:r>
            <a:r>
              <a:rPr lang="en-GB" sz="2400" b="0" i="0" dirty="0">
                <a:solidFill>
                  <a:srgbClr val="444444"/>
                </a:solidFill>
                <a:effectLst/>
                <a:latin typeface="Georgia" panose="02040502050405020303" pitchFamily="18" charset="0"/>
              </a:rPr>
              <a:t> object, and then you can use it to get system information.</a:t>
            </a:r>
            <a:endParaRPr lang="en-IN" sz="2400" dirty="0"/>
          </a:p>
        </p:txBody>
      </p:sp>
    </p:spTree>
    <p:extLst>
      <p:ext uri="{BB962C8B-B14F-4D97-AF65-F5344CB8AC3E}">
        <p14:creationId xmlns:p14="http://schemas.microsoft.com/office/powerpoint/2010/main" val="970218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E76D-727D-4016-8303-961C21E5B4B7}"/>
              </a:ext>
            </a:extLst>
          </p:cNvPr>
          <p:cNvSpPr>
            <a:spLocks noGrp="1"/>
          </p:cNvSpPr>
          <p:nvPr>
            <p:ph type="title"/>
          </p:nvPr>
        </p:nvSpPr>
        <p:spPr>
          <a:xfrm>
            <a:off x="238064" y="156238"/>
            <a:ext cx="8596668" cy="1320800"/>
          </a:xfrm>
        </p:spPr>
        <p:txBody>
          <a:bodyPr/>
          <a:lstStyle/>
          <a:p>
            <a:r>
              <a:rPr lang="en-GB" dirty="0"/>
              <a:t>Architecture of Telephony API</a:t>
            </a:r>
            <a:endParaRPr lang="en-IN" dirty="0"/>
          </a:p>
        </p:txBody>
      </p:sp>
      <p:sp>
        <p:nvSpPr>
          <p:cNvPr id="3" name="Content Placeholder 2">
            <a:extLst>
              <a:ext uri="{FF2B5EF4-FFF2-40B4-BE49-F238E27FC236}">
                <a16:creationId xmlns:a16="http://schemas.microsoft.com/office/drawing/2014/main" id="{4C257E8B-44BF-4290-AB45-687A196586B9}"/>
              </a:ext>
            </a:extLst>
          </p:cNvPr>
          <p:cNvSpPr>
            <a:spLocks noGrp="1"/>
          </p:cNvSpPr>
          <p:nvPr>
            <p:ph idx="1"/>
          </p:nvPr>
        </p:nvSpPr>
        <p:spPr>
          <a:xfrm>
            <a:off x="0" y="1129648"/>
            <a:ext cx="7485529" cy="5423552"/>
          </a:xfrm>
        </p:spPr>
        <p:txBody>
          <a:bodyPr>
            <a:normAutofit/>
          </a:bodyPr>
          <a:lstStyle/>
          <a:p>
            <a:pPr algn="l" fontAlgn="base"/>
            <a:r>
              <a:rPr lang="en-GB" sz="2400" b="1" i="0" dirty="0">
                <a:solidFill>
                  <a:srgbClr val="444444"/>
                </a:solidFill>
                <a:effectLst/>
                <a:latin typeface="Georgia" panose="02040502050405020303" pitchFamily="18" charset="0"/>
              </a:rPr>
              <a:t>Communication Processor</a:t>
            </a:r>
          </a:p>
          <a:p>
            <a:pPr lvl="1" fontAlgn="base"/>
            <a:r>
              <a:rPr lang="en-GB" sz="2000" b="0" i="0" dirty="0">
                <a:solidFill>
                  <a:srgbClr val="444444"/>
                </a:solidFill>
                <a:effectLst/>
                <a:latin typeface="Georgia" panose="02040502050405020303" pitchFamily="18" charset="0"/>
              </a:rPr>
              <a:t>The communication processor is used to communicate and collect data from various peripherals.</a:t>
            </a:r>
          </a:p>
          <a:p>
            <a:pPr algn="l" fontAlgn="base"/>
            <a:r>
              <a:rPr lang="en-GB" sz="2400" b="1" i="0" dirty="0">
                <a:solidFill>
                  <a:srgbClr val="444444"/>
                </a:solidFill>
                <a:effectLst/>
                <a:latin typeface="Georgia" panose="02040502050405020303" pitchFamily="18" charset="0"/>
              </a:rPr>
              <a:t>Radio Interface Layer (RIL)</a:t>
            </a:r>
          </a:p>
          <a:p>
            <a:pPr lvl="1" fontAlgn="base"/>
            <a:r>
              <a:rPr lang="en-GB" sz="2000" b="0" i="0" dirty="0">
                <a:solidFill>
                  <a:srgbClr val="444444"/>
                </a:solidFill>
                <a:effectLst/>
                <a:latin typeface="Georgia" panose="02040502050405020303" pitchFamily="18" charset="0"/>
              </a:rPr>
              <a:t>The Radio Interface Layer is an interface through which the hardware components interact with the frameworks. It’s a bridge with protocols for the Telephony services and is therefore known as protocol stack for Telephone. The RIL consist of two components that are as follows:</a:t>
            </a:r>
          </a:p>
          <a:p>
            <a:pPr lvl="2" fontAlgn="base"/>
            <a:r>
              <a:rPr lang="en-GB" sz="1800" b="1" i="0" dirty="0">
                <a:solidFill>
                  <a:srgbClr val="444444"/>
                </a:solidFill>
                <a:effectLst/>
                <a:latin typeface="inherit"/>
              </a:rPr>
              <a:t>a. RIL Daemon –</a:t>
            </a:r>
            <a:r>
              <a:rPr lang="en-GB" sz="1800" b="0" i="0" dirty="0">
                <a:solidFill>
                  <a:srgbClr val="444444"/>
                </a:solidFill>
                <a:effectLst/>
                <a:latin typeface="Georgia" panose="02040502050405020303" pitchFamily="18" charset="0"/>
              </a:rPr>
              <a:t> RIL Daemon starts up immediately when your device starts. The RIL Daemon reads system properties and makes the libraries ready that are required by Vendor RIL.</a:t>
            </a:r>
          </a:p>
          <a:p>
            <a:pPr lvl="2" fontAlgn="base"/>
            <a:r>
              <a:rPr lang="en-GB" sz="1800" b="1" i="0" dirty="0">
                <a:solidFill>
                  <a:srgbClr val="444444"/>
                </a:solidFill>
                <a:effectLst/>
                <a:latin typeface="inherit"/>
              </a:rPr>
              <a:t>b. Vendor RIL –</a:t>
            </a:r>
            <a:r>
              <a:rPr lang="en-GB" sz="1800" b="0" i="0" dirty="0">
                <a:solidFill>
                  <a:srgbClr val="444444"/>
                </a:solidFill>
                <a:effectLst/>
                <a:latin typeface="Georgia" panose="02040502050405020303" pitchFamily="18" charset="0"/>
              </a:rPr>
              <a:t> Vendor RIL is a library that is specific to each network modem.</a:t>
            </a:r>
            <a:endParaRPr lang="en-GB" sz="1800" dirty="0">
              <a:solidFill>
                <a:srgbClr val="444444"/>
              </a:solidFill>
              <a:latin typeface="Georgia" panose="02040502050405020303" pitchFamily="18" charset="0"/>
            </a:endParaRPr>
          </a:p>
        </p:txBody>
      </p:sp>
      <p:pic>
        <p:nvPicPr>
          <p:cNvPr id="1026" name="Picture 2" descr="Android telephony framework">
            <a:extLst>
              <a:ext uri="{FF2B5EF4-FFF2-40B4-BE49-F238E27FC236}">
                <a16:creationId xmlns:a16="http://schemas.microsoft.com/office/drawing/2014/main" id="{46B0CAB3-4A46-4BE5-9242-D25DB7445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9637" y="13447"/>
            <a:ext cx="36623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716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E1445A-CB3F-47E5-BFD3-2BEB0C67E368}"/>
              </a:ext>
            </a:extLst>
          </p:cNvPr>
          <p:cNvSpPr>
            <a:spLocks noGrp="1"/>
          </p:cNvSpPr>
          <p:nvPr>
            <p:ph idx="1"/>
          </p:nvPr>
        </p:nvSpPr>
        <p:spPr>
          <a:xfrm>
            <a:off x="677334" y="770965"/>
            <a:ext cx="6315137" cy="5270397"/>
          </a:xfrm>
        </p:spPr>
        <p:txBody>
          <a:bodyPr>
            <a:normAutofit/>
          </a:bodyPr>
          <a:lstStyle/>
          <a:p>
            <a:pPr algn="l" fontAlgn="base"/>
            <a:r>
              <a:rPr lang="en-GB" sz="2400" b="1" i="0" dirty="0">
                <a:solidFill>
                  <a:srgbClr val="444444"/>
                </a:solidFill>
                <a:effectLst/>
                <a:latin typeface="Georgia" panose="02040502050405020303" pitchFamily="18" charset="0"/>
              </a:rPr>
              <a:t>Framework Services</a:t>
            </a:r>
          </a:p>
          <a:p>
            <a:pPr lvl="1" fontAlgn="base"/>
            <a:r>
              <a:rPr lang="en-GB" sz="2000" b="0" i="0" dirty="0">
                <a:solidFill>
                  <a:srgbClr val="444444"/>
                </a:solidFill>
                <a:effectLst/>
                <a:latin typeface="Georgia" panose="02040502050405020303" pitchFamily="18" charset="0"/>
              </a:rPr>
              <a:t>Framework services consist of various packages and assists the Telephony Manager in directing all the application API requests to RIL. The framework services start immediately when the device boots up.</a:t>
            </a:r>
          </a:p>
          <a:p>
            <a:pPr algn="l" fontAlgn="base"/>
            <a:r>
              <a:rPr lang="en-GB" sz="2400" b="1" i="0" dirty="0">
                <a:solidFill>
                  <a:srgbClr val="444444"/>
                </a:solidFill>
                <a:effectLst/>
                <a:latin typeface="Georgia" panose="02040502050405020303" pitchFamily="18" charset="0"/>
              </a:rPr>
              <a:t>Application</a:t>
            </a:r>
          </a:p>
          <a:p>
            <a:pPr lvl="1" fontAlgn="base"/>
            <a:r>
              <a:rPr lang="en-GB" sz="2000" b="0" i="0" dirty="0">
                <a:solidFill>
                  <a:srgbClr val="444444"/>
                </a:solidFill>
                <a:effectLst/>
                <a:latin typeface="Georgia" panose="02040502050405020303" pitchFamily="18" charset="0"/>
              </a:rPr>
              <a:t>Applications are the last layer of the Telephony architecture. The applications are used directly by the user to interact with the Telephony Services. Some of the standard applications are IMEI checker, </a:t>
            </a:r>
            <a:r>
              <a:rPr lang="en-GB" sz="2000" b="0" i="0" dirty="0" err="1">
                <a:solidFill>
                  <a:srgbClr val="444444"/>
                </a:solidFill>
                <a:effectLst/>
                <a:latin typeface="Georgia" panose="02040502050405020303" pitchFamily="18" charset="0"/>
              </a:rPr>
              <a:t>Dialer</a:t>
            </a:r>
            <a:r>
              <a:rPr lang="en-GB" sz="2000" b="0" i="0" dirty="0">
                <a:solidFill>
                  <a:srgbClr val="444444"/>
                </a:solidFill>
                <a:effectLst/>
                <a:latin typeface="Georgia" panose="02040502050405020303" pitchFamily="18" charset="0"/>
              </a:rPr>
              <a:t>, SIM Toolkit, Browser, etc.</a:t>
            </a:r>
          </a:p>
          <a:p>
            <a:endParaRPr lang="en-IN" sz="2400" dirty="0"/>
          </a:p>
        </p:txBody>
      </p:sp>
      <p:pic>
        <p:nvPicPr>
          <p:cNvPr id="4" name="Picture 2" descr="Android telephony framework">
            <a:extLst>
              <a:ext uri="{FF2B5EF4-FFF2-40B4-BE49-F238E27FC236}">
                <a16:creationId xmlns:a16="http://schemas.microsoft.com/office/drawing/2014/main" id="{4159247E-1D90-43B2-99FF-F79EF5013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9637" y="13447"/>
            <a:ext cx="36623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744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841B8-0F7A-40B4-8E10-AF6F3AF3EC25}"/>
              </a:ext>
            </a:extLst>
          </p:cNvPr>
          <p:cNvSpPr>
            <a:spLocks noGrp="1"/>
          </p:cNvSpPr>
          <p:nvPr>
            <p:ph idx="1"/>
          </p:nvPr>
        </p:nvSpPr>
        <p:spPr>
          <a:xfrm>
            <a:off x="331693" y="510988"/>
            <a:ext cx="9538447" cy="6347011"/>
          </a:xfrm>
        </p:spPr>
        <p:txBody>
          <a:bodyPr>
            <a:normAutofit/>
          </a:bodyPr>
          <a:lstStyle/>
          <a:p>
            <a:r>
              <a:rPr lang="en-IN" sz="2400" b="1" dirty="0"/>
              <a:t>Telephony Applications:</a:t>
            </a:r>
          </a:p>
          <a:p>
            <a:pPr lvl="1"/>
            <a:r>
              <a:rPr lang="en-IN" sz="2000" dirty="0" err="1"/>
              <a:t>Dialer</a:t>
            </a:r>
            <a:endParaRPr lang="en-IN" sz="2000" dirty="0"/>
          </a:p>
          <a:p>
            <a:pPr lvl="1"/>
            <a:r>
              <a:rPr lang="en-IN" sz="2000" dirty="0"/>
              <a:t>Contacts</a:t>
            </a:r>
          </a:p>
          <a:p>
            <a:pPr lvl="1"/>
            <a:r>
              <a:rPr lang="en-IN" sz="2000" dirty="0"/>
              <a:t>Messaging — SMS/MMS(</a:t>
            </a:r>
            <a:r>
              <a:rPr lang="en-IN" sz="2000" dirty="0" err="1"/>
              <a:t>BasicSmsReceiver</a:t>
            </a:r>
            <a:r>
              <a:rPr lang="en-IN" sz="2000" dirty="0"/>
              <a:t>)</a:t>
            </a:r>
          </a:p>
          <a:p>
            <a:pPr lvl="1"/>
            <a:r>
              <a:rPr lang="en-IN" sz="2000" dirty="0"/>
              <a:t>Settings app — a) Airplane mode b) APN settings C)Network selection (auto/manual) d) Call settings, such as, call waiting, call forwarding/diverting e) CLIR f)FDN</a:t>
            </a:r>
          </a:p>
          <a:p>
            <a:pPr lvl="1"/>
            <a:r>
              <a:rPr lang="en-IN" sz="2000" dirty="0"/>
              <a:t>SIM Application Toolkit (SAT)</a:t>
            </a:r>
          </a:p>
          <a:p>
            <a:pPr lvl="1"/>
            <a:r>
              <a:rPr lang="en-IN" sz="2000" dirty="0"/>
              <a:t>Browser</a:t>
            </a:r>
          </a:p>
          <a:p>
            <a:pPr lvl="1"/>
            <a:r>
              <a:rPr lang="en-IN" sz="2000" dirty="0" err="1"/>
              <a:t>CellBroadcastReceiver</a:t>
            </a:r>
            <a:endParaRPr lang="en-IN" sz="2000" dirty="0"/>
          </a:p>
          <a:p>
            <a:pPr lvl="1"/>
            <a:r>
              <a:rPr lang="en-IN" sz="2000" dirty="0" err="1"/>
              <a:t>CarrierConfig</a:t>
            </a:r>
            <a:endParaRPr lang="en-IN" sz="2000" dirty="0"/>
          </a:p>
          <a:p>
            <a:pPr lvl="1"/>
            <a:r>
              <a:rPr lang="en-IN" sz="2000" dirty="0" err="1"/>
              <a:t>PhoneCommon</a:t>
            </a:r>
            <a:endParaRPr lang="en-IN" sz="2000" dirty="0"/>
          </a:p>
          <a:p>
            <a:r>
              <a:rPr lang="en-IN" sz="2200" b="1" dirty="0"/>
              <a:t>Example</a:t>
            </a:r>
          </a:p>
          <a:p>
            <a:pPr lvl="1"/>
            <a:r>
              <a:rPr lang="en-IN" sz="2200" dirty="0" err="1"/>
              <a:t>TelephonyManager</a:t>
            </a:r>
            <a:r>
              <a:rPr lang="en-IN" sz="2200" dirty="0"/>
              <a:t> </a:t>
            </a:r>
            <a:r>
              <a:rPr lang="en-IN" sz="2200" dirty="0" err="1"/>
              <a:t>telephonyManager</a:t>
            </a:r>
            <a:r>
              <a:rPr lang="en-IN" sz="2200" dirty="0"/>
              <a:t> = (</a:t>
            </a:r>
            <a:r>
              <a:rPr lang="en-IN" sz="2200" dirty="0" err="1"/>
              <a:t>TelephonyManager</a:t>
            </a:r>
            <a:r>
              <a:rPr lang="en-IN" sz="2200" dirty="0"/>
              <a:t>) </a:t>
            </a:r>
            <a:r>
              <a:rPr lang="en-IN" sz="2200" b="1" dirty="0" err="1"/>
              <a:t>getSystemService</a:t>
            </a:r>
            <a:r>
              <a:rPr lang="en-IN" sz="2200" dirty="0"/>
              <a:t>(</a:t>
            </a:r>
            <a:r>
              <a:rPr lang="en-IN" sz="2200" dirty="0" err="1"/>
              <a:t>Context.</a:t>
            </a:r>
            <a:r>
              <a:rPr lang="en-IN" sz="2200" b="1" dirty="0" err="1"/>
              <a:t>TELEPHONY_SERVICE</a:t>
            </a:r>
            <a:r>
              <a:rPr lang="en-IN" sz="2200" dirty="0"/>
              <a:t>)</a:t>
            </a:r>
          </a:p>
          <a:p>
            <a:endParaRPr lang="en-IN" sz="2200" dirty="0"/>
          </a:p>
        </p:txBody>
      </p:sp>
    </p:spTree>
    <p:extLst>
      <p:ext uri="{BB962C8B-B14F-4D97-AF65-F5344CB8AC3E}">
        <p14:creationId xmlns:p14="http://schemas.microsoft.com/office/powerpoint/2010/main" val="2000951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39E2F-27F3-43DC-BF1D-2AEB6B34A81B}"/>
              </a:ext>
            </a:extLst>
          </p:cNvPr>
          <p:cNvSpPr>
            <a:spLocks noGrp="1"/>
          </p:cNvSpPr>
          <p:nvPr>
            <p:ph type="title"/>
          </p:nvPr>
        </p:nvSpPr>
        <p:spPr>
          <a:xfrm>
            <a:off x="614581" y="286870"/>
            <a:ext cx="8596668" cy="663389"/>
          </a:xfrm>
        </p:spPr>
        <p:txBody>
          <a:bodyPr/>
          <a:lstStyle/>
          <a:p>
            <a:r>
              <a:rPr lang="en-IN" dirty="0" err="1"/>
              <a:t>AsyncTask</a:t>
            </a:r>
            <a:endParaRPr lang="en-IN" dirty="0"/>
          </a:p>
        </p:txBody>
      </p:sp>
      <p:sp>
        <p:nvSpPr>
          <p:cNvPr id="3" name="Content Placeholder 2">
            <a:extLst>
              <a:ext uri="{FF2B5EF4-FFF2-40B4-BE49-F238E27FC236}">
                <a16:creationId xmlns:a16="http://schemas.microsoft.com/office/drawing/2014/main" id="{693A6E65-AD9F-4347-94F6-6D45B5B47E9E}"/>
              </a:ext>
            </a:extLst>
          </p:cNvPr>
          <p:cNvSpPr>
            <a:spLocks noGrp="1"/>
          </p:cNvSpPr>
          <p:nvPr>
            <p:ph idx="1"/>
          </p:nvPr>
        </p:nvSpPr>
        <p:spPr>
          <a:xfrm>
            <a:off x="614580" y="1270000"/>
            <a:ext cx="10053419" cy="5588000"/>
          </a:xfrm>
        </p:spPr>
        <p:txBody>
          <a:bodyPr>
            <a:normAutofit/>
          </a:bodyPr>
          <a:lstStyle/>
          <a:p>
            <a:r>
              <a:rPr lang="en-GB" sz="2400" dirty="0"/>
              <a:t>Android </a:t>
            </a:r>
            <a:r>
              <a:rPr lang="en-GB" sz="2400" dirty="0" err="1"/>
              <a:t>AsyncTask</a:t>
            </a:r>
            <a:r>
              <a:rPr lang="en-GB" sz="2400" dirty="0"/>
              <a:t> going to do background operation on background thread and update on main thread. In android we cant directly touch background thread to main thread in android development. </a:t>
            </a:r>
          </a:p>
          <a:p>
            <a:r>
              <a:rPr lang="en-GB" sz="2400" b="1" dirty="0" err="1"/>
              <a:t>asynctask</a:t>
            </a:r>
            <a:r>
              <a:rPr lang="en-GB" sz="2400" dirty="0"/>
              <a:t> help us to make communication between background thread to main thread.</a:t>
            </a:r>
          </a:p>
          <a:p>
            <a:r>
              <a:rPr lang="en-GB" sz="2400" dirty="0"/>
              <a:t>The following are the useful methods of </a:t>
            </a:r>
            <a:r>
              <a:rPr lang="en-GB" sz="2400" b="1" dirty="0" err="1"/>
              <a:t>AsyncTask</a:t>
            </a:r>
            <a:r>
              <a:rPr lang="en-GB" sz="2400" dirty="0"/>
              <a:t>&lt;</a:t>
            </a:r>
            <a:r>
              <a:rPr lang="en-GB" sz="2400" b="1" dirty="0" err="1"/>
              <a:t>Params</a:t>
            </a:r>
            <a:r>
              <a:rPr lang="en-GB" sz="2400" dirty="0" err="1"/>
              <a:t>,</a:t>
            </a:r>
            <a:r>
              <a:rPr lang="en-GB" sz="2400" b="1" dirty="0" err="1"/>
              <a:t>Progress</a:t>
            </a:r>
            <a:r>
              <a:rPr lang="en-GB" sz="2400" dirty="0" err="1"/>
              <a:t>,</a:t>
            </a:r>
            <a:r>
              <a:rPr lang="en-GB" sz="2400" b="1" dirty="0" err="1"/>
              <a:t>Result</a:t>
            </a:r>
            <a:r>
              <a:rPr lang="en-GB" sz="2400" dirty="0"/>
              <a:t>&gt;. </a:t>
            </a:r>
          </a:p>
          <a:p>
            <a:pPr lvl="1"/>
            <a:r>
              <a:rPr lang="en-GB" sz="2000" b="1" dirty="0" err="1"/>
              <a:t>onPreExecute</a:t>
            </a:r>
            <a:r>
              <a:rPr lang="en-GB" sz="2000" dirty="0"/>
              <a:t>() </a:t>
            </a:r>
          </a:p>
          <a:p>
            <a:pPr lvl="1"/>
            <a:r>
              <a:rPr lang="en-GB" sz="2000" b="1" dirty="0" err="1"/>
              <a:t>doInBackground</a:t>
            </a:r>
            <a:r>
              <a:rPr lang="en-GB" sz="2000" dirty="0"/>
              <a:t>(Params) </a:t>
            </a:r>
          </a:p>
          <a:p>
            <a:pPr lvl="1"/>
            <a:r>
              <a:rPr lang="en-GB" sz="2000" b="1" dirty="0" err="1"/>
              <a:t>onProgressUpdate</a:t>
            </a:r>
            <a:r>
              <a:rPr lang="en-GB" sz="2000" dirty="0"/>
              <a:t>(Progress…) </a:t>
            </a:r>
          </a:p>
          <a:p>
            <a:pPr lvl="1"/>
            <a:r>
              <a:rPr lang="en-GB" sz="2000" b="1" dirty="0" err="1"/>
              <a:t>onPostExecute</a:t>
            </a:r>
            <a:r>
              <a:rPr lang="en-GB" sz="2000" dirty="0"/>
              <a:t>(Result)  </a:t>
            </a:r>
            <a:endParaRPr lang="en-IN" sz="2000" dirty="0"/>
          </a:p>
        </p:txBody>
      </p:sp>
    </p:spTree>
    <p:extLst>
      <p:ext uri="{BB962C8B-B14F-4D97-AF65-F5344CB8AC3E}">
        <p14:creationId xmlns:p14="http://schemas.microsoft.com/office/powerpoint/2010/main" val="2115374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FBFEFE-E609-4BA0-B7D5-2F9D727270BE}"/>
              </a:ext>
            </a:extLst>
          </p:cNvPr>
          <p:cNvSpPr>
            <a:spLocks noGrp="1"/>
          </p:cNvSpPr>
          <p:nvPr>
            <p:ph idx="1"/>
          </p:nvPr>
        </p:nvSpPr>
        <p:spPr>
          <a:xfrm>
            <a:off x="354604" y="295836"/>
            <a:ext cx="9372101" cy="5970493"/>
          </a:xfrm>
        </p:spPr>
        <p:txBody>
          <a:bodyPr/>
          <a:lstStyle/>
          <a:p>
            <a:r>
              <a:rPr lang="en-GB" b="1" dirty="0" err="1"/>
              <a:t>onPreExecute</a:t>
            </a:r>
            <a:r>
              <a:rPr lang="en-GB" dirty="0"/>
              <a:t>() − Before doing background operation we should show something on screen like progress bar or any animation to user.</a:t>
            </a:r>
          </a:p>
          <a:p>
            <a:r>
              <a:rPr lang="en-GB" b="1" dirty="0" err="1"/>
              <a:t>doInBackground</a:t>
            </a:r>
            <a:r>
              <a:rPr lang="en-GB" dirty="0"/>
              <a:t>(Params) − In this method we have to do background operation on background thread. </a:t>
            </a:r>
          </a:p>
          <a:p>
            <a:r>
              <a:rPr lang="en-GB" dirty="0"/>
              <a:t>Operations in this method should not touch on any main thread activities or fragments. </a:t>
            </a:r>
          </a:p>
          <a:p>
            <a:r>
              <a:rPr lang="en-GB" b="1" dirty="0" err="1"/>
              <a:t>onProgressUpdate</a:t>
            </a:r>
            <a:r>
              <a:rPr lang="en-GB" dirty="0"/>
              <a:t>(Progress…) − While doing background operation, if you want to update some information on UI, we can use this method.</a:t>
            </a:r>
          </a:p>
          <a:p>
            <a:r>
              <a:rPr lang="en-GB" b="1" dirty="0" err="1"/>
              <a:t>onPostExecute</a:t>
            </a:r>
            <a:r>
              <a:rPr lang="en-GB" dirty="0"/>
              <a:t>(Result) − In this method we can update </a:t>
            </a:r>
            <a:r>
              <a:rPr lang="en-GB" dirty="0" err="1"/>
              <a:t>ui</a:t>
            </a:r>
            <a:r>
              <a:rPr lang="en-GB" dirty="0"/>
              <a:t> of background operation result. </a:t>
            </a:r>
            <a:endParaRPr lang="en-IN" dirty="0"/>
          </a:p>
        </p:txBody>
      </p:sp>
      <p:pic>
        <p:nvPicPr>
          <p:cNvPr id="4" name="Picture 4" descr="Explained - Android AsyncTask - YouTube">
            <a:extLst>
              <a:ext uri="{FF2B5EF4-FFF2-40B4-BE49-F238E27FC236}">
                <a16:creationId xmlns:a16="http://schemas.microsoft.com/office/drawing/2014/main" id="{36464EC2-5E9F-4DB0-8D83-4A4FEDE8B2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012" b="18759"/>
          <a:stretch/>
        </p:blipFill>
        <p:spPr bwMode="auto">
          <a:xfrm>
            <a:off x="1837765" y="3612601"/>
            <a:ext cx="6633882" cy="324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852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7C1F-2395-4A8C-8FAB-78D3C282E441}"/>
              </a:ext>
            </a:extLst>
          </p:cNvPr>
          <p:cNvSpPr>
            <a:spLocks noGrp="1"/>
          </p:cNvSpPr>
          <p:nvPr>
            <p:ph type="title"/>
          </p:nvPr>
        </p:nvSpPr>
        <p:spPr>
          <a:xfrm>
            <a:off x="489075" y="156238"/>
            <a:ext cx="8596668" cy="749197"/>
          </a:xfrm>
        </p:spPr>
        <p:txBody>
          <a:bodyPr/>
          <a:lstStyle/>
          <a:p>
            <a:r>
              <a:rPr lang="en-IN" dirty="0" err="1"/>
              <a:t>VideoView</a:t>
            </a:r>
            <a:endParaRPr lang="en-IN" dirty="0"/>
          </a:p>
        </p:txBody>
      </p:sp>
      <p:sp>
        <p:nvSpPr>
          <p:cNvPr id="3" name="Content Placeholder 2">
            <a:extLst>
              <a:ext uri="{FF2B5EF4-FFF2-40B4-BE49-F238E27FC236}">
                <a16:creationId xmlns:a16="http://schemas.microsoft.com/office/drawing/2014/main" id="{745B7AE9-A4D0-44B6-8FA9-49A18BC62E53}"/>
              </a:ext>
            </a:extLst>
          </p:cNvPr>
          <p:cNvSpPr>
            <a:spLocks noGrp="1"/>
          </p:cNvSpPr>
          <p:nvPr>
            <p:ph idx="1"/>
          </p:nvPr>
        </p:nvSpPr>
        <p:spPr>
          <a:xfrm>
            <a:off x="489074" y="905435"/>
            <a:ext cx="9156949" cy="5871883"/>
          </a:xfrm>
        </p:spPr>
        <p:txBody>
          <a:bodyPr>
            <a:normAutofit/>
          </a:bodyPr>
          <a:lstStyle/>
          <a:p>
            <a:r>
              <a:rPr lang="en-GB" sz="2400" dirty="0" err="1"/>
              <a:t>VideoView</a:t>
            </a:r>
            <a:r>
              <a:rPr lang="en-GB" sz="2400" dirty="0"/>
              <a:t> is a UI widget that is used to display video content to the users within android applications. </a:t>
            </a:r>
          </a:p>
          <a:p>
            <a:r>
              <a:rPr lang="en-GB" sz="2400" dirty="0"/>
              <a:t>We can add video in this video view from different resources such as a video stored on the user device, or a video from a server. </a:t>
            </a:r>
          </a:p>
          <a:p>
            <a:r>
              <a:rPr lang="en-GB" sz="2400" dirty="0"/>
              <a:t>By the help of </a:t>
            </a:r>
            <a:r>
              <a:rPr lang="en-GB" sz="2400" dirty="0" err="1"/>
              <a:t>MediaController</a:t>
            </a:r>
            <a:r>
              <a:rPr lang="en-GB" sz="2400" dirty="0"/>
              <a:t> and </a:t>
            </a:r>
            <a:r>
              <a:rPr lang="en-GB" sz="2400" dirty="0" err="1"/>
              <a:t>VideoView</a:t>
            </a:r>
            <a:r>
              <a:rPr lang="en-GB" sz="2400" dirty="0"/>
              <a:t> classes, we can play the video files in android. </a:t>
            </a:r>
          </a:p>
          <a:p>
            <a:r>
              <a:rPr lang="en-IN" sz="2400" b="1" dirty="0" err="1"/>
              <a:t>MediaController</a:t>
            </a:r>
            <a:r>
              <a:rPr lang="en-IN" sz="2400" dirty="0"/>
              <a:t> class </a:t>
            </a:r>
          </a:p>
          <a:p>
            <a:pPr lvl="1"/>
            <a:r>
              <a:rPr lang="en-IN" sz="2000" dirty="0"/>
              <a:t>The </a:t>
            </a:r>
            <a:r>
              <a:rPr lang="en-IN" sz="2000" b="1" dirty="0" err="1"/>
              <a:t>android.widget.MediaController</a:t>
            </a:r>
            <a:r>
              <a:rPr lang="en-IN" sz="2000" dirty="0"/>
              <a:t> is a view that contains media controls like play/pause, previous, next, fast-forward, rewind etc. </a:t>
            </a:r>
          </a:p>
          <a:p>
            <a:r>
              <a:rPr lang="en-IN" sz="2400" b="1" dirty="0" err="1"/>
              <a:t>VideoView</a:t>
            </a:r>
            <a:r>
              <a:rPr lang="en-IN" sz="2400" dirty="0"/>
              <a:t> class </a:t>
            </a:r>
          </a:p>
          <a:p>
            <a:pPr lvl="1"/>
            <a:r>
              <a:rPr lang="en-IN" sz="2000" dirty="0"/>
              <a:t>The </a:t>
            </a:r>
            <a:r>
              <a:rPr lang="en-IN" sz="2000" b="1" dirty="0" err="1"/>
              <a:t>android.widget.VideoView</a:t>
            </a:r>
            <a:r>
              <a:rPr lang="en-IN" sz="2000" dirty="0"/>
              <a:t> class provides methods to play and control the video player</a:t>
            </a:r>
          </a:p>
        </p:txBody>
      </p:sp>
    </p:spTree>
    <p:extLst>
      <p:ext uri="{BB962C8B-B14F-4D97-AF65-F5344CB8AC3E}">
        <p14:creationId xmlns:p14="http://schemas.microsoft.com/office/powerpoint/2010/main" val="3247160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081A8B-BBDE-4995-8C00-541CCA5D6F86}"/>
              </a:ext>
            </a:extLst>
          </p:cNvPr>
          <p:cNvPicPr>
            <a:picLocks noChangeAspect="1"/>
          </p:cNvPicPr>
          <p:nvPr/>
        </p:nvPicPr>
        <p:blipFill>
          <a:blip r:embed="rId2"/>
          <a:stretch>
            <a:fillRect/>
          </a:stretch>
        </p:blipFill>
        <p:spPr>
          <a:xfrm>
            <a:off x="495390" y="1135168"/>
            <a:ext cx="8260796" cy="4892464"/>
          </a:xfrm>
          <a:prstGeom prst="rect">
            <a:avLst/>
          </a:prstGeom>
        </p:spPr>
      </p:pic>
      <p:sp>
        <p:nvSpPr>
          <p:cNvPr id="5" name="Title 1">
            <a:extLst>
              <a:ext uri="{FF2B5EF4-FFF2-40B4-BE49-F238E27FC236}">
                <a16:creationId xmlns:a16="http://schemas.microsoft.com/office/drawing/2014/main" id="{447D873D-0D41-4CA5-8E73-58003E9C2091}"/>
              </a:ext>
            </a:extLst>
          </p:cNvPr>
          <p:cNvSpPr>
            <a:spLocks noGrp="1"/>
          </p:cNvSpPr>
          <p:nvPr>
            <p:ph type="title"/>
          </p:nvPr>
        </p:nvSpPr>
        <p:spPr>
          <a:xfrm>
            <a:off x="489075" y="156238"/>
            <a:ext cx="8596668" cy="749197"/>
          </a:xfrm>
        </p:spPr>
        <p:txBody>
          <a:bodyPr/>
          <a:lstStyle/>
          <a:p>
            <a:r>
              <a:rPr lang="en-IN" dirty="0" err="1"/>
              <a:t>VideoView</a:t>
            </a:r>
            <a:r>
              <a:rPr lang="en-IN" dirty="0"/>
              <a:t> Methods</a:t>
            </a:r>
          </a:p>
        </p:txBody>
      </p:sp>
    </p:spTree>
    <p:extLst>
      <p:ext uri="{BB962C8B-B14F-4D97-AF65-F5344CB8AC3E}">
        <p14:creationId xmlns:p14="http://schemas.microsoft.com/office/powerpoint/2010/main" val="561911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B83D-FDA0-4087-9795-A1CB32E73062}"/>
              </a:ext>
            </a:extLst>
          </p:cNvPr>
          <p:cNvSpPr>
            <a:spLocks noGrp="1"/>
          </p:cNvSpPr>
          <p:nvPr>
            <p:ph type="title"/>
          </p:nvPr>
        </p:nvSpPr>
        <p:spPr>
          <a:xfrm>
            <a:off x="121522" y="239909"/>
            <a:ext cx="8596668" cy="656562"/>
          </a:xfrm>
        </p:spPr>
        <p:txBody>
          <a:bodyPr/>
          <a:lstStyle/>
          <a:p>
            <a:r>
              <a:rPr lang="en-IN" dirty="0"/>
              <a:t>Introduction to styles &amp; Themes</a:t>
            </a:r>
          </a:p>
        </p:txBody>
      </p:sp>
      <p:sp>
        <p:nvSpPr>
          <p:cNvPr id="3" name="Content Placeholder 2">
            <a:extLst>
              <a:ext uri="{FF2B5EF4-FFF2-40B4-BE49-F238E27FC236}">
                <a16:creationId xmlns:a16="http://schemas.microsoft.com/office/drawing/2014/main" id="{2899A71E-DF05-41DE-B0DB-499805F29751}"/>
              </a:ext>
            </a:extLst>
          </p:cNvPr>
          <p:cNvSpPr>
            <a:spLocks noGrp="1"/>
          </p:cNvSpPr>
          <p:nvPr>
            <p:ph idx="1"/>
          </p:nvPr>
        </p:nvSpPr>
        <p:spPr>
          <a:xfrm>
            <a:off x="121522" y="1129648"/>
            <a:ext cx="10438902" cy="5271152"/>
          </a:xfrm>
        </p:spPr>
        <p:txBody>
          <a:bodyPr>
            <a:normAutofit/>
          </a:bodyPr>
          <a:lstStyle/>
          <a:p>
            <a:r>
              <a:rPr lang="en-GB" sz="2800" b="1" dirty="0"/>
              <a:t>Styles</a:t>
            </a:r>
          </a:p>
          <a:p>
            <a:pPr lvl="1"/>
            <a:r>
              <a:rPr lang="en-GB" sz="2400" dirty="0"/>
              <a:t>A style is a collection of attributes that specify the appearance for a single View .</a:t>
            </a:r>
          </a:p>
          <a:p>
            <a:pPr lvl="1"/>
            <a:r>
              <a:rPr lang="en-GB" sz="2400" dirty="0"/>
              <a:t>A style can specify attributes such as </a:t>
            </a:r>
            <a:r>
              <a:rPr lang="en-GB" sz="2400" b="1" dirty="0"/>
              <a:t>font </a:t>
            </a:r>
            <a:r>
              <a:rPr lang="en-GB" sz="2400" b="1" dirty="0" err="1"/>
              <a:t>color</a:t>
            </a:r>
            <a:r>
              <a:rPr lang="en-GB" sz="2400" dirty="0"/>
              <a:t>, </a:t>
            </a:r>
            <a:r>
              <a:rPr lang="en-GB" sz="2400" b="1" dirty="0"/>
              <a:t>font size</a:t>
            </a:r>
            <a:r>
              <a:rPr lang="en-GB" sz="2400" dirty="0"/>
              <a:t>, </a:t>
            </a:r>
            <a:r>
              <a:rPr lang="en-GB" sz="2400" b="1" dirty="0"/>
              <a:t>background </a:t>
            </a:r>
            <a:r>
              <a:rPr lang="en-GB" sz="2400" b="1" dirty="0" err="1"/>
              <a:t>color</a:t>
            </a:r>
            <a:r>
              <a:rPr lang="en-GB" sz="2400" dirty="0"/>
              <a:t>, and much more.</a:t>
            </a:r>
          </a:p>
          <a:p>
            <a:pPr lvl="1"/>
            <a:r>
              <a:rPr lang="en-GB" sz="2400" dirty="0"/>
              <a:t>A style resource defines the format and look for a UI.</a:t>
            </a:r>
          </a:p>
          <a:p>
            <a:pPr lvl="1"/>
            <a:r>
              <a:rPr lang="en-GB" sz="2400" dirty="0"/>
              <a:t>A style can be applied to an individual View(from within a layout file) or to an entire Activity or application (from within the manifest file).</a:t>
            </a:r>
          </a:p>
          <a:p>
            <a:endParaRPr lang="en-IN" sz="2800" dirty="0"/>
          </a:p>
        </p:txBody>
      </p:sp>
    </p:spTree>
    <p:extLst>
      <p:ext uri="{BB962C8B-B14F-4D97-AF65-F5344CB8AC3E}">
        <p14:creationId xmlns:p14="http://schemas.microsoft.com/office/powerpoint/2010/main" val="9032284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EFDEC6-1CDE-406B-9DB5-53DE2223ACE2}"/>
              </a:ext>
            </a:extLst>
          </p:cNvPr>
          <p:cNvSpPr>
            <a:spLocks noGrp="1"/>
          </p:cNvSpPr>
          <p:nvPr>
            <p:ph idx="1"/>
          </p:nvPr>
        </p:nvSpPr>
        <p:spPr>
          <a:xfrm>
            <a:off x="677334" y="779929"/>
            <a:ext cx="8596668" cy="5261433"/>
          </a:xfrm>
        </p:spPr>
        <p:txBody>
          <a:bodyPr>
            <a:normAutofit lnSpcReduction="10000"/>
          </a:bodyPr>
          <a:lstStyle/>
          <a:p>
            <a:r>
              <a:rPr lang="en-GB" sz="2800" b="1" dirty="0"/>
              <a:t>Themes</a:t>
            </a:r>
          </a:p>
          <a:p>
            <a:pPr lvl="1"/>
            <a:r>
              <a:rPr lang="en-GB" sz="2400" dirty="0"/>
              <a:t>A </a:t>
            </a:r>
            <a:r>
              <a:rPr lang="en-GB" sz="2400" b="1" dirty="0"/>
              <a:t>theme </a:t>
            </a:r>
            <a:r>
              <a:rPr lang="en-GB" sz="2400" dirty="0"/>
              <a:t>is a collection of attributes that's applied to an entire app, activity, or view hierarchy—not just an individual view. </a:t>
            </a:r>
          </a:p>
          <a:p>
            <a:pPr lvl="1"/>
            <a:r>
              <a:rPr lang="en-GB" sz="2400" dirty="0"/>
              <a:t>When you apply a theme, every view in the app or activity applies each of the theme's attributes that it supports. </a:t>
            </a:r>
          </a:p>
          <a:p>
            <a:pPr lvl="1"/>
            <a:r>
              <a:rPr lang="en-GB" sz="2400" dirty="0"/>
              <a:t>A theme is nothing but an Android style applied to an entire Activity or application, rather than an individual view. </a:t>
            </a:r>
          </a:p>
          <a:p>
            <a:pPr lvl="1"/>
            <a:r>
              <a:rPr lang="en-GB" sz="2400" dirty="0"/>
              <a:t>When a style is applied as a theme, every view in the Activity or application will apply each style property that is supports. </a:t>
            </a:r>
          </a:p>
          <a:p>
            <a:endParaRPr lang="en-IN" sz="2800" dirty="0"/>
          </a:p>
        </p:txBody>
      </p:sp>
    </p:spTree>
    <p:extLst>
      <p:ext uri="{BB962C8B-B14F-4D97-AF65-F5344CB8AC3E}">
        <p14:creationId xmlns:p14="http://schemas.microsoft.com/office/powerpoint/2010/main" val="16585308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A3416-860E-4452-858C-CC1D9C86E0A4}"/>
              </a:ext>
            </a:extLst>
          </p:cNvPr>
          <p:cNvSpPr>
            <a:spLocks noGrp="1"/>
          </p:cNvSpPr>
          <p:nvPr>
            <p:ph type="title"/>
          </p:nvPr>
        </p:nvSpPr>
        <p:spPr>
          <a:xfrm>
            <a:off x="677334" y="609600"/>
            <a:ext cx="8596668" cy="770965"/>
          </a:xfrm>
        </p:spPr>
        <p:txBody>
          <a:bodyPr/>
          <a:lstStyle/>
          <a:p>
            <a:r>
              <a:rPr lang="en-IN" dirty="0"/>
              <a:t>Working with Camera</a:t>
            </a:r>
          </a:p>
        </p:txBody>
      </p:sp>
      <p:sp>
        <p:nvSpPr>
          <p:cNvPr id="3" name="Content Placeholder 2">
            <a:extLst>
              <a:ext uri="{FF2B5EF4-FFF2-40B4-BE49-F238E27FC236}">
                <a16:creationId xmlns:a16="http://schemas.microsoft.com/office/drawing/2014/main" id="{C73A6A89-05D4-4C76-B9F9-A3D885C7DEBA}"/>
              </a:ext>
            </a:extLst>
          </p:cNvPr>
          <p:cNvSpPr>
            <a:spLocks noGrp="1"/>
          </p:cNvSpPr>
          <p:nvPr>
            <p:ph idx="1"/>
          </p:nvPr>
        </p:nvSpPr>
        <p:spPr>
          <a:xfrm>
            <a:off x="677334" y="1380565"/>
            <a:ext cx="9309348" cy="4660797"/>
          </a:xfrm>
        </p:spPr>
        <p:txBody>
          <a:bodyPr>
            <a:normAutofit fontScale="92500" lnSpcReduction="10000"/>
          </a:bodyPr>
          <a:lstStyle/>
          <a:p>
            <a:r>
              <a:rPr lang="en-GB" b="0" i="0" dirty="0">
                <a:solidFill>
                  <a:srgbClr val="202124"/>
                </a:solidFill>
                <a:effectLst/>
                <a:latin typeface="Google Sans Text"/>
              </a:rPr>
              <a:t>If you want to add camera functionality to an Android app, you have three main options:</a:t>
            </a:r>
          </a:p>
          <a:p>
            <a:r>
              <a:rPr lang="en-IN" b="1" dirty="0" err="1"/>
              <a:t>CameraX</a:t>
            </a:r>
            <a:endParaRPr lang="en-IN" b="1" dirty="0"/>
          </a:p>
          <a:p>
            <a:r>
              <a:rPr lang="en-GB" dirty="0"/>
              <a:t>For most </a:t>
            </a:r>
            <a:r>
              <a:rPr lang="en-GB" dirty="0" err="1"/>
              <a:t>developers,it</a:t>
            </a:r>
            <a:r>
              <a:rPr lang="en-GB" dirty="0"/>
              <a:t> is recommended </a:t>
            </a:r>
            <a:r>
              <a:rPr lang="en-GB" dirty="0" err="1"/>
              <a:t>CameraX</a:t>
            </a:r>
            <a:r>
              <a:rPr lang="en-GB" dirty="0"/>
              <a:t>. </a:t>
            </a:r>
            <a:r>
              <a:rPr lang="en-GB" dirty="0" err="1"/>
              <a:t>CameraX</a:t>
            </a:r>
            <a:r>
              <a:rPr lang="en-GB" dirty="0"/>
              <a:t> is a Jetpack library that supports the vast majority of Android devices (Android 5.0 and higher) and provides a consistent, high-level API designed around common use cases. </a:t>
            </a:r>
            <a:r>
              <a:rPr lang="en-GB" dirty="0" err="1"/>
              <a:t>CameraX</a:t>
            </a:r>
            <a:r>
              <a:rPr lang="en-GB" dirty="0"/>
              <a:t> resolves device compatibility issues for you so that you don't have to add device-specific code to your app.</a:t>
            </a:r>
          </a:p>
          <a:p>
            <a:r>
              <a:rPr lang="en-IN" b="1" dirty="0"/>
              <a:t>Camera2</a:t>
            </a:r>
            <a:endParaRPr lang="en-GB" b="1" dirty="0"/>
          </a:p>
          <a:p>
            <a:r>
              <a:rPr lang="en-GB" dirty="0" err="1"/>
              <a:t>CameraX</a:t>
            </a:r>
            <a:r>
              <a:rPr lang="en-GB" dirty="0"/>
              <a:t> is built on top of the Camera2 package. If you need low-level camera control to support complex use cases, Camera2 is a good option, but the API is more complex than </a:t>
            </a:r>
            <a:r>
              <a:rPr lang="en-GB" dirty="0" err="1"/>
              <a:t>CameraX</a:t>
            </a:r>
            <a:r>
              <a:rPr lang="en-GB" dirty="0"/>
              <a:t>. It requires you to manage device-specific configurations. Like </a:t>
            </a:r>
            <a:r>
              <a:rPr lang="en-GB" dirty="0" err="1"/>
              <a:t>CameraX</a:t>
            </a:r>
            <a:r>
              <a:rPr lang="en-GB" dirty="0"/>
              <a:t>, Camera2 works on Android 5.0 (API level 21) and higher.</a:t>
            </a:r>
          </a:p>
          <a:p>
            <a:r>
              <a:rPr lang="en-IN" b="1" dirty="0"/>
              <a:t>Camera (deprecated)</a:t>
            </a:r>
            <a:endParaRPr lang="en-GB" b="1" dirty="0"/>
          </a:p>
          <a:p>
            <a:r>
              <a:rPr lang="en-GB" dirty="0"/>
              <a:t>The original Android Camera class is deprecated. New apps should use </a:t>
            </a:r>
            <a:r>
              <a:rPr lang="en-GB" dirty="0" err="1"/>
              <a:t>CameraX</a:t>
            </a:r>
            <a:r>
              <a:rPr lang="en-GB" dirty="0"/>
              <a:t> (recommended) or Camera2, and existing apps should migrate to take advantage of new features and to avoid losing compatibility with future devices.</a:t>
            </a:r>
            <a:endParaRPr lang="en-IN" dirty="0"/>
          </a:p>
        </p:txBody>
      </p:sp>
    </p:spTree>
    <p:extLst>
      <p:ext uri="{BB962C8B-B14F-4D97-AF65-F5344CB8AC3E}">
        <p14:creationId xmlns:p14="http://schemas.microsoft.com/office/powerpoint/2010/main" val="2884681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8735F-C3F5-4764-A648-CF91727A62E4}"/>
              </a:ext>
            </a:extLst>
          </p:cNvPr>
          <p:cNvSpPr>
            <a:spLocks noGrp="1"/>
          </p:cNvSpPr>
          <p:nvPr>
            <p:ph type="title"/>
          </p:nvPr>
        </p:nvSpPr>
        <p:spPr>
          <a:xfrm>
            <a:off x="677334" y="439270"/>
            <a:ext cx="8596668" cy="744071"/>
          </a:xfrm>
        </p:spPr>
        <p:txBody>
          <a:bodyPr/>
          <a:lstStyle/>
          <a:p>
            <a:r>
              <a:rPr lang="en-IN" b="1" i="0" dirty="0">
                <a:solidFill>
                  <a:srgbClr val="000000"/>
                </a:solidFill>
                <a:effectLst/>
                <a:latin typeface="Google Sans"/>
              </a:rPr>
              <a:t>Camera intents</a:t>
            </a:r>
            <a:endParaRPr lang="en-IN" dirty="0"/>
          </a:p>
        </p:txBody>
      </p:sp>
      <p:sp>
        <p:nvSpPr>
          <p:cNvPr id="3" name="Content Placeholder 2">
            <a:extLst>
              <a:ext uri="{FF2B5EF4-FFF2-40B4-BE49-F238E27FC236}">
                <a16:creationId xmlns:a16="http://schemas.microsoft.com/office/drawing/2014/main" id="{5CC22EA2-7623-41F1-90DB-64216FACE35B}"/>
              </a:ext>
            </a:extLst>
          </p:cNvPr>
          <p:cNvSpPr>
            <a:spLocks noGrp="1"/>
          </p:cNvSpPr>
          <p:nvPr>
            <p:ph idx="1"/>
          </p:nvPr>
        </p:nvSpPr>
        <p:spPr>
          <a:xfrm>
            <a:off x="677334" y="1389530"/>
            <a:ext cx="8870078" cy="2250142"/>
          </a:xfrm>
        </p:spPr>
        <p:txBody>
          <a:bodyPr/>
          <a:lstStyle/>
          <a:p>
            <a:r>
              <a:rPr lang="en-GB" dirty="0"/>
              <a:t>To perform basic camera actions like capturing a photo or video using the device's default camera application, you do not need to integrate with a Camera library. Instead, use an Intent.</a:t>
            </a:r>
          </a:p>
          <a:p>
            <a:r>
              <a:rPr lang="en-GB" dirty="0"/>
              <a:t>Android delegates actions to other applications by invoking an Intent. This process involves three pieces: the Intent itself, a call to start the external Activity, and some code to handle the image data when focus returns to your activity.</a:t>
            </a:r>
          </a:p>
          <a:p>
            <a:endParaRPr lang="en-IN" dirty="0"/>
          </a:p>
        </p:txBody>
      </p:sp>
      <p:pic>
        <p:nvPicPr>
          <p:cNvPr id="1026" name="Picture 2" descr="使用 Jetpack Compose 在 Android 中使用 Intent 启动新 Activity | 码农参考">
            <a:extLst>
              <a:ext uri="{FF2B5EF4-FFF2-40B4-BE49-F238E27FC236}">
                <a16:creationId xmlns:a16="http://schemas.microsoft.com/office/drawing/2014/main" id="{FB23672A-E854-456E-B63B-3DDB43780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0" y="3196160"/>
            <a:ext cx="5824538" cy="3661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66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E0D2-4B53-44AE-ACDF-A3E5148F215E}"/>
              </a:ext>
            </a:extLst>
          </p:cNvPr>
          <p:cNvSpPr>
            <a:spLocks noGrp="1"/>
          </p:cNvSpPr>
          <p:nvPr>
            <p:ph type="title"/>
          </p:nvPr>
        </p:nvSpPr>
        <p:spPr/>
        <p:txBody>
          <a:bodyPr/>
          <a:lstStyle/>
          <a:p>
            <a:r>
              <a:rPr lang="en-GB" dirty="0"/>
              <a:t>To take picture</a:t>
            </a:r>
            <a:endParaRPr lang="en-IN" dirty="0"/>
          </a:p>
        </p:txBody>
      </p:sp>
      <p:sp>
        <p:nvSpPr>
          <p:cNvPr id="6" name="Content Placeholder 5">
            <a:extLst>
              <a:ext uri="{FF2B5EF4-FFF2-40B4-BE49-F238E27FC236}">
                <a16:creationId xmlns:a16="http://schemas.microsoft.com/office/drawing/2014/main" id="{E84A0DC5-C2F6-421E-AD6E-6B2D0AE0158F}"/>
              </a:ext>
            </a:extLst>
          </p:cNvPr>
          <p:cNvSpPr txBox="1">
            <a:spLocks noGrp="1"/>
          </p:cNvSpPr>
          <p:nvPr>
            <p:ph idx="1"/>
          </p:nvPr>
        </p:nvSpPr>
        <p:spPr>
          <a:xfrm>
            <a:off x="677334" y="1819929"/>
            <a:ext cx="8596312" cy="401648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buNone/>
            </a:pPr>
            <a:r>
              <a:rPr lang="en-IN" dirty="0"/>
              <a:t>static final int REQUEST_IMAGE_CAPTURE = 1;</a:t>
            </a:r>
          </a:p>
          <a:p>
            <a:pPr marL="0" indent="0">
              <a:buNone/>
            </a:pPr>
            <a:r>
              <a:rPr lang="en-IN" dirty="0"/>
              <a:t> </a:t>
            </a:r>
          </a:p>
          <a:p>
            <a:pPr marL="0" indent="0">
              <a:buNone/>
            </a:pPr>
            <a:r>
              <a:rPr lang="en-IN" dirty="0"/>
              <a:t>private void </a:t>
            </a:r>
            <a:r>
              <a:rPr lang="en-IN" dirty="0" err="1"/>
              <a:t>dispatchTakePictureIntent</a:t>
            </a:r>
            <a:r>
              <a:rPr lang="en-IN" dirty="0"/>
              <a:t>() {</a:t>
            </a:r>
          </a:p>
          <a:p>
            <a:pPr marL="0" indent="0">
              <a:buNone/>
            </a:pPr>
            <a:r>
              <a:rPr lang="en-IN" dirty="0"/>
              <a:t>    Intent </a:t>
            </a:r>
            <a:r>
              <a:rPr lang="en-IN" dirty="0" err="1"/>
              <a:t>takePictureIntent</a:t>
            </a:r>
            <a:r>
              <a:rPr lang="en-IN" dirty="0"/>
              <a:t> = new Intent(</a:t>
            </a:r>
            <a:r>
              <a:rPr lang="en-IN" dirty="0" err="1"/>
              <a:t>MediaStore.ACTION_IMAGE_CAPTURE</a:t>
            </a:r>
            <a:r>
              <a:rPr lang="en-IN" dirty="0"/>
              <a:t>);</a:t>
            </a:r>
          </a:p>
          <a:p>
            <a:pPr marL="0" indent="0">
              <a:buNone/>
            </a:pPr>
            <a:r>
              <a:rPr lang="en-IN" dirty="0"/>
              <a:t>    try {</a:t>
            </a:r>
          </a:p>
          <a:p>
            <a:pPr marL="0" indent="0">
              <a:buNone/>
            </a:pPr>
            <a:r>
              <a:rPr lang="en-IN" dirty="0"/>
              <a:t>        </a:t>
            </a:r>
            <a:r>
              <a:rPr lang="en-IN" dirty="0" err="1"/>
              <a:t>startActivityForResult</a:t>
            </a:r>
            <a:r>
              <a:rPr lang="en-IN" dirty="0"/>
              <a:t>(</a:t>
            </a:r>
            <a:r>
              <a:rPr lang="en-IN" dirty="0" err="1"/>
              <a:t>takePictureIntent</a:t>
            </a:r>
            <a:r>
              <a:rPr lang="en-IN" dirty="0"/>
              <a:t>, REQUEST_IMAGE_CAPTURE);</a:t>
            </a:r>
          </a:p>
          <a:p>
            <a:pPr marL="0" indent="0">
              <a:buNone/>
            </a:pPr>
            <a:r>
              <a:rPr lang="en-IN" dirty="0"/>
              <a:t>    } catch (</a:t>
            </a:r>
            <a:r>
              <a:rPr lang="en-IN" dirty="0" err="1"/>
              <a:t>ActivityNotFoundException</a:t>
            </a:r>
            <a:r>
              <a:rPr lang="en-IN" dirty="0"/>
              <a:t> e) {</a:t>
            </a:r>
          </a:p>
          <a:p>
            <a:pPr marL="0" indent="0">
              <a:buNone/>
            </a:pPr>
            <a:r>
              <a:rPr lang="en-IN" dirty="0"/>
              <a:t>        // display error state to the user</a:t>
            </a:r>
          </a:p>
          <a:p>
            <a:pPr marL="0" indent="0">
              <a:buNone/>
            </a:pPr>
            <a:r>
              <a:rPr lang="en-IN" dirty="0"/>
              <a:t>    }</a:t>
            </a:r>
          </a:p>
          <a:p>
            <a:pPr marL="0" indent="0">
              <a:buNone/>
            </a:pPr>
            <a:r>
              <a:rPr lang="en-IN" dirty="0"/>
              <a:t>}</a:t>
            </a:r>
          </a:p>
        </p:txBody>
      </p:sp>
      <p:pic>
        <p:nvPicPr>
          <p:cNvPr id="2050" name="Picture 2" descr="[Android] Camera で撮影、Intentで簡単にやりましょ">
            <a:extLst>
              <a:ext uri="{FF2B5EF4-FFF2-40B4-BE49-F238E27FC236}">
                <a16:creationId xmlns:a16="http://schemas.microsoft.com/office/drawing/2014/main" id="{A45CFB6E-C350-4495-A941-BA9B34662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9666" y="1102783"/>
            <a:ext cx="2376489" cy="4849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915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B0AB-DD85-4634-9D35-9C2D9F3D5B52}"/>
              </a:ext>
            </a:extLst>
          </p:cNvPr>
          <p:cNvSpPr>
            <a:spLocks noGrp="1"/>
          </p:cNvSpPr>
          <p:nvPr>
            <p:ph type="title"/>
          </p:nvPr>
        </p:nvSpPr>
        <p:spPr/>
        <p:txBody>
          <a:bodyPr/>
          <a:lstStyle/>
          <a:p>
            <a:r>
              <a:rPr lang="en-GB" dirty="0"/>
              <a:t>To take video</a:t>
            </a:r>
            <a:endParaRPr lang="en-IN" dirty="0"/>
          </a:p>
        </p:txBody>
      </p:sp>
      <p:sp>
        <p:nvSpPr>
          <p:cNvPr id="3" name="Content Placeholder 2">
            <a:extLst>
              <a:ext uri="{FF2B5EF4-FFF2-40B4-BE49-F238E27FC236}">
                <a16:creationId xmlns:a16="http://schemas.microsoft.com/office/drawing/2014/main" id="{655CA3FA-9628-4BEC-BD57-66CE730F41F1}"/>
              </a:ext>
            </a:extLst>
          </p:cNvPr>
          <p:cNvSpPr>
            <a:spLocks noGrp="1"/>
          </p:cNvSpPr>
          <p:nvPr>
            <p:ph idx="1"/>
          </p:nvPr>
        </p:nvSpPr>
        <p:spPr>
          <a:xfrm>
            <a:off x="677334" y="1930401"/>
            <a:ext cx="8596668" cy="4110962"/>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en-IN" dirty="0"/>
              <a:t>static final int REQUEST_VIDEO_CAPTURE = 1;</a:t>
            </a:r>
          </a:p>
          <a:p>
            <a:pPr marL="0" indent="0">
              <a:buNone/>
            </a:pPr>
            <a:r>
              <a:rPr lang="en-IN" dirty="0"/>
              <a:t> </a:t>
            </a:r>
          </a:p>
          <a:p>
            <a:pPr marL="0" indent="0">
              <a:buNone/>
            </a:pPr>
            <a:r>
              <a:rPr lang="en-IN" dirty="0"/>
              <a:t>private void </a:t>
            </a:r>
            <a:r>
              <a:rPr lang="en-IN" dirty="0" err="1"/>
              <a:t>dispatchTakeVideoIntent</a:t>
            </a:r>
            <a:r>
              <a:rPr lang="en-IN" dirty="0"/>
              <a:t>() {</a:t>
            </a:r>
          </a:p>
          <a:p>
            <a:pPr marL="0" indent="0">
              <a:buNone/>
            </a:pPr>
            <a:r>
              <a:rPr lang="en-IN" dirty="0"/>
              <a:t>    Intent </a:t>
            </a:r>
            <a:r>
              <a:rPr lang="en-IN" dirty="0" err="1"/>
              <a:t>takeVideoIntent</a:t>
            </a:r>
            <a:r>
              <a:rPr lang="en-IN" dirty="0"/>
              <a:t> = new Intent(</a:t>
            </a:r>
            <a:r>
              <a:rPr lang="en-IN" dirty="0" err="1"/>
              <a:t>MediaStore.ACTION_VIDEO_CAPTURE</a:t>
            </a:r>
            <a:r>
              <a:rPr lang="en-IN" dirty="0"/>
              <a:t>);</a:t>
            </a:r>
          </a:p>
          <a:p>
            <a:pPr marL="0" indent="0">
              <a:buNone/>
            </a:pPr>
            <a:r>
              <a:rPr lang="en-IN" dirty="0"/>
              <a:t>    if (</a:t>
            </a:r>
            <a:r>
              <a:rPr lang="en-IN" dirty="0" err="1"/>
              <a:t>takeVideoIntent.resolveActivity</a:t>
            </a:r>
            <a:r>
              <a:rPr lang="en-IN" dirty="0"/>
              <a:t>(</a:t>
            </a:r>
            <a:r>
              <a:rPr lang="en-IN" dirty="0" err="1"/>
              <a:t>getPackageManager</a:t>
            </a:r>
            <a:r>
              <a:rPr lang="en-IN" dirty="0"/>
              <a:t>()) != null) {</a:t>
            </a:r>
          </a:p>
          <a:p>
            <a:pPr marL="0" indent="0">
              <a:buNone/>
            </a:pPr>
            <a:r>
              <a:rPr lang="en-IN" dirty="0"/>
              <a:t>        </a:t>
            </a:r>
            <a:r>
              <a:rPr lang="en-IN" dirty="0" err="1"/>
              <a:t>startActivityForResult</a:t>
            </a:r>
            <a:r>
              <a:rPr lang="en-IN" dirty="0"/>
              <a:t>(</a:t>
            </a:r>
            <a:r>
              <a:rPr lang="en-IN" dirty="0" err="1"/>
              <a:t>takeVideoIntent</a:t>
            </a:r>
            <a:r>
              <a:rPr lang="en-IN" dirty="0"/>
              <a:t>, REQUEST_VIDEO_CAPTURE);</a:t>
            </a:r>
          </a:p>
          <a:p>
            <a:pPr marL="0" indent="0">
              <a:buNone/>
            </a:pPr>
            <a:r>
              <a:rPr lang="en-IN" dirty="0"/>
              <a:t>    }</a:t>
            </a:r>
          </a:p>
          <a:p>
            <a:pPr marL="0" indent="0">
              <a:buNone/>
            </a:pPr>
            <a:r>
              <a:rPr lang="en-IN" dirty="0"/>
              <a:t>    else {</a:t>
            </a:r>
          </a:p>
          <a:p>
            <a:pPr marL="0" indent="0">
              <a:buNone/>
            </a:pPr>
            <a:r>
              <a:rPr lang="en-IN" dirty="0"/>
              <a:t>      //display error state to the user</a:t>
            </a:r>
          </a:p>
          <a:p>
            <a:pPr marL="0" indent="0">
              <a:buNone/>
            </a:pPr>
            <a:r>
              <a:rPr lang="en-IN" dirty="0"/>
              <a:t>    }</a:t>
            </a:r>
          </a:p>
          <a:p>
            <a:pPr marL="0" indent="0">
              <a:buNone/>
            </a:pPr>
            <a:r>
              <a:rPr lang="en-IN" dirty="0"/>
              <a:t>}</a:t>
            </a:r>
          </a:p>
        </p:txBody>
      </p:sp>
      <p:pic>
        <p:nvPicPr>
          <p:cNvPr id="4" name="Picture 2" descr="[Android] Camera で撮影、Intentで簡単にやりましょ">
            <a:extLst>
              <a:ext uri="{FF2B5EF4-FFF2-40B4-BE49-F238E27FC236}">
                <a16:creationId xmlns:a16="http://schemas.microsoft.com/office/drawing/2014/main" id="{FAC3770B-C72D-49B9-B11D-85A647815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9666" y="1102783"/>
            <a:ext cx="2376489" cy="4849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283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6EC8D-2ACC-42CF-AB46-E6E08226F849}"/>
              </a:ext>
            </a:extLst>
          </p:cNvPr>
          <p:cNvSpPr>
            <a:spLocks noGrp="1"/>
          </p:cNvSpPr>
          <p:nvPr>
            <p:ph type="title"/>
          </p:nvPr>
        </p:nvSpPr>
        <p:spPr>
          <a:xfrm>
            <a:off x="677334" y="245534"/>
            <a:ext cx="8596668" cy="1320800"/>
          </a:xfrm>
        </p:spPr>
        <p:txBody>
          <a:bodyPr/>
          <a:lstStyle/>
          <a:p>
            <a:r>
              <a:rPr lang="en-GB" dirty="0" err="1"/>
              <a:t>startActivityForResult</a:t>
            </a:r>
            <a:r>
              <a:rPr lang="en-GB" dirty="0"/>
              <a:t>()</a:t>
            </a:r>
            <a:endParaRPr lang="en-IN" dirty="0"/>
          </a:p>
        </p:txBody>
      </p:sp>
      <p:sp>
        <p:nvSpPr>
          <p:cNvPr id="3" name="Content Placeholder 2">
            <a:extLst>
              <a:ext uri="{FF2B5EF4-FFF2-40B4-BE49-F238E27FC236}">
                <a16:creationId xmlns:a16="http://schemas.microsoft.com/office/drawing/2014/main" id="{ECA997CD-5690-4862-BB3C-1533B64E5902}"/>
              </a:ext>
            </a:extLst>
          </p:cNvPr>
          <p:cNvSpPr>
            <a:spLocks noGrp="1"/>
          </p:cNvSpPr>
          <p:nvPr>
            <p:ph idx="1"/>
          </p:nvPr>
        </p:nvSpPr>
        <p:spPr>
          <a:xfrm>
            <a:off x="677334" y="1270000"/>
            <a:ext cx="8596668" cy="1467748"/>
          </a:xfrm>
        </p:spPr>
        <p:txBody>
          <a:bodyPr/>
          <a:lstStyle/>
          <a:p>
            <a:r>
              <a:rPr lang="en-GB" dirty="0"/>
              <a:t>The </a:t>
            </a:r>
            <a:r>
              <a:rPr lang="en-GB" dirty="0" err="1"/>
              <a:t>startActivityForResult</a:t>
            </a:r>
            <a:r>
              <a:rPr lang="en-GB" dirty="0"/>
              <a:t>() method is protected by a condition that calls </a:t>
            </a:r>
            <a:r>
              <a:rPr lang="en-GB" dirty="0" err="1"/>
              <a:t>resolveActivity</a:t>
            </a:r>
            <a:r>
              <a:rPr lang="en-GB" dirty="0"/>
              <a:t>(), which returns the first activity component that can handle the Intent. Perform this check to ensure that you are invoking an Intent that won't crash your app.</a:t>
            </a:r>
            <a:endParaRPr lang="en-IN" dirty="0"/>
          </a:p>
        </p:txBody>
      </p:sp>
      <p:pic>
        <p:nvPicPr>
          <p:cNvPr id="3074" name="Picture 2" descr="Lesson 29. Making activity return result with startActivityForResult method">
            <a:extLst>
              <a:ext uri="{FF2B5EF4-FFF2-40B4-BE49-F238E27FC236}">
                <a16:creationId xmlns:a16="http://schemas.microsoft.com/office/drawing/2014/main" id="{FF43CB60-B4AC-4EF5-8B34-355F65018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998" y="2411942"/>
            <a:ext cx="5095875"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368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48B5D-2B00-4DC2-A119-0D75A8EDA3AF}"/>
              </a:ext>
            </a:extLst>
          </p:cNvPr>
          <p:cNvSpPr>
            <a:spLocks noGrp="1"/>
          </p:cNvSpPr>
          <p:nvPr>
            <p:ph type="title"/>
          </p:nvPr>
        </p:nvSpPr>
        <p:spPr>
          <a:xfrm>
            <a:off x="550334" y="186267"/>
            <a:ext cx="8596668" cy="668866"/>
          </a:xfrm>
        </p:spPr>
        <p:txBody>
          <a:bodyPr/>
          <a:lstStyle/>
          <a:p>
            <a:r>
              <a:rPr lang="en-IN" dirty="0"/>
              <a:t>Working with Service</a:t>
            </a:r>
          </a:p>
        </p:txBody>
      </p:sp>
      <p:sp>
        <p:nvSpPr>
          <p:cNvPr id="3" name="Content Placeholder 2">
            <a:extLst>
              <a:ext uri="{FF2B5EF4-FFF2-40B4-BE49-F238E27FC236}">
                <a16:creationId xmlns:a16="http://schemas.microsoft.com/office/drawing/2014/main" id="{DD1F24CA-AA46-49E2-A142-A8C2017B1B87}"/>
              </a:ext>
            </a:extLst>
          </p:cNvPr>
          <p:cNvSpPr>
            <a:spLocks noGrp="1"/>
          </p:cNvSpPr>
          <p:nvPr>
            <p:ph idx="1"/>
          </p:nvPr>
        </p:nvSpPr>
        <p:spPr>
          <a:xfrm>
            <a:off x="160867" y="1007533"/>
            <a:ext cx="9541933" cy="5537200"/>
          </a:xfrm>
        </p:spPr>
        <p:txBody>
          <a:bodyPr>
            <a:normAutofit fontScale="92500" lnSpcReduction="10000"/>
          </a:bodyPr>
          <a:lstStyle/>
          <a:p>
            <a:pPr algn="just"/>
            <a:r>
              <a:rPr lang="en-GB" dirty="0"/>
              <a:t>Certainly! In Android, services are a crucial component that allows applications to perform long-running tasks in the background. </a:t>
            </a:r>
          </a:p>
          <a:p>
            <a:pPr algn="just"/>
            <a:r>
              <a:rPr lang="en-GB" b="1" dirty="0"/>
              <a:t>3 Types of Services:</a:t>
            </a:r>
          </a:p>
          <a:p>
            <a:pPr algn="just"/>
            <a:r>
              <a:rPr lang="en-GB" b="1" dirty="0"/>
              <a:t>Foreground Services:</a:t>
            </a:r>
          </a:p>
          <a:p>
            <a:pPr lvl="1" algn="just"/>
            <a:r>
              <a:rPr lang="en-GB" dirty="0"/>
              <a:t> These services notify users about their ongoing operations. Users can interact with them through notifications. For example, when downloading a file, users can track the progress and even pause or resume the process.</a:t>
            </a:r>
          </a:p>
          <a:p>
            <a:pPr lvl="1" algn="just"/>
            <a:r>
              <a:rPr lang="en-GB" dirty="0"/>
              <a:t>Foreground services are suitable for tasks that require user awareness and interaction.</a:t>
            </a:r>
          </a:p>
          <a:p>
            <a:pPr algn="just"/>
            <a:r>
              <a:rPr lang="en-GB" b="1" dirty="0"/>
              <a:t>Background Services:</a:t>
            </a:r>
          </a:p>
          <a:p>
            <a:pPr lvl="1" algn="just"/>
            <a:r>
              <a:rPr lang="en-GB" dirty="0"/>
              <a:t>Background services operate without user intervention. They don’t notify users about ongoing tasks, and users cannot directly access them.</a:t>
            </a:r>
          </a:p>
          <a:p>
            <a:pPr lvl="1" algn="just"/>
            <a:r>
              <a:rPr lang="en-GB" dirty="0"/>
              <a:t>Examples of background services include scheduled data syncing or data storage processes.</a:t>
            </a:r>
          </a:p>
          <a:p>
            <a:pPr algn="just"/>
            <a:r>
              <a:rPr lang="en-GB" b="1" dirty="0"/>
              <a:t>Bound Services:</a:t>
            </a:r>
          </a:p>
          <a:p>
            <a:pPr lvl="1" algn="just"/>
            <a:r>
              <a:rPr lang="en-GB" dirty="0"/>
              <a:t>Bound services allow application components (such as activities) to bind themselves to the service.</a:t>
            </a:r>
          </a:p>
          <a:p>
            <a:pPr lvl="1" algn="just"/>
            <a:r>
              <a:rPr lang="en-GB" dirty="0"/>
              <a:t>Multiple components can bind to a service simultaneously.</a:t>
            </a:r>
          </a:p>
          <a:p>
            <a:pPr lvl="1" algn="just"/>
            <a:r>
              <a:rPr lang="en-GB" dirty="0"/>
              <a:t>Inter-process communication (IPC) can occur between the components and the service.</a:t>
            </a:r>
          </a:p>
          <a:p>
            <a:pPr lvl="1" algn="just"/>
            <a:r>
              <a:rPr lang="en-GB" dirty="0"/>
              <a:t>To bind an application component to a service, use the </a:t>
            </a:r>
            <a:r>
              <a:rPr lang="en-GB" dirty="0" err="1"/>
              <a:t>bindService</a:t>
            </a:r>
            <a:r>
              <a:rPr lang="en-GB" dirty="0"/>
              <a:t>() method.</a:t>
            </a:r>
            <a:endParaRPr lang="en-IN" dirty="0"/>
          </a:p>
        </p:txBody>
      </p:sp>
    </p:spTree>
    <p:extLst>
      <p:ext uri="{BB962C8B-B14F-4D97-AF65-F5344CB8AC3E}">
        <p14:creationId xmlns:p14="http://schemas.microsoft.com/office/powerpoint/2010/main" val="4100644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ypes of Android Services">
            <a:extLst>
              <a:ext uri="{FF2B5EF4-FFF2-40B4-BE49-F238E27FC236}">
                <a16:creationId xmlns:a16="http://schemas.microsoft.com/office/drawing/2014/main" id="{68480AA2-4203-4A64-8E12-0612057002E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556" t="5995" r="10539" b="9076"/>
          <a:stretch/>
        </p:blipFill>
        <p:spPr bwMode="auto">
          <a:xfrm>
            <a:off x="1021931" y="1032934"/>
            <a:ext cx="7302632" cy="45246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44D375F-FD5D-415E-A404-B122BA5F8995}"/>
              </a:ext>
            </a:extLst>
          </p:cNvPr>
          <p:cNvSpPr txBox="1"/>
          <p:nvPr/>
        </p:nvSpPr>
        <p:spPr>
          <a:xfrm>
            <a:off x="814917" y="513834"/>
            <a:ext cx="6100232" cy="369332"/>
          </a:xfrm>
          <a:prstGeom prst="rect">
            <a:avLst/>
          </a:prstGeom>
          <a:noFill/>
        </p:spPr>
        <p:txBody>
          <a:bodyPr wrap="square">
            <a:spAutoFit/>
          </a:bodyPr>
          <a:lstStyle/>
          <a:p>
            <a:pPr algn="just"/>
            <a:r>
              <a:rPr lang="en-GB" b="1" dirty="0"/>
              <a:t>3 Types of Services:</a:t>
            </a:r>
          </a:p>
        </p:txBody>
      </p:sp>
    </p:spTree>
    <p:extLst>
      <p:ext uri="{BB962C8B-B14F-4D97-AF65-F5344CB8AC3E}">
        <p14:creationId xmlns:p14="http://schemas.microsoft.com/office/powerpoint/2010/main" val="3201707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ECAC-3700-4757-B13C-3E6FFCBFFA96}"/>
              </a:ext>
            </a:extLst>
          </p:cNvPr>
          <p:cNvSpPr>
            <a:spLocks noGrp="1"/>
          </p:cNvSpPr>
          <p:nvPr>
            <p:ph type="title"/>
          </p:nvPr>
        </p:nvSpPr>
        <p:spPr/>
        <p:txBody>
          <a:bodyPr/>
          <a:lstStyle/>
          <a:p>
            <a:r>
              <a:rPr lang="en-IN" dirty="0"/>
              <a:t>Service Life-Cycle</a:t>
            </a:r>
          </a:p>
        </p:txBody>
      </p:sp>
      <p:pic>
        <p:nvPicPr>
          <p:cNvPr id="4098" name="Picture 2">
            <a:extLst>
              <a:ext uri="{FF2B5EF4-FFF2-40B4-BE49-F238E27FC236}">
                <a16:creationId xmlns:a16="http://schemas.microsoft.com/office/drawing/2014/main" id="{D7A71A66-8DD4-4605-981D-60001BD99C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64252" y="1049010"/>
            <a:ext cx="3989275" cy="519939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97C51C53-DEC5-4A78-9873-8457C5C0D576}"/>
              </a:ext>
            </a:extLst>
          </p:cNvPr>
          <p:cNvSpPr txBox="1">
            <a:spLocks/>
          </p:cNvSpPr>
          <p:nvPr/>
        </p:nvSpPr>
        <p:spPr>
          <a:xfrm>
            <a:off x="160867" y="1261533"/>
            <a:ext cx="7903385" cy="5283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GB" b="1" dirty="0"/>
              <a:t>Started Service (Unbounded Service):</a:t>
            </a:r>
          </a:p>
          <a:p>
            <a:pPr lvl="1" algn="just"/>
            <a:r>
              <a:rPr lang="en-GB" dirty="0"/>
              <a:t>Initiated when an application component calls the </a:t>
            </a:r>
            <a:r>
              <a:rPr lang="en-GB" dirty="0" err="1"/>
              <a:t>startService</a:t>
            </a:r>
            <a:r>
              <a:rPr lang="en-GB" dirty="0"/>
              <a:t>() method.</a:t>
            </a:r>
          </a:p>
          <a:p>
            <a:pPr lvl="1" algn="just"/>
            <a:r>
              <a:rPr lang="en-GB" dirty="0"/>
              <a:t>Continues running in the background even if the component that started it is destroyed.</a:t>
            </a:r>
          </a:p>
          <a:p>
            <a:pPr lvl="1" algn="just"/>
            <a:r>
              <a:rPr lang="en-GB" dirty="0"/>
              <a:t>You can stop the service using either the </a:t>
            </a:r>
            <a:r>
              <a:rPr lang="en-GB" dirty="0" err="1"/>
              <a:t>stopService</a:t>
            </a:r>
            <a:r>
              <a:rPr lang="en-GB" dirty="0"/>
              <a:t>() method or the service itself can stop using </a:t>
            </a:r>
            <a:r>
              <a:rPr lang="en-GB" dirty="0" err="1"/>
              <a:t>stopSelf</a:t>
            </a:r>
            <a:r>
              <a:rPr lang="en-GB" dirty="0"/>
              <a:t>().</a:t>
            </a:r>
          </a:p>
          <a:p>
            <a:pPr algn="just"/>
            <a:r>
              <a:rPr lang="en-GB" b="1" dirty="0"/>
              <a:t>Bound Service:</a:t>
            </a:r>
          </a:p>
          <a:p>
            <a:pPr lvl="1" algn="just"/>
            <a:r>
              <a:rPr lang="en-GB" dirty="0"/>
              <a:t>Functions like a server in a client-server interface.</a:t>
            </a:r>
          </a:p>
          <a:p>
            <a:pPr lvl="1" algn="just"/>
            <a:r>
              <a:rPr lang="en-GB" dirty="0"/>
              <a:t>Components can send requests to the service and retrieve results.</a:t>
            </a:r>
          </a:p>
          <a:p>
            <a:pPr lvl="1" algn="just"/>
            <a:r>
              <a:rPr lang="en-GB" dirty="0"/>
              <a:t>A service becomes bound when an application component calls </a:t>
            </a:r>
            <a:r>
              <a:rPr lang="en-GB" dirty="0" err="1"/>
              <a:t>bindService</a:t>
            </a:r>
            <a:r>
              <a:rPr lang="en-GB" dirty="0"/>
              <a:t>().</a:t>
            </a:r>
          </a:p>
        </p:txBody>
      </p:sp>
    </p:spTree>
    <p:extLst>
      <p:ext uri="{BB962C8B-B14F-4D97-AF65-F5344CB8AC3E}">
        <p14:creationId xmlns:p14="http://schemas.microsoft.com/office/powerpoint/2010/main" val="812654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6A1DB-5F0F-485C-8E4B-EF18DF2D8B8C}"/>
              </a:ext>
            </a:extLst>
          </p:cNvPr>
          <p:cNvSpPr>
            <a:spLocks noGrp="1"/>
          </p:cNvSpPr>
          <p:nvPr>
            <p:ph type="title"/>
          </p:nvPr>
        </p:nvSpPr>
        <p:spPr>
          <a:xfrm>
            <a:off x="635001" y="211667"/>
            <a:ext cx="8596668" cy="804333"/>
          </a:xfrm>
        </p:spPr>
        <p:txBody>
          <a:bodyPr/>
          <a:lstStyle/>
          <a:p>
            <a:r>
              <a:rPr lang="en-IN" dirty="0"/>
              <a:t>Working with </a:t>
            </a:r>
            <a:r>
              <a:rPr lang="en-IN" dirty="0" err="1"/>
              <a:t>AudioManager</a:t>
            </a:r>
            <a:endParaRPr lang="en-IN" dirty="0"/>
          </a:p>
        </p:txBody>
      </p:sp>
      <p:sp>
        <p:nvSpPr>
          <p:cNvPr id="3" name="Content Placeholder 2">
            <a:extLst>
              <a:ext uri="{FF2B5EF4-FFF2-40B4-BE49-F238E27FC236}">
                <a16:creationId xmlns:a16="http://schemas.microsoft.com/office/drawing/2014/main" id="{14D767FE-C067-4C59-A78E-459C8D1AF48E}"/>
              </a:ext>
            </a:extLst>
          </p:cNvPr>
          <p:cNvSpPr>
            <a:spLocks noGrp="1"/>
          </p:cNvSpPr>
          <p:nvPr>
            <p:ph idx="1"/>
          </p:nvPr>
        </p:nvSpPr>
        <p:spPr>
          <a:xfrm>
            <a:off x="313267" y="1083733"/>
            <a:ext cx="10032999" cy="5588000"/>
          </a:xfrm>
        </p:spPr>
        <p:txBody>
          <a:bodyPr>
            <a:normAutofit/>
          </a:bodyPr>
          <a:lstStyle/>
          <a:p>
            <a:pPr algn="just"/>
            <a:r>
              <a:rPr lang="en-GB" dirty="0" err="1"/>
              <a:t>AudioManager</a:t>
            </a:r>
            <a:r>
              <a:rPr lang="en-GB" dirty="0"/>
              <a:t> is a class provided by Android which can be used to control the ringer volume of your Android device. With the help of this Audio Manager class, you can easily control the ringer volume of your device. </a:t>
            </a:r>
          </a:p>
          <a:p>
            <a:pPr algn="just"/>
            <a:r>
              <a:rPr lang="en-GB" dirty="0"/>
              <a:t>Audio Manager Class can be used by calling the </a:t>
            </a:r>
            <a:r>
              <a:rPr lang="en-GB" b="1" dirty="0" err="1"/>
              <a:t>getSystemService</a:t>
            </a:r>
            <a:r>
              <a:rPr lang="en-GB" dirty="0"/>
              <a:t>() method in Android. When you create Audio Manager Class then you can use </a:t>
            </a:r>
            <a:r>
              <a:rPr lang="en-GB" b="1" dirty="0" err="1"/>
              <a:t>setRingerMode</a:t>
            </a:r>
            <a:r>
              <a:rPr lang="en-GB" dirty="0"/>
              <a:t>() method to change the ringer volume of your device. </a:t>
            </a:r>
          </a:p>
          <a:p>
            <a:pPr algn="just"/>
            <a:r>
              <a:rPr lang="en-GB" dirty="0"/>
              <a:t>The </a:t>
            </a:r>
            <a:r>
              <a:rPr lang="en-GB" b="1" dirty="0" err="1"/>
              <a:t>setRingerMode</a:t>
            </a:r>
            <a:r>
              <a:rPr lang="en-GB" dirty="0"/>
              <a:t>() method takes an integer parameter to set the ringer profile of your device. </a:t>
            </a:r>
          </a:p>
          <a:p>
            <a:pPr algn="just"/>
            <a:r>
              <a:rPr lang="en-GB" dirty="0"/>
              <a:t>There are three different integer parameters that need to be passed in </a:t>
            </a:r>
            <a:r>
              <a:rPr lang="en-GB" b="1" dirty="0" err="1"/>
              <a:t>setRingerMode</a:t>
            </a:r>
            <a:r>
              <a:rPr lang="en-GB" dirty="0"/>
              <a:t>() method are as follows: </a:t>
            </a:r>
          </a:p>
          <a:p>
            <a:r>
              <a:rPr lang="en-IN" b="1" dirty="0"/>
              <a:t>RINGER_MODE_NORMAL</a:t>
            </a:r>
            <a:r>
              <a:rPr lang="en-IN" dirty="0"/>
              <a:t>	</a:t>
            </a:r>
          </a:p>
          <a:p>
            <a:pPr lvl="1"/>
            <a:r>
              <a:rPr lang="en-IN" dirty="0"/>
              <a:t>This mode will set your device mode to Normal/General mode.</a:t>
            </a:r>
          </a:p>
          <a:p>
            <a:r>
              <a:rPr lang="en-IN" b="1" dirty="0"/>
              <a:t>RINGER_MODE_SILENT	</a:t>
            </a:r>
          </a:p>
          <a:p>
            <a:pPr lvl="1"/>
            <a:r>
              <a:rPr lang="en-IN" dirty="0"/>
              <a:t>This mode will set your device mode to Silent mode.</a:t>
            </a:r>
          </a:p>
          <a:p>
            <a:r>
              <a:rPr lang="en-IN" b="1" dirty="0"/>
              <a:t>RINGER_MODE_VIBRATE	</a:t>
            </a:r>
          </a:p>
          <a:p>
            <a:pPr lvl="1"/>
            <a:r>
              <a:rPr lang="en-IN" dirty="0"/>
              <a:t>This mode will set your device mode to vibrate mode. </a:t>
            </a:r>
          </a:p>
        </p:txBody>
      </p:sp>
      <p:pic>
        <p:nvPicPr>
          <p:cNvPr id="4" name="Picture 4" descr="Image result for audiomanager android">
            <a:extLst>
              <a:ext uri="{FF2B5EF4-FFF2-40B4-BE49-F238E27FC236}">
                <a16:creationId xmlns:a16="http://schemas.microsoft.com/office/drawing/2014/main" id="{01577C70-C35E-4812-ADC4-2F5F57A117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20"/>
          <a:stretch/>
        </p:blipFill>
        <p:spPr bwMode="auto">
          <a:xfrm>
            <a:off x="10259124" y="3547532"/>
            <a:ext cx="1932875" cy="3310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608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D4343-EBF3-4981-B161-A9497D2E1C92}"/>
              </a:ext>
            </a:extLst>
          </p:cNvPr>
          <p:cNvSpPr>
            <a:spLocks noGrp="1"/>
          </p:cNvSpPr>
          <p:nvPr>
            <p:ph idx="1"/>
          </p:nvPr>
        </p:nvSpPr>
        <p:spPr>
          <a:xfrm>
            <a:off x="364067" y="431800"/>
            <a:ext cx="9304866" cy="6070599"/>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0" indent="0">
              <a:buNone/>
            </a:pPr>
            <a:r>
              <a:rPr lang="en-GB" dirty="0" err="1"/>
              <a:t>AudioManager</a:t>
            </a:r>
            <a:r>
              <a:rPr lang="en-GB" dirty="0"/>
              <a:t> </a:t>
            </a:r>
            <a:r>
              <a:rPr lang="en-GB" dirty="0" err="1"/>
              <a:t>audioManager</a:t>
            </a:r>
            <a:r>
              <a:rPr lang="en-GB" dirty="0"/>
              <a:t> = (</a:t>
            </a:r>
            <a:r>
              <a:rPr lang="en-GB" dirty="0" err="1"/>
              <a:t>AudioManager</a:t>
            </a:r>
            <a:r>
              <a:rPr lang="en-GB" dirty="0"/>
              <a:t>) </a:t>
            </a:r>
            <a:r>
              <a:rPr lang="en-GB" dirty="0" err="1"/>
              <a:t>getSystemService</a:t>
            </a:r>
            <a:r>
              <a:rPr lang="en-GB" dirty="0"/>
              <a:t>(</a:t>
            </a:r>
            <a:r>
              <a:rPr lang="en-GB" dirty="0" err="1"/>
              <a:t>Context.AUDIO_SERVICE</a:t>
            </a:r>
            <a:r>
              <a:rPr lang="en-GB" dirty="0"/>
              <a:t>);</a:t>
            </a:r>
          </a:p>
          <a:p>
            <a:pPr marL="0" indent="0">
              <a:buNone/>
            </a:pPr>
            <a:r>
              <a:rPr lang="en-GB" dirty="0"/>
              <a:t> </a:t>
            </a:r>
          </a:p>
          <a:p>
            <a:pPr marL="0" indent="0">
              <a:buNone/>
            </a:pPr>
            <a:r>
              <a:rPr lang="en-GB" dirty="0"/>
              <a:t>        // current mode will store current mode</a:t>
            </a:r>
          </a:p>
          <a:p>
            <a:pPr marL="0" indent="0">
              <a:buNone/>
            </a:pPr>
            <a:r>
              <a:rPr lang="en-GB" dirty="0"/>
              <a:t>        // of ringer of users device..</a:t>
            </a:r>
          </a:p>
          <a:p>
            <a:pPr marL="0" indent="0">
              <a:buNone/>
            </a:pPr>
            <a:r>
              <a:rPr lang="en-GB" dirty="0"/>
              <a:t>        </a:t>
            </a:r>
            <a:r>
              <a:rPr lang="en-GB" dirty="0" err="1"/>
              <a:t>currentmode</a:t>
            </a:r>
            <a:r>
              <a:rPr lang="en-GB" dirty="0"/>
              <a:t> = </a:t>
            </a:r>
            <a:r>
              <a:rPr lang="en-GB" dirty="0" err="1"/>
              <a:t>audioManager.getRingerMode</a:t>
            </a:r>
            <a:r>
              <a:rPr lang="en-GB" dirty="0"/>
              <a:t>();</a:t>
            </a:r>
          </a:p>
          <a:p>
            <a:pPr marL="0" indent="0">
              <a:buNone/>
            </a:pPr>
            <a:r>
              <a:rPr lang="en-GB" dirty="0"/>
              <a:t> </a:t>
            </a:r>
          </a:p>
          <a:p>
            <a:pPr marL="0" indent="0">
              <a:buNone/>
            </a:pPr>
            <a:r>
              <a:rPr lang="en-GB" dirty="0"/>
              <a:t>        switch (</a:t>
            </a:r>
            <a:r>
              <a:rPr lang="en-GB" dirty="0" err="1"/>
              <a:t>currentmode</a:t>
            </a:r>
            <a:r>
              <a:rPr lang="en-GB" dirty="0"/>
              <a:t>) {</a:t>
            </a:r>
          </a:p>
          <a:p>
            <a:pPr marL="0" indent="0">
              <a:buNone/>
            </a:pPr>
            <a:r>
              <a:rPr lang="en-GB" dirty="0"/>
              <a:t>            case </a:t>
            </a:r>
            <a:r>
              <a:rPr lang="en-GB" dirty="0" err="1"/>
              <a:t>AudioManager</a:t>
            </a:r>
            <a:r>
              <a:rPr lang="en-GB" b="1" dirty="0" err="1"/>
              <a:t>.RINGER_MODE_NORMAL</a:t>
            </a:r>
            <a:r>
              <a:rPr lang="en-GB" dirty="0"/>
              <a:t>:</a:t>
            </a:r>
          </a:p>
          <a:p>
            <a:pPr marL="0" indent="0">
              <a:buNone/>
            </a:pPr>
            <a:r>
              <a:rPr lang="en-GB" dirty="0"/>
              <a:t>                </a:t>
            </a:r>
            <a:r>
              <a:rPr lang="en-GB" dirty="0" err="1"/>
              <a:t>currentStateTV.setText</a:t>
            </a:r>
            <a:r>
              <a:rPr lang="en-GB" dirty="0"/>
              <a:t>("Ringer Mode");</a:t>
            </a:r>
          </a:p>
          <a:p>
            <a:pPr marL="0" indent="0">
              <a:buNone/>
            </a:pPr>
            <a:r>
              <a:rPr lang="en-GB" dirty="0"/>
              <a:t>                break;</a:t>
            </a:r>
          </a:p>
          <a:p>
            <a:pPr marL="0" indent="0">
              <a:buNone/>
            </a:pPr>
            <a:r>
              <a:rPr lang="en-GB" dirty="0"/>
              <a:t>            case </a:t>
            </a:r>
            <a:r>
              <a:rPr lang="en-GB" dirty="0" err="1"/>
              <a:t>AudioManager.</a:t>
            </a:r>
            <a:r>
              <a:rPr lang="en-GB" b="1" dirty="0" err="1"/>
              <a:t>RINGER_MODE_SILENT</a:t>
            </a:r>
            <a:r>
              <a:rPr lang="en-GB" dirty="0"/>
              <a:t>:</a:t>
            </a:r>
          </a:p>
          <a:p>
            <a:pPr marL="0" indent="0">
              <a:buNone/>
            </a:pPr>
            <a:r>
              <a:rPr lang="en-GB" dirty="0"/>
              <a:t>                </a:t>
            </a:r>
            <a:r>
              <a:rPr lang="en-GB" dirty="0" err="1"/>
              <a:t>currentStateTV.setText</a:t>
            </a:r>
            <a:r>
              <a:rPr lang="en-GB" dirty="0"/>
              <a:t>("Silent Mode");</a:t>
            </a:r>
          </a:p>
          <a:p>
            <a:pPr marL="0" indent="0">
              <a:buNone/>
            </a:pPr>
            <a:r>
              <a:rPr lang="en-GB" dirty="0"/>
              <a:t>                break;</a:t>
            </a:r>
          </a:p>
          <a:p>
            <a:pPr marL="0" indent="0">
              <a:buNone/>
            </a:pPr>
            <a:r>
              <a:rPr lang="en-GB" dirty="0"/>
              <a:t>            case </a:t>
            </a:r>
            <a:r>
              <a:rPr lang="en-GB" dirty="0" err="1"/>
              <a:t>AudioManager.</a:t>
            </a:r>
            <a:r>
              <a:rPr lang="en-GB" b="1" dirty="0" err="1"/>
              <a:t>RINGER_MODE_VIBRATE</a:t>
            </a:r>
            <a:r>
              <a:rPr lang="en-GB" dirty="0"/>
              <a:t>:</a:t>
            </a:r>
          </a:p>
          <a:p>
            <a:pPr marL="0" indent="0">
              <a:buNone/>
            </a:pPr>
            <a:r>
              <a:rPr lang="en-GB" dirty="0"/>
              <a:t>                </a:t>
            </a:r>
            <a:r>
              <a:rPr lang="en-GB" dirty="0" err="1"/>
              <a:t>currentStateTV.setText</a:t>
            </a:r>
            <a:r>
              <a:rPr lang="en-GB" dirty="0"/>
              <a:t>("Vibrate Mode");</a:t>
            </a:r>
          </a:p>
          <a:p>
            <a:pPr marL="0" indent="0">
              <a:buNone/>
            </a:pPr>
            <a:r>
              <a:rPr lang="en-GB" dirty="0"/>
              <a:t>            default:</a:t>
            </a:r>
          </a:p>
          <a:p>
            <a:pPr marL="0" indent="0">
              <a:buNone/>
            </a:pPr>
            <a:r>
              <a:rPr lang="en-GB" dirty="0"/>
              <a:t>                </a:t>
            </a:r>
            <a:r>
              <a:rPr lang="en-GB" dirty="0" err="1"/>
              <a:t>currentStateTV.setText</a:t>
            </a:r>
            <a:r>
              <a:rPr lang="en-GB" dirty="0"/>
              <a:t>("Fail to get mode");</a:t>
            </a:r>
            <a:endParaRPr lang="en-IN" dirty="0"/>
          </a:p>
        </p:txBody>
      </p:sp>
      <p:pic>
        <p:nvPicPr>
          <p:cNvPr id="5124" name="Picture 4" descr="Image result for audiomanager android">
            <a:extLst>
              <a:ext uri="{FF2B5EF4-FFF2-40B4-BE49-F238E27FC236}">
                <a16:creationId xmlns:a16="http://schemas.microsoft.com/office/drawing/2014/main" id="{451EB68A-F6A4-4FE7-BDAF-E1857CDEC8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20"/>
          <a:stretch/>
        </p:blipFill>
        <p:spPr bwMode="auto">
          <a:xfrm>
            <a:off x="7076546" y="2294467"/>
            <a:ext cx="2321454" cy="3975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09476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4174</TotalTime>
  <Words>4245</Words>
  <Application>Microsoft Office PowerPoint</Application>
  <PresentationFormat>Widescreen</PresentationFormat>
  <Paragraphs>339</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Georgia</vt:lpstr>
      <vt:lpstr>Google Sans</vt:lpstr>
      <vt:lpstr>Google Sans Text</vt:lpstr>
      <vt:lpstr>inherit</vt:lpstr>
      <vt:lpstr>Trebuchet MS</vt:lpstr>
      <vt:lpstr>Wingdings 3</vt:lpstr>
      <vt:lpstr>Facet</vt:lpstr>
      <vt:lpstr>Android Application Development</vt:lpstr>
      <vt:lpstr>Unit – 3</vt:lpstr>
      <vt:lpstr>Animation in android</vt:lpstr>
      <vt:lpstr>PowerPoint Presentation</vt:lpstr>
      <vt:lpstr>Tween Animation</vt:lpstr>
      <vt:lpstr>Alpha Animation (Transparency)</vt:lpstr>
      <vt:lpstr>Rotate (for rotation)</vt:lpstr>
      <vt:lpstr>Scale (for Size)</vt:lpstr>
      <vt:lpstr>Translate (for Moving)</vt:lpstr>
      <vt:lpstr>Frame By Frame Animation</vt:lpstr>
      <vt:lpstr>PowerPoint Presentation</vt:lpstr>
      <vt:lpstr>Menu (Options, Context) </vt:lpstr>
      <vt:lpstr>Context Menu</vt:lpstr>
      <vt:lpstr>PowerPoint Presentation</vt:lpstr>
      <vt:lpstr>PowerPoint Presentation</vt:lpstr>
      <vt:lpstr>PowerPoint Presentation</vt:lpstr>
      <vt:lpstr>PowerPoint Presentation</vt:lpstr>
      <vt:lpstr>Options Menu</vt:lpstr>
      <vt:lpstr>PowerPoint Presentation</vt:lpstr>
      <vt:lpstr>Action Bar</vt:lpstr>
      <vt:lpstr>PowerPoint Presentation</vt:lpstr>
      <vt:lpstr>Introduction of AlarmManager</vt:lpstr>
      <vt:lpstr>Telephony API</vt:lpstr>
      <vt:lpstr>Architecture of Telephony API</vt:lpstr>
      <vt:lpstr>PowerPoint Presentation</vt:lpstr>
      <vt:lpstr>PowerPoint Presentation</vt:lpstr>
      <vt:lpstr>AsyncTask</vt:lpstr>
      <vt:lpstr>PowerPoint Presentation</vt:lpstr>
      <vt:lpstr>VideoView</vt:lpstr>
      <vt:lpstr>VideoView Methods</vt:lpstr>
      <vt:lpstr>Introduction to styles &amp; Themes</vt:lpstr>
      <vt:lpstr>PowerPoint Presentation</vt:lpstr>
      <vt:lpstr>Working with Camera</vt:lpstr>
      <vt:lpstr>Camera intents</vt:lpstr>
      <vt:lpstr>To take picture</vt:lpstr>
      <vt:lpstr>To take video</vt:lpstr>
      <vt:lpstr>startActivityForResult()</vt:lpstr>
      <vt:lpstr>Working with Service</vt:lpstr>
      <vt:lpstr>PowerPoint Presentation</vt:lpstr>
      <vt:lpstr>Service Life-Cycle</vt:lpstr>
      <vt:lpstr>Working with AudioManager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Application Development</dc:title>
  <dc:creator>Hardik Chavda</dc:creator>
  <cp:lastModifiedBy>GARV</cp:lastModifiedBy>
  <cp:revision>143</cp:revision>
  <dcterms:created xsi:type="dcterms:W3CDTF">2023-07-09T05:09:38Z</dcterms:created>
  <dcterms:modified xsi:type="dcterms:W3CDTF">2024-04-04T14:19:20Z</dcterms:modified>
</cp:coreProperties>
</file>