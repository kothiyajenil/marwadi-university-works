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76" r:id="rId8"/>
    <p:sldId id="277" r:id="rId9"/>
    <p:sldId id="262" r:id="rId10"/>
    <p:sldId id="263" r:id="rId11"/>
    <p:sldId id="268" r:id="rId12"/>
    <p:sldId id="267" r:id="rId13"/>
    <p:sldId id="269" r:id="rId14"/>
    <p:sldId id="270" r:id="rId15"/>
    <p:sldId id="271" r:id="rId16"/>
    <p:sldId id="278" r:id="rId17"/>
    <p:sldId id="282" r:id="rId18"/>
    <p:sldId id="280" r:id="rId19"/>
    <p:sldId id="279" r:id="rId20"/>
    <p:sldId id="283" r:id="rId21"/>
    <p:sldId id="281" r:id="rId22"/>
    <p:sldId id="285" r:id="rId23"/>
    <p:sldId id="28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7452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5359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306325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157E00-EEC5-4E41-8373-CBA82B7D0DA5}"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68744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157E00-EEC5-4E41-8373-CBA82B7D0DA5}" type="datetimeFigureOut">
              <a:rPr lang="en-IN" smtClean="0"/>
              <a:t>11-04-2024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1945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157E00-EEC5-4E41-8373-CBA82B7D0DA5}" type="datetimeFigureOut">
              <a:rPr lang="en-IN" smtClean="0"/>
              <a:t>11-04-2024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65848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57E00-EEC5-4E41-8373-CBA82B7D0DA5}" type="datetimeFigureOut">
              <a:rPr lang="en-IN" smtClean="0"/>
              <a:t>11-04-2024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4044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86572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11-04-2024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379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75508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1641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312714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1226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93100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57286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11-04-2024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7442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157E00-EEC5-4E41-8373-CBA82B7D0DA5}" type="datetimeFigureOut">
              <a:rPr lang="en-IN" smtClean="0"/>
              <a:t>11-04-2024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36870F-F40D-482A-82EC-4BCF007CAC4B}" type="slidenum">
              <a:rPr lang="en-IN" smtClean="0"/>
              <a:t>‹#›</a:t>
            </a:fld>
            <a:endParaRPr lang="en-IN"/>
          </a:p>
        </p:txBody>
      </p:sp>
    </p:spTree>
    <p:extLst>
      <p:ext uri="{BB962C8B-B14F-4D97-AF65-F5344CB8AC3E}">
        <p14:creationId xmlns:p14="http://schemas.microsoft.com/office/powerpoint/2010/main" val="7284721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eveloper.android.com/reference/android/content/Context.html" TargetMode="External"/><Relationship Id="rId2" Type="http://schemas.openxmlformats.org/officeDocument/2006/relationships/hyperlink" Target="https://developer.android.com/reference/android/content/ContentResolver.html"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developer.android.com/reference/android/content/ContentProvider.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599E-B1FA-48EC-835E-3B5BBCD9F52E}"/>
              </a:ext>
            </a:extLst>
          </p:cNvPr>
          <p:cNvSpPr>
            <a:spLocks noGrp="1"/>
          </p:cNvSpPr>
          <p:nvPr>
            <p:ph type="ctrTitle"/>
          </p:nvPr>
        </p:nvSpPr>
        <p:spPr>
          <a:xfrm>
            <a:off x="510987" y="1004698"/>
            <a:ext cx="8763015" cy="1646302"/>
          </a:xfrm>
        </p:spPr>
        <p:txBody>
          <a:bodyPr/>
          <a:lstStyle/>
          <a:p>
            <a:pPr algn="ctr"/>
            <a:r>
              <a:rPr lang="en-IN" dirty="0"/>
              <a:t>Android Application Development</a:t>
            </a:r>
          </a:p>
        </p:txBody>
      </p:sp>
      <p:sp>
        <p:nvSpPr>
          <p:cNvPr id="3" name="Subtitle 2">
            <a:extLst>
              <a:ext uri="{FF2B5EF4-FFF2-40B4-BE49-F238E27FC236}">
                <a16:creationId xmlns:a16="http://schemas.microsoft.com/office/drawing/2014/main" id="{76945EF1-F3EF-41CF-8A4F-4AB61288F959}"/>
              </a:ext>
            </a:extLst>
          </p:cNvPr>
          <p:cNvSpPr>
            <a:spLocks noGrp="1"/>
          </p:cNvSpPr>
          <p:nvPr>
            <p:ph type="subTitle" idx="1"/>
          </p:nvPr>
        </p:nvSpPr>
        <p:spPr>
          <a:xfrm>
            <a:off x="981393" y="3048371"/>
            <a:ext cx="7766936" cy="1096899"/>
          </a:xfrm>
        </p:spPr>
        <p:txBody>
          <a:bodyPr>
            <a:normAutofit/>
          </a:bodyPr>
          <a:lstStyle/>
          <a:p>
            <a:pPr algn="ctr"/>
            <a:r>
              <a:rPr lang="en-IN" sz="2800" dirty="0"/>
              <a:t>Unit – 4</a:t>
            </a:r>
          </a:p>
          <a:p>
            <a:pPr algn="ctr"/>
            <a:r>
              <a:rPr lang="en-GB" sz="2800" dirty="0"/>
              <a:t>Working with Data and Storage in Android</a:t>
            </a:r>
            <a:endParaRPr lang="en-IN" sz="2800" dirty="0"/>
          </a:p>
        </p:txBody>
      </p:sp>
      <p:sp>
        <p:nvSpPr>
          <p:cNvPr id="4" name="Subtitle 2">
            <a:extLst>
              <a:ext uri="{FF2B5EF4-FFF2-40B4-BE49-F238E27FC236}">
                <a16:creationId xmlns:a16="http://schemas.microsoft.com/office/drawing/2014/main" id="{551CE561-54EB-4B27-B479-0742FF5BCE90}"/>
              </a:ext>
            </a:extLst>
          </p:cNvPr>
          <p:cNvSpPr txBox="1">
            <a:spLocks/>
          </p:cNvSpPr>
          <p:nvPr/>
        </p:nvSpPr>
        <p:spPr>
          <a:xfrm>
            <a:off x="981393" y="4540176"/>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r>
              <a:rPr lang="en-IN" dirty="0"/>
              <a:t>Prof. Hardik Chavda</a:t>
            </a:r>
          </a:p>
          <a:p>
            <a:pPr algn="ctr"/>
            <a:r>
              <a:rPr lang="en-IN" dirty="0"/>
              <a:t>FOCA,MU</a:t>
            </a:r>
          </a:p>
        </p:txBody>
      </p:sp>
      <p:pic>
        <p:nvPicPr>
          <p:cNvPr id="6146" name="Picture 2" descr="Image result for android 2023">
            <a:extLst>
              <a:ext uri="{FF2B5EF4-FFF2-40B4-BE49-F238E27FC236}">
                <a16:creationId xmlns:a16="http://schemas.microsoft.com/office/drawing/2014/main" id="{A728AFAF-26F5-4203-9363-7546A7F5F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65" y="4437529"/>
            <a:ext cx="3641051" cy="2420471"/>
          </a:xfrm>
          <a:prstGeom prst="rect">
            <a:avLst/>
          </a:prstGeom>
          <a:noFill/>
          <a:extLst>
            <a:ext uri="{909E8E84-426E-40DD-AFC4-6F175D3DCCD1}">
              <a14:hiddenFill xmlns:a14="http://schemas.microsoft.com/office/drawing/2010/main">
                <a:solidFill>
                  <a:srgbClr val="FFFFFF"/>
                </a:solidFill>
              </a14:hiddenFill>
            </a:ext>
          </a:extLst>
        </p:spPr>
      </p:pic>
      <p:pic>
        <p:nvPicPr>
          <p:cNvPr id="6" name="Google Shape;64;p2">
            <a:extLst>
              <a:ext uri="{FF2B5EF4-FFF2-40B4-BE49-F238E27FC236}">
                <a16:creationId xmlns:a16="http://schemas.microsoft.com/office/drawing/2014/main" id="{75D8FF5C-E40F-477C-809F-1DF6B0E97719}"/>
              </a:ext>
            </a:extLst>
          </p:cNvPr>
          <p:cNvPicPr preferRelativeResize="0">
            <a:picLocks/>
          </p:cNvPicPr>
          <p:nvPr/>
        </p:nvPicPr>
        <p:blipFill rotWithShape="1">
          <a:blip r:embed="rId3">
            <a:alphaModFix/>
          </a:blip>
          <a:srcRect/>
          <a:stretch/>
        </p:blipFill>
        <p:spPr>
          <a:xfrm>
            <a:off x="981393" y="374589"/>
            <a:ext cx="1495425" cy="371475"/>
          </a:xfrm>
          <a:prstGeom prst="rect">
            <a:avLst/>
          </a:prstGeom>
          <a:noFill/>
          <a:ln>
            <a:noFill/>
          </a:ln>
        </p:spPr>
      </p:pic>
    </p:spTree>
    <p:extLst>
      <p:ext uri="{BB962C8B-B14F-4D97-AF65-F5344CB8AC3E}">
        <p14:creationId xmlns:p14="http://schemas.microsoft.com/office/powerpoint/2010/main" val="23413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android 2023">
            <a:extLst>
              <a:ext uri="{FF2B5EF4-FFF2-40B4-BE49-F238E27FC236}">
                <a16:creationId xmlns:a16="http://schemas.microsoft.com/office/drawing/2014/main" id="{93FD0D1D-D2EB-4DF6-B17B-A42D08D3E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3825" y="4532898"/>
            <a:ext cx="3028950" cy="22288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F8B9052-F6C9-49AA-802A-D259E41B4D51}"/>
              </a:ext>
            </a:extLst>
          </p:cNvPr>
          <p:cNvSpPr>
            <a:spLocks noGrp="1"/>
          </p:cNvSpPr>
          <p:nvPr>
            <p:ph type="title"/>
          </p:nvPr>
        </p:nvSpPr>
        <p:spPr>
          <a:xfrm>
            <a:off x="677334" y="609600"/>
            <a:ext cx="8596668" cy="734351"/>
          </a:xfrm>
        </p:spPr>
        <p:txBody>
          <a:bodyPr/>
          <a:lstStyle/>
          <a:p>
            <a:r>
              <a:rPr lang="en-IN" dirty="0"/>
              <a:t>Unit – 4</a:t>
            </a:r>
          </a:p>
        </p:txBody>
      </p:sp>
      <p:sp>
        <p:nvSpPr>
          <p:cNvPr id="3" name="Content Placeholder 2">
            <a:extLst>
              <a:ext uri="{FF2B5EF4-FFF2-40B4-BE49-F238E27FC236}">
                <a16:creationId xmlns:a16="http://schemas.microsoft.com/office/drawing/2014/main" id="{23F599A0-3398-4EDE-B3B5-5AA820129A9E}"/>
              </a:ext>
            </a:extLst>
          </p:cNvPr>
          <p:cNvSpPr>
            <a:spLocks noGrp="1"/>
          </p:cNvSpPr>
          <p:nvPr>
            <p:ph idx="1"/>
          </p:nvPr>
        </p:nvSpPr>
        <p:spPr>
          <a:xfrm>
            <a:off x="677334" y="1488613"/>
            <a:ext cx="8816290" cy="4365340"/>
          </a:xfrm>
        </p:spPr>
        <p:txBody>
          <a:bodyPr>
            <a:normAutofit lnSpcReduction="10000"/>
          </a:bodyPr>
          <a:lstStyle/>
          <a:p>
            <a:pPr algn="just"/>
            <a:r>
              <a:rPr lang="en-GB" sz="2400" b="1" dirty="0"/>
              <a:t>Dialogs</a:t>
            </a:r>
          </a:p>
          <a:p>
            <a:pPr algn="just"/>
            <a:r>
              <a:rPr lang="en-GB" sz="2400" b="1" dirty="0" err="1"/>
              <a:t>AlertDialogs</a:t>
            </a:r>
            <a:endParaRPr lang="en-GB" sz="2400" b="1" dirty="0"/>
          </a:p>
          <a:p>
            <a:pPr algn="just"/>
            <a:r>
              <a:rPr lang="en-GB" sz="2400" dirty="0"/>
              <a:t>Creating, saving and retrieving </a:t>
            </a:r>
            <a:r>
              <a:rPr lang="en-GB" sz="2400" b="1" dirty="0"/>
              <a:t>Shared Preferences</a:t>
            </a:r>
          </a:p>
          <a:p>
            <a:pPr algn="just"/>
            <a:r>
              <a:rPr lang="en-GB" sz="2400" dirty="0"/>
              <a:t>Managing and working with data using </a:t>
            </a:r>
            <a:r>
              <a:rPr lang="en-GB" sz="2400" b="1" dirty="0"/>
              <a:t>SQLite</a:t>
            </a:r>
          </a:p>
          <a:p>
            <a:pPr algn="just"/>
            <a:r>
              <a:rPr lang="en-GB" sz="2400" dirty="0"/>
              <a:t>Sharing data between Applications using </a:t>
            </a:r>
            <a:r>
              <a:rPr lang="en-GB" sz="2400" b="1" dirty="0"/>
              <a:t>Content Provider</a:t>
            </a:r>
          </a:p>
          <a:p>
            <a:pPr algn="just"/>
            <a:r>
              <a:rPr lang="en-GB" sz="2400" b="1" dirty="0"/>
              <a:t>Understanding Content URI</a:t>
            </a:r>
          </a:p>
          <a:p>
            <a:pPr algn="just"/>
            <a:r>
              <a:rPr lang="en-GB" sz="2400" b="1" dirty="0" err="1"/>
              <a:t>ContentResolver</a:t>
            </a:r>
            <a:endParaRPr lang="en-GB" sz="2400" b="1" dirty="0"/>
          </a:p>
          <a:p>
            <a:pPr algn="just"/>
            <a:r>
              <a:rPr lang="en-GB" sz="2400" b="1" dirty="0"/>
              <a:t>Internal Storage</a:t>
            </a:r>
          </a:p>
          <a:p>
            <a:pPr algn="just"/>
            <a:r>
              <a:rPr lang="en-GB" sz="2400" b="1" dirty="0"/>
              <a:t>External Storage</a:t>
            </a:r>
          </a:p>
        </p:txBody>
      </p:sp>
    </p:spTree>
    <p:extLst>
      <p:ext uri="{BB962C8B-B14F-4D97-AF65-F5344CB8AC3E}">
        <p14:creationId xmlns:p14="http://schemas.microsoft.com/office/powerpoint/2010/main" val="216015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D1EA-6278-4931-A2B7-173D5980960F}"/>
              </a:ext>
            </a:extLst>
          </p:cNvPr>
          <p:cNvSpPr>
            <a:spLocks noGrp="1"/>
          </p:cNvSpPr>
          <p:nvPr>
            <p:ph type="title"/>
          </p:nvPr>
        </p:nvSpPr>
        <p:spPr/>
        <p:txBody>
          <a:bodyPr/>
          <a:lstStyle/>
          <a:p>
            <a:r>
              <a:rPr lang="en-GB" dirty="0"/>
              <a:t>Dialogs</a:t>
            </a:r>
            <a:endParaRPr lang="en-IN" dirty="0"/>
          </a:p>
        </p:txBody>
      </p:sp>
      <p:sp>
        <p:nvSpPr>
          <p:cNvPr id="3" name="Content Placeholder 2">
            <a:extLst>
              <a:ext uri="{FF2B5EF4-FFF2-40B4-BE49-F238E27FC236}">
                <a16:creationId xmlns:a16="http://schemas.microsoft.com/office/drawing/2014/main" id="{98AADF47-EAE0-49DF-A3FA-072F206E5B00}"/>
              </a:ext>
            </a:extLst>
          </p:cNvPr>
          <p:cNvSpPr>
            <a:spLocks noGrp="1"/>
          </p:cNvSpPr>
          <p:nvPr>
            <p:ph idx="1"/>
          </p:nvPr>
        </p:nvSpPr>
        <p:spPr>
          <a:xfrm>
            <a:off x="504080" y="1828800"/>
            <a:ext cx="7571516" cy="4212562"/>
          </a:xfrm>
        </p:spPr>
        <p:txBody>
          <a:bodyPr>
            <a:normAutofit/>
          </a:bodyPr>
          <a:lstStyle/>
          <a:p>
            <a:pPr algn="just"/>
            <a:r>
              <a:rPr lang="en-GB" sz="2800" dirty="0"/>
              <a:t>A dialog is a small window that prompts the user to make a decision or enter additional information. </a:t>
            </a:r>
          </a:p>
          <a:p>
            <a:pPr algn="just"/>
            <a:r>
              <a:rPr lang="en-GB" sz="2800" dirty="0"/>
              <a:t>A dialog does not fill the screen and is normally used for modal events that require users to take an action before they can proceed.</a:t>
            </a:r>
          </a:p>
          <a:p>
            <a:pPr algn="just"/>
            <a:r>
              <a:rPr lang="en-GB" sz="2800" dirty="0"/>
              <a:t>A dialog that can show a title, up to three buttons, a list of selectable items, or a custom layout.</a:t>
            </a:r>
            <a:endParaRPr lang="en-IN" sz="2800" dirty="0"/>
          </a:p>
        </p:txBody>
      </p:sp>
      <p:pic>
        <p:nvPicPr>
          <p:cNvPr id="6" name="Picture 5">
            <a:extLst>
              <a:ext uri="{FF2B5EF4-FFF2-40B4-BE49-F238E27FC236}">
                <a16:creationId xmlns:a16="http://schemas.microsoft.com/office/drawing/2014/main" id="{029B8ECA-E8BF-4C49-8850-1F020EE92A5C}"/>
              </a:ext>
            </a:extLst>
          </p:cNvPr>
          <p:cNvPicPr>
            <a:picLocks noChangeAspect="1"/>
          </p:cNvPicPr>
          <p:nvPr/>
        </p:nvPicPr>
        <p:blipFill>
          <a:blip r:embed="rId2"/>
          <a:stretch>
            <a:fillRect/>
          </a:stretch>
        </p:blipFill>
        <p:spPr>
          <a:xfrm>
            <a:off x="8402854" y="688205"/>
            <a:ext cx="3712143" cy="5996540"/>
          </a:xfrm>
          <a:prstGeom prst="rect">
            <a:avLst/>
          </a:prstGeom>
        </p:spPr>
      </p:pic>
    </p:spTree>
    <p:extLst>
      <p:ext uri="{BB962C8B-B14F-4D97-AF65-F5344CB8AC3E}">
        <p14:creationId xmlns:p14="http://schemas.microsoft.com/office/powerpoint/2010/main" val="3154295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D275-4E9D-43BC-9443-2FFDC79162C4}"/>
              </a:ext>
            </a:extLst>
          </p:cNvPr>
          <p:cNvSpPr>
            <a:spLocks noGrp="1"/>
          </p:cNvSpPr>
          <p:nvPr>
            <p:ph type="title"/>
          </p:nvPr>
        </p:nvSpPr>
        <p:spPr/>
        <p:txBody>
          <a:bodyPr/>
          <a:lstStyle/>
          <a:p>
            <a:r>
              <a:rPr lang="en-GB" dirty="0" err="1"/>
              <a:t>AlertDialog.Builder</a:t>
            </a:r>
            <a:br>
              <a:rPr lang="en-GB" dirty="0"/>
            </a:br>
            <a:endParaRPr lang="en-IN" dirty="0"/>
          </a:p>
        </p:txBody>
      </p:sp>
      <p:sp>
        <p:nvSpPr>
          <p:cNvPr id="3" name="Content Placeholder 2">
            <a:extLst>
              <a:ext uri="{FF2B5EF4-FFF2-40B4-BE49-F238E27FC236}">
                <a16:creationId xmlns:a16="http://schemas.microsoft.com/office/drawing/2014/main" id="{F5D6658D-AB61-4EBB-97A0-CF7D4861CBEE}"/>
              </a:ext>
            </a:extLst>
          </p:cNvPr>
          <p:cNvSpPr>
            <a:spLocks noGrp="1"/>
          </p:cNvSpPr>
          <p:nvPr>
            <p:ph idx="1"/>
          </p:nvPr>
        </p:nvSpPr>
        <p:spPr>
          <a:xfrm>
            <a:off x="677334" y="1549668"/>
            <a:ext cx="8596668" cy="3570438"/>
          </a:xfrm>
        </p:spPr>
        <p:txBody>
          <a:bodyPr>
            <a:normAutofit/>
          </a:bodyPr>
          <a:lstStyle/>
          <a:p>
            <a:pPr algn="just"/>
            <a:r>
              <a:rPr lang="en-GB" sz="3200" dirty="0"/>
              <a:t>Android </a:t>
            </a:r>
            <a:r>
              <a:rPr lang="en-GB" sz="3200" dirty="0" err="1"/>
              <a:t>AlertDialog</a:t>
            </a:r>
            <a:r>
              <a:rPr lang="en-GB" sz="3200" dirty="0"/>
              <a:t> can be used to display the dialog message with OK and Cancel buttons.</a:t>
            </a:r>
          </a:p>
          <a:p>
            <a:pPr algn="just"/>
            <a:r>
              <a:rPr lang="en-GB" sz="3200" dirty="0"/>
              <a:t>It can be used to interrupt and ask the user about his/her choice to continue or discontinue.</a:t>
            </a:r>
          </a:p>
          <a:p>
            <a:pPr algn="just"/>
            <a:r>
              <a:rPr lang="en-GB" sz="3200" dirty="0"/>
              <a:t>Android </a:t>
            </a:r>
            <a:r>
              <a:rPr lang="en-GB" sz="3200" dirty="0" err="1"/>
              <a:t>AlertDialog</a:t>
            </a:r>
            <a:r>
              <a:rPr lang="en-GB" sz="3200" dirty="0"/>
              <a:t> is composed of three regions: title, content area and action buttons.</a:t>
            </a:r>
            <a:endParaRPr lang="en-IN" sz="3200" dirty="0"/>
          </a:p>
        </p:txBody>
      </p:sp>
      <p:pic>
        <p:nvPicPr>
          <p:cNvPr id="5" name="Picture 4">
            <a:extLst>
              <a:ext uri="{FF2B5EF4-FFF2-40B4-BE49-F238E27FC236}">
                <a16:creationId xmlns:a16="http://schemas.microsoft.com/office/drawing/2014/main" id="{276201B9-193D-4FB1-967D-A21CF01E7506}"/>
              </a:ext>
            </a:extLst>
          </p:cNvPr>
          <p:cNvPicPr>
            <a:picLocks noChangeAspect="1"/>
          </p:cNvPicPr>
          <p:nvPr/>
        </p:nvPicPr>
        <p:blipFill>
          <a:blip r:embed="rId2"/>
          <a:stretch>
            <a:fillRect/>
          </a:stretch>
        </p:blipFill>
        <p:spPr>
          <a:xfrm>
            <a:off x="498880" y="5429093"/>
            <a:ext cx="9644244" cy="1224539"/>
          </a:xfrm>
          <a:prstGeom prst="rect">
            <a:avLst/>
          </a:prstGeom>
        </p:spPr>
      </p:pic>
    </p:spTree>
    <p:extLst>
      <p:ext uri="{BB962C8B-B14F-4D97-AF65-F5344CB8AC3E}">
        <p14:creationId xmlns:p14="http://schemas.microsoft.com/office/powerpoint/2010/main" val="1586200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108E-B400-4582-922B-FF61D044A6C7}"/>
              </a:ext>
            </a:extLst>
          </p:cNvPr>
          <p:cNvSpPr>
            <a:spLocks noGrp="1"/>
          </p:cNvSpPr>
          <p:nvPr>
            <p:ph type="title"/>
          </p:nvPr>
        </p:nvSpPr>
        <p:spPr/>
        <p:txBody>
          <a:bodyPr/>
          <a:lstStyle/>
          <a:p>
            <a:r>
              <a:rPr lang="en-IN" dirty="0"/>
              <a:t>Few builder class methods :</a:t>
            </a:r>
          </a:p>
        </p:txBody>
      </p:sp>
      <p:sp>
        <p:nvSpPr>
          <p:cNvPr id="3" name="Content Placeholder 2">
            <a:extLst>
              <a:ext uri="{FF2B5EF4-FFF2-40B4-BE49-F238E27FC236}">
                <a16:creationId xmlns:a16="http://schemas.microsoft.com/office/drawing/2014/main" id="{CC8EAB53-FD23-4F0E-BB68-1C3A88D3214F}"/>
              </a:ext>
            </a:extLst>
          </p:cNvPr>
          <p:cNvSpPr>
            <a:spLocks noGrp="1"/>
          </p:cNvSpPr>
          <p:nvPr>
            <p:ph idx="1"/>
          </p:nvPr>
        </p:nvSpPr>
        <p:spPr>
          <a:xfrm>
            <a:off x="677334" y="1732547"/>
            <a:ext cx="8596668" cy="1853335"/>
          </a:xfrm>
        </p:spPr>
        <p:txBody>
          <a:bodyPr>
            <a:normAutofit/>
          </a:bodyPr>
          <a:lstStyle/>
          <a:p>
            <a:pPr algn="just"/>
            <a:r>
              <a:rPr lang="en-IN" sz="2800" dirty="0" err="1"/>
              <a:t>setPositiveButton</a:t>
            </a:r>
            <a:r>
              <a:rPr lang="en-IN" sz="2800" dirty="0"/>
              <a:t> ( ) : for display yes button</a:t>
            </a:r>
          </a:p>
          <a:p>
            <a:pPr algn="just"/>
            <a:r>
              <a:rPr lang="en-IN" sz="2800" dirty="0" err="1"/>
              <a:t>setNegativeButton</a:t>
            </a:r>
            <a:r>
              <a:rPr lang="en-IN" sz="2800" dirty="0"/>
              <a:t>( ) : for display No button</a:t>
            </a:r>
          </a:p>
          <a:p>
            <a:pPr algn="just"/>
            <a:r>
              <a:rPr lang="en-IN" sz="2800" dirty="0" err="1"/>
              <a:t>setNeutralButton</a:t>
            </a:r>
            <a:r>
              <a:rPr lang="en-IN" sz="2800" dirty="0"/>
              <a:t> ( ) : For cancel button…</a:t>
            </a:r>
          </a:p>
        </p:txBody>
      </p:sp>
      <p:pic>
        <p:nvPicPr>
          <p:cNvPr id="5" name="Picture 4">
            <a:extLst>
              <a:ext uri="{FF2B5EF4-FFF2-40B4-BE49-F238E27FC236}">
                <a16:creationId xmlns:a16="http://schemas.microsoft.com/office/drawing/2014/main" id="{A60D7E99-D539-42CA-A252-40DAC778DF2B}"/>
              </a:ext>
            </a:extLst>
          </p:cNvPr>
          <p:cNvPicPr>
            <a:picLocks noChangeAspect="1"/>
          </p:cNvPicPr>
          <p:nvPr/>
        </p:nvPicPr>
        <p:blipFill>
          <a:blip r:embed="rId2"/>
          <a:stretch>
            <a:fillRect/>
          </a:stretch>
        </p:blipFill>
        <p:spPr>
          <a:xfrm>
            <a:off x="0" y="4148005"/>
            <a:ext cx="12299206" cy="2709995"/>
          </a:xfrm>
          <a:prstGeom prst="rect">
            <a:avLst/>
          </a:prstGeom>
        </p:spPr>
      </p:pic>
    </p:spTree>
    <p:extLst>
      <p:ext uri="{BB962C8B-B14F-4D97-AF65-F5344CB8AC3E}">
        <p14:creationId xmlns:p14="http://schemas.microsoft.com/office/powerpoint/2010/main" val="3412433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9E51-9EAC-4F77-95B4-FECFB925EB35}"/>
              </a:ext>
            </a:extLst>
          </p:cNvPr>
          <p:cNvSpPr>
            <a:spLocks noGrp="1"/>
          </p:cNvSpPr>
          <p:nvPr>
            <p:ph type="title"/>
          </p:nvPr>
        </p:nvSpPr>
        <p:spPr/>
        <p:txBody>
          <a:bodyPr/>
          <a:lstStyle/>
          <a:p>
            <a:r>
              <a:rPr lang="en-GB" dirty="0"/>
              <a:t>Concept of </a:t>
            </a:r>
            <a:r>
              <a:rPr lang="en-GB" dirty="0" err="1"/>
              <a:t>SharedPreferences</a:t>
            </a:r>
            <a:endParaRPr lang="en-IN" dirty="0"/>
          </a:p>
        </p:txBody>
      </p:sp>
      <p:sp>
        <p:nvSpPr>
          <p:cNvPr id="3" name="Content Placeholder 2">
            <a:extLst>
              <a:ext uri="{FF2B5EF4-FFF2-40B4-BE49-F238E27FC236}">
                <a16:creationId xmlns:a16="http://schemas.microsoft.com/office/drawing/2014/main" id="{344A6C5B-A3C5-41DE-A39B-7903BF2FB07E}"/>
              </a:ext>
            </a:extLst>
          </p:cNvPr>
          <p:cNvSpPr>
            <a:spLocks noGrp="1"/>
          </p:cNvSpPr>
          <p:nvPr>
            <p:ph idx="1"/>
          </p:nvPr>
        </p:nvSpPr>
        <p:spPr>
          <a:xfrm>
            <a:off x="677334" y="1645921"/>
            <a:ext cx="8596668" cy="4395442"/>
          </a:xfrm>
        </p:spPr>
        <p:txBody>
          <a:bodyPr>
            <a:normAutofit lnSpcReduction="10000"/>
          </a:bodyPr>
          <a:lstStyle/>
          <a:p>
            <a:pPr algn="just"/>
            <a:r>
              <a:rPr lang="en-GB" sz="2800" dirty="0"/>
              <a:t>One of the most Interesting Data Storage options Android provides its users is Shared Preferences.</a:t>
            </a:r>
          </a:p>
          <a:p>
            <a:pPr algn="just"/>
            <a:r>
              <a:rPr lang="en-GB" sz="2800" b="1" dirty="0"/>
              <a:t>Shared Preferences </a:t>
            </a:r>
            <a:r>
              <a:rPr lang="en-GB" sz="2800" dirty="0"/>
              <a:t>is the way in which one can store and retrieve small amounts of primitive data as </a:t>
            </a:r>
            <a:r>
              <a:rPr lang="en-GB" sz="2800" b="1" dirty="0"/>
              <a:t>key/value pairs </a:t>
            </a:r>
            <a:r>
              <a:rPr lang="en-GB" sz="2800" dirty="0"/>
              <a:t>to a file on the device storage such as String, int, float, Boolean that make up your preferences in an XML file inside the app on the device storage.</a:t>
            </a:r>
          </a:p>
          <a:p>
            <a:pPr algn="just"/>
            <a:r>
              <a:rPr lang="en-GB" sz="2800" b="1" dirty="0"/>
              <a:t>Shared Preferences </a:t>
            </a:r>
            <a:r>
              <a:rPr lang="en-GB" sz="2800" dirty="0"/>
              <a:t>can be thought of as a dictionary or a key/value pair.</a:t>
            </a:r>
            <a:endParaRPr lang="en-IN" sz="2800" dirty="0"/>
          </a:p>
        </p:txBody>
      </p:sp>
    </p:spTree>
    <p:extLst>
      <p:ext uri="{BB962C8B-B14F-4D97-AF65-F5344CB8AC3E}">
        <p14:creationId xmlns:p14="http://schemas.microsoft.com/office/powerpoint/2010/main" val="130429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076C5-8BBC-4208-BF53-EEF94B0E4B53}"/>
              </a:ext>
            </a:extLst>
          </p:cNvPr>
          <p:cNvSpPr>
            <a:spLocks noGrp="1"/>
          </p:cNvSpPr>
          <p:nvPr>
            <p:ph idx="1"/>
          </p:nvPr>
        </p:nvSpPr>
        <p:spPr>
          <a:xfrm>
            <a:off x="336885" y="577516"/>
            <a:ext cx="10087276" cy="5775157"/>
          </a:xfrm>
        </p:spPr>
        <p:txBody>
          <a:bodyPr>
            <a:normAutofit fontScale="92500" lnSpcReduction="10000"/>
          </a:bodyPr>
          <a:lstStyle/>
          <a:p>
            <a:pPr algn="just"/>
            <a:r>
              <a:rPr lang="en-US" sz="3200" b="1" dirty="0" err="1">
                <a:effectLst/>
                <a:latin typeface="Calibri" panose="020F0502020204030204" pitchFamily="34" charset="0"/>
                <a:ea typeface="Calibri" panose="020F0502020204030204" pitchFamily="34" charset="0"/>
                <a:cs typeface="Calibri" panose="020F0502020204030204" pitchFamily="34" charset="0"/>
              </a:rPr>
              <a:t>SharedPreferences</a:t>
            </a:r>
            <a:r>
              <a:rPr lang="en-US" sz="3200" dirty="0">
                <a:effectLst/>
                <a:latin typeface="Calibri" panose="020F0502020204030204" pitchFamily="34" charset="0"/>
                <a:ea typeface="Calibri" panose="020F0502020204030204" pitchFamily="34" charset="0"/>
                <a:cs typeface="Calibri" panose="020F0502020204030204" pitchFamily="34" charset="0"/>
              </a:rPr>
              <a:t> is application specific, i.e. the data is lost on performing one of the following options:</a:t>
            </a:r>
          </a:p>
          <a:p>
            <a:pPr lvl="1" algn="just"/>
            <a:r>
              <a:rPr lang="en-US" sz="2800" dirty="0">
                <a:effectLst/>
                <a:latin typeface="Calibri" panose="020F0502020204030204" pitchFamily="34" charset="0"/>
                <a:ea typeface="Calibri" panose="020F0502020204030204" pitchFamily="34" charset="0"/>
                <a:cs typeface="Calibri" panose="020F0502020204030204" pitchFamily="34" charset="0"/>
              </a:rPr>
              <a:t>on uninstalling the application</a:t>
            </a:r>
            <a:endParaRPr lang="en-IN" sz="3200" dirty="0">
              <a:latin typeface="Calibri" panose="020F0502020204030204" pitchFamily="34" charset="0"/>
              <a:ea typeface="Calibri" panose="020F0502020204030204" pitchFamily="34" charset="0"/>
              <a:cs typeface="Shruti" panose="020B0502040204020203" pitchFamily="34" charset="0"/>
            </a:endParaRPr>
          </a:p>
          <a:p>
            <a:pPr lvl="1" algn="just"/>
            <a:r>
              <a:rPr lang="en-US" sz="2800" dirty="0">
                <a:effectLst/>
                <a:latin typeface="Calibri" panose="020F0502020204030204" pitchFamily="34" charset="0"/>
                <a:ea typeface="Calibri" panose="020F0502020204030204" pitchFamily="34" charset="0"/>
                <a:cs typeface="Calibri" panose="020F0502020204030204" pitchFamily="34" charset="0"/>
              </a:rPr>
              <a:t>on clearing the application data (through Settings)</a:t>
            </a:r>
          </a:p>
          <a:p>
            <a:pPr algn="just">
              <a:lnSpc>
                <a:spcPct val="115000"/>
              </a:lnSpc>
              <a:spcAft>
                <a:spcPts val="1000"/>
              </a:spcAft>
            </a:pPr>
            <a:r>
              <a:rPr lang="en-US" sz="2400" b="1" u="sng" dirty="0">
                <a:effectLst/>
                <a:latin typeface="Calibri" panose="020F0502020204030204" pitchFamily="34" charset="0"/>
                <a:ea typeface="Calibri" panose="020F0502020204030204" pitchFamily="34" charset="0"/>
                <a:cs typeface="Calibri" panose="020F0502020204030204" pitchFamily="34" charset="0"/>
              </a:rPr>
              <a:t>To get access to the preferences, we have three </a:t>
            </a:r>
            <a:r>
              <a:rPr lang="en-IN" sz="2400" b="1" u="sng" dirty="0">
                <a:effectLst/>
                <a:latin typeface="Calibri" panose="020F0502020204030204" pitchFamily="34" charset="0"/>
                <a:ea typeface="Calibri" panose="020F0502020204030204" pitchFamily="34" charset="0"/>
                <a:cs typeface="Calibri" panose="020F0502020204030204" pitchFamily="34" charset="0"/>
              </a:rPr>
              <a:t>Methods</a:t>
            </a:r>
            <a:r>
              <a:rPr lang="en-US" sz="2400" b="1" u="sng" dirty="0">
                <a:effectLst/>
                <a:latin typeface="Calibri" panose="020F0502020204030204" pitchFamily="34" charset="0"/>
                <a:ea typeface="Calibri" panose="020F0502020204030204" pitchFamily="34" charset="0"/>
                <a:cs typeface="Calibri" panose="020F0502020204030204" pitchFamily="34" charset="0"/>
              </a:rPr>
              <a:t> to choose from:</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p>
            <a:pPr marL="626745" lvl="1" algn="just">
              <a:lnSpc>
                <a:spcPct val="115000"/>
              </a:lnSpc>
              <a:spcAft>
                <a:spcPts val="1000"/>
              </a:spcAft>
            </a:pPr>
            <a:r>
              <a:rPr lang="en-IN" sz="2400" b="1" dirty="0">
                <a:effectLst/>
                <a:latin typeface="Calibri" panose="020F0502020204030204" pitchFamily="34" charset="0"/>
                <a:ea typeface="Calibri" panose="020F0502020204030204" pitchFamily="34" charset="0"/>
                <a:cs typeface="Calibri" panose="020F0502020204030204" pitchFamily="34" charset="0"/>
              </a:rPr>
              <a:t> </a:t>
            </a:r>
            <a:r>
              <a:rPr lang="en-US" sz="2400" b="1" dirty="0" err="1">
                <a:effectLst/>
                <a:latin typeface="Calibri" panose="020F0502020204030204" pitchFamily="34" charset="0"/>
                <a:ea typeface="Calibri" panose="020F0502020204030204" pitchFamily="34" charset="0"/>
                <a:cs typeface="Calibri" panose="020F0502020204030204" pitchFamily="34" charset="0"/>
              </a:rPr>
              <a:t>getPreferences</a:t>
            </a:r>
            <a:r>
              <a:rPr lang="en-US" sz="2400" b="1" dirty="0">
                <a:effectLst/>
                <a:latin typeface="Calibri" panose="020F0502020204030204" pitchFamily="34" charset="0"/>
                <a:ea typeface="Calibri" panose="020F0502020204030204" pitchFamily="34" charset="0"/>
                <a:cs typeface="Calibri" panose="020F0502020204030204" pitchFamily="34" charset="0"/>
              </a:rPr>
              <a:t>()</a:t>
            </a:r>
            <a:r>
              <a:rPr lang="en-US" sz="2400" dirty="0">
                <a:effectLst/>
                <a:latin typeface="Calibri" panose="020F0502020204030204" pitchFamily="34" charset="0"/>
                <a:ea typeface="Calibri" panose="020F0502020204030204" pitchFamily="34" charset="0"/>
                <a:cs typeface="Calibri" panose="020F0502020204030204" pitchFamily="34" charset="0"/>
              </a:rPr>
              <a:t> : used from within your Activity, to access activity-specific preferences</a:t>
            </a:r>
            <a:endParaRPr lang="en-IN" sz="2400" dirty="0">
              <a:latin typeface="Calibri" panose="020F0502020204030204" pitchFamily="34" charset="0"/>
              <a:ea typeface="Calibri" panose="020F0502020204030204" pitchFamily="34" charset="0"/>
              <a:cs typeface="Shruti" panose="020B0502040204020203" pitchFamily="34" charset="0"/>
            </a:endParaRPr>
          </a:p>
          <a:p>
            <a:pPr marL="626745" lvl="1" algn="just">
              <a:lnSpc>
                <a:spcPct val="115000"/>
              </a:lnSpc>
              <a:spcAft>
                <a:spcPts val="1000"/>
              </a:spcAft>
            </a:pPr>
            <a:r>
              <a:rPr lang="en-US" sz="2400" b="1" dirty="0" err="1">
                <a:effectLst/>
                <a:latin typeface="Calibri" panose="020F0502020204030204" pitchFamily="34" charset="0"/>
                <a:ea typeface="Calibri" panose="020F0502020204030204" pitchFamily="34" charset="0"/>
                <a:cs typeface="Calibri" panose="020F0502020204030204" pitchFamily="34" charset="0"/>
              </a:rPr>
              <a:t>getSharedPreferences</a:t>
            </a:r>
            <a:r>
              <a:rPr lang="en-US" sz="2400" b="1" dirty="0">
                <a:effectLst/>
                <a:latin typeface="Calibri" panose="020F0502020204030204" pitchFamily="34" charset="0"/>
                <a:ea typeface="Calibri" panose="020F0502020204030204" pitchFamily="34" charset="0"/>
                <a:cs typeface="Calibri" panose="020F0502020204030204" pitchFamily="34" charset="0"/>
              </a:rPr>
              <a:t>()</a:t>
            </a:r>
            <a:r>
              <a:rPr lang="en-US" sz="2400" dirty="0">
                <a:effectLst/>
                <a:latin typeface="Calibri" panose="020F0502020204030204" pitchFamily="34" charset="0"/>
                <a:ea typeface="Calibri" panose="020F0502020204030204" pitchFamily="34" charset="0"/>
                <a:cs typeface="Calibri" panose="020F0502020204030204" pitchFamily="34" charset="0"/>
              </a:rPr>
              <a:t> : used from within your Activity (or other application Context), to access application-level preferences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626745" lvl="1" algn="just">
              <a:lnSpc>
                <a:spcPct val="115000"/>
              </a:lnSpc>
              <a:spcAft>
                <a:spcPts val="1000"/>
              </a:spcAft>
            </a:pPr>
            <a:r>
              <a:rPr lang="en-US" sz="2400" b="1" dirty="0" err="1">
                <a:effectLst/>
                <a:latin typeface="Calibri" panose="020F0502020204030204" pitchFamily="34" charset="0"/>
                <a:ea typeface="Calibri" panose="020F0502020204030204" pitchFamily="34" charset="0"/>
                <a:cs typeface="Calibri" panose="020F0502020204030204" pitchFamily="34" charset="0"/>
              </a:rPr>
              <a:t>getDefaultSharedPreferences</a:t>
            </a:r>
            <a:r>
              <a:rPr lang="en-US" sz="2400" b="1" dirty="0">
                <a:effectLst/>
                <a:latin typeface="Calibri" panose="020F0502020204030204" pitchFamily="34" charset="0"/>
                <a:ea typeface="Calibri" panose="020F0502020204030204" pitchFamily="34" charset="0"/>
                <a:cs typeface="Calibri" panose="020F0502020204030204" pitchFamily="34" charset="0"/>
              </a:rPr>
              <a:t>()</a:t>
            </a:r>
            <a:r>
              <a:rPr lang="en-US" sz="2400" dirty="0">
                <a:effectLst/>
                <a:latin typeface="Calibri" panose="020F0502020204030204" pitchFamily="34" charset="0"/>
                <a:ea typeface="Calibri" panose="020F0502020204030204" pitchFamily="34" charset="0"/>
                <a:cs typeface="Calibri" panose="020F0502020204030204" pitchFamily="34" charset="0"/>
              </a:rPr>
              <a:t> : used on the </a:t>
            </a:r>
            <a:r>
              <a:rPr lang="en-US" sz="2400" dirty="0" err="1">
                <a:effectLst/>
                <a:latin typeface="Calibri" panose="020F0502020204030204" pitchFamily="34" charset="0"/>
                <a:ea typeface="Calibri" panose="020F0502020204030204" pitchFamily="34" charset="0"/>
                <a:cs typeface="Calibri" panose="020F0502020204030204" pitchFamily="34" charset="0"/>
              </a:rPr>
              <a:t>PreferenceManager</a:t>
            </a:r>
            <a:r>
              <a:rPr lang="en-US" sz="2400" dirty="0">
                <a:effectLst/>
                <a:latin typeface="Calibri" panose="020F0502020204030204" pitchFamily="34" charset="0"/>
                <a:ea typeface="Calibri" panose="020F0502020204030204" pitchFamily="34" charset="0"/>
                <a:cs typeface="Calibri" panose="020F0502020204030204" pitchFamily="34" charset="0"/>
              </a:rPr>
              <a:t>, to get the shared preferences that work in concert with Android’s overall preference framework</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algn="just"/>
            <a:endParaRPr lang="en-IN" sz="28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3834356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AB38FF-1124-40CB-89A8-A34E2E811800}"/>
              </a:ext>
            </a:extLst>
          </p:cNvPr>
          <p:cNvSpPr>
            <a:spLocks noGrp="1"/>
          </p:cNvSpPr>
          <p:nvPr>
            <p:ph idx="1"/>
          </p:nvPr>
        </p:nvSpPr>
        <p:spPr>
          <a:xfrm>
            <a:off x="442761" y="173255"/>
            <a:ext cx="9534957" cy="5868107"/>
          </a:xfrm>
        </p:spPr>
        <p:txBody>
          <a:bodyPr>
            <a:normAutofit/>
          </a:bodyPr>
          <a:lstStyle/>
          <a:p>
            <a:pPr algn="just">
              <a:lnSpc>
                <a:spcPct val="115000"/>
              </a:lnSpc>
              <a:spcAft>
                <a:spcPts val="1000"/>
              </a:spcAft>
            </a:pPr>
            <a:r>
              <a:rPr lang="en-IN" sz="2800" b="1" u="sng" dirty="0">
                <a:effectLst/>
                <a:latin typeface="Calibri" panose="020F0502020204030204" pitchFamily="34" charset="0"/>
                <a:ea typeface="Calibri" panose="020F0502020204030204" pitchFamily="34" charset="0"/>
                <a:cs typeface="Calibri" panose="020F0502020204030204" pitchFamily="34" charset="0"/>
              </a:rPr>
              <a:t>Modes in for securing Data in shared preferences.</a:t>
            </a:r>
            <a:endParaRPr lang="en-IN" sz="2800" dirty="0">
              <a:effectLst/>
              <a:latin typeface="Calibri" panose="020F0502020204030204" pitchFamily="34" charset="0"/>
              <a:ea typeface="Calibri" panose="020F0502020204030204" pitchFamily="34" charset="0"/>
              <a:cs typeface="Shruti" panose="020B0502040204020203" pitchFamily="34" charset="0"/>
            </a:endParaRPr>
          </a:p>
          <a:p>
            <a:pPr marL="226695" algn="just">
              <a:lnSpc>
                <a:spcPct val="115000"/>
              </a:lnSpc>
              <a:spcAft>
                <a:spcPts val="1000"/>
              </a:spcAft>
            </a:pPr>
            <a:r>
              <a:rPr lang="en-IN" sz="2400" b="1" dirty="0">
                <a:effectLst/>
                <a:latin typeface="Calibri" panose="020F0502020204030204" pitchFamily="34" charset="0"/>
                <a:ea typeface="Calibri" panose="020F0502020204030204" pitchFamily="34" charset="0"/>
                <a:cs typeface="Calibri" panose="020F0502020204030204" pitchFamily="34" charset="0"/>
              </a:rPr>
              <a:t>MODE_PRIVATE:</a:t>
            </a:r>
            <a:r>
              <a:rPr lang="en-IN" sz="2400" dirty="0">
                <a:effectLst/>
                <a:latin typeface="Calibri" panose="020F0502020204030204" pitchFamily="34" charset="0"/>
                <a:ea typeface="Calibri" panose="020F0502020204030204" pitchFamily="34" charset="0"/>
                <a:cs typeface="Calibri" panose="020F0502020204030204" pitchFamily="34" charset="0"/>
              </a:rPr>
              <a:t> the default mode, where the created file can only be accessed by the calling application</a:t>
            </a:r>
          </a:p>
          <a:p>
            <a:pPr marL="226695" algn="just">
              <a:lnSpc>
                <a:spcPct val="115000"/>
              </a:lnSpc>
              <a:spcAft>
                <a:spcPts val="1000"/>
              </a:spcAft>
            </a:pPr>
            <a:r>
              <a:rPr lang="en-IN" sz="2400" b="1" dirty="0">
                <a:effectLst/>
                <a:latin typeface="Calibri" panose="020F0502020204030204" pitchFamily="34" charset="0"/>
                <a:ea typeface="Calibri" panose="020F0502020204030204" pitchFamily="34" charset="0"/>
                <a:cs typeface="Calibri" panose="020F0502020204030204" pitchFamily="34" charset="0"/>
              </a:rPr>
              <a:t>MODE_APPEND:</a:t>
            </a:r>
            <a:r>
              <a:rPr lang="en-IN" sz="2400" dirty="0">
                <a:effectLst/>
                <a:latin typeface="Calibri" panose="020F0502020204030204" pitchFamily="34" charset="0"/>
                <a:ea typeface="Calibri" panose="020F0502020204030204" pitchFamily="34" charset="0"/>
                <a:cs typeface="Calibri" panose="020F0502020204030204" pitchFamily="34" charset="0"/>
              </a:rPr>
              <a:t> This will append the new preferences with the already existing preferences</a:t>
            </a:r>
            <a:r>
              <a:rPr lang="en-IN" sz="2400" dirty="0">
                <a:latin typeface="Calibri" panose="020F0502020204030204" pitchFamily="34" charset="0"/>
                <a:ea typeface="Calibri" panose="020F0502020204030204" pitchFamily="34" charset="0"/>
                <a:cs typeface="Shruti" panose="020B0502040204020203" pitchFamily="34" charset="0"/>
              </a:rPr>
              <a:t>.</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226695" algn="just">
              <a:lnSpc>
                <a:spcPct val="115000"/>
              </a:lnSpc>
              <a:spcAft>
                <a:spcPts val="1000"/>
              </a:spcAft>
            </a:pPr>
            <a:r>
              <a:rPr lang="en-IN"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MODE_WORLD_READABLE:</a:t>
            </a:r>
            <a:r>
              <a:rPr lang="en-IN" sz="2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400" dirty="0">
                <a:effectLst/>
                <a:latin typeface="Calibri" panose="020F0502020204030204" pitchFamily="34" charset="0"/>
                <a:ea typeface="Calibri" panose="020F0502020204030204" pitchFamily="34" charset="0"/>
                <a:cs typeface="Calibri" panose="020F0502020204030204" pitchFamily="34" charset="0"/>
              </a:rPr>
              <a:t>Creating world-readable files is very dangerous, and likely to cause security holes in applications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226695" algn="just">
              <a:lnSpc>
                <a:spcPct val="115000"/>
              </a:lnSpc>
              <a:spcAft>
                <a:spcPts val="1000"/>
              </a:spcAft>
            </a:pPr>
            <a:r>
              <a:rPr lang="en-IN" sz="2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MODE_WORLD_WRITEABLE:</a:t>
            </a:r>
            <a:r>
              <a:rPr lang="en-IN" sz="24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a:t>
            </a:r>
            <a:r>
              <a:rPr lang="en-IN" sz="2400" dirty="0">
                <a:effectLst/>
                <a:latin typeface="Calibri" panose="020F0502020204030204" pitchFamily="34" charset="0"/>
                <a:ea typeface="Calibri" panose="020F0502020204030204" pitchFamily="34" charset="0"/>
                <a:cs typeface="Calibri" panose="020F0502020204030204" pitchFamily="34" charset="0"/>
              </a:rPr>
              <a:t>Creating world-writable files is very dangerous, and likely to cause security holes in applications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2737816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C6AD-5660-4829-8C26-3827717B48DA}"/>
              </a:ext>
            </a:extLst>
          </p:cNvPr>
          <p:cNvSpPr>
            <a:spLocks noGrp="1"/>
          </p:cNvSpPr>
          <p:nvPr>
            <p:ph type="title"/>
          </p:nvPr>
        </p:nvSpPr>
        <p:spPr>
          <a:xfrm>
            <a:off x="677333" y="243840"/>
            <a:ext cx="8596668" cy="1320800"/>
          </a:xfrm>
        </p:spPr>
        <p:txBody>
          <a:bodyPr/>
          <a:lstStyle/>
          <a:p>
            <a:r>
              <a:rPr lang="en-GB" dirty="0"/>
              <a:t>Managing and working with data using SQLite</a:t>
            </a:r>
            <a:endParaRPr lang="en-IN" dirty="0"/>
          </a:p>
        </p:txBody>
      </p:sp>
      <p:sp>
        <p:nvSpPr>
          <p:cNvPr id="3" name="Content Placeholder 2">
            <a:extLst>
              <a:ext uri="{FF2B5EF4-FFF2-40B4-BE49-F238E27FC236}">
                <a16:creationId xmlns:a16="http://schemas.microsoft.com/office/drawing/2014/main" id="{D4A512C8-B83B-4FB9-81FD-1D04B5CDD803}"/>
              </a:ext>
            </a:extLst>
          </p:cNvPr>
          <p:cNvSpPr>
            <a:spLocks noGrp="1"/>
          </p:cNvSpPr>
          <p:nvPr>
            <p:ph idx="1"/>
          </p:nvPr>
        </p:nvSpPr>
        <p:spPr>
          <a:xfrm>
            <a:off x="677332" y="1742173"/>
            <a:ext cx="10536099" cy="4966635"/>
          </a:xfrm>
        </p:spPr>
        <p:txBody>
          <a:bodyPr>
            <a:noAutofit/>
          </a:bodyPr>
          <a:lstStyle/>
          <a:p>
            <a:pPr algn="just">
              <a:lnSpc>
                <a:spcPct val="115000"/>
              </a:lnSpc>
              <a:spcAft>
                <a:spcPts val="1000"/>
              </a:spcAft>
            </a:pPr>
            <a:r>
              <a:rPr lang="en-US" sz="24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SQLite</a:t>
            </a:r>
            <a:r>
              <a:rPr lang="en-US"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is an </a:t>
            </a:r>
            <a:r>
              <a:rPr lang="en-US" sz="24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open-source relational database</a:t>
            </a:r>
            <a:r>
              <a:rPr lang="en-US"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i.e. used to perform database operations on android devices such as storing, manipulating or retrieving persistent data from the database.</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1000"/>
              </a:spcAft>
            </a:pPr>
            <a:r>
              <a:rPr lang="en-US"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It is embedded in android </a:t>
            </a:r>
            <a:r>
              <a:rPr lang="en-US" sz="2400"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bydefault</a:t>
            </a:r>
            <a:r>
              <a:rPr lang="en-US" sz="24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So, there is no need to perform any database setup or administration task.</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1000"/>
              </a:spcAft>
            </a:pPr>
            <a:r>
              <a:rPr lang="en-US" sz="2400" b="1" dirty="0" err="1">
                <a:solidFill>
                  <a:srgbClr val="000000"/>
                </a:solidFill>
                <a:effectLst/>
                <a:latin typeface="Calibri" panose="020F0502020204030204" pitchFamily="34" charset="0"/>
                <a:ea typeface="Calibri" panose="020F0502020204030204" pitchFamily="34" charset="0"/>
                <a:cs typeface="Shruti" panose="020B0502040204020203" pitchFamily="34" charset="0"/>
              </a:rPr>
              <a:t>SQLiteOpenHelper</a:t>
            </a:r>
            <a:r>
              <a:rPr lang="en-US" sz="2400" dirty="0">
                <a:solidFill>
                  <a:srgbClr val="000000"/>
                </a:solidFill>
                <a:effectLst/>
                <a:latin typeface="Calibri" panose="020F0502020204030204" pitchFamily="34" charset="0"/>
                <a:ea typeface="Calibri" panose="020F0502020204030204" pitchFamily="34" charset="0"/>
                <a:cs typeface="Shruti" panose="020B0502040204020203" pitchFamily="34" charset="0"/>
              </a:rPr>
              <a:t> class provides the functionality to use the SQLite database.</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1000"/>
              </a:spcAft>
            </a:pPr>
            <a:r>
              <a:rPr lang="en-US" sz="2400" dirty="0">
                <a:solidFill>
                  <a:srgbClr val="000000"/>
                </a:solidFill>
                <a:effectLst/>
                <a:latin typeface="Calibri" panose="020F0502020204030204" pitchFamily="34" charset="0"/>
                <a:ea typeface="Calibri" panose="020F0502020204030204" pitchFamily="34" charset="0"/>
                <a:cs typeface="Shruti" panose="020B0502040204020203" pitchFamily="34" charset="0"/>
              </a:rPr>
              <a:t>The </a:t>
            </a:r>
            <a:r>
              <a:rPr lang="en-US" sz="2400" dirty="0" err="1">
                <a:solidFill>
                  <a:srgbClr val="000000"/>
                </a:solidFill>
                <a:effectLst/>
                <a:latin typeface="Calibri" panose="020F0502020204030204" pitchFamily="34" charset="0"/>
                <a:ea typeface="Calibri" panose="020F0502020204030204" pitchFamily="34" charset="0"/>
                <a:cs typeface="Shruti" panose="020B0502040204020203" pitchFamily="34" charset="0"/>
              </a:rPr>
              <a:t>android.database.sqlite.SQLiteOpenHelper</a:t>
            </a:r>
            <a:r>
              <a:rPr lang="en-US" sz="2400" dirty="0">
                <a:solidFill>
                  <a:srgbClr val="000000"/>
                </a:solidFill>
                <a:effectLst/>
                <a:latin typeface="Calibri" panose="020F0502020204030204" pitchFamily="34" charset="0"/>
                <a:ea typeface="Calibri" panose="020F0502020204030204" pitchFamily="34" charset="0"/>
                <a:cs typeface="Shruti" panose="020B0502040204020203" pitchFamily="34" charset="0"/>
              </a:rPr>
              <a:t> class is used for database creation and version management. For performing any database operation, you have to provide the implementation of </a:t>
            </a:r>
            <a:r>
              <a:rPr lang="en-US" sz="2400" b="1" dirty="0" err="1">
                <a:solidFill>
                  <a:srgbClr val="000000"/>
                </a:solidFill>
                <a:effectLst/>
                <a:latin typeface="Calibri" panose="020F0502020204030204" pitchFamily="34" charset="0"/>
                <a:ea typeface="Calibri" panose="020F0502020204030204" pitchFamily="34" charset="0"/>
                <a:cs typeface="Shruti" panose="020B0502040204020203" pitchFamily="34" charset="0"/>
              </a:rPr>
              <a:t>onCreate</a:t>
            </a:r>
            <a:r>
              <a:rPr lang="en-US" sz="2400" b="1" dirty="0">
                <a:solidFill>
                  <a:srgbClr val="000000"/>
                </a:solidFill>
                <a:effectLst/>
                <a:latin typeface="Calibri" panose="020F0502020204030204" pitchFamily="34" charset="0"/>
                <a:ea typeface="Calibri" panose="020F0502020204030204" pitchFamily="34" charset="0"/>
                <a:cs typeface="Shruti" panose="020B0502040204020203" pitchFamily="34" charset="0"/>
              </a:rPr>
              <a:t>()</a:t>
            </a:r>
            <a:r>
              <a:rPr lang="en-US" sz="2400" dirty="0">
                <a:solidFill>
                  <a:srgbClr val="000000"/>
                </a:solidFill>
                <a:effectLst/>
                <a:latin typeface="Calibri" panose="020F0502020204030204" pitchFamily="34" charset="0"/>
                <a:ea typeface="Calibri" panose="020F0502020204030204" pitchFamily="34" charset="0"/>
                <a:cs typeface="Shruti" panose="020B0502040204020203" pitchFamily="34" charset="0"/>
              </a:rPr>
              <a:t> and </a:t>
            </a:r>
            <a:r>
              <a:rPr lang="en-US" sz="2400" b="1" dirty="0" err="1">
                <a:solidFill>
                  <a:srgbClr val="000000"/>
                </a:solidFill>
                <a:effectLst/>
                <a:latin typeface="Calibri" panose="020F0502020204030204" pitchFamily="34" charset="0"/>
                <a:ea typeface="Calibri" panose="020F0502020204030204" pitchFamily="34" charset="0"/>
                <a:cs typeface="Shruti" panose="020B0502040204020203" pitchFamily="34" charset="0"/>
              </a:rPr>
              <a:t>onUpgrade</a:t>
            </a:r>
            <a:r>
              <a:rPr lang="en-US" sz="2400" b="1" dirty="0">
                <a:solidFill>
                  <a:srgbClr val="000000"/>
                </a:solidFill>
                <a:effectLst/>
                <a:latin typeface="Calibri" panose="020F0502020204030204" pitchFamily="34" charset="0"/>
                <a:ea typeface="Calibri" panose="020F0502020204030204" pitchFamily="34" charset="0"/>
                <a:cs typeface="Shruti" panose="020B0502040204020203" pitchFamily="34" charset="0"/>
              </a:rPr>
              <a:t>()</a:t>
            </a:r>
            <a:r>
              <a:rPr lang="en-US" sz="2400" dirty="0">
                <a:solidFill>
                  <a:srgbClr val="000000"/>
                </a:solidFill>
                <a:effectLst/>
                <a:latin typeface="Calibri" panose="020F0502020204030204" pitchFamily="34" charset="0"/>
                <a:ea typeface="Calibri" panose="020F0502020204030204" pitchFamily="34" charset="0"/>
                <a:cs typeface="Shruti" panose="020B0502040204020203" pitchFamily="34" charset="0"/>
              </a:rPr>
              <a:t> methods of </a:t>
            </a:r>
            <a:r>
              <a:rPr lang="en-US" sz="2400" dirty="0" err="1">
                <a:solidFill>
                  <a:srgbClr val="000000"/>
                </a:solidFill>
                <a:effectLst/>
                <a:latin typeface="Calibri" panose="020F0502020204030204" pitchFamily="34" charset="0"/>
                <a:ea typeface="Calibri" panose="020F0502020204030204" pitchFamily="34" charset="0"/>
                <a:cs typeface="Shruti" panose="020B0502040204020203" pitchFamily="34" charset="0"/>
              </a:rPr>
              <a:t>SQLiteOpenHelper</a:t>
            </a:r>
            <a:r>
              <a:rPr lang="en-US" sz="2400" dirty="0">
                <a:solidFill>
                  <a:srgbClr val="000000"/>
                </a:solidFill>
                <a:effectLst/>
                <a:latin typeface="Calibri" panose="020F0502020204030204" pitchFamily="34" charset="0"/>
                <a:ea typeface="Calibri" panose="020F0502020204030204" pitchFamily="34" charset="0"/>
                <a:cs typeface="Shruti" panose="020B0502040204020203" pitchFamily="34" charset="0"/>
              </a:rPr>
              <a:t> class.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58245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D037-3B5C-4E97-BFD8-9554AB15C375}"/>
              </a:ext>
            </a:extLst>
          </p:cNvPr>
          <p:cNvSpPr>
            <a:spLocks noGrp="1"/>
          </p:cNvSpPr>
          <p:nvPr>
            <p:ph type="title"/>
          </p:nvPr>
        </p:nvSpPr>
        <p:spPr>
          <a:xfrm>
            <a:off x="677334" y="423606"/>
            <a:ext cx="8596668" cy="786063"/>
          </a:xfrm>
        </p:spPr>
        <p:txBody>
          <a:bodyPr/>
          <a:lstStyle/>
          <a:p>
            <a:r>
              <a:rPr lang="en-IN" dirty="0"/>
              <a:t>Constructors of </a:t>
            </a:r>
            <a:r>
              <a:rPr lang="en-IN" dirty="0" err="1"/>
              <a:t>SQLiteOpenHelper</a:t>
            </a:r>
            <a:r>
              <a:rPr lang="en-IN" dirty="0"/>
              <a:t> class</a:t>
            </a:r>
          </a:p>
        </p:txBody>
      </p:sp>
      <p:sp>
        <p:nvSpPr>
          <p:cNvPr id="3" name="Content Placeholder 2">
            <a:extLst>
              <a:ext uri="{FF2B5EF4-FFF2-40B4-BE49-F238E27FC236}">
                <a16:creationId xmlns:a16="http://schemas.microsoft.com/office/drawing/2014/main" id="{B75CD097-8D0F-439F-AE58-A55CD4E2D2C9}"/>
              </a:ext>
            </a:extLst>
          </p:cNvPr>
          <p:cNvSpPr>
            <a:spLocks noGrp="1"/>
          </p:cNvSpPr>
          <p:nvPr>
            <p:ph idx="1"/>
          </p:nvPr>
        </p:nvSpPr>
        <p:spPr>
          <a:xfrm>
            <a:off x="677333" y="1395663"/>
            <a:ext cx="9544695" cy="4645699"/>
          </a:xfrm>
        </p:spPr>
        <p:txBody>
          <a:bodyPr>
            <a:normAutofit fontScale="92500" lnSpcReduction="10000"/>
          </a:bodyPr>
          <a:lstStyle/>
          <a:p>
            <a:pPr algn="just"/>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SQLiteOpenHelper</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(Context </a:t>
            </a:r>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context</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String name, </a:t>
            </a:r>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SQLiteDatabase.CursorFactory</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		</a:t>
            </a:r>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actory</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int version)</a:t>
            </a:r>
            <a:endParaRPr lang="en-IN"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algn="just"/>
            <a:r>
              <a:rPr lang="en-US"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creates an object for creating, opening and managing the database.</a:t>
            </a:r>
          </a:p>
          <a:p>
            <a:pPr lvl="1" algn="just"/>
            <a:endParaRPr lang="en-US"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SQLiteOpenHelper</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(Context </a:t>
            </a:r>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context</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String name, </a:t>
            </a:r>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SQLiteDatabase.CursorFactory</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factory, int version, </a:t>
            </a:r>
            <a:r>
              <a:rPr lang="en-US" sz="3200" b="1" dirty="0" err="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DatabaseErrorHandlererrorHandler</a:t>
            </a:r>
            <a:r>
              <a:rPr lang="en-US" sz="3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IN" sz="3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algn="just"/>
            <a:r>
              <a:rPr lang="en-US" sz="3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creates an object for creating, opening and managing the database. It specifies the error handler.</a:t>
            </a:r>
            <a:endParaRPr lang="en-IN" sz="3200" dirty="0">
              <a:effectLst/>
              <a:latin typeface="Times New Roman" panose="02020603050405020304" pitchFamily="18" charset="0"/>
              <a:ea typeface="Times New Roman" panose="02020603050405020304" pitchFamily="18" charset="0"/>
            </a:endParaRPr>
          </a:p>
          <a:p>
            <a:pPr lvl="1" algn="just"/>
            <a:endParaRPr lang="en-IN" sz="1800" dirty="0">
              <a:effectLst/>
              <a:latin typeface="Times New Roman" panose="02020603050405020304" pitchFamily="18" charset="0"/>
              <a:ea typeface="Times New Roman" panose="02020603050405020304" pitchFamily="18" charset="0"/>
            </a:endParaRPr>
          </a:p>
          <a:p>
            <a:pPr algn="just"/>
            <a:endParaRPr lang="en-GB" sz="2800" dirty="0"/>
          </a:p>
        </p:txBody>
      </p:sp>
    </p:spTree>
    <p:extLst>
      <p:ext uri="{BB962C8B-B14F-4D97-AF65-F5344CB8AC3E}">
        <p14:creationId xmlns:p14="http://schemas.microsoft.com/office/powerpoint/2010/main" val="3068878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4A64E-6CB3-45AC-A2C1-DD817DBB965A}"/>
              </a:ext>
            </a:extLst>
          </p:cNvPr>
          <p:cNvSpPr>
            <a:spLocks noGrp="1"/>
          </p:cNvSpPr>
          <p:nvPr>
            <p:ph type="title"/>
          </p:nvPr>
        </p:nvSpPr>
        <p:spPr/>
        <p:txBody>
          <a:bodyPr/>
          <a:lstStyle/>
          <a:p>
            <a:pPr>
              <a:lnSpc>
                <a:spcPct val="115000"/>
              </a:lnSpc>
              <a:spcAft>
                <a:spcPts val="1000"/>
              </a:spcAft>
            </a:pPr>
            <a:r>
              <a:rPr lang="en-US" sz="3600" b="1" dirty="0">
                <a:effectLst/>
                <a:latin typeface="Calibri" panose="020F0502020204030204" pitchFamily="34" charset="0"/>
                <a:ea typeface="Calibri" panose="020F0502020204030204" pitchFamily="34" charset="0"/>
                <a:cs typeface="Helvetica" panose="020B0604020202020204" pitchFamily="34" charset="0"/>
              </a:rPr>
              <a:t>Methods of </a:t>
            </a:r>
            <a:r>
              <a:rPr lang="en-US" sz="3600" b="1" dirty="0" err="1">
                <a:effectLst/>
                <a:latin typeface="Calibri" panose="020F0502020204030204" pitchFamily="34" charset="0"/>
                <a:ea typeface="Calibri" panose="020F0502020204030204" pitchFamily="34" charset="0"/>
                <a:cs typeface="Helvetica" panose="020B0604020202020204" pitchFamily="34" charset="0"/>
              </a:rPr>
              <a:t>SQLiteOpenHelper</a:t>
            </a:r>
            <a:r>
              <a:rPr lang="en-US" sz="3600" b="1" dirty="0">
                <a:effectLst/>
                <a:latin typeface="Calibri" panose="020F0502020204030204" pitchFamily="34" charset="0"/>
                <a:ea typeface="Calibri" panose="020F0502020204030204" pitchFamily="34" charset="0"/>
                <a:cs typeface="Helvetica" panose="020B0604020202020204" pitchFamily="34" charset="0"/>
              </a:rPr>
              <a:t> class</a:t>
            </a:r>
            <a:br>
              <a:rPr lang="en-IN" sz="2800" dirty="0">
                <a:effectLst/>
                <a:latin typeface="Calibri" panose="020F0502020204030204" pitchFamily="34" charset="0"/>
                <a:ea typeface="Calibri" panose="020F0502020204030204" pitchFamily="34" charset="0"/>
                <a:cs typeface="Shruti" panose="020B0502040204020203" pitchFamily="34" charset="0"/>
              </a:rPr>
            </a:br>
            <a:endParaRPr lang="en-IN" dirty="0"/>
          </a:p>
        </p:txBody>
      </p:sp>
      <p:sp>
        <p:nvSpPr>
          <p:cNvPr id="3" name="Content Placeholder 2">
            <a:extLst>
              <a:ext uri="{FF2B5EF4-FFF2-40B4-BE49-F238E27FC236}">
                <a16:creationId xmlns:a16="http://schemas.microsoft.com/office/drawing/2014/main" id="{8868E3F3-F595-4ED0-8C0A-90AB533FF641}"/>
              </a:ext>
            </a:extLst>
          </p:cNvPr>
          <p:cNvSpPr>
            <a:spLocks noGrp="1"/>
          </p:cNvSpPr>
          <p:nvPr>
            <p:ph idx="1"/>
          </p:nvPr>
        </p:nvSpPr>
        <p:spPr>
          <a:xfrm>
            <a:off x="677333" y="1405289"/>
            <a:ext cx="10305092" cy="5062888"/>
          </a:xfrm>
        </p:spPr>
        <p:txBody>
          <a:bodyPr>
            <a:normAutofit lnSpcReduction="10000"/>
          </a:bodyPr>
          <a:lstStyle/>
          <a:p>
            <a:pPr algn="just"/>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public abstract void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onCreate</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SQLiteDatabase</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db</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800" dirty="0">
                <a:effectLst/>
                <a:latin typeface="Calibri" panose="020F0502020204030204" pitchFamily="34" charset="0"/>
                <a:ea typeface="Times New Roman" panose="02020603050405020304" pitchFamily="18" charset="0"/>
                <a:cs typeface="Times New Roman" panose="02020603050405020304" pitchFamily="18" charset="0"/>
              </a:rPr>
              <a:t>called only once when database is created for the first time.</a:t>
            </a:r>
          </a:p>
          <a:p>
            <a:pPr algn="just"/>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public abstract void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onUpgrade</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SQLiteDatabase</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db</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int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oldVersion</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int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newVersion</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800" dirty="0">
                <a:effectLst/>
                <a:latin typeface="Calibri" panose="020F0502020204030204" pitchFamily="34" charset="0"/>
                <a:ea typeface="Times New Roman" panose="02020603050405020304" pitchFamily="18" charset="0"/>
                <a:cs typeface="Times New Roman" panose="02020603050405020304" pitchFamily="18" charset="0"/>
              </a:rPr>
              <a:t>called when database needs to be upgraded.</a:t>
            </a:r>
            <a:endParaRPr lang="en-IN" sz="2800" dirty="0">
              <a:effectLst/>
              <a:latin typeface="Calibri" panose="020F0502020204030204" pitchFamily="34" charset="0"/>
              <a:ea typeface="Calibri" panose="020F0502020204030204" pitchFamily="34" charset="0"/>
              <a:cs typeface="Shruti" panose="020B0502040204020203" pitchFamily="34" charset="0"/>
            </a:endParaRPr>
          </a:p>
          <a:p>
            <a:pPr algn="just"/>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public synchronized void close()</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800" dirty="0">
                <a:effectLst/>
                <a:latin typeface="Calibri" panose="020F0502020204030204" pitchFamily="34" charset="0"/>
                <a:ea typeface="Times New Roman" panose="02020603050405020304" pitchFamily="18" charset="0"/>
                <a:cs typeface="Times New Roman" panose="02020603050405020304" pitchFamily="18" charset="0"/>
              </a:rPr>
              <a:t>closes the database object.</a:t>
            </a:r>
            <a:endParaRPr lang="en-IN" sz="2800" dirty="0">
              <a:effectLst/>
              <a:latin typeface="Calibri" panose="020F0502020204030204" pitchFamily="34" charset="0"/>
              <a:ea typeface="Calibri" panose="020F0502020204030204" pitchFamily="34" charset="0"/>
              <a:cs typeface="Shruti" panose="020B0502040204020203" pitchFamily="34" charset="0"/>
            </a:endParaRPr>
          </a:p>
          <a:p>
            <a:pPr algn="just"/>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public void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onDowngrade</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SQLiteDatabase</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db</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int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oldVersion</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 int </a:t>
            </a:r>
            <a:r>
              <a:rPr lang="en-US" sz="2800" b="1" dirty="0" err="1">
                <a:effectLst/>
                <a:latin typeface="Calibri" panose="020F0502020204030204" pitchFamily="34" charset="0"/>
                <a:ea typeface="Times New Roman" panose="02020603050405020304" pitchFamily="18" charset="0"/>
                <a:cs typeface="Times New Roman" panose="02020603050405020304" pitchFamily="18" charset="0"/>
              </a:rPr>
              <a:t>newVersion</a:t>
            </a:r>
            <a:r>
              <a:rPr lang="en-US" sz="2800" b="1" dirty="0">
                <a:effectLst/>
                <a:latin typeface="Calibri" panose="020F0502020204030204" pitchFamily="34" charset="0"/>
                <a:ea typeface="Times New Roman" panose="02020603050405020304" pitchFamily="18" charset="0"/>
                <a:cs typeface="Times New Roman" panose="02020603050405020304" pitchFamily="18" charset="0"/>
              </a:rPr>
              <a:t>)</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400" dirty="0">
                <a:effectLst/>
                <a:latin typeface="Calibri" panose="020F0502020204030204" pitchFamily="34" charset="0"/>
                <a:ea typeface="Times New Roman" panose="02020603050405020304" pitchFamily="18" charset="0"/>
                <a:cs typeface="Times New Roman" panose="02020603050405020304" pitchFamily="18" charset="0"/>
              </a:rPr>
              <a:t>called when database needs to be downgraded.</a:t>
            </a:r>
            <a:endParaRPr lang="en-IN" sz="24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1772164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FB4D9-28D7-4844-927A-FBFE2B10BA9C}"/>
              </a:ext>
            </a:extLst>
          </p:cNvPr>
          <p:cNvSpPr>
            <a:spLocks noGrp="1"/>
          </p:cNvSpPr>
          <p:nvPr>
            <p:ph type="title"/>
          </p:nvPr>
        </p:nvSpPr>
        <p:spPr>
          <a:xfrm>
            <a:off x="481263" y="187693"/>
            <a:ext cx="8596668" cy="726707"/>
          </a:xfrm>
        </p:spPr>
        <p:txBody>
          <a:bodyPr/>
          <a:lstStyle/>
          <a:p>
            <a:r>
              <a:rPr lang="en-US" sz="3600" dirty="0" err="1">
                <a:effectLst/>
                <a:latin typeface="Helvetica" panose="020B0604020202020204" pitchFamily="34" charset="0"/>
                <a:ea typeface="Calibri" panose="020F0502020204030204" pitchFamily="34" charset="0"/>
              </a:rPr>
              <a:t>SQLiteDatabase</a:t>
            </a:r>
            <a:r>
              <a:rPr lang="en-US" sz="3600" dirty="0">
                <a:effectLst/>
                <a:latin typeface="Helvetica" panose="020B0604020202020204" pitchFamily="34" charset="0"/>
                <a:ea typeface="Calibri" panose="020F0502020204030204" pitchFamily="34" charset="0"/>
              </a:rPr>
              <a:t> class</a:t>
            </a:r>
            <a:endParaRPr lang="en-IN" dirty="0"/>
          </a:p>
        </p:txBody>
      </p:sp>
      <p:sp>
        <p:nvSpPr>
          <p:cNvPr id="3" name="Content Placeholder 2">
            <a:extLst>
              <a:ext uri="{FF2B5EF4-FFF2-40B4-BE49-F238E27FC236}">
                <a16:creationId xmlns:a16="http://schemas.microsoft.com/office/drawing/2014/main" id="{B53E4F64-EE22-4070-9159-8A957E0A9D42}"/>
              </a:ext>
            </a:extLst>
          </p:cNvPr>
          <p:cNvSpPr>
            <a:spLocks noGrp="1"/>
          </p:cNvSpPr>
          <p:nvPr>
            <p:ph idx="1"/>
          </p:nvPr>
        </p:nvSpPr>
        <p:spPr>
          <a:xfrm>
            <a:off x="481263" y="1058779"/>
            <a:ext cx="9846644" cy="5611528"/>
          </a:xfrm>
        </p:spPr>
        <p:txBody>
          <a:bodyPr>
            <a:normAutofit/>
          </a:bodyPr>
          <a:lstStyle/>
          <a:p>
            <a:pPr algn="just"/>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void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execSQL</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sql</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000" dirty="0">
                <a:effectLst/>
                <a:latin typeface="Verdana" panose="020B0604030504040204" pitchFamily="34" charset="0"/>
                <a:ea typeface="Times New Roman" panose="02020603050405020304" pitchFamily="18" charset="0"/>
                <a:cs typeface="Times New Roman" panose="02020603050405020304" pitchFamily="18" charset="0"/>
              </a:rPr>
              <a:t>executes the </a:t>
            </a:r>
            <a:r>
              <a:rPr lang="en-US" sz="2000" dirty="0" err="1">
                <a:effectLst/>
                <a:latin typeface="Verdana" panose="020B0604030504040204" pitchFamily="34" charset="0"/>
                <a:ea typeface="Times New Roman" panose="02020603050405020304" pitchFamily="18" charset="0"/>
                <a:cs typeface="Times New Roman" panose="02020603050405020304" pitchFamily="18" charset="0"/>
              </a:rPr>
              <a:t>sql</a:t>
            </a: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query not select query.</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algn="just"/>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long insert(String table, 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nullColumnHack</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ContentValues</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 values)</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000" dirty="0">
                <a:effectLst/>
                <a:latin typeface="Verdana" panose="020B0604030504040204" pitchFamily="34" charset="0"/>
                <a:ea typeface="Times New Roman" panose="02020603050405020304" pitchFamily="18" charset="0"/>
                <a:cs typeface="Times New Roman" panose="02020603050405020304" pitchFamily="18" charset="0"/>
              </a:rPr>
              <a:t>inserts a record on the database. The table specifies the table </a:t>
            </a:r>
            <a:r>
              <a:rPr lang="en-US" sz="2000" dirty="0" err="1">
                <a:effectLst/>
                <a:latin typeface="Verdana" panose="020B0604030504040204" pitchFamily="34" charset="0"/>
                <a:ea typeface="Times New Roman" panose="02020603050405020304" pitchFamily="18" charset="0"/>
                <a:cs typeface="Times New Roman" panose="02020603050405020304" pitchFamily="18" charset="0"/>
              </a:rPr>
              <a:t>name,nullColumnHack</a:t>
            </a: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 doesn't allow completely null values. If second argument is null, android will store null values if values are empty. The third argument specifies the values to be stored.</a:t>
            </a:r>
            <a:endParaRPr lang="en-IN" sz="2000" dirty="0">
              <a:effectLst/>
              <a:latin typeface="Calibri" panose="020F0502020204030204" pitchFamily="34" charset="0"/>
              <a:ea typeface="Calibri" panose="020F0502020204030204" pitchFamily="34" charset="0"/>
              <a:cs typeface="Shruti" panose="020B0502040204020203" pitchFamily="34" charset="0"/>
            </a:endParaRPr>
          </a:p>
          <a:p>
            <a:pPr algn="just"/>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int update(String table,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ContentValues</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 values, 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whereClause</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 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whereArgs</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2000" dirty="0">
                <a:effectLst/>
                <a:latin typeface="Verdana" panose="020B0604030504040204" pitchFamily="34" charset="0"/>
                <a:ea typeface="Times New Roman" panose="02020603050405020304" pitchFamily="18" charset="0"/>
                <a:cs typeface="Times New Roman" panose="02020603050405020304" pitchFamily="18" charset="0"/>
              </a:rPr>
              <a:t>updates a row.</a:t>
            </a:r>
          </a:p>
          <a:p>
            <a:pPr algn="just"/>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Cursor query(String table, String[] columns, String selection, 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selectionArgs</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 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groupBy</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 String having, String </a:t>
            </a:r>
            <a:r>
              <a:rPr lang="en-US" sz="2000" b="1" dirty="0" err="1">
                <a:effectLst/>
                <a:latin typeface="Verdana" panose="020B0604030504040204" pitchFamily="34" charset="0"/>
                <a:ea typeface="Times New Roman" panose="02020603050405020304" pitchFamily="18" charset="0"/>
                <a:cs typeface="Times New Roman" panose="02020603050405020304" pitchFamily="18" charset="0"/>
              </a:rPr>
              <a:t>orderBy</a:t>
            </a: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a:p>
            <a:pPr lvl="1" algn="just"/>
            <a:r>
              <a:rPr lang="en-US" sz="1800" dirty="0">
                <a:effectLst/>
                <a:latin typeface="Verdana" panose="020B0604030504040204" pitchFamily="34" charset="0"/>
                <a:ea typeface="Times New Roman" panose="02020603050405020304" pitchFamily="18" charset="0"/>
                <a:cs typeface="Times New Roman" panose="02020603050405020304" pitchFamily="18" charset="0"/>
              </a:rPr>
              <a:t>returns a cursor over the </a:t>
            </a:r>
            <a:r>
              <a:rPr lang="en-US" sz="1800" dirty="0" err="1">
                <a:effectLst/>
                <a:latin typeface="Verdana" panose="020B0604030504040204" pitchFamily="34" charset="0"/>
                <a:ea typeface="Times New Roman" panose="02020603050405020304" pitchFamily="18" charset="0"/>
                <a:cs typeface="Times New Roman" panose="02020603050405020304" pitchFamily="18" charset="0"/>
              </a:rPr>
              <a:t>resultset</a:t>
            </a: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Shruti" panose="020B0502040204020203" pitchFamily="34" charset="0"/>
            </a:endParaRPr>
          </a:p>
        </p:txBody>
      </p:sp>
    </p:spTree>
    <p:extLst>
      <p:ext uri="{BB962C8B-B14F-4D97-AF65-F5344CB8AC3E}">
        <p14:creationId xmlns:p14="http://schemas.microsoft.com/office/powerpoint/2010/main" val="4078650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97F37-3BE3-4749-89FE-6340E642329C}"/>
              </a:ext>
            </a:extLst>
          </p:cNvPr>
          <p:cNvSpPr>
            <a:spLocks noGrp="1"/>
          </p:cNvSpPr>
          <p:nvPr>
            <p:ph type="title"/>
          </p:nvPr>
        </p:nvSpPr>
        <p:spPr>
          <a:xfrm>
            <a:off x="157570" y="136873"/>
            <a:ext cx="8596668" cy="1320800"/>
          </a:xfrm>
        </p:spPr>
        <p:txBody>
          <a:bodyPr/>
          <a:lstStyle/>
          <a:p>
            <a:r>
              <a:rPr lang="en-IN" dirty="0"/>
              <a:t>Content Providers</a:t>
            </a:r>
          </a:p>
        </p:txBody>
      </p:sp>
      <p:sp>
        <p:nvSpPr>
          <p:cNvPr id="3" name="Content Placeholder 2">
            <a:extLst>
              <a:ext uri="{FF2B5EF4-FFF2-40B4-BE49-F238E27FC236}">
                <a16:creationId xmlns:a16="http://schemas.microsoft.com/office/drawing/2014/main" id="{DCC3F999-2DCD-4A30-BF2B-B3ECC372105A}"/>
              </a:ext>
            </a:extLst>
          </p:cNvPr>
          <p:cNvSpPr>
            <a:spLocks noGrp="1"/>
          </p:cNvSpPr>
          <p:nvPr>
            <p:ph idx="1"/>
          </p:nvPr>
        </p:nvSpPr>
        <p:spPr>
          <a:xfrm>
            <a:off x="157570" y="948156"/>
            <a:ext cx="7303193" cy="5772971"/>
          </a:xfrm>
        </p:spPr>
        <p:txBody>
          <a:bodyPr>
            <a:normAutofit lnSpcReduction="10000"/>
          </a:bodyPr>
          <a:lstStyle/>
          <a:p>
            <a:pPr algn="just"/>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Content providers can help an application </a:t>
            </a:r>
            <a:r>
              <a:rPr lang="en-US" sz="2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manage access to data </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stored by itself, stored by other apps, and provide a way to share data with other apps. </a:t>
            </a:r>
          </a:p>
          <a:p>
            <a:pPr algn="just"/>
            <a:r>
              <a:rPr lang="en-US" sz="2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They encapsulate the data</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and provide mechanisms for defining data security. Content providers are the </a:t>
            </a:r>
            <a:r>
              <a:rPr lang="en-US" sz="2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standard interface that connects data </a:t>
            </a:r>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one process with code running in another process.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algn="just"/>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abstraction allows you to make modifications to your application data storage implementation without affecting other existing applications that rely on access to your data. </a:t>
            </a:r>
          </a:p>
          <a:p>
            <a:pPr algn="just"/>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this scenario only your content provider is affected and not the applications that access it. </a:t>
            </a:r>
          </a:p>
          <a:p>
            <a:pPr algn="just"/>
            <a:r>
              <a:rPr lang="en-US" sz="2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For example, you might swap out a SQLite database for alternative storage.</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algn="just"/>
            <a:endParaRPr lang="en-IN" sz="2400" dirty="0"/>
          </a:p>
        </p:txBody>
      </p:sp>
      <p:pic>
        <p:nvPicPr>
          <p:cNvPr id="4" name="Picture 3" descr="Overview diagram of how content providers manage access to storage.">
            <a:extLst>
              <a:ext uri="{FF2B5EF4-FFF2-40B4-BE49-F238E27FC236}">
                <a16:creationId xmlns:a16="http://schemas.microsoft.com/office/drawing/2014/main" id="{4078F5FD-5235-4AAC-88F4-C1AA98026BC2}"/>
              </a:ext>
            </a:extLst>
          </p:cNvPr>
          <p:cNvPicPr/>
          <p:nvPr/>
        </p:nvPicPr>
        <p:blipFill>
          <a:blip r:embed="rId2"/>
          <a:srcRect/>
          <a:stretch>
            <a:fillRect/>
          </a:stretch>
        </p:blipFill>
        <p:spPr bwMode="auto">
          <a:xfrm>
            <a:off x="7566641" y="1034783"/>
            <a:ext cx="4361910" cy="2683176"/>
          </a:xfrm>
          <a:prstGeom prst="rect">
            <a:avLst/>
          </a:prstGeom>
          <a:ln>
            <a:headEnd/>
            <a:tailEnd/>
          </a:ln>
        </p:spPr>
        <p:style>
          <a:lnRef idx="2">
            <a:schemeClr val="accent1"/>
          </a:lnRef>
          <a:fillRef idx="1">
            <a:schemeClr val="lt1"/>
          </a:fillRef>
          <a:effectRef idx="0">
            <a:schemeClr val="accent1"/>
          </a:effectRef>
          <a:fontRef idx="minor">
            <a:schemeClr val="dk1"/>
          </a:fontRef>
        </p:style>
      </p:pic>
      <p:pic>
        <p:nvPicPr>
          <p:cNvPr id="5" name="Picture 4" descr="Illustration of migrating content provider storage.">
            <a:extLst>
              <a:ext uri="{FF2B5EF4-FFF2-40B4-BE49-F238E27FC236}">
                <a16:creationId xmlns:a16="http://schemas.microsoft.com/office/drawing/2014/main" id="{60FBC4B7-33B4-4A76-ACD2-94020089F032}"/>
              </a:ext>
            </a:extLst>
          </p:cNvPr>
          <p:cNvPicPr/>
          <p:nvPr/>
        </p:nvPicPr>
        <p:blipFill>
          <a:blip r:embed="rId3"/>
          <a:srcRect/>
          <a:stretch>
            <a:fillRect/>
          </a:stretch>
        </p:blipFill>
        <p:spPr bwMode="auto">
          <a:xfrm>
            <a:off x="7566642" y="3761827"/>
            <a:ext cx="4513064" cy="3096173"/>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39858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31C32-05EB-43F9-9652-3471F5BA43DE}"/>
              </a:ext>
            </a:extLst>
          </p:cNvPr>
          <p:cNvSpPr>
            <a:spLocks noGrp="1"/>
          </p:cNvSpPr>
          <p:nvPr>
            <p:ph type="title"/>
          </p:nvPr>
        </p:nvSpPr>
        <p:spPr>
          <a:xfrm>
            <a:off x="224946" y="156238"/>
            <a:ext cx="8596668" cy="1320800"/>
          </a:xfrm>
        </p:spPr>
        <p:txBody>
          <a:bodyPr/>
          <a:lstStyle/>
          <a:p>
            <a:r>
              <a:rPr lang="en-GB" dirty="0"/>
              <a:t>Accessing Provider</a:t>
            </a:r>
            <a:endParaRPr lang="en-IN" dirty="0"/>
          </a:p>
        </p:txBody>
      </p:sp>
      <p:sp>
        <p:nvSpPr>
          <p:cNvPr id="3" name="Content Placeholder 2">
            <a:extLst>
              <a:ext uri="{FF2B5EF4-FFF2-40B4-BE49-F238E27FC236}">
                <a16:creationId xmlns:a16="http://schemas.microsoft.com/office/drawing/2014/main" id="{8094CF0B-0D61-41FF-BA87-7CDC017A21B8}"/>
              </a:ext>
            </a:extLst>
          </p:cNvPr>
          <p:cNvSpPr>
            <a:spLocks noGrp="1"/>
          </p:cNvSpPr>
          <p:nvPr>
            <p:ph idx="1"/>
          </p:nvPr>
        </p:nvSpPr>
        <p:spPr>
          <a:xfrm>
            <a:off x="224946" y="1098724"/>
            <a:ext cx="8197159" cy="5603038"/>
          </a:xfrm>
        </p:spPr>
        <p:txBody>
          <a:bodyPr>
            <a:normAutofit fontScale="92500"/>
          </a:bodyPr>
          <a:lstStyle/>
          <a:p>
            <a:pPr algn="just"/>
            <a:r>
              <a:rPr lang="en-US" sz="2400" dirty="0">
                <a:effectLst/>
                <a:latin typeface="Calibri" panose="020F0502020204030204" pitchFamily="34" charset="0"/>
                <a:ea typeface="Calibri" panose="020F0502020204030204" pitchFamily="34" charset="0"/>
                <a:cs typeface="Calibri" panose="020F0502020204030204" pitchFamily="34" charset="0"/>
              </a:rPr>
              <a:t>When you want to access data in a content provider, you use the </a:t>
            </a:r>
            <a:r>
              <a:rPr lang="en-US" sz="2400" b="1" u="none" strike="noStrike" dirty="0" err="1">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2"/>
              </a:rPr>
              <a:t>ContentResolver</a:t>
            </a:r>
            <a:r>
              <a:rPr lang="en-US" sz="2400" dirty="0">
                <a:effectLst/>
                <a:latin typeface="Calibri" panose="020F0502020204030204" pitchFamily="34" charset="0"/>
                <a:ea typeface="Calibri" panose="020F0502020204030204" pitchFamily="34" charset="0"/>
                <a:cs typeface="Calibri" panose="020F0502020204030204" pitchFamily="34" charset="0"/>
              </a:rPr>
              <a:t> object in your application's </a:t>
            </a:r>
            <a:r>
              <a:rPr lang="en-US" sz="2400" u="none" strike="noStrike"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3"/>
              </a:rPr>
              <a:t>Context</a:t>
            </a:r>
            <a:r>
              <a:rPr lang="en-US" sz="2400" dirty="0">
                <a:effectLst/>
                <a:latin typeface="Calibri" panose="020F0502020204030204" pitchFamily="34" charset="0"/>
                <a:ea typeface="Calibri" panose="020F0502020204030204" pitchFamily="34" charset="0"/>
                <a:cs typeface="Calibri" panose="020F0502020204030204" pitchFamily="34" charset="0"/>
              </a:rPr>
              <a:t> to communicate with the provider as a client. The </a:t>
            </a:r>
            <a:r>
              <a:rPr lang="en-US" sz="2400" b="1" u="none" strike="noStrike" dirty="0" err="1">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2"/>
              </a:rPr>
              <a:t>ContentResolver</a:t>
            </a:r>
            <a:r>
              <a:rPr lang="en-US" sz="2400" dirty="0">
                <a:effectLst/>
                <a:latin typeface="Calibri" panose="020F0502020204030204" pitchFamily="34" charset="0"/>
                <a:ea typeface="Calibri" panose="020F0502020204030204" pitchFamily="34" charset="0"/>
                <a:cs typeface="Calibri" panose="020F0502020204030204" pitchFamily="34" charset="0"/>
              </a:rPr>
              <a:t> object communicates with the provider object, an instance of a class that implements </a:t>
            </a:r>
            <a:r>
              <a:rPr lang="en-US" sz="2400" b="1" u="none" strike="noStrike" dirty="0" err="1">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4"/>
              </a:rPr>
              <a:t>ContentProvider</a:t>
            </a:r>
            <a:r>
              <a:rPr lang="en-US" sz="2400" dirty="0">
                <a:effectLst/>
                <a:latin typeface="Calibri" panose="020F0502020204030204" pitchFamily="34" charset="0"/>
                <a:ea typeface="Calibri" panose="020F0502020204030204" pitchFamily="34" charset="0"/>
                <a:cs typeface="Calibri" panose="020F0502020204030204" pitchFamily="34" charset="0"/>
              </a:rPr>
              <a:t>. The provider object receives data requests from clients, performs the requested action, and returns the results.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30480" marR="30480" indent="426720" algn="just">
              <a:lnSpc>
                <a:spcPct val="115000"/>
              </a:lnSpc>
              <a:spcAft>
                <a:spcPts val="10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A content provider behaves very much like a database where you can query it, edit its content, as well as add or delete content using </a:t>
            </a:r>
            <a:r>
              <a:rPr lang="en-US" sz="2400" b="1" dirty="0">
                <a:effectLst/>
                <a:latin typeface="Calibri" panose="020F0502020204030204" pitchFamily="34" charset="0"/>
                <a:ea typeface="Times New Roman" panose="02020603050405020304" pitchFamily="18" charset="0"/>
                <a:cs typeface="Calibri" panose="020F0502020204030204" pitchFamily="34" charset="0"/>
              </a:rPr>
              <a:t>insert</a:t>
            </a:r>
            <a:r>
              <a:rPr lang="en-US" sz="2400" dirty="0">
                <a:effectLst/>
                <a:latin typeface="Calibri" panose="020F0502020204030204" pitchFamily="34" charset="0"/>
                <a:ea typeface="Times New Roman" panose="02020603050405020304" pitchFamily="18" charset="0"/>
                <a:cs typeface="Calibri" panose="020F0502020204030204" pitchFamily="34" charset="0"/>
              </a:rPr>
              <a:t>(), </a:t>
            </a:r>
            <a:r>
              <a:rPr lang="en-US" sz="2400" b="1" dirty="0">
                <a:effectLst/>
                <a:latin typeface="Calibri" panose="020F0502020204030204" pitchFamily="34" charset="0"/>
                <a:ea typeface="Times New Roman" panose="02020603050405020304" pitchFamily="18" charset="0"/>
                <a:cs typeface="Calibri" panose="020F0502020204030204" pitchFamily="34" charset="0"/>
              </a:rPr>
              <a:t>update</a:t>
            </a:r>
            <a:r>
              <a:rPr lang="en-US" sz="2400" dirty="0">
                <a:effectLst/>
                <a:latin typeface="Calibri" panose="020F0502020204030204" pitchFamily="34" charset="0"/>
                <a:ea typeface="Times New Roman" panose="02020603050405020304" pitchFamily="18" charset="0"/>
                <a:cs typeface="Calibri" panose="020F0502020204030204" pitchFamily="34" charset="0"/>
              </a:rPr>
              <a:t>(), </a:t>
            </a:r>
            <a:r>
              <a:rPr lang="en-US" sz="2400" b="1" dirty="0">
                <a:effectLst/>
                <a:latin typeface="Calibri" panose="020F0502020204030204" pitchFamily="34" charset="0"/>
                <a:ea typeface="Times New Roman" panose="02020603050405020304" pitchFamily="18" charset="0"/>
                <a:cs typeface="Calibri" panose="020F0502020204030204" pitchFamily="34" charset="0"/>
              </a:rPr>
              <a:t>delete</a:t>
            </a:r>
            <a:r>
              <a:rPr lang="en-US" sz="2400" dirty="0">
                <a:effectLst/>
                <a:latin typeface="Calibri" panose="020F0502020204030204" pitchFamily="34" charset="0"/>
                <a:ea typeface="Times New Roman" panose="02020603050405020304" pitchFamily="18" charset="0"/>
                <a:cs typeface="Calibri" panose="020F0502020204030204" pitchFamily="34" charset="0"/>
              </a:rPr>
              <a:t>(), and </a:t>
            </a:r>
            <a:r>
              <a:rPr lang="en-US" sz="2400" b="1" dirty="0">
                <a:effectLst/>
                <a:latin typeface="Calibri" panose="020F0502020204030204" pitchFamily="34" charset="0"/>
                <a:ea typeface="Times New Roman" panose="02020603050405020304" pitchFamily="18" charset="0"/>
                <a:cs typeface="Calibri" panose="020F0502020204030204" pitchFamily="34" charset="0"/>
              </a:rPr>
              <a:t>query</a:t>
            </a:r>
            <a:r>
              <a:rPr lang="en-US" sz="2400" dirty="0">
                <a:effectLst/>
                <a:latin typeface="Calibri" panose="020F0502020204030204" pitchFamily="34" charset="0"/>
                <a:ea typeface="Times New Roman" panose="02020603050405020304" pitchFamily="18" charset="0"/>
                <a:cs typeface="Calibri" panose="020F0502020204030204" pitchFamily="34" charset="0"/>
              </a:rPr>
              <a:t>() methods. In most cases this data is stored in an </a:t>
            </a:r>
            <a:r>
              <a:rPr lang="en-US" sz="2400" b="1" dirty="0" err="1">
                <a:effectLst/>
                <a:latin typeface="Calibri" panose="020F0502020204030204" pitchFamily="34" charset="0"/>
                <a:ea typeface="Times New Roman" panose="02020603050405020304" pitchFamily="18" charset="0"/>
                <a:cs typeface="Calibri" panose="020F0502020204030204" pitchFamily="34" charset="0"/>
              </a:rPr>
              <a:t>SQlite</a:t>
            </a:r>
            <a:r>
              <a:rPr lang="en-US" sz="2400" dirty="0">
                <a:effectLst/>
                <a:latin typeface="Calibri" panose="020F0502020204030204" pitchFamily="34" charset="0"/>
                <a:ea typeface="Times New Roman" panose="02020603050405020304" pitchFamily="18" charset="0"/>
                <a:cs typeface="Calibri" panose="020F0502020204030204" pitchFamily="34" charset="0"/>
              </a:rPr>
              <a:t> database.</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p>
            <a:pPr marL="30480" marR="30480" indent="426720" algn="just">
              <a:lnSpc>
                <a:spcPct val="115000"/>
              </a:lnSpc>
              <a:spcAft>
                <a:spcPts val="72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A content provider is implemented as a subclass of </a:t>
            </a:r>
            <a:r>
              <a:rPr lang="en-US" sz="2400" b="1" dirty="0" err="1">
                <a:effectLst/>
                <a:latin typeface="Calibri" panose="020F0502020204030204" pitchFamily="34" charset="0"/>
                <a:ea typeface="Times New Roman" panose="02020603050405020304" pitchFamily="18" charset="0"/>
                <a:cs typeface="Calibri" panose="020F0502020204030204" pitchFamily="34" charset="0"/>
              </a:rPr>
              <a:t>ContentProvider</a:t>
            </a:r>
            <a:r>
              <a:rPr lang="en-US" sz="2400" dirty="0">
                <a:effectLst/>
                <a:latin typeface="Calibri" panose="020F0502020204030204" pitchFamily="34" charset="0"/>
                <a:ea typeface="Times New Roman" panose="02020603050405020304" pitchFamily="18" charset="0"/>
                <a:cs typeface="Calibri" panose="020F0502020204030204" pitchFamily="34" charset="0"/>
              </a:rPr>
              <a:t> class and must implement a standard set of APIs that enable other applications to perform transactions.</a:t>
            </a:r>
            <a:endParaRPr lang="en-IN" sz="2400" dirty="0">
              <a:effectLst/>
              <a:latin typeface="Calibri" panose="020F0502020204030204" pitchFamily="34" charset="0"/>
              <a:ea typeface="Calibri" panose="020F0502020204030204" pitchFamily="34" charset="0"/>
              <a:cs typeface="Shruti" panose="020B0502040204020203" pitchFamily="34" charset="0"/>
            </a:endParaRPr>
          </a:p>
        </p:txBody>
      </p:sp>
      <p:pic>
        <p:nvPicPr>
          <p:cNvPr id="4" name="Picture 3" descr="Interaction between ContentProvider, other classes, and storage.">
            <a:extLst>
              <a:ext uri="{FF2B5EF4-FFF2-40B4-BE49-F238E27FC236}">
                <a16:creationId xmlns:a16="http://schemas.microsoft.com/office/drawing/2014/main" id="{DDDF9194-EC10-4641-A190-294B0B0BBC0B}"/>
              </a:ext>
            </a:extLst>
          </p:cNvPr>
          <p:cNvPicPr/>
          <p:nvPr/>
        </p:nvPicPr>
        <p:blipFill>
          <a:blip r:embed="rId5"/>
          <a:srcRect/>
          <a:stretch>
            <a:fillRect/>
          </a:stretch>
        </p:blipFill>
        <p:spPr bwMode="auto">
          <a:xfrm>
            <a:off x="8422105" y="1477038"/>
            <a:ext cx="3769895" cy="3880773"/>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032836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8012-7734-43EB-BA6F-F5FA0DAB4F52}"/>
              </a:ext>
            </a:extLst>
          </p:cNvPr>
          <p:cNvSpPr>
            <a:spLocks noGrp="1"/>
          </p:cNvSpPr>
          <p:nvPr>
            <p:ph type="title"/>
          </p:nvPr>
        </p:nvSpPr>
        <p:spPr>
          <a:xfrm>
            <a:off x="677334" y="214956"/>
            <a:ext cx="8596668" cy="737945"/>
          </a:xfrm>
        </p:spPr>
        <p:txBody>
          <a:bodyPr/>
          <a:lstStyle/>
          <a:p>
            <a:r>
              <a:rPr lang="en-IN" dirty="0"/>
              <a:t>Content URIs</a:t>
            </a:r>
          </a:p>
        </p:txBody>
      </p:sp>
      <p:sp>
        <p:nvSpPr>
          <p:cNvPr id="3" name="Content Placeholder 2">
            <a:extLst>
              <a:ext uri="{FF2B5EF4-FFF2-40B4-BE49-F238E27FC236}">
                <a16:creationId xmlns:a16="http://schemas.microsoft.com/office/drawing/2014/main" id="{83CE6D0D-593D-4E47-8FD4-5BB858D51EB6}"/>
              </a:ext>
            </a:extLst>
          </p:cNvPr>
          <p:cNvSpPr>
            <a:spLocks noGrp="1"/>
          </p:cNvSpPr>
          <p:nvPr>
            <p:ph idx="1"/>
          </p:nvPr>
        </p:nvSpPr>
        <p:spPr>
          <a:xfrm>
            <a:off x="677334" y="1072935"/>
            <a:ext cx="8596668" cy="813617"/>
          </a:xfrm>
        </p:spPr>
        <p:txBody>
          <a:bodyPr>
            <a:normAutofit lnSpcReduction="10000"/>
          </a:bodyPr>
          <a:lstStyle/>
          <a:p>
            <a:r>
              <a:rPr lang="en-US" sz="2400" dirty="0">
                <a:effectLst/>
                <a:latin typeface="Calibri" panose="020F0502020204030204" pitchFamily="34" charset="0"/>
                <a:ea typeface="Times New Roman" panose="02020603050405020304" pitchFamily="18" charset="0"/>
              </a:rPr>
              <a:t>To query a content provider, you specify the query string in the form of a URI which has following format :</a:t>
            </a:r>
            <a:endParaRPr lang="en-IN" sz="2400" dirty="0">
              <a:effectLst/>
              <a:latin typeface="Times New Roman" panose="02020603050405020304" pitchFamily="18" charset="0"/>
              <a:ea typeface="Times New Roman" panose="02020603050405020304" pitchFamily="18" charset="0"/>
            </a:endParaRPr>
          </a:p>
          <a:p>
            <a:endParaRPr lang="en-IN" dirty="0"/>
          </a:p>
        </p:txBody>
      </p:sp>
      <p:graphicFrame>
        <p:nvGraphicFramePr>
          <p:cNvPr id="8" name="Table 7">
            <a:extLst>
              <a:ext uri="{FF2B5EF4-FFF2-40B4-BE49-F238E27FC236}">
                <a16:creationId xmlns:a16="http://schemas.microsoft.com/office/drawing/2014/main" id="{4A824CED-7784-4E8E-9222-B569020F6FD6}"/>
              </a:ext>
            </a:extLst>
          </p:cNvPr>
          <p:cNvGraphicFramePr>
            <a:graphicFrameLocks noGrp="1"/>
          </p:cNvGraphicFramePr>
          <p:nvPr>
            <p:extLst>
              <p:ext uri="{D42A27DB-BD31-4B8C-83A1-F6EECF244321}">
                <p14:modId xmlns:p14="http://schemas.microsoft.com/office/powerpoint/2010/main" val="2412928102"/>
              </p:ext>
            </p:extLst>
          </p:nvPr>
        </p:nvGraphicFramePr>
        <p:xfrm>
          <a:off x="350075" y="2098307"/>
          <a:ext cx="11223057" cy="4312118"/>
        </p:xfrm>
        <a:graphic>
          <a:graphicData uri="http://schemas.openxmlformats.org/drawingml/2006/table">
            <a:tbl>
              <a:tblPr firstRow="1" firstCol="1" bandRow="1">
                <a:tableStyleId>{5C22544A-7EE6-4342-B048-85BDC9FD1C3A}</a:tableStyleId>
              </a:tblPr>
              <a:tblGrid>
                <a:gridCol w="681975">
                  <a:extLst>
                    <a:ext uri="{9D8B030D-6E8A-4147-A177-3AD203B41FA5}">
                      <a16:colId xmlns:a16="http://schemas.microsoft.com/office/drawing/2014/main" val="62459123"/>
                    </a:ext>
                  </a:extLst>
                </a:gridCol>
                <a:gridCol w="10541082">
                  <a:extLst>
                    <a:ext uri="{9D8B030D-6E8A-4147-A177-3AD203B41FA5}">
                      <a16:colId xmlns:a16="http://schemas.microsoft.com/office/drawing/2014/main" val="2980054098"/>
                    </a:ext>
                  </a:extLst>
                </a:gridCol>
              </a:tblGrid>
              <a:tr h="494720">
                <a:tc>
                  <a:txBody>
                    <a:bodyPr/>
                    <a:lstStyle/>
                    <a:p>
                      <a:pPr algn="ctr">
                        <a:lnSpc>
                          <a:spcPct val="115000"/>
                        </a:lnSpc>
                        <a:spcAft>
                          <a:spcPts val="1000"/>
                        </a:spcAft>
                      </a:pPr>
                      <a:r>
                        <a:rPr lang="en-US" sz="1800">
                          <a:effectLst/>
                        </a:rPr>
                        <a:t>Sr.No</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algn="ctr">
                        <a:lnSpc>
                          <a:spcPct val="115000"/>
                        </a:lnSpc>
                        <a:spcAft>
                          <a:spcPts val="1000"/>
                        </a:spcAft>
                      </a:pPr>
                      <a:r>
                        <a:rPr lang="en-US" sz="1800" dirty="0">
                          <a:effectLst/>
                        </a:rPr>
                        <a:t>Part &amp; Description</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3255549688"/>
                  </a:ext>
                </a:extLst>
              </a:tr>
              <a:tr h="679904">
                <a:tc>
                  <a:txBody>
                    <a:bodyPr/>
                    <a:lstStyle/>
                    <a:p>
                      <a:pPr algn="ctr">
                        <a:lnSpc>
                          <a:spcPct val="115000"/>
                        </a:lnSpc>
                        <a:spcAft>
                          <a:spcPts val="1000"/>
                        </a:spcAft>
                      </a:pPr>
                      <a:r>
                        <a:rPr lang="en-US" sz="1800">
                          <a:effectLst/>
                        </a:rPr>
                        <a:t>1</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1800" b="1" dirty="0">
                          <a:effectLst/>
                        </a:rPr>
                        <a:t>Prefix</a:t>
                      </a:r>
                      <a:r>
                        <a:rPr lang="en-IN" sz="2400" b="1" dirty="0">
                          <a:effectLst/>
                        </a:rPr>
                        <a:t> : </a:t>
                      </a:r>
                      <a:r>
                        <a:rPr lang="en-US" sz="1800" dirty="0">
                          <a:effectLst/>
                        </a:rPr>
                        <a:t>This is always set to </a:t>
                      </a:r>
                      <a:r>
                        <a:rPr lang="en-US" sz="1800" b="1" dirty="0">
                          <a:effectLst/>
                        </a:rPr>
                        <a:t>content://</a:t>
                      </a:r>
                      <a:endParaRPr lang="en-IN" sz="2400" b="1"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2545842540"/>
                  </a:ext>
                </a:extLst>
              </a:tr>
              <a:tr h="935458">
                <a:tc>
                  <a:txBody>
                    <a:bodyPr/>
                    <a:lstStyle/>
                    <a:p>
                      <a:pPr algn="ctr">
                        <a:lnSpc>
                          <a:spcPct val="115000"/>
                        </a:lnSpc>
                        <a:spcAft>
                          <a:spcPts val="1000"/>
                        </a:spcAft>
                      </a:pPr>
                      <a:r>
                        <a:rPr lang="en-US" sz="1800">
                          <a:effectLst/>
                        </a:rPr>
                        <a:t>2</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1800" b="1" dirty="0">
                          <a:effectLst/>
                        </a:rPr>
                        <a:t>Authority</a:t>
                      </a:r>
                      <a:r>
                        <a:rPr lang="en-IN" sz="2400" b="1" dirty="0">
                          <a:effectLst/>
                        </a:rPr>
                        <a:t> : </a:t>
                      </a:r>
                      <a:r>
                        <a:rPr lang="en-US" sz="1800" dirty="0">
                          <a:effectLst/>
                        </a:rPr>
                        <a:t>This specifies the name of the content provider, for example contacts, browser etc. For third-party content providers, this could be the fully qualified name, such as </a:t>
                      </a:r>
                      <a:r>
                        <a:rPr lang="en-US" sz="1800" dirty="0" err="1">
                          <a:effectLst/>
                        </a:rPr>
                        <a:t>com.mu.statusprovider</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3860659634"/>
                  </a:ext>
                </a:extLst>
              </a:tr>
              <a:tr h="1191012">
                <a:tc>
                  <a:txBody>
                    <a:bodyPr/>
                    <a:lstStyle/>
                    <a:p>
                      <a:pPr algn="ctr">
                        <a:lnSpc>
                          <a:spcPct val="115000"/>
                        </a:lnSpc>
                        <a:spcAft>
                          <a:spcPts val="1000"/>
                        </a:spcAft>
                      </a:pPr>
                      <a:r>
                        <a:rPr lang="en-US" sz="1800">
                          <a:effectLst/>
                        </a:rPr>
                        <a:t>3</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1800" b="1" dirty="0" err="1">
                          <a:effectLst/>
                        </a:rPr>
                        <a:t>data_type</a:t>
                      </a:r>
                      <a:r>
                        <a:rPr lang="en-US" sz="1800" b="1" dirty="0">
                          <a:effectLst/>
                        </a:rPr>
                        <a:t> </a:t>
                      </a:r>
                      <a:r>
                        <a:rPr lang="en-IN" sz="2400" b="1" dirty="0">
                          <a:effectLst/>
                        </a:rPr>
                        <a:t>: </a:t>
                      </a:r>
                      <a:r>
                        <a:rPr lang="en-US" sz="1800" dirty="0">
                          <a:effectLst/>
                        </a:rPr>
                        <a:t>This indicates the type of data that this particular provider provides. </a:t>
                      </a:r>
                    </a:p>
                    <a:p>
                      <a:pPr marL="30480" marR="30480" algn="just">
                        <a:lnSpc>
                          <a:spcPct val="115000"/>
                        </a:lnSpc>
                        <a:spcAft>
                          <a:spcPts val="1000"/>
                        </a:spcAft>
                      </a:pPr>
                      <a:r>
                        <a:rPr lang="en-US" sz="1800" dirty="0">
                          <a:effectLst/>
                        </a:rPr>
                        <a:t>For example, if you are getting all the contacts from the </a:t>
                      </a:r>
                      <a:r>
                        <a:rPr lang="en-US" sz="1800" dirty="0" err="1">
                          <a:effectLst/>
                        </a:rPr>
                        <a:t>Contactscontent</a:t>
                      </a:r>
                      <a:r>
                        <a:rPr lang="en-US" sz="1800" dirty="0">
                          <a:effectLst/>
                        </a:rPr>
                        <a:t> provider, then the data path would be people and URI would look like thiscontent://contacts/people</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1055420255"/>
                  </a:ext>
                </a:extLst>
              </a:tr>
              <a:tr h="1011024">
                <a:tc>
                  <a:txBody>
                    <a:bodyPr/>
                    <a:lstStyle/>
                    <a:p>
                      <a:pPr algn="ctr">
                        <a:lnSpc>
                          <a:spcPct val="115000"/>
                        </a:lnSpc>
                        <a:spcAft>
                          <a:spcPts val="1000"/>
                        </a:spcAft>
                      </a:pPr>
                      <a:r>
                        <a:rPr lang="en-US" sz="1800">
                          <a:effectLst/>
                        </a:rPr>
                        <a:t>4</a:t>
                      </a:r>
                      <a:endParaRPr lang="en-IN" sz="240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tc>
                  <a:txBody>
                    <a:bodyPr/>
                    <a:lstStyle/>
                    <a:p>
                      <a:pPr marL="30480" marR="30480" algn="just">
                        <a:lnSpc>
                          <a:spcPct val="115000"/>
                        </a:lnSpc>
                        <a:spcAft>
                          <a:spcPts val="1000"/>
                        </a:spcAft>
                      </a:pPr>
                      <a:r>
                        <a:rPr lang="en-US" sz="1800" b="1" dirty="0">
                          <a:effectLst/>
                        </a:rPr>
                        <a:t>Id</a:t>
                      </a:r>
                      <a:r>
                        <a:rPr lang="en-IN" sz="2400" b="1" dirty="0">
                          <a:effectLst/>
                        </a:rPr>
                        <a:t> : </a:t>
                      </a:r>
                      <a:r>
                        <a:rPr lang="en-US" sz="1800" dirty="0">
                          <a:effectLst/>
                        </a:rPr>
                        <a:t>This specifies the specific record requested. For example, if you are looking for contact number 5 in the Contacts content provider then URI would look like this content://contacts/people/5.</a:t>
                      </a:r>
                      <a:endParaRPr lang="en-IN" sz="2400" dirty="0">
                        <a:effectLst/>
                        <a:latin typeface="Calibri" panose="020F0502020204030204" pitchFamily="34" charset="0"/>
                        <a:ea typeface="Calibri" panose="020F0502020204030204" pitchFamily="34" charset="0"/>
                        <a:cs typeface="Shruti" panose="020B0502040204020203" pitchFamily="34" charset="0"/>
                      </a:endParaRPr>
                    </a:p>
                  </a:txBody>
                  <a:tcPr marL="68580" marR="68580" marT="0" marB="0"/>
                </a:tc>
                <a:extLst>
                  <a:ext uri="{0D108BD9-81ED-4DB2-BD59-A6C34878D82A}">
                    <a16:rowId xmlns:a16="http://schemas.microsoft.com/office/drawing/2014/main" val="443069752"/>
                  </a:ext>
                </a:extLst>
              </a:tr>
            </a:tbl>
          </a:graphicData>
        </a:graphic>
      </p:graphicFrame>
    </p:spTree>
    <p:extLst>
      <p:ext uri="{BB962C8B-B14F-4D97-AF65-F5344CB8AC3E}">
        <p14:creationId xmlns:p14="http://schemas.microsoft.com/office/powerpoint/2010/main" val="1597716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084B-5BA6-4F89-B618-514ACF062663}"/>
              </a:ext>
            </a:extLst>
          </p:cNvPr>
          <p:cNvSpPr>
            <a:spLocks noGrp="1"/>
          </p:cNvSpPr>
          <p:nvPr>
            <p:ph type="title"/>
          </p:nvPr>
        </p:nvSpPr>
        <p:spPr>
          <a:xfrm>
            <a:off x="665981" y="71717"/>
            <a:ext cx="8596668" cy="788895"/>
          </a:xfrm>
        </p:spPr>
        <p:txBody>
          <a:bodyPr/>
          <a:lstStyle/>
          <a:p>
            <a:r>
              <a:rPr lang="en-IN" dirty="0"/>
              <a:t>Internal Storage</a:t>
            </a:r>
          </a:p>
        </p:txBody>
      </p:sp>
      <p:sp>
        <p:nvSpPr>
          <p:cNvPr id="3" name="Content Placeholder 2">
            <a:extLst>
              <a:ext uri="{FF2B5EF4-FFF2-40B4-BE49-F238E27FC236}">
                <a16:creationId xmlns:a16="http://schemas.microsoft.com/office/drawing/2014/main" id="{29F9841A-909B-4ACA-9E6B-5BD5F1A8C274}"/>
              </a:ext>
            </a:extLst>
          </p:cNvPr>
          <p:cNvSpPr>
            <a:spLocks noGrp="1"/>
          </p:cNvSpPr>
          <p:nvPr>
            <p:ph idx="1"/>
          </p:nvPr>
        </p:nvSpPr>
        <p:spPr>
          <a:xfrm>
            <a:off x="498218" y="860612"/>
            <a:ext cx="9551395" cy="2860221"/>
          </a:xfrm>
        </p:spPr>
        <p:txBody>
          <a:bodyPr>
            <a:normAutofit/>
          </a:bodyPr>
          <a:lstStyle/>
          <a:p>
            <a:r>
              <a:rPr lang="en-GB" sz="2400" dirty="0"/>
              <a:t>These directories include both a dedicated location for storing persistent files, and another location for storing cache data. </a:t>
            </a:r>
          </a:p>
          <a:p>
            <a:r>
              <a:rPr lang="en-GB" sz="2400" dirty="0"/>
              <a:t>The system prevents other apps from accessing these locations, and on </a:t>
            </a:r>
            <a:r>
              <a:rPr lang="en-GB" sz="2400" b="1" dirty="0"/>
              <a:t>Android 10 (API level 29) </a:t>
            </a:r>
            <a:r>
              <a:rPr lang="en-GB" sz="2400" dirty="0"/>
              <a:t>and higher, these locations are encrypted. </a:t>
            </a:r>
          </a:p>
          <a:p>
            <a:r>
              <a:rPr lang="en-GB" sz="2400" dirty="0"/>
              <a:t>These characteristics make these locations a good place to store sensitive data that only your app itself can access.</a:t>
            </a:r>
          </a:p>
          <a:p>
            <a:endParaRPr lang="en-IN" dirty="0"/>
          </a:p>
        </p:txBody>
      </p:sp>
      <p:pic>
        <p:nvPicPr>
          <p:cNvPr id="5" name="Picture 4">
            <a:extLst>
              <a:ext uri="{FF2B5EF4-FFF2-40B4-BE49-F238E27FC236}">
                <a16:creationId xmlns:a16="http://schemas.microsoft.com/office/drawing/2014/main" id="{00C9A99B-46C1-476A-93CC-D09D08814CDC}"/>
              </a:ext>
            </a:extLst>
          </p:cNvPr>
          <p:cNvPicPr>
            <a:picLocks noChangeAspect="1"/>
          </p:cNvPicPr>
          <p:nvPr/>
        </p:nvPicPr>
        <p:blipFill>
          <a:blip r:embed="rId2"/>
          <a:stretch>
            <a:fillRect/>
          </a:stretch>
        </p:blipFill>
        <p:spPr>
          <a:xfrm>
            <a:off x="2142387" y="3720833"/>
            <a:ext cx="5805221" cy="3134988"/>
          </a:xfrm>
          <a:prstGeom prst="rect">
            <a:avLst/>
          </a:prstGeom>
        </p:spPr>
      </p:pic>
    </p:spTree>
    <p:extLst>
      <p:ext uri="{BB962C8B-B14F-4D97-AF65-F5344CB8AC3E}">
        <p14:creationId xmlns:p14="http://schemas.microsoft.com/office/powerpoint/2010/main" val="3946471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29E5B-0135-4CF2-A827-B8A8135D0F92}"/>
              </a:ext>
            </a:extLst>
          </p:cNvPr>
          <p:cNvSpPr>
            <a:spLocks noGrp="1"/>
          </p:cNvSpPr>
          <p:nvPr>
            <p:ph idx="1"/>
          </p:nvPr>
        </p:nvSpPr>
        <p:spPr>
          <a:xfrm>
            <a:off x="587687" y="430400"/>
            <a:ext cx="8596668" cy="3155481"/>
          </a:xfrm>
        </p:spPr>
        <p:txBody>
          <a:bodyPr/>
          <a:lstStyle/>
          <a:p>
            <a:pPr algn="just"/>
            <a:r>
              <a:rPr lang="en-GB" sz="2000" b="1" dirty="0"/>
              <a:t>When the user uninstalls your app, the files saved in app-specific storage are removed. </a:t>
            </a:r>
          </a:p>
          <a:p>
            <a:pPr algn="just"/>
            <a:r>
              <a:rPr lang="en-GB" sz="2000" dirty="0"/>
              <a:t>Because of this behaviour, you shouldn't use this storage to save anything that the user expects to persist independently of your app. </a:t>
            </a:r>
          </a:p>
          <a:p>
            <a:pPr algn="just"/>
            <a:r>
              <a:rPr lang="en-GB" sz="2000" b="1" dirty="0"/>
              <a:t>For example</a:t>
            </a:r>
            <a:r>
              <a:rPr lang="en-GB" sz="2000" dirty="0"/>
              <a:t>, if your app allows users to capture photos, the user would expect that they can access those photos even after they uninstall your app. So you should instead use shared storage to save those types of files to the appropriate media collection.</a:t>
            </a:r>
            <a:endParaRPr lang="en-IN" sz="2000" dirty="0"/>
          </a:p>
          <a:p>
            <a:pPr algn="just"/>
            <a:endParaRPr lang="en-IN" dirty="0"/>
          </a:p>
        </p:txBody>
      </p:sp>
      <p:sp>
        <p:nvSpPr>
          <p:cNvPr id="4" name="TextBox 3">
            <a:extLst>
              <a:ext uri="{FF2B5EF4-FFF2-40B4-BE49-F238E27FC236}">
                <a16:creationId xmlns:a16="http://schemas.microsoft.com/office/drawing/2014/main" id="{FCE313C7-C3F5-4491-84D5-E31D3873213E}"/>
              </a:ext>
            </a:extLst>
          </p:cNvPr>
          <p:cNvSpPr txBox="1"/>
          <p:nvPr/>
        </p:nvSpPr>
        <p:spPr>
          <a:xfrm>
            <a:off x="262217" y="3970661"/>
            <a:ext cx="9670676"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buNone/>
            </a:pPr>
            <a:r>
              <a:rPr lang="en-IN" dirty="0"/>
              <a:t>String filename = “FOCA";</a:t>
            </a:r>
          </a:p>
          <a:p>
            <a:pPr marL="0" indent="0">
              <a:buNone/>
            </a:pPr>
            <a:r>
              <a:rPr lang="en-IN" dirty="0"/>
              <a:t>String </a:t>
            </a:r>
            <a:r>
              <a:rPr lang="en-IN" dirty="0" err="1"/>
              <a:t>fileContents</a:t>
            </a:r>
            <a:r>
              <a:rPr lang="en-IN" dirty="0"/>
              <a:t> = “I am student studying in FOCA Department!";</a:t>
            </a:r>
          </a:p>
          <a:p>
            <a:pPr marL="0" indent="0">
              <a:buNone/>
            </a:pPr>
            <a:r>
              <a:rPr lang="en-IN" dirty="0"/>
              <a:t>try (</a:t>
            </a:r>
            <a:r>
              <a:rPr lang="en-IN" dirty="0" err="1"/>
              <a:t>FileOutputStream</a:t>
            </a:r>
            <a:r>
              <a:rPr lang="en-IN" dirty="0"/>
              <a:t> </a:t>
            </a:r>
            <a:r>
              <a:rPr lang="en-IN" dirty="0" err="1"/>
              <a:t>fos</a:t>
            </a:r>
            <a:r>
              <a:rPr lang="en-IN" dirty="0"/>
              <a:t> = </a:t>
            </a:r>
            <a:r>
              <a:rPr lang="en-IN" dirty="0" err="1"/>
              <a:t>context.openFileOutput</a:t>
            </a:r>
            <a:r>
              <a:rPr lang="en-IN" dirty="0"/>
              <a:t>(filename, </a:t>
            </a:r>
            <a:r>
              <a:rPr lang="en-IN" dirty="0" err="1"/>
              <a:t>Context.MODE_PRIVATE</a:t>
            </a:r>
            <a:r>
              <a:rPr lang="en-IN" dirty="0"/>
              <a:t>)) {</a:t>
            </a:r>
          </a:p>
          <a:p>
            <a:pPr marL="0" indent="0">
              <a:buNone/>
            </a:pPr>
            <a:r>
              <a:rPr lang="en-IN" dirty="0"/>
              <a:t>    </a:t>
            </a:r>
            <a:r>
              <a:rPr lang="en-IN" dirty="0" err="1"/>
              <a:t>fos.write</a:t>
            </a:r>
            <a:r>
              <a:rPr lang="en-IN" dirty="0"/>
              <a:t>(</a:t>
            </a:r>
            <a:r>
              <a:rPr lang="en-IN" dirty="0" err="1"/>
              <a:t>fileContents.toByteArray</a:t>
            </a:r>
            <a:r>
              <a:rPr lang="en-IN" dirty="0"/>
              <a:t>());</a:t>
            </a:r>
          </a:p>
          <a:p>
            <a:pPr marL="0" indent="0">
              <a:buNone/>
            </a:pPr>
            <a:r>
              <a:rPr lang="en-IN" dirty="0"/>
              <a:t>}</a:t>
            </a:r>
          </a:p>
        </p:txBody>
      </p:sp>
    </p:spTree>
    <p:extLst>
      <p:ext uri="{BB962C8B-B14F-4D97-AF65-F5344CB8AC3E}">
        <p14:creationId xmlns:p14="http://schemas.microsoft.com/office/powerpoint/2010/main" val="3605955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9ED60-EAC9-4B56-9F5E-0223DF4C94BD}"/>
              </a:ext>
            </a:extLst>
          </p:cNvPr>
          <p:cNvSpPr>
            <a:spLocks noGrp="1"/>
          </p:cNvSpPr>
          <p:nvPr>
            <p:ph type="title"/>
          </p:nvPr>
        </p:nvSpPr>
        <p:spPr>
          <a:xfrm>
            <a:off x="677334" y="242047"/>
            <a:ext cx="8596668" cy="959925"/>
          </a:xfrm>
        </p:spPr>
        <p:txBody>
          <a:bodyPr/>
          <a:lstStyle/>
          <a:p>
            <a:r>
              <a:rPr lang="en-IN" dirty="0"/>
              <a:t>Modes</a:t>
            </a:r>
          </a:p>
        </p:txBody>
      </p:sp>
      <p:sp>
        <p:nvSpPr>
          <p:cNvPr id="3" name="Content Placeholder 2">
            <a:extLst>
              <a:ext uri="{FF2B5EF4-FFF2-40B4-BE49-F238E27FC236}">
                <a16:creationId xmlns:a16="http://schemas.microsoft.com/office/drawing/2014/main" id="{15F85F4B-EF48-4DC3-BE35-EEFDD81CBF1A}"/>
              </a:ext>
            </a:extLst>
          </p:cNvPr>
          <p:cNvSpPr>
            <a:spLocks noGrp="1"/>
          </p:cNvSpPr>
          <p:nvPr>
            <p:ph idx="1"/>
          </p:nvPr>
        </p:nvSpPr>
        <p:spPr>
          <a:xfrm>
            <a:off x="677334" y="1341718"/>
            <a:ext cx="8596668" cy="3579906"/>
          </a:xfrm>
        </p:spPr>
        <p:txBody>
          <a:bodyPr>
            <a:normAutofit/>
          </a:bodyPr>
          <a:lstStyle/>
          <a:p>
            <a:pPr algn="just"/>
            <a:r>
              <a:rPr lang="en-GB" sz="2400" b="1" dirty="0"/>
              <a:t>MODES:</a:t>
            </a:r>
          </a:p>
          <a:p>
            <a:pPr algn="just"/>
            <a:r>
              <a:rPr lang="en-GB" sz="2400" b="1" dirty="0"/>
              <a:t>MODE_PRIVATE </a:t>
            </a:r>
            <a:r>
              <a:rPr lang="en-GB" sz="2400" dirty="0"/>
              <a:t>— In private mode the data stored earlier is always overridden by the current data </a:t>
            </a:r>
            <a:r>
              <a:rPr lang="en-GB" sz="2400" dirty="0" err="1"/>
              <a:t>i.e</a:t>
            </a:r>
            <a:r>
              <a:rPr lang="en-GB" sz="2400" dirty="0"/>
              <a:t> every time you try to commit a new write to a file which removes or override the previous content. We have used MODE_PRIVATE in the example at the end of this article.</a:t>
            </a:r>
          </a:p>
          <a:p>
            <a:pPr algn="just"/>
            <a:r>
              <a:rPr lang="en-GB" sz="2400" b="1" dirty="0"/>
              <a:t>MODE_APPEND </a:t>
            </a:r>
            <a:r>
              <a:rPr lang="en-GB" sz="2400" dirty="0"/>
              <a:t>— In this mode the data is append to the existing content </a:t>
            </a:r>
            <a:r>
              <a:rPr lang="en-GB" sz="2400" dirty="0" err="1"/>
              <a:t>i.e</a:t>
            </a:r>
            <a:r>
              <a:rPr lang="en-GB" sz="2400" dirty="0"/>
              <a:t> keep adding data.</a:t>
            </a:r>
            <a:endParaRPr lang="en-IN" sz="2400" dirty="0"/>
          </a:p>
        </p:txBody>
      </p:sp>
    </p:spTree>
    <p:extLst>
      <p:ext uri="{BB962C8B-B14F-4D97-AF65-F5344CB8AC3E}">
        <p14:creationId xmlns:p14="http://schemas.microsoft.com/office/powerpoint/2010/main" val="863170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FD43-2848-4E86-BB4D-B4184D8B7EFD}"/>
              </a:ext>
            </a:extLst>
          </p:cNvPr>
          <p:cNvSpPr>
            <a:spLocks noGrp="1"/>
          </p:cNvSpPr>
          <p:nvPr>
            <p:ph type="title"/>
          </p:nvPr>
        </p:nvSpPr>
        <p:spPr>
          <a:xfrm>
            <a:off x="677334" y="202912"/>
            <a:ext cx="8596668" cy="770965"/>
          </a:xfrm>
        </p:spPr>
        <p:txBody>
          <a:bodyPr/>
          <a:lstStyle/>
          <a:p>
            <a:r>
              <a:rPr lang="en-IN" dirty="0"/>
              <a:t>External Storage</a:t>
            </a:r>
          </a:p>
        </p:txBody>
      </p:sp>
      <p:sp>
        <p:nvSpPr>
          <p:cNvPr id="3" name="Content Placeholder 2">
            <a:extLst>
              <a:ext uri="{FF2B5EF4-FFF2-40B4-BE49-F238E27FC236}">
                <a16:creationId xmlns:a16="http://schemas.microsoft.com/office/drawing/2014/main" id="{15093208-845D-4C8B-BEC2-BD50413AFF2B}"/>
              </a:ext>
            </a:extLst>
          </p:cNvPr>
          <p:cNvSpPr>
            <a:spLocks noGrp="1"/>
          </p:cNvSpPr>
          <p:nvPr>
            <p:ph idx="1"/>
          </p:nvPr>
        </p:nvSpPr>
        <p:spPr>
          <a:xfrm>
            <a:off x="677334" y="973877"/>
            <a:ext cx="9506572" cy="3114488"/>
          </a:xfrm>
        </p:spPr>
        <p:txBody>
          <a:bodyPr>
            <a:normAutofit lnSpcReduction="10000"/>
          </a:bodyPr>
          <a:lstStyle/>
          <a:p>
            <a:pPr algn="just"/>
            <a:r>
              <a:rPr lang="en-GB" sz="2400" dirty="0"/>
              <a:t>These directories include both a dedicated location for storing persistent files, and another location for storing cache data. </a:t>
            </a:r>
          </a:p>
          <a:p>
            <a:pPr algn="just"/>
            <a:r>
              <a:rPr lang="en-GB" sz="2400" dirty="0"/>
              <a:t>Although it's possible for another app to access these directories if that app has the proper permissions, the files stored in these directories are meant for use only by your app. </a:t>
            </a:r>
          </a:p>
          <a:p>
            <a:pPr algn="just"/>
            <a:r>
              <a:rPr lang="en-GB" sz="2400" dirty="0"/>
              <a:t>If you specifically intend to create files that other apps should be able to access, your app should store these files in the shared storage part of external storage instead.</a:t>
            </a:r>
          </a:p>
        </p:txBody>
      </p:sp>
      <p:pic>
        <p:nvPicPr>
          <p:cNvPr id="6" name="Picture 5">
            <a:extLst>
              <a:ext uri="{FF2B5EF4-FFF2-40B4-BE49-F238E27FC236}">
                <a16:creationId xmlns:a16="http://schemas.microsoft.com/office/drawing/2014/main" id="{3A860F41-C64B-4A9A-89A7-ABE1E8A868DD}"/>
              </a:ext>
            </a:extLst>
          </p:cNvPr>
          <p:cNvPicPr>
            <a:picLocks noChangeAspect="1"/>
          </p:cNvPicPr>
          <p:nvPr/>
        </p:nvPicPr>
        <p:blipFill>
          <a:blip r:embed="rId2"/>
          <a:stretch>
            <a:fillRect/>
          </a:stretch>
        </p:blipFill>
        <p:spPr>
          <a:xfrm>
            <a:off x="3110753" y="4088365"/>
            <a:ext cx="2868690" cy="2566723"/>
          </a:xfrm>
          <a:prstGeom prst="rect">
            <a:avLst/>
          </a:prstGeom>
        </p:spPr>
      </p:pic>
    </p:spTree>
    <p:extLst>
      <p:ext uri="{BB962C8B-B14F-4D97-AF65-F5344CB8AC3E}">
        <p14:creationId xmlns:p14="http://schemas.microsoft.com/office/powerpoint/2010/main" val="2697455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8E4C-6CB3-45A5-BA7C-5A1EF07909D7}"/>
              </a:ext>
            </a:extLst>
          </p:cNvPr>
          <p:cNvSpPr>
            <a:spLocks noGrp="1"/>
          </p:cNvSpPr>
          <p:nvPr>
            <p:ph type="title"/>
          </p:nvPr>
        </p:nvSpPr>
        <p:spPr/>
        <p:txBody>
          <a:bodyPr/>
          <a:lstStyle/>
          <a:p>
            <a:r>
              <a:rPr lang="en-GB" dirty="0"/>
              <a:t>Methods to Store Data In Android</a:t>
            </a:r>
            <a:endParaRPr lang="en-IN" dirty="0"/>
          </a:p>
        </p:txBody>
      </p:sp>
      <p:sp>
        <p:nvSpPr>
          <p:cNvPr id="3" name="Content Placeholder 2">
            <a:extLst>
              <a:ext uri="{FF2B5EF4-FFF2-40B4-BE49-F238E27FC236}">
                <a16:creationId xmlns:a16="http://schemas.microsoft.com/office/drawing/2014/main" id="{B1CC3131-F5D0-4919-A187-AD12A13A4883}"/>
              </a:ext>
            </a:extLst>
          </p:cNvPr>
          <p:cNvSpPr>
            <a:spLocks noGrp="1"/>
          </p:cNvSpPr>
          <p:nvPr>
            <p:ph idx="1"/>
          </p:nvPr>
        </p:nvSpPr>
        <p:spPr>
          <a:xfrm>
            <a:off x="677335" y="1685365"/>
            <a:ext cx="9515536" cy="5074023"/>
          </a:xfrm>
        </p:spPr>
        <p:txBody>
          <a:bodyPr>
            <a:normAutofit fontScale="92500"/>
          </a:bodyPr>
          <a:lstStyle/>
          <a:p>
            <a:pPr algn="just"/>
            <a:r>
              <a:rPr lang="en-GB" sz="2400" b="1" dirty="0" err="1"/>
              <a:t>getExternalStorageDirectory</a:t>
            </a:r>
            <a:r>
              <a:rPr lang="en-GB" sz="2400" b="1" dirty="0"/>
              <a:t>() </a:t>
            </a:r>
            <a:r>
              <a:rPr lang="en-GB" sz="2400" dirty="0"/>
              <a:t>– Older way to access external storage in API Level less than 7. It is absolute now and not recommended. It directly get </a:t>
            </a:r>
            <a:r>
              <a:rPr lang="en-GB" sz="2400" dirty="0" err="1"/>
              <a:t>thereference</a:t>
            </a:r>
            <a:r>
              <a:rPr lang="en-GB" sz="2400" dirty="0"/>
              <a:t> to the root directory of your external storage or SD Card.</a:t>
            </a:r>
          </a:p>
          <a:p>
            <a:pPr algn="just"/>
            <a:r>
              <a:rPr lang="en-GB" sz="2400" b="1" dirty="0" err="1"/>
              <a:t>getExternalFilesDir</a:t>
            </a:r>
            <a:r>
              <a:rPr lang="en-GB" sz="2400" b="1" dirty="0"/>
              <a:t>(String type) </a:t>
            </a:r>
            <a:r>
              <a:rPr lang="en-GB" sz="2400" dirty="0"/>
              <a:t>– It is recommended way to enable us to create private files specific to app and files are removed as app is uninstalled. Example is app private data.</a:t>
            </a:r>
          </a:p>
          <a:p>
            <a:pPr algn="just"/>
            <a:r>
              <a:rPr lang="en-GB" sz="2400" b="1" dirty="0" err="1"/>
              <a:t>getExternalStoragePublicDirectory</a:t>
            </a:r>
            <a:r>
              <a:rPr lang="en-GB" sz="2400" b="1" dirty="0"/>
              <a:t>() </a:t>
            </a:r>
            <a:r>
              <a:rPr lang="en-GB" sz="2400" dirty="0"/>
              <a:t>: This is current recommended way that enable us to keep files public and are not deleted with the app uninstallation. Example images clicked by the camera exists even we uninstall the camera app.</a:t>
            </a:r>
          </a:p>
          <a:p>
            <a:pPr algn="just"/>
            <a:r>
              <a:rPr lang="en-GB" sz="2400" b="1" dirty="0"/>
              <a:t>On Android 4.4 (API level 19) </a:t>
            </a:r>
            <a:r>
              <a:rPr lang="en-GB" sz="2400" dirty="0"/>
              <a:t>or higher, your app doesn't need to request any storage-related permissions to access app-specific directories within external storage. </a:t>
            </a:r>
          </a:p>
          <a:p>
            <a:pPr algn="just"/>
            <a:r>
              <a:rPr lang="en-GB" sz="2400" dirty="0"/>
              <a:t>The files stored in these directories are removed when your app is uninstalled.</a:t>
            </a:r>
          </a:p>
          <a:p>
            <a:pPr algn="just"/>
            <a:endParaRPr lang="en-IN" sz="2000" dirty="0"/>
          </a:p>
        </p:txBody>
      </p:sp>
    </p:spTree>
    <p:extLst>
      <p:ext uri="{BB962C8B-B14F-4D97-AF65-F5344CB8AC3E}">
        <p14:creationId xmlns:p14="http://schemas.microsoft.com/office/powerpoint/2010/main" val="3382300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7C946-1C59-445F-A862-8D282AB24B64}"/>
              </a:ext>
            </a:extLst>
          </p:cNvPr>
          <p:cNvSpPr>
            <a:spLocks noGrp="1"/>
          </p:cNvSpPr>
          <p:nvPr>
            <p:ph type="title"/>
          </p:nvPr>
        </p:nvSpPr>
        <p:spPr>
          <a:xfrm>
            <a:off x="677334" y="609600"/>
            <a:ext cx="8596668" cy="744071"/>
          </a:xfrm>
        </p:spPr>
        <p:txBody>
          <a:bodyPr/>
          <a:lstStyle/>
          <a:p>
            <a:r>
              <a:rPr lang="en-GB" dirty="0"/>
              <a:t>Verify that storage is available</a:t>
            </a:r>
            <a:endParaRPr lang="en-IN" dirty="0"/>
          </a:p>
        </p:txBody>
      </p:sp>
      <p:sp>
        <p:nvSpPr>
          <p:cNvPr id="3" name="Content Placeholder 2">
            <a:extLst>
              <a:ext uri="{FF2B5EF4-FFF2-40B4-BE49-F238E27FC236}">
                <a16:creationId xmlns:a16="http://schemas.microsoft.com/office/drawing/2014/main" id="{511ECB4B-A63A-43D0-B8AE-EA9BF6C1D007}"/>
              </a:ext>
            </a:extLst>
          </p:cNvPr>
          <p:cNvSpPr>
            <a:spLocks noGrp="1"/>
          </p:cNvSpPr>
          <p:nvPr>
            <p:ph idx="1"/>
          </p:nvPr>
        </p:nvSpPr>
        <p:spPr>
          <a:xfrm>
            <a:off x="842681" y="1622613"/>
            <a:ext cx="9834283" cy="4418750"/>
          </a:xfrm>
        </p:spPr>
        <p:txBody>
          <a:bodyPr>
            <a:normAutofit/>
          </a:bodyPr>
          <a:lstStyle/>
          <a:p>
            <a:pPr algn="just"/>
            <a:r>
              <a:rPr lang="en-IN" sz="2400" b="1" dirty="0"/>
              <a:t>Important Note: </a:t>
            </a:r>
            <a:r>
              <a:rPr lang="en-IN" sz="2400" dirty="0"/>
              <a:t>It is necessary to add external storage the permission to read and write. For that</a:t>
            </a:r>
          </a:p>
          <a:p>
            <a:pPr algn="just"/>
            <a:r>
              <a:rPr lang="en-IN" sz="2400" b="1" dirty="0"/>
              <a:t>you need to add permission in android Manifest file.</a:t>
            </a:r>
          </a:p>
          <a:p>
            <a:pPr marL="400050" lvl="1" indent="0" algn="just">
              <a:buNone/>
            </a:pPr>
            <a:r>
              <a:rPr lang="en-IN" sz="2000" dirty="0"/>
              <a:t>&lt;uses-permission </a:t>
            </a:r>
            <a:r>
              <a:rPr lang="en-IN" sz="2000" dirty="0" err="1"/>
              <a:t>android:name</a:t>
            </a:r>
            <a:r>
              <a:rPr lang="en-IN" sz="2000" dirty="0"/>
              <a:t>="</a:t>
            </a:r>
            <a:r>
              <a:rPr lang="en-IN" sz="2000" dirty="0" err="1"/>
              <a:t>android.permission.WRITE_EXTERNAL_STORAGE</a:t>
            </a:r>
            <a:r>
              <a:rPr lang="en-IN" sz="2000" dirty="0"/>
              <a:t>" /&gt;</a:t>
            </a:r>
          </a:p>
          <a:p>
            <a:pPr marL="400050" lvl="1" indent="0" algn="just">
              <a:buNone/>
            </a:pPr>
            <a:r>
              <a:rPr lang="en-IN" sz="2000" dirty="0"/>
              <a:t>&lt;uses-permission </a:t>
            </a:r>
            <a:r>
              <a:rPr lang="en-IN" sz="2000" dirty="0" err="1"/>
              <a:t>android:name</a:t>
            </a:r>
            <a:r>
              <a:rPr lang="en-IN" sz="2000" dirty="0"/>
              <a:t>="</a:t>
            </a:r>
            <a:r>
              <a:rPr lang="en-IN" sz="2000" dirty="0" err="1"/>
              <a:t>android.permission.READ_EXTERNAL_STORAGE</a:t>
            </a:r>
            <a:r>
              <a:rPr lang="en-IN" sz="2000" dirty="0"/>
              <a:t>" /&gt;</a:t>
            </a:r>
          </a:p>
          <a:p>
            <a:pPr algn="just"/>
            <a:r>
              <a:rPr lang="en-GB" sz="2400" dirty="0"/>
              <a:t>You can query the volume's state by </a:t>
            </a:r>
            <a:r>
              <a:rPr lang="en-GB" sz="2400" b="1" dirty="0"/>
              <a:t>calling </a:t>
            </a:r>
            <a:r>
              <a:rPr lang="en-GB" sz="2400" b="1" dirty="0" err="1"/>
              <a:t>Environment.getExternalStorageState</a:t>
            </a:r>
            <a:r>
              <a:rPr lang="en-GB" sz="2400" b="1" dirty="0"/>
              <a:t>().</a:t>
            </a:r>
            <a:r>
              <a:rPr lang="en-GB" sz="2400" dirty="0"/>
              <a:t> </a:t>
            </a:r>
          </a:p>
          <a:p>
            <a:pPr algn="just"/>
            <a:r>
              <a:rPr lang="en-GB" sz="2400" dirty="0"/>
              <a:t>If the returned state is MEDIA_</a:t>
            </a:r>
            <a:r>
              <a:rPr lang="en-GB" sz="2400" b="1" dirty="0"/>
              <a:t>MOUNTED</a:t>
            </a:r>
            <a:r>
              <a:rPr lang="en-GB" sz="2400" dirty="0"/>
              <a:t>, then you can read and write app-specific files within external storage. If it's </a:t>
            </a:r>
            <a:r>
              <a:rPr lang="en-GB" sz="2400" b="1" dirty="0"/>
              <a:t>MEDIA_MOUNTED_READ_ONLY</a:t>
            </a:r>
            <a:r>
              <a:rPr lang="en-GB" sz="2400" dirty="0"/>
              <a:t>, you can only read these files.</a:t>
            </a:r>
            <a:endParaRPr lang="en-IN" sz="2400" dirty="0"/>
          </a:p>
        </p:txBody>
      </p:sp>
    </p:spTree>
    <p:extLst>
      <p:ext uri="{BB962C8B-B14F-4D97-AF65-F5344CB8AC3E}">
        <p14:creationId xmlns:p14="http://schemas.microsoft.com/office/powerpoint/2010/main" val="2768351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F53B-4F6F-49B2-81C0-0E167F52A63D}"/>
              </a:ext>
            </a:extLst>
          </p:cNvPr>
          <p:cNvSpPr>
            <a:spLocks noGrp="1"/>
          </p:cNvSpPr>
          <p:nvPr>
            <p:ph type="title"/>
          </p:nvPr>
        </p:nvSpPr>
        <p:spPr>
          <a:xfrm>
            <a:off x="677334" y="268941"/>
            <a:ext cx="8596668" cy="627529"/>
          </a:xfrm>
        </p:spPr>
        <p:txBody>
          <a:bodyPr>
            <a:normAutofit fontScale="90000"/>
          </a:bodyPr>
          <a:lstStyle/>
          <a:p>
            <a:r>
              <a:rPr lang="en-IN" dirty="0"/>
              <a:t>Public Directories</a:t>
            </a:r>
          </a:p>
        </p:txBody>
      </p:sp>
      <p:sp>
        <p:nvSpPr>
          <p:cNvPr id="3" name="Content Placeholder 2">
            <a:extLst>
              <a:ext uri="{FF2B5EF4-FFF2-40B4-BE49-F238E27FC236}">
                <a16:creationId xmlns:a16="http://schemas.microsoft.com/office/drawing/2014/main" id="{F72C9677-A4CA-45C0-BA10-714191F90A37}"/>
              </a:ext>
            </a:extLst>
          </p:cNvPr>
          <p:cNvSpPr>
            <a:spLocks noGrp="1"/>
          </p:cNvSpPr>
          <p:nvPr>
            <p:ph idx="1"/>
          </p:nvPr>
        </p:nvSpPr>
        <p:spPr>
          <a:xfrm>
            <a:off x="677334" y="1057835"/>
            <a:ext cx="11514666" cy="5468471"/>
          </a:xfrm>
        </p:spPr>
        <p:txBody>
          <a:bodyPr>
            <a:normAutofit/>
          </a:bodyPr>
          <a:lstStyle/>
          <a:p>
            <a:pPr algn="just"/>
            <a:r>
              <a:rPr lang="en-IN" sz="2000" dirty="0"/>
              <a:t>In Android, the public directories are specific folders where apps can access common types of data. Here are some of the commonly used public directories in Android:</a:t>
            </a:r>
          </a:p>
          <a:p>
            <a:pPr algn="just"/>
            <a:r>
              <a:rPr lang="en-IN" sz="2000" dirty="0" err="1"/>
              <a:t>Environment.</a:t>
            </a:r>
            <a:r>
              <a:rPr lang="en-IN" sz="2000" b="1" dirty="0" err="1"/>
              <a:t>DIRECTORY_DOCUMENTS</a:t>
            </a:r>
            <a:r>
              <a:rPr lang="en-IN" sz="2000" dirty="0"/>
              <a:t>:  This directory is used for documents that are created by the user.</a:t>
            </a:r>
          </a:p>
          <a:p>
            <a:pPr algn="just"/>
            <a:r>
              <a:rPr lang="en-IN" sz="2000" dirty="0" err="1"/>
              <a:t>Environment.</a:t>
            </a:r>
            <a:r>
              <a:rPr lang="en-IN" sz="2000" b="1" dirty="0" err="1"/>
              <a:t>DIRECTORY_DOWNLOADS</a:t>
            </a:r>
            <a:r>
              <a:rPr lang="en-IN" sz="2000" dirty="0"/>
              <a:t>: This directory is used for downloaded files.</a:t>
            </a:r>
          </a:p>
          <a:p>
            <a:pPr algn="just"/>
            <a:r>
              <a:rPr lang="en-IN" sz="2000" dirty="0" err="1"/>
              <a:t>Environment.</a:t>
            </a:r>
            <a:r>
              <a:rPr lang="en-IN" sz="2000" b="1" dirty="0" err="1"/>
              <a:t>DIRECTORY_DCIM</a:t>
            </a:r>
            <a:r>
              <a:rPr lang="en-IN" sz="2000" dirty="0"/>
              <a:t>: This directory is used for camera photos.</a:t>
            </a:r>
          </a:p>
          <a:p>
            <a:pPr algn="just"/>
            <a:r>
              <a:rPr lang="en-IN" sz="2000" dirty="0" err="1"/>
              <a:t>Environment.</a:t>
            </a:r>
            <a:r>
              <a:rPr lang="en-IN" sz="2000" b="1" dirty="0" err="1"/>
              <a:t>DIRECTORY_MOVIES</a:t>
            </a:r>
            <a:r>
              <a:rPr lang="en-IN" sz="2000" dirty="0"/>
              <a:t>:  This directory is used for movies.</a:t>
            </a:r>
          </a:p>
          <a:p>
            <a:pPr algn="just"/>
            <a:r>
              <a:rPr lang="en-IN" sz="2000" dirty="0" err="1"/>
              <a:t>Environment.</a:t>
            </a:r>
            <a:r>
              <a:rPr lang="en-IN" sz="2000" b="1" dirty="0" err="1"/>
              <a:t>DIRECTORY_MUSIC</a:t>
            </a:r>
            <a:r>
              <a:rPr lang="en-IN" sz="2000" dirty="0"/>
              <a:t>: This directory is used for music files.</a:t>
            </a:r>
          </a:p>
          <a:p>
            <a:pPr algn="just"/>
            <a:r>
              <a:rPr lang="en-IN" sz="2000" dirty="0" err="1"/>
              <a:t>Environment.</a:t>
            </a:r>
            <a:r>
              <a:rPr lang="en-IN" sz="2000" b="1" dirty="0" err="1"/>
              <a:t>DIRECTORY_PICTURES</a:t>
            </a:r>
            <a:r>
              <a:rPr lang="en-IN" sz="2000" dirty="0"/>
              <a:t>:  This directory is used for pictures.</a:t>
            </a:r>
          </a:p>
          <a:p>
            <a:pPr algn="just"/>
            <a:r>
              <a:rPr lang="en-IN" sz="2000" dirty="0" err="1"/>
              <a:t>Environment.</a:t>
            </a:r>
            <a:r>
              <a:rPr lang="en-IN" sz="2000" b="1" dirty="0" err="1"/>
              <a:t>DIRECTORY_ALARMS</a:t>
            </a:r>
            <a:r>
              <a:rPr lang="en-IN" sz="2000" dirty="0"/>
              <a:t>: This directory is used for alarm sounds.</a:t>
            </a:r>
          </a:p>
          <a:p>
            <a:pPr algn="just"/>
            <a:r>
              <a:rPr lang="en-IN" sz="2000" dirty="0" err="1"/>
              <a:t>Environment.</a:t>
            </a:r>
            <a:r>
              <a:rPr lang="en-IN" sz="2000" b="1" dirty="0" err="1"/>
              <a:t>DIRECTORY_NOTIFICATIONS</a:t>
            </a:r>
            <a:r>
              <a:rPr lang="en-IN" sz="2000" dirty="0"/>
              <a:t>: This directory is used for notification sounds.</a:t>
            </a:r>
          </a:p>
          <a:p>
            <a:pPr algn="just"/>
            <a:r>
              <a:rPr lang="en-IN" sz="2000" dirty="0" err="1"/>
              <a:t>Environment.</a:t>
            </a:r>
            <a:r>
              <a:rPr lang="en-IN" sz="2000" b="1" dirty="0" err="1"/>
              <a:t>DIRECTORY_RINGTONES</a:t>
            </a:r>
            <a:r>
              <a:rPr lang="en-IN" sz="2000" dirty="0"/>
              <a:t>: This directory is used for ringtones.</a:t>
            </a:r>
          </a:p>
          <a:p>
            <a:pPr algn="just"/>
            <a:r>
              <a:rPr lang="en-IN" sz="2000" b="1" dirty="0"/>
              <a:t>Path</a:t>
            </a:r>
            <a:r>
              <a:rPr lang="en-IN" sz="2000" dirty="0"/>
              <a:t>: </a:t>
            </a:r>
            <a:r>
              <a:rPr lang="en-IN" sz="2000" dirty="0" err="1"/>
              <a:t>Environment.getExternalStoragePublicDirectory</a:t>
            </a:r>
            <a:r>
              <a:rPr lang="en-IN" sz="2000" dirty="0"/>
              <a:t>(</a:t>
            </a:r>
            <a:r>
              <a:rPr lang="en-IN" sz="2000" dirty="0" err="1"/>
              <a:t>Environment</a:t>
            </a:r>
            <a:r>
              <a:rPr lang="en-IN" sz="2000" b="1" dirty="0" err="1"/>
              <a:t>.DIRECTORY_DOCUMENTS</a:t>
            </a:r>
            <a:r>
              <a:rPr lang="en-IN" sz="2000" dirty="0"/>
              <a:t>)</a:t>
            </a:r>
          </a:p>
          <a:p>
            <a:pPr algn="just"/>
            <a:endParaRPr lang="en-IN" sz="2000" dirty="0"/>
          </a:p>
        </p:txBody>
      </p:sp>
    </p:spTree>
    <p:extLst>
      <p:ext uri="{BB962C8B-B14F-4D97-AF65-F5344CB8AC3E}">
        <p14:creationId xmlns:p14="http://schemas.microsoft.com/office/powerpoint/2010/main" val="377326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8A37-DC16-4138-B858-B09CD2B2E434}"/>
              </a:ext>
            </a:extLst>
          </p:cNvPr>
          <p:cNvSpPr>
            <a:spLocks noGrp="1"/>
          </p:cNvSpPr>
          <p:nvPr>
            <p:ph type="title"/>
          </p:nvPr>
        </p:nvSpPr>
        <p:spPr>
          <a:xfrm>
            <a:off x="677334" y="609600"/>
            <a:ext cx="8596668" cy="726141"/>
          </a:xfrm>
        </p:spPr>
        <p:txBody>
          <a:bodyPr/>
          <a:lstStyle/>
          <a:p>
            <a:r>
              <a:rPr lang="en-IN" dirty="0"/>
              <a:t>Example of one public directory. </a:t>
            </a:r>
          </a:p>
        </p:txBody>
      </p:sp>
      <p:sp>
        <p:nvSpPr>
          <p:cNvPr id="3" name="Content Placeholder 2">
            <a:extLst>
              <a:ext uri="{FF2B5EF4-FFF2-40B4-BE49-F238E27FC236}">
                <a16:creationId xmlns:a16="http://schemas.microsoft.com/office/drawing/2014/main" id="{9709F98C-5FDA-4ACD-9EB0-C635237FC465}"/>
              </a:ext>
            </a:extLst>
          </p:cNvPr>
          <p:cNvSpPr>
            <a:spLocks noGrp="1"/>
          </p:cNvSpPr>
          <p:nvPr>
            <p:ph idx="1"/>
          </p:nvPr>
        </p:nvSpPr>
        <p:spPr>
          <a:xfrm>
            <a:off x="677334" y="1631577"/>
            <a:ext cx="7946713" cy="4096870"/>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IN" dirty="0"/>
              <a:t>File </a:t>
            </a:r>
            <a:r>
              <a:rPr lang="en-IN" dirty="0" err="1"/>
              <a:t>getAppSpecificAlbumStorageDir</a:t>
            </a:r>
            <a:r>
              <a:rPr lang="en-IN" dirty="0"/>
              <a:t>(Context </a:t>
            </a:r>
            <a:r>
              <a:rPr lang="en-IN" dirty="0" err="1"/>
              <a:t>context</a:t>
            </a:r>
            <a:r>
              <a:rPr lang="en-IN" dirty="0"/>
              <a:t>, String </a:t>
            </a:r>
            <a:r>
              <a:rPr lang="en-IN" dirty="0" err="1"/>
              <a:t>albumName</a:t>
            </a:r>
            <a:r>
              <a:rPr lang="en-IN" dirty="0"/>
              <a:t>) {</a:t>
            </a:r>
          </a:p>
          <a:p>
            <a:pPr marL="0" indent="0">
              <a:buNone/>
            </a:pPr>
            <a:r>
              <a:rPr lang="en-IN" dirty="0"/>
              <a:t>    // Get the pictures directory that's inside the app-specific directory on</a:t>
            </a:r>
          </a:p>
          <a:p>
            <a:pPr marL="0" indent="0">
              <a:buNone/>
            </a:pPr>
            <a:r>
              <a:rPr lang="en-IN" dirty="0"/>
              <a:t>    // external storage.</a:t>
            </a:r>
          </a:p>
          <a:p>
            <a:pPr marL="0" indent="0">
              <a:buNone/>
            </a:pPr>
            <a:r>
              <a:rPr lang="en-IN" dirty="0"/>
              <a:t>    File </a:t>
            </a:r>
            <a:r>
              <a:rPr lang="en-IN" dirty="0" err="1"/>
              <a:t>file</a:t>
            </a:r>
            <a:r>
              <a:rPr lang="en-IN" dirty="0"/>
              <a:t> = new File(</a:t>
            </a:r>
            <a:r>
              <a:rPr lang="en-IN" dirty="0" err="1"/>
              <a:t>context.getExternalFilesDir</a:t>
            </a:r>
            <a:r>
              <a:rPr lang="en-IN" dirty="0"/>
              <a:t>(</a:t>
            </a:r>
          </a:p>
          <a:p>
            <a:pPr marL="0" indent="0">
              <a:buNone/>
            </a:pPr>
            <a:r>
              <a:rPr lang="en-IN" dirty="0"/>
              <a:t>            </a:t>
            </a:r>
            <a:r>
              <a:rPr lang="en-IN" dirty="0" err="1"/>
              <a:t>Environment.DIRECTORY_PICTURES</a:t>
            </a:r>
            <a:r>
              <a:rPr lang="en-IN" dirty="0"/>
              <a:t>), </a:t>
            </a:r>
            <a:r>
              <a:rPr lang="en-IN" dirty="0" err="1"/>
              <a:t>albumName</a:t>
            </a:r>
            <a:r>
              <a:rPr lang="en-IN" dirty="0"/>
              <a:t>);</a:t>
            </a:r>
          </a:p>
          <a:p>
            <a:pPr marL="0" indent="0">
              <a:buNone/>
            </a:pPr>
            <a:r>
              <a:rPr lang="en-IN" dirty="0"/>
              <a:t>    if (file == null || !</a:t>
            </a:r>
            <a:r>
              <a:rPr lang="en-IN" dirty="0" err="1"/>
              <a:t>file.mkdirs</a:t>
            </a:r>
            <a:r>
              <a:rPr lang="en-IN" dirty="0"/>
              <a:t>()) {</a:t>
            </a:r>
          </a:p>
          <a:p>
            <a:pPr marL="0" indent="0">
              <a:buNone/>
            </a:pPr>
            <a:r>
              <a:rPr lang="en-IN" dirty="0"/>
              <a:t>        </a:t>
            </a:r>
            <a:r>
              <a:rPr lang="en-IN" dirty="0" err="1"/>
              <a:t>Log.e</a:t>
            </a:r>
            <a:r>
              <a:rPr lang="en-IN" dirty="0"/>
              <a:t>(LOG_TAG, "Directory not created");</a:t>
            </a:r>
          </a:p>
          <a:p>
            <a:pPr marL="0" indent="0">
              <a:buNone/>
            </a:pPr>
            <a:r>
              <a:rPr lang="en-IN" dirty="0"/>
              <a:t>    }</a:t>
            </a:r>
          </a:p>
          <a:p>
            <a:pPr marL="0" indent="0">
              <a:buNone/>
            </a:pPr>
            <a:r>
              <a:rPr lang="en-IN" dirty="0"/>
              <a:t>    return file;</a:t>
            </a:r>
          </a:p>
          <a:p>
            <a:pPr marL="0" indent="0">
              <a:buNone/>
            </a:pPr>
            <a:r>
              <a:rPr lang="en-IN" dirty="0"/>
              <a:t>}</a:t>
            </a:r>
          </a:p>
        </p:txBody>
      </p:sp>
    </p:spTree>
    <p:extLst>
      <p:ext uri="{BB962C8B-B14F-4D97-AF65-F5344CB8AC3E}">
        <p14:creationId xmlns:p14="http://schemas.microsoft.com/office/powerpoint/2010/main" val="25776623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4303</TotalTime>
  <Words>2223</Words>
  <Application>Microsoft Office PowerPoint</Application>
  <PresentationFormat>Widescreen</PresentationFormat>
  <Paragraphs>151</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Helvetica</vt:lpstr>
      <vt:lpstr>Times New Roman</vt:lpstr>
      <vt:lpstr>Verdana</vt:lpstr>
      <vt:lpstr>Wingdings 3</vt:lpstr>
      <vt:lpstr>Facet</vt:lpstr>
      <vt:lpstr>Android Application Development</vt:lpstr>
      <vt:lpstr>Unit – 4</vt:lpstr>
      <vt:lpstr>Dialogs</vt:lpstr>
      <vt:lpstr>AlertDialog.Builder </vt:lpstr>
      <vt:lpstr>Few builder class methods :</vt:lpstr>
      <vt:lpstr>Concept of SharedPreferences</vt:lpstr>
      <vt:lpstr>PowerPoint Presentation</vt:lpstr>
      <vt:lpstr>PowerPoint Presentation</vt:lpstr>
      <vt:lpstr>Managing and working with data using SQLite</vt:lpstr>
      <vt:lpstr>Constructors of SQLiteOpenHelper class</vt:lpstr>
      <vt:lpstr>Methods of SQLiteOpenHelper class </vt:lpstr>
      <vt:lpstr>SQLiteDatabase class</vt:lpstr>
      <vt:lpstr>Content Providers</vt:lpstr>
      <vt:lpstr>Accessing Provider</vt:lpstr>
      <vt:lpstr>Content URIs</vt:lpstr>
      <vt:lpstr>Internal Storage</vt:lpstr>
      <vt:lpstr>PowerPoint Presentation</vt:lpstr>
      <vt:lpstr>Modes</vt:lpstr>
      <vt:lpstr>External Storage</vt:lpstr>
      <vt:lpstr>Methods to Store Data In Android</vt:lpstr>
      <vt:lpstr>Verify that storage is available</vt:lpstr>
      <vt:lpstr>Public Directories</vt:lpstr>
      <vt:lpstr>Example of one public directory.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Application Development</dc:title>
  <dc:creator>Hardik Chavda</dc:creator>
  <cp:lastModifiedBy>Hardik Chavda</cp:lastModifiedBy>
  <cp:revision>159</cp:revision>
  <dcterms:created xsi:type="dcterms:W3CDTF">2023-07-09T05:09:38Z</dcterms:created>
  <dcterms:modified xsi:type="dcterms:W3CDTF">2024-04-11T14:25:36Z</dcterms:modified>
</cp:coreProperties>
</file>